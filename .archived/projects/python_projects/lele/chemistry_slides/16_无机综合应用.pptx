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P335；PDF 文件第 337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P335；PDF 文件第 337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1 / 单选题</a:t>
            </a:r>
          </a:p>
          <a:p>
            <a:r>
              <a:t>讲义印刷页：P335</a:t>
            </a:r>
          </a:p>
          <a:p>
            <a:r>
              <a:t>PDF 文件页：337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2 / 单选题</a:t>
            </a:r>
          </a:p>
          <a:p>
            <a:r>
              <a:t>讲义印刷页：P336</a:t>
            </a:r>
          </a:p>
          <a:p>
            <a:r>
              <a:t>PDF 文件页：338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3 / 单选题</a:t>
            </a:r>
          </a:p>
          <a:p>
            <a:r>
              <a:t>讲义印刷页：P336</a:t>
            </a:r>
          </a:p>
          <a:p>
            <a:r>
              <a:t>PDF 文件页：338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4 / 单选题</a:t>
            </a:r>
          </a:p>
          <a:p>
            <a:r>
              <a:t>讲义印刷页：P336</a:t>
            </a:r>
          </a:p>
          <a:p>
            <a:r>
              <a:t>PDF 文件页：338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5 / 单选题</a:t>
            </a:r>
          </a:p>
          <a:p>
            <a:r>
              <a:t>讲义印刷页：P336</a:t>
            </a:r>
          </a:p>
          <a:p>
            <a:r>
              <a:t>PDF 文件页：338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例题 6 / 单选题</a:t>
            </a:r>
          </a:p>
          <a:p>
            <a:r>
              <a:t>讲义印刷页：P337</a:t>
            </a:r>
          </a:p>
          <a:p>
            <a:r>
              <a:t>PDF 文件页：339</a:t>
            </a:r>
          </a:p>
          <a:p>
            <a:r>
              <a:t>题目保留原题空白；未补充答案。文字为可编辑内容，图形保留原图线条。</a:t>
            </a:r>
          </a:p>
          <a:p>
            <a:r>
              <a:t>OCR 重点复核位置（请对照原讲义检查公式、上下标和字符）：</a:t>
            </a:r>
          </a:p>
          <a:p>
            <a:r>
              <a:t>P337：Ba(NO₃)₂</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变式 1 / 单选题</a:t>
            </a:r>
          </a:p>
          <a:p>
            <a:r>
              <a:t>讲义印刷页：P337</a:t>
            </a:r>
          </a:p>
          <a:p>
            <a:r>
              <a:t>PDF 文件页：339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变式 2 / 单选题</a:t>
            </a:r>
          </a:p>
          <a:p>
            <a:r>
              <a:t>讲义印刷页：P338</a:t>
            </a:r>
          </a:p>
          <a:p>
            <a:r>
              <a:t>PDF 文件页：340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变式 3 / 单选题</a:t>
            </a:r>
          </a:p>
          <a:p>
            <a:r>
              <a:t>讲义印刷页：P338</a:t>
            </a:r>
          </a:p>
          <a:p>
            <a:r>
              <a:t>PDF 文件页：340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变式 4 / 单选题</a:t>
            </a:r>
          </a:p>
          <a:p>
            <a:r>
              <a:t>讲义印刷页：P338</a:t>
            </a:r>
          </a:p>
          <a:p>
            <a:r>
              <a:t>PDF 文件页：340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原题定位：知识点1离子推断 / 变式 5 / 单选题</a:t>
            </a:r>
          </a:p>
          <a:p>
            <a:r>
              <a:t>讲义印刷页：P338</a:t>
            </a:r>
          </a:p>
          <a:p>
            <a:r>
              <a:t>PDF 文件页：340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检测题 6 / 单选题</a:t>
            </a:r>
          </a:p>
          <a:p>
            <a:r>
              <a:t>讲义印刷页：P339</a:t>
            </a:r>
          </a:p>
          <a:p>
            <a:r>
              <a:t>PDF 文件页：341</a:t>
            </a:r>
          </a:p>
          <a:p>
            <a:r>
              <a:t>题目保留原题空白；未补充答案。文字为可编辑内容，图形保留原图线条。</a:t>
            </a:r>
          </a:p>
          <a:p>
            <a:r>
              <a:t>OCR 重点复核位置（请对照原讲义检查公式、上下标和字符）：</a:t>
            </a:r>
          </a:p>
          <a:p>
            <a:r>
              <a:t>P339：)</a:t>
            </a:r>
          </a:p>
          <a:p>
            <a:r>
              <a:t>P339：Δ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检测题 7 / 单选题</a:t>
            </a:r>
          </a:p>
          <a:p>
            <a:r>
              <a:t>讲义印刷页：P339, P340</a:t>
            </a:r>
          </a:p>
          <a:p>
            <a:r>
              <a:t>PDF 文件页：341, 342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P340；PDF 文件第 342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1 / 解答题</a:t>
            </a:r>
          </a:p>
          <a:p>
            <a:r>
              <a:t>讲义印刷页：P340</a:t>
            </a:r>
          </a:p>
          <a:p>
            <a:r>
              <a:t>PDF 文件页：342</a:t>
            </a:r>
          </a:p>
          <a:p>
            <a:r>
              <a:t>题目保留原题空白；未补充答案。文字为可编辑内容，图形保留原图线条。</a:t>
            </a:r>
          </a:p>
          <a:p>
            <a:r>
              <a:t>OCR 重点复核位置（请对照原讲义检查公式、上下标和字符）：</a:t>
            </a:r>
          </a:p>
          <a:p>
            <a:r>
              <a:t>P340：O₂</a:t>
            </a:r>
          </a:p>
          <a:p>
            <a:r>
              <a:t>P340：H₂SO₄</a:t>
            </a:r>
          </a:p>
          <a:p>
            <a:r>
              <a:t>P340：o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2 / 填空题</a:t>
            </a:r>
          </a:p>
          <a:p>
            <a:r>
              <a:t>讲义印刷页：P340</a:t>
            </a:r>
          </a:p>
          <a:p>
            <a:r>
              <a:t>PDF 文件页：342</a:t>
            </a:r>
          </a:p>
          <a:p>
            <a:r>
              <a:t>题目保留原题空白；未补充答案。文字为可编辑内容，图形保留原图线条。</a:t>
            </a:r>
          </a:p>
          <a:p>
            <a:r>
              <a:t>OCR 重点复核位置（请对照原讲义检查公式、上下标和字符）：</a:t>
            </a:r>
          </a:p>
          <a:p>
            <a:r>
              <a:t>P340：H₂</a:t>
            </a:r>
          </a:p>
          <a:p>
            <a:r>
              <a:t>P340：HNO₃</a:t>
            </a:r>
          </a:p>
          <a:p>
            <a:r>
              <a:t>P340：③</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3 / 填空题</a:t>
            </a:r>
          </a:p>
          <a:p>
            <a:r>
              <a:t>讲义印刷页：P341</a:t>
            </a:r>
          </a:p>
          <a:p>
            <a:r>
              <a:t>PDF 文件页：343</a:t>
            </a:r>
          </a:p>
          <a:p>
            <a:r>
              <a:t>题目保留原题空白；未补充答案。文字为可编辑内容，图形保留原图线条。</a:t>
            </a:r>
          </a:p>
          <a:p>
            <a:r>
              <a:t>OCR 重点复核位置（请对照原讲义检查公式、上下标和字符）：</a:t>
            </a:r>
          </a:p>
          <a:p>
            <a:r>
              <a:t>P341：O</a:t>
            </a:r>
          </a:p>
          <a:p>
            <a:r>
              <a:t>P341：o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4 / 推断题</a:t>
            </a:r>
          </a:p>
          <a:p>
            <a:r>
              <a:t>讲义印刷页：P341</a:t>
            </a:r>
          </a:p>
          <a:p>
            <a:r>
              <a:t>PDF 文件页：343</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P341：H₂</a:t>
            </a:r>
          </a:p>
          <a:p>
            <a:r>
              <a:t>P341：X</a:t>
            </a:r>
          </a:p>
          <a:p>
            <a:r>
              <a:t>P341：⑤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5 / 推断题</a:t>
            </a:r>
          </a:p>
          <a:p>
            <a:r>
              <a:t>讲义印刷页：P342</a:t>
            </a:r>
          </a:p>
          <a:p>
            <a:r>
              <a:t>PDF 文件页：344</a:t>
            </a:r>
          </a:p>
          <a:p>
            <a:r>
              <a:t>题目保留原题空白；未补充答案。文字为可编辑内容，图形保留原图线条。</a:t>
            </a:r>
          </a:p>
          <a:p>
            <a:r>
              <a:t>OCR 重点复核位置（请对照原讲义检查公式、上下标和字符）：</a:t>
            </a:r>
          </a:p>
          <a:p>
            <a:r>
              <a:t>P342：△①</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6 / 填空题</a:t>
            </a:r>
          </a:p>
          <a:p>
            <a:r>
              <a:t>讲义印刷页：P342, P343</a:t>
            </a:r>
          </a:p>
          <a:p>
            <a:r>
              <a:t>PDF 文件页：344, 345</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P342：w</a:t>
            </a:r>
          </a:p>
          <a:p>
            <a:r>
              <a:t>P342：, R:</a:t>
            </a:r>
          </a:p>
          <a:p>
            <a:r>
              <a:t>P342：o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1 / 解答题</a:t>
            </a:r>
          </a:p>
          <a:p>
            <a:r>
              <a:t>讲义印刷页：P343</a:t>
            </a:r>
          </a:p>
          <a:p>
            <a:r>
              <a:t>PDF 文件页：345</a:t>
            </a:r>
          </a:p>
          <a:p>
            <a:r>
              <a:t>题目保留原题空白；未补充答案。文字为可编辑内容，图形保留原图线条。</a:t>
            </a:r>
          </a:p>
          <a:p>
            <a:r>
              <a:t>OCR 重点复核位置（请对照原讲义检查公式、上下标和字符）：</a:t>
            </a:r>
          </a:p>
          <a:p>
            <a:r>
              <a:t>P343：X</a:t>
            </a:r>
          </a:p>
          <a:p>
            <a:r>
              <a:t>P343：O</a:t>
            </a:r>
          </a:p>
          <a:p>
            <a:r>
              <a:t>P343：方程式:_</a:t>
            </a:r>
          </a:p>
          <a:p>
            <a:r>
              <a:t>P343：O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2 / 推断题</a:t>
            </a:r>
          </a:p>
          <a:p>
            <a:r>
              <a:t>讲义印刷页：P343</a:t>
            </a:r>
          </a:p>
          <a:p>
            <a:r>
              <a:t>PDF 文件页：345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3 / 填空题</a:t>
            </a:r>
          </a:p>
          <a:p>
            <a:r>
              <a:t>讲义印刷页：P344</a:t>
            </a:r>
          </a:p>
          <a:p>
            <a:r>
              <a:t>PDF 文件页：346</a:t>
            </a:r>
          </a:p>
          <a:p>
            <a:r>
              <a:t>题目保留原题空白；未补充答案。文字为可编辑内容，图形保留原图线条。</a:t>
            </a:r>
          </a:p>
          <a:p>
            <a:r>
              <a:t>OCR 重点复核位置（请对照原讲义检查公式、上下标和字符）：</a:t>
            </a:r>
          </a:p>
          <a:p>
            <a:r>
              <a:t>P344：o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4 / 推断题</a:t>
            </a:r>
          </a:p>
          <a:p>
            <a:r>
              <a:t>讲义印刷页：P344</a:t>
            </a:r>
          </a:p>
          <a:p>
            <a:r>
              <a:t>PDF 文件页：346</a:t>
            </a:r>
          </a:p>
          <a:p>
            <a:r>
              <a:t>题目保留原题空白；未补充答案。文字为可编辑内容，图形保留原图线条。</a:t>
            </a:r>
          </a:p>
          <a:p>
            <a:r>
              <a:t>OCR 重点复核位置（请对照原讲义检查公式、上下标和字符）：</a:t>
            </a:r>
          </a:p>
          <a:p>
            <a:r>
              <a:t>P344：o</a:t>
            </a:r>
          </a:p>
          <a:p>
            <a:r>
              <a:t>P344：o</a:t>
            </a:r>
          </a:p>
          <a:p>
            <a:r>
              <a:t>P344：o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例题 5 / 推断题</a:t>
            </a:r>
          </a:p>
          <a:p>
            <a:r>
              <a:t>讲义印刷页：P344</a:t>
            </a:r>
          </a:p>
          <a:p>
            <a:r>
              <a:t>PDF 文件页：346</a:t>
            </a:r>
          </a:p>
          <a:p>
            <a:r>
              <a:t>题目保留原题空白；未补充答案。文字为可编辑内容，图形保留原图线条。</a:t>
            </a:r>
          </a:p>
          <a:p>
            <a:r>
              <a:t>OCR 重点复核位置（请对照原讲义检查公式、上下标和字符）：</a:t>
            </a:r>
          </a:p>
          <a:p>
            <a:r>
              <a:t>P344：X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1 / 推断题</a:t>
            </a:r>
          </a:p>
          <a:p>
            <a:r>
              <a:t>讲义印刷页：P345</a:t>
            </a:r>
          </a:p>
          <a:p>
            <a:r>
              <a:t>PDF 文件页：347</a:t>
            </a:r>
          </a:p>
          <a:p>
            <a:r>
              <a:t>题目保留原题空白；未补充答案。文字为可编辑内容，图形保留原图线条。</a:t>
            </a:r>
          </a:p>
          <a:p>
            <a:r>
              <a:t>OCR 重点复核位置（请对照原讲义检查公式、上下标和字符）：</a:t>
            </a:r>
          </a:p>
          <a:p>
            <a:r>
              <a:t>P345：0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2 / 推断题</a:t>
            </a:r>
          </a:p>
          <a:p>
            <a:r>
              <a:t>讲义印刷页：P345</a:t>
            </a:r>
          </a:p>
          <a:p>
            <a:r>
              <a:t>PDF 文件页：347</a:t>
            </a:r>
          </a:p>
          <a:p>
            <a:r>
              <a:t>题目保留原题空白；未补充答案。文字为可编辑内容，图形保留原图线条。</a:t>
            </a:r>
          </a:p>
          <a:p>
            <a:r>
              <a:t>OCR 重点复核位置（请对照原讲义检查公式、上下标和字符）：</a:t>
            </a:r>
          </a:p>
          <a:p>
            <a:r>
              <a:t>P345：o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3 / 推断题</a:t>
            </a:r>
          </a:p>
          <a:p>
            <a:r>
              <a:t>讲义印刷页：P346</a:t>
            </a:r>
          </a:p>
          <a:p>
            <a:r>
              <a:t>PDF 文件页：348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4 / 推断题</a:t>
            </a:r>
          </a:p>
          <a:p>
            <a:r>
              <a:t>讲义印刷页：P346</a:t>
            </a:r>
          </a:p>
          <a:p>
            <a:r>
              <a:t>PDF 文件页：348</a:t>
            </a:r>
          </a:p>
          <a:p>
            <a:r>
              <a:t>题目保留原题空白；未补充答案。文字为可编辑内容，图形保留原图线条。</a:t>
            </a:r>
          </a:p>
          <a:p>
            <a:r>
              <a:t>OCR 重点复核位置（请对照原讲义检查公式、上下标和字符）：</a:t>
            </a:r>
          </a:p>
          <a:p>
            <a:r>
              <a:t>P346：O₂</a:t>
            </a:r>
          </a:p>
          <a:p>
            <a:r>
              <a:t>P346：O</a:t>
            </a:r>
          </a:p>
          <a:p>
            <a:r>
              <a:t>P346：o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5 / 推断题</a:t>
            </a:r>
          </a:p>
          <a:p>
            <a:r>
              <a:t>讲义印刷页：P347</a:t>
            </a:r>
          </a:p>
          <a:p>
            <a:r>
              <a:t>PDF 文件页：349</a:t>
            </a:r>
          </a:p>
          <a:p>
            <a:r>
              <a:t>题目保留原题空白；未补充答案。文字为可编辑内容，图形保留原图线条。</a:t>
            </a:r>
          </a:p>
          <a:p>
            <a:r>
              <a:t>OCR 重点复核位置（请对照原讲义检查公式、上下标和字符）：</a:t>
            </a:r>
          </a:p>
          <a:p>
            <a:r>
              <a:t>P347：o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6 / 解答题</a:t>
            </a:r>
          </a:p>
          <a:p>
            <a:r>
              <a:t>讲义印刷页：P347</a:t>
            </a:r>
          </a:p>
          <a:p>
            <a:r>
              <a:t>PDF 文件页：349</a:t>
            </a:r>
          </a:p>
          <a:p>
            <a:r>
              <a:t>题目保留原题空白；未补充答案。文字为可编辑内容，图形保留原图线条。</a:t>
            </a:r>
          </a:p>
          <a:p>
            <a:r>
              <a:t>OCR 重点复核位置（请对照原讲义检查公式、上下标和字符）：</a:t>
            </a:r>
          </a:p>
          <a:p>
            <a:r>
              <a:t>P347：-BaCl₁₂溶液</a:t>
            </a:r>
          </a:p>
          <a:p>
            <a:r>
              <a:t>P347：-H₂O</a:t>
            </a:r>
          </a:p>
          <a:p>
            <a:r>
              <a:t>P347：O</a:t>
            </a:r>
          </a:p>
          <a:p>
            <a:r>
              <a:t>P347：o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7 / 推断题</a:t>
            </a:r>
          </a:p>
          <a:p>
            <a:r>
              <a:t>讲义印刷页：P347, P348</a:t>
            </a:r>
          </a:p>
          <a:p>
            <a:r>
              <a:t>PDF 文件页：349, 350</a:t>
            </a:r>
          </a:p>
          <a:p>
            <a:r>
              <a:t>题目保留原题空白；未补充答案。文字为可编辑内容，图形保留原图线条。</a:t>
            </a:r>
          </a:p>
          <a:p>
            <a:r>
              <a:t>OCR 重点复核位置（请对照原讲义检查公式、上下标和字符）：</a:t>
            </a:r>
          </a:p>
          <a:p>
            <a:r>
              <a:t>P348：H₂O</a:t>
            </a:r>
          </a:p>
          <a:p>
            <a:r>
              <a:t>P348：、M</a:t>
            </a:r>
          </a:p>
          <a:p>
            <a:r>
              <a:t>P348：O</a:t>
            </a:r>
          </a:p>
          <a:p>
            <a:r>
              <a:t>P348：O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原题定位：无机推断 / 变式 8 / 填空题</a:t>
            </a:r>
          </a:p>
          <a:p>
            <a:r>
              <a:t>讲义印刷页：P348</a:t>
            </a:r>
          </a:p>
          <a:p>
            <a:r>
              <a:t>PDF 文件页：350</a:t>
            </a:r>
          </a:p>
          <a:p>
            <a:r>
              <a:t>题目保留原题空白；未补充答案。文字为可编辑内容，图形保留原图线条。</a:t>
            </a:r>
          </a:p>
          <a:p>
            <a:r>
              <a:t>OCR 重点复核位置（请对照原讲义检查公式、上下标和字符）：</a:t>
            </a:r>
          </a:p>
          <a:p>
            <a:r>
              <a:t>P348：o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P349；PDF 文件第 351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1 / 解答题</a:t>
            </a:r>
          </a:p>
          <a:p>
            <a:r>
              <a:t>讲义印刷页：P349</a:t>
            </a:r>
          </a:p>
          <a:p>
            <a:r>
              <a:t>PDF 文件页：351</a:t>
            </a:r>
          </a:p>
          <a:p>
            <a:r>
              <a:t>题目保留原题空白；未补充答案。文字为可编辑内容，图形保留原图线条。</a:t>
            </a:r>
          </a:p>
          <a:p>
            <a:r>
              <a:t>OCR 重点复核位置（请对照原讲义检查公式、上下标和字符）：</a:t>
            </a:r>
          </a:p>
          <a:p>
            <a:r>
              <a:t>P349：o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2 / 解答题</a:t>
            </a:r>
          </a:p>
          <a:p>
            <a:r>
              <a:t>讲义印刷页：P349</a:t>
            </a:r>
          </a:p>
          <a:p>
            <a:r>
              <a:t>PDF 文件页：351</a:t>
            </a:r>
          </a:p>
          <a:p>
            <a:r>
              <a:t>题目保留原题空白；未补充答案。文字为可编辑内容，图形保留原图线条。</a:t>
            </a:r>
          </a:p>
          <a:p>
            <a:r>
              <a:t>OCR 重点复核位置（请对照原讲义检查公式、上下标和字符）：</a:t>
            </a:r>
          </a:p>
          <a:p>
            <a:r>
              <a:t>P349：O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3 / 填空题</a:t>
            </a:r>
          </a:p>
          <a:p>
            <a:r>
              <a:t>讲义印刷页：P349</a:t>
            </a:r>
          </a:p>
          <a:p>
            <a:r>
              <a:t>PDF 文件页：351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4 / 解答题</a:t>
            </a:r>
          </a:p>
          <a:p>
            <a:r>
              <a:t>讲义印刷页：P350</a:t>
            </a:r>
          </a:p>
          <a:p>
            <a:r>
              <a:t>PDF 文件页：352</a:t>
            </a:r>
          </a:p>
          <a:p>
            <a:r>
              <a:t>题目保留原题空白；未补充答案。文字为可编辑内容，图形保留原图线条。</a:t>
            </a:r>
          </a:p>
          <a:p>
            <a:r>
              <a:t>OCR 重点复核位置（请对照原讲义检查公式、上下标和字符）：</a:t>
            </a:r>
          </a:p>
          <a:p>
            <a:r>
              <a:t>P350：o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1 / 单选题</a:t>
            </a:r>
          </a:p>
          <a:p>
            <a:r>
              <a:t>讲义印刷页：P350</a:t>
            </a:r>
          </a:p>
          <a:p>
            <a:r>
              <a:t>PDF 文件页：352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2 / 单选题</a:t>
            </a:r>
          </a:p>
          <a:p>
            <a:r>
              <a:t>讲义印刷页：P350</a:t>
            </a:r>
          </a:p>
          <a:p>
            <a:r>
              <a:t>PDF 文件页：352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3 / 解答题</a:t>
            </a:r>
          </a:p>
          <a:p>
            <a:r>
              <a:t>讲义印刷页：P350</a:t>
            </a:r>
          </a:p>
          <a:p>
            <a:r>
              <a:t>PDF 文件页：352</a:t>
            </a:r>
          </a:p>
          <a:p>
            <a:r>
              <a:t>题目保留原题空白；未补充答案。文字为可编辑内容，图形保留原图线条。</a:t>
            </a:r>
          </a:p>
          <a:p>
            <a:r>
              <a:t>OCR 重点复核位置（请对照原讲义检查公式、上下标和字符）：</a:t>
            </a:r>
          </a:p>
          <a:p>
            <a:r>
              <a:t>P350：g。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1 / 单选题</a:t>
            </a:r>
          </a:p>
          <a:p>
            <a:r>
              <a:t>讲义印刷页：P350</a:t>
            </a:r>
          </a:p>
          <a:p>
            <a:r>
              <a:t>PDF 文件页：352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2 / 单选题</a:t>
            </a:r>
          </a:p>
          <a:p>
            <a:r>
              <a:t>讲义印刷页：P350</a:t>
            </a:r>
          </a:p>
          <a:p>
            <a:r>
              <a:t>PDF 文件页：352</a:t>
            </a:r>
          </a:p>
          <a:p>
            <a:r>
              <a:t>题目保留原题空白；未补充答案。文字为可编辑内容，图形保留原图线条。</a:t>
            </a:r>
          </a:p>
          <a:p>
            <a:r>
              <a:t>OCR 重点复核位置（请对照原讲义检查公式、上下标和字符）：</a:t>
            </a:r>
          </a:p>
          <a:p>
            <a:r>
              <a:t>P350：B. 1: 1: 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3 / 单选题</a:t>
            </a:r>
          </a:p>
          <a:p>
            <a:r>
              <a:t>讲义印刷页：P351</a:t>
            </a:r>
          </a:p>
          <a:p>
            <a:r>
              <a:t>PDF 文件页：353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1 / 填空题</a:t>
            </a:r>
          </a:p>
          <a:p>
            <a:r>
              <a:t>讲义印刷页：P351</a:t>
            </a:r>
          </a:p>
          <a:p>
            <a:r>
              <a:t>PDF 文件页：353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2 / 解答题</a:t>
            </a:r>
          </a:p>
          <a:p>
            <a:r>
              <a:t>讲义印刷页：P351</a:t>
            </a:r>
          </a:p>
          <a:p>
            <a:r>
              <a:t>PDF 文件页：353</a:t>
            </a:r>
          </a:p>
          <a:p>
            <a:r>
              <a:t>题目保留原题空白；未补充答案。文字为可编辑内容，图形保留原图线条。</a:t>
            </a:r>
          </a:p>
          <a:p>
            <a:r>
              <a:t>OCR 重点复核位置（请对照原讲义检查公式、上下标和字符）：</a:t>
            </a:r>
          </a:p>
          <a:p>
            <a:r>
              <a:t>P351：mol · L−1。</a:t>
            </a:r>
          </a:p>
          <a:p>
            <a:r>
              <a:t>P351：Lo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检测题 3 / 解答题</a:t>
            </a:r>
          </a:p>
          <a:p>
            <a:r>
              <a:t>讲义印刷页：P352</a:t>
            </a:r>
          </a:p>
          <a:p>
            <a:r>
              <a:t>PDF 文件页：354</a:t>
            </a:r>
          </a:p>
          <a:p>
            <a:r>
              <a:t>题目保留原题空白；未补充答案。文字为可编辑内容，图形保留原图线条。</a:t>
            </a:r>
          </a:p>
          <a:p>
            <a:r>
              <a:t>OCR 重点复核位置（请对照原讲义检查公式、上下标和字符）：</a:t>
            </a:r>
          </a:p>
          <a:p>
            <a:r>
              <a:t>P352：c</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1 / 解答题</a:t>
            </a:r>
          </a:p>
          <a:p>
            <a:r>
              <a:t>讲义印刷页：P352</a:t>
            </a:r>
          </a:p>
          <a:p>
            <a:r>
              <a:t>PDF 文件页：354</a:t>
            </a:r>
          </a:p>
          <a:p>
            <a:r>
              <a:t>题目保留原题空白；未补充答案。文字为可编辑内容，图形保留原图线条。</a:t>
            </a:r>
          </a:p>
          <a:p>
            <a:r>
              <a:t>OCR 重点复核位置（请对照原讲义检查公式、上下标和字符）：</a:t>
            </a:r>
          </a:p>
          <a:p>
            <a:r>
              <a:t>P352：O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2 / 解答题</a:t>
            </a:r>
          </a:p>
          <a:p>
            <a:r>
              <a:t>讲义印刷页：P352</a:t>
            </a:r>
          </a:p>
          <a:p>
            <a:r>
              <a:t>PDF 文件页：354</a:t>
            </a:r>
          </a:p>
          <a:p>
            <a:r>
              <a:t>题目保留原题空白；未补充答案。文字为可编辑内容，图形保留原图线条。</a:t>
            </a:r>
          </a:p>
          <a:p>
            <a:r>
              <a:t>OCR 重点复核位置（请对照原讲义检查公式、上下标和字符）：</a:t>
            </a:r>
          </a:p>
          <a:p>
            <a:r>
              <a:t>P352：O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3 / 填空题</a:t>
            </a:r>
          </a:p>
          <a:p>
            <a:r>
              <a:t>讲义印刷页：P353</a:t>
            </a:r>
          </a:p>
          <a:p>
            <a:r>
              <a:t>PDF 文件页：355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4 / 解答题</a:t>
            </a:r>
          </a:p>
          <a:p>
            <a:r>
              <a:t>讲义印刷页：P353</a:t>
            </a:r>
          </a:p>
          <a:p>
            <a:r>
              <a:t>PDF 文件页：355</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P353：o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5 / 填空题</a:t>
            </a:r>
          </a:p>
          <a:p>
            <a:r>
              <a:t>讲义印刷页：P354</a:t>
            </a:r>
          </a:p>
          <a:p>
            <a:r>
              <a:t>PDF 文件页：356</a:t>
            </a:r>
          </a:p>
          <a:p>
            <a:r>
              <a:t>题目保留原题空白；未补充答案。文字为可编辑内容，图形保留原图线条。</a:t>
            </a:r>
          </a:p>
          <a:p>
            <a:r>
              <a:t>OCR 重点复核位置（请对照原讲义检查公式、上下标和字符）：</a:t>
            </a:r>
          </a:p>
          <a:p>
            <a:r>
              <a:t>P354：4</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6 / 解答题</a:t>
            </a:r>
          </a:p>
          <a:p>
            <a:r>
              <a:t>讲义印刷页：P354</a:t>
            </a:r>
          </a:p>
          <a:p>
            <a:r>
              <a:t>PDF 文件页：356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7 / 填空题</a:t>
            </a:r>
          </a:p>
          <a:p>
            <a:r>
              <a:t>讲义印刷页：P354</a:t>
            </a:r>
          </a:p>
          <a:p>
            <a:r>
              <a:t>PDF 文件页：356</a:t>
            </a:r>
          </a:p>
          <a:p>
            <a:r>
              <a:t>题目保留原题空白；未补充答案。文字为可编辑内容，图形保留原图线条。</a:t>
            </a:r>
          </a:p>
          <a:p>
            <a:r>
              <a:t>OCR 重点复核位置（请对照原讲义检查公式、上下标和字符）：</a:t>
            </a:r>
          </a:p>
          <a:p>
            <a:r>
              <a:t>P354：O</a:t>
            </a:r>
          </a:p>
          <a:p>
            <a:r>
              <a:t>P354：go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8 / 解答题</a:t>
            </a:r>
          </a:p>
          <a:p>
            <a:r>
              <a:t>讲义印刷页：P355</a:t>
            </a:r>
          </a:p>
          <a:p>
            <a:r>
              <a:t>PDF 文件页：357</a:t>
            </a:r>
          </a:p>
          <a:p>
            <a:r>
              <a:t>题目保留原题空白；未补充答案。文字为可编辑内容，图形保留原图线条。</a:t>
            </a:r>
          </a:p>
          <a:p>
            <a:r>
              <a:t>OCR 重点复核位置（请对照原讲义检查公式、上下标和字符）：</a:t>
            </a:r>
          </a:p>
          <a:p>
            <a:r>
              <a:t>P355：_ ;</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9 / 解答题</a:t>
            </a:r>
          </a:p>
          <a:p>
            <a:r>
              <a:t>讲义印刷页：P355</a:t>
            </a:r>
          </a:p>
          <a:p>
            <a:r>
              <a:t>PDF 文件页：357</a:t>
            </a:r>
          </a:p>
          <a:p>
            <a:r>
              <a:t>题目保留原题空白；未补充答案。文字为可编辑内容，图形保留原图线条。</a:t>
            </a:r>
          </a:p>
          <a:p>
            <a:r>
              <a:t>OCR 重点复核位置（请对照原讲义检查公式、上下标和字符）：</a:t>
            </a:r>
          </a:p>
          <a:p>
            <a:r>
              <a:t>P355：O</a:t>
            </a:r>
          </a:p>
          <a:p>
            <a:r>
              <a:t>P355：o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10 / 解答题</a:t>
            </a:r>
          </a:p>
          <a:p>
            <a:r>
              <a:t>讲义印刷页：P355</a:t>
            </a:r>
          </a:p>
          <a:p>
            <a:r>
              <a:t>PDF 文件页：357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11 / 填空题</a:t>
            </a:r>
          </a:p>
          <a:p>
            <a:r>
              <a:t>讲义印刷页：P355</a:t>
            </a:r>
          </a:p>
          <a:p>
            <a:r>
              <a:t>PDF 文件页：357</a:t>
            </a:r>
          </a:p>
          <a:p>
            <a:r>
              <a:t>题目保留原题空白；未补充答案。文字为可编辑内容，图形保留原图线条。</a:t>
            </a:r>
          </a:p>
          <a:p>
            <a:r>
              <a:t>OCR 重点复核位置（请对照原讲义检查公式、上下标和字符）：</a:t>
            </a:r>
          </a:p>
          <a:p>
            <a:r>
              <a:t>P355：o</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12 / 填空题</a:t>
            </a:r>
          </a:p>
          <a:p>
            <a:r>
              <a:t>讲义印刷页：P355, P356</a:t>
            </a:r>
          </a:p>
          <a:p>
            <a:r>
              <a:t>PDF 文件页：357, 358</a:t>
            </a:r>
          </a:p>
          <a:p>
            <a:r>
              <a:t>题目保留原题空白；未补充答案。文字为可编辑内容，图形保留原图线条。</a:t>
            </a:r>
          </a:p>
          <a:p>
            <a:r>
              <a:t>OCR 重点复核位置（请对照原讲义检查公式、上下标和字符）：</a:t>
            </a:r>
          </a:p>
          <a:p>
            <a:r>
              <a:t>P355：go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原题定位：计算 / 变式 13 / 填空题</a:t>
            </a:r>
          </a:p>
          <a:p>
            <a:r>
              <a:t>讲义印刷页：P356</a:t>
            </a:r>
          </a:p>
          <a:p>
            <a:r>
              <a:t>PDF 文件页：358</a:t>
            </a:r>
          </a:p>
          <a:p>
            <a:r>
              <a:t>题目保留原题空白；未补充答案。文字为可编辑内容，图形保留原图线条。</a:t>
            </a:r>
          </a:p>
          <a:p>
            <a:r>
              <a:t>OCR 重点复核位置（请对照原讲义检查公式、上下标和字符）：</a:t>
            </a:r>
          </a:p>
          <a:p>
            <a:r>
              <a:t>P356：算：</a:t>
            </a:r>
          </a:p>
          <a:p>
            <a:r>
              <a:t>P356：go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 / 单选题</a:t>
            </a:r>
          </a:p>
          <a:p>
            <a:r>
              <a:t>讲义印刷页：P357</a:t>
            </a:r>
          </a:p>
          <a:p>
            <a:r>
              <a:t>PDF 文件页：359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 / 单选题</a:t>
            </a:r>
          </a:p>
          <a:p>
            <a:r>
              <a:t>讲义印刷页：P357</a:t>
            </a:r>
          </a:p>
          <a:p>
            <a:r>
              <a:t>PDF 文件页：359</a:t>
            </a:r>
          </a:p>
          <a:p>
            <a:r>
              <a:t>题目保留原题空白；未补充答案。文字为可编辑内容，图形保留原图线条。</a:t>
            </a:r>
          </a:p>
          <a:p>
            <a:r>
              <a:t>OCR 重点复核位置（请对照原讲义检查公式、上下标和字符）：</a:t>
            </a:r>
          </a:p>
          <a:p>
            <a:r>
              <a:t>P357：O:</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3 / 单选题</a:t>
            </a:r>
          </a:p>
          <a:p>
            <a:r>
              <a:t>讲义印刷页：P357</a:t>
            </a:r>
          </a:p>
          <a:p>
            <a:r>
              <a:t>PDF 文件页：359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4 / 单选题</a:t>
            </a:r>
          </a:p>
          <a:p>
            <a:r>
              <a:t>讲义印刷页：P357</a:t>
            </a:r>
          </a:p>
          <a:p>
            <a:r>
              <a:t>PDF 文件页：359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5 / 单选题</a:t>
            </a:r>
          </a:p>
          <a:p>
            <a:r>
              <a:t>讲义印刷页：P358</a:t>
            </a:r>
          </a:p>
          <a:p>
            <a:r>
              <a:t>PDF 文件页：360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6 / 单选题</a:t>
            </a:r>
          </a:p>
          <a:p>
            <a:r>
              <a:t>讲义印刷页：P358</a:t>
            </a:r>
          </a:p>
          <a:p>
            <a:r>
              <a:t>PDF 文件页：360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7 / 单选题</a:t>
            </a:r>
          </a:p>
          <a:p>
            <a:r>
              <a:t>讲义印刷页：P358</a:t>
            </a:r>
          </a:p>
          <a:p>
            <a:r>
              <a:t>PDF 文件页：360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8 / 单选题</a:t>
            </a:r>
          </a:p>
          <a:p>
            <a:r>
              <a:t>讲义印刷页：P358</a:t>
            </a:r>
          </a:p>
          <a:p>
            <a:r>
              <a:t>PDF 文件页：360</a:t>
            </a:r>
          </a:p>
          <a:p>
            <a:r>
              <a:t>题目保留原题空白；未补充答案。文字为可编辑内容，图形保留原图线条。</a:t>
            </a:r>
          </a:p>
          <a:p>
            <a:r>
              <a:t>OCR 重点复核位置（请对照原讲义检查公式、上下标和字符）：</a:t>
            </a:r>
          </a:p>
          <a:p>
            <a:r>
              <a:t>P358：()</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9 / 单选题</a:t>
            </a:r>
          </a:p>
          <a:p>
            <a:r>
              <a:t>讲义印刷页：P358</a:t>
            </a:r>
          </a:p>
          <a:p>
            <a:r>
              <a:t>PDF 文件页：360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10 / 单选题</a:t>
            </a:r>
          </a:p>
          <a:p>
            <a:r>
              <a:t>讲义印刷页：P359</a:t>
            </a:r>
          </a:p>
          <a:p>
            <a:r>
              <a:t>PDF 文件页：361</a:t>
            </a:r>
          </a:p>
          <a:p>
            <a:r>
              <a:t>题目保留原题空白；未补充答案。文字为可编辑内容，图形保留原图线条。</a:t>
            </a:r>
          </a:p>
          <a:p>
            <a:r>
              <a:t>OCR 重点复核位置（请对照原讲义检查公式、上下标和字符）：</a:t>
            </a:r>
          </a:p>
          <a:p>
            <a:r>
              <a:t>P359：一</a:t>
            </a:r>
          </a:p>
          <a:p>
            <a:r>
              <a:t>P359：一</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11 / 单选题</a:t>
            </a:r>
          </a:p>
          <a:p>
            <a:r>
              <a:t>讲义印刷页：P359</a:t>
            </a:r>
          </a:p>
          <a:p>
            <a:r>
              <a:t>PDF 文件页：361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12 / 单选题</a:t>
            </a:r>
          </a:p>
          <a:p>
            <a:r>
              <a:t>讲义印刷页：P359</a:t>
            </a:r>
          </a:p>
          <a:p>
            <a:r>
              <a:t>PDF 文件页：361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13 / 单选题</a:t>
            </a:r>
          </a:p>
          <a:p>
            <a:r>
              <a:t>讲义印刷页：P359</a:t>
            </a:r>
          </a:p>
          <a:p>
            <a:r>
              <a:t>PDF 文件页：361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14 / 单选题</a:t>
            </a:r>
          </a:p>
          <a:p>
            <a:r>
              <a:t>讲义印刷页：P360</a:t>
            </a:r>
          </a:p>
          <a:p>
            <a:r>
              <a:t>PDF 文件页：362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15 / 单选题</a:t>
            </a:r>
          </a:p>
          <a:p>
            <a:r>
              <a:t>讲义印刷页：P360</a:t>
            </a:r>
          </a:p>
          <a:p>
            <a:r>
              <a:t>PDF 文件页：362</a:t>
            </a:r>
          </a:p>
          <a:p>
            <a:r>
              <a:t>题目保留原题空白；未补充答案。文字为可编辑内容，图形保留原图线条。</a:t>
            </a:r>
          </a:p>
          <a:p>
            <a:r>
              <a:t>OCR 重点复核位置（请对照原讲义检查公式、上下标和字符）：</a:t>
            </a:r>
          </a:p>
          <a:p>
            <a:r>
              <a:t>P360：X</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16 / 单选题</a:t>
            </a:r>
          </a:p>
          <a:p>
            <a:r>
              <a:t>讲义印刷页：P360</a:t>
            </a:r>
          </a:p>
          <a:p>
            <a:r>
              <a:t>PDF 文件页：362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17 / 单选题</a:t>
            </a:r>
          </a:p>
          <a:p>
            <a:r>
              <a:t>讲义印刷页：P361</a:t>
            </a:r>
          </a:p>
          <a:p>
            <a:r>
              <a:t>PDF 文件页：363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18 / 单选题</a:t>
            </a:r>
          </a:p>
          <a:p>
            <a:r>
              <a:t>讲义印刷页：P361</a:t>
            </a:r>
          </a:p>
          <a:p>
            <a:r>
              <a:t>PDF 文件页：363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19 / 单选题</a:t>
            </a:r>
          </a:p>
          <a:p>
            <a:r>
              <a:t>讲义印刷页：P361</a:t>
            </a:r>
          </a:p>
          <a:p>
            <a:r>
              <a:t>PDF 文件页：363</a:t>
            </a:r>
          </a:p>
          <a:p>
            <a:r>
              <a:t>题目保留原题空白；未补充答案。文字为可编辑内容，图形保留原图线条。</a:t>
            </a:r>
          </a:p>
          <a:p>
            <a:r>
              <a:t>OCR 重点复核位置（请对照原讲义检查公式、上下标和字符）：</a:t>
            </a:r>
          </a:p>
          <a:p>
            <a:r>
              <a:t>P361：HClO</a:t>
            </a:r>
          </a:p>
          <a:p>
            <a:r>
              <a:t>P361：H₂O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20 / 单选题</a:t>
            </a:r>
          </a:p>
          <a:p>
            <a:r>
              <a:t>讲义印刷页：P361</a:t>
            </a:r>
          </a:p>
          <a:p>
            <a:r>
              <a:t>PDF 文件页：363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21 / 单选题</a:t>
            </a:r>
          </a:p>
          <a:p>
            <a:r>
              <a:t>讲义印刷页：P362</a:t>
            </a:r>
          </a:p>
          <a:p>
            <a:r>
              <a:t>PDF 文件页：364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22 / 推断题</a:t>
            </a:r>
          </a:p>
          <a:p>
            <a:r>
              <a:t>讲义印刷页：P362</a:t>
            </a:r>
          </a:p>
          <a:p>
            <a:r>
              <a:t>PDF 文件页：364</a:t>
            </a:r>
          </a:p>
          <a:p>
            <a:r>
              <a:t>题目保留原题空白；未补充答案。文字为可编辑内容，图形保留原图线条。</a:t>
            </a:r>
          </a:p>
          <a:p>
            <a:r>
              <a:t>OCR 重点复核位置（请对照原讲义检查公式、上下标和字符）：</a:t>
            </a:r>
          </a:p>
          <a:p>
            <a:r>
              <a:t>P362：•n</a:t>
            </a:r>
          </a:p>
          <a:p>
            <a:r>
              <a:t>P362：0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23 / 推断题</a:t>
            </a:r>
          </a:p>
          <a:p>
            <a:r>
              <a:t>讲义印刷页：P363</a:t>
            </a:r>
          </a:p>
          <a:p>
            <a:r>
              <a:t>PDF 文件页：365</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P363：溶液△</a:t>
            </a:r>
          </a:p>
          <a:p>
            <a:r>
              <a:t>P363：⑥</a:t>
            </a:r>
          </a:p>
          <a:p>
            <a:r>
              <a:t>P363：④</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24 / 解答题</a:t>
            </a:r>
          </a:p>
          <a:p>
            <a:r>
              <a:t>讲义印刷页：P364</a:t>
            </a:r>
          </a:p>
          <a:p>
            <a:r>
              <a:t>PDF 文件页：366</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P364：…… → γ-Fe₂O₃</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25 / 解答题</a:t>
            </a:r>
          </a:p>
          <a:p>
            <a:r>
              <a:t>讲义印刷页：P364, P365</a:t>
            </a:r>
          </a:p>
          <a:p>
            <a:r>
              <a:t>PDF 文件页：366, 367</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P364：=</a:t>
            </a:r>
          </a:p>
          <a:p>
            <a:r>
              <a:t>P364：IF</a:t>
            </a:r>
          </a:p>
          <a:p>
            <a:r>
              <a:t>P365：O</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原题定位：阶段检测(二) / 检测题 26 / 解答题</a:t>
            </a:r>
          </a:p>
          <a:p>
            <a:r>
              <a:t>讲义印刷页：P365</a:t>
            </a:r>
          </a:p>
          <a:p>
            <a:r>
              <a:t>PDF 文件页：367</a:t>
            </a:r>
          </a:p>
          <a:p>
            <a:r>
              <a:t>题目保留原题空白；未补充答案。文字为可编辑内容，图形保留原图线条。</a:t>
            </a:r>
          </a:p>
          <a:p>
            <a:r>
              <a:t>OCR 重点复核位置（请对照原讲义检查公式、上下标和字符）：</a:t>
            </a:r>
          </a:p>
          <a:p>
            <a:r>
              <a:t>P365：go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3.png"/><Relationship Id="rId4"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4.png"/><Relationship Id="rId4"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5.png"/><Relationship Id="rId4"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9.png"/><Relationship Id="rId4"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0.png"/><Relationship Id="rId4"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2.png"/><Relationship Id="rId4"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3.png"/><Relationship Id="rId4"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4.png"/><Relationship Id="rId4"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5.png"/><Relationship Id="rId4"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6.png"/><Relationship Id="rId4"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7.png"/><Relationship Id="rId4"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8.png"/><Relationship Id="rId4"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9.png"/><Relationship Id="rId4" Type="http://schemas.openxmlformats.org/officeDocument/2006/relationships/notesSlide" Target="../notesSlides/notes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0.png"/><Relationship Id="rId4"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1.png"/><Relationship Id="rId4"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无机综合应用"/>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无机综合应用</a:t>
            </a:r>
          </a:p>
        </p:txBody>
      </p:sp>
      <p:sp>
        <p:nvSpPr>
          <p:cNvPr id="4" name="文字_第 16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16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335–365"/>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P335–365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离子推断：四项基本原则"/>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离子推断：四项基本原则</a:t>
            </a:r>
          </a:p>
        </p:txBody>
      </p:sp>
      <p:sp>
        <p:nvSpPr>
          <p:cNvPr id="5" name="文字_知识梳理 · 讲义 P335"/>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离子推断：四项基本原则"/>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离子推断：四项基本原则</a:t>
            </a:r>
          </a:p>
        </p:txBody>
      </p:sp>
      <p:sp>
        <p:nvSpPr>
          <p:cNvPr id="5" name="文字_知识讲解 · P33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P335</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肯定性原则：根据实验现象推出一定存在或一定不存在"/>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肯定性原则：根据实验现象推出一定存在或一定不存在的离子。</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互斥性原则：肯定某离子存在后，结合共存规律排除与"/>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互斥性原则：肯定某离子存在后，结合共存规律排除与之反应的离子。</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电中性原则：溶液呈电中性，阳、阴离子同时存在，正"/>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电中性原则：溶液呈电中性，阳、阴离子同时存在，正负电荷总数相等（可确定</a:t>
            </a:r>
          </a:p>
          <a:p>
            <a:pPr>
              <a:lnSpc>
                <a:spcPct val="112000"/>
              </a:lnSpc>
              <a:spcBef>
                <a:spcPts val="0"/>
              </a:spcBef>
              <a:spcAft>
                <a:spcPts val="0"/>
              </a:spcAft>
              <a:defRPr sz="2400" b="0">
                <a:solidFill>
                  <a:srgbClr val="333333"/>
                </a:solidFill>
                <a:latin typeface="微软雅黑"/>
              </a:defRPr>
            </a:pPr>
            <a:r>
              <a:rPr>
                <a:ea typeface="微软雅黑"/>
              </a:rPr>
              <a:t>隐含离子）。</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进出性原则：实验过程中加入的试剂引入的离子、反应"/>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进出性原则：实验过程中加入的试剂引入的离子、反应生成的离子会干扰后续判</a:t>
            </a:r>
          </a:p>
          <a:p>
            <a:pPr>
              <a:lnSpc>
                <a:spcPct val="112000"/>
              </a:lnSpc>
              <a:spcBef>
                <a:spcPts val="0"/>
              </a:spcBef>
              <a:spcAft>
                <a:spcPts val="0"/>
              </a:spcAft>
              <a:defRPr sz="2400" b="0">
                <a:solidFill>
                  <a:srgbClr val="333333"/>
                </a:solidFill>
                <a:latin typeface="微软雅黑"/>
              </a:defRPr>
            </a:pPr>
            <a:r>
              <a:rPr>
                <a:ea typeface="微软雅黑"/>
              </a:rPr>
              <a:t>断。</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例如&quot;加入过量盐酸酸化&quot;后溶液中必含 C"/>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例如"加入过量盐酸酸化"后溶液中必含 Cl⁻，后续检验 Cl⁻ 的结论要重新审视。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离子推断的解题思路"/>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离子推断的解题思路</a:t>
            </a:r>
          </a:p>
        </p:txBody>
      </p:sp>
      <p:sp>
        <p:nvSpPr>
          <p:cNvPr id="5" name="文字_知识讲解 · P33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P335</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第一步：由实验操作和现象，确定一定含有的离子。"/>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第一步：由实验操作和现象，确定一定含有的离子。</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第二步：由离子共存，排除一定不含的离子。"/>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第二步：由离子共存，排除一定不含的离子。</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第三步：由电荷守恒，确定可能含有的离子或必然存在"/>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第三步：由电荷守恒，确定可能含有的离子或必然存在的隐含离子。</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第四步：结合定量数据（气体体积、沉淀质量）计算确"/>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第四步：结合定量数据（气体体积、沉淀质量）计算确定各离子的量。</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注意实验顺序：检验 SO₄²⁻ 先加盐酸酸化；检"/>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注意实验顺序：检验 SO₄²⁻ 先加盐酸酸化；检验 Cl⁻ 先加稀硝酸。</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沉淀颜色是关键信息：白色（BaSO₄、B"/>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沉淀颜色是关键信息：白色（BaSO₄、BaCO₃、CaCO₃）、红褐色 Fe(OH)₃、蓝色 Cu(OH)₂。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例题1</a:t>
            </a:r>
          </a:p>
        </p:txBody>
      </p:sp>
      <p:sp>
        <p:nvSpPr>
          <p:cNvPr id="5" name="文字_P33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P335</a:t>
            </a:r>
          </a:p>
        </p:txBody>
      </p:sp>
      <p:sp>
        <p:nvSpPr>
          <p:cNvPr id="6" name="文字_通过实验得出的结论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通过实验得出的结论正确的是</a:t>
            </a:r>
          </a:p>
        </p:txBody>
      </p:sp>
      <p:sp>
        <p:nvSpPr>
          <p:cNvPr id="7" name="文字_A. 将某固体试样完全溶于盐酸，再滴加Ba(NO"/>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将某固体试样完全溶于盐酸，再滴加Ba(NO₃)₂溶液，出现白色沉淀，则该固体</a:t>
            </a:r>
          </a:p>
          <a:p>
            <a:pPr>
              <a:lnSpc>
                <a:spcPct val="112000"/>
              </a:lnSpc>
              <a:spcBef>
                <a:spcPts val="0"/>
              </a:spcBef>
              <a:spcAft>
                <a:spcPts val="0"/>
              </a:spcAft>
              <a:defRPr sz="2400" b="0">
                <a:solidFill>
                  <a:srgbClr val="333333"/>
                </a:solidFill>
                <a:latin typeface="微软雅黑"/>
              </a:defRPr>
            </a:pPr>
            <a:r>
              <a:rPr>
                <a:ea typeface="微软雅黑"/>
              </a:rPr>
              <a:t>试样中存在SO₂</a:t>
            </a:r>
          </a:p>
        </p:txBody>
      </p:sp>
      <p:sp>
        <p:nvSpPr>
          <p:cNvPr id="8" name="文字_B. 将某固体试样完全溶于盐酸，再滴加KSCN溶"/>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将某固体试样完全溶于盐酸，再滴加KSCN溶液，没有出现血红色，则该固体试</a:t>
            </a:r>
          </a:p>
          <a:p>
            <a:pPr>
              <a:lnSpc>
                <a:spcPct val="112000"/>
              </a:lnSpc>
              <a:spcBef>
                <a:spcPts val="0"/>
              </a:spcBef>
              <a:spcAft>
                <a:spcPts val="0"/>
              </a:spcAft>
              <a:defRPr sz="2400" b="0">
                <a:solidFill>
                  <a:srgbClr val="333333"/>
                </a:solidFill>
                <a:latin typeface="微软雅黑"/>
              </a:defRPr>
            </a:pPr>
            <a:r>
              <a:rPr>
                <a:ea typeface="微软雅黑"/>
              </a:rPr>
              <a:t>样中不存在Fe³⁺</a:t>
            </a:r>
          </a:p>
        </p:txBody>
      </p:sp>
      <p:sp>
        <p:nvSpPr>
          <p:cNvPr id="9" name="文字_C. 在某固体试样加水后的溶液中，滴加NaOH溶"/>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在某固体试样加水后的溶液中，滴加NaOH溶液，没有产生使湿润红色石蕊试纸</a:t>
            </a:r>
          </a:p>
          <a:p>
            <a:pPr>
              <a:lnSpc>
                <a:spcPct val="112000"/>
              </a:lnSpc>
              <a:spcBef>
                <a:spcPts val="0"/>
              </a:spcBef>
              <a:spcAft>
                <a:spcPts val="0"/>
              </a:spcAft>
              <a:defRPr sz="2400" b="0">
                <a:solidFill>
                  <a:srgbClr val="333333"/>
                </a:solidFill>
                <a:latin typeface="微软雅黑"/>
              </a:defRPr>
            </a:pPr>
            <a:r>
              <a:rPr>
                <a:ea typeface="微软雅黑"/>
              </a:rPr>
              <a:t>变蓝的气体，该固体试样中仍可能存在NH+</a:t>
            </a:r>
          </a:p>
        </p:txBody>
      </p:sp>
      <p:sp>
        <p:nvSpPr>
          <p:cNvPr id="10" name="文字_D. 在某固体试样加水后的上层清液中，滴加盐酸出"/>
          <p:cNvSpPr txBox="1"/>
          <p:nvPr/>
        </p:nvSpPr>
        <p:spPr>
          <a:xfrm>
            <a:off x="502920" y="39227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在某固体试样加水后的上层清液中，滴加盐酸出现白色沉淀，再加NaOH溶液沉</a:t>
            </a:r>
          </a:p>
          <a:p>
            <a:pPr>
              <a:lnSpc>
                <a:spcPct val="112000"/>
              </a:lnSpc>
              <a:spcBef>
                <a:spcPts val="0"/>
              </a:spcBef>
              <a:spcAft>
                <a:spcPts val="0"/>
              </a:spcAft>
              <a:defRPr sz="2400" b="0">
                <a:solidFill>
                  <a:srgbClr val="333333"/>
                </a:solidFill>
                <a:latin typeface="微软雅黑"/>
              </a:defRPr>
            </a:pPr>
            <a:r>
              <a:rPr>
                <a:ea typeface="微软雅黑"/>
              </a:rPr>
              <a:t>淀溶解，则该固体试样中存在SiO₂</a:t>
            </a:r>
          </a:p>
        </p:txBody>
      </p:sp>
      <p:sp>
        <p:nvSpPr>
          <p:cNvPr id="11" name="文字_单选题  ·  16-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16-001</a:t>
            </a:r>
          </a:p>
        </p:txBody>
      </p:sp>
      <p:sp>
        <p:nvSpPr>
          <p:cNvPr id="12" name="文字_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例题2</a:t>
            </a:r>
          </a:p>
        </p:txBody>
      </p:sp>
      <p:sp>
        <p:nvSpPr>
          <p:cNvPr id="5" name="文字_P3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P336</a:t>
            </a:r>
          </a:p>
        </p:txBody>
      </p:sp>
      <p:sp>
        <p:nvSpPr>
          <p:cNvPr id="6" name="文字_黄色固体X，可能含有漂白粉、FeSO₄、Fe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黄色固体X，可能含有漂白粉、FeSO₄、Fe₂(SO₄)₃、CuCl₂、KI之中的几种或全</a:t>
            </a:r>
          </a:p>
          <a:p>
            <a:pPr>
              <a:lnSpc>
                <a:spcPct val="112000"/>
              </a:lnSpc>
              <a:spcBef>
                <a:spcPts val="0"/>
              </a:spcBef>
              <a:spcAft>
                <a:spcPts val="0"/>
              </a:spcAft>
              <a:defRPr sz="2400" b="0">
                <a:solidFill>
                  <a:srgbClr val="333333"/>
                </a:solidFill>
                <a:latin typeface="微软雅黑"/>
              </a:defRPr>
            </a:pPr>
            <a:r>
              <a:rPr>
                <a:ea typeface="微软雅黑"/>
              </a:rPr>
              <a:t>部。将X与足量的水作用，得到深棕色固体混合物Y和无色碱性溶液Z。下列结论合</a:t>
            </a:r>
          </a:p>
          <a:p>
            <a:pPr>
              <a:lnSpc>
                <a:spcPct val="112000"/>
              </a:lnSpc>
              <a:spcBef>
                <a:spcPts val="0"/>
              </a:spcBef>
              <a:spcAft>
                <a:spcPts val="0"/>
              </a:spcAft>
              <a:defRPr sz="2400" b="0">
                <a:solidFill>
                  <a:srgbClr val="333333"/>
                </a:solidFill>
                <a:latin typeface="微软雅黑"/>
              </a:defRPr>
            </a:pPr>
            <a:r>
              <a:rPr>
                <a:ea typeface="微软雅黑"/>
              </a:rPr>
              <a:t>理的是</a:t>
            </a:r>
          </a:p>
        </p:txBody>
      </p:sp>
      <p:sp>
        <p:nvSpPr>
          <p:cNvPr id="7" name="文字_A. X中含KI，可能含有CuCl₂"/>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X中含KI，可能含有CuCl₂</a:t>
            </a:r>
          </a:p>
        </p:txBody>
      </p:sp>
      <p:sp>
        <p:nvSpPr>
          <p:cNvPr id="8" name="文字_B. X中含有漂白粉和FeSO₄"/>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X中含有漂白粉和FeSO₄</a:t>
            </a:r>
          </a:p>
        </p:txBody>
      </p:sp>
      <p:sp>
        <p:nvSpPr>
          <p:cNvPr id="9" name="文字_C. X中含有CuCl₂，Y中含有Fe(OH)3"/>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X中含有CuCl₂，Y中含有Fe(OH)3</a:t>
            </a:r>
          </a:p>
        </p:txBody>
      </p:sp>
      <p:sp>
        <p:nvSpPr>
          <p:cNvPr id="10" name="文字_D. 用H₂SO₄酸化溶液Z，若有黄绿色气体放出"/>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用H₂SO₄酸化溶液Z，若有黄绿色气体放出，说明X中含有CuCl₂</a:t>
            </a:r>
          </a:p>
        </p:txBody>
      </p:sp>
      <p:sp>
        <p:nvSpPr>
          <p:cNvPr id="11" name="文字_单选题  ·  16-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16-002</a:t>
            </a:r>
          </a:p>
        </p:txBody>
      </p:sp>
      <p:sp>
        <p:nvSpPr>
          <p:cNvPr id="12" name="文字_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例题3</a:t>
            </a:r>
          </a:p>
        </p:txBody>
      </p:sp>
      <p:sp>
        <p:nvSpPr>
          <p:cNvPr id="5" name="文字_P3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P336</a:t>
            </a:r>
          </a:p>
        </p:txBody>
      </p:sp>
      <p:sp>
        <p:nvSpPr>
          <p:cNvPr id="6" name="文字_某无色溶液中可能含有Na+、NH+、Ba²⁺、C"/>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某无色溶液中可能含有Na+、NH+、Ba²⁺、Cu²⁺、SO₂⁻、SO₂、Cl-、Br-、</a:t>
            </a:r>
          </a:p>
          <a:p>
            <a:pPr>
              <a:lnSpc>
                <a:spcPct val="112000"/>
              </a:lnSpc>
              <a:spcBef>
                <a:spcPts val="0"/>
              </a:spcBef>
              <a:spcAft>
                <a:spcPts val="0"/>
              </a:spcAft>
              <a:defRPr sz="2400" b="0">
                <a:solidFill>
                  <a:srgbClr val="333333"/>
                </a:solidFill>
                <a:latin typeface="微软雅黑"/>
              </a:defRPr>
            </a:pPr>
            <a:r>
              <a:rPr>
                <a:ea typeface="微软雅黑"/>
              </a:rPr>
              <a:t>CO₂⁻中的若干种.为检验其中含有的离子，进行如下实验：</a:t>
            </a:r>
          </a:p>
        </p:txBody>
      </p:sp>
      <p:sp>
        <p:nvSpPr>
          <p:cNvPr id="7" name="文字_①取10mL溶液，加入足量氯水，无气体产生，再加"/>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①取10mL溶液，加入足量氯水，无气体产生，再加入CCl₄溶液分层，下层为橙红</a:t>
            </a:r>
          </a:p>
          <a:p>
            <a:pPr>
              <a:lnSpc>
                <a:spcPct val="112000"/>
              </a:lnSpc>
              <a:spcBef>
                <a:spcPts val="0"/>
              </a:spcBef>
              <a:spcAft>
                <a:spcPts val="0"/>
              </a:spcAft>
              <a:defRPr sz="2400" b="0">
                <a:solidFill>
                  <a:srgbClr val="333333"/>
                </a:solidFill>
                <a:latin typeface="微软雅黑"/>
              </a:defRPr>
            </a:pPr>
            <a:r>
              <a:rPr>
                <a:ea typeface="微软雅黑"/>
              </a:rPr>
              <a:t>色；</a:t>
            </a:r>
          </a:p>
        </p:txBody>
      </p:sp>
      <p:sp>
        <p:nvSpPr>
          <p:cNvPr id="8" name="文字_②分液后，将①中上层溶液加入足量BaCl₂和HC"/>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②分液后，将①中上层溶液加入足量BaCl₂和HCl溶液，产生白色沉淀2.33g；</a:t>
            </a:r>
          </a:p>
        </p:txBody>
      </p:sp>
      <p:sp>
        <p:nvSpPr>
          <p:cNvPr id="9" name="文字_③另取10mL原溶液，加入过量的浓氢氧化钠溶液并"/>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③另取10mL原溶液，加入过量的浓氢氧化钠溶液并加热，收集到标准状况下</a:t>
            </a:r>
          </a:p>
          <a:p>
            <a:pPr>
              <a:lnSpc>
                <a:spcPct val="112000"/>
              </a:lnSpc>
              <a:spcBef>
                <a:spcPts val="0"/>
              </a:spcBef>
              <a:spcAft>
                <a:spcPts val="0"/>
              </a:spcAft>
              <a:defRPr sz="2400" b="0">
                <a:solidFill>
                  <a:srgbClr val="333333"/>
                </a:solidFill>
                <a:latin typeface="微软雅黑"/>
              </a:defRPr>
            </a:pPr>
            <a:r>
              <a:rPr>
                <a:ea typeface="微软雅黑"/>
              </a:rPr>
              <a:t>448mL气体.</a:t>
            </a:r>
          </a:p>
        </p:txBody>
      </p:sp>
      <p:sp>
        <p:nvSpPr>
          <p:cNvPr id="10" name="文字_下列关于原溶液的说法正确的是"/>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下列关于原溶液的说法正确的是</a:t>
            </a:r>
          </a:p>
        </p:txBody>
      </p:sp>
      <p:sp>
        <p:nvSpPr>
          <p:cNvPr id="11" name="文字_A. 肯定存在NH+、Cl-、Br⁻"/>
          <p:cNvSpPr txBox="1"/>
          <p:nvPr/>
        </p:nvSpPr>
        <p:spPr>
          <a:xfrm>
            <a:off x="502920" y="43616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肯定存在NH+、Cl-、Br⁻</a:t>
            </a:r>
          </a:p>
        </p:txBody>
      </p:sp>
      <p:sp>
        <p:nvSpPr>
          <p:cNvPr id="12" name="文字_B. 是否存在Na+需要通过焰色反应来确定"/>
          <p:cNvSpPr txBox="1"/>
          <p:nvPr/>
        </p:nvSpPr>
        <p:spPr>
          <a:xfrm>
            <a:off x="502920" y="48006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是否存在Na+需要通过焰色反应来确定</a:t>
            </a:r>
          </a:p>
        </p:txBody>
      </p:sp>
      <p:sp>
        <p:nvSpPr>
          <p:cNvPr id="13" name="文字_C. SO₂⁻、SO₂⁻至少含有一种"/>
          <p:cNvSpPr txBox="1"/>
          <p:nvPr/>
        </p:nvSpPr>
        <p:spPr>
          <a:xfrm>
            <a:off x="502920" y="52395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SO₂⁻、SO₂⁻至少含有一种</a:t>
            </a:r>
          </a:p>
        </p:txBody>
      </p:sp>
      <p:sp>
        <p:nvSpPr>
          <p:cNvPr id="14" name="文字_D. 肯定不存在Ba²⁺、Cu²⁺、SO₂⁻、C"/>
          <p:cNvSpPr txBox="1"/>
          <p:nvPr/>
        </p:nvSpPr>
        <p:spPr>
          <a:xfrm>
            <a:off x="502920" y="567842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肯定不存在Ba²⁺、Cu²⁺、SO₂⁻、CO₂⁻</a:t>
            </a:r>
          </a:p>
        </p:txBody>
      </p:sp>
      <p:sp>
        <p:nvSpPr>
          <p:cNvPr id="15" name="文字_单选题  ·  16-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16-003</a:t>
            </a:r>
          </a:p>
        </p:txBody>
      </p:sp>
      <p:sp>
        <p:nvSpPr>
          <p:cNvPr id="16"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例题4</a:t>
            </a:r>
          </a:p>
        </p:txBody>
      </p:sp>
      <p:sp>
        <p:nvSpPr>
          <p:cNvPr id="5" name="文字_P3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P336</a:t>
            </a:r>
          </a:p>
        </p:txBody>
      </p:sp>
      <p:sp>
        <p:nvSpPr>
          <p:cNvPr id="6" name="文字_四瓶无色溶液NH₄NO₃、Na₂CO₃、Ba(O"/>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四瓶无色溶液NH₄NO₃、Na₂CO₃、Ba(OH)2、AlCl₃，它们之间的反应关系如</a:t>
            </a:r>
          </a:p>
          <a:p>
            <a:pPr>
              <a:lnSpc>
                <a:spcPct val="112000"/>
              </a:lnSpc>
              <a:spcBef>
                <a:spcPts val="0"/>
              </a:spcBef>
              <a:spcAft>
                <a:spcPts val="0"/>
              </a:spcAft>
              <a:defRPr sz="2400" b="0">
                <a:solidFill>
                  <a:srgbClr val="333333"/>
                </a:solidFill>
                <a:latin typeface="微软雅黑"/>
              </a:defRPr>
            </a:pPr>
            <a:r>
              <a:rPr>
                <a:ea typeface="微软雅黑"/>
              </a:rPr>
              <a:t>图所示。其中a、b、c、d代表四种溶</a:t>
            </a:r>
          </a:p>
        </p:txBody>
      </p:sp>
      <p:pic>
        <p:nvPicPr>
          <p:cNvPr id="7" name="Picture 6" descr="image.png"/>
          <p:cNvPicPr>
            <a:picLocks noChangeAspect="1"/>
          </p:cNvPicPr>
          <p:nvPr/>
        </p:nvPicPr>
        <p:blipFill>
          <a:blip r:embed="rId3"/>
          <a:stretch>
            <a:fillRect/>
          </a:stretch>
        </p:blipFill>
        <p:spPr>
          <a:xfrm>
            <a:off x="502920" y="1880616"/>
            <a:ext cx="11064240" cy="2664605"/>
          </a:xfrm>
          <a:prstGeom prst="rect">
            <a:avLst/>
          </a:prstGeom>
        </p:spPr>
      </p:pic>
      <p:sp>
        <p:nvSpPr>
          <p:cNvPr id="8" name="原题文字_336_26"/>
          <p:cNvSpPr txBox="1"/>
          <p:nvPr/>
        </p:nvSpPr>
        <p:spPr>
          <a:xfrm>
            <a:off x="587146" y="1912499"/>
            <a:ext cx="529219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液，e和g为无色气体，f为白色沉淀。下列叙述正确的是</a:t>
            </a:r>
          </a:p>
        </p:txBody>
      </p:sp>
      <p:sp>
        <p:nvSpPr>
          <p:cNvPr id="9" name="原题文字_336_27"/>
          <p:cNvSpPr txBox="1"/>
          <p:nvPr/>
        </p:nvSpPr>
        <p:spPr>
          <a:xfrm>
            <a:off x="564175" y="2249403"/>
            <a:ext cx="141013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A. a呈弱碱性</a:t>
            </a:r>
          </a:p>
        </p:txBody>
      </p:sp>
      <p:sp>
        <p:nvSpPr>
          <p:cNvPr id="10" name="原题文字_336_28"/>
          <p:cNvSpPr txBox="1"/>
          <p:nvPr/>
        </p:nvSpPr>
        <p:spPr>
          <a:xfrm>
            <a:off x="9691216" y="2310659"/>
            <a:ext cx="29988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a:t>
            </a:r>
          </a:p>
        </p:txBody>
      </p:sp>
      <p:sp>
        <p:nvSpPr>
          <p:cNvPr id="11" name="原题文字_336_29"/>
          <p:cNvSpPr txBox="1"/>
          <p:nvPr/>
        </p:nvSpPr>
        <p:spPr>
          <a:xfrm>
            <a:off x="587146" y="2655220"/>
            <a:ext cx="2076289"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 f可溶于过量的b中</a:t>
            </a:r>
          </a:p>
        </p:txBody>
      </p:sp>
      <p:sp>
        <p:nvSpPr>
          <p:cNvPr id="12" name="原题文字_336_30"/>
          <p:cNvSpPr txBox="1"/>
          <p:nvPr/>
        </p:nvSpPr>
        <p:spPr>
          <a:xfrm>
            <a:off x="11015862" y="2601621"/>
            <a:ext cx="200345"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e</a:t>
            </a:r>
          </a:p>
        </p:txBody>
      </p:sp>
      <p:sp>
        <p:nvSpPr>
          <p:cNvPr id="13" name="原题文字_336_31"/>
          <p:cNvSpPr txBox="1"/>
          <p:nvPr/>
        </p:nvSpPr>
        <p:spPr>
          <a:xfrm>
            <a:off x="9660588" y="2877270"/>
            <a:ext cx="338169"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b</a:t>
            </a:r>
          </a:p>
        </p:txBody>
      </p:sp>
      <p:sp>
        <p:nvSpPr>
          <p:cNvPr id="14" name="原题文字_336_32"/>
          <p:cNvSpPr txBox="1"/>
          <p:nvPr/>
        </p:nvSpPr>
        <p:spPr>
          <a:xfrm>
            <a:off x="587146" y="3030409"/>
            <a:ext cx="340093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c中通入过量的e可得到无色溶液</a:t>
            </a:r>
          </a:p>
        </p:txBody>
      </p:sp>
      <p:sp>
        <p:nvSpPr>
          <p:cNvPr id="15" name="原题文字_336_33"/>
          <p:cNvSpPr txBox="1"/>
          <p:nvPr/>
        </p:nvSpPr>
        <p:spPr>
          <a:xfrm>
            <a:off x="10946950" y="3237145"/>
            <a:ext cx="315199"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f</a:t>
            </a:r>
          </a:p>
        </p:txBody>
      </p:sp>
      <p:sp>
        <p:nvSpPr>
          <p:cNvPr id="16" name="原题文字_336_34"/>
          <p:cNvSpPr txBox="1"/>
          <p:nvPr/>
        </p:nvSpPr>
        <p:spPr>
          <a:xfrm>
            <a:off x="571832" y="3420911"/>
            <a:ext cx="364595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b和d反应生成的沉淀不溶于稀硝酸</a:t>
            </a:r>
          </a:p>
        </p:txBody>
      </p:sp>
      <p:sp>
        <p:nvSpPr>
          <p:cNvPr id="17" name="原题文字_336_35"/>
          <p:cNvSpPr txBox="1"/>
          <p:nvPr/>
        </p:nvSpPr>
        <p:spPr>
          <a:xfrm>
            <a:off x="9683559" y="3551079"/>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a:t>
            </a:r>
          </a:p>
        </p:txBody>
      </p:sp>
      <p:sp>
        <p:nvSpPr>
          <p:cNvPr id="18" name="原题文字_336_36"/>
          <p:cNvSpPr txBox="1"/>
          <p:nvPr/>
        </p:nvSpPr>
        <p:spPr>
          <a:xfrm>
            <a:off x="10969920" y="3880326"/>
            <a:ext cx="30754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g</a:t>
            </a:r>
          </a:p>
        </p:txBody>
      </p:sp>
      <p:sp>
        <p:nvSpPr>
          <p:cNvPr id="19" name="原题文字_336_37"/>
          <p:cNvSpPr txBox="1"/>
          <p:nvPr/>
        </p:nvSpPr>
        <p:spPr>
          <a:xfrm>
            <a:off x="9660588" y="4133004"/>
            <a:ext cx="361140"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d</a:t>
            </a:r>
          </a:p>
        </p:txBody>
      </p:sp>
      <p:sp>
        <p:nvSpPr>
          <p:cNvPr id="20" name="文字_单选题  ·  16-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16-004</a:t>
            </a:r>
          </a:p>
        </p:txBody>
      </p:sp>
      <p:sp>
        <p:nvSpPr>
          <p:cNvPr id="21"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例题5</a:t>
            </a:r>
          </a:p>
        </p:txBody>
      </p:sp>
      <p:sp>
        <p:nvSpPr>
          <p:cNvPr id="5" name="文字_P3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P336</a:t>
            </a:r>
          </a:p>
        </p:txBody>
      </p:sp>
      <p:sp>
        <p:nvSpPr>
          <p:cNvPr id="6" name="文字_某透明溶液中可能含有以下离子中的若干种：Na+、"/>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某透明溶液中可能含有以下离子中的若干种：Na+、Fe²⁺、Ca²⁺、Ba²⁺、NO₃、</a:t>
            </a:r>
          </a:p>
          <a:p>
            <a:pPr>
              <a:lnSpc>
                <a:spcPct val="112000"/>
              </a:lnSpc>
              <a:spcBef>
                <a:spcPts val="0"/>
              </a:spcBef>
              <a:spcAft>
                <a:spcPts val="0"/>
              </a:spcAft>
              <a:defRPr sz="2400" b="0">
                <a:solidFill>
                  <a:srgbClr val="333333"/>
                </a:solidFill>
                <a:latin typeface="微软雅黑"/>
              </a:defRPr>
            </a:pPr>
            <a:r>
              <a:rPr>
                <a:ea typeface="微软雅黑"/>
              </a:rPr>
              <a:t>CO₃⁻、S²⁻。为确定其成分，进行如下实验：</a:t>
            </a:r>
          </a:p>
        </p:txBody>
      </p:sp>
      <p:sp>
        <p:nvSpPr>
          <p:cNvPr id="7" name="文字_①取少量溶液，加入过量稀盐酸，无气泡产生。"/>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①取少量溶液，加入过量稀盐酸，无气泡产生。</a:t>
            </a:r>
          </a:p>
        </p:txBody>
      </p:sp>
      <p:sp>
        <p:nvSpPr>
          <p:cNvPr id="8" name="文字_②另取少量溶液，加入过量Na₂SO₄溶液，产生白"/>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②另取少量溶液，加入过量Na₂SO₄溶液，产生白色沉淀。</a:t>
            </a:r>
          </a:p>
        </p:txBody>
      </p:sp>
      <p:sp>
        <p:nvSpPr>
          <p:cNvPr id="9" name="文字_③取步骤②中的上层清液，向滤液中通入CO₂气体，"/>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③取步骤②中的上层清液，向滤液中通入CO₂气体，仍无明显现象。</a:t>
            </a:r>
          </a:p>
        </p:txBody>
      </p:sp>
      <p:sp>
        <p:nvSpPr>
          <p:cNvPr id="10" name="文字_注：微溶物视为可溶。根据上述实验现象推测正确的是"/>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注：微溶物视为可溶。根据上述实验现象推测正确的是</a:t>
            </a:r>
          </a:p>
        </p:txBody>
      </p:sp>
      <p:sp>
        <p:nvSpPr>
          <p:cNvPr id="11" name="文字_A. 一定无Fe²⁺、Ca²⁺"/>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一定无Fe²⁺、Ca²⁺</a:t>
            </a:r>
          </a:p>
        </p:txBody>
      </p:sp>
      <p:sp>
        <p:nvSpPr>
          <p:cNvPr id="12" name="文字_B. 可能有Na+、Ca²⁺"/>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可能有Na+、Ca²⁺</a:t>
            </a:r>
          </a:p>
        </p:txBody>
      </p:sp>
      <p:sp>
        <p:nvSpPr>
          <p:cNvPr id="13" name="文字_C. 可能有Ba²⁺、NO₃"/>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可能有Ba²⁺、NO₃</a:t>
            </a:r>
          </a:p>
        </p:txBody>
      </p:sp>
      <p:sp>
        <p:nvSpPr>
          <p:cNvPr id="14" name="文字_D. 一定无CO₂⁻，可能有"/>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一定无CO₂⁻，可能有</a:t>
            </a:r>
          </a:p>
        </p:txBody>
      </p:sp>
      <p:sp>
        <p:nvSpPr>
          <p:cNvPr id="15" name="文字_S²⁻"/>
          <p:cNvSpPr txBox="1"/>
          <p:nvPr/>
        </p:nvSpPr>
        <p:spPr>
          <a:xfrm>
            <a:off x="502920" y="53919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S²⁻</a:t>
            </a:r>
          </a:p>
        </p:txBody>
      </p:sp>
      <p:sp>
        <p:nvSpPr>
          <p:cNvPr id="16" name="文字_单选题  ·  16-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16-005</a:t>
            </a:r>
          </a:p>
        </p:txBody>
      </p:sp>
      <p:sp>
        <p:nvSpPr>
          <p:cNvPr id="17"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例题6</a:t>
            </a:r>
          </a:p>
        </p:txBody>
      </p:sp>
      <p:sp>
        <p:nvSpPr>
          <p:cNvPr id="5" name="文字_P33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P337</a:t>
            </a:r>
          </a:p>
        </p:txBody>
      </p:sp>
      <p:sp>
        <p:nvSpPr>
          <p:cNvPr id="6" name="文字_某溶液中可能含有H+、Al³⁺、Fe²⁺、Fe³"/>
          <p:cNvSpPr txBox="1"/>
          <p:nvPr/>
        </p:nvSpPr>
        <p:spPr>
          <a:xfrm>
            <a:off x="502920" y="1078992"/>
            <a:ext cx="11064240" cy="784923"/>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某溶液中可能含有H+、Al³⁺、Fe²⁺、Fe³⁺、Cu²⁺、HCO₃、NO₃、SO₂⁻中的一</a:t>
            </a:r>
          </a:p>
          <a:p>
            <a:pPr>
              <a:lnSpc>
                <a:spcPct val="112000"/>
              </a:lnSpc>
              <a:spcBef>
                <a:spcPts val="0"/>
              </a:spcBef>
              <a:spcAft>
                <a:spcPts val="0"/>
              </a:spcAft>
              <a:defRPr sz="2350" b="0">
                <a:solidFill>
                  <a:srgbClr val="333333"/>
                </a:solidFill>
                <a:latin typeface="微软雅黑"/>
              </a:defRPr>
            </a:pPr>
            <a:r>
              <a:rPr>
                <a:ea typeface="微软雅黑"/>
              </a:rPr>
              <a:t>种或几种，取该溶液进行实验，实验记录如下：</a:t>
            </a:r>
          </a:p>
        </p:txBody>
      </p:sp>
      <p:pic>
        <p:nvPicPr>
          <p:cNvPr id="7" name="Picture 6" descr="image.png"/>
          <p:cNvPicPr>
            <a:picLocks noChangeAspect="1"/>
          </p:cNvPicPr>
          <p:nvPr/>
        </p:nvPicPr>
        <p:blipFill>
          <a:blip r:embed="rId3"/>
          <a:stretch>
            <a:fillRect/>
          </a:stretch>
        </p:blipFill>
        <p:spPr>
          <a:xfrm>
            <a:off x="502920" y="1863915"/>
            <a:ext cx="11064240" cy="2687576"/>
          </a:xfrm>
          <a:prstGeom prst="rect">
            <a:avLst/>
          </a:prstGeom>
        </p:spPr>
      </p:pic>
      <p:sp>
        <p:nvSpPr>
          <p:cNvPr id="8" name="原题文字_337_5"/>
          <p:cNvSpPr txBox="1"/>
          <p:nvPr/>
        </p:nvSpPr>
        <p:spPr>
          <a:xfrm>
            <a:off x="3649911" y="1895799"/>
            <a:ext cx="65976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2.24L</a:t>
            </a:r>
          </a:p>
        </p:txBody>
      </p:sp>
      <p:sp>
        <p:nvSpPr>
          <p:cNvPr id="9" name="原题文字_337_6"/>
          <p:cNvSpPr txBox="1"/>
          <p:nvPr/>
        </p:nvSpPr>
        <p:spPr>
          <a:xfrm>
            <a:off x="3412547" y="2148477"/>
            <a:ext cx="113448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无色气体A</a:t>
            </a:r>
          </a:p>
        </p:txBody>
      </p:sp>
      <p:sp>
        <p:nvSpPr>
          <p:cNvPr id="10" name="原题文字_337_7"/>
          <p:cNvSpPr txBox="1"/>
          <p:nvPr/>
        </p:nvSpPr>
        <p:spPr>
          <a:xfrm>
            <a:off x="6819873" y="2332243"/>
            <a:ext cx="69038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53.5g</a:t>
            </a:r>
          </a:p>
        </p:txBody>
      </p:sp>
      <p:sp>
        <p:nvSpPr>
          <p:cNvPr id="11" name="原题文字_337_8"/>
          <p:cNvSpPr txBox="1"/>
          <p:nvPr/>
        </p:nvSpPr>
        <p:spPr>
          <a:xfrm>
            <a:off x="7685104" y="2347557"/>
            <a:ext cx="71335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NaOH</a:t>
            </a:r>
          </a:p>
        </p:txBody>
      </p:sp>
      <p:sp>
        <p:nvSpPr>
          <p:cNvPr id="12" name="原题文字_337_9"/>
          <p:cNvSpPr txBox="1"/>
          <p:nvPr/>
        </p:nvSpPr>
        <p:spPr>
          <a:xfrm>
            <a:off x="8711131" y="2316929"/>
            <a:ext cx="59850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沉淀</a:t>
            </a:r>
          </a:p>
        </p:txBody>
      </p:sp>
      <p:sp>
        <p:nvSpPr>
          <p:cNvPr id="13" name="原题文字_337_10"/>
          <p:cNvSpPr txBox="1"/>
          <p:nvPr/>
        </p:nvSpPr>
        <p:spPr>
          <a:xfrm>
            <a:off x="6781589" y="2554293"/>
            <a:ext cx="73632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沉淀C</a:t>
            </a:r>
          </a:p>
        </p:txBody>
      </p:sp>
      <p:sp>
        <p:nvSpPr>
          <p:cNvPr id="14" name="原题文字_337_11"/>
          <p:cNvSpPr txBox="1"/>
          <p:nvPr/>
        </p:nvSpPr>
        <p:spPr>
          <a:xfrm>
            <a:off x="7715732" y="2592578"/>
            <a:ext cx="58319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溶液</a:t>
            </a:r>
          </a:p>
        </p:txBody>
      </p:sp>
      <p:sp>
        <p:nvSpPr>
          <p:cNvPr id="15" name="原题文字_337_12"/>
          <p:cNvSpPr txBox="1"/>
          <p:nvPr/>
        </p:nvSpPr>
        <p:spPr>
          <a:xfrm>
            <a:off x="8626905" y="2569607"/>
            <a:ext cx="77461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不溶解</a:t>
            </a:r>
          </a:p>
        </p:txBody>
      </p:sp>
      <p:sp>
        <p:nvSpPr>
          <p:cNvPr id="16" name="原题文字_337_13"/>
          <p:cNvSpPr txBox="1"/>
          <p:nvPr/>
        </p:nvSpPr>
        <p:spPr>
          <a:xfrm>
            <a:off x="2064930" y="2722745"/>
            <a:ext cx="606161"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过量</a:t>
            </a:r>
          </a:p>
        </p:txBody>
      </p:sp>
      <p:sp>
        <p:nvSpPr>
          <p:cNvPr id="17" name="原题文字_337_14"/>
          <p:cNvSpPr txBox="1"/>
          <p:nvPr/>
        </p:nvSpPr>
        <p:spPr>
          <a:xfrm>
            <a:off x="5081754" y="2722745"/>
            <a:ext cx="59084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过量</a:t>
            </a:r>
          </a:p>
        </p:txBody>
      </p:sp>
      <p:sp>
        <p:nvSpPr>
          <p:cNvPr id="18" name="原题文字_337_15"/>
          <p:cNvSpPr txBox="1"/>
          <p:nvPr/>
        </p:nvSpPr>
        <p:spPr>
          <a:xfrm>
            <a:off x="755598" y="2829942"/>
            <a:ext cx="851183" cy="368297"/>
          </a:xfrm>
          <a:prstGeom prst="rect">
            <a:avLst/>
          </a:prstGeom>
          <a:noFill/>
        </p:spPr>
        <p:txBody>
          <a:bodyPr wrap="none" lIns="0" rIns="0" tIns="0" bIns="0">
            <a:spAutoFit/>
          </a:bodyPr>
          <a:lstStyle/>
          <a:p>
            <a:pPr>
              <a:lnSpc>
                <a:spcPct val="112000"/>
              </a:lnSpc>
              <a:spcBef>
                <a:spcPts val="0"/>
              </a:spcBef>
              <a:spcAft>
                <a:spcPts val="0"/>
              </a:spcAft>
              <a:defRPr sz="1752" b="0">
                <a:solidFill>
                  <a:srgbClr val="333333"/>
                </a:solidFill>
                <a:latin typeface="微软雅黑"/>
              </a:defRPr>
            </a:pPr>
            <a:r>
              <a:rPr>
                <a:ea typeface="微软雅黑"/>
              </a:rPr>
              <a:t>1LpH=0</a:t>
            </a:r>
          </a:p>
        </p:txBody>
      </p:sp>
      <p:sp>
        <p:nvSpPr>
          <p:cNvPr id="19" name="原题文字_337_16"/>
          <p:cNvSpPr txBox="1"/>
          <p:nvPr/>
        </p:nvSpPr>
        <p:spPr>
          <a:xfrm>
            <a:off x="3358948" y="2914168"/>
            <a:ext cx="927752"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→溶液B</a:t>
            </a:r>
          </a:p>
        </p:txBody>
      </p:sp>
      <p:sp>
        <p:nvSpPr>
          <p:cNvPr id="20" name="原题文字_337_17"/>
          <p:cNvSpPr txBox="1"/>
          <p:nvPr/>
        </p:nvSpPr>
        <p:spPr>
          <a:xfrm>
            <a:off x="763255" y="3036679"/>
            <a:ext cx="812898" cy="457883"/>
          </a:xfrm>
          <a:prstGeom prst="rect">
            <a:avLst/>
          </a:prstGeom>
          <a:noFill/>
        </p:spPr>
        <p:txBody>
          <a:bodyPr wrap="none" lIns="0" rIns="0" tIns="0" bIns="0">
            <a:spAutoFit/>
          </a:bodyPr>
          <a:lstStyle/>
          <a:p>
            <a:pPr>
              <a:lnSpc>
                <a:spcPct val="112000"/>
              </a:lnSpc>
              <a:spcBef>
                <a:spcPts val="0"/>
              </a:spcBef>
              <a:spcAft>
                <a:spcPts val="0"/>
              </a:spcAft>
              <a:defRPr sz="2127" b="0">
                <a:solidFill>
                  <a:srgbClr val="333333"/>
                </a:solidFill>
                <a:latin typeface="微软雅黑"/>
              </a:defRPr>
            </a:pPr>
            <a:r>
              <a:rPr>
                <a:ea typeface="微软雅黑"/>
              </a:rPr>
              <a:t>某溶液</a:t>
            </a:r>
          </a:p>
        </p:txBody>
      </p:sp>
      <p:sp>
        <p:nvSpPr>
          <p:cNvPr id="21" name="原题文字_337_18"/>
          <p:cNvSpPr txBox="1"/>
          <p:nvPr/>
        </p:nvSpPr>
        <p:spPr>
          <a:xfrm>
            <a:off x="1865850" y="3067307"/>
            <a:ext cx="989007" cy="477791"/>
          </a:xfrm>
          <a:prstGeom prst="rect">
            <a:avLst/>
          </a:prstGeom>
          <a:noFill/>
        </p:spPr>
        <p:txBody>
          <a:bodyPr wrap="none" lIns="0" rIns="0" tIns="0" bIns="0">
            <a:spAutoFit/>
          </a:bodyPr>
          <a:lstStyle/>
          <a:p>
            <a:pPr>
              <a:lnSpc>
                <a:spcPct val="112000"/>
              </a:lnSpc>
              <a:spcBef>
                <a:spcPts val="0"/>
              </a:spcBef>
              <a:spcAft>
                <a:spcPts val="0"/>
              </a:spcAft>
              <a:defRPr sz="1609" b="0">
                <a:solidFill>
                  <a:srgbClr val="333333"/>
                </a:solidFill>
                <a:latin typeface="微软雅黑"/>
              </a:defRPr>
            </a:pPr>
            <a:r>
              <a:rPr>
                <a:ea typeface="微软雅黑"/>
              </a:rPr>
              <a:t>Ba(NO₃)₂</a:t>
            </a:r>
          </a:p>
        </p:txBody>
      </p:sp>
      <p:sp>
        <p:nvSpPr>
          <p:cNvPr id="22" name="原题文字_337_19"/>
          <p:cNvSpPr txBox="1"/>
          <p:nvPr/>
        </p:nvSpPr>
        <p:spPr>
          <a:xfrm>
            <a:off x="5081754" y="3036679"/>
            <a:ext cx="575534"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氨水</a:t>
            </a:r>
          </a:p>
        </p:txBody>
      </p:sp>
      <p:sp>
        <p:nvSpPr>
          <p:cNvPr id="23" name="原题文字_337_20"/>
          <p:cNvSpPr txBox="1"/>
          <p:nvPr/>
        </p:nvSpPr>
        <p:spPr>
          <a:xfrm>
            <a:off x="6720333" y="3365926"/>
            <a:ext cx="79758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溶液E</a:t>
            </a:r>
          </a:p>
        </p:txBody>
      </p:sp>
      <p:sp>
        <p:nvSpPr>
          <p:cNvPr id="24" name="原题文字_337_21"/>
          <p:cNvSpPr txBox="1"/>
          <p:nvPr/>
        </p:nvSpPr>
        <p:spPr>
          <a:xfrm>
            <a:off x="3580999" y="3687517"/>
            <a:ext cx="774613" cy="467837"/>
          </a:xfrm>
          <a:prstGeom prst="rect">
            <a:avLst/>
          </a:prstGeom>
          <a:noFill/>
        </p:spPr>
        <p:txBody>
          <a:bodyPr wrap="none" lIns="0" rIns="0" tIns="0" bIns="0">
            <a:spAutoFit/>
          </a:bodyPr>
          <a:lstStyle/>
          <a:p>
            <a:pPr>
              <a:lnSpc>
                <a:spcPct val="112000"/>
              </a:lnSpc>
              <a:spcBef>
                <a:spcPts val="0"/>
              </a:spcBef>
              <a:spcAft>
                <a:spcPts val="0"/>
              </a:spcAft>
              <a:defRPr sz="1897" b="0">
                <a:solidFill>
                  <a:srgbClr val="333333"/>
                </a:solidFill>
                <a:latin typeface="微软雅黑"/>
              </a:defRPr>
            </a:pPr>
            <a:r>
              <a:rPr>
                <a:ea typeface="微软雅黑"/>
              </a:rPr>
              <a:t>279.6g</a:t>
            </a:r>
          </a:p>
        </p:txBody>
      </p:sp>
      <p:sp>
        <p:nvSpPr>
          <p:cNvPr id="25" name="原题文字_337_22"/>
          <p:cNvSpPr txBox="1"/>
          <p:nvPr/>
        </p:nvSpPr>
        <p:spPr>
          <a:xfrm>
            <a:off x="3603969" y="3940195"/>
            <a:ext cx="721015"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沉淀C</a:t>
            </a:r>
          </a:p>
        </p:txBody>
      </p:sp>
      <p:sp>
        <p:nvSpPr>
          <p:cNvPr id="26" name="原题文字_337_23"/>
          <p:cNvSpPr txBox="1"/>
          <p:nvPr/>
        </p:nvSpPr>
        <p:spPr>
          <a:xfrm>
            <a:off x="594802" y="4246471"/>
            <a:ext cx="879140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依据实验内容和相关数据(气体体积在标准状况下测定)，判断下列关于原溶液的说法正确的是</a:t>
            </a:r>
          </a:p>
        </p:txBody>
      </p:sp>
      <p:sp>
        <p:nvSpPr>
          <p:cNvPr id="27" name="文字_A. 原溶液中c (Fe³⁺) = 0.3~mo"/>
          <p:cNvSpPr txBox="1"/>
          <p:nvPr/>
        </p:nvSpPr>
        <p:spPr>
          <a:xfrm>
            <a:off x="502920" y="4624644"/>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A. 原溶液中c (Fe³⁺) = 0.3~mol/L</a:t>
            </a:r>
          </a:p>
        </p:txBody>
      </p:sp>
      <p:sp>
        <p:nvSpPr>
          <p:cNvPr id="28" name="文字_B. 无色气体A可能为CO₂"/>
          <p:cNvSpPr txBox="1"/>
          <p:nvPr/>
        </p:nvSpPr>
        <p:spPr>
          <a:xfrm>
            <a:off x="502920" y="5054412"/>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B. 无色气体A可能为CO₂</a:t>
            </a:r>
          </a:p>
        </p:txBody>
      </p:sp>
      <p:sp>
        <p:nvSpPr>
          <p:cNvPr id="29" name="文字_C. 一定含有Fe²⁺、Cu²⁺"/>
          <p:cNvSpPr txBox="1"/>
          <p:nvPr/>
        </p:nvSpPr>
        <p:spPr>
          <a:xfrm>
            <a:off x="502920" y="5484180"/>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C. 一定含有Fe²⁺、Cu²⁺</a:t>
            </a:r>
          </a:p>
        </p:txBody>
      </p:sp>
      <p:sp>
        <p:nvSpPr>
          <p:cNvPr id="30" name="文字_D. 可能含有NO₃、Al³⁺"/>
          <p:cNvSpPr txBox="1"/>
          <p:nvPr/>
        </p:nvSpPr>
        <p:spPr>
          <a:xfrm>
            <a:off x="502920" y="5913948"/>
            <a:ext cx="11064240" cy="429768"/>
          </a:xfrm>
          <a:prstGeom prst="rect">
            <a:avLst/>
          </a:prstGeom>
          <a:noFill/>
        </p:spPr>
        <p:txBody>
          <a:bodyPr wrap="square" lIns="0" rIns="0" tIns="0" bIns="0">
            <a:spAutoFit/>
          </a:bodyPr>
          <a:lstStyle/>
          <a:p>
            <a:pPr>
              <a:lnSpc>
                <a:spcPct val="112000"/>
              </a:lnSpc>
              <a:spcBef>
                <a:spcPts val="0"/>
              </a:spcBef>
              <a:spcAft>
                <a:spcPts val="0"/>
              </a:spcAft>
              <a:defRPr sz="2350" b="0">
                <a:solidFill>
                  <a:srgbClr val="333333"/>
                </a:solidFill>
                <a:latin typeface="微软雅黑"/>
              </a:defRPr>
            </a:pPr>
            <a:r>
              <a:rPr>
                <a:ea typeface="微软雅黑"/>
              </a:rPr>
              <a:t>D. 可能含有NO₃、Al³⁺</a:t>
            </a:r>
          </a:p>
        </p:txBody>
      </p:sp>
      <p:sp>
        <p:nvSpPr>
          <p:cNvPr id="31" name="文字_单选题  ·  16-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16-006</a:t>
            </a:r>
          </a:p>
        </p:txBody>
      </p:sp>
      <p:sp>
        <p:nvSpPr>
          <p:cNvPr id="32"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变式1</a:t>
            </a:r>
          </a:p>
        </p:txBody>
      </p:sp>
      <p:sp>
        <p:nvSpPr>
          <p:cNvPr id="5" name="文字_P33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P337</a:t>
            </a:r>
          </a:p>
        </p:txBody>
      </p:sp>
      <p:pic>
        <p:nvPicPr>
          <p:cNvPr id="6" name="Picture 5" descr="image.png"/>
          <p:cNvPicPr>
            <a:picLocks noChangeAspect="1"/>
          </p:cNvPicPr>
          <p:nvPr/>
        </p:nvPicPr>
        <p:blipFill>
          <a:blip r:embed="rId3"/>
          <a:stretch>
            <a:fillRect/>
          </a:stretch>
        </p:blipFill>
        <p:spPr>
          <a:xfrm>
            <a:off x="502920" y="1078992"/>
            <a:ext cx="11064240" cy="4594148"/>
          </a:xfrm>
          <a:prstGeom prst="rect">
            <a:avLst/>
          </a:prstGeom>
        </p:spPr>
      </p:pic>
      <p:sp>
        <p:nvSpPr>
          <p:cNvPr id="7" name="原题文字_337_33"/>
          <p:cNvSpPr txBox="1"/>
          <p:nvPr/>
        </p:nvSpPr>
        <p:spPr>
          <a:xfrm>
            <a:off x="610116" y="1087905"/>
            <a:ext cx="456478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下列由离子检验有关的实验得出的结论正确的是</a:t>
            </a:r>
          </a:p>
        </p:txBody>
      </p:sp>
      <p:sp>
        <p:nvSpPr>
          <p:cNvPr id="8" name="原题文字_337_34"/>
          <p:cNvSpPr txBox="1"/>
          <p:nvPr/>
        </p:nvSpPr>
        <p:spPr>
          <a:xfrm>
            <a:off x="594802" y="1478407"/>
            <a:ext cx="629132"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选项</a:t>
            </a:r>
          </a:p>
        </p:txBody>
      </p:sp>
      <p:sp>
        <p:nvSpPr>
          <p:cNvPr id="9" name="原题文字_337_35"/>
          <p:cNvSpPr txBox="1"/>
          <p:nvPr/>
        </p:nvSpPr>
        <p:spPr>
          <a:xfrm>
            <a:off x="1314552" y="1501378"/>
            <a:ext cx="58319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实验</a:t>
            </a:r>
          </a:p>
        </p:txBody>
      </p:sp>
      <p:sp>
        <p:nvSpPr>
          <p:cNvPr id="10" name="原题文字_337_36"/>
          <p:cNvSpPr txBox="1"/>
          <p:nvPr/>
        </p:nvSpPr>
        <p:spPr>
          <a:xfrm>
            <a:off x="5211921" y="1478407"/>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结论</a:t>
            </a:r>
          </a:p>
        </p:txBody>
      </p:sp>
      <p:sp>
        <p:nvSpPr>
          <p:cNvPr id="11" name="原题文字_337_37"/>
          <p:cNvSpPr txBox="1"/>
          <p:nvPr/>
        </p:nvSpPr>
        <p:spPr>
          <a:xfrm>
            <a:off x="5250206" y="1922508"/>
            <a:ext cx="1992063" cy="348389"/>
          </a:xfrm>
          <a:prstGeom prst="rect">
            <a:avLst/>
          </a:prstGeom>
          <a:noFill/>
        </p:spPr>
        <p:txBody>
          <a:bodyPr wrap="none" lIns="0" rIns="0" tIns="0" bIns="0">
            <a:spAutoFit/>
          </a:bodyPr>
          <a:lstStyle/>
          <a:p>
            <a:pPr>
              <a:lnSpc>
                <a:spcPct val="112000"/>
              </a:lnSpc>
              <a:spcBef>
                <a:spcPts val="0"/>
              </a:spcBef>
              <a:spcAft>
                <a:spcPts val="0"/>
              </a:spcAft>
              <a:defRPr sz="1642" b="0">
                <a:solidFill>
                  <a:srgbClr val="333333"/>
                </a:solidFill>
                <a:latin typeface="微软雅黑"/>
              </a:defRPr>
            </a:pPr>
            <a:r>
              <a:rPr>
                <a:ea typeface="微软雅黑"/>
              </a:rPr>
              <a:t>溶液X中一定有Na+，</a:t>
            </a:r>
          </a:p>
        </p:txBody>
      </p:sp>
      <p:sp>
        <p:nvSpPr>
          <p:cNvPr id="12" name="原题文字_337_38"/>
          <p:cNvSpPr txBox="1"/>
          <p:nvPr/>
        </p:nvSpPr>
        <p:spPr>
          <a:xfrm>
            <a:off x="617773" y="2144559"/>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A</a:t>
            </a:r>
          </a:p>
        </p:txBody>
      </p:sp>
      <p:sp>
        <p:nvSpPr>
          <p:cNvPr id="13" name="原题文字_337_39"/>
          <p:cNvSpPr txBox="1"/>
          <p:nvPr/>
        </p:nvSpPr>
        <p:spPr>
          <a:xfrm>
            <a:off x="1360494" y="2106274"/>
            <a:ext cx="237490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溶液X的焰色试验呈黄色</a:t>
            </a:r>
          </a:p>
        </p:txBody>
      </p:sp>
      <p:sp>
        <p:nvSpPr>
          <p:cNvPr id="14" name="原题文字_337_40"/>
          <p:cNvSpPr txBox="1"/>
          <p:nvPr/>
        </p:nvSpPr>
        <p:spPr>
          <a:xfrm>
            <a:off x="5388030" y="2274726"/>
            <a:ext cx="1126831" cy="398159"/>
          </a:xfrm>
          <a:prstGeom prst="rect">
            <a:avLst/>
          </a:prstGeom>
          <a:noFill/>
        </p:spPr>
        <p:txBody>
          <a:bodyPr wrap="none" lIns="0" rIns="0" tIns="0" bIns="0">
            <a:spAutoFit/>
          </a:bodyPr>
          <a:lstStyle/>
          <a:p>
            <a:pPr>
              <a:lnSpc>
                <a:spcPct val="112000"/>
              </a:lnSpc>
              <a:spcBef>
                <a:spcPts val="0"/>
              </a:spcBef>
              <a:spcAft>
                <a:spcPts val="0"/>
              </a:spcAft>
              <a:defRPr sz="1664" b="0">
                <a:solidFill>
                  <a:srgbClr val="333333"/>
                </a:solidFill>
                <a:latin typeface="微软雅黑"/>
              </a:defRPr>
            </a:pPr>
            <a:r>
              <a:rPr>
                <a:ea typeface="微软雅黑"/>
              </a:rPr>
              <a:t>一定没有K+</a:t>
            </a:r>
          </a:p>
        </p:txBody>
      </p:sp>
      <p:sp>
        <p:nvSpPr>
          <p:cNvPr id="15" name="原题文字_337_41"/>
          <p:cNvSpPr txBox="1"/>
          <p:nvPr/>
        </p:nvSpPr>
        <p:spPr>
          <a:xfrm>
            <a:off x="1337523" y="2680543"/>
            <a:ext cx="3768467" cy="368297"/>
          </a:xfrm>
          <a:prstGeom prst="rect">
            <a:avLst/>
          </a:prstGeom>
          <a:noFill/>
        </p:spPr>
        <p:txBody>
          <a:bodyPr wrap="none" lIns="0" rIns="0" tIns="0" bIns="0">
            <a:spAutoFit/>
          </a:bodyPr>
          <a:lstStyle/>
          <a:p>
            <a:pPr>
              <a:lnSpc>
                <a:spcPct val="112000"/>
              </a:lnSpc>
              <a:spcBef>
                <a:spcPts val="0"/>
              </a:spcBef>
              <a:spcAft>
                <a:spcPts val="0"/>
              </a:spcAft>
              <a:defRPr sz="1717" b="0">
                <a:solidFill>
                  <a:srgbClr val="333333"/>
                </a:solidFill>
                <a:latin typeface="微软雅黑"/>
              </a:defRPr>
            </a:pPr>
            <a:r>
              <a:rPr>
                <a:ea typeface="微软雅黑"/>
              </a:rPr>
              <a:t>取少量溶液Y于试管中，滴加H₂O₂溶液</a:t>
            </a:r>
          </a:p>
        </p:txBody>
      </p:sp>
      <p:sp>
        <p:nvSpPr>
          <p:cNvPr id="16" name="原题文字_337_42"/>
          <p:cNvSpPr txBox="1"/>
          <p:nvPr/>
        </p:nvSpPr>
        <p:spPr>
          <a:xfrm>
            <a:off x="625430" y="2925564"/>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B</a:t>
            </a:r>
          </a:p>
        </p:txBody>
      </p:sp>
      <p:sp>
        <p:nvSpPr>
          <p:cNvPr id="17" name="原题文字_337_43"/>
          <p:cNvSpPr txBox="1"/>
          <p:nvPr/>
        </p:nvSpPr>
        <p:spPr>
          <a:xfrm>
            <a:off x="5250206" y="2887279"/>
            <a:ext cx="196909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溶液Y中一定有Fe²⁺</a:t>
            </a:r>
          </a:p>
        </p:txBody>
      </p:sp>
      <p:sp>
        <p:nvSpPr>
          <p:cNvPr id="18" name="原题文字_337_44"/>
          <p:cNvSpPr txBox="1"/>
          <p:nvPr/>
        </p:nvSpPr>
        <p:spPr>
          <a:xfrm>
            <a:off x="1360494" y="3063388"/>
            <a:ext cx="365361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后，再滴加KSCN溶液，溶液变为红色</a:t>
            </a:r>
          </a:p>
        </p:txBody>
      </p:sp>
      <p:sp>
        <p:nvSpPr>
          <p:cNvPr id="19" name="原题文字_337_45"/>
          <p:cNvSpPr txBox="1"/>
          <p:nvPr/>
        </p:nvSpPr>
        <p:spPr>
          <a:xfrm>
            <a:off x="1360494" y="3476862"/>
            <a:ext cx="386035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取少量溶液Z，向其中加入少量盐酸酸化</a:t>
            </a:r>
          </a:p>
        </p:txBody>
      </p:sp>
      <p:sp>
        <p:nvSpPr>
          <p:cNvPr id="20" name="原题文字_337_46"/>
          <p:cNvSpPr txBox="1"/>
          <p:nvPr/>
        </p:nvSpPr>
        <p:spPr>
          <a:xfrm>
            <a:off x="1329866" y="3821423"/>
            <a:ext cx="5889432" cy="418067"/>
          </a:xfrm>
          <a:prstGeom prst="rect">
            <a:avLst/>
          </a:prstGeom>
          <a:noFill/>
        </p:spPr>
        <p:txBody>
          <a:bodyPr wrap="none" lIns="0" rIns="0" tIns="0" bIns="0">
            <a:spAutoFit/>
          </a:bodyPr>
          <a:lstStyle/>
          <a:p>
            <a:pPr>
              <a:lnSpc>
                <a:spcPct val="112000"/>
              </a:lnSpc>
              <a:spcBef>
                <a:spcPts val="0"/>
              </a:spcBef>
              <a:spcAft>
                <a:spcPts val="0"/>
              </a:spcAft>
              <a:defRPr sz="1766" b="0">
                <a:solidFill>
                  <a:srgbClr val="333333"/>
                </a:solidFill>
                <a:latin typeface="微软雅黑"/>
              </a:defRPr>
            </a:pPr>
            <a:r>
              <a:rPr>
                <a:ea typeface="微软雅黑"/>
              </a:rPr>
              <a:t>的BaCl₂溶液，有白色沉淀产生、无气体溶液Z中一定有SO₂</a:t>
            </a:r>
          </a:p>
        </p:txBody>
      </p:sp>
      <p:sp>
        <p:nvSpPr>
          <p:cNvPr id="21" name="原题文字_337_47"/>
          <p:cNvSpPr txBox="1"/>
          <p:nvPr/>
        </p:nvSpPr>
        <p:spPr>
          <a:xfrm>
            <a:off x="1329866" y="4181298"/>
            <a:ext cx="575534"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生成</a:t>
            </a:r>
          </a:p>
        </p:txBody>
      </p:sp>
      <p:sp>
        <p:nvSpPr>
          <p:cNvPr id="22" name="原题文字_337_48"/>
          <p:cNvSpPr txBox="1"/>
          <p:nvPr/>
        </p:nvSpPr>
        <p:spPr>
          <a:xfrm>
            <a:off x="1345180" y="4610085"/>
            <a:ext cx="395223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取少量溶液W，加入少量淀粉，无明显现</a:t>
            </a:r>
          </a:p>
        </p:txBody>
      </p:sp>
      <p:sp>
        <p:nvSpPr>
          <p:cNvPr id="23" name="原题文字_337_49"/>
          <p:cNvSpPr txBox="1"/>
          <p:nvPr/>
        </p:nvSpPr>
        <p:spPr>
          <a:xfrm>
            <a:off x="633087" y="4855106"/>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D</a:t>
            </a:r>
          </a:p>
        </p:txBody>
      </p:sp>
      <p:sp>
        <p:nvSpPr>
          <p:cNvPr id="24" name="原题文字_337_50"/>
          <p:cNvSpPr txBox="1"/>
          <p:nvPr/>
        </p:nvSpPr>
        <p:spPr>
          <a:xfrm>
            <a:off x="5234892" y="4786194"/>
            <a:ext cx="180064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溶液W中一定有I-</a:t>
            </a:r>
          </a:p>
        </p:txBody>
      </p:sp>
      <p:sp>
        <p:nvSpPr>
          <p:cNvPr id="25" name="原题文字_337_51"/>
          <p:cNvSpPr txBox="1"/>
          <p:nvPr/>
        </p:nvSpPr>
        <p:spPr>
          <a:xfrm>
            <a:off x="1345180" y="4969960"/>
            <a:ext cx="3538759" cy="368297"/>
          </a:xfrm>
          <a:prstGeom prst="rect">
            <a:avLst/>
          </a:prstGeom>
          <a:noFill/>
        </p:spPr>
        <p:txBody>
          <a:bodyPr wrap="none" lIns="0" rIns="0" tIns="0" bIns="0">
            <a:spAutoFit/>
          </a:bodyPr>
          <a:lstStyle/>
          <a:p>
            <a:pPr>
              <a:lnSpc>
                <a:spcPct val="112000"/>
              </a:lnSpc>
              <a:spcBef>
                <a:spcPts val="0"/>
              </a:spcBef>
              <a:spcAft>
                <a:spcPts val="0"/>
              </a:spcAft>
              <a:defRPr sz="1771" b="0">
                <a:solidFill>
                  <a:srgbClr val="333333"/>
                </a:solidFill>
                <a:latin typeface="微软雅黑"/>
              </a:defRPr>
            </a:pPr>
            <a:r>
              <a:rPr>
                <a:ea typeface="微软雅黑"/>
              </a:rPr>
              <a:t>象，向其中加入新制氯水，溶液变蓝</a:t>
            </a:r>
          </a:p>
        </p:txBody>
      </p:sp>
      <p:sp>
        <p:nvSpPr>
          <p:cNvPr id="26" name="原题文字_337_52"/>
          <p:cNvSpPr txBox="1"/>
          <p:nvPr/>
        </p:nvSpPr>
        <p:spPr>
          <a:xfrm>
            <a:off x="556518" y="5421718"/>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27" name="原题文字_337_53"/>
          <p:cNvSpPr txBox="1"/>
          <p:nvPr/>
        </p:nvSpPr>
        <p:spPr>
          <a:xfrm>
            <a:off x="3236438" y="5421718"/>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28" name="原题文字_337_54"/>
          <p:cNvSpPr txBox="1"/>
          <p:nvPr/>
        </p:nvSpPr>
        <p:spPr>
          <a:xfrm>
            <a:off x="5924014" y="5391090"/>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29" name="原题文字_337_55"/>
          <p:cNvSpPr txBox="1"/>
          <p:nvPr/>
        </p:nvSpPr>
        <p:spPr>
          <a:xfrm>
            <a:off x="8611591" y="5406404"/>
            <a:ext cx="62147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D</a:t>
            </a:r>
          </a:p>
        </p:txBody>
      </p:sp>
      <p:sp>
        <p:nvSpPr>
          <p:cNvPr id="30" name="文字_单选题  ·  16-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16-007</a:t>
            </a:r>
          </a:p>
        </p:txBody>
      </p:sp>
      <p:sp>
        <p:nvSpPr>
          <p:cNvPr id="31"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变式2</a:t>
            </a:r>
          </a:p>
        </p:txBody>
      </p:sp>
      <p:sp>
        <p:nvSpPr>
          <p:cNvPr id="5" name="文字_P33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P338</a:t>
            </a:r>
          </a:p>
        </p:txBody>
      </p:sp>
      <p:sp>
        <p:nvSpPr>
          <p:cNvPr id="6" name="文字_有一固体混合物，可能由K₂CO₃、NaNO₂、F"/>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有一固体混合物，可能由K₂CO₃、NaNO₂、FeCl₃、KC₁O₃、AgNO₃混合而成</a:t>
            </a:r>
          </a:p>
          <a:p>
            <a:pPr>
              <a:lnSpc>
                <a:spcPct val="112000"/>
              </a:lnSpc>
              <a:spcBef>
                <a:spcPts val="0"/>
              </a:spcBef>
              <a:spcAft>
                <a:spcPts val="0"/>
              </a:spcAft>
              <a:defRPr sz="2400" b="0">
                <a:solidFill>
                  <a:srgbClr val="333333"/>
                </a:solidFill>
                <a:latin typeface="微软雅黑"/>
              </a:defRPr>
            </a:pPr>
            <a:r>
              <a:rPr>
                <a:ea typeface="微软雅黑"/>
              </a:rPr>
              <a:t>，为检验它的成分，做了如下实验：取固体加入足量的稀硝酸中，搅拌充分反应，</a:t>
            </a:r>
          </a:p>
          <a:p>
            <a:pPr>
              <a:lnSpc>
                <a:spcPct val="112000"/>
              </a:lnSpc>
              <a:spcBef>
                <a:spcPts val="0"/>
              </a:spcBef>
              <a:spcAft>
                <a:spcPts val="0"/>
              </a:spcAft>
              <a:defRPr sz="2400" b="0">
                <a:solidFill>
                  <a:srgbClr val="333333"/>
                </a:solidFill>
                <a:latin typeface="微软雅黑"/>
              </a:defRPr>
            </a:pPr>
            <a:r>
              <a:rPr>
                <a:ea typeface="微软雅黑"/>
              </a:rPr>
              <a:t>得到无色透明溶液，同时有黄绿色气体和白色沉淀生成(已知NaNO₂不能被稀硝酸</a:t>
            </a:r>
          </a:p>
          <a:p>
            <a:pPr>
              <a:lnSpc>
                <a:spcPct val="112000"/>
              </a:lnSpc>
              <a:spcBef>
                <a:spcPts val="0"/>
              </a:spcBef>
              <a:spcAft>
                <a:spcPts val="0"/>
              </a:spcAft>
              <a:defRPr sz="2400" b="0">
                <a:solidFill>
                  <a:srgbClr val="333333"/>
                </a:solidFill>
                <a:latin typeface="微软雅黑"/>
              </a:defRPr>
            </a:pPr>
            <a:r>
              <a:rPr>
                <a:ea typeface="微软雅黑"/>
              </a:rPr>
              <a:t>氧化)。根据以上实验现象，你认为以下判断正确的是</a:t>
            </a:r>
          </a:p>
        </p:txBody>
      </p:sp>
      <p:sp>
        <p:nvSpPr>
          <p:cNvPr id="7" name="文字_A. 一定含有KC₁O₃、AgNO₃、NaNO₂"/>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一定含有KC₁O₃、AgNO₃、NaNO₂，不能肯定是否含有氯化铁</a:t>
            </a:r>
          </a:p>
        </p:txBody>
      </p:sp>
      <p:sp>
        <p:nvSpPr>
          <p:cNvPr id="8" name="文字_B. 一定含有KC₁O₃，且在反应过程中被还原生"/>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一定含有KC₁O₃，且在反应过程中被还原生成了两种还原产物</a:t>
            </a:r>
          </a:p>
        </p:txBody>
      </p:sp>
      <p:sp>
        <p:nvSpPr>
          <p:cNvPr id="9" name="文字_C. 另取适量固体加水溶解，若出现白色沉淀，即可"/>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另取适量固体加水溶解，若出现白色沉淀，即可证明K₂CO₃的存在</a:t>
            </a:r>
          </a:p>
        </p:txBody>
      </p:sp>
      <p:sp>
        <p:nvSpPr>
          <p:cNvPr id="10" name="文字_D. 将反应产生的气体通入少量澄清石灰水，若无沉"/>
          <p:cNvSpPr txBox="1"/>
          <p:nvPr/>
        </p:nvSpPr>
        <p:spPr>
          <a:xfrm>
            <a:off x="502920" y="39227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将反应产生的气体通入少量澄清石灰水，若无沉淀出现，即可证明K₂CO₃不存</a:t>
            </a:r>
          </a:p>
          <a:p>
            <a:pPr>
              <a:lnSpc>
                <a:spcPct val="112000"/>
              </a:lnSpc>
              <a:spcBef>
                <a:spcPts val="0"/>
              </a:spcBef>
              <a:spcAft>
                <a:spcPts val="0"/>
              </a:spcAft>
              <a:defRPr sz="2400" b="0">
                <a:solidFill>
                  <a:srgbClr val="333333"/>
                </a:solidFill>
                <a:latin typeface="微软雅黑"/>
              </a:defRPr>
            </a:pPr>
            <a:r>
              <a:rPr>
                <a:ea typeface="微软雅黑"/>
              </a:rPr>
              <a:t>在</a:t>
            </a:r>
          </a:p>
        </p:txBody>
      </p:sp>
      <p:sp>
        <p:nvSpPr>
          <p:cNvPr id="11" name="文字_单选题  ·  16-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16-008</a:t>
            </a:r>
          </a:p>
        </p:txBody>
      </p:sp>
      <p:sp>
        <p:nvSpPr>
          <p:cNvPr id="12"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变式3</a:t>
            </a:r>
          </a:p>
        </p:txBody>
      </p:sp>
      <p:sp>
        <p:nvSpPr>
          <p:cNvPr id="5" name="文字_P33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P338</a:t>
            </a:r>
          </a:p>
        </p:txBody>
      </p:sp>
      <p:sp>
        <p:nvSpPr>
          <p:cNvPr id="6" name="文字_有一无色透明溶液A，欲确定其是否含有下列离子：N"/>
          <p:cNvSpPr txBox="1"/>
          <p:nvPr/>
        </p:nvSpPr>
        <p:spPr>
          <a:xfrm>
            <a:off x="502920" y="1078992"/>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有一无色透明溶液A，欲确定其是否含有下列离子：Na+、K+、H+、Mg²⁺、Cu²⁺、</a:t>
            </a:r>
          </a:p>
          <a:p>
            <a:pPr>
              <a:lnSpc>
                <a:spcPct val="112000"/>
              </a:lnSpc>
              <a:spcBef>
                <a:spcPts val="0"/>
              </a:spcBef>
              <a:spcAft>
                <a:spcPts val="0"/>
              </a:spcAft>
              <a:defRPr sz="2250" b="0">
                <a:solidFill>
                  <a:srgbClr val="333333"/>
                </a:solidFill>
                <a:latin typeface="微软雅黑"/>
              </a:defRPr>
            </a:pPr>
            <a:r>
              <a:rPr>
                <a:ea typeface="微软雅黑"/>
              </a:rPr>
              <a:t>Fe²⁺、SO₂⁻、Cl-、HCO₃，实验如下：</a:t>
            </a:r>
          </a:p>
        </p:txBody>
      </p:sp>
      <p:sp>
        <p:nvSpPr>
          <p:cNvPr id="7" name="文字_①用铂丝蘸取溶液，在酒精灯火焰上灼烧，透过蓝色钴"/>
          <p:cNvSpPr txBox="1"/>
          <p:nvPr/>
        </p:nvSpPr>
        <p:spPr>
          <a:xfrm>
            <a:off x="502920" y="183051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①用铂丝蘸取溶液，在酒精灯火焰上灼烧，透过蓝色钴玻璃观察到焰色呈紫色；</a:t>
            </a:r>
          </a:p>
        </p:txBody>
      </p:sp>
      <p:sp>
        <p:nvSpPr>
          <p:cNvPr id="8" name="文字_②用玻璃棒蘸取少量该溶液，点在pH试纸中部，试纸"/>
          <p:cNvSpPr txBox="1"/>
          <p:nvPr/>
        </p:nvSpPr>
        <p:spPr>
          <a:xfrm>
            <a:off x="502920" y="224199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②用玻璃棒蘸取少量该溶液，点在pH试纸中部，试纸变红；</a:t>
            </a:r>
          </a:p>
        </p:txBody>
      </p:sp>
      <p:sp>
        <p:nvSpPr>
          <p:cNvPr id="9" name="文字_③取少量该溶液，加入过量BaCl₂溶液，有白色沉"/>
          <p:cNvSpPr txBox="1"/>
          <p:nvPr/>
        </p:nvSpPr>
        <p:spPr>
          <a:xfrm>
            <a:off x="502920" y="265347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③取少量该溶液，加入过量BaCl₂溶液，有白色沉淀生成；</a:t>
            </a:r>
          </a:p>
        </p:txBody>
      </p:sp>
      <p:sp>
        <p:nvSpPr>
          <p:cNvPr id="10" name="文字_④取少量该溶液，加入过量的NaOH溶液，没有白色"/>
          <p:cNvSpPr txBox="1"/>
          <p:nvPr/>
        </p:nvSpPr>
        <p:spPr>
          <a:xfrm>
            <a:off x="502920" y="306495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④取少量该溶液，加入过量的NaOH溶液，没有白色沉淀生成；</a:t>
            </a:r>
          </a:p>
        </p:txBody>
      </p:sp>
      <p:sp>
        <p:nvSpPr>
          <p:cNvPr id="11" name="文字_⑤取③中反应后的上层清液，加入AgNO₃溶液，有"/>
          <p:cNvSpPr txBox="1"/>
          <p:nvPr/>
        </p:nvSpPr>
        <p:spPr>
          <a:xfrm>
            <a:off x="502920" y="347643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⑤取③中反应后的上层清液，加入AgNO₃溶液，有不溶于稀硝酸的白色沉淀。</a:t>
            </a:r>
          </a:p>
        </p:txBody>
      </p:sp>
      <p:sp>
        <p:nvSpPr>
          <p:cNvPr id="12" name="文字_已知Ag₂SO₄微溶于水，下列说法正确的是"/>
          <p:cNvSpPr txBox="1"/>
          <p:nvPr/>
        </p:nvSpPr>
        <p:spPr>
          <a:xfrm>
            <a:off x="502920" y="388791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已知Ag₂SO₄微溶于水，下列说法正确的是</a:t>
            </a:r>
          </a:p>
        </p:txBody>
      </p:sp>
      <p:sp>
        <p:nvSpPr>
          <p:cNvPr id="13" name="文字_A. 溶液A中一定不存在的离子是Cu²⁺、Fe²"/>
          <p:cNvSpPr txBox="1"/>
          <p:nvPr/>
        </p:nvSpPr>
        <p:spPr>
          <a:xfrm>
            <a:off x="502920" y="429939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A. 溶液A中一定不存在的离子是Cu²⁺、Fe²⁺、Mg²⁺</a:t>
            </a:r>
          </a:p>
        </p:txBody>
      </p:sp>
      <p:sp>
        <p:nvSpPr>
          <p:cNvPr id="14" name="文字_B. 溶液A中不能肯定存在的离子是Na+、Cl⁻"/>
          <p:cNvSpPr txBox="1"/>
          <p:nvPr/>
        </p:nvSpPr>
        <p:spPr>
          <a:xfrm>
            <a:off x="502920" y="4710874"/>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B. 溶液A中不能肯定存在的离子是Na+、Cl⁻</a:t>
            </a:r>
          </a:p>
        </p:txBody>
      </p:sp>
      <p:sp>
        <p:nvSpPr>
          <p:cNvPr id="15" name="文字_C. 为进一步确定溶液A中是否含有Cl⁻，可以取"/>
          <p:cNvSpPr txBox="1"/>
          <p:nvPr/>
        </p:nvSpPr>
        <p:spPr>
          <a:xfrm>
            <a:off x="502920" y="5122354"/>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C. 为进一步确定溶液A中是否含有Cl⁻，可以取少量原溶液，加入AgNO₃溶液，观察是</a:t>
            </a:r>
          </a:p>
          <a:p>
            <a:pPr>
              <a:lnSpc>
                <a:spcPct val="112000"/>
              </a:lnSpc>
              <a:spcBef>
                <a:spcPts val="0"/>
              </a:spcBef>
              <a:spcAft>
                <a:spcPts val="0"/>
              </a:spcAft>
              <a:defRPr sz="2250" b="0">
                <a:solidFill>
                  <a:srgbClr val="333333"/>
                </a:solidFill>
                <a:latin typeface="微软雅黑"/>
              </a:defRPr>
            </a:pPr>
            <a:r>
              <a:rPr>
                <a:ea typeface="微软雅黑"/>
              </a:rPr>
              <a:t>否有沉淀生成</a:t>
            </a:r>
          </a:p>
        </p:txBody>
      </p:sp>
      <p:sp>
        <p:nvSpPr>
          <p:cNvPr id="16" name="文字_D. 以上说法都不正确"/>
          <p:cNvSpPr txBox="1"/>
          <p:nvPr/>
        </p:nvSpPr>
        <p:spPr>
          <a:xfrm>
            <a:off x="502920" y="5873877"/>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D. 以上说法都不正确</a:t>
            </a:r>
          </a:p>
        </p:txBody>
      </p:sp>
      <p:sp>
        <p:nvSpPr>
          <p:cNvPr id="17" name="文字_单选题  ·  16-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16-009</a:t>
            </a:r>
          </a:p>
        </p:txBody>
      </p:sp>
      <p:sp>
        <p:nvSpPr>
          <p:cNvPr id="18"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变式4</a:t>
            </a:r>
          </a:p>
        </p:txBody>
      </p:sp>
      <p:sp>
        <p:nvSpPr>
          <p:cNvPr id="5" name="文字_P33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P338</a:t>
            </a:r>
          </a:p>
        </p:txBody>
      </p:sp>
      <p:sp>
        <p:nvSpPr>
          <p:cNvPr id="6" name="文字_某无色溶液Y可能含有Na+、Fe³⁺、Ba²⁺、"/>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某无色溶液Y可能含有Na+、Fe³⁺、Ba²⁺、NH+、Cl-、SO₂⁻、HCO₃、HSO₃</a:t>
            </a:r>
          </a:p>
          <a:p>
            <a:pPr>
              <a:lnSpc>
                <a:spcPct val="112000"/>
              </a:lnSpc>
              <a:spcBef>
                <a:spcPts val="0"/>
              </a:spcBef>
              <a:spcAft>
                <a:spcPts val="0"/>
              </a:spcAft>
              <a:defRPr sz="2400" b="0">
                <a:solidFill>
                  <a:srgbClr val="333333"/>
                </a:solidFill>
                <a:latin typeface="微软雅黑"/>
              </a:defRPr>
            </a:pPr>
            <a:r>
              <a:rPr>
                <a:ea typeface="微软雅黑"/>
              </a:rPr>
              <a:t>中的几种离子，溶液中阳离子浓度相同。为了确定其组成，某同学进行了如下实验</a:t>
            </a:r>
          </a:p>
          <a:p>
            <a:pPr>
              <a:lnSpc>
                <a:spcPct val="112000"/>
              </a:lnSpc>
              <a:spcBef>
                <a:spcPts val="0"/>
              </a:spcBef>
              <a:spcAft>
                <a:spcPts val="0"/>
              </a:spcAft>
              <a:defRPr sz="2400" b="0">
                <a:solidFill>
                  <a:srgbClr val="333333"/>
                </a:solidFill>
                <a:latin typeface="微软雅黑"/>
              </a:defRPr>
            </a:pPr>
            <a:r>
              <a:rPr>
                <a:ea typeface="微软雅黑"/>
              </a:rPr>
              <a:t>(假设气体均全部逸出，忽略H₂O₂的分解)。下列说法不正确的是</a:t>
            </a:r>
          </a:p>
        </p:txBody>
      </p:sp>
      <p:sp>
        <p:nvSpPr>
          <p:cNvPr id="7" name="文字_气体1(224mL,标准状况)"/>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气体1(224mL,标准状况)</a:t>
            </a:r>
          </a:p>
        </p:txBody>
      </p:sp>
      <p:pic>
        <p:nvPicPr>
          <p:cNvPr id="8" name="Picture 7" descr="image.png"/>
          <p:cNvPicPr>
            <a:picLocks noChangeAspect="1"/>
          </p:cNvPicPr>
          <p:nvPr/>
        </p:nvPicPr>
        <p:blipFill>
          <a:blip r:embed="rId3"/>
          <a:stretch>
            <a:fillRect/>
          </a:stretch>
        </p:blipFill>
        <p:spPr>
          <a:xfrm>
            <a:off x="502920" y="2682240"/>
            <a:ext cx="11064240" cy="2059709"/>
          </a:xfrm>
          <a:prstGeom prst="rect">
            <a:avLst/>
          </a:prstGeom>
        </p:spPr>
      </p:pic>
      <p:sp>
        <p:nvSpPr>
          <p:cNvPr id="9" name="原题文字_338_31"/>
          <p:cNvSpPr txBox="1"/>
          <p:nvPr/>
        </p:nvSpPr>
        <p:spPr>
          <a:xfrm>
            <a:off x="6184349" y="2714123"/>
            <a:ext cx="774613"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气体2</a:t>
            </a:r>
          </a:p>
        </p:txBody>
      </p:sp>
      <p:sp>
        <p:nvSpPr>
          <p:cNvPr id="10" name="原题文字_338_32"/>
          <p:cNvSpPr txBox="1"/>
          <p:nvPr/>
        </p:nvSpPr>
        <p:spPr>
          <a:xfrm>
            <a:off x="6115437" y="3012743"/>
            <a:ext cx="881810" cy="497699"/>
          </a:xfrm>
          <a:prstGeom prst="rect">
            <a:avLst/>
          </a:prstGeom>
          <a:noFill/>
        </p:spPr>
        <p:txBody>
          <a:bodyPr wrap="none" lIns="0" rIns="0" tIns="0" bIns="0">
            <a:spAutoFit/>
          </a:bodyPr>
          <a:lstStyle/>
          <a:p>
            <a:pPr>
              <a:lnSpc>
                <a:spcPct val="112000"/>
              </a:lnSpc>
              <a:spcBef>
                <a:spcPts val="0"/>
              </a:spcBef>
              <a:spcAft>
                <a:spcPts val="0"/>
              </a:spcAft>
              <a:defRPr sz="2084" b="0">
                <a:solidFill>
                  <a:srgbClr val="333333"/>
                </a:solidFill>
                <a:latin typeface="微软雅黑"/>
              </a:defRPr>
            </a:pPr>
            <a:r>
              <a:rPr>
                <a:ea typeface="微软雅黑"/>
              </a:rPr>
              <a:t>(0.17g)</a:t>
            </a:r>
          </a:p>
        </p:txBody>
      </p:sp>
      <p:sp>
        <p:nvSpPr>
          <p:cNvPr id="11" name="原题文字_338_33"/>
          <p:cNvSpPr txBox="1"/>
          <p:nvPr/>
        </p:nvSpPr>
        <p:spPr>
          <a:xfrm>
            <a:off x="1490661" y="3112283"/>
            <a:ext cx="1593903" cy="428021"/>
          </a:xfrm>
          <a:prstGeom prst="rect">
            <a:avLst/>
          </a:prstGeom>
          <a:noFill/>
        </p:spPr>
        <p:txBody>
          <a:bodyPr wrap="none" lIns="0" rIns="0" tIns="0" bIns="0">
            <a:spAutoFit/>
          </a:bodyPr>
          <a:lstStyle/>
          <a:p>
            <a:pPr>
              <a:lnSpc>
                <a:spcPct val="112000"/>
              </a:lnSpc>
              <a:spcBef>
                <a:spcPts val="0"/>
              </a:spcBef>
              <a:spcAft>
                <a:spcPts val="0"/>
              </a:spcAft>
              <a:defRPr sz="1803" b="0">
                <a:solidFill>
                  <a:srgbClr val="333333"/>
                </a:solidFill>
                <a:latin typeface="微软雅黑"/>
              </a:defRPr>
            </a:pPr>
            <a:r>
              <a:rPr>
                <a:ea typeface="微软雅黑"/>
              </a:rPr>
              <a:t>足量H₂O₂溶液</a:t>
            </a:r>
          </a:p>
        </p:txBody>
      </p:sp>
      <p:sp>
        <p:nvSpPr>
          <p:cNvPr id="12" name="原题文字_338_34"/>
          <p:cNvSpPr txBox="1"/>
          <p:nvPr/>
        </p:nvSpPr>
        <p:spPr>
          <a:xfrm>
            <a:off x="4017443" y="3104626"/>
            <a:ext cx="1930807" cy="428021"/>
          </a:xfrm>
          <a:prstGeom prst="rect">
            <a:avLst/>
          </a:prstGeom>
          <a:noFill/>
        </p:spPr>
        <p:txBody>
          <a:bodyPr wrap="none" lIns="0" rIns="0" tIns="0" bIns="0">
            <a:spAutoFit/>
          </a:bodyPr>
          <a:lstStyle/>
          <a:p>
            <a:pPr>
              <a:lnSpc>
                <a:spcPct val="112000"/>
              </a:lnSpc>
              <a:spcBef>
                <a:spcPts val="0"/>
              </a:spcBef>
              <a:spcAft>
                <a:spcPts val="0"/>
              </a:spcAft>
              <a:defRPr sz="1873" b="0">
                <a:solidFill>
                  <a:srgbClr val="333333"/>
                </a:solidFill>
                <a:latin typeface="微软雅黑"/>
              </a:defRPr>
            </a:pPr>
            <a:r>
              <a:rPr>
                <a:ea typeface="微软雅黑"/>
              </a:rPr>
              <a:t>过量Ba(OH)₂溶液</a:t>
            </a:r>
          </a:p>
        </p:txBody>
      </p:sp>
      <p:sp>
        <p:nvSpPr>
          <p:cNvPr id="13" name="原题文字_338_35"/>
          <p:cNvSpPr txBox="1"/>
          <p:nvPr/>
        </p:nvSpPr>
        <p:spPr>
          <a:xfrm>
            <a:off x="656058" y="3311363"/>
            <a:ext cx="820555"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溶液Y</a:t>
            </a:r>
          </a:p>
        </p:txBody>
      </p:sp>
      <p:sp>
        <p:nvSpPr>
          <p:cNvPr id="14" name="原题文字_338_36"/>
          <p:cNvSpPr txBox="1"/>
          <p:nvPr/>
        </p:nvSpPr>
        <p:spPr>
          <a:xfrm>
            <a:off x="3090956" y="3319019"/>
            <a:ext cx="973693"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溶液1</a:t>
            </a:r>
          </a:p>
        </p:txBody>
      </p:sp>
      <p:sp>
        <p:nvSpPr>
          <p:cNvPr id="15" name="原题文字_338_37"/>
          <p:cNvSpPr txBox="1"/>
          <p:nvPr/>
        </p:nvSpPr>
        <p:spPr>
          <a:xfrm>
            <a:off x="1643800" y="3533413"/>
            <a:ext cx="1272313"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(盐酸酸化)</a:t>
            </a:r>
          </a:p>
        </p:txBody>
      </p:sp>
      <p:sp>
        <p:nvSpPr>
          <p:cNvPr id="16" name="原题文字_338_38"/>
          <p:cNvSpPr txBox="1"/>
          <p:nvPr/>
        </p:nvSpPr>
        <p:spPr>
          <a:xfrm>
            <a:off x="4813762" y="3487472"/>
            <a:ext cx="33816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a:t>
            </a:r>
          </a:p>
        </p:txBody>
      </p:sp>
      <p:sp>
        <p:nvSpPr>
          <p:cNvPr id="17" name="原题文字_338_39"/>
          <p:cNvSpPr txBox="1"/>
          <p:nvPr/>
        </p:nvSpPr>
        <p:spPr>
          <a:xfrm>
            <a:off x="5931671" y="3717179"/>
            <a:ext cx="950722"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溶液2</a:t>
            </a:r>
          </a:p>
        </p:txBody>
      </p:sp>
      <p:sp>
        <p:nvSpPr>
          <p:cNvPr id="18" name="原题文字_338_40"/>
          <p:cNvSpPr txBox="1"/>
          <p:nvPr/>
        </p:nvSpPr>
        <p:spPr>
          <a:xfrm>
            <a:off x="3067986" y="4008142"/>
            <a:ext cx="1570932"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沉淀(2.33g)</a:t>
            </a:r>
          </a:p>
        </p:txBody>
      </p:sp>
      <p:sp>
        <p:nvSpPr>
          <p:cNvPr id="19" name="原题文字_338_41"/>
          <p:cNvSpPr txBox="1"/>
          <p:nvPr/>
        </p:nvSpPr>
        <p:spPr>
          <a:xfrm>
            <a:off x="564175" y="4352703"/>
            <a:ext cx="3454533" cy="447929"/>
          </a:xfrm>
          <a:prstGeom prst="rect">
            <a:avLst/>
          </a:prstGeom>
          <a:noFill/>
        </p:spPr>
        <p:txBody>
          <a:bodyPr wrap="none" lIns="0" rIns="0" tIns="0" bIns="0">
            <a:spAutoFit/>
          </a:bodyPr>
          <a:lstStyle/>
          <a:p>
            <a:pPr>
              <a:lnSpc>
                <a:spcPct val="112000"/>
              </a:lnSpc>
              <a:spcBef>
                <a:spcPts val="0"/>
              </a:spcBef>
              <a:spcAft>
                <a:spcPts val="0"/>
              </a:spcAft>
              <a:defRPr sz="1731" b="0">
                <a:solidFill>
                  <a:srgbClr val="333333"/>
                </a:solidFill>
                <a:latin typeface="微软雅黑"/>
              </a:defRPr>
            </a:pPr>
            <a:r>
              <a:rPr>
                <a:ea typeface="微软雅黑"/>
              </a:rPr>
              <a:t>A. 溶液Y中一定不存在Fe³⁺、SO₂⁻</a:t>
            </a:r>
          </a:p>
        </p:txBody>
      </p:sp>
      <p:sp>
        <p:nvSpPr>
          <p:cNvPr id="20" name="文字_B. 溶液Y中一定含有Cl⁻，且n (Cl-) "/>
          <p:cNvSpPr txBox="1"/>
          <p:nvPr/>
        </p:nvSpPr>
        <p:spPr>
          <a:xfrm>
            <a:off x="502920" y="481510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溶液Y中一定含有Cl⁻，且n (Cl-) = 0.01mol</a:t>
            </a:r>
          </a:p>
        </p:txBody>
      </p:sp>
      <p:sp>
        <p:nvSpPr>
          <p:cNvPr id="21" name="文字_C. 溶液Y中肯定存在HCO₃、HSO₃、Ba²"/>
          <p:cNvSpPr txBox="1"/>
          <p:nvPr/>
        </p:nvSpPr>
        <p:spPr>
          <a:xfrm>
            <a:off x="502920" y="525401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溶液Y中肯定存在HCO₃、HSO₃、Ba²⁺、NH+</a:t>
            </a:r>
          </a:p>
        </p:txBody>
      </p:sp>
      <p:sp>
        <p:nvSpPr>
          <p:cNvPr id="22" name="文字_D. 溶液Y中可能存在Na+，为确定其是否存在，"/>
          <p:cNvSpPr txBox="1"/>
          <p:nvPr/>
        </p:nvSpPr>
        <p:spPr>
          <a:xfrm>
            <a:off x="502920" y="569292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溶液Y中可能存在Na+，为确定其是否存在，可取溶液1通过焰色试验验证</a:t>
            </a:r>
          </a:p>
        </p:txBody>
      </p:sp>
      <p:sp>
        <p:nvSpPr>
          <p:cNvPr id="23" name="文字_单选题  ·  16-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16-010</a:t>
            </a:r>
          </a:p>
        </p:txBody>
      </p:sp>
      <p:sp>
        <p:nvSpPr>
          <p:cNvPr id="24"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离子推断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离子推断 · 变式5</a:t>
            </a:r>
          </a:p>
        </p:txBody>
      </p:sp>
      <p:sp>
        <p:nvSpPr>
          <p:cNvPr id="5" name="文字_P33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P338</a:t>
            </a:r>
          </a:p>
        </p:txBody>
      </p:sp>
      <p:sp>
        <p:nvSpPr>
          <p:cNvPr id="6" name="文字_某溶液可能含有Cl-、SO₄²⁻、CO₃²⁻、N"/>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某溶液可能含有Cl-、SO₄²⁻、CO₃²⁻、NH₄⁺、Fe³⁺、I-和K+。取该溶液50mL</a:t>
            </a:r>
          </a:p>
          <a:p>
            <a:pPr>
              <a:lnSpc>
                <a:spcPct val="112000"/>
              </a:lnSpc>
              <a:spcBef>
                <a:spcPts val="0"/>
              </a:spcBef>
              <a:spcAft>
                <a:spcPts val="0"/>
              </a:spcAft>
              <a:defRPr sz="2400" b="0">
                <a:solidFill>
                  <a:srgbClr val="333333"/>
                </a:solidFill>
                <a:latin typeface="微软雅黑"/>
              </a:defRPr>
            </a:pPr>
            <a:r>
              <a:rPr>
                <a:ea typeface="微软雅黑"/>
              </a:rPr>
              <a:t>，加入过量NaOH溶液，加热，得</a:t>
            </a:r>
          </a:p>
        </p:txBody>
      </p:sp>
      <p:sp>
        <p:nvSpPr>
          <p:cNvPr id="7" name="文字_单选题  ·  16-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16-011</a:t>
            </a:r>
          </a:p>
        </p:txBody>
      </p:sp>
      <p:sp>
        <p:nvSpPr>
          <p:cNvPr id="8"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检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检测题6</a:t>
            </a:r>
          </a:p>
        </p:txBody>
      </p:sp>
      <p:sp>
        <p:nvSpPr>
          <p:cNvPr id="5" name="文字_P33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P339</a:t>
            </a:r>
          </a:p>
        </p:txBody>
      </p:sp>
      <p:sp>
        <p:nvSpPr>
          <p:cNvPr id="6" name="文字_某溶液X中可能含NO₃⁻、Cl-、SO₄²⁻、C"/>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某溶液X中可能含NO₃⁻、Cl-、SO₄²⁻、CO₃²⁻、NH₄⁺、Na+、Mg²⁺、Ba²⁺</a:t>
            </a:r>
          </a:p>
          <a:p>
            <a:pPr>
              <a:lnSpc>
                <a:spcPct val="112000"/>
              </a:lnSpc>
              <a:spcBef>
                <a:spcPts val="0"/>
              </a:spcBef>
              <a:spcAft>
                <a:spcPts val="0"/>
              </a:spcAft>
              <a:defRPr sz="2400" b="0">
                <a:solidFill>
                  <a:srgbClr val="333333"/>
                </a:solidFill>
                <a:latin typeface="微软雅黑"/>
              </a:defRPr>
            </a:pPr>
            <a:r>
              <a:rPr>
                <a:ea typeface="微软雅黑"/>
              </a:rPr>
              <a:t>中的几种，且所含阴离子的物质的量相等。为确定溶液X的成分，某学习小组做了</a:t>
            </a:r>
          </a:p>
          <a:p>
            <a:pPr>
              <a:lnSpc>
                <a:spcPct val="112000"/>
              </a:lnSpc>
              <a:spcBef>
                <a:spcPts val="0"/>
              </a:spcBef>
              <a:spcAft>
                <a:spcPts val="0"/>
              </a:spcAft>
              <a:defRPr sz="2400" b="0">
                <a:solidFill>
                  <a:srgbClr val="333333"/>
                </a:solidFill>
                <a:latin typeface="微软雅黑"/>
              </a:defRPr>
            </a:pPr>
            <a:r>
              <a:rPr>
                <a:ea typeface="微软雅黑"/>
              </a:rPr>
              <a:t>如下实验:则下列说法正确的是()</a:t>
            </a:r>
          </a:p>
        </p:txBody>
      </p:sp>
      <p:pic>
        <p:nvPicPr>
          <p:cNvPr id="7" name="Picture 6" descr="image.png"/>
          <p:cNvPicPr>
            <a:picLocks noChangeAspect="1"/>
          </p:cNvPicPr>
          <p:nvPr/>
        </p:nvPicPr>
        <p:blipFill>
          <a:blip r:embed="rId3"/>
          <a:stretch>
            <a:fillRect/>
          </a:stretch>
        </p:blipFill>
        <p:spPr>
          <a:xfrm>
            <a:off x="502920" y="2243328"/>
            <a:ext cx="11064240" cy="1937199"/>
          </a:xfrm>
          <a:prstGeom prst="rect">
            <a:avLst/>
          </a:prstGeom>
        </p:spPr>
      </p:pic>
      <p:sp>
        <p:nvSpPr>
          <p:cNvPr id="8" name="原题文字_339_12"/>
          <p:cNvSpPr txBox="1"/>
          <p:nvPr/>
        </p:nvSpPr>
        <p:spPr>
          <a:xfrm>
            <a:off x="5472256" y="2275211"/>
            <a:ext cx="69038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气体甲</a:t>
            </a:r>
          </a:p>
        </p:txBody>
      </p:sp>
      <p:sp>
        <p:nvSpPr>
          <p:cNvPr id="9" name="原题文字_339_13"/>
          <p:cNvSpPr txBox="1"/>
          <p:nvPr/>
        </p:nvSpPr>
        <p:spPr>
          <a:xfrm>
            <a:off x="5433972" y="2558517"/>
            <a:ext cx="751643" cy="328481"/>
          </a:xfrm>
          <a:prstGeom prst="rect">
            <a:avLst/>
          </a:prstGeom>
          <a:noFill/>
        </p:spPr>
        <p:txBody>
          <a:bodyPr wrap="none" lIns="0" rIns="0" tIns="0" bIns="0">
            <a:spAutoFit/>
          </a:bodyPr>
          <a:lstStyle/>
          <a:p>
            <a:pPr>
              <a:lnSpc>
                <a:spcPct val="112000"/>
              </a:lnSpc>
              <a:spcBef>
                <a:spcPts val="0"/>
              </a:spcBef>
              <a:spcAft>
                <a:spcPts val="0"/>
              </a:spcAft>
              <a:defRPr sz="1577" b="0">
                <a:solidFill>
                  <a:srgbClr val="333333"/>
                </a:solidFill>
                <a:latin typeface="微软雅黑"/>
              </a:defRPr>
            </a:pPr>
            <a:r>
              <a:rPr>
                <a:ea typeface="微软雅黑"/>
              </a:rPr>
              <a:t>0.01mol</a:t>
            </a:r>
          </a:p>
        </p:txBody>
      </p:sp>
      <p:sp>
        <p:nvSpPr>
          <p:cNvPr id="10" name="原题文字_339_14"/>
          <p:cNvSpPr txBox="1"/>
          <p:nvPr/>
        </p:nvSpPr>
        <p:spPr>
          <a:xfrm>
            <a:off x="4032757" y="2949020"/>
            <a:ext cx="1019635" cy="348389"/>
          </a:xfrm>
          <a:prstGeom prst="rect">
            <a:avLst/>
          </a:prstGeom>
          <a:noFill/>
        </p:spPr>
        <p:txBody>
          <a:bodyPr wrap="none" lIns="0" rIns="0" tIns="0" bIns="0">
            <a:spAutoFit/>
          </a:bodyPr>
          <a:lstStyle/>
          <a:p>
            <a:pPr>
              <a:lnSpc>
                <a:spcPct val="112000"/>
              </a:lnSpc>
              <a:spcBef>
                <a:spcPts val="0"/>
              </a:spcBef>
              <a:spcAft>
                <a:spcPts val="0"/>
              </a:spcAft>
              <a:defRPr sz="1638" b="0">
                <a:solidFill>
                  <a:srgbClr val="333333"/>
                </a:solidFill>
                <a:latin typeface="微软雅黑"/>
              </a:defRPr>
            </a:pPr>
            <a:r>
              <a:rPr>
                <a:ea typeface="微软雅黑"/>
              </a:rPr>
              <a:t>过量NaOH</a:t>
            </a:r>
          </a:p>
        </p:txBody>
      </p:sp>
      <p:sp>
        <p:nvSpPr>
          <p:cNvPr id="11" name="原题文字_339_15"/>
          <p:cNvSpPr txBox="1"/>
          <p:nvPr/>
        </p:nvSpPr>
        <p:spPr>
          <a:xfrm>
            <a:off x="6237948" y="2918392"/>
            <a:ext cx="1195744" cy="338435"/>
          </a:xfrm>
          <a:prstGeom prst="rect">
            <a:avLst/>
          </a:prstGeom>
          <a:noFill/>
        </p:spPr>
        <p:txBody>
          <a:bodyPr wrap="none" lIns="0" rIns="0" tIns="0" bIns="0">
            <a:spAutoFit/>
          </a:bodyPr>
          <a:lstStyle/>
          <a:p>
            <a:pPr>
              <a:lnSpc>
                <a:spcPct val="112000"/>
              </a:lnSpc>
              <a:spcBef>
                <a:spcPts val="0"/>
              </a:spcBef>
              <a:spcAft>
                <a:spcPts val="0"/>
              </a:spcAft>
              <a:defRPr sz="1596" b="0">
                <a:solidFill>
                  <a:srgbClr val="333333"/>
                </a:solidFill>
                <a:latin typeface="微软雅黑"/>
              </a:defRPr>
            </a:pPr>
            <a:r>
              <a:rPr>
                <a:ea typeface="微软雅黑"/>
              </a:rPr>
              <a:t>过量盐酸酸化</a:t>
            </a:r>
          </a:p>
        </p:txBody>
      </p:sp>
      <p:sp>
        <p:nvSpPr>
          <p:cNvPr id="12" name="原题文字_339_16"/>
          <p:cNvSpPr txBox="1"/>
          <p:nvPr/>
        </p:nvSpPr>
        <p:spPr>
          <a:xfrm>
            <a:off x="3328321" y="3025589"/>
            <a:ext cx="72101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溶液X</a:t>
            </a:r>
          </a:p>
        </p:txBody>
      </p:sp>
      <p:sp>
        <p:nvSpPr>
          <p:cNvPr id="13" name="原题文字_339_17"/>
          <p:cNvSpPr txBox="1"/>
          <p:nvPr/>
        </p:nvSpPr>
        <p:spPr>
          <a:xfrm>
            <a:off x="5472256" y="3048560"/>
            <a:ext cx="66741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溶液甲</a:t>
            </a:r>
          </a:p>
        </p:txBody>
      </p:sp>
      <p:sp>
        <p:nvSpPr>
          <p:cNvPr id="14" name="原题文字_339_18"/>
          <p:cNvSpPr txBox="1"/>
          <p:nvPr/>
        </p:nvSpPr>
        <p:spPr>
          <a:xfrm>
            <a:off x="7478368" y="3040903"/>
            <a:ext cx="1195744" cy="378251"/>
          </a:xfrm>
          <a:prstGeom prst="rect">
            <a:avLst/>
          </a:prstGeom>
          <a:noFill/>
        </p:spPr>
        <p:txBody>
          <a:bodyPr wrap="none" lIns="0" rIns="0" tIns="0" bIns="0">
            <a:spAutoFit/>
          </a:bodyPr>
          <a:lstStyle/>
          <a:p>
            <a:pPr>
              <a:lnSpc>
                <a:spcPct val="112000"/>
              </a:lnSpc>
              <a:spcBef>
                <a:spcPts val="0"/>
              </a:spcBef>
              <a:spcAft>
                <a:spcPts val="0"/>
              </a:spcAft>
              <a:defRPr sz="1687" b="0">
                <a:solidFill>
                  <a:srgbClr val="333333"/>
                </a:solidFill>
                <a:latin typeface="微软雅黑"/>
              </a:defRPr>
            </a:pPr>
            <a:r>
              <a:rPr>
                <a:ea typeface="微软雅黑"/>
              </a:rPr>
              <a:t>沉淀乙4.66g</a:t>
            </a:r>
          </a:p>
        </p:txBody>
      </p:sp>
      <p:sp>
        <p:nvSpPr>
          <p:cNvPr id="15" name="原题文字_339_19"/>
          <p:cNvSpPr txBox="1"/>
          <p:nvPr/>
        </p:nvSpPr>
        <p:spPr>
          <a:xfrm>
            <a:off x="4346690" y="3270610"/>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Δ</a:t>
            </a:r>
          </a:p>
        </p:txBody>
      </p:sp>
      <p:sp>
        <p:nvSpPr>
          <p:cNvPr id="16" name="原题文字_339_20"/>
          <p:cNvSpPr txBox="1"/>
          <p:nvPr/>
        </p:nvSpPr>
        <p:spPr>
          <a:xfrm>
            <a:off x="6222634" y="3224669"/>
            <a:ext cx="1195744" cy="348389"/>
          </a:xfrm>
          <a:prstGeom prst="rect">
            <a:avLst/>
          </a:prstGeom>
          <a:noFill/>
        </p:spPr>
        <p:txBody>
          <a:bodyPr wrap="none" lIns="0" rIns="0" tIns="0" bIns="0">
            <a:spAutoFit/>
          </a:bodyPr>
          <a:lstStyle/>
          <a:p>
            <a:pPr>
              <a:lnSpc>
                <a:spcPct val="112000"/>
              </a:lnSpc>
              <a:spcBef>
                <a:spcPts val="0"/>
              </a:spcBef>
              <a:spcAft>
                <a:spcPts val="0"/>
              </a:spcAft>
              <a:defRPr sz="1561" b="0">
                <a:solidFill>
                  <a:srgbClr val="333333"/>
                </a:solidFill>
                <a:latin typeface="微软雅黑"/>
              </a:defRPr>
            </a:pPr>
            <a:r>
              <a:rPr>
                <a:ea typeface="微软雅黑"/>
              </a:rPr>
              <a:t>的 BaCl₂溶液</a:t>
            </a:r>
          </a:p>
        </p:txBody>
      </p:sp>
      <p:sp>
        <p:nvSpPr>
          <p:cNvPr id="17" name="原题文字_339_21"/>
          <p:cNvSpPr txBox="1"/>
          <p:nvPr/>
        </p:nvSpPr>
        <p:spPr>
          <a:xfrm>
            <a:off x="6467655" y="3546259"/>
            <a:ext cx="636789" cy="408113"/>
          </a:xfrm>
          <a:prstGeom prst="rect">
            <a:avLst/>
          </a:prstGeom>
          <a:noFill/>
        </p:spPr>
        <p:txBody>
          <a:bodyPr wrap="none" lIns="0" rIns="0" tIns="0" bIns="0">
            <a:spAutoFit/>
          </a:bodyPr>
          <a:lstStyle/>
          <a:p>
            <a:pPr>
              <a:lnSpc>
                <a:spcPct val="112000"/>
              </a:lnSpc>
              <a:spcBef>
                <a:spcPts val="0"/>
              </a:spcBef>
              <a:spcAft>
                <a:spcPts val="0"/>
              </a:spcAft>
              <a:defRPr sz="1670" b="0">
                <a:solidFill>
                  <a:srgbClr val="333333"/>
                </a:solidFill>
                <a:latin typeface="微软雅黑"/>
              </a:defRPr>
            </a:pPr>
            <a:r>
              <a:rPr>
                <a:ea typeface="微软雅黑"/>
              </a:rPr>
              <a:t>过滤、</a:t>
            </a:r>
          </a:p>
        </p:txBody>
      </p:sp>
      <p:sp>
        <p:nvSpPr>
          <p:cNvPr id="18" name="原题文字_339_22"/>
          <p:cNvSpPr txBox="1"/>
          <p:nvPr/>
        </p:nvSpPr>
        <p:spPr>
          <a:xfrm>
            <a:off x="5464599" y="3668770"/>
            <a:ext cx="69804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沉淀甲</a:t>
            </a:r>
          </a:p>
        </p:txBody>
      </p:sp>
      <p:sp>
        <p:nvSpPr>
          <p:cNvPr id="19" name="原题文字_339_23"/>
          <p:cNvSpPr txBox="1"/>
          <p:nvPr/>
        </p:nvSpPr>
        <p:spPr>
          <a:xfrm>
            <a:off x="7478368" y="3684083"/>
            <a:ext cx="1126831" cy="418067"/>
          </a:xfrm>
          <a:prstGeom prst="rect">
            <a:avLst/>
          </a:prstGeom>
          <a:noFill/>
        </p:spPr>
        <p:txBody>
          <a:bodyPr wrap="none" lIns="0" rIns="0" tIns="0" bIns="0">
            <a:spAutoFit/>
          </a:bodyPr>
          <a:lstStyle/>
          <a:p>
            <a:pPr>
              <a:lnSpc>
                <a:spcPct val="112000"/>
              </a:lnSpc>
              <a:spcBef>
                <a:spcPts val="0"/>
              </a:spcBef>
              <a:spcAft>
                <a:spcPts val="0"/>
              </a:spcAft>
              <a:defRPr sz="1765" b="0">
                <a:solidFill>
                  <a:srgbClr val="333333"/>
                </a:solidFill>
                <a:latin typeface="微软雅黑"/>
              </a:defRPr>
            </a:pPr>
            <a:r>
              <a:rPr>
                <a:ea typeface="微软雅黑"/>
              </a:rPr>
              <a:t>固体乙0.8g</a:t>
            </a:r>
          </a:p>
        </p:txBody>
      </p:sp>
      <p:sp>
        <p:nvSpPr>
          <p:cNvPr id="20" name="原题文字_339_24"/>
          <p:cNvSpPr txBox="1"/>
          <p:nvPr/>
        </p:nvSpPr>
        <p:spPr>
          <a:xfrm>
            <a:off x="6306860" y="3867849"/>
            <a:ext cx="105791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洗涤、灼烧</a:t>
            </a:r>
          </a:p>
        </p:txBody>
      </p:sp>
      <p:sp>
        <p:nvSpPr>
          <p:cNvPr id="21" name="文字_A. NH₄⁺、SO₄²⁻一定存在，CO₃²⁻可"/>
          <p:cNvSpPr txBox="1"/>
          <p:nvPr/>
        </p:nvSpPr>
        <p:spPr>
          <a:xfrm>
            <a:off x="502920" y="425367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NH₄⁺、SO₄²⁻一定存在，CO₃²⁻可能存在</a:t>
            </a:r>
          </a:p>
        </p:txBody>
      </p:sp>
      <p:sp>
        <p:nvSpPr>
          <p:cNvPr id="22" name="文字_B. 该溶液中只存在上述离子中的Cl-、SO₄²"/>
          <p:cNvSpPr txBox="1"/>
          <p:nvPr/>
        </p:nvSpPr>
        <p:spPr>
          <a:xfrm>
            <a:off x="502920" y="469259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该溶液中只存在上述离子中的Cl-、SO₄²⁻、NH₄⁺、Mg²⁺</a:t>
            </a:r>
          </a:p>
        </p:txBody>
      </p:sp>
      <p:sp>
        <p:nvSpPr>
          <p:cNvPr id="23" name="文字_C. 不能确定溶液中是否有 NO₃⁻"/>
          <p:cNvSpPr txBox="1"/>
          <p:nvPr/>
        </p:nvSpPr>
        <p:spPr>
          <a:xfrm>
            <a:off x="502920" y="513150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不能确定溶液中是否有 NO₃⁻</a:t>
            </a:r>
          </a:p>
        </p:txBody>
      </p:sp>
      <p:sp>
        <p:nvSpPr>
          <p:cNvPr id="24" name="文字_D. 为进一步确定溶液中有无 Na+ 可通过焰色"/>
          <p:cNvSpPr txBox="1"/>
          <p:nvPr/>
        </p:nvSpPr>
        <p:spPr>
          <a:xfrm>
            <a:off x="502920" y="557041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为进一步确定溶液中有无 Na+ 可通过焰色反应</a:t>
            </a:r>
          </a:p>
        </p:txBody>
      </p:sp>
      <p:sp>
        <p:nvSpPr>
          <p:cNvPr id="25" name="文字_单选题  ·  16-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16-012</a:t>
            </a:r>
          </a:p>
        </p:txBody>
      </p:sp>
      <p:sp>
        <p:nvSpPr>
          <p:cNvPr id="26"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检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检测题7</a:t>
            </a:r>
          </a:p>
        </p:txBody>
      </p:sp>
      <p:sp>
        <p:nvSpPr>
          <p:cNvPr id="5" name="文字_P339–3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P339–340</a:t>
            </a:r>
          </a:p>
        </p:txBody>
      </p:sp>
      <p:sp>
        <p:nvSpPr>
          <p:cNvPr id="6" name="文字_某试样溶液中可能含有NH+、Na+、Fe²⁺、M"/>
          <p:cNvSpPr txBox="1"/>
          <p:nvPr/>
        </p:nvSpPr>
        <p:spPr>
          <a:xfrm>
            <a:off x="502920" y="1078992"/>
            <a:ext cx="11064240" cy="634619"/>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某试样溶液中可能含有NH+、Na+、Fe²⁺、Mg²⁺、SO₂⁻、CO₂⁻、Cl-、NO₃，且阴离子的物质的量</a:t>
            </a:r>
          </a:p>
          <a:p>
            <a:pPr>
              <a:lnSpc>
                <a:spcPct val="112000"/>
              </a:lnSpc>
              <a:spcBef>
                <a:spcPts val="0"/>
              </a:spcBef>
              <a:spcAft>
                <a:spcPts val="0"/>
              </a:spcAft>
              <a:defRPr sz="1900" b="0">
                <a:solidFill>
                  <a:srgbClr val="333333"/>
                </a:solidFill>
                <a:latin typeface="微软雅黑"/>
              </a:defRPr>
            </a:pPr>
            <a:r>
              <a:rPr>
                <a:ea typeface="微软雅黑"/>
              </a:rPr>
              <a:t>浓度相等。某同学利用该试样溶液进行实验，现象如下。下列说法正确的是</a:t>
            </a:r>
          </a:p>
        </p:txBody>
      </p:sp>
      <p:pic>
        <p:nvPicPr>
          <p:cNvPr id="7" name="Picture 6" descr="image.png"/>
          <p:cNvPicPr>
            <a:picLocks noChangeAspect="1"/>
          </p:cNvPicPr>
          <p:nvPr/>
        </p:nvPicPr>
        <p:blipFill>
          <a:blip r:embed="rId3"/>
          <a:stretch>
            <a:fillRect/>
          </a:stretch>
        </p:blipFill>
        <p:spPr>
          <a:xfrm>
            <a:off x="502920" y="1713610"/>
            <a:ext cx="11064240" cy="2327701"/>
          </a:xfrm>
          <a:prstGeom prst="rect">
            <a:avLst/>
          </a:prstGeom>
        </p:spPr>
      </p:pic>
      <p:sp>
        <p:nvSpPr>
          <p:cNvPr id="8" name="原题文字_339_34"/>
          <p:cNvSpPr txBox="1"/>
          <p:nvPr/>
        </p:nvSpPr>
        <p:spPr>
          <a:xfrm>
            <a:off x="3749451" y="1745494"/>
            <a:ext cx="3194198" cy="418067"/>
          </a:xfrm>
          <a:prstGeom prst="rect">
            <a:avLst/>
          </a:prstGeom>
          <a:noFill/>
        </p:spPr>
        <p:txBody>
          <a:bodyPr wrap="none" lIns="0" rIns="0" tIns="0" bIns="0">
            <a:spAutoFit/>
          </a:bodyPr>
          <a:lstStyle/>
          <a:p>
            <a:pPr>
              <a:lnSpc>
                <a:spcPct val="112000"/>
              </a:lnSpc>
              <a:spcBef>
                <a:spcPts val="0"/>
              </a:spcBef>
              <a:spcAft>
                <a:spcPts val="0"/>
              </a:spcAft>
              <a:defRPr sz="2004" b="0">
                <a:solidFill>
                  <a:srgbClr val="333333"/>
                </a:solidFill>
                <a:latin typeface="微软雅黑"/>
              </a:defRPr>
            </a:pPr>
            <a:r>
              <a:rPr>
                <a:ea typeface="微软雅黑"/>
              </a:rPr>
              <a:t>→ 气体X(0.224L、标准状况)</a:t>
            </a:r>
          </a:p>
        </p:txBody>
      </p:sp>
      <p:sp>
        <p:nvSpPr>
          <p:cNvPr id="9" name="原题文字_339_35"/>
          <p:cNvSpPr txBox="1"/>
          <p:nvPr/>
        </p:nvSpPr>
        <p:spPr>
          <a:xfrm>
            <a:off x="7409455" y="2021143"/>
            <a:ext cx="2895578" cy="428021"/>
          </a:xfrm>
          <a:prstGeom prst="rect">
            <a:avLst/>
          </a:prstGeom>
          <a:noFill/>
        </p:spPr>
        <p:txBody>
          <a:bodyPr wrap="none" lIns="0" rIns="0" tIns="0" bIns="0">
            <a:spAutoFit/>
          </a:bodyPr>
          <a:lstStyle/>
          <a:p>
            <a:pPr>
              <a:lnSpc>
                <a:spcPct val="112000"/>
              </a:lnSpc>
              <a:spcBef>
                <a:spcPts val="0"/>
              </a:spcBef>
              <a:spcAft>
                <a:spcPts val="0"/>
              </a:spcAft>
              <a:defRPr sz="2018" b="0">
                <a:solidFill>
                  <a:srgbClr val="333333"/>
                </a:solidFill>
                <a:latin typeface="微软雅黑"/>
              </a:defRPr>
            </a:pPr>
            <a:r>
              <a:rPr>
                <a:ea typeface="微软雅黑"/>
              </a:rPr>
              <a:t>气体Y(0.224L、标准状况)</a:t>
            </a:r>
          </a:p>
        </p:txBody>
      </p:sp>
      <p:sp>
        <p:nvSpPr>
          <p:cNvPr id="10" name="原题文字_339_36"/>
          <p:cNvSpPr txBox="1"/>
          <p:nvPr/>
        </p:nvSpPr>
        <p:spPr>
          <a:xfrm>
            <a:off x="694342" y="2128340"/>
            <a:ext cx="667417"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试样</a:t>
            </a:r>
          </a:p>
        </p:txBody>
      </p:sp>
      <p:sp>
        <p:nvSpPr>
          <p:cNvPr id="11" name="原题文字_339_37"/>
          <p:cNvSpPr txBox="1"/>
          <p:nvPr/>
        </p:nvSpPr>
        <p:spPr>
          <a:xfrm>
            <a:off x="1414092" y="2273821"/>
            <a:ext cx="1884866" cy="467837"/>
          </a:xfrm>
          <a:prstGeom prst="rect">
            <a:avLst/>
          </a:prstGeom>
          <a:noFill/>
        </p:spPr>
        <p:txBody>
          <a:bodyPr wrap="none" lIns="0" rIns="0" tIns="0" bIns="0">
            <a:spAutoFit/>
          </a:bodyPr>
          <a:lstStyle/>
          <a:p>
            <a:pPr>
              <a:lnSpc>
                <a:spcPct val="112000"/>
              </a:lnSpc>
              <a:spcBef>
                <a:spcPts val="0"/>
              </a:spcBef>
              <a:spcAft>
                <a:spcPts val="0"/>
              </a:spcAft>
              <a:defRPr sz="1860" b="0">
                <a:solidFill>
                  <a:srgbClr val="333333"/>
                </a:solidFill>
                <a:latin typeface="微软雅黑"/>
              </a:defRPr>
            </a:pPr>
            <a:r>
              <a:rPr>
                <a:ea typeface="微软雅黑"/>
              </a:rPr>
              <a:t>过量Ba(OH)₂(aq)</a:t>
            </a:r>
          </a:p>
        </p:txBody>
      </p:sp>
      <p:sp>
        <p:nvSpPr>
          <p:cNvPr id="12" name="原题文字_339_38"/>
          <p:cNvSpPr txBox="1"/>
          <p:nvPr/>
        </p:nvSpPr>
        <p:spPr>
          <a:xfrm>
            <a:off x="5403344" y="2273821"/>
            <a:ext cx="1348882"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足量稀盐酸</a:t>
            </a:r>
          </a:p>
        </p:txBody>
      </p:sp>
      <p:sp>
        <p:nvSpPr>
          <p:cNvPr id="13" name="原题文字_339_39"/>
          <p:cNvSpPr txBox="1"/>
          <p:nvPr/>
        </p:nvSpPr>
        <p:spPr>
          <a:xfrm>
            <a:off x="679029" y="2426960"/>
            <a:ext cx="682730"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溶液</a:t>
            </a:r>
          </a:p>
        </p:txBody>
      </p:sp>
      <p:sp>
        <p:nvSpPr>
          <p:cNvPr id="14" name="原题文字_339_40"/>
          <p:cNvSpPr txBox="1"/>
          <p:nvPr/>
        </p:nvSpPr>
        <p:spPr>
          <a:xfrm>
            <a:off x="3757108" y="2480558"/>
            <a:ext cx="1586246"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 白色沉淀A</a:t>
            </a:r>
          </a:p>
        </p:txBody>
      </p:sp>
      <p:sp>
        <p:nvSpPr>
          <p:cNvPr id="15" name="原题文字_339_41"/>
          <p:cNvSpPr txBox="1"/>
          <p:nvPr/>
        </p:nvSpPr>
        <p:spPr>
          <a:xfrm>
            <a:off x="7156777" y="2495872"/>
            <a:ext cx="1831267" cy="437975"/>
          </a:xfrm>
          <a:prstGeom prst="rect">
            <a:avLst/>
          </a:prstGeom>
          <a:noFill/>
        </p:spPr>
        <p:txBody>
          <a:bodyPr wrap="none" lIns="0" rIns="0" tIns="0" bIns="0">
            <a:spAutoFit/>
          </a:bodyPr>
          <a:lstStyle/>
          <a:p>
            <a:pPr>
              <a:lnSpc>
                <a:spcPct val="112000"/>
              </a:lnSpc>
              <a:spcBef>
                <a:spcPts val="0"/>
              </a:spcBef>
              <a:spcAft>
                <a:spcPts val="0"/>
              </a:spcAft>
              <a:defRPr sz="2003" b="0">
                <a:solidFill>
                  <a:srgbClr val="333333"/>
                </a:solidFill>
                <a:latin typeface="微软雅黑"/>
              </a:defRPr>
            </a:pPr>
            <a:r>
              <a:rPr>
                <a:ea typeface="微软雅黑"/>
              </a:rPr>
              <a:t>→沉淀B(2.33 g)</a:t>
            </a:r>
          </a:p>
        </p:txBody>
      </p:sp>
      <p:sp>
        <p:nvSpPr>
          <p:cNvPr id="16" name="原题文字_339_42"/>
          <p:cNvSpPr txBox="1"/>
          <p:nvPr/>
        </p:nvSpPr>
        <p:spPr>
          <a:xfrm>
            <a:off x="571832" y="2756207"/>
            <a:ext cx="92009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100 mL</a:t>
            </a:r>
          </a:p>
        </p:txBody>
      </p:sp>
      <p:sp>
        <p:nvSpPr>
          <p:cNvPr id="17" name="原题文字_339_43"/>
          <p:cNvSpPr txBox="1"/>
          <p:nvPr/>
        </p:nvSpPr>
        <p:spPr>
          <a:xfrm>
            <a:off x="7149120" y="2894031"/>
            <a:ext cx="1103861" cy="487745"/>
          </a:xfrm>
          <a:prstGeom prst="rect">
            <a:avLst/>
          </a:prstGeom>
          <a:noFill/>
        </p:spPr>
        <p:txBody>
          <a:bodyPr wrap="none" lIns="0" rIns="0" tIns="0" bIns="0">
            <a:spAutoFit/>
          </a:bodyPr>
          <a:lstStyle/>
          <a:p>
            <a:pPr>
              <a:lnSpc>
                <a:spcPct val="112000"/>
              </a:lnSpc>
              <a:spcBef>
                <a:spcPts val="0"/>
              </a:spcBef>
              <a:spcAft>
                <a:spcPts val="0"/>
              </a:spcAft>
              <a:defRPr sz="2363" b="0">
                <a:solidFill>
                  <a:srgbClr val="333333"/>
                </a:solidFill>
                <a:latin typeface="微软雅黑"/>
              </a:defRPr>
            </a:pPr>
            <a:r>
              <a:rPr>
                <a:ea typeface="微软雅黑"/>
              </a:rPr>
              <a:t>滤液N</a:t>
            </a:r>
          </a:p>
        </p:txBody>
      </p:sp>
      <p:sp>
        <p:nvSpPr>
          <p:cNvPr id="18" name="原题文字_339_44"/>
          <p:cNvSpPr txBox="1"/>
          <p:nvPr/>
        </p:nvSpPr>
        <p:spPr>
          <a:xfrm>
            <a:off x="4836733" y="3169680"/>
            <a:ext cx="1593903" cy="428021"/>
          </a:xfrm>
          <a:prstGeom prst="rect">
            <a:avLst/>
          </a:prstGeom>
          <a:noFill/>
        </p:spPr>
        <p:txBody>
          <a:bodyPr wrap="none" lIns="0" rIns="0" tIns="0" bIns="0">
            <a:spAutoFit/>
          </a:bodyPr>
          <a:lstStyle/>
          <a:p>
            <a:pPr>
              <a:lnSpc>
                <a:spcPct val="112000"/>
              </a:lnSpc>
              <a:spcBef>
                <a:spcPts val="0"/>
              </a:spcBef>
              <a:spcAft>
                <a:spcPts val="0"/>
              </a:spcAft>
              <a:defRPr sz="1953" b="0">
                <a:solidFill>
                  <a:srgbClr val="333333"/>
                </a:solidFill>
                <a:latin typeface="微软雅黑"/>
              </a:defRPr>
            </a:pPr>
            <a:r>
              <a:rPr>
                <a:ea typeface="微软雅黑"/>
              </a:rPr>
              <a:t>H+(足量)、Cu</a:t>
            </a:r>
          </a:p>
        </p:txBody>
      </p:sp>
      <p:sp>
        <p:nvSpPr>
          <p:cNvPr id="19" name="原题文字_339_45"/>
          <p:cNvSpPr txBox="1"/>
          <p:nvPr/>
        </p:nvSpPr>
        <p:spPr>
          <a:xfrm>
            <a:off x="3749451" y="3307505"/>
            <a:ext cx="1203401"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→滤液M</a:t>
            </a:r>
          </a:p>
        </p:txBody>
      </p:sp>
      <p:sp>
        <p:nvSpPr>
          <p:cNvPr id="20" name="原题文字_339_46"/>
          <p:cNvSpPr txBox="1"/>
          <p:nvPr/>
        </p:nvSpPr>
        <p:spPr>
          <a:xfrm>
            <a:off x="6337488" y="3368760"/>
            <a:ext cx="2734783"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→试管口出现红棕色气体</a:t>
            </a:r>
          </a:p>
        </p:txBody>
      </p:sp>
      <p:sp>
        <p:nvSpPr>
          <p:cNvPr id="21" name="原题文字_339_47"/>
          <p:cNvSpPr txBox="1"/>
          <p:nvPr/>
        </p:nvSpPr>
        <p:spPr>
          <a:xfrm>
            <a:off x="556518" y="3652066"/>
            <a:ext cx="4526501" cy="447929"/>
          </a:xfrm>
          <a:prstGeom prst="rect">
            <a:avLst/>
          </a:prstGeom>
          <a:noFill/>
        </p:spPr>
        <p:txBody>
          <a:bodyPr wrap="none" lIns="0" rIns="0" tIns="0" bIns="0">
            <a:spAutoFit/>
          </a:bodyPr>
          <a:lstStyle/>
          <a:p>
            <a:pPr>
              <a:lnSpc>
                <a:spcPct val="112000"/>
              </a:lnSpc>
              <a:spcBef>
                <a:spcPts val="0"/>
              </a:spcBef>
              <a:spcAft>
                <a:spcPts val="0"/>
              </a:spcAft>
              <a:defRPr sz="1678" b="0">
                <a:solidFill>
                  <a:srgbClr val="333333"/>
                </a:solidFill>
                <a:latin typeface="微软雅黑"/>
              </a:defRPr>
            </a:pPr>
            <a:r>
              <a:rPr>
                <a:ea typeface="微软雅黑"/>
              </a:rPr>
              <a:t>A. 试样中肯定存在NH+、Mg²⁺、SO₂⁻和NO₃</a:t>
            </a:r>
          </a:p>
        </p:txBody>
      </p:sp>
      <p:sp>
        <p:nvSpPr>
          <p:cNvPr id="22" name="文字_B. 该实验滤液M在酸性条件下与铜片的反应中，还"/>
          <p:cNvSpPr txBox="1"/>
          <p:nvPr/>
        </p:nvSpPr>
        <p:spPr>
          <a:xfrm>
            <a:off x="502920" y="4114464"/>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B. 该实验滤液M在酸性条件下与铜片的反应中，还原产物是NO₂</a:t>
            </a:r>
          </a:p>
        </p:txBody>
      </p:sp>
      <p:sp>
        <p:nvSpPr>
          <p:cNvPr id="23" name="文字_C. 该试样溶液中至少有5种离子存在，其中Na+"/>
          <p:cNvSpPr txBox="1"/>
          <p:nvPr/>
        </p:nvSpPr>
        <p:spPr>
          <a:xfrm>
            <a:off x="502920" y="4461936"/>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C. 该试样溶液中至少有5种离子存在，其中Na+一定存在，且C (Na+) = 0.4mol·L-1</a:t>
            </a:r>
          </a:p>
        </p:txBody>
      </p:sp>
      <p:sp>
        <p:nvSpPr>
          <p:cNvPr id="24" name="文字_D. 将上述实验产生的气体Y全部通入10mL₁m"/>
          <p:cNvSpPr txBox="1"/>
          <p:nvPr/>
        </p:nvSpPr>
        <p:spPr>
          <a:xfrm>
            <a:off x="502920" y="4809408"/>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D. 将上述实验产生的气体Y全部通入10mL₁mol·L-1的NaOH溶液中，所得溶液中的阴离子主要为HCO₃</a:t>
            </a:r>
          </a:p>
        </p:txBody>
      </p:sp>
      <p:sp>
        <p:nvSpPr>
          <p:cNvPr id="25" name="文字_无机推断"/>
          <p:cNvSpPr txBox="1"/>
          <p:nvPr/>
        </p:nvSpPr>
        <p:spPr>
          <a:xfrm>
            <a:off x="502920" y="5156880"/>
            <a:ext cx="11064240" cy="347472"/>
          </a:xfrm>
          <a:prstGeom prst="rect">
            <a:avLst/>
          </a:prstGeom>
          <a:noFill/>
        </p:spPr>
        <p:txBody>
          <a:bodyPr wrap="square" lIns="0" rIns="0" tIns="0" bIns="0">
            <a:spAutoFit/>
          </a:bodyPr>
          <a:lstStyle/>
          <a:p>
            <a:pPr>
              <a:lnSpc>
                <a:spcPct val="112000"/>
              </a:lnSpc>
              <a:spcBef>
                <a:spcPts val="0"/>
              </a:spcBef>
              <a:spcAft>
                <a:spcPts val="0"/>
              </a:spcAft>
              <a:defRPr sz="1900" b="0">
                <a:solidFill>
                  <a:srgbClr val="333333"/>
                </a:solidFill>
                <a:latin typeface="微软雅黑"/>
              </a:defRPr>
            </a:pPr>
            <a:r>
              <a:rPr>
                <a:ea typeface="微软雅黑"/>
              </a:rPr>
              <a:t>无机推断</a:t>
            </a:r>
          </a:p>
        </p:txBody>
      </p:sp>
      <p:pic>
        <p:nvPicPr>
          <p:cNvPr id="26" name="Picture 25" descr="image.png"/>
          <p:cNvPicPr>
            <a:picLocks noChangeAspect="1"/>
          </p:cNvPicPr>
          <p:nvPr/>
        </p:nvPicPr>
        <p:blipFill>
          <a:blip r:embed="rId4"/>
          <a:stretch>
            <a:fillRect/>
          </a:stretch>
        </p:blipFill>
        <p:spPr>
          <a:xfrm>
            <a:off x="502920" y="5504352"/>
            <a:ext cx="11064240" cy="689122"/>
          </a:xfrm>
          <a:prstGeom prst="rect">
            <a:avLst/>
          </a:prstGeom>
        </p:spPr>
      </p:pic>
      <p:sp>
        <p:nvSpPr>
          <p:cNvPr id="27" name="原题文字_340_1"/>
          <p:cNvSpPr txBox="1"/>
          <p:nvPr/>
        </p:nvSpPr>
        <p:spPr>
          <a:xfrm>
            <a:off x="1819909" y="5666403"/>
            <a:ext cx="1371853"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定性推断</a:t>
            </a:r>
          </a:p>
        </p:txBody>
      </p:sp>
      <p:sp>
        <p:nvSpPr>
          <p:cNvPr id="28" name="文字_单选题  ·  16-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16-013</a:t>
            </a:r>
          </a:p>
        </p:txBody>
      </p:sp>
      <p:sp>
        <p:nvSpPr>
          <p:cNvPr id="29"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无机推断的常见突破口"/>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无机推断的常见突破口</a:t>
            </a:r>
          </a:p>
        </p:txBody>
      </p:sp>
      <p:sp>
        <p:nvSpPr>
          <p:cNvPr id="5" name="文字_知识梳理 · 讲义 P340"/>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无机推断的常见突破口"/>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无机推断的常见突破口</a:t>
            </a:r>
          </a:p>
        </p:txBody>
      </p:sp>
      <p:sp>
        <p:nvSpPr>
          <p:cNvPr id="5" name="文字_知识讲解 · P340"/>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P340</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物质颜色：淡黄色 Na₂O₂、S；红棕色 NO₂"/>
          <p:cNvSpPr txBox="1"/>
          <p:nvPr/>
        </p:nvSpPr>
        <p:spPr>
          <a:xfrm>
            <a:off x="722376" y="1773936"/>
            <a:ext cx="10908792" cy="77317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物质颜色：淡黄色 Na₂O₂、S；红棕色 NO₂、Fe₂O₃；黄绿色 Cl₂；蓝色 CuSO₄ </a:t>
            </a:r>
          </a:p>
          <a:p>
            <a:pPr>
              <a:lnSpc>
                <a:spcPct val="112000"/>
              </a:lnSpc>
              <a:spcBef>
                <a:spcPts val="0"/>
              </a:spcBef>
              <a:spcAft>
                <a:spcPts val="0"/>
              </a:spcAft>
              <a:defRPr sz="2200" b="0">
                <a:solidFill>
                  <a:srgbClr val="333333"/>
                </a:solidFill>
                <a:latin typeface="微软雅黑"/>
              </a:defRPr>
            </a:pPr>
            <a:r>
              <a:rPr>
                <a:ea typeface="微软雅黑"/>
              </a:rPr>
              <a:t>溶液。</a:t>
            </a:r>
          </a:p>
        </p:txBody>
      </p:sp>
      <p:sp>
        <p:nvSpPr>
          <p:cNvPr id="8" name="Rectangle 7"/>
          <p:cNvSpPr/>
          <p:nvPr/>
        </p:nvSpPr>
        <p:spPr>
          <a:xfrm>
            <a:off x="512064" y="274828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特殊反应：置换出金属（铝热反应）、遇酚酞先红后褪"/>
          <p:cNvSpPr txBox="1"/>
          <p:nvPr/>
        </p:nvSpPr>
        <p:spPr>
          <a:xfrm>
            <a:off x="722376" y="2665984"/>
            <a:ext cx="10908792" cy="77317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特殊反应：置换出金属（铝热反应）、遇酚酞先红后褪（Na₂O₂）、喷泉实验（NH₃</a:t>
            </a:r>
          </a:p>
          <a:p>
            <a:pPr>
              <a:lnSpc>
                <a:spcPct val="112000"/>
              </a:lnSpc>
              <a:spcBef>
                <a:spcPts val="0"/>
              </a:spcBef>
              <a:spcAft>
                <a:spcPts val="0"/>
              </a:spcAft>
              <a:defRPr sz="2200" b="0">
                <a:solidFill>
                  <a:srgbClr val="333333"/>
                </a:solidFill>
                <a:latin typeface="微软雅黑"/>
              </a:defRPr>
            </a:pPr>
            <a:r>
              <a:rPr>
                <a:ea typeface="微软雅黑"/>
              </a:rPr>
              <a:t>、HCl）。</a:t>
            </a:r>
          </a:p>
        </p:txBody>
      </p:sp>
      <p:sp>
        <p:nvSpPr>
          <p:cNvPr id="10" name="Rectangle 9"/>
          <p:cNvSpPr/>
          <p:nvPr/>
        </p:nvSpPr>
        <p:spPr>
          <a:xfrm>
            <a:off x="512064" y="3640327"/>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转化特征：A → B → C 连续氧化（S → "/>
          <p:cNvSpPr txBox="1"/>
          <p:nvPr/>
        </p:nvSpPr>
        <p:spPr>
          <a:xfrm>
            <a:off x="722376" y="3558032"/>
            <a:ext cx="10908792" cy="77317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转化特征：A → B → C 连续氧化（S → SO₂ → SO₃；N₂ → NO → NO₂ → HNO₃</a:t>
            </a:r>
          </a:p>
          <a:p>
            <a:pPr>
              <a:lnSpc>
                <a:spcPct val="112000"/>
              </a:lnSpc>
              <a:spcBef>
                <a:spcPts val="0"/>
              </a:spcBef>
              <a:spcAft>
                <a:spcPts val="0"/>
              </a:spcAft>
              <a:defRPr sz="2200" b="0">
                <a:solidFill>
                  <a:srgbClr val="333333"/>
                </a:solidFill>
                <a:latin typeface="微软雅黑"/>
              </a:defRPr>
            </a:pPr>
            <a:r>
              <a:rPr>
                <a:ea typeface="微软雅黑"/>
              </a:rPr>
              <a:t>）。</a:t>
            </a:r>
          </a:p>
        </p:txBody>
      </p:sp>
      <p:sp>
        <p:nvSpPr>
          <p:cNvPr id="12" name="Rectangle 11"/>
          <p:cNvSpPr/>
          <p:nvPr/>
        </p:nvSpPr>
        <p:spPr>
          <a:xfrm>
            <a:off x="512064" y="4532375"/>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元素循环：同一元素不同价态的转化（铁三角、硫三角"/>
          <p:cNvSpPr txBox="1"/>
          <p:nvPr/>
        </p:nvSpPr>
        <p:spPr>
          <a:xfrm>
            <a:off x="722376" y="4450080"/>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元素循环：同一元素不同价态的转化（铁三角、硫三角、氮三角）。</a:t>
            </a:r>
          </a:p>
        </p:txBody>
      </p:sp>
      <p:sp>
        <p:nvSpPr>
          <p:cNvPr id="14" name="Rectangle 13"/>
          <p:cNvSpPr/>
          <p:nvPr/>
        </p:nvSpPr>
        <p:spPr>
          <a:xfrm>
            <a:off x="512064" y="50835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特殊条件：高温（高炉炼铁）、催化剂（氨氧化、SO"/>
          <p:cNvSpPr txBox="1"/>
          <p:nvPr/>
        </p:nvSpPr>
        <p:spPr>
          <a:xfrm>
            <a:off x="722376" y="5001260"/>
            <a:ext cx="10908792" cy="432307"/>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特殊条件：高温（高炉炼铁）、催化剂（氨氧化、SO₂ 氧化）、电解（冶钠、铝）。</a:t>
            </a:r>
          </a:p>
        </p:txBody>
      </p:sp>
      <p:sp>
        <p:nvSpPr>
          <p:cNvPr id="16" name="Rectangle 15"/>
          <p:cNvSpPr/>
          <p:nvPr/>
        </p:nvSpPr>
        <p:spPr>
          <a:xfrm>
            <a:off x="493776" y="5598160"/>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推断题先找&quot;题眼&quot;，再顺推或逆推，最后代"/>
          <p:cNvSpPr txBox="1"/>
          <p:nvPr/>
        </p:nvSpPr>
        <p:spPr>
          <a:xfrm>
            <a:off x="630936" y="5657596"/>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推断题先找"题眼"，再顺推或逆推，最后代入验证全部条件。</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例题1</a:t>
            </a:r>
          </a:p>
        </p:txBody>
      </p:sp>
      <p:sp>
        <p:nvSpPr>
          <p:cNvPr id="5" name="文字_P3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P340</a:t>
            </a:r>
          </a:p>
        </p:txBody>
      </p:sp>
      <p:sp>
        <p:nvSpPr>
          <p:cNvPr id="6" name="文字_工业上以黄铁矿为原料制备硫酸的原理示意图如下。"/>
          <p:cNvSpPr txBox="1"/>
          <p:nvPr/>
        </p:nvSpPr>
        <p:spPr>
          <a:xfrm>
            <a:off x="502920" y="107899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工业上以黄铁矿为原料制备硫酸的原理示意图如下。</a:t>
            </a:r>
          </a:p>
        </p:txBody>
      </p:sp>
      <p:pic>
        <p:nvPicPr>
          <p:cNvPr id="7" name="Picture 6" descr="image.png"/>
          <p:cNvPicPr>
            <a:picLocks noChangeAspect="1"/>
          </p:cNvPicPr>
          <p:nvPr/>
        </p:nvPicPr>
        <p:blipFill>
          <a:blip r:embed="rId3"/>
          <a:stretch>
            <a:fillRect/>
          </a:stretch>
        </p:blipFill>
        <p:spPr>
          <a:xfrm>
            <a:off x="502920" y="1490472"/>
            <a:ext cx="11064240" cy="1493098"/>
          </a:xfrm>
          <a:prstGeom prst="rect">
            <a:avLst/>
          </a:prstGeom>
        </p:spPr>
      </p:pic>
      <p:sp>
        <p:nvSpPr>
          <p:cNvPr id="8" name="原题文字_340_7"/>
          <p:cNvSpPr txBox="1"/>
          <p:nvPr/>
        </p:nvSpPr>
        <p:spPr>
          <a:xfrm>
            <a:off x="2133842" y="1583611"/>
            <a:ext cx="38411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O₂</a:t>
            </a:r>
          </a:p>
        </p:txBody>
      </p:sp>
      <p:sp>
        <p:nvSpPr>
          <p:cNvPr id="9" name="原题文字_340_8"/>
          <p:cNvSpPr txBox="1"/>
          <p:nvPr/>
        </p:nvSpPr>
        <p:spPr>
          <a:xfrm>
            <a:off x="4767820" y="1591267"/>
            <a:ext cx="391768"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O₂</a:t>
            </a:r>
          </a:p>
        </p:txBody>
      </p:sp>
      <p:sp>
        <p:nvSpPr>
          <p:cNvPr id="10" name="原题文字_340_9"/>
          <p:cNvSpPr txBox="1"/>
          <p:nvPr/>
        </p:nvSpPr>
        <p:spPr>
          <a:xfrm>
            <a:off x="7141464" y="1522355"/>
            <a:ext cx="912438"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吸收剂</a:t>
            </a:r>
          </a:p>
        </p:txBody>
      </p:sp>
      <p:sp>
        <p:nvSpPr>
          <p:cNvPr id="11" name="原题文字_340_10"/>
          <p:cNvSpPr txBox="1"/>
          <p:nvPr/>
        </p:nvSpPr>
        <p:spPr>
          <a:xfrm>
            <a:off x="763255" y="1690807"/>
            <a:ext cx="904781"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黄铁矿</a:t>
            </a:r>
          </a:p>
        </p:txBody>
      </p:sp>
      <p:sp>
        <p:nvSpPr>
          <p:cNvPr id="12" name="原题文字_340_11"/>
          <p:cNvSpPr txBox="1"/>
          <p:nvPr/>
        </p:nvSpPr>
        <p:spPr>
          <a:xfrm>
            <a:off x="3113927" y="1721435"/>
            <a:ext cx="560220" cy="447929"/>
          </a:xfrm>
          <a:prstGeom prst="rect">
            <a:avLst/>
          </a:prstGeom>
          <a:noFill/>
        </p:spPr>
        <p:txBody>
          <a:bodyPr wrap="none" lIns="0" rIns="0" tIns="0" bIns="0">
            <a:spAutoFit/>
          </a:bodyPr>
          <a:lstStyle/>
          <a:p>
            <a:pPr>
              <a:lnSpc>
                <a:spcPct val="112000"/>
              </a:lnSpc>
              <a:spcBef>
                <a:spcPts val="0"/>
              </a:spcBef>
              <a:spcAft>
                <a:spcPts val="0"/>
              </a:spcAft>
              <a:defRPr sz="2092" b="0">
                <a:solidFill>
                  <a:srgbClr val="333333"/>
                </a:solidFill>
                <a:latin typeface="微软雅黑"/>
              </a:defRPr>
            </a:pPr>
            <a:r>
              <a:rPr>
                <a:ea typeface="微软雅黑"/>
              </a:rPr>
              <a:t>SO₂</a:t>
            </a:r>
          </a:p>
        </p:txBody>
      </p:sp>
      <p:sp>
        <p:nvSpPr>
          <p:cNvPr id="13" name="原题文字_340_12"/>
          <p:cNvSpPr txBox="1"/>
          <p:nvPr/>
        </p:nvSpPr>
        <p:spPr>
          <a:xfrm>
            <a:off x="6421714" y="1736749"/>
            <a:ext cx="583191" cy="487745"/>
          </a:xfrm>
          <a:prstGeom prst="rect">
            <a:avLst/>
          </a:prstGeom>
          <a:noFill/>
        </p:spPr>
        <p:txBody>
          <a:bodyPr wrap="none" lIns="0" rIns="0" tIns="0" bIns="0">
            <a:spAutoFit/>
          </a:bodyPr>
          <a:lstStyle/>
          <a:p>
            <a:pPr>
              <a:lnSpc>
                <a:spcPct val="112000"/>
              </a:lnSpc>
              <a:spcBef>
                <a:spcPts val="0"/>
              </a:spcBef>
              <a:spcAft>
                <a:spcPts val="0"/>
              </a:spcAft>
              <a:defRPr sz="2180" b="0">
                <a:solidFill>
                  <a:srgbClr val="333333"/>
                </a:solidFill>
                <a:latin typeface="微软雅黑"/>
              </a:defRPr>
            </a:pPr>
            <a:r>
              <a:rPr>
                <a:ea typeface="微软雅黑"/>
              </a:rPr>
              <a:t>SO₃</a:t>
            </a:r>
          </a:p>
        </p:txBody>
      </p:sp>
      <p:sp>
        <p:nvSpPr>
          <p:cNvPr id="14" name="原题文字_340_13"/>
          <p:cNvSpPr txBox="1"/>
          <p:nvPr/>
        </p:nvSpPr>
        <p:spPr>
          <a:xfrm>
            <a:off x="8205774" y="1759720"/>
            <a:ext cx="812898" cy="457883"/>
          </a:xfrm>
          <a:prstGeom prst="rect">
            <a:avLst/>
          </a:prstGeom>
          <a:noFill/>
        </p:spPr>
        <p:txBody>
          <a:bodyPr wrap="none" lIns="0" rIns="0" tIns="0" bIns="0">
            <a:spAutoFit/>
          </a:bodyPr>
          <a:lstStyle/>
          <a:p>
            <a:pPr>
              <a:lnSpc>
                <a:spcPct val="112000"/>
              </a:lnSpc>
              <a:spcBef>
                <a:spcPts val="0"/>
              </a:spcBef>
              <a:spcAft>
                <a:spcPts val="0"/>
              </a:spcAft>
              <a:defRPr sz="1788" b="0">
                <a:solidFill>
                  <a:srgbClr val="333333"/>
                </a:solidFill>
                <a:latin typeface="微软雅黑"/>
              </a:defRPr>
            </a:pPr>
            <a:r>
              <a:rPr>
                <a:ea typeface="微软雅黑"/>
              </a:rPr>
              <a:t>H₂SO₄</a:t>
            </a:r>
          </a:p>
        </p:txBody>
      </p:sp>
      <p:sp>
        <p:nvSpPr>
          <p:cNvPr id="15" name="原题文字_340_14"/>
          <p:cNvSpPr txBox="1"/>
          <p:nvPr/>
        </p:nvSpPr>
        <p:spPr>
          <a:xfrm>
            <a:off x="1950076" y="1874573"/>
            <a:ext cx="629132"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高温</a:t>
            </a:r>
          </a:p>
        </p:txBody>
      </p:sp>
      <p:sp>
        <p:nvSpPr>
          <p:cNvPr id="16" name="原题文字_340_15"/>
          <p:cNvSpPr txBox="1"/>
          <p:nvPr/>
        </p:nvSpPr>
        <p:spPr>
          <a:xfrm>
            <a:off x="4009786" y="1981770"/>
            <a:ext cx="1946121" cy="378251"/>
          </a:xfrm>
          <a:prstGeom prst="rect">
            <a:avLst/>
          </a:prstGeom>
          <a:noFill/>
        </p:spPr>
        <p:txBody>
          <a:bodyPr wrap="none" lIns="0" rIns="0" tIns="0" bIns="0">
            <a:spAutoFit/>
          </a:bodyPr>
          <a:lstStyle/>
          <a:p>
            <a:pPr>
              <a:lnSpc>
                <a:spcPct val="112000"/>
              </a:lnSpc>
              <a:spcBef>
                <a:spcPts val="0"/>
              </a:spcBef>
              <a:spcAft>
                <a:spcPts val="0"/>
              </a:spcAft>
              <a:defRPr sz="1791" b="0">
                <a:solidFill>
                  <a:srgbClr val="333333"/>
                </a:solidFill>
                <a:latin typeface="微软雅黑"/>
              </a:defRPr>
            </a:pPr>
            <a:r>
              <a:rPr>
                <a:ea typeface="微软雅黑"/>
              </a:rPr>
              <a:t>400~500℃/催化剂</a:t>
            </a:r>
          </a:p>
        </p:txBody>
      </p:sp>
      <p:sp>
        <p:nvSpPr>
          <p:cNvPr id="17" name="原题文字_340_16"/>
          <p:cNvSpPr txBox="1"/>
          <p:nvPr/>
        </p:nvSpPr>
        <p:spPr>
          <a:xfrm>
            <a:off x="2126185" y="2387586"/>
            <a:ext cx="22331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I</a:t>
            </a:r>
          </a:p>
        </p:txBody>
      </p:sp>
      <p:sp>
        <p:nvSpPr>
          <p:cNvPr id="18" name="原题文字_340_17"/>
          <p:cNvSpPr txBox="1"/>
          <p:nvPr/>
        </p:nvSpPr>
        <p:spPr>
          <a:xfrm>
            <a:off x="4806105" y="2387586"/>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II</a:t>
            </a:r>
          </a:p>
        </p:txBody>
      </p:sp>
      <p:sp>
        <p:nvSpPr>
          <p:cNvPr id="19" name="原题文字_340_18"/>
          <p:cNvSpPr txBox="1"/>
          <p:nvPr/>
        </p:nvSpPr>
        <p:spPr>
          <a:xfrm>
            <a:off x="7378828" y="2387586"/>
            <a:ext cx="36879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III</a:t>
            </a:r>
          </a:p>
        </p:txBody>
      </p:sp>
      <p:sp>
        <p:nvSpPr>
          <p:cNvPr id="20" name="原题文字_340_19"/>
          <p:cNvSpPr txBox="1"/>
          <p:nvPr/>
        </p:nvSpPr>
        <p:spPr>
          <a:xfrm>
            <a:off x="564175" y="2655578"/>
            <a:ext cx="858839" cy="368297"/>
          </a:xfrm>
          <a:prstGeom prst="rect">
            <a:avLst/>
          </a:prstGeom>
          <a:noFill/>
        </p:spPr>
        <p:txBody>
          <a:bodyPr wrap="none" lIns="0" rIns="0" tIns="0" bIns="0">
            <a:spAutoFit/>
          </a:bodyPr>
          <a:lstStyle/>
          <a:p>
            <a:pPr>
              <a:lnSpc>
                <a:spcPct val="112000"/>
              </a:lnSpc>
              <a:spcBef>
                <a:spcPts val="0"/>
              </a:spcBef>
              <a:spcAft>
                <a:spcPts val="0"/>
              </a:spcAft>
              <a:defRPr sz="1705" b="0">
                <a:solidFill>
                  <a:srgbClr val="333333"/>
                </a:solidFill>
                <a:latin typeface="微软雅黑"/>
              </a:defRPr>
            </a:pPr>
            <a:r>
              <a:rPr>
                <a:ea typeface="微软雅黑"/>
              </a:rPr>
              <a:t>请回答：</a:t>
            </a:r>
          </a:p>
        </p:txBody>
      </p:sp>
      <p:sp>
        <p:nvSpPr>
          <p:cNvPr id="21" name="文字_(1) 黄铁矿主要成分的化学式是"/>
          <p:cNvSpPr txBox="1"/>
          <p:nvPr/>
        </p:nvSpPr>
        <p:spPr>
          <a:xfrm>
            <a:off x="502920" y="305672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(1) 黄铁矿主要成分的化学式是</a:t>
            </a:r>
          </a:p>
        </p:txBody>
      </p:sp>
      <p:sp>
        <p:nvSpPr>
          <p:cNvPr id="22" name="文字_(2) SO₂使品红溶液褪色，体现SO₂具有 _"/>
          <p:cNvSpPr txBox="1"/>
          <p:nvPr/>
        </p:nvSpPr>
        <p:spPr>
          <a:xfrm>
            <a:off x="502920" y="346820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(2) SO₂使品红溶液褪色，体现SO₂具有 ______ 性。</a:t>
            </a:r>
          </a:p>
        </p:txBody>
      </p:sp>
      <p:sp>
        <p:nvSpPr>
          <p:cNvPr id="23" name="文字_(3)步骤Ⅲ的化学方程式是"/>
          <p:cNvSpPr txBox="1"/>
          <p:nvPr/>
        </p:nvSpPr>
        <p:spPr>
          <a:xfrm>
            <a:off x="502920" y="387968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(3)步骤Ⅲ的化学方程式是</a:t>
            </a:r>
          </a:p>
        </p:txBody>
      </p:sp>
      <p:sp>
        <p:nvSpPr>
          <p:cNvPr id="24" name="文字_(4)下列说法不正确的是 ______ o"/>
          <p:cNvSpPr txBox="1"/>
          <p:nvPr/>
        </p:nvSpPr>
        <p:spPr>
          <a:xfrm>
            <a:off x="502920" y="429116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(4)下列说法不正确的是 ______ o</a:t>
            </a:r>
          </a:p>
        </p:txBody>
      </p:sp>
      <p:sp>
        <p:nvSpPr>
          <p:cNvPr id="25" name="文字_A. 步骤I前需将黄铁矿粉碎，目的是增大接触面积"/>
          <p:cNvSpPr txBox="1"/>
          <p:nvPr/>
        </p:nvSpPr>
        <p:spPr>
          <a:xfrm>
            <a:off x="502920" y="470264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A. 步骤I前需将黄铁矿粉碎，目的是增大接触面积，加快反应速率</a:t>
            </a:r>
          </a:p>
        </p:txBody>
      </p:sp>
      <p:sp>
        <p:nvSpPr>
          <p:cNvPr id="26" name="文字_B. 步骤Ⅱ中使用催化剂，能使SO₂的转化率达到"/>
          <p:cNvSpPr txBox="1"/>
          <p:nvPr/>
        </p:nvSpPr>
        <p:spPr>
          <a:xfrm>
            <a:off x="502920" y="511412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B. 步骤Ⅱ中使用催化剂，能使SO₂的转化率达到100%</a:t>
            </a:r>
          </a:p>
        </p:txBody>
      </p:sp>
      <p:sp>
        <p:nvSpPr>
          <p:cNvPr id="27" name="文字_C. 步骤中选用98.3%的浓硫酸作吸收剂"/>
          <p:cNvSpPr txBox="1"/>
          <p:nvPr/>
        </p:nvSpPr>
        <p:spPr>
          <a:xfrm>
            <a:off x="502920" y="552560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C. 步骤中选用98.3%的浓硫酸作吸收剂</a:t>
            </a:r>
          </a:p>
        </p:txBody>
      </p:sp>
      <p:sp>
        <p:nvSpPr>
          <p:cNvPr id="28" name="文字_D. 图中每一步含硫物质均发生氧化反应"/>
          <p:cNvSpPr txBox="1"/>
          <p:nvPr/>
        </p:nvSpPr>
        <p:spPr>
          <a:xfrm>
            <a:off x="502920" y="593708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D. 图中每一步含硫物质均发生氧化反应</a:t>
            </a:r>
          </a:p>
        </p:txBody>
      </p:sp>
      <p:sp>
        <p:nvSpPr>
          <p:cNvPr id="29" name="文字_解答题  ·  16-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16-014</a:t>
            </a:r>
          </a:p>
        </p:txBody>
      </p:sp>
      <p:sp>
        <p:nvSpPr>
          <p:cNvPr id="30" name="文字_2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例题2</a:t>
            </a:r>
          </a:p>
        </p:txBody>
      </p:sp>
      <p:sp>
        <p:nvSpPr>
          <p:cNvPr id="5" name="文字_P3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P340</a:t>
            </a:r>
          </a:p>
        </p:txBody>
      </p:sp>
      <p:sp>
        <p:nvSpPr>
          <p:cNvPr id="6" name="文字_硝酸是重要的化工原料，用于制化肥、农药、炸药、染"/>
          <p:cNvSpPr txBox="1"/>
          <p:nvPr/>
        </p:nvSpPr>
        <p:spPr>
          <a:xfrm>
            <a:off x="502920" y="1078992"/>
            <a:ext cx="11064240" cy="71812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硝酸是重要的化工原料，用于制化肥、农药、炸药、染料等。工业上制硝酸的原理是将氨经</a:t>
            </a:r>
          </a:p>
          <a:p>
            <a:pPr>
              <a:lnSpc>
                <a:spcPct val="112000"/>
              </a:lnSpc>
              <a:spcBef>
                <a:spcPts val="0"/>
              </a:spcBef>
              <a:spcAft>
                <a:spcPts val="0"/>
              </a:spcAft>
              <a:defRPr sz="2150" b="0">
                <a:solidFill>
                  <a:srgbClr val="333333"/>
                </a:solidFill>
                <a:latin typeface="微软雅黑"/>
              </a:defRPr>
            </a:pPr>
            <a:r>
              <a:rPr>
                <a:ea typeface="微软雅黑"/>
              </a:rPr>
              <a:t>过一系列反应得到硝酸，如下图所示：</a:t>
            </a:r>
          </a:p>
        </p:txBody>
      </p:sp>
      <p:pic>
        <p:nvPicPr>
          <p:cNvPr id="7" name="Picture 6" descr="image.png"/>
          <p:cNvPicPr>
            <a:picLocks noChangeAspect="1"/>
          </p:cNvPicPr>
          <p:nvPr/>
        </p:nvPicPr>
        <p:blipFill>
          <a:blip r:embed="rId3"/>
          <a:stretch>
            <a:fillRect/>
          </a:stretch>
        </p:blipFill>
        <p:spPr>
          <a:xfrm>
            <a:off x="502920" y="1797113"/>
            <a:ext cx="11064240" cy="1661550"/>
          </a:xfrm>
          <a:prstGeom prst="rect">
            <a:avLst/>
          </a:prstGeom>
        </p:spPr>
      </p:pic>
      <p:sp>
        <p:nvSpPr>
          <p:cNvPr id="8" name="原题文字_340_39"/>
          <p:cNvSpPr txBox="1"/>
          <p:nvPr/>
        </p:nvSpPr>
        <p:spPr>
          <a:xfrm>
            <a:off x="1015933" y="1882595"/>
            <a:ext cx="38411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H₂</a:t>
            </a:r>
          </a:p>
        </p:txBody>
      </p:sp>
      <p:sp>
        <p:nvSpPr>
          <p:cNvPr id="9" name="原题文字_340_40"/>
          <p:cNvSpPr txBox="1"/>
          <p:nvPr/>
        </p:nvSpPr>
        <p:spPr>
          <a:xfrm>
            <a:off x="4201209" y="1882595"/>
            <a:ext cx="491308" cy="358343"/>
          </a:xfrm>
          <a:prstGeom prst="rect">
            <a:avLst/>
          </a:prstGeom>
          <a:noFill/>
        </p:spPr>
        <p:txBody>
          <a:bodyPr wrap="none" lIns="0" rIns="0" tIns="0" bIns="0">
            <a:spAutoFit/>
          </a:bodyPr>
          <a:lstStyle/>
          <a:p>
            <a:pPr>
              <a:lnSpc>
                <a:spcPct val="112000"/>
              </a:lnSpc>
              <a:spcBef>
                <a:spcPts val="0"/>
              </a:spcBef>
              <a:spcAft>
                <a:spcPts val="0"/>
              </a:spcAft>
              <a:defRPr sz="1690" b="0">
                <a:solidFill>
                  <a:srgbClr val="333333"/>
                </a:solidFill>
                <a:latin typeface="微软雅黑"/>
              </a:defRPr>
            </a:pPr>
            <a:r>
              <a:rPr>
                <a:ea typeface="微软雅黑"/>
              </a:rPr>
              <a:t>H₂O</a:t>
            </a:r>
          </a:p>
        </p:txBody>
      </p:sp>
      <p:sp>
        <p:nvSpPr>
          <p:cNvPr id="10" name="原题文字_340_41"/>
          <p:cNvSpPr txBox="1"/>
          <p:nvPr/>
        </p:nvSpPr>
        <p:spPr>
          <a:xfrm>
            <a:off x="701999" y="2533433"/>
            <a:ext cx="414738" cy="447929"/>
          </a:xfrm>
          <a:prstGeom prst="rect">
            <a:avLst/>
          </a:prstGeom>
          <a:noFill/>
        </p:spPr>
        <p:txBody>
          <a:bodyPr wrap="none" lIns="0" rIns="0" tIns="0" bIns="0">
            <a:spAutoFit/>
          </a:bodyPr>
          <a:lstStyle/>
          <a:p>
            <a:pPr>
              <a:lnSpc>
                <a:spcPct val="112000"/>
              </a:lnSpc>
              <a:spcBef>
                <a:spcPts val="0"/>
              </a:spcBef>
              <a:spcAft>
                <a:spcPts val="0"/>
              </a:spcAft>
              <a:defRPr sz="2132" b="0">
                <a:solidFill>
                  <a:srgbClr val="333333"/>
                </a:solidFill>
                <a:latin typeface="微软雅黑"/>
              </a:defRPr>
            </a:pPr>
            <a:r>
              <a:rPr>
                <a:ea typeface="微软雅黑"/>
              </a:rPr>
              <a:t>N₂</a:t>
            </a:r>
          </a:p>
        </p:txBody>
      </p:sp>
      <p:sp>
        <p:nvSpPr>
          <p:cNvPr id="11" name="原题文字_340_42"/>
          <p:cNvSpPr txBox="1"/>
          <p:nvPr/>
        </p:nvSpPr>
        <p:spPr>
          <a:xfrm>
            <a:off x="1728026" y="2548747"/>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a:t>
            </a:r>
          </a:p>
        </p:txBody>
      </p:sp>
      <p:sp>
        <p:nvSpPr>
          <p:cNvPr id="12" name="原题文字_340_43"/>
          <p:cNvSpPr txBox="1"/>
          <p:nvPr/>
        </p:nvSpPr>
        <p:spPr>
          <a:xfrm>
            <a:off x="2746395" y="2541090"/>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13" name="原题文字_340_44"/>
          <p:cNvSpPr txBox="1"/>
          <p:nvPr/>
        </p:nvSpPr>
        <p:spPr>
          <a:xfrm>
            <a:off x="3902589" y="2556404"/>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a:t>
            </a:r>
          </a:p>
        </p:txBody>
      </p:sp>
      <p:sp>
        <p:nvSpPr>
          <p:cNvPr id="14" name="原题文字_340_45"/>
          <p:cNvSpPr txBox="1"/>
          <p:nvPr/>
        </p:nvSpPr>
        <p:spPr>
          <a:xfrm>
            <a:off x="4836733" y="2510462"/>
            <a:ext cx="675073" cy="437975"/>
          </a:xfrm>
          <a:prstGeom prst="rect">
            <a:avLst/>
          </a:prstGeom>
          <a:noFill/>
        </p:spPr>
        <p:txBody>
          <a:bodyPr wrap="none" lIns="0" rIns="0" tIns="0" bIns="0">
            <a:spAutoFit/>
          </a:bodyPr>
          <a:lstStyle/>
          <a:p>
            <a:pPr>
              <a:lnSpc>
                <a:spcPct val="112000"/>
              </a:lnSpc>
              <a:spcBef>
                <a:spcPts val="0"/>
              </a:spcBef>
              <a:spcAft>
                <a:spcPts val="0"/>
              </a:spcAft>
              <a:defRPr sz="1725" b="0">
                <a:solidFill>
                  <a:srgbClr val="333333"/>
                </a:solidFill>
                <a:latin typeface="微软雅黑"/>
              </a:defRPr>
            </a:pPr>
            <a:r>
              <a:rPr>
                <a:ea typeface="微软雅黑"/>
              </a:rPr>
              <a:t>HNO₃</a:t>
            </a:r>
          </a:p>
        </p:txBody>
      </p:sp>
      <p:sp>
        <p:nvSpPr>
          <p:cNvPr id="15" name="原题文字_340_46"/>
          <p:cNvSpPr txBox="1"/>
          <p:nvPr/>
        </p:nvSpPr>
        <p:spPr>
          <a:xfrm>
            <a:off x="1176728" y="2877994"/>
            <a:ext cx="253943"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①</a:t>
            </a:r>
          </a:p>
        </p:txBody>
      </p:sp>
      <p:sp>
        <p:nvSpPr>
          <p:cNvPr id="16" name="原题文字_340_47"/>
          <p:cNvSpPr txBox="1"/>
          <p:nvPr/>
        </p:nvSpPr>
        <p:spPr>
          <a:xfrm>
            <a:off x="2179784" y="2862680"/>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②</a:t>
            </a:r>
          </a:p>
        </p:txBody>
      </p:sp>
      <p:sp>
        <p:nvSpPr>
          <p:cNvPr id="17" name="原题文字_340_48"/>
          <p:cNvSpPr txBox="1"/>
          <p:nvPr/>
        </p:nvSpPr>
        <p:spPr>
          <a:xfrm>
            <a:off x="3290036" y="2885651"/>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③</a:t>
            </a:r>
          </a:p>
        </p:txBody>
      </p:sp>
      <p:sp>
        <p:nvSpPr>
          <p:cNvPr id="18" name="原题文字_340_49"/>
          <p:cNvSpPr txBox="1"/>
          <p:nvPr/>
        </p:nvSpPr>
        <p:spPr>
          <a:xfrm>
            <a:off x="564175" y="3130672"/>
            <a:ext cx="858839" cy="368297"/>
          </a:xfrm>
          <a:prstGeom prst="rect">
            <a:avLst/>
          </a:prstGeom>
          <a:noFill/>
        </p:spPr>
        <p:txBody>
          <a:bodyPr wrap="none" lIns="0" rIns="0" tIns="0" bIns="0">
            <a:spAutoFit/>
          </a:bodyPr>
          <a:lstStyle/>
          <a:p>
            <a:pPr>
              <a:lnSpc>
                <a:spcPct val="112000"/>
              </a:lnSpc>
              <a:spcBef>
                <a:spcPts val="0"/>
              </a:spcBef>
              <a:spcAft>
                <a:spcPts val="0"/>
              </a:spcAft>
              <a:defRPr sz="1705" b="0">
                <a:solidFill>
                  <a:srgbClr val="333333"/>
                </a:solidFill>
                <a:latin typeface="微软雅黑"/>
              </a:defRPr>
            </a:pPr>
            <a:r>
              <a:rPr>
                <a:ea typeface="微软雅黑"/>
              </a:rPr>
              <a:t>请回答：</a:t>
            </a:r>
          </a:p>
        </p:txBody>
      </p:sp>
      <p:sp>
        <p:nvSpPr>
          <p:cNvPr id="19" name="文字_(1)B→C的实验现象是"/>
          <p:cNvSpPr txBox="1"/>
          <p:nvPr/>
        </p:nvSpPr>
        <p:spPr>
          <a:xfrm>
            <a:off x="502920" y="3531815"/>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(1)B→C的实验现象是</a:t>
            </a:r>
          </a:p>
        </p:txBody>
      </p:sp>
      <p:sp>
        <p:nvSpPr>
          <p:cNvPr id="20" name="文字_(2)反应②的化学方程式是"/>
          <p:cNvSpPr txBox="1"/>
          <p:nvPr/>
        </p:nvSpPr>
        <p:spPr>
          <a:xfrm>
            <a:off x="502920" y="3925007"/>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(2)反应②的化学方程式是</a:t>
            </a:r>
          </a:p>
        </p:txBody>
      </p:sp>
      <p:sp>
        <p:nvSpPr>
          <p:cNvPr id="21" name="文字_(3)下列说法不正确的是"/>
          <p:cNvSpPr txBox="1"/>
          <p:nvPr/>
        </p:nvSpPr>
        <p:spPr>
          <a:xfrm>
            <a:off x="502920" y="4318199"/>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(3)下列说法不正确的是</a:t>
            </a:r>
          </a:p>
        </p:txBody>
      </p:sp>
      <p:sp>
        <p:nvSpPr>
          <p:cNvPr id="22" name="文字_A. 反应①是最重要的人工固氮"/>
          <p:cNvSpPr txBox="1"/>
          <p:nvPr/>
        </p:nvSpPr>
        <p:spPr>
          <a:xfrm>
            <a:off x="502920" y="4711391"/>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A. 反应①是最重要的人工固氮</a:t>
            </a:r>
          </a:p>
        </p:txBody>
      </p:sp>
      <p:sp>
        <p:nvSpPr>
          <p:cNvPr id="23" name="文字_B. 工业制硝酸的基础是反应③"/>
          <p:cNvSpPr txBox="1"/>
          <p:nvPr/>
        </p:nvSpPr>
        <p:spPr>
          <a:xfrm>
            <a:off x="502920" y="5104583"/>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B. 工业制硝酸的基础是反应③</a:t>
            </a:r>
          </a:p>
        </p:txBody>
      </p:sp>
      <p:sp>
        <p:nvSpPr>
          <p:cNvPr id="24" name="文字_C. 浓硝酸应保存在棕色试剂瓶中，并放置在阴凉处"/>
          <p:cNvSpPr txBox="1"/>
          <p:nvPr/>
        </p:nvSpPr>
        <p:spPr>
          <a:xfrm>
            <a:off x="502920" y="5497775"/>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C. 浓硝酸应保存在棕色试剂瓶中，并放置在阴凉处</a:t>
            </a:r>
          </a:p>
        </p:txBody>
      </p:sp>
      <p:sp>
        <p:nvSpPr>
          <p:cNvPr id="25" name="文字_D. 图中每一步含氮物质均发生氧化反应"/>
          <p:cNvSpPr txBox="1"/>
          <p:nvPr/>
        </p:nvSpPr>
        <p:spPr>
          <a:xfrm>
            <a:off x="502920" y="5890967"/>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D. 图中每一步含氮物质均发生氧化反应</a:t>
            </a:r>
          </a:p>
        </p:txBody>
      </p:sp>
      <p:sp>
        <p:nvSpPr>
          <p:cNvPr id="26" name="文字_填空题  ·  16-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16-015</a:t>
            </a:r>
          </a:p>
        </p:txBody>
      </p:sp>
      <p:sp>
        <p:nvSpPr>
          <p:cNvPr id="27" name="文字_2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例题3</a:t>
            </a:r>
          </a:p>
        </p:txBody>
      </p:sp>
      <p:sp>
        <p:nvSpPr>
          <p:cNvPr id="5" name="文字_P34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P341</a:t>
            </a:r>
          </a:p>
        </p:txBody>
      </p:sp>
      <p:sp>
        <p:nvSpPr>
          <p:cNvPr id="6" name="文字_氨既是一种重要的化工产品，又是一种重要的化工原料"/>
          <p:cNvSpPr txBox="1"/>
          <p:nvPr/>
        </p:nvSpPr>
        <p:spPr>
          <a:xfrm>
            <a:off x="502920" y="1078992"/>
            <a:ext cx="11064240" cy="71812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氨既是一种重要的化工产品，又是一种重要的化工原料。下图为合成氨以及氨氧化制硝酸的</a:t>
            </a:r>
          </a:p>
          <a:p>
            <a:pPr>
              <a:lnSpc>
                <a:spcPct val="112000"/>
              </a:lnSpc>
              <a:spcBef>
                <a:spcPts val="0"/>
              </a:spcBef>
              <a:spcAft>
                <a:spcPts val="0"/>
              </a:spcAft>
              <a:defRPr sz="2150" b="0">
                <a:solidFill>
                  <a:srgbClr val="333333"/>
                </a:solidFill>
                <a:latin typeface="微软雅黑"/>
              </a:defRPr>
            </a:pPr>
            <a:r>
              <a:rPr>
                <a:ea typeface="微软雅黑"/>
              </a:rPr>
              <a:t>流程示意图。</a:t>
            </a:r>
          </a:p>
        </p:txBody>
      </p:sp>
      <p:pic>
        <p:nvPicPr>
          <p:cNvPr id="7" name="Picture 6" descr="image.png"/>
          <p:cNvPicPr>
            <a:picLocks noChangeAspect="1"/>
          </p:cNvPicPr>
          <p:nvPr/>
        </p:nvPicPr>
        <p:blipFill>
          <a:blip r:embed="rId3"/>
          <a:stretch>
            <a:fillRect/>
          </a:stretch>
        </p:blipFill>
        <p:spPr>
          <a:xfrm>
            <a:off x="502920" y="1797113"/>
            <a:ext cx="11064240" cy="918829"/>
          </a:xfrm>
          <a:prstGeom prst="rect">
            <a:avLst/>
          </a:prstGeom>
        </p:spPr>
      </p:pic>
      <p:sp>
        <p:nvSpPr>
          <p:cNvPr id="8" name="原题文字_341_4"/>
          <p:cNvSpPr txBox="1"/>
          <p:nvPr/>
        </p:nvSpPr>
        <p:spPr>
          <a:xfrm>
            <a:off x="610116" y="1828997"/>
            <a:ext cx="751643" cy="368297"/>
          </a:xfrm>
          <a:prstGeom prst="rect">
            <a:avLst/>
          </a:prstGeom>
          <a:noFill/>
        </p:spPr>
        <p:txBody>
          <a:bodyPr wrap="none" lIns="0" rIns="0" tIns="0" bIns="0">
            <a:spAutoFit/>
          </a:bodyPr>
          <a:lstStyle/>
          <a:p>
            <a:pPr>
              <a:lnSpc>
                <a:spcPct val="112000"/>
              </a:lnSpc>
              <a:spcBef>
                <a:spcPts val="0"/>
              </a:spcBef>
              <a:spcAft>
                <a:spcPts val="0"/>
              </a:spcAft>
              <a:defRPr sz="1512" b="0">
                <a:solidFill>
                  <a:srgbClr val="333333"/>
                </a:solidFill>
                <a:latin typeface="微软雅黑"/>
              </a:defRPr>
            </a:pPr>
            <a:r>
              <a:rPr>
                <a:ea typeface="微软雅黑"/>
              </a:rPr>
              <a:t>N₂、H₂</a:t>
            </a:r>
          </a:p>
        </p:txBody>
      </p:sp>
      <p:sp>
        <p:nvSpPr>
          <p:cNvPr id="9" name="原题文字_341_5"/>
          <p:cNvSpPr txBox="1"/>
          <p:nvPr/>
        </p:nvSpPr>
        <p:spPr>
          <a:xfrm>
            <a:off x="3734137" y="1844311"/>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水</a:t>
            </a:r>
          </a:p>
        </p:txBody>
      </p:sp>
      <p:sp>
        <p:nvSpPr>
          <p:cNvPr id="10" name="原题文字_341_6"/>
          <p:cNvSpPr txBox="1"/>
          <p:nvPr/>
        </p:nvSpPr>
        <p:spPr>
          <a:xfrm>
            <a:off x="855138" y="2112303"/>
            <a:ext cx="253943"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a:t>
            </a:r>
          </a:p>
        </p:txBody>
      </p:sp>
      <p:sp>
        <p:nvSpPr>
          <p:cNvPr id="11" name="原题文字_341_7"/>
          <p:cNvSpPr txBox="1"/>
          <p:nvPr/>
        </p:nvSpPr>
        <p:spPr>
          <a:xfrm>
            <a:off x="625430" y="2403265"/>
            <a:ext cx="75930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合成塔</a:t>
            </a:r>
          </a:p>
        </p:txBody>
      </p:sp>
      <p:sp>
        <p:nvSpPr>
          <p:cNvPr id="12" name="原题文字_341_8"/>
          <p:cNvSpPr txBox="1"/>
          <p:nvPr/>
        </p:nvSpPr>
        <p:spPr>
          <a:xfrm>
            <a:off x="1260954" y="2395608"/>
            <a:ext cx="118043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氨分离器</a:t>
            </a:r>
          </a:p>
        </p:txBody>
      </p:sp>
      <p:sp>
        <p:nvSpPr>
          <p:cNvPr id="13" name="原题文字_341_9"/>
          <p:cNvSpPr txBox="1"/>
          <p:nvPr/>
        </p:nvSpPr>
        <p:spPr>
          <a:xfrm>
            <a:off x="2309951" y="2403265"/>
            <a:ext cx="98900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氧化炉</a:t>
            </a:r>
          </a:p>
        </p:txBody>
      </p:sp>
      <p:sp>
        <p:nvSpPr>
          <p:cNvPr id="14" name="原题文字_341_10"/>
          <p:cNvSpPr txBox="1"/>
          <p:nvPr/>
        </p:nvSpPr>
        <p:spPr>
          <a:xfrm>
            <a:off x="3190496" y="2403265"/>
            <a:ext cx="98135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吸收塔</a:t>
            </a:r>
          </a:p>
        </p:txBody>
      </p:sp>
      <p:sp>
        <p:nvSpPr>
          <p:cNvPr id="15" name="原题文字_341_11"/>
          <p:cNvSpPr txBox="1"/>
          <p:nvPr/>
        </p:nvSpPr>
        <p:spPr>
          <a:xfrm>
            <a:off x="4055727" y="2403265"/>
            <a:ext cx="153264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尾气处理装置</a:t>
            </a:r>
          </a:p>
        </p:txBody>
      </p:sp>
      <p:sp>
        <p:nvSpPr>
          <p:cNvPr id="16" name="文字_硝酸"/>
          <p:cNvSpPr txBox="1"/>
          <p:nvPr/>
        </p:nvSpPr>
        <p:spPr>
          <a:xfrm>
            <a:off x="502920" y="2789095"/>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硝酸</a:t>
            </a:r>
          </a:p>
        </p:txBody>
      </p:sp>
      <p:sp>
        <p:nvSpPr>
          <p:cNvPr id="17" name="文字_请回答："/>
          <p:cNvSpPr txBox="1"/>
          <p:nvPr/>
        </p:nvSpPr>
        <p:spPr>
          <a:xfrm>
            <a:off x="502920" y="3182287"/>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请回答：</a:t>
            </a:r>
          </a:p>
        </p:txBody>
      </p:sp>
      <p:sp>
        <p:nvSpPr>
          <p:cNvPr id="18" name="文字_(1)氧化炉中发生反应的化学方程式为 _____"/>
          <p:cNvSpPr txBox="1"/>
          <p:nvPr/>
        </p:nvSpPr>
        <p:spPr>
          <a:xfrm>
            <a:off x="502920" y="3575479"/>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(1)氧化炉中发生反应的化学方程式为 ______ O</a:t>
            </a:r>
          </a:p>
        </p:txBody>
      </p:sp>
      <p:sp>
        <p:nvSpPr>
          <p:cNvPr id="19" name="文字_(2)NH₃可将氮氧化物还原成N₂，该过程中氮氧"/>
          <p:cNvSpPr txBox="1"/>
          <p:nvPr/>
        </p:nvSpPr>
        <p:spPr>
          <a:xfrm>
            <a:off x="502920" y="3968671"/>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(2)NH₃可将氮氧化物还原成N₂，该过程中氮氧化物体现的性质是 ______ 性。</a:t>
            </a:r>
          </a:p>
        </p:txBody>
      </p:sp>
      <p:sp>
        <p:nvSpPr>
          <p:cNvPr id="20" name="文字_(3) ______ 下列说法正确的是 ____"/>
          <p:cNvSpPr txBox="1"/>
          <p:nvPr/>
        </p:nvSpPr>
        <p:spPr>
          <a:xfrm>
            <a:off x="502920" y="4361863"/>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(3) ______ 下列说法正确的是 ______ o</a:t>
            </a:r>
          </a:p>
        </p:txBody>
      </p:sp>
      <p:sp>
        <p:nvSpPr>
          <p:cNvPr id="21" name="文字_A. 工业上可增加“合成塔”中催化剂用量，使H₂"/>
          <p:cNvSpPr txBox="1"/>
          <p:nvPr/>
        </p:nvSpPr>
        <p:spPr>
          <a:xfrm>
            <a:off x="502920" y="4755055"/>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A. 工业上可增加“合成塔”中催化剂用量，使H₂的转化率提升到100%</a:t>
            </a:r>
          </a:p>
        </p:txBody>
      </p:sp>
      <p:sp>
        <p:nvSpPr>
          <p:cNvPr id="22" name="文字_B. “氨分离器”中主要应用了氨气易液化的性质"/>
          <p:cNvSpPr txBox="1"/>
          <p:nvPr/>
        </p:nvSpPr>
        <p:spPr>
          <a:xfrm>
            <a:off x="502920" y="5148247"/>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B. “氨分离器”中主要应用了氨气易液化的性质</a:t>
            </a:r>
          </a:p>
        </p:txBody>
      </p:sp>
      <p:sp>
        <p:nvSpPr>
          <p:cNvPr id="23" name="文字_C. 向吸收塔里通入 A的目的是将NO转化为NO"/>
          <p:cNvSpPr txBox="1"/>
          <p:nvPr/>
        </p:nvSpPr>
        <p:spPr>
          <a:xfrm>
            <a:off x="502920" y="5541439"/>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C. 向吸收塔里通入 A的目的是将NO转化为NO₂</a:t>
            </a:r>
          </a:p>
        </p:txBody>
      </p:sp>
      <p:sp>
        <p:nvSpPr>
          <p:cNvPr id="24" name="文字_D. 为避免硝酸生成尾气中的氮氧化物污染空气，可"/>
          <p:cNvSpPr txBox="1"/>
          <p:nvPr/>
        </p:nvSpPr>
        <p:spPr>
          <a:xfrm>
            <a:off x="502920" y="5934631"/>
            <a:ext cx="11064240" cy="393191"/>
          </a:xfrm>
          <a:prstGeom prst="rect">
            <a:avLst/>
          </a:prstGeom>
          <a:noFill/>
        </p:spPr>
        <p:txBody>
          <a:bodyPr wrap="squar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D. 为避免硝酸生成尾气中的氮氧化物污染空气，可将其点燃处理</a:t>
            </a:r>
          </a:p>
        </p:txBody>
      </p:sp>
      <p:sp>
        <p:nvSpPr>
          <p:cNvPr id="25" name="文字_填空题  ·  16-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16-016</a:t>
            </a:r>
          </a:p>
        </p:txBody>
      </p:sp>
      <p:sp>
        <p:nvSpPr>
          <p:cNvPr id="26" name="文字_2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例题4</a:t>
            </a:r>
          </a:p>
        </p:txBody>
      </p:sp>
      <p:sp>
        <p:nvSpPr>
          <p:cNvPr id="5" name="文字_P34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P341</a:t>
            </a:r>
          </a:p>
        </p:txBody>
      </p:sp>
      <p:sp>
        <p:nvSpPr>
          <p:cNvPr id="6" name="文字_固体X(NaMgH₃)是一种良好的贮氢材料，Na"/>
          <p:cNvSpPr txBox="1"/>
          <p:nvPr/>
        </p:nvSpPr>
        <p:spPr>
          <a:xfrm>
            <a:off x="502920" y="1078992"/>
            <a:ext cx="11064240" cy="484314"/>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固体X(NaMgH₃)是一种良好的贮氢材料，Na和H₂一定条件下反应生成A，24g固体A与26g固体B在一定条件下恰好完全反应生成50g</a:t>
            </a:r>
          </a:p>
          <a:p>
            <a:pPr>
              <a:lnSpc>
                <a:spcPct val="112000"/>
              </a:lnSpc>
              <a:spcBef>
                <a:spcPts val="0"/>
              </a:spcBef>
              <a:spcAft>
                <a:spcPts val="0"/>
              </a:spcAft>
              <a:defRPr sz="1450" b="0">
                <a:solidFill>
                  <a:srgbClr val="333333"/>
                </a:solidFill>
                <a:latin typeface="微软雅黑"/>
              </a:defRPr>
            </a:pPr>
            <a:r>
              <a:rPr>
                <a:ea typeface="微软雅黑"/>
              </a:rPr>
              <a:t>固体X。</a:t>
            </a:r>
          </a:p>
        </p:txBody>
      </p:sp>
      <p:pic>
        <p:nvPicPr>
          <p:cNvPr id="7" name="Picture 6" descr="image.png"/>
          <p:cNvPicPr>
            <a:picLocks noChangeAspect="1"/>
          </p:cNvPicPr>
          <p:nvPr/>
        </p:nvPicPr>
        <p:blipFill>
          <a:blip r:embed="rId3"/>
          <a:stretch>
            <a:fillRect/>
          </a:stretch>
        </p:blipFill>
        <p:spPr>
          <a:xfrm>
            <a:off x="502920" y="1563306"/>
            <a:ext cx="9175750" cy="2317750"/>
          </a:xfrm>
          <a:prstGeom prst="rect">
            <a:avLst/>
          </a:prstGeom>
        </p:spPr>
      </p:pic>
      <p:sp>
        <p:nvSpPr>
          <p:cNvPr id="8" name="原题文字_341_32"/>
          <p:cNvSpPr txBox="1"/>
          <p:nvPr/>
        </p:nvSpPr>
        <p:spPr>
          <a:xfrm>
            <a:off x="801370" y="1690255"/>
            <a:ext cx="39141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Na</a:t>
            </a:r>
          </a:p>
        </p:txBody>
      </p:sp>
      <p:sp>
        <p:nvSpPr>
          <p:cNvPr id="9" name="原题文字_341_33"/>
          <p:cNvSpPr txBox="1"/>
          <p:nvPr/>
        </p:nvSpPr>
        <p:spPr>
          <a:xfrm>
            <a:off x="1436370" y="1918855"/>
            <a:ext cx="277114" cy="297180"/>
          </a:xfrm>
          <a:prstGeom prst="rect">
            <a:avLst/>
          </a:prstGeom>
          <a:noFill/>
        </p:spPr>
        <p:txBody>
          <a:bodyPr wrap="none" lIns="0" rIns="0" tIns="0" bIns="0">
            <a:spAutoFit/>
          </a:bodyPr>
          <a:lstStyle/>
          <a:p>
            <a:pPr>
              <a:lnSpc>
                <a:spcPct val="112000"/>
              </a:lnSpc>
              <a:spcBef>
                <a:spcPts val="0"/>
              </a:spcBef>
              <a:spcAft>
                <a:spcPts val="0"/>
              </a:spcAft>
              <a:defRPr sz="1440" b="0">
                <a:solidFill>
                  <a:srgbClr val="333333"/>
                </a:solidFill>
                <a:latin typeface="微软雅黑"/>
              </a:defRPr>
            </a:pPr>
            <a:r>
              <a:rPr>
                <a:ea typeface="微软雅黑"/>
              </a:rPr>
              <a:t>①</a:t>
            </a:r>
          </a:p>
        </p:txBody>
      </p:sp>
      <p:sp>
        <p:nvSpPr>
          <p:cNvPr id="10" name="原题文字_341_34"/>
          <p:cNvSpPr txBox="1"/>
          <p:nvPr/>
        </p:nvSpPr>
        <p:spPr>
          <a:xfrm>
            <a:off x="4097020" y="1893455"/>
            <a:ext cx="385064" cy="363220"/>
          </a:xfrm>
          <a:prstGeom prst="rect">
            <a:avLst/>
          </a:prstGeom>
          <a:noFill/>
        </p:spPr>
        <p:txBody>
          <a:bodyPr wrap="none" lIns="0" rIns="0" tIns="0" bIns="0">
            <a:spAutoFit/>
          </a:bodyPr>
          <a:lstStyle/>
          <a:p>
            <a:pPr>
              <a:lnSpc>
                <a:spcPct val="112000"/>
              </a:lnSpc>
              <a:spcBef>
                <a:spcPts val="0"/>
              </a:spcBef>
              <a:spcAft>
                <a:spcPts val="0"/>
              </a:spcAft>
              <a:defRPr sz="1760" b="0">
                <a:solidFill>
                  <a:srgbClr val="333333"/>
                </a:solidFill>
                <a:latin typeface="微软雅黑"/>
              </a:defRPr>
            </a:pPr>
            <a:r>
              <a:rPr>
                <a:ea typeface="微软雅黑"/>
              </a:rPr>
              <a:t>C↑</a:t>
            </a:r>
          </a:p>
        </p:txBody>
      </p:sp>
      <p:sp>
        <p:nvSpPr>
          <p:cNvPr id="11" name="原题文字_341_35"/>
          <p:cNvSpPr txBox="1"/>
          <p:nvPr/>
        </p:nvSpPr>
        <p:spPr>
          <a:xfrm>
            <a:off x="1823720" y="2039505"/>
            <a:ext cx="277114" cy="297180"/>
          </a:xfrm>
          <a:prstGeom prst="rect">
            <a:avLst/>
          </a:prstGeom>
          <a:noFill/>
        </p:spPr>
        <p:txBody>
          <a:bodyPr wrap="none" lIns="0" rIns="0" tIns="0" bIns="0">
            <a:spAutoFit/>
          </a:bodyPr>
          <a:lstStyle/>
          <a:p>
            <a:pPr>
              <a:lnSpc>
                <a:spcPct val="112000"/>
              </a:lnSpc>
              <a:spcBef>
                <a:spcPts val="0"/>
              </a:spcBef>
              <a:spcAft>
                <a:spcPts val="0"/>
              </a:spcAft>
              <a:defRPr sz="1440" b="0">
                <a:solidFill>
                  <a:srgbClr val="333333"/>
                </a:solidFill>
                <a:latin typeface="微软雅黑"/>
              </a:defRPr>
            </a:pPr>
            <a:r>
              <a:rPr>
                <a:ea typeface="微软雅黑"/>
              </a:rPr>
              <a:t>A</a:t>
            </a:r>
          </a:p>
        </p:txBody>
      </p:sp>
      <p:sp>
        <p:nvSpPr>
          <p:cNvPr id="12" name="原题文字_341_36"/>
          <p:cNvSpPr txBox="1"/>
          <p:nvPr/>
        </p:nvSpPr>
        <p:spPr>
          <a:xfrm>
            <a:off x="2465070" y="2274455"/>
            <a:ext cx="25171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②</a:t>
            </a:r>
          </a:p>
        </p:txBody>
      </p:sp>
      <p:sp>
        <p:nvSpPr>
          <p:cNvPr id="13" name="原题文字_341_37"/>
          <p:cNvSpPr txBox="1"/>
          <p:nvPr/>
        </p:nvSpPr>
        <p:spPr>
          <a:xfrm>
            <a:off x="769620" y="2382405"/>
            <a:ext cx="397764" cy="429260"/>
          </a:xfrm>
          <a:prstGeom prst="rect">
            <a:avLst/>
          </a:prstGeom>
          <a:noFill/>
        </p:spPr>
        <p:txBody>
          <a:bodyPr wrap="none" lIns="0" rIns="0" tIns="0" bIns="0">
            <a:spAutoFit/>
          </a:bodyPr>
          <a:lstStyle/>
          <a:p>
            <a:pPr>
              <a:lnSpc>
                <a:spcPct val="112000"/>
              </a:lnSpc>
              <a:spcBef>
                <a:spcPts val="0"/>
              </a:spcBef>
              <a:spcAft>
                <a:spcPts val="0"/>
              </a:spcAft>
              <a:defRPr sz="2080" b="0">
                <a:solidFill>
                  <a:srgbClr val="333333"/>
                </a:solidFill>
                <a:latin typeface="微软雅黑"/>
              </a:defRPr>
            </a:pPr>
            <a:r>
              <a:rPr>
                <a:ea typeface="微软雅黑"/>
              </a:rPr>
              <a:t>H₂</a:t>
            </a:r>
          </a:p>
        </p:txBody>
      </p:sp>
      <p:sp>
        <p:nvSpPr>
          <p:cNvPr id="14" name="原题文字_341_38"/>
          <p:cNvSpPr txBox="1"/>
          <p:nvPr/>
        </p:nvSpPr>
        <p:spPr>
          <a:xfrm>
            <a:off x="2814320" y="2401455"/>
            <a:ext cx="2834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X</a:t>
            </a:r>
          </a:p>
        </p:txBody>
      </p:sp>
      <p:sp>
        <p:nvSpPr>
          <p:cNvPr id="15" name="原题文字_341_39"/>
          <p:cNvSpPr txBox="1"/>
          <p:nvPr/>
        </p:nvSpPr>
        <p:spPr>
          <a:xfrm>
            <a:off x="4046220" y="2376055"/>
            <a:ext cx="410464" cy="363220"/>
          </a:xfrm>
          <a:prstGeom prst="rect">
            <a:avLst/>
          </a:prstGeom>
          <a:noFill/>
        </p:spPr>
        <p:txBody>
          <a:bodyPr wrap="none" lIns="0" rIns="0" tIns="0" bIns="0">
            <a:spAutoFit/>
          </a:bodyPr>
          <a:lstStyle/>
          <a:p>
            <a:pPr>
              <a:lnSpc>
                <a:spcPct val="112000"/>
              </a:lnSpc>
              <a:spcBef>
                <a:spcPts val="0"/>
              </a:spcBef>
              <a:spcAft>
                <a:spcPts val="0"/>
              </a:spcAft>
              <a:defRPr sz="1760" b="0">
                <a:solidFill>
                  <a:srgbClr val="333333"/>
                </a:solidFill>
                <a:latin typeface="微软雅黑"/>
              </a:defRPr>
            </a:pPr>
            <a:r>
              <a:rPr>
                <a:ea typeface="微软雅黑"/>
              </a:rPr>
              <a:t>D↓</a:t>
            </a:r>
          </a:p>
        </p:txBody>
      </p:sp>
      <p:sp>
        <p:nvSpPr>
          <p:cNvPr id="16" name="原题文字_341_40"/>
          <p:cNvSpPr txBox="1"/>
          <p:nvPr/>
        </p:nvSpPr>
        <p:spPr>
          <a:xfrm>
            <a:off x="3309620" y="2534805"/>
            <a:ext cx="25806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④</a:t>
            </a:r>
          </a:p>
        </p:txBody>
      </p:sp>
      <p:sp>
        <p:nvSpPr>
          <p:cNvPr id="17" name="原题文字_341_41"/>
          <p:cNvSpPr txBox="1"/>
          <p:nvPr/>
        </p:nvSpPr>
        <p:spPr>
          <a:xfrm>
            <a:off x="4801870" y="2661805"/>
            <a:ext cx="854964" cy="354965"/>
          </a:xfrm>
          <a:prstGeom prst="rect">
            <a:avLst/>
          </a:prstGeom>
          <a:noFill/>
        </p:spPr>
        <p:txBody>
          <a:bodyPr wrap="none" lIns="0" rIns="0" tIns="0" bIns="0">
            <a:spAutoFit/>
          </a:bodyPr>
          <a:lstStyle/>
          <a:p>
            <a:pPr>
              <a:lnSpc>
                <a:spcPct val="112000"/>
              </a:lnSpc>
              <a:spcBef>
                <a:spcPts val="0"/>
              </a:spcBef>
              <a:spcAft>
                <a:spcPts val="0"/>
              </a:spcAft>
              <a:defRPr sz="1602" b="0">
                <a:solidFill>
                  <a:srgbClr val="333333"/>
                </a:solidFill>
                <a:latin typeface="微软雅黑"/>
              </a:defRPr>
            </a:pPr>
            <a:r>
              <a:rPr>
                <a:ea typeface="微软雅黑"/>
              </a:rPr>
              <a:t>过量CO₂</a:t>
            </a:r>
          </a:p>
        </p:txBody>
      </p:sp>
      <p:sp>
        <p:nvSpPr>
          <p:cNvPr id="18" name="原题文字_341_42"/>
          <p:cNvSpPr txBox="1"/>
          <p:nvPr/>
        </p:nvSpPr>
        <p:spPr>
          <a:xfrm>
            <a:off x="1830070" y="2757055"/>
            <a:ext cx="27711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B</a:t>
            </a:r>
          </a:p>
        </p:txBody>
      </p:sp>
      <p:sp>
        <p:nvSpPr>
          <p:cNvPr id="19" name="原题文字_341_43"/>
          <p:cNvSpPr txBox="1"/>
          <p:nvPr/>
        </p:nvSpPr>
        <p:spPr>
          <a:xfrm>
            <a:off x="3030220" y="2788805"/>
            <a:ext cx="537464" cy="363220"/>
          </a:xfrm>
          <a:prstGeom prst="rect">
            <a:avLst/>
          </a:prstGeom>
          <a:noFill/>
        </p:spPr>
        <p:txBody>
          <a:bodyPr wrap="none" lIns="0" rIns="0" tIns="0" bIns="0">
            <a:spAutoFit/>
          </a:bodyPr>
          <a:lstStyle/>
          <a:p>
            <a:pPr>
              <a:lnSpc>
                <a:spcPct val="112000"/>
              </a:lnSpc>
              <a:spcBef>
                <a:spcPts val="0"/>
              </a:spcBef>
              <a:spcAft>
                <a:spcPts val="0"/>
              </a:spcAft>
              <a:defRPr sz="1760" b="0">
                <a:solidFill>
                  <a:srgbClr val="333333"/>
                </a:solidFill>
                <a:latin typeface="微软雅黑"/>
              </a:defRPr>
            </a:pPr>
            <a:r>
              <a:rPr>
                <a:ea typeface="微软雅黑"/>
              </a:rPr>
              <a:t>铁锈</a:t>
            </a:r>
          </a:p>
        </p:txBody>
      </p:sp>
      <p:sp>
        <p:nvSpPr>
          <p:cNvPr id="20" name="原题文字_341_44"/>
          <p:cNvSpPr txBox="1"/>
          <p:nvPr/>
        </p:nvSpPr>
        <p:spPr>
          <a:xfrm>
            <a:off x="4058920" y="2820555"/>
            <a:ext cx="696214" cy="371475"/>
          </a:xfrm>
          <a:prstGeom prst="rect">
            <a:avLst/>
          </a:prstGeom>
          <a:noFill/>
        </p:spPr>
        <p:txBody>
          <a:bodyPr wrap="non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E溶液</a:t>
            </a:r>
          </a:p>
        </p:txBody>
      </p:sp>
      <p:sp>
        <p:nvSpPr>
          <p:cNvPr id="21" name="原题文字_341_45"/>
          <p:cNvSpPr txBox="1"/>
          <p:nvPr/>
        </p:nvSpPr>
        <p:spPr>
          <a:xfrm>
            <a:off x="5754370" y="2820555"/>
            <a:ext cx="689864" cy="371475"/>
          </a:xfrm>
          <a:prstGeom prst="rect">
            <a:avLst/>
          </a:prstGeom>
          <a:noFill/>
        </p:spPr>
        <p:txBody>
          <a:bodyPr wrap="non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F溶液</a:t>
            </a:r>
          </a:p>
        </p:txBody>
      </p:sp>
      <p:sp>
        <p:nvSpPr>
          <p:cNvPr id="22" name="原题文字_341_46"/>
          <p:cNvSpPr txBox="1"/>
          <p:nvPr/>
        </p:nvSpPr>
        <p:spPr>
          <a:xfrm>
            <a:off x="2687320" y="2922155"/>
            <a:ext cx="28346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③</a:t>
            </a:r>
          </a:p>
        </p:txBody>
      </p:sp>
      <p:sp>
        <p:nvSpPr>
          <p:cNvPr id="23" name="原题文字_341_47"/>
          <p:cNvSpPr txBox="1"/>
          <p:nvPr/>
        </p:nvSpPr>
        <p:spPr>
          <a:xfrm>
            <a:off x="2903220" y="2992005"/>
            <a:ext cx="785114" cy="429260"/>
          </a:xfrm>
          <a:prstGeom prst="rect">
            <a:avLst/>
          </a:prstGeom>
          <a:noFill/>
        </p:spPr>
        <p:txBody>
          <a:bodyPr wrap="none" lIns="0" rIns="0" tIns="0" bIns="0">
            <a:spAutoFit/>
          </a:bodyPr>
          <a:lstStyle/>
          <a:p>
            <a:pPr>
              <a:lnSpc>
                <a:spcPct val="112000"/>
              </a:lnSpc>
              <a:spcBef>
                <a:spcPts val="0"/>
              </a:spcBef>
              <a:spcAft>
                <a:spcPts val="0"/>
              </a:spcAft>
              <a:defRPr sz="1549" b="0">
                <a:solidFill>
                  <a:srgbClr val="333333"/>
                </a:solidFill>
                <a:latin typeface="微软雅黑"/>
              </a:defRPr>
            </a:pPr>
            <a:r>
              <a:rPr>
                <a:ea typeface="微软雅黑"/>
              </a:rPr>
              <a:t>(Fe₂O₃)</a:t>
            </a:r>
          </a:p>
        </p:txBody>
      </p:sp>
      <p:sp>
        <p:nvSpPr>
          <p:cNvPr id="24" name="原题文字_341_48"/>
          <p:cNvSpPr txBox="1"/>
          <p:nvPr/>
        </p:nvSpPr>
        <p:spPr>
          <a:xfrm>
            <a:off x="5106670" y="2992005"/>
            <a:ext cx="28981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⑤</a:t>
            </a:r>
          </a:p>
        </p:txBody>
      </p:sp>
      <p:sp>
        <p:nvSpPr>
          <p:cNvPr id="25" name="原题文字_341_49"/>
          <p:cNvSpPr txBox="1"/>
          <p:nvPr/>
        </p:nvSpPr>
        <p:spPr>
          <a:xfrm>
            <a:off x="2769870" y="3493655"/>
            <a:ext cx="35966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Fe</a:t>
            </a:r>
          </a:p>
        </p:txBody>
      </p:sp>
      <p:sp>
        <p:nvSpPr>
          <p:cNvPr id="26" name="文字_(1) 下列说法正确的是"/>
          <p:cNvSpPr txBox="1"/>
          <p:nvPr/>
        </p:nvSpPr>
        <p:spPr>
          <a:xfrm>
            <a:off x="502920" y="395420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(1) 下列说法正确的是</a:t>
            </a:r>
          </a:p>
        </p:txBody>
      </p:sp>
      <p:sp>
        <p:nvSpPr>
          <p:cNvPr id="27" name="文字_A. 反应①说明还原性：Na&gt;H₂"/>
          <p:cNvSpPr txBox="1"/>
          <p:nvPr/>
        </p:nvSpPr>
        <p:spPr>
          <a:xfrm>
            <a:off x="502920" y="421938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A. 反应①说明还原性：Na&gt;H₂</a:t>
            </a:r>
          </a:p>
        </p:txBody>
      </p:sp>
      <p:sp>
        <p:nvSpPr>
          <p:cNvPr id="28" name="文字_B. 反应②属于氧化还原反应"/>
          <p:cNvSpPr txBox="1"/>
          <p:nvPr/>
        </p:nvSpPr>
        <p:spPr>
          <a:xfrm>
            <a:off x="502920" y="448456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B. 反应②属于氧化还原反应</a:t>
            </a:r>
          </a:p>
        </p:txBody>
      </p:sp>
      <p:sp>
        <p:nvSpPr>
          <p:cNvPr id="29" name="文字_C. 物质D为Mg(OH)₂"/>
          <p:cNvSpPr txBox="1"/>
          <p:nvPr/>
        </p:nvSpPr>
        <p:spPr>
          <a:xfrm>
            <a:off x="502920" y="474973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C. 物质D为Mg(OH)₂</a:t>
            </a:r>
          </a:p>
        </p:txBody>
      </p:sp>
      <p:sp>
        <p:nvSpPr>
          <p:cNvPr id="30" name="文字_D. 反应③中Fe₂O₃作氧化剂"/>
          <p:cNvSpPr txBox="1"/>
          <p:nvPr/>
        </p:nvSpPr>
        <p:spPr>
          <a:xfrm>
            <a:off x="502920" y="501491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D. 反应③中Fe₂O₃作氧化剂</a:t>
            </a:r>
          </a:p>
        </p:txBody>
      </p:sp>
      <p:sp>
        <p:nvSpPr>
          <p:cNvPr id="31" name="文字_(2)写出反应②的化学方程式"/>
          <p:cNvSpPr txBox="1"/>
          <p:nvPr/>
        </p:nvSpPr>
        <p:spPr>
          <a:xfrm>
            <a:off x="502920" y="528008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(2)写出反应②的化学方程式</a:t>
            </a:r>
          </a:p>
        </p:txBody>
      </p:sp>
      <p:sp>
        <p:nvSpPr>
          <p:cNvPr id="32" name="文字_(3)写出反应⑤的离子方程式"/>
          <p:cNvSpPr txBox="1"/>
          <p:nvPr/>
        </p:nvSpPr>
        <p:spPr>
          <a:xfrm>
            <a:off x="502920" y="554526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(3)写出反应⑤的离子方程式</a:t>
            </a:r>
          </a:p>
        </p:txBody>
      </p:sp>
      <p:sp>
        <p:nvSpPr>
          <p:cNvPr id="33" name="文字_(4)写出X与盐酸反应的化学方程式"/>
          <p:cNvSpPr txBox="1"/>
          <p:nvPr/>
        </p:nvSpPr>
        <p:spPr>
          <a:xfrm>
            <a:off x="502920" y="581044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(4)写出X与盐酸反应的化学方程式</a:t>
            </a:r>
          </a:p>
        </p:txBody>
      </p:sp>
      <p:sp>
        <p:nvSpPr>
          <p:cNvPr id="34" name="文字_(5)设计实验检验气体C"/>
          <p:cNvSpPr txBox="1"/>
          <p:nvPr/>
        </p:nvSpPr>
        <p:spPr>
          <a:xfrm>
            <a:off x="502920" y="607561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(5)设计实验检验气体C</a:t>
            </a:r>
          </a:p>
        </p:txBody>
      </p:sp>
      <p:sp>
        <p:nvSpPr>
          <p:cNvPr id="35" name="文字_推断题  ·  16-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16-017</a:t>
            </a:r>
          </a:p>
        </p:txBody>
      </p:sp>
      <p:sp>
        <p:nvSpPr>
          <p:cNvPr id="36" name="文字_2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例题5</a:t>
            </a:r>
          </a:p>
        </p:txBody>
      </p:sp>
      <p:sp>
        <p:nvSpPr>
          <p:cNvPr id="5" name="文字_P34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P342</a:t>
            </a:r>
          </a:p>
        </p:txBody>
      </p:sp>
      <p:sp>
        <p:nvSpPr>
          <p:cNvPr id="6" name="文字_有关物质的转化关系如图所示，已知：A、B、E、F"/>
          <p:cNvSpPr txBox="1"/>
          <p:nvPr/>
        </p:nvSpPr>
        <p:spPr>
          <a:xfrm>
            <a:off x="502920" y="1078992"/>
            <a:ext cx="11064240" cy="1115822"/>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有关物质的转化关系如图所示，已知：A、B、E、F、H均为气体，其中A能使湿润的红</a:t>
            </a:r>
          </a:p>
          <a:p>
            <a:pPr>
              <a:lnSpc>
                <a:spcPct val="112000"/>
              </a:lnSpc>
              <a:spcBef>
                <a:spcPts val="0"/>
              </a:spcBef>
              <a:spcAft>
                <a:spcPts val="0"/>
              </a:spcAft>
              <a:defRPr sz="2300" b="0">
                <a:solidFill>
                  <a:srgbClr val="333333"/>
                </a:solidFill>
                <a:latin typeface="微软雅黑"/>
              </a:defRPr>
            </a:pPr>
            <a:r>
              <a:rPr>
                <a:ea typeface="微软雅黑"/>
              </a:rPr>
              <a:t>色石蕊试纸变蓝，B是空气的主要成分之一，F是一种具有漂白性的无色气体；G是红</a:t>
            </a:r>
          </a:p>
          <a:p>
            <a:pPr>
              <a:lnSpc>
                <a:spcPct val="112000"/>
              </a:lnSpc>
              <a:spcBef>
                <a:spcPts val="0"/>
              </a:spcBef>
              <a:spcAft>
                <a:spcPts val="0"/>
              </a:spcAft>
              <a:defRPr sz="2300" b="0">
                <a:solidFill>
                  <a:srgbClr val="333333"/>
                </a:solidFill>
                <a:latin typeface="微软雅黑"/>
              </a:defRPr>
            </a:pPr>
            <a:r>
              <a:rPr>
                <a:ea typeface="微软雅黑"/>
              </a:rPr>
              <a:t>棕色固体；C的摩尔质量为120g·mol-1。反应①②均为工业上的重要反应。</a:t>
            </a:r>
          </a:p>
        </p:txBody>
      </p:sp>
      <p:pic>
        <p:nvPicPr>
          <p:cNvPr id="7" name="Picture 6" descr="image.png"/>
          <p:cNvPicPr>
            <a:picLocks noChangeAspect="1"/>
          </p:cNvPicPr>
          <p:nvPr/>
        </p:nvPicPr>
        <p:blipFill>
          <a:blip r:embed="rId3"/>
          <a:stretch>
            <a:fillRect/>
          </a:stretch>
        </p:blipFill>
        <p:spPr>
          <a:xfrm>
            <a:off x="502920" y="2194814"/>
            <a:ext cx="11064240" cy="2396613"/>
          </a:xfrm>
          <a:prstGeom prst="rect">
            <a:avLst/>
          </a:prstGeom>
        </p:spPr>
      </p:pic>
      <p:sp>
        <p:nvSpPr>
          <p:cNvPr id="8" name="原题文字_342_6"/>
          <p:cNvSpPr txBox="1"/>
          <p:nvPr/>
        </p:nvSpPr>
        <p:spPr>
          <a:xfrm>
            <a:off x="656058" y="2303266"/>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a:t>
            </a:r>
          </a:p>
        </p:txBody>
      </p:sp>
      <p:sp>
        <p:nvSpPr>
          <p:cNvPr id="9" name="原题文字_342_7"/>
          <p:cNvSpPr txBox="1"/>
          <p:nvPr/>
        </p:nvSpPr>
        <p:spPr>
          <a:xfrm>
            <a:off x="2133842" y="2402806"/>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10" name="原题文字_342_8"/>
          <p:cNvSpPr txBox="1"/>
          <p:nvPr/>
        </p:nvSpPr>
        <p:spPr>
          <a:xfrm>
            <a:off x="1192042" y="2540631"/>
            <a:ext cx="652103" cy="368297"/>
          </a:xfrm>
          <a:prstGeom prst="rect">
            <a:avLst/>
          </a:prstGeom>
          <a:noFill/>
        </p:spPr>
        <p:txBody>
          <a:bodyPr wrap="none" lIns="0" rIns="0" tIns="0" bIns="0">
            <a:spAutoFit/>
          </a:bodyPr>
          <a:lstStyle/>
          <a:p>
            <a:pPr>
              <a:lnSpc>
                <a:spcPct val="112000"/>
              </a:lnSpc>
              <a:spcBef>
                <a:spcPts val="0"/>
              </a:spcBef>
              <a:spcAft>
                <a:spcPts val="0"/>
              </a:spcAft>
              <a:defRPr sz="1720" b="0">
                <a:solidFill>
                  <a:srgbClr val="333333"/>
                </a:solidFill>
                <a:latin typeface="微软雅黑"/>
              </a:defRPr>
            </a:pPr>
            <a:r>
              <a:rPr>
                <a:ea typeface="微软雅黑"/>
              </a:rPr>
              <a:t>催化剂</a:t>
            </a:r>
          </a:p>
        </p:txBody>
      </p:sp>
      <p:sp>
        <p:nvSpPr>
          <p:cNvPr id="11" name="原题文字_342_9"/>
          <p:cNvSpPr txBox="1"/>
          <p:nvPr/>
        </p:nvSpPr>
        <p:spPr>
          <a:xfrm>
            <a:off x="4270121" y="2647828"/>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E</a:t>
            </a:r>
          </a:p>
        </p:txBody>
      </p:sp>
      <p:sp>
        <p:nvSpPr>
          <p:cNvPr id="12" name="原题文字_342_10"/>
          <p:cNvSpPr txBox="1"/>
          <p:nvPr/>
        </p:nvSpPr>
        <p:spPr>
          <a:xfrm>
            <a:off x="1192042" y="2777995"/>
            <a:ext cx="59850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△①</a:t>
            </a:r>
          </a:p>
        </p:txBody>
      </p:sp>
      <p:sp>
        <p:nvSpPr>
          <p:cNvPr id="13" name="原题文字_342_11"/>
          <p:cNvSpPr txBox="1"/>
          <p:nvPr/>
        </p:nvSpPr>
        <p:spPr>
          <a:xfrm>
            <a:off x="2126185" y="2923476"/>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E</a:t>
            </a:r>
          </a:p>
        </p:txBody>
      </p:sp>
      <p:sp>
        <p:nvSpPr>
          <p:cNvPr id="14" name="原题文字_342_12"/>
          <p:cNvSpPr txBox="1"/>
          <p:nvPr/>
        </p:nvSpPr>
        <p:spPr>
          <a:xfrm>
            <a:off x="2547315" y="2854564"/>
            <a:ext cx="253943"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B</a:t>
            </a:r>
          </a:p>
        </p:txBody>
      </p:sp>
      <p:sp>
        <p:nvSpPr>
          <p:cNvPr id="15" name="原题文字_342_13"/>
          <p:cNvSpPr txBox="1"/>
          <p:nvPr/>
        </p:nvSpPr>
        <p:spPr>
          <a:xfrm>
            <a:off x="3029701" y="2908163"/>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H</a:t>
            </a:r>
          </a:p>
        </p:txBody>
      </p:sp>
      <p:sp>
        <p:nvSpPr>
          <p:cNvPr id="16" name="原题文字_342_14"/>
          <p:cNvSpPr txBox="1"/>
          <p:nvPr/>
        </p:nvSpPr>
        <p:spPr>
          <a:xfrm>
            <a:off x="3626940" y="3053644"/>
            <a:ext cx="261600"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③</a:t>
            </a:r>
          </a:p>
        </p:txBody>
      </p:sp>
      <p:sp>
        <p:nvSpPr>
          <p:cNvPr id="17" name="原题文字_342_15"/>
          <p:cNvSpPr txBox="1"/>
          <p:nvPr/>
        </p:nvSpPr>
        <p:spPr>
          <a:xfrm>
            <a:off x="656058" y="3137870"/>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a:t>
            </a:r>
          </a:p>
        </p:txBody>
      </p:sp>
      <p:sp>
        <p:nvSpPr>
          <p:cNvPr id="18" name="原题文字_342_16"/>
          <p:cNvSpPr txBox="1"/>
          <p:nvPr/>
        </p:nvSpPr>
        <p:spPr>
          <a:xfrm>
            <a:off x="4339033" y="3199125"/>
            <a:ext cx="162060"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I</a:t>
            </a:r>
          </a:p>
        </p:txBody>
      </p:sp>
      <p:sp>
        <p:nvSpPr>
          <p:cNvPr id="19" name="原题文字_342_17"/>
          <p:cNvSpPr txBox="1"/>
          <p:nvPr/>
        </p:nvSpPr>
        <p:spPr>
          <a:xfrm>
            <a:off x="2141499" y="3359920"/>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F</a:t>
            </a:r>
          </a:p>
        </p:txBody>
      </p:sp>
      <p:sp>
        <p:nvSpPr>
          <p:cNvPr id="20" name="原题文字_342_18"/>
          <p:cNvSpPr txBox="1"/>
          <p:nvPr/>
        </p:nvSpPr>
        <p:spPr>
          <a:xfrm>
            <a:off x="1230326" y="3444147"/>
            <a:ext cx="475994"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高温</a:t>
            </a:r>
          </a:p>
        </p:txBody>
      </p:sp>
      <p:sp>
        <p:nvSpPr>
          <p:cNvPr id="21" name="原题文字_342_19"/>
          <p:cNvSpPr txBox="1"/>
          <p:nvPr/>
        </p:nvSpPr>
        <p:spPr>
          <a:xfrm>
            <a:off x="1345180" y="3719795"/>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②</a:t>
            </a:r>
          </a:p>
        </p:txBody>
      </p:sp>
      <p:sp>
        <p:nvSpPr>
          <p:cNvPr id="22" name="原题文字_342_20"/>
          <p:cNvSpPr txBox="1"/>
          <p:nvPr/>
        </p:nvSpPr>
        <p:spPr>
          <a:xfrm>
            <a:off x="5487570" y="3758080"/>
            <a:ext cx="192688"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J</a:t>
            </a:r>
          </a:p>
        </p:txBody>
      </p:sp>
      <p:sp>
        <p:nvSpPr>
          <p:cNvPr id="23" name="原题文字_342_21"/>
          <p:cNvSpPr txBox="1"/>
          <p:nvPr/>
        </p:nvSpPr>
        <p:spPr>
          <a:xfrm>
            <a:off x="2141499" y="3849963"/>
            <a:ext cx="25394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G</a:t>
            </a:r>
          </a:p>
        </p:txBody>
      </p:sp>
      <p:sp>
        <p:nvSpPr>
          <p:cNvPr id="24" name="原题文字_342_22"/>
          <p:cNvSpPr txBox="1"/>
          <p:nvPr/>
        </p:nvSpPr>
        <p:spPr>
          <a:xfrm>
            <a:off x="671372" y="3949503"/>
            <a:ext cx="2692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a:t>
            </a:r>
          </a:p>
        </p:txBody>
      </p:sp>
      <p:sp>
        <p:nvSpPr>
          <p:cNvPr id="25" name="原题文字_342_23"/>
          <p:cNvSpPr txBox="1"/>
          <p:nvPr/>
        </p:nvSpPr>
        <p:spPr>
          <a:xfrm>
            <a:off x="594802" y="4278750"/>
            <a:ext cx="1670472" cy="348389"/>
          </a:xfrm>
          <a:prstGeom prst="rect">
            <a:avLst/>
          </a:prstGeom>
          <a:noFill/>
        </p:spPr>
        <p:txBody>
          <a:bodyPr wrap="none" lIns="0" rIns="0" tIns="0" bIns="0">
            <a:spAutoFit/>
          </a:bodyPr>
          <a:lstStyle/>
          <a:p>
            <a:pPr>
              <a:lnSpc>
                <a:spcPct val="112000"/>
              </a:lnSpc>
              <a:spcBef>
                <a:spcPts val="0"/>
              </a:spcBef>
              <a:spcAft>
                <a:spcPts val="0"/>
              </a:spcAft>
              <a:defRPr sz="1672" b="0">
                <a:solidFill>
                  <a:srgbClr val="333333"/>
                </a:solidFill>
                <a:latin typeface="微软雅黑"/>
              </a:defRPr>
            </a:pPr>
            <a:r>
              <a:rPr>
                <a:ea typeface="微软雅黑"/>
              </a:rPr>
              <a:t>请回答下列问题：</a:t>
            </a:r>
          </a:p>
        </p:txBody>
      </p:sp>
      <p:sp>
        <p:nvSpPr>
          <p:cNvPr id="26" name="文字_(1) J的化学式为"/>
          <p:cNvSpPr txBox="1"/>
          <p:nvPr/>
        </p:nvSpPr>
        <p:spPr>
          <a:xfrm>
            <a:off x="502920" y="4664579"/>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(1) J的化学式为</a:t>
            </a:r>
          </a:p>
        </p:txBody>
      </p:sp>
      <p:sp>
        <p:nvSpPr>
          <p:cNvPr id="27" name="文字_(2)A的电子式为"/>
          <p:cNvSpPr txBox="1"/>
          <p:nvPr/>
        </p:nvSpPr>
        <p:spPr>
          <a:xfrm>
            <a:off x="502920" y="5085203"/>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(2)A的电子式为</a:t>
            </a:r>
          </a:p>
        </p:txBody>
      </p:sp>
      <p:sp>
        <p:nvSpPr>
          <p:cNvPr id="28" name="文字_(3) 写出反应②的化学方程式:"/>
          <p:cNvSpPr txBox="1"/>
          <p:nvPr/>
        </p:nvSpPr>
        <p:spPr>
          <a:xfrm>
            <a:off x="502920" y="5505827"/>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(3) 写出反应②的化学方程式:</a:t>
            </a:r>
          </a:p>
        </p:txBody>
      </p:sp>
      <p:sp>
        <p:nvSpPr>
          <p:cNvPr id="29" name="文字_(4)写出反应③的离子方程式："/>
          <p:cNvSpPr txBox="1"/>
          <p:nvPr/>
        </p:nvSpPr>
        <p:spPr>
          <a:xfrm>
            <a:off x="502920" y="5926451"/>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(4)写出反应③的离子方程式：</a:t>
            </a:r>
          </a:p>
        </p:txBody>
      </p:sp>
      <p:sp>
        <p:nvSpPr>
          <p:cNvPr id="30" name="文字_推断题  ·  16-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16-018</a:t>
            </a:r>
          </a:p>
        </p:txBody>
      </p:sp>
      <p:sp>
        <p:nvSpPr>
          <p:cNvPr id="31" name="文字_2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例题6</a:t>
            </a:r>
          </a:p>
        </p:txBody>
      </p:sp>
      <p:sp>
        <p:nvSpPr>
          <p:cNvPr id="5" name="文字_P342–3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P342–343</a:t>
            </a:r>
          </a:p>
        </p:txBody>
      </p:sp>
      <p:sp>
        <p:nvSpPr>
          <p:cNvPr id="6" name="文字_已知A为淡黄色固体，T、R为两种常见的用途很广的"/>
          <p:cNvSpPr txBox="1"/>
          <p:nvPr/>
        </p:nvSpPr>
        <p:spPr>
          <a:xfrm>
            <a:off x="502920" y="1078992"/>
            <a:ext cx="11064240" cy="467614"/>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已知A为淡黄色固体，T、R为两种常见的用途很广的金属单质，D是具有磁性的黑色晶体，C是无色无味的气体，H是白色沉淀，且在潮湿空气</a:t>
            </a:r>
          </a:p>
          <a:p>
            <a:pPr>
              <a:lnSpc>
                <a:spcPct val="112000"/>
              </a:lnSpc>
              <a:spcBef>
                <a:spcPts val="0"/>
              </a:spcBef>
              <a:spcAft>
                <a:spcPts val="0"/>
              </a:spcAft>
              <a:defRPr sz="1400" b="0">
                <a:solidFill>
                  <a:srgbClr val="333333"/>
                </a:solidFill>
                <a:latin typeface="微软雅黑"/>
              </a:defRPr>
            </a:pPr>
            <a:r>
              <a:rPr>
                <a:ea typeface="微软雅黑"/>
              </a:rPr>
              <a:t>中迅速变为灰绿色，最终变为红褐色固体M。</a:t>
            </a:r>
          </a:p>
        </p:txBody>
      </p:sp>
      <p:pic>
        <p:nvPicPr>
          <p:cNvPr id="7" name="Picture 6" descr="image.png"/>
          <p:cNvPicPr>
            <a:picLocks noChangeAspect="1"/>
          </p:cNvPicPr>
          <p:nvPr/>
        </p:nvPicPr>
        <p:blipFill>
          <a:blip r:embed="rId3"/>
          <a:stretch>
            <a:fillRect/>
          </a:stretch>
        </p:blipFill>
        <p:spPr>
          <a:xfrm>
            <a:off x="502920" y="1546606"/>
            <a:ext cx="8859344" cy="1551151"/>
          </a:xfrm>
          <a:prstGeom prst="rect">
            <a:avLst/>
          </a:prstGeom>
        </p:spPr>
      </p:pic>
      <p:sp>
        <p:nvSpPr>
          <p:cNvPr id="8" name="原题文字_342_35"/>
          <p:cNvSpPr txBox="1"/>
          <p:nvPr/>
        </p:nvSpPr>
        <p:spPr>
          <a:xfrm>
            <a:off x="784947" y="1570860"/>
            <a:ext cx="171353" cy="159406"/>
          </a:xfrm>
          <a:prstGeom prst="rect">
            <a:avLst/>
          </a:prstGeom>
          <a:noFill/>
        </p:spPr>
        <p:txBody>
          <a:bodyPr wrap="none" lIns="0" rIns="0" tIns="0" bIns="0">
            <a:spAutoFit/>
          </a:bodyPr>
          <a:lstStyle/>
          <a:p>
            <a:pPr>
              <a:lnSpc>
                <a:spcPct val="112000"/>
              </a:lnSpc>
              <a:spcBef>
                <a:spcPts val="0"/>
              </a:spcBef>
              <a:spcAft>
                <a:spcPts val="0"/>
              </a:spcAft>
              <a:defRPr sz="772" b="0">
                <a:solidFill>
                  <a:srgbClr val="333333"/>
                </a:solidFill>
                <a:latin typeface="微软雅黑"/>
              </a:defRPr>
            </a:pPr>
            <a:r>
              <a:rPr>
                <a:ea typeface="微软雅黑"/>
              </a:rPr>
              <a:t>B</a:t>
            </a:r>
          </a:p>
        </p:txBody>
      </p:sp>
      <p:sp>
        <p:nvSpPr>
          <p:cNvPr id="9" name="原题文字_342_36"/>
          <p:cNvSpPr txBox="1"/>
          <p:nvPr/>
        </p:nvSpPr>
        <p:spPr>
          <a:xfrm>
            <a:off x="1189595" y="1626039"/>
            <a:ext cx="177484" cy="143466"/>
          </a:xfrm>
          <a:prstGeom prst="rect">
            <a:avLst/>
          </a:prstGeom>
          <a:noFill/>
        </p:spPr>
        <p:txBody>
          <a:bodyPr wrap="none" lIns="0" rIns="0" tIns="0" bIns="0">
            <a:spAutoFit/>
          </a:bodyPr>
          <a:lstStyle/>
          <a:p>
            <a:pPr>
              <a:lnSpc>
                <a:spcPct val="112000"/>
              </a:lnSpc>
              <a:spcBef>
                <a:spcPts val="0"/>
              </a:spcBef>
              <a:spcAft>
                <a:spcPts val="0"/>
              </a:spcAft>
              <a:defRPr sz="695" b="0">
                <a:solidFill>
                  <a:srgbClr val="333333"/>
                </a:solidFill>
                <a:latin typeface="微软雅黑"/>
              </a:defRPr>
            </a:pPr>
            <a:r>
              <a:rPr>
                <a:ea typeface="微软雅黑"/>
              </a:rPr>
              <a:t>N</a:t>
            </a:r>
          </a:p>
        </p:txBody>
      </p:sp>
      <p:sp>
        <p:nvSpPr>
          <p:cNvPr id="10" name="原题文字_342_37"/>
          <p:cNvSpPr txBox="1"/>
          <p:nvPr/>
        </p:nvSpPr>
        <p:spPr>
          <a:xfrm>
            <a:off x="1238644" y="1822232"/>
            <a:ext cx="171353" cy="167377"/>
          </a:xfrm>
          <a:prstGeom prst="rect">
            <a:avLst/>
          </a:prstGeom>
          <a:noFill/>
        </p:spPr>
        <p:txBody>
          <a:bodyPr wrap="none" lIns="0" rIns="0" tIns="0" bIns="0">
            <a:spAutoFit/>
          </a:bodyPr>
          <a:lstStyle/>
          <a:p>
            <a:pPr>
              <a:lnSpc>
                <a:spcPct val="112000"/>
              </a:lnSpc>
              <a:spcBef>
                <a:spcPts val="0"/>
              </a:spcBef>
              <a:spcAft>
                <a:spcPts val="0"/>
              </a:spcAft>
              <a:defRPr sz="811" b="0">
                <a:solidFill>
                  <a:srgbClr val="333333"/>
                </a:solidFill>
                <a:latin typeface="微软雅黑"/>
              </a:defRPr>
            </a:pPr>
            <a:r>
              <a:rPr>
                <a:ea typeface="微软雅黑"/>
              </a:rPr>
              <a:t>R</a:t>
            </a:r>
          </a:p>
        </p:txBody>
      </p:sp>
      <p:sp>
        <p:nvSpPr>
          <p:cNvPr id="11" name="原题文字_342_38"/>
          <p:cNvSpPr txBox="1"/>
          <p:nvPr/>
        </p:nvSpPr>
        <p:spPr>
          <a:xfrm>
            <a:off x="1680078" y="1809970"/>
            <a:ext cx="183615" cy="151436"/>
          </a:xfrm>
          <a:prstGeom prst="rect">
            <a:avLst/>
          </a:prstGeom>
          <a:noFill/>
        </p:spPr>
        <p:txBody>
          <a:bodyPr wrap="none" lIns="0" rIns="0" tIns="0" bIns="0">
            <a:spAutoFit/>
          </a:bodyPr>
          <a:lstStyle/>
          <a:p>
            <a:pPr>
              <a:lnSpc>
                <a:spcPct val="112000"/>
              </a:lnSpc>
              <a:spcBef>
                <a:spcPts val="0"/>
              </a:spcBef>
              <a:spcAft>
                <a:spcPts val="0"/>
              </a:spcAft>
              <a:defRPr sz="733" b="0">
                <a:solidFill>
                  <a:srgbClr val="333333"/>
                </a:solidFill>
                <a:latin typeface="微软雅黑"/>
              </a:defRPr>
            </a:pPr>
            <a:r>
              <a:rPr>
                <a:ea typeface="微软雅黑"/>
              </a:rPr>
              <a:t>H</a:t>
            </a:r>
          </a:p>
        </p:txBody>
      </p:sp>
      <p:sp>
        <p:nvSpPr>
          <p:cNvPr id="12" name="原题文字_342_39"/>
          <p:cNvSpPr txBox="1"/>
          <p:nvPr/>
        </p:nvSpPr>
        <p:spPr>
          <a:xfrm>
            <a:off x="1845616" y="1736398"/>
            <a:ext cx="477905" cy="191288"/>
          </a:xfrm>
          <a:prstGeom prst="rect">
            <a:avLst/>
          </a:prstGeom>
          <a:noFill/>
        </p:spPr>
        <p:txBody>
          <a:bodyPr wrap="none" lIns="0" rIns="0" tIns="0" bIns="0">
            <a:spAutoFit/>
          </a:bodyPr>
          <a:lstStyle/>
          <a:p>
            <a:pPr>
              <a:lnSpc>
                <a:spcPct val="112000"/>
              </a:lnSpc>
              <a:spcBef>
                <a:spcPts val="0"/>
              </a:spcBef>
              <a:spcAft>
                <a:spcPts val="0"/>
              </a:spcAft>
              <a:defRPr sz="926" b="0">
                <a:solidFill>
                  <a:srgbClr val="333333"/>
                </a:solidFill>
                <a:latin typeface="微软雅黑"/>
              </a:defRPr>
            </a:pPr>
            <a:r>
              <a:rPr>
                <a:ea typeface="微软雅黑"/>
              </a:rPr>
              <a:t>潮湿空气</a:t>
            </a:r>
          </a:p>
        </p:txBody>
      </p:sp>
      <p:sp>
        <p:nvSpPr>
          <p:cNvPr id="13" name="原题文字_342_40"/>
          <p:cNvSpPr txBox="1"/>
          <p:nvPr/>
        </p:nvSpPr>
        <p:spPr>
          <a:xfrm>
            <a:off x="2299313" y="1809970"/>
            <a:ext cx="195877" cy="159406"/>
          </a:xfrm>
          <a:prstGeom prst="rect">
            <a:avLst/>
          </a:prstGeom>
          <a:noFill/>
        </p:spPr>
        <p:txBody>
          <a:bodyPr wrap="none" lIns="0" rIns="0" tIns="0" bIns="0">
            <a:spAutoFit/>
          </a:bodyPr>
          <a:lstStyle/>
          <a:p>
            <a:pPr>
              <a:lnSpc>
                <a:spcPct val="112000"/>
              </a:lnSpc>
              <a:spcBef>
                <a:spcPts val="0"/>
              </a:spcBef>
              <a:spcAft>
                <a:spcPts val="0"/>
              </a:spcAft>
              <a:defRPr sz="772" b="0">
                <a:solidFill>
                  <a:srgbClr val="333333"/>
                </a:solidFill>
                <a:latin typeface="微软雅黑"/>
              </a:defRPr>
            </a:pPr>
            <a:r>
              <a:rPr>
                <a:ea typeface="微软雅黑"/>
              </a:rPr>
              <a:t>M</a:t>
            </a:r>
          </a:p>
        </p:txBody>
      </p:sp>
      <p:sp>
        <p:nvSpPr>
          <p:cNvPr id="14" name="原题文字_342_41"/>
          <p:cNvSpPr txBox="1"/>
          <p:nvPr/>
        </p:nvSpPr>
        <p:spPr>
          <a:xfrm>
            <a:off x="2477113" y="1730267"/>
            <a:ext cx="293974" cy="199258"/>
          </a:xfrm>
          <a:prstGeom prst="rect">
            <a:avLst/>
          </a:prstGeom>
          <a:noFill/>
        </p:spPr>
        <p:txBody>
          <a:bodyPr wrap="none" lIns="0" rIns="0" tIns="0" bIns="0">
            <a:spAutoFit/>
          </a:bodyPr>
          <a:lstStyle/>
          <a:p>
            <a:pPr>
              <a:lnSpc>
                <a:spcPct val="112000"/>
              </a:lnSpc>
              <a:spcBef>
                <a:spcPts val="0"/>
              </a:spcBef>
              <a:spcAft>
                <a:spcPts val="0"/>
              </a:spcAft>
              <a:defRPr sz="965" b="0">
                <a:solidFill>
                  <a:srgbClr val="333333"/>
                </a:solidFill>
                <a:latin typeface="微软雅黑"/>
              </a:defRPr>
            </a:pPr>
            <a:r>
              <a:rPr>
                <a:ea typeface="微软雅黑"/>
              </a:rPr>
              <a:t>盐酸</a:t>
            </a:r>
          </a:p>
        </p:txBody>
      </p:sp>
      <p:sp>
        <p:nvSpPr>
          <p:cNvPr id="15" name="原题文字_342_42"/>
          <p:cNvSpPr txBox="1"/>
          <p:nvPr/>
        </p:nvSpPr>
        <p:spPr>
          <a:xfrm>
            <a:off x="2789795" y="1791577"/>
            <a:ext cx="208139" cy="199258"/>
          </a:xfrm>
          <a:prstGeom prst="rect">
            <a:avLst/>
          </a:prstGeom>
          <a:noFill/>
        </p:spPr>
        <p:txBody>
          <a:bodyPr wrap="none" lIns="0" rIns="0" tIns="0" bIns="0">
            <a:spAutoFit/>
          </a:bodyPr>
          <a:lstStyle/>
          <a:p>
            <a:pPr>
              <a:lnSpc>
                <a:spcPct val="112000"/>
              </a:lnSpc>
              <a:spcBef>
                <a:spcPts val="0"/>
              </a:spcBef>
              <a:spcAft>
                <a:spcPts val="0"/>
              </a:spcAft>
              <a:defRPr sz="965" b="0">
                <a:solidFill>
                  <a:srgbClr val="333333"/>
                </a:solidFill>
                <a:latin typeface="微软雅黑"/>
              </a:defRPr>
            </a:pPr>
            <a:r>
              <a:rPr>
                <a:ea typeface="微软雅黑"/>
              </a:rPr>
              <a:t>w</a:t>
            </a:r>
          </a:p>
        </p:txBody>
      </p:sp>
      <p:sp>
        <p:nvSpPr>
          <p:cNvPr id="16" name="原题文字_342_43"/>
          <p:cNvSpPr txBox="1"/>
          <p:nvPr/>
        </p:nvSpPr>
        <p:spPr>
          <a:xfrm>
            <a:off x="1189595" y="1993901"/>
            <a:ext cx="171353" cy="159406"/>
          </a:xfrm>
          <a:prstGeom prst="rect">
            <a:avLst/>
          </a:prstGeom>
          <a:noFill/>
        </p:spPr>
        <p:txBody>
          <a:bodyPr wrap="none" lIns="0" rIns="0" tIns="0" bIns="0">
            <a:spAutoFit/>
          </a:bodyPr>
          <a:lstStyle/>
          <a:p>
            <a:pPr>
              <a:lnSpc>
                <a:spcPct val="112000"/>
              </a:lnSpc>
              <a:spcBef>
                <a:spcPts val="0"/>
              </a:spcBef>
              <a:spcAft>
                <a:spcPts val="0"/>
              </a:spcAft>
              <a:defRPr sz="772" b="0">
                <a:solidFill>
                  <a:srgbClr val="333333"/>
                </a:solidFill>
                <a:latin typeface="微软雅黑"/>
              </a:defRPr>
            </a:pPr>
            <a:r>
              <a:rPr>
                <a:ea typeface="微软雅黑"/>
              </a:rPr>
              <a:t>B</a:t>
            </a:r>
          </a:p>
        </p:txBody>
      </p:sp>
      <p:sp>
        <p:nvSpPr>
          <p:cNvPr id="17" name="原题文字_342_44"/>
          <p:cNvSpPr txBox="1"/>
          <p:nvPr/>
        </p:nvSpPr>
        <p:spPr>
          <a:xfrm>
            <a:off x="901437" y="2073605"/>
            <a:ext cx="214270" cy="199258"/>
          </a:xfrm>
          <a:prstGeom prst="rect">
            <a:avLst/>
          </a:prstGeom>
          <a:noFill/>
        </p:spPr>
        <p:txBody>
          <a:bodyPr wrap="none" lIns="0" rIns="0" tIns="0" bIns="0">
            <a:spAutoFit/>
          </a:bodyPr>
          <a:lstStyle/>
          <a:p>
            <a:pPr>
              <a:lnSpc>
                <a:spcPct val="112000"/>
              </a:lnSpc>
              <a:spcBef>
                <a:spcPts val="0"/>
              </a:spcBef>
              <a:spcAft>
                <a:spcPts val="0"/>
              </a:spcAft>
              <a:defRPr sz="965" b="0">
                <a:solidFill>
                  <a:srgbClr val="333333"/>
                </a:solidFill>
                <a:latin typeface="微软雅黑"/>
              </a:defRPr>
            </a:pPr>
            <a:r>
              <a:rPr>
                <a:ea typeface="微软雅黑"/>
              </a:rPr>
              <a:t>水</a:t>
            </a:r>
          </a:p>
        </p:txBody>
      </p:sp>
      <p:sp>
        <p:nvSpPr>
          <p:cNvPr id="18" name="原题文字_342_45"/>
          <p:cNvSpPr txBox="1"/>
          <p:nvPr/>
        </p:nvSpPr>
        <p:spPr>
          <a:xfrm>
            <a:off x="784947" y="2147177"/>
            <a:ext cx="152960" cy="135495"/>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A</a:t>
            </a:r>
          </a:p>
        </p:txBody>
      </p:sp>
      <p:sp>
        <p:nvSpPr>
          <p:cNvPr id="19" name="原题文字_342_46"/>
          <p:cNvSpPr txBox="1"/>
          <p:nvPr/>
        </p:nvSpPr>
        <p:spPr>
          <a:xfrm>
            <a:off x="1220251" y="2288191"/>
            <a:ext cx="11617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C</a:t>
            </a:r>
          </a:p>
        </p:txBody>
      </p:sp>
      <p:sp>
        <p:nvSpPr>
          <p:cNvPr id="20" name="原题文字_342_47"/>
          <p:cNvSpPr txBox="1"/>
          <p:nvPr/>
        </p:nvSpPr>
        <p:spPr>
          <a:xfrm>
            <a:off x="1342871" y="2324977"/>
            <a:ext cx="269450" cy="183317"/>
          </a:xfrm>
          <a:prstGeom prst="rect">
            <a:avLst/>
          </a:prstGeom>
          <a:noFill/>
        </p:spPr>
        <p:txBody>
          <a:bodyPr wrap="none" lIns="0" rIns="0" tIns="0" bIns="0">
            <a:spAutoFit/>
          </a:bodyPr>
          <a:lstStyle/>
          <a:p>
            <a:pPr>
              <a:lnSpc>
                <a:spcPct val="112000"/>
              </a:lnSpc>
              <a:spcBef>
                <a:spcPts val="0"/>
              </a:spcBef>
              <a:spcAft>
                <a:spcPts val="0"/>
              </a:spcAft>
              <a:defRPr sz="888" b="0">
                <a:solidFill>
                  <a:srgbClr val="333333"/>
                </a:solidFill>
                <a:latin typeface="微软雅黑"/>
              </a:defRPr>
            </a:pPr>
            <a:r>
              <a:rPr>
                <a:ea typeface="微软雅黑"/>
              </a:rPr>
              <a:t>点燃</a:t>
            </a:r>
          </a:p>
        </p:txBody>
      </p:sp>
      <p:sp>
        <p:nvSpPr>
          <p:cNvPr id="21" name="原题文字_342_48"/>
          <p:cNvSpPr txBox="1"/>
          <p:nvPr/>
        </p:nvSpPr>
        <p:spPr>
          <a:xfrm>
            <a:off x="1398051" y="2226881"/>
            <a:ext cx="152960" cy="119555"/>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T</a:t>
            </a:r>
          </a:p>
        </p:txBody>
      </p:sp>
      <p:sp>
        <p:nvSpPr>
          <p:cNvPr id="22" name="原题文字_342_49"/>
          <p:cNvSpPr txBox="1"/>
          <p:nvPr/>
        </p:nvSpPr>
        <p:spPr>
          <a:xfrm>
            <a:off x="1741388" y="2177832"/>
            <a:ext cx="385939" cy="191288"/>
          </a:xfrm>
          <a:prstGeom prst="rect">
            <a:avLst/>
          </a:prstGeom>
          <a:noFill/>
        </p:spPr>
        <p:txBody>
          <a:bodyPr wrap="none" lIns="0" rIns="0" tIns="0" bIns="0">
            <a:spAutoFit/>
          </a:bodyPr>
          <a:lstStyle/>
          <a:p>
            <a:pPr>
              <a:lnSpc>
                <a:spcPct val="112000"/>
              </a:lnSpc>
              <a:spcBef>
                <a:spcPts val="0"/>
              </a:spcBef>
              <a:spcAft>
                <a:spcPts val="0"/>
              </a:spcAft>
              <a:defRPr sz="926" b="0">
                <a:solidFill>
                  <a:srgbClr val="333333"/>
                </a:solidFill>
                <a:latin typeface="微软雅黑"/>
              </a:defRPr>
            </a:pPr>
            <a:r>
              <a:rPr>
                <a:ea typeface="微软雅黑"/>
              </a:rPr>
              <a:t>①盐酸</a:t>
            </a:r>
          </a:p>
        </p:txBody>
      </p:sp>
      <p:sp>
        <p:nvSpPr>
          <p:cNvPr id="23" name="原题文字_342_50"/>
          <p:cNvSpPr txBox="1"/>
          <p:nvPr/>
        </p:nvSpPr>
        <p:spPr>
          <a:xfrm>
            <a:off x="1741388" y="2318846"/>
            <a:ext cx="434988" cy="167377"/>
          </a:xfrm>
          <a:prstGeom prst="rect">
            <a:avLst/>
          </a:prstGeom>
          <a:noFill/>
        </p:spPr>
        <p:txBody>
          <a:bodyPr wrap="none" lIns="0" rIns="0" tIns="0" bIns="0">
            <a:spAutoFit/>
          </a:bodyPr>
          <a:lstStyle/>
          <a:p>
            <a:pPr>
              <a:lnSpc>
                <a:spcPct val="112000"/>
              </a:lnSpc>
              <a:spcBef>
                <a:spcPts val="0"/>
              </a:spcBef>
              <a:spcAft>
                <a:spcPts val="0"/>
              </a:spcAft>
              <a:defRPr sz="811" b="0">
                <a:solidFill>
                  <a:srgbClr val="333333"/>
                </a:solidFill>
                <a:latin typeface="微软雅黑"/>
              </a:defRPr>
            </a:pPr>
            <a:r>
              <a:rPr>
                <a:ea typeface="微软雅黑"/>
              </a:rPr>
              <a:t>②足量T</a:t>
            </a:r>
          </a:p>
        </p:txBody>
      </p:sp>
      <p:sp>
        <p:nvSpPr>
          <p:cNvPr id="24" name="原题文字_342_51"/>
          <p:cNvSpPr txBox="1"/>
          <p:nvPr/>
        </p:nvSpPr>
        <p:spPr>
          <a:xfrm>
            <a:off x="2176692" y="2263667"/>
            <a:ext cx="177484" cy="159406"/>
          </a:xfrm>
          <a:prstGeom prst="rect">
            <a:avLst/>
          </a:prstGeom>
          <a:noFill/>
        </p:spPr>
        <p:txBody>
          <a:bodyPr wrap="none" lIns="0" rIns="0" tIns="0" bIns="0">
            <a:spAutoFit/>
          </a:bodyPr>
          <a:lstStyle/>
          <a:p>
            <a:pPr>
              <a:lnSpc>
                <a:spcPct val="112000"/>
              </a:lnSpc>
              <a:spcBef>
                <a:spcPts val="0"/>
              </a:spcBef>
              <a:spcAft>
                <a:spcPts val="0"/>
              </a:spcAft>
              <a:defRPr sz="772" b="0">
                <a:solidFill>
                  <a:srgbClr val="333333"/>
                </a:solidFill>
                <a:latin typeface="微软雅黑"/>
              </a:defRPr>
            </a:pPr>
            <a:r>
              <a:rPr>
                <a:ea typeface="微软雅黑"/>
              </a:rPr>
              <a:t>E</a:t>
            </a:r>
          </a:p>
        </p:txBody>
      </p:sp>
      <p:sp>
        <p:nvSpPr>
          <p:cNvPr id="25" name="原题文字_342_52"/>
          <p:cNvSpPr txBox="1"/>
          <p:nvPr/>
        </p:nvSpPr>
        <p:spPr>
          <a:xfrm>
            <a:off x="1140547" y="2435336"/>
            <a:ext cx="263319" cy="175347"/>
          </a:xfrm>
          <a:prstGeom prst="rect">
            <a:avLst/>
          </a:prstGeom>
          <a:noFill/>
        </p:spPr>
        <p:txBody>
          <a:bodyPr wrap="none" lIns="0" rIns="0" tIns="0" bIns="0">
            <a:spAutoFit/>
          </a:bodyPr>
          <a:lstStyle/>
          <a:p>
            <a:pPr>
              <a:lnSpc>
                <a:spcPct val="112000"/>
              </a:lnSpc>
              <a:spcBef>
                <a:spcPts val="0"/>
              </a:spcBef>
              <a:spcAft>
                <a:spcPts val="0"/>
              </a:spcAft>
              <a:defRPr sz="849" b="0">
                <a:solidFill>
                  <a:srgbClr val="333333"/>
                </a:solidFill>
                <a:latin typeface="微软雅黑"/>
              </a:defRPr>
            </a:pPr>
            <a:r>
              <a:rPr>
                <a:ea typeface="微软雅黑"/>
              </a:rPr>
              <a:t>△R</a:t>
            </a:r>
          </a:p>
        </p:txBody>
      </p:sp>
      <p:sp>
        <p:nvSpPr>
          <p:cNvPr id="26" name="原题文字_342_53"/>
          <p:cNvSpPr txBox="1"/>
          <p:nvPr/>
        </p:nvSpPr>
        <p:spPr>
          <a:xfrm>
            <a:off x="1195726" y="2637660"/>
            <a:ext cx="177484" cy="167377"/>
          </a:xfrm>
          <a:prstGeom prst="rect">
            <a:avLst/>
          </a:prstGeom>
          <a:noFill/>
        </p:spPr>
        <p:txBody>
          <a:bodyPr wrap="none" lIns="0" rIns="0" tIns="0" bIns="0">
            <a:spAutoFit/>
          </a:bodyPr>
          <a:lstStyle/>
          <a:p>
            <a:pPr>
              <a:lnSpc>
                <a:spcPct val="112000"/>
              </a:lnSpc>
              <a:spcBef>
                <a:spcPts val="0"/>
              </a:spcBef>
              <a:spcAft>
                <a:spcPts val="0"/>
              </a:spcAft>
              <a:defRPr sz="811" b="0">
                <a:solidFill>
                  <a:srgbClr val="333333"/>
                </a:solidFill>
                <a:latin typeface="微软雅黑"/>
              </a:defRPr>
            </a:pPr>
            <a:r>
              <a:rPr>
                <a:ea typeface="微软雅黑"/>
              </a:rPr>
              <a:t>Q</a:t>
            </a:r>
          </a:p>
        </p:txBody>
      </p:sp>
      <p:sp>
        <p:nvSpPr>
          <p:cNvPr id="27" name="原题文字_342_54"/>
          <p:cNvSpPr txBox="1"/>
          <p:nvPr/>
        </p:nvSpPr>
        <p:spPr>
          <a:xfrm>
            <a:off x="576492" y="2827722"/>
            <a:ext cx="2366264" cy="278962"/>
          </a:xfrm>
          <a:prstGeom prst="rect">
            <a:avLst/>
          </a:prstGeom>
          <a:noFill/>
        </p:spPr>
        <p:txBody>
          <a:bodyPr wrap="none" lIns="0" rIns="0" tIns="0" bIns="0">
            <a:spAutoFit/>
          </a:bodyPr>
          <a:lstStyle/>
          <a:p>
            <a:pPr>
              <a:lnSpc>
                <a:spcPct val="112000"/>
              </a:lnSpc>
              <a:spcBef>
                <a:spcPts val="0"/>
              </a:spcBef>
              <a:spcAft>
                <a:spcPts val="0"/>
              </a:spcAft>
              <a:defRPr sz="1351" b="0">
                <a:solidFill>
                  <a:srgbClr val="333333"/>
                </a:solidFill>
                <a:latin typeface="微软雅黑"/>
              </a:defRPr>
            </a:pPr>
            <a:r>
              <a:rPr>
                <a:ea typeface="微软雅黑"/>
              </a:rPr>
              <a:t>(1)写出下列物质的化学式：A:</a:t>
            </a:r>
          </a:p>
        </p:txBody>
      </p:sp>
      <p:sp>
        <p:nvSpPr>
          <p:cNvPr id="28" name="原题文字_342_55"/>
          <p:cNvSpPr txBox="1"/>
          <p:nvPr/>
        </p:nvSpPr>
        <p:spPr>
          <a:xfrm>
            <a:off x="3568437" y="2846115"/>
            <a:ext cx="484036" cy="270991"/>
          </a:xfrm>
          <a:prstGeom prst="rect">
            <a:avLst/>
          </a:prstGeom>
          <a:noFill/>
        </p:spPr>
        <p:txBody>
          <a:bodyPr wrap="none" lIns="0" rIns="0" tIns="0" bIns="0">
            <a:spAutoFit/>
          </a:bodyPr>
          <a:lstStyle/>
          <a:p>
            <a:pPr>
              <a:lnSpc>
                <a:spcPct val="112000"/>
              </a:lnSpc>
              <a:spcBef>
                <a:spcPts val="0"/>
              </a:spcBef>
              <a:spcAft>
                <a:spcPts val="0"/>
              </a:spcAft>
              <a:defRPr sz="1313" b="0">
                <a:solidFill>
                  <a:srgbClr val="333333"/>
                </a:solidFill>
                <a:latin typeface="微软雅黑"/>
              </a:defRPr>
            </a:pPr>
            <a:r>
              <a:rPr>
                <a:ea typeface="微软雅黑"/>
              </a:rPr>
              <a:t>, D:</a:t>
            </a:r>
          </a:p>
        </p:txBody>
      </p:sp>
      <p:sp>
        <p:nvSpPr>
          <p:cNvPr id="29" name="原题文字_342_56"/>
          <p:cNvSpPr txBox="1"/>
          <p:nvPr/>
        </p:nvSpPr>
        <p:spPr>
          <a:xfrm>
            <a:off x="4653630" y="2833853"/>
            <a:ext cx="496298" cy="294902"/>
          </a:xfrm>
          <a:prstGeom prst="rect">
            <a:avLst/>
          </a:prstGeom>
          <a:noFill/>
        </p:spPr>
        <p:txBody>
          <a:bodyPr wrap="none" lIns="0" rIns="0" tIns="0" bIns="0">
            <a:spAutoFit/>
          </a:bodyPr>
          <a:lstStyle/>
          <a:p>
            <a:pPr>
              <a:lnSpc>
                <a:spcPct val="112000"/>
              </a:lnSpc>
              <a:spcBef>
                <a:spcPts val="0"/>
              </a:spcBef>
              <a:spcAft>
                <a:spcPts val="0"/>
              </a:spcAft>
              <a:defRPr sz="1428" b="0">
                <a:solidFill>
                  <a:srgbClr val="333333"/>
                </a:solidFill>
                <a:latin typeface="微软雅黑"/>
              </a:defRPr>
            </a:pPr>
            <a:r>
              <a:rPr>
                <a:ea typeface="微软雅黑"/>
              </a:rPr>
              <a:t>, R:</a:t>
            </a:r>
          </a:p>
        </p:txBody>
      </p:sp>
      <p:sp>
        <p:nvSpPr>
          <p:cNvPr id="30" name="文字_(2)按要求写下列反应方程式:"/>
          <p:cNvSpPr txBox="1"/>
          <p:nvPr/>
        </p:nvSpPr>
        <p:spPr>
          <a:xfrm>
            <a:off x="502920" y="3170909"/>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(2)按要求写下列反应方程式:</a:t>
            </a:r>
          </a:p>
        </p:txBody>
      </p:sp>
      <p:sp>
        <p:nvSpPr>
          <p:cNvPr id="31" name="文字_H在潮湿空气中变成M的过程中的化学方程式:"/>
          <p:cNvSpPr txBox="1"/>
          <p:nvPr/>
        </p:nvSpPr>
        <p:spPr>
          <a:xfrm>
            <a:off x="502920" y="3426941"/>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H在潮湿空气中变成M的过程中的化学方程式:</a:t>
            </a:r>
          </a:p>
        </p:txBody>
      </p:sp>
      <p:sp>
        <p:nvSpPr>
          <p:cNvPr id="32" name="文字_B和R反应生成N的离子方程式："/>
          <p:cNvSpPr txBox="1"/>
          <p:nvPr/>
        </p:nvSpPr>
        <p:spPr>
          <a:xfrm>
            <a:off x="502920" y="3682973"/>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B和R反应生成N的离子方程式：</a:t>
            </a:r>
          </a:p>
        </p:txBody>
      </p:sp>
      <p:sp>
        <p:nvSpPr>
          <p:cNvPr id="33" name="文字_D与盐酸反应的离子方程式： ______ o"/>
          <p:cNvSpPr txBox="1"/>
          <p:nvPr/>
        </p:nvSpPr>
        <p:spPr>
          <a:xfrm>
            <a:off x="502920" y="3939005"/>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D与盐酸反应的离子方程式： ______ o</a:t>
            </a:r>
          </a:p>
        </p:txBody>
      </p:sp>
      <p:sp>
        <p:nvSpPr>
          <p:cNvPr id="34" name="文字_(3)向W溶液中加入一定量T后，为检验所得溶液中"/>
          <p:cNvSpPr txBox="1"/>
          <p:nvPr/>
        </p:nvSpPr>
        <p:spPr>
          <a:xfrm>
            <a:off x="502920" y="4195037"/>
            <a:ext cx="11064240" cy="890778"/>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(3)向W溶液中加入一定量T后，为检验所得溶液中金属阳离子，甲、乙两位同学做了如下实验：甲同学取出少量反应后溶液，加入少量H₂O₂</a:t>
            </a:r>
          </a:p>
          <a:p>
            <a:pPr>
              <a:lnSpc>
                <a:spcPct val="112000"/>
              </a:lnSpc>
              <a:spcBef>
                <a:spcPts val="0"/>
              </a:spcBef>
              <a:spcAft>
                <a:spcPts val="0"/>
              </a:spcAft>
              <a:defRPr sz="1400" b="0">
                <a:solidFill>
                  <a:srgbClr val="333333"/>
                </a:solidFill>
                <a:latin typeface="微软雅黑"/>
              </a:defRPr>
            </a:pPr>
            <a:r>
              <a:rPr>
                <a:ea typeface="微软雅黑"/>
              </a:rPr>
              <a:t>，再滴加几滴KSCN溶液，发现溶液显血红色，由此得出结论有Fe²⁺；乙同学取出少量反应后溶液，加入少量酸性KMnO₄溶液，发现酸性</a:t>
            </a:r>
          </a:p>
          <a:p>
            <a:pPr>
              <a:lnSpc>
                <a:spcPct val="112000"/>
              </a:lnSpc>
              <a:spcBef>
                <a:spcPts val="0"/>
              </a:spcBef>
              <a:spcAft>
                <a:spcPts val="0"/>
              </a:spcAft>
              <a:defRPr sz="1400" b="0">
                <a:solidFill>
                  <a:srgbClr val="333333"/>
                </a:solidFill>
                <a:latin typeface="微软雅黑"/>
              </a:defRPr>
            </a:pPr>
            <a:r>
              <a:rPr>
                <a:ea typeface="微软雅黑"/>
              </a:rPr>
              <a:t>KMnO₄溶液褪色，由此得出结论有Fe²⁺。丙同学看了实验过程后认为甲、乙同学的结论都有问题，你觉得丙同学判断甲、乙同学结论的依据</a:t>
            </a:r>
          </a:p>
          <a:p>
            <a:pPr>
              <a:lnSpc>
                <a:spcPct val="112000"/>
              </a:lnSpc>
              <a:spcBef>
                <a:spcPts val="0"/>
              </a:spcBef>
              <a:spcAft>
                <a:spcPts val="0"/>
              </a:spcAft>
              <a:defRPr sz="1400" b="0">
                <a:solidFill>
                  <a:srgbClr val="333333"/>
                </a:solidFill>
                <a:latin typeface="微软雅黑"/>
              </a:defRPr>
            </a:pPr>
            <a:r>
              <a:rPr>
                <a:ea typeface="微软雅黑"/>
              </a:rPr>
              <a:t>是：</a:t>
            </a:r>
          </a:p>
        </p:txBody>
      </p:sp>
      <p:sp>
        <p:nvSpPr>
          <p:cNvPr id="35" name="文字_甲同学："/>
          <p:cNvSpPr txBox="1"/>
          <p:nvPr/>
        </p:nvSpPr>
        <p:spPr>
          <a:xfrm>
            <a:off x="502920" y="5085815"/>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甲同学：</a:t>
            </a:r>
          </a:p>
        </p:txBody>
      </p:sp>
      <p:sp>
        <p:nvSpPr>
          <p:cNvPr id="36" name="文字_乙同学："/>
          <p:cNvSpPr txBox="1"/>
          <p:nvPr/>
        </p:nvSpPr>
        <p:spPr>
          <a:xfrm>
            <a:off x="502920" y="5341847"/>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乙同学：</a:t>
            </a:r>
          </a:p>
        </p:txBody>
      </p:sp>
      <p:pic>
        <p:nvPicPr>
          <p:cNvPr id="37" name="Picture 36" descr="image.png"/>
          <p:cNvPicPr>
            <a:picLocks noChangeAspect="1"/>
          </p:cNvPicPr>
          <p:nvPr/>
        </p:nvPicPr>
        <p:blipFill>
          <a:blip r:embed="rId4"/>
          <a:stretch>
            <a:fillRect/>
          </a:stretch>
        </p:blipFill>
        <p:spPr>
          <a:xfrm>
            <a:off x="502920" y="5597879"/>
            <a:ext cx="8859344" cy="551793"/>
          </a:xfrm>
          <a:prstGeom prst="rect">
            <a:avLst/>
          </a:prstGeom>
        </p:spPr>
      </p:pic>
      <p:sp>
        <p:nvSpPr>
          <p:cNvPr id="38" name="原题文字_343_0"/>
          <p:cNvSpPr txBox="1"/>
          <p:nvPr/>
        </p:nvSpPr>
        <p:spPr>
          <a:xfrm>
            <a:off x="1606506" y="5720230"/>
            <a:ext cx="1115532" cy="406487"/>
          </a:xfrm>
          <a:prstGeom prst="rect">
            <a:avLst/>
          </a:prstGeom>
          <a:noFill/>
        </p:spPr>
        <p:txBody>
          <a:bodyPr wrap="none" lIns="0" rIns="0" tIns="0" bIns="0">
            <a:spAutoFit/>
          </a:bodyPr>
          <a:lstStyle/>
          <a:p>
            <a:pPr>
              <a:lnSpc>
                <a:spcPct val="112000"/>
              </a:lnSpc>
              <a:spcBef>
                <a:spcPts val="0"/>
              </a:spcBef>
              <a:spcAft>
                <a:spcPts val="0"/>
              </a:spcAft>
              <a:defRPr sz="1969" b="0">
                <a:solidFill>
                  <a:srgbClr val="333333"/>
                </a:solidFill>
                <a:latin typeface="微软雅黑"/>
              </a:defRPr>
            </a:pPr>
            <a:r>
              <a:rPr>
                <a:ea typeface="微软雅黑"/>
              </a:rPr>
              <a:t>定量推断</a:t>
            </a:r>
          </a:p>
        </p:txBody>
      </p:sp>
      <p:sp>
        <p:nvSpPr>
          <p:cNvPr id="39" name="文字_填空题  ·  16-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16-019</a:t>
            </a:r>
          </a:p>
        </p:txBody>
      </p:sp>
      <p:sp>
        <p:nvSpPr>
          <p:cNvPr id="40"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例题1</a:t>
            </a:r>
          </a:p>
        </p:txBody>
      </p:sp>
      <p:sp>
        <p:nvSpPr>
          <p:cNvPr id="5" name="文字_P3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P343</a:t>
            </a:r>
          </a:p>
        </p:txBody>
      </p:sp>
      <p:sp>
        <p:nvSpPr>
          <p:cNvPr id="6" name="文字_化合物X(只含两种短周期元素)是一种重要的还原剂"/>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化合物X(只含两种短周期元素)是一种重要的还原剂。某同学取X做了如下实验:</a:t>
            </a:r>
          </a:p>
        </p:txBody>
      </p:sp>
      <p:pic>
        <p:nvPicPr>
          <p:cNvPr id="7" name="Picture 6" descr="image.png"/>
          <p:cNvPicPr>
            <a:picLocks noChangeAspect="1"/>
          </p:cNvPicPr>
          <p:nvPr/>
        </p:nvPicPr>
        <p:blipFill>
          <a:blip r:embed="rId3"/>
          <a:stretch>
            <a:fillRect/>
          </a:stretch>
        </p:blipFill>
        <p:spPr>
          <a:xfrm>
            <a:off x="502920" y="1517904"/>
            <a:ext cx="11064240" cy="2358329"/>
          </a:xfrm>
          <a:prstGeom prst="rect">
            <a:avLst/>
          </a:prstGeom>
        </p:spPr>
      </p:pic>
      <p:sp>
        <p:nvSpPr>
          <p:cNvPr id="8" name="原题文字_343_6"/>
          <p:cNvSpPr txBox="1"/>
          <p:nvPr/>
        </p:nvSpPr>
        <p:spPr>
          <a:xfrm>
            <a:off x="4316062" y="1549787"/>
            <a:ext cx="950722" cy="497699"/>
          </a:xfrm>
          <a:prstGeom prst="rect">
            <a:avLst/>
          </a:prstGeom>
          <a:noFill/>
        </p:spPr>
        <p:txBody>
          <a:bodyPr wrap="none" lIns="0" rIns="0" tIns="0" bIns="0">
            <a:spAutoFit/>
          </a:bodyPr>
          <a:lstStyle/>
          <a:p>
            <a:pPr>
              <a:lnSpc>
                <a:spcPct val="112000"/>
              </a:lnSpc>
              <a:spcBef>
                <a:spcPts val="0"/>
              </a:spcBef>
              <a:spcAft>
                <a:spcPts val="0"/>
              </a:spcAft>
              <a:defRPr sz="2411" b="0">
                <a:solidFill>
                  <a:srgbClr val="333333"/>
                </a:solidFill>
                <a:latin typeface="微软雅黑"/>
              </a:defRPr>
            </a:pPr>
            <a:r>
              <a:rPr>
                <a:ea typeface="微软雅黑"/>
              </a:rPr>
              <a:t>蒸馏水</a:t>
            </a:r>
          </a:p>
        </p:txBody>
      </p:sp>
      <p:sp>
        <p:nvSpPr>
          <p:cNvPr id="9" name="原题文字_343_7"/>
          <p:cNvSpPr txBox="1"/>
          <p:nvPr/>
        </p:nvSpPr>
        <p:spPr>
          <a:xfrm>
            <a:off x="3198153" y="1756524"/>
            <a:ext cx="943065" cy="527561"/>
          </a:xfrm>
          <a:prstGeom prst="rect">
            <a:avLst/>
          </a:prstGeom>
          <a:noFill/>
        </p:spPr>
        <p:txBody>
          <a:bodyPr wrap="none" lIns="0" rIns="0" tIns="0" bIns="0">
            <a:spAutoFit/>
          </a:bodyPr>
          <a:lstStyle/>
          <a:p>
            <a:pPr>
              <a:lnSpc>
                <a:spcPct val="112000"/>
              </a:lnSpc>
              <a:spcBef>
                <a:spcPts val="0"/>
              </a:spcBef>
              <a:spcAft>
                <a:spcPts val="0"/>
              </a:spcAft>
              <a:defRPr sz="2457" b="0">
                <a:solidFill>
                  <a:srgbClr val="333333"/>
                </a:solidFill>
                <a:latin typeface="微软雅黑"/>
              </a:defRPr>
            </a:pPr>
            <a:r>
              <a:rPr>
                <a:ea typeface="微软雅黑"/>
              </a:rPr>
              <a:t>固体乙</a:t>
            </a:r>
          </a:p>
        </p:txBody>
      </p:sp>
      <p:sp>
        <p:nvSpPr>
          <p:cNvPr id="10" name="原题文字_343_8"/>
          <p:cNvSpPr txBox="1"/>
          <p:nvPr/>
        </p:nvSpPr>
        <p:spPr>
          <a:xfrm>
            <a:off x="5326775" y="1756524"/>
            <a:ext cx="989007" cy="527561"/>
          </a:xfrm>
          <a:prstGeom prst="rect">
            <a:avLst/>
          </a:prstGeom>
          <a:noFill/>
        </p:spPr>
        <p:txBody>
          <a:bodyPr wrap="none" lIns="0" rIns="0" tIns="0" bIns="0">
            <a:spAutoFit/>
          </a:bodyPr>
          <a:lstStyle/>
          <a:p>
            <a:pPr>
              <a:lnSpc>
                <a:spcPct val="112000"/>
              </a:lnSpc>
              <a:spcBef>
                <a:spcPts val="0"/>
              </a:spcBef>
              <a:spcAft>
                <a:spcPts val="0"/>
              </a:spcAft>
              <a:defRPr sz="2556" b="0">
                <a:solidFill>
                  <a:srgbClr val="333333"/>
                </a:solidFill>
                <a:latin typeface="微软雅黑"/>
              </a:defRPr>
            </a:pPr>
            <a:r>
              <a:rPr>
                <a:ea typeface="微软雅黑"/>
              </a:rPr>
              <a:t>溶液丙</a:t>
            </a:r>
          </a:p>
        </p:txBody>
      </p:sp>
      <p:sp>
        <p:nvSpPr>
          <p:cNvPr id="11" name="原题文字_343_9"/>
          <p:cNvSpPr txBox="1"/>
          <p:nvPr/>
        </p:nvSpPr>
        <p:spPr>
          <a:xfrm>
            <a:off x="870451" y="2085771"/>
            <a:ext cx="361140"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X</a:t>
            </a:r>
          </a:p>
        </p:txBody>
      </p:sp>
      <p:sp>
        <p:nvSpPr>
          <p:cNvPr id="12" name="原题文字_343_10"/>
          <p:cNvSpPr txBox="1"/>
          <p:nvPr/>
        </p:nvSpPr>
        <p:spPr>
          <a:xfrm>
            <a:off x="1444720" y="2101085"/>
            <a:ext cx="1456079"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隔绝空气加</a:t>
            </a:r>
          </a:p>
        </p:txBody>
      </p:sp>
      <p:sp>
        <p:nvSpPr>
          <p:cNvPr id="13" name="原题文字_343_11"/>
          <p:cNvSpPr txBox="1"/>
          <p:nvPr/>
        </p:nvSpPr>
        <p:spPr>
          <a:xfrm>
            <a:off x="4614682" y="2024516"/>
            <a:ext cx="36114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②</a:t>
            </a:r>
          </a:p>
        </p:txBody>
      </p:sp>
      <p:sp>
        <p:nvSpPr>
          <p:cNvPr id="14" name="原题文字_343_12"/>
          <p:cNvSpPr txBox="1"/>
          <p:nvPr/>
        </p:nvSpPr>
        <p:spPr>
          <a:xfrm>
            <a:off x="617773" y="2560500"/>
            <a:ext cx="897124" cy="567377"/>
          </a:xfrm>
          <a:prstGeom prst="rect">
            <a:avLst/>
          </a:prstGeom>
          <a:noFill/>
        </p:spPr>
        <p:txBody>
          <a:bodyPr wrap="none" lIns="0" rIns="0" tIns="0" bIns="0">
            <a:spAutoFit/>
          </a:bodyPr>
          <a:lstStyle/>
          <a:p>
            <a:pPr>
              <a:lnSpc>
                <a:spcPct val="112000"/>
              </a:lnSpc>
              <a:spcBef>
                <a:spcPts val="0"/>
              </a:spcBef>
              <a:spcAft>
                <a:spcPts val="0"/>
              </a:spcAft>
              <a:defRPr sz="2402" b="0">
                <a:solidFill>
                  <a:srgbClr val="333333"/>
                </a:solidFill>
                <a:latin typeface="微软雅黑"/>
              </a:defRPr>
            </a:pPr>
            <a:r>
              <a:rPr>
                <a:ea typeface="微软雅黑"/>
              </a:rPr>
              <a:t>4.80 g</a:t>
            </a:r>
          </a:p>
        </p:txBody>
      </p:sp>
      <p:sp>
        <p:nvSpPr>
          <p:cNvPr id="15" name="原题文字_343_13"/>
          <p:cNvSpPr txBox="1"/>
          <p:nvPr/>
        </p:nvSpPr>
        <p:spPr>
          <a:xfrm>
            <a:off x="1444720" y="2606441"/>
            <a:ext cx="1448422"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热完全分解</a:t>
            </a:r>
          </a:p>
        </p:txBody>
      </p:sp>
      <p:sp>
        <p:nvSpPr>
          <p:cNvPr id="16" name="原题文字_343_14"/>
          <p:cNvSpPr txBox="1"/>
          <p:nvPr/>
        </p:nvSpPr>
        <p:spPr>
          <a:xfrm>
            <a:off x="3182839" y="2591128"/>
            <a:ext cx="943065" cy="497699"/>
          </a:xfrm>
          <a:prstGeom prst="rect">
            <a:avLst/>
          </a:prstGeom>
          <a:noFill/>
        </p:spPr>
        <p:txBody>
          <a:bodyPr wrap="none" lIns="0" rIns="0" tIns="0" bIns="0">
            <a:spAutoFit/>
          </a:bodyPr>
          <a:lstStyle/>
          <a:p>
            <a:pPr>
              <a:lnSpc>
                <a:spcPct val="112000"/>
              </a:lnSpc>
              <a:spcBef>
                <a:spcPts val="0"/>
              </a:spcBef>
              <a:spcAft>
                <a:spcPts val="0"/>
              </a:spcAft>
              <a:defRPr sz="2411" b="0">
                <a:solidFill>
                  <a:srgbClr val="333333"/>
                </a:solidFill>
                <a:latin typeface="微软雅黑"/>
              </a:defRPr>
            </a:pPr>
            <a:r>
              <a:rPr>
                <a:ea typeface="微软雅黑"/>
              </a:rPr>
              <a:t>气体甲</a:t>
            </a:r>
          </a:p>
        </p:txBody>
      </p:sp>
      <p:sp>
        <p:nvSpPr>
          <p:cNvPr id="17" name="原题文字_343_15"/>
          <p:cNvSpPr txBox="1"/>
          <p:nvPr/>
        </p:nvSpPr>
        <p:spPr>
          <a:xfrm>
            <a:off x="1957733" y="2989287"/>
            <a:ext cx="445366" cy="497699"/>
          </a:xfrm>
          <a:prstGeom prst="rect">
            <a:avLst/>
          </a:prstGeom>
          <a:noFill/>
        </p:spPr>
        <p:txBody>
          <a:bodyPr wrap="none" lIns="0" rIns="0" tIns="0" bIns="0">
            <a:spAutoFit/>
          </a:bodyPr>
          <a:lstStyle/>
          <a:p>
            <a:pPr>
              <a:lnSpc>
                <a:spcPct val="112000"/>
              </a:lnSpc>
              <a:spcBef>
                <a:spcPts val="0"/>
              </a:spcBef>
              <a:spcAft>
                <a:spcPts val="0"/>
              </a:spcAft>
              <a:defRPr sz="2411" b="0">
                <a:solidFill>
                  <a:srgbClr val="333333"/>
                </a:solidFill>
                <a:latin typeface="微软雅黑"/>
              </a:defRPr>
            </a:pPr>
            <a:r>
              <a:rPr>
                <a:ea typeface="微软雅黑"/>
              </a:rPr>
              <a:t>①</a:t>
            </a:r>
          </a:p>
        </p:txBody>
      </p:sp>
      <p:sp>
        <p:nvSpPr>
          <p:cNvPr id="18" name="原题文字_343_16"/>
          <p:cNvSpPr txBox="1"/>
          <p:nvPr/>
        </p:nvSpPr>
        <p:spPr>
          <a:xfrm>
            <a:off x="3236438" y="3088827"/>
            <a:ext cx="881810" cy="577331"/>
          </a:xfrm>
          <a:prstGeom prst="rect">
            <a:avLst/>
          </a:prstGeom>
          <a:noFill/>
        </p:spPr>
        <p:txBody>
          <a:bodyPr wrap="none" lIns="0" rIns="0" tIns="0" bIns="0">
            <a:spAutoFit/>
          </a:bodyPr>
          <a:lstStyle/>
          <a:p>
            <a:pPr>
              <a:lnSpc>
                <a:spcPct val="112000"/>
              </a:lnSpc>
              <a:spcBef>
                <a:spcPts val="0"/>
              </a:spcBef>
              <a:spcAft>
                <a:spcPts val="0"/>
              </a:spcAft>
              <a:defRPr sz="2402" b="0">
                <a:solidFill>
                  <a:srgbClr val="333333"/>
                </a:solidFill>
                <a:latin typeface="微软雅黑"/>
              </a:defRPr>
            </a:pPr>
            <a:r>
              <a:rPr>
                <a:ea typeface="微软雅黑"/>
              </a:rPr>
              <a:t>0.20 g</a:t>
            </a:r>
          </a:p>
        </p:txBody>
      </p:sp>
      <p:sp>
        <p:nvSpPr>
          <p:cNvPr id="19" name="原题文字_343_17"/>
          <p:cNvSpPr txBox="1"/>
          <p:nvPr/>
        </p:nvSpPr>
        <p:spPr>
          <a:xfrm>
            <a:off x="1023590" y="3578869"/>
            <a:ext cx="36000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已知甲和乙都是单质，回答下列问题。</a:t>
            </a:r>
          </a:p>
        </p:txBody>
      </p:sp>
      <p:sp>
        <p:nvSpPr>
          <p:cNvPr id="20" name="文字_(1）溶液丙中溶质的化学式是"/>
          <p:cNvSpPr txBox="1"/>
          <p:nvPr/>
        </p:nvSpPr>
        <p:spPr>
          <a:xfrm>
            <a:off x="502920" y="39493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(1）溶液丙中溶质的化学式是</a:t>
            </a:r>
          </a:p>
        </p:txBody>
      </p:sp>
      <p:sp>
        <p:nvSpPr>
          <p:cNvPr id="21" name="文字_(2）气体甲是一种理想的能源，点燃前须进行的操作"/>
          <p:cNvSpPr txBox="1"/>
          <p:nvPr/>
        </p:nvSpPr>
        <p:spPr>
          <a:xfrm>
            <a:off x="502920" y="438829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(2）气体甲是一种理想的能源，点燃前须进行的操作是</a:t>
            </a:r>
          </a:p>
        </p:txBody>
      </p:sp>
      <p:sp>
        <p:nvSpPr>
          <p:cNvPr id="22" name="文字_(3) 写出固体乙与水反应的化学方程式: ___"/>
          <p:cNvSpPr txBox="1"/>
          <p:nvPr/>
        </p:nvSpPr>
        <p:spPr>
          <a:xfrm>
            <a:off x="502920" y="482720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写出固体乙与水反应的化学方程式: ______ O</a:t>
            </a:r>
          </a:p>
        </p:txBody>
      </p:sp>
      <p:sp>
        <p:nvSpPr>
          <p:cNvPr id="23" name="文字_(4) X在无水条件下可作为某些钢铁制品的脱锈剂"/>
          <p:cNvSpPr txBox="1"/>
          <p:nvPr/>
        </p:nvSpPr>
        <p:spPr>
          <a:xfrm>
            <a:off x="502920" y="5266121"/>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 X在无水条件下可作为某些钢铁制品的脱锈剂(铁锈的成分表示为Fe₂O₃)，写出</a:t>
            </a:r>
          </a:p>
          <a:p>
            <a:pPr>
              <a:lnSpc>
                <a:spcPct val="112000"/>
              </a:lnSpc>
              <a:spcBef>
                <a:spcPts val="0"/>
              </a:spcBef>
              <a:spcAft>
                <a:spcPts val="0"/>
              </a:spcAft>
              <a:defRPr sz="2400" b="0">
                <a:solidFill>
                  <a:srgbClr val="333333"/>
                </a:solidFill>
                <a:latin typeface="微软雅黑"/>
              </a:defRPr>
            </a:pPr>
            <a:r>
              <a:rPr>
                <a:ea typeface="微软雅黑"/>
              </a:rPr>
              <a:t>脱锈过程发生反应的化学方程式:_ ______ O</a:t>
            </a:r>
          </a:p>
        </p:txBody>
      </p:sp>
      <p:sp>
        <p:nvSpPr>
          <p:cNvPr id="24" name="文字_解答题  ·  16-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16-020</a:t>
            </a:r>
          </a:p>
        </p:txBody>
      </p:sp>
      <p:sp>
        <p:nvSpPr>
          <p:cNvPr id="25" name="文字_2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例题2</a:t>
            </a:r>
          </a:p>
        </p:txBody>
      </p:sp>
      <p:sp>
        <p:nvSpPr>
          <p:cNvPr id="5" name="文字_P3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P343</a:t>
            </a:r>
          </a:p>
        </p:txBody>
      </p:sp>
      <p:sp>
        <p:nvSpPr>
          <p:cNvPr id="6" name="文字_为探究某固体化合物X(仅含两种元素)的组成和性质"/>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为探究某固体化合物X(仅含两种元素)的组成和性质，设计并完成如下实验，请回</a:t>
            </a:r>
          </a:p>
          <a:p>
            <a:pPr>
              <a:lnSpc>
                <a:spcPct val="112000"/>
              </a:lnSpc>
              <a:spcBef>
                <a:spcPts val="0"/>
              </a:spcBef>
              <a:spcAft>
                <a:spcPts val="0"/>
              </a:spcAft>
              <a:defRPr sz="2400" b="0">
                <a:solidFill>
                  <a:srgbClr val="333333"/>
                </a:solidFill>
                <a:latin typeface="微软雅黑"/>
              </a:defRPr>
            </a:pPr>
            <a:r>
              <a:rPr>
                <a:ea typeface="微软雅黑"/>
              </a:rPr>
              <a:t>答：</a:t>
            </a:r>
          </a:p>
        </p:txBody>
      </p:sp>
      <p:pic>
        <p:nvPicPr>
          <p:cNvPr id="7" name="Picture 6" descr="image.png"/>
          <p:cNvPicPr>
            <a:picLocks noChangeAspect="1"/>
          </p:cNvPicPr>
          <p:nvPr/>
        </p:nvPicPr>
        <p:blipFill>
          <a:blip r:embed="rId3"/>
          <a:stretch>
            <a:fillRect/>
          </a:stretch>
        </p:blipFill>
        <p:spPr>
          <a:xfrm>
            <a:off x="502920" y="1880616"/>
            <a:ext cx="11064240" cy="1906571"/>
          </a:xfrm>
          <a:prstGeom prst="rect">
            <a:avLst/>
          </a:prstGeom>
        </p:spPr>
      </p:pic>
      <p:sp>
        <p:nvSpPr>
          <p:cNvPr id="8" name="原题文字_343_29"/>
          <p:cNvSpPr txBox="1"/>
          <p:nvPr/>
        </p:nvSpPr>
        <p:spPr>
          <a:xfrm>
            <a:off x="3512087" y="1973755"/>
            <a:ext cx="621475"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高温</a:t>
            </a:r>
          </a:p>
        </p:txBody>
      </p:sp>
      <p:sp>
        <p:nvSpPr>
          <p:cNvPr id="9" name="原题文字_343_30"/>
          <p:cNvSpPr txBox="1"/>
          <p:nvPr/>
        </p:nvSpPr>
        <p:spPr>
          <a:xfrm>
            <a:off x="4384975" y="1912499"/>
            <a:ext cx="2214113"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红棕色化合物稀硫酸</a:t>
            </a:r>
          </a:p>
        </p:txBody>
      </p:sp>
      <p:sp>
        <p:nvSpPr>
          <p:cNvPr id="10" name="原题文字_343_31"/>
          <p:cNvSpPr txBox="1"/>
          <p:nvPr/>
        </p:nvSpPr>
        <p:spPr>
          <a:xfrm>
            <a:off x="2332922" y="2134550"/>
            <a:ext cx="124934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黑色化合物</a:t>
            </a:r>
          </a:p>
        </p:txBody>
      </p:sp>
      <p:sp>
        <p:nvSpPr>
          <p:cNvPr id="11" name="原题文字_343_32"/>
          <p:cNvSpPr txBox="1"/>
          <p:nvPr/>
        </p:nvSpPr>
        <p:spPr>
          <a:xfrm>
            <a:off x="3512087" y="2264717"/>
            <a:ext cx="621475"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空气</a:t>
            </a:r>
          </a:p>
        </p:txBody>
      </p:sp>
      <p:sp>
        <p:nvSpPr>
          <p:cNvPr id="12" name="原题文字_343_33"/>
          <p:cNvSpPr txBox="1"/>
          <p:nvPr/>
        </p:nvSpPr>
        <p:spPr>
          <a:xfrm>
            <a:off x="4798448" y="2195805"/>
            <a:ext cx="698044"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(1.6g)</a:t>
            </a:r>
          </a:p>
        </p:txBody>
      </p:sp>
      <p:sp>
        <p:nvSpPr>
          <p:cNvPr id="13" name="原题文字_343_34"/>
          <p:cNvSpPr txBox="1"/>
          <p:nvPr/>
        </p:nvSpPr>
        <p:spPr>
          <a:xfrm>
            <a:off x="6620793" y="2073294"/>
            <a:ext cx="104260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黄色溶液</a:t>
            </a:r>
          </a:p>
        </p:txBody>
      </p:sp>
      <p:sp>
        <p:nvSpPr>
          <p:cNvPr id="14" name="原题文字_343_35"/>
          <p:cNvSpPr txBox="1"/>
          <p:nvPr/>
        </p:nvSpPr>
        <p:spPr>
          <a:xfrm>
            <a:off x="847481" y="2433169"/>
            <a:ext cx="3228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15" name="原题文字_343_36"/>
          <p:cNvSpPr txBox="1"/>
          <p:nvPr/>
        </p:nvSpPr>
        <p:spPr>
          <a:xfrm>
            <a:off x="1375808" y="2471454"/>
            <a:ext cx="705701"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600℃</a:t>
            </a:r>
          </a:p>
        </p:txBody>
      </p:sp>
      <p:sp>
        <p:nvSpPr>
          <p:cNvPr id="16" name="原题文字_343_37"/>
          <p:cNvSpPr txBox="1"/>
          <p:nvPr/>
        </p:nvSpPr>
        <p:spPr>
          <a:xfrm>
            <a:off x="640744" y="2678191"/>
            <a:ext cx="713358" cy="447929"/>
          </a:xfrm>
          <a:prstGeom prst="rect">
            <a:avLst/>
          </a:prstGeom>
          <a:noFill/>
        </p:spPr>
        <p:txBody>
          <a:bodyPr wrap="none" lIns="0" rIns="0" tIns="0" bIns="0">
            <a:spAutoFit/>
          </a:bodyPr>
          <a:lstStyle/>
          <a:p>
            <a:pPr>
              <a:lnSpc>
                <a:spcPct val="112000"/>
              </a:lnSpc>
              <a:spcBef>
                <a:spcPts val="0"/>
              </a:spcBef>
              <a:spcAft>
                <a:spcPts val="0"/>
              </a:spcAft>
              <a:defRPr sz="2075" b="0">
                <a:solidFill>
                  <a:srgbClr val="333333"/>
                </a:solidFill>
                <a:latin typeface="微软雅黑"/>
              </a:defRPr>
            </a:pPr>
            <a:r>
              <a:rPr>
                <a:ea typeface="微软雅黑"/>
              </a:rPr>
              <a:t>(2.4g)</a:t>
            </a:r>
          </a:p>
        </p:txBody>
      </p:sp>
      <p:sp>
        <p:nvSpPr>
          <p:cNvPr id="17" name="原题文字_343_38"/>
          <p:cNvSpPr txBox="1"/>
          <p:nvPr/>
        </p:nvSpPr>
        <p:spPr>
          <a:xfrm>
            <a:off x="1444720" y="2716475"/>
            <a:ext cx="621475"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真空</a:t>
            </a:r>
          </a:p>
        </p:txBody>
      </p:sp>
      <p:sp>
        <p:nvSpPr>
          <p:cNvPr id="18" name="原题文字_343_39"/>
          <p:cNvSpPr txBox="1"/>
          <p:nvPr/>
        </p:nvSpPr>
        <p:spPr>
          <a:xfrm>
            <a:off x="2455432" y="2777730"/>
            <a:ext cx="1027292"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黄色单质</a:t>
            </a:r>
          </a:p>
        </p:txBody>
      </p:sp>
      <p:sp>
        <p:nvSpPr>
          <p:cNvPr id="19" name="原题文字_343_40"/>
          <p:cNvSpPr txBox="1"/>
          <p:nvPr/>
        </p:nvSpPr>
        <p:spPr>
          <a:xfrm>
            <a:off x="3527400" y="2762417"/>
            <a:ext cx="613818"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点燃</a:t>
            </a:r>
          </a:p>
        </p:txBody>
      </p:sp>
      <p:sp>
        <p:nvSpPr>
          <p:cNvPr id="20" name="原题文字_343_41"/>
          <p:cNvSpPr txBox="1"/>
          <p:nvPr/>
        </p:nvSpPr>
        <p:spPr>
          <a:xfrm>
            <a:off x="4591711" y="2846643"/>
            <a:ext cx="104260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无色气体</a:t>
            </a:r>
          </a:p>
        </p:txBody>
      </p:sp>
      <p:sp>
        <p:nvSpPr>
          <p:cNvPr id="21" name="原题文字_343_42"/>
          <p:cNvSpPr txBox="1"/>
          <p:nvPr/>
        </p:nvSpPr>
        <p:spPr>
          <a:xfrm>
            <a:off x="5824474" y="2854300"/>
            <a:ext cx="214520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(能使晶红溶液褪色)</a:t>
            </a:r>
          </a:p>
        </p:txBody>
      </p:sp>
      <p:sp>
        <p:nvSpPr>
          <p:cNvPr id="22" name="原题文字_343_43"/>
          <p:cNvSpPr txBox="1"/>
          <p:nvPr/>
        </p:nvSpPr>
        <p:spPr>
          <a:xfrm>
            <a:off x="2547315" y="2999781"/>
            <a:ext cx="843526" cy="447929"/>
          </a:xfrm>
          <a:prstGeom prst="rect">
            <a:avLst/>
          </a:prstGeom>
          <a:noFill/>
        </p:spPr>
        <p:txBody>
          <a:bodyPr wrap="none" lIns="0" rIns="0" tIns="0" bIns="0">
            <a:spAutoFit/>
          </a:bodyPr>
          <a:lstStyle/>
          <a:p>
            <a:pPr>
              <a:lnSpc>
                <a:spcPct val="112000"/>
              </a:lnSpc>
              <a:spcBef>
                <a:spcPts val="0"/>
              </a:spcBef>
              <a:spcAft>
                <a:spcPts val="0"/>
              </a:spcAft>
              <a:defRPr sz="2022" b="0">
                <a:solidFill>
                  <a:srgbClr val="333333"/>
                </a:solidFill>
                <a:latin typeface="微软雅黑"/>
              </a:defRPr>
            </a:pPr>
            <a:r>
              <a:rPr>
                <a:ea typeface="微软雅黑"/>
              </a:rPr>
              <a:t>(0.64g)</a:t>
            </a:r>
          </a:p>
        </p:txBody>
      </p:sp>
      <p:sp>
        <p:nvSpPr>
          <p:cNvPr id="23" name="原题文字_343_44"/>
          <p:cNvSpPr txBox="1"/>
          <p:nvPr/>
        </p:nvSpPr>
        <p:spPr>
          <a:xfrm>
            <a:off x="564175" y="3474510"/>
            <a:ext cx="42239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a:t>
            </a:r>
          </a:p>
        </p:txBody>
      </p:sp>
      <p:sp>
        <p:nvSpPr>
          <p:cNvPr id="24" name="原题文字_343_45"/>
          <p:cNvSpPr txBox="1"/>
          <p:nvPr/>
        </p:nvSpPr>
        <p:spPr>
          <a:xfrm>
            <a:off x="1100159" y="3474510"/>
            <a:ext cx="198440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组成物质x的元素是</a:t>
            </a:r>
          </a:p>
        </p:txBody>
      </p:sp>
      <p:sp>
        <p:nvSpPr>
          <p:cNvPr id="25" name="文字_(2) 黑色化合物转化为红棕色化合物的方程式为"/>
          <p:cNvSpPr txBox="1"/>
          <p:nvPr/>
        </p:nvSpPr>
        <p:spPr>
          <a:xfrm>
            <a:off x="502920" y="38603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黑色化合物转化为红棕色化合物的方程式为</a:t>
            </a:r>
          </a:p>
        </p:txBody>
      </p:sp>
      <p:sp>
        <p:nvSpPr>
          <p:cNvPr id="26" name="文字_(3) 写出红棕色化合物与稀硫酸反应的离子方程式"/>
          <p:cNvSpPr txBox="1"/>
          <p:nvPr/>
        </p:nvSpPr>
        <p:spPr>
          <a:xfrm>
            <a:off x="502920" y="42992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写出红棕色化合物与稀硫酸反应的离子方程式:</a:t>
            </a:r>
          </a:p>
        </p:txBody>
      </p:sp>
      <p:sp>
        <p:nvSpPr>
          <p:cNvPr id="27" name="文字_(4) 设计实验方案检验黄色溶液中的金属阳离子"/>
          <p:cNvSpPr txBox="1"/>
          <p:nvPr/>
        </p:nvSpPr>
        <p:spPr>
          <a:xfrm>
            <a:off x="502920" y="47381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 设计实验方案检验黄色溶液中的金属阳离子</a:t>
            </a:r>
          </a:p>
        </p:txBody>
      </p:sp>
      <p:sp>
        <p:nvSpPr>
          <p:cNvPr id="28" name="文字_推断题  ·  16-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16-021</a:t>
            </a:r>
          </a:p>
        </p:txBody>
      </p:sp>
      <p:sp>
        <p:nvSpPr>
          <p:cNvPr id="29" name="文字_2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例题3</a:t>
            </a:r>
          </a:p>
        </p:txBody>
      </p:sp>
      <p:sp>
        <p:nvSpPr>
          <p:cNvPr id="5" name="文字_P3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P344</a:t>
            </a:r>
          </a:p>
        </p:txBody>
      </p:sp>
      <p:sp>
        <p:nvSpPr>
          <p:cNvPr id="6" name="文字_某化合物甲是一种新型无机材料，由两种元素组成。为"/>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某化合物甲是一种新型无机材料，由两种元素组成。为探究其组成和性质，设计如</a:t>
            </a:r>
          </a:p>
          <a:p>
            <a:pPr>
              <a:lnSpc>
                <a:spcPct val="112000"/>
              </a:lnSpc>
              <a:spcBef>
                <a:spcPts val="0"/>
              </a:spcBef>
              <a:spcAft>
                <a:spcPts val="0"/>
              </a:spcAft>
              <a:defRPr sz="2400" b="0">
                <a:solidFill>
                  <a:srgbClr val="333333"/>
                </a:solidFill>
                <a:latin typeface="微软雅黑"/>
              </a:defRPr>
            </a:pPr>
            <a:r>
              <a:rPr>
                <a:ea typeface="微软雅黑"/>
              </a:rPr>
              <a:t>下实验：</a:t>
            </a:r>
          </a:p>
        </p:txBody>
      </p:sp>
      <p:sp>
        <p:nvSpPr>
          <p:cNvPr id="7" name="文字_滴加稀盐酸白色沉淀滴加稀盐酸"/>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滴加稀盐酸白色沉淀滴加稀盐酸</a:t>
            </a:r>
          </a:p>
        </p:txBody>
      </p:sp>
      <p:sp>
        <p:nvSpPr>
          <p:cNvPr id="8" name="文字_溶液乙 ______ 溶液丁"/>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溶液乙 ______ 溶液丁</a:t>
            </a:r>
          </a:p>
        </p:txBody>
      </p:sp>
      <p:pic>
        <p:nvPicPr>
          <p:cNvPr id="9" name="Picture 8" descr="image.png"/>
          <p:cNvPicPr>
            <a:picLocks noChangeAspect="1"/>
          </p:cNvPicPr>
          <p:nvPr/>
        </p:nvPicPr>
        <p:blipFill>
          <a:blip r:embed="rId3"/>
          <a:stretch>
            <a:fillRect/>
          </a:stretch>
        </p:blipFill>
        <p:spPr>
          <a:xfrm>
            <a:off x="502920" y="2758440"/>
            <a:ext cx="11064240" cy="1087281"/>
          </a:xfrm>
          <a:prstGeom prst="rect">
            <a:avLst/>
          </a:prstGeom>
        </p:spPr>
      </p:pic>
      <p:sp>
        <p:nvSpPr>
          <p:cNvPr id="10" name="原题文字_344_9"/>
          <p:cNvSpPr txBox="1"/>
          <p:nvPr/>
        </p:nvSpPr>
        <p:spPr>
          <a:xfrm>
            <a:off x="4461544" y="2606557"/>
            <a:ext cx="376454"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丙</a:t>
            </a:r>
          </a:p>
        </p:txBody>
      </p:sp>
      <p:sp>
        <p:nvSpPr>
          <p:cNvPr id="11" name="原题文字_344_10"/>
          <p:cNvSpPr txBox="1"/>
          <p:nvPr/>
        </p:nvSpPr>
        <p:spPr>
          <a:xfrm>
            <a:off x="786225" y="2790323"/>
            <a:ext cx="33051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甲</a:t>
            </a:r>
          </a:p>
        </p:txBody>
      </p:sp>
      <p:sp>
        <p:nvSpPr>
          <p:cNvPr id="12" name="原题文字_344_11"/>
          <p:cNvSpPr txBox="1"/>
          <p:nvPr/>
        </p:nvSpPr>
        <p:spPr>
          <a:xfrm>
            <a:off x="1237983" y="2790323"/>
            <a:ext cx="69804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NaOH</a:t>
            </a:r>
          </a:p>
        </p:txBody>
      </p:sp>
      <p:sp>
        <p:nvSpPr>
          <p:cNvPr id="13" name="原题文字_344_12"/>
          <p:cNvSpPr txBox="1"/>
          <p:nvPr/>
        </p:nvSpPr>
        <p:spPr>
          <a:xfrm>
            <a:off x="625430" y="3012374"/>
            <a:ext cx="659760" cy="408113"/>
          </a:xfrm>
          <a:prstGeom prst="rect">
            <a:avLst/>
          </a:prstGeom>
          <a:noFill/>
        </p:spPr>
        <p:txBody>
          <a:bodyPr wrap="none" lIns="0" rIns="0" tIns="0" bIns="0">
            <a:spAutoFit/>
          </a:bodyPr>
          <a:lstStyle/>
          <a:p>
            <a:pPr>
              <a:lnSpc>
                <a:spcPct val="112000"/>
              </a:lnSpc>
              <a:spcBef>
                <a:spcPts val="0"/>
              </a:spcBef>
              <a:spcAft>
                <a:spcPts val="0"/>
              </a:spcAft>
              <a:defRPr sz="1911" b="0">
                <a:solidFill>
                  <a:srgbClr val="333333"/>
                </a:solidFill>
                <a:latin typeface="微软雅黑"/>
              </a:defRPr>
            </a:pPr>
            <a:r>
              <a:rPr>
                <a:ea typeface="微软雅黑"/>
              </a:rPr>
              <a:t>(8.2g)</a:t>
            </a:r>
          </a:p>
        </p:txBody>
      </p:sp>
      <p:sp>
        <p:nvSpPr>
          <p:cNvPr id="14" name="原题文字_344_13"/>
          <p:cNvSpPr txBox="1"/>
          <p:nvPr/>
        </p:nvSpPr>
        <p:spPr>
          <a:xfrm>
            <a:off x="1437063" y="3096600"/>
            <a:ext cx="307542"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t>
            </a:r>
          </a:p>
        </p:txBody>
      </p:sp>
      <p:sp>
        <p:nvSpPr>
          <p:cNvPr id="15" name="原题文字_344_14"/>
          <p:cNvSpPr txBox="1"/>
          <p:nvPr/>
        </p:nvSpPr>
        <p:spPr>
          <a:xfrm>
            <a:off x="2447776" y="3249738"/>
            <a:ext cx="743986"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气体乙</a:t>
            </a:r>
          </a:p>
        </p:txBody>
      </p:sp>
      <p:sp>
        <p:nvSpPr>
          <p:cNvPr id="16" name="原题文字_344_15"/>
          <p:cNvSpPr txBox="1"/>
          <p:nvPr/>
        </p:nvSpPr>
        <p:spPr>
          <a:xfrm>
            <a:off x="2133842" y="3471789"/>
            <a:ext cx="1356539" cy="388205"/>
          </a:xfrm>
          <a:prstGeom prst="rect">
            <a:avLst/>
          </a:prstGeom>
          <a:noFill/>
        </p:spPr>
        <p:txBody>
          <a:bodyPr wrap="none" lIns="0" rIns="0" tIns="0" bIns="0">
            <a:spAutoFit/>
          </a:bodyPr>
          <a:lstStyle/>
          <a:p>
            <a:pPr>
              <a:lnSpc>
                <a:spcPct val="112000"/>
              </a:lnSpc>
              <a:spcBef>
                <a:spcPts val="0"/>
              </a:spcBef>
              <a:spcAft>
                <a:spcPts val="0"/>
              </a:spcAft>
              <a:defRPr sz="1742" b="0">
                <a:solidFill>
                  <a:srgbClr val="333333"/>
                </a:solidFill>
                <a:latin typeface="微软雅黑"/>
              </a:defRPr>
            </a:pPr>
            <a:r>
              <a:rPr>
                <a:ea typeface="微软雅黑"/>
              </a:rPr>
              <a:t>(标况下4.48L)</a:t>
            </a:r>
          </a:p>
        </p:txBody>
      </p:sp>
      <p:sp>
        <p:nvSpPr>
          <p:cNvPr id="17" name="文字_已知气体乙能使湿润的红色石蕊试纸变蓝。请回答："/>
          <p:cNvSpPr txBox="1"/>
          <p:nvPr/>
        </p:nvSpPr>
        <p:spPr>
          <a:xfrm>
            <a:off x="502920" y="391887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已知气体乙能使湿润的红色石蕊试纸变蓝。请回答：</a:t>
            </a:r>
          </a:p>
        </p:txBody>
      </p:sp>
      <p:sp>
        <p:nvSpPr>
          <p:cNvPr id="18" name="文字_(1)气体乙的电子式为： ______ o"/>
          <p:cNvSpPr txBox="1"/>
          <p:nvPr/>
        </p:nvSpPr>
        <p:spPr>
          <a:xfrm>
            <a:off x="502920" y="43577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(1)气体乙的电子式为： ______ o</a:t>
            </a:r>
          </a:p>
        </p:txBody>
      </p:sp>
      <p:sp>
        <p:nvSpPr>
          <p:cNvPr id="19" name="文字_(2)白色沉淀丙的化学式为："/>
          <p:cNvSpPr txBox="1"/>
          <p:nvPr/>
        </p:nvSpPr>
        <p:spPr>
          <a:xfrm>
            <a:off x="502920" y="479669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(2)白色沉淀丙的化学式为：</a:t>
            </a:r>
          </a:p>
        </p:txBody>
      </p:sp>
      <p:sp>
        <p:nvSpPr>
          <p:cNvPr id="20" name="文字_(3)请写出化合物甲与NaOH反应的化学方程式:"/>
          <p:cNvSpPr txBox="1"/>
          <p:nvPr/>
        </p:nvSpPr>
        <p:spPr>
          <a:xfrm>
            <a:off x="502920" y="523560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(3)请写出化合物甲与NaOH反应的化学方程式:</a:t>
            </a:r>
          </a:p>
        </p:txBody>
      </p:sp>
      <p:sp>
        <p:nvSpPr>
          <p:cNvPr id="21" name="文字_(4)试设计实验证明甲中的金属元素比同周期的其它"/>
          <p:cNvSpPr txBox="1"/>
          <p:nvPr/>
        </p:nvSpPr>
        <p:spPr>
          <a:xfrm>
            <a:off x="502920" y="567452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(4)试设计实验证明甲中的金属元素比同周期的其它金属元素的金属性弱：</a:t>
            </a:r>
          </a:p>
        </p:txBody>
      </p:sp>
      <p:sp>
        <p:nvSpPr>
          <p:cNvPr id="22" name="文字_填空题  ·  16-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16-022</a:t>
            </a:r>
          </a:p>
        </p:txBody>
      </p:sp>
      <p:sp>
        <p:nvSpPr>
          <p:cNvPr id="23" name="文字_2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例题4</a:t>
            </a:r>
          </a:p>
        </p:txBody>
      </p:sp>
      <p:sp>
        <p:nvSpPr>
          <p:cNvPr id="5" name="文字_P3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P344</a:t>
            </a:r>
          </a:p>
        </p:txBody>
      </p:sp>
      <p:sp>
        <p:nvSpPr>
          <p:cNvPr id="6" name="文字_某盐A是由三种元素组成的化合物，某研究小组按如图"/>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某盐A是由三种元素组成的化合物，某研究小组按如图流程探究其组成：</a:t>
            </a:r>
          </a:p>
        </p:txBody>
      </p:sp>
      <p:pic>
        <p:nvPicPr>
          <p:cNvPr id="7" name="Picture 6" descr="image.png"/>
          <p:cNvPicPr>
            <a:picLocks noChangeAspect="1"/>
          </p:cNvPicPr>
          <p:nvPr/>
        </p:nvPicPr>
        <p:blipFill>
          <a:blip r:embed="rId3"/>
          <a:stretch>
            <a:fillRect/>
          </a:stretch>
        </p:blipFill>
        <p:spPr>
          <a:xfrm>
            <a:off x="502920" y="1517904"/>
            <a:ext cx="11064240" cy="1768747"/>
          </a:xfrm>
          <a:prstGeom prst="rect">
            <a:avLst/>
          </a:prstGeom>
        </p:spPr>
      </p:pic>
      <p:sp>
        <p:nvSpPr>
          <p:cNvPr id="8" name="原题文字_344_26"/>
          <p:cNvSpPr txBox="1"/>
          <p:nvPr/>
        </p:nvSpPr>
        <p:spPr>
          <a:xfrm>
            <a:off x="5311461" y="1549787"/>
            <a:ext cx="1754698" cy="457883"/>
          </a:xfrm>
          <a:prstGeom prst="rect">
            <a:avLst/>
          </a:prstGeom>
          <a:noFill/>
        </p:spPr>
        <p:txBody>
          <a:bodyPr wrap="none" lIns="0" rIns="0" tIns="0" bIns="0">
            <a:spAutoFit/>
          </a:bodyPr>
          <a:lstStyle/>
          <a:p>
            <a:pPr>
              <a:lnSpc>
                <a:spcPct val="112000"/>
              </a:lnSpc>
              <a:spcBef>
                <a:spcPts val="0"/>
              </a:spcBef>
              <a:spcAft>
                <a:spcPts val="0"/>
              </a:spcAft>
              <a:defRPr sz="2032" b="0">
                <a:solidFill>
                  <a:srgbClr val="333333"/>
                </a:solidFill>
                <a:latin typeface="微软雅黑"/>
              </a:defRPr>
            </a:pPr>
            <a:r>
              <a:rPr>
                <a:ea typeface="微软雅黑"/>
              </a:rPr>
              <a:t>足量BaCl₂溶液</a:t>
            </a:r>
          </a:p>
        </p:txBody>
      </p:sp>
      <p:sp>
        <p:nvSpPr>
          <p:cNvPr id="9" name="原题文字_344_27"/>
          <p:cNvSpPr txBox="1"/>
          <p:nvPr/>
        </p:nvSpPr>
        <p:spPr>
          <a:xfrm>
            <a:off x="2532002" y="1741210"/>
            <a:ext cx="2796039" cy="447929"/>
          </a:xfrm>
          <a:prstGeom prst="rect">
            <a:avLst/>
          </a:prstGeom>
          <a:noFill/>
        </p:spPr>
        <p:txBody>
          <a:bodyPr wrap="none" lIns="0" rIns="0" tIns="0" bIns="0">
            <a:spAutoFit/>
          </a:bodyPr>
          <a:lstStyle/>
          <a:p>
            <a:pPr>
              <a:lnSpc>
                <a:spcPct val="112000"/>
              </a:lnSpc>
              <a:spcBef>
                <a:spcPts val="0"/>
              </a:spcBef>
              <a:spcAft>
                <a:spcPts val="0"/>
              </a:spcAft>
              <a:defRPr sz="2116" b="0">
                <a:solidFill>
                  <a:srgbClr val="333333"/>
                </a:solidFill>
                <a:latin typeface="微软雅黑"/>
              </a:defRPr>
            </a:pPr>
            <a:r>
              <a:rPr>
                <a:ea typeface="微软雅黑"/>
              </a:rPr>
              <a:t>气体B(折合标况448mL)</a:t>
            </a:r>
          </a:p>
        </p:txBody>
      </p:sp>
      <p:sp>
        <p:nvSpPr>
          <p:cNvPr id="10" name="原题文字_344_28"/>
          <p:cNvSpPr txBox="1"/>
          <p:nvPr/>
        </p:nvSpPr>
        <p:spPr>
          <a:xfrm>
            <a:off x="7133807" y="1710582"/>
            <a:ext cx="2129887" cy="527561"/>
          </a:xfrm>
          <a:prstGeom prst="rect">
            <a:avLst/>
          </a:prstGeom>
          <a:noFill/>
        </p:spPr>
        <p:txBody>
          <a:bodyPr wrap="none" lIns="0" rIns="0" tIns="0" bIns="0">
            <a:spAutoFit/>
          </a:bodyPr>
          <a:lstStyle/>
          <a:p>
            <a:pPr>
              <a:lnSpc>
                <a:spcPct val="112000"/>
              </a:lnSpc>
              <a:spcBef>
                <a:spcPts val="0"/>
              </a:spcBef>
              <a:spcAft>
                <a:spcPts val="0"/>
              </a:spcAft>
              <a:defRPr sz="1999" b="0">
                <a:solidFill>
                  <a:srgbClr val="333333"/>
                </a:solidFill>
                <a:latin typeface="微软雅黑"/>
              </a:defRPr>
            </a:pPr>
            <a:r>
              <a:rPr>
                <a:ea typeface="微软雅黑"/>
              </a:rPr>
              <a:t>白色沉淀D(2.33 g)</a:t>
            </a:r>
          </a:p>
        </p:txBody>
      </p:sp>
      <p:sp>
        <p:nvSpPr>
          <p:cNvPr id="11" name="原题文字_344_29"/>
          <p:cNvSpPr txBox="1"/>
          <p:nvPr/>
        </p:nvSpPr>
        <p:spPr>
          <a:xfrm>
            <a:off x="1850536" y="1993888"/>
            <a:ext cx="31519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a:t>
            </a:r>
          </a:p>
        </p:txBody>
      </p:sp>
      <p:sp>
        <p:nvSpPr>
          <p:cNvPr id="12" name="原题文字_344_30"/>
          <p:cNvSpPr txBox="1"/>
          <p:nvPr/>
        </p:nvSpPr>
        <p:spPr>
          <a:xfrm>
            <a:off x="640744" y="2093428"/>
            <a:ext cx="1180430" cy="507653"/>
          </a:xfrm>
          <a:prstGeom prst="rect">
            <a:avLst/>
          </a:prstGeom>
          <a:noFill/>
        </p:spPr>
        <p:txBody>
          <a:bodyPr wrap="none" lIns="0" rIns="0" tIns="0" bIns="0">
            <a:spAutoFit/>
          </a:bodyPr>
          <a:lstStyle/>
          <a:p>
            <a:pPr>
              <a:lnSpc>
                <a:spcPct val="112000"/>
              </a:lnSpc>
              <a:spcBef>
                <a:spcPts val="0"/>
              </a:spcBef>
              <a:spcAft>
                <a:spcPts val="0"/>
              </a:spcAft>
              <a:defRPr sz="2150" b="0">
                <a:solidFill>
                  <a:srgbClr val="333333"/>
                </a:solidFill>
                <a:latin typeface="微软雅黑"/>
              </a:defRPr>
            </a:pPr>
            <a:r>
              <a:rPr>
                <a:ea typeface="微软雅黑"/>
              </a:rPr>
              <a:t>A(3.04 g)</a:t>
            </a:r>
          </a:p>
        </p:txBody>
      </p:sp>
      <p:sp>
        <p:nvSpPr>
          <p:cNvPr id="13" name="原题文字_344_31"/>
          <p:cNvSpPr txBox="1"/>
          <p:nvPr/>
        </p:nvSpPr>
        <p:spPr>
          <a:xfrm>
            <a:off x="5587110" y="2323136"/>
            <a:ext cx="1157459" cy="477791"/>
          </a:xfrm>
          <a:prstGeom prst="rect">
            <a:avLst/>
          </a:prstGeom>
          <a:noFill/>
        </p:spPr>
        <p:txBody>
          <a:bodyPr wrap="none" lIns="0" rIns="0" tIns="0" bIns="0">
            <a:spAutoFit/>
          </a:bodyPr>
          <a:lstStyle/>
          <a:p>
            <a:pPr>
              <a:lnSpc>
                <a:spcPct val="112000"/>
              </a:lnSpc>
              <a:spcBef>
                <a:spcPts val="0"/>
              </a:spcBef>
              <a:spcAft>
                <a:spcPts val="0"/>
              </a:spcAft>
              <a:defRPr sz="2275" b="0">
                <a:solidFill>
                  <a:srgbClr val="333333"/>
                </a:solidFill>
                <a:latin typeface="微软雅黑"/>
              </a:defRPr>
            </a:pPr>
            <a:r>
              <a:rPr>
                <a:ea typeface="微软雅黑"/>
              </a:rPr>
              <a:t>盐酸溶液</a:t>
            </a:r>
          </a:p>
        </p:txBody>
      </p:sp>
      <p:sp>
        <p:nvSpPr>
          <p:cNvPr id="14" name="原题文字_344_32"/>
          <p:cNvSpPr txBox="1"/>
          <p:nvPr/>
        </p:nvSpPr>
        <p:spPr>
          <a:xfrm>
            <a:off x="2822964" y="2491588"/>
            <a:ext cx="2229427" cy="447929"/>
          </a:xfrm>
          <a:prstGeom prst="rect">
            <a:avLst/>
          </a:prstGeom>
          <a:noFill/>
        </p:spPr>
        <p:txBody>
          <a:bodyPr wrap="none" lIns="0" rIns="0" tIns="0" bIns="0">
            <a:spAutoFit/>
          </a:bodyPr>
          <a:lstStyle/>
          <a:p>
            <a:pPr>
              <a:lnSpc>
                <a:spcPct val="112000"/>
              </a:lnSpc>
              <a:spcBef>
                <a:spcPts val="0"/>
              </a:spcBef>
              <a:spcAft>
                <a:spcPts val="0"/>
              </a:spcAft>
              <a:defRPr sz="2034" b="0">
                <a:solidFill>
                  <a:srgbClr val="333333"/>
                </a:solidFill>
                <a:latin typeface="微软雅黑"/>
              </a:defRPr>
            </a:pPr>
            <a:r>
              <a:rPr>
                <a:ea typeface="微软雅黑"/>
              </a:rPr>
              <a:t>红棕色固体C(1.6 g)</a:t>
            </a:r>
          </a:p>
        </p:txBody>
      </p:sp>
      <p:sp>
        <p:nvSpPr>
          <p:cNvPr id="15" name="原题文字_344_33"/>
          <p:cNvSpPr txBox="1"/>
          <p:nvPr/>
        </p:nvSpPr>
        <p:spPr>
          <a:xfrm>
            <a:off x="7126150" y="2483931"/>
            <a:ext cx="1348882" cy="497699"/>
          </a:xfrm>
          <a:prstGeom prst="rect">
            <a:avLst/>
          </a:prstGeom>
          <a:noFill/>
        </p:spPr>
        <p:txBody>
          <a:bodyPr wrap="none" lIns="0" rIns="0" tIns="0" bIns="0">
            <a:spAutoFit/>
          </a:bodyPr>
          <a:lstStyle/>
          <a:p>
            <a:pPr>
              <a:lnSpc>
                <a:spcPct val="112000"/>
              </a:lnSpc>
              <a:spcBef>
                <a:spcPts val="0"/>
              </a:spcBef>
              <a:spcAft>
                <a:spcPts val="0"/>
              </a:spcAft>
              <a:defRPr sz="2333" b="0">
                <a:solidFill>
                  <a:srgbClr val="333333"/>
                </a:solidFill>
                <a:latin typeface="微软雅黑"/>
              </a:defRPr>
            </a:pPr>
            <a:r>
              <a:rPr>
                <a:ea typeface="微软雅黑"/>
              </a:rPr>
              <a:t>黄色溶液E</a:t>
            </a:r>
          </a:p>
        </p:txBody>
      </p:sp>
      <p:sp>
        <p:nvSpPr>
          <p:cNvPr id="16" name="原题文字_344_34"/>
          <p:cNvSpPr txBox="1"/>
          <p:nvPr/>
        </p:nvSpPr>
        <p:spPr>
          <a:xfrm>
            <a:off x="548861" y="2905061"/>
            <a:ext cx="889467" cy="437975"/>
          </a:xfrm>
          <a:prstGeom prst="rect">
            <a:avLst/>
          </a:prstGeom>
          <a:noFill/>
        </p:spPr>
        <p:txBody>
          <a:bodyPr wrap="none" lIns="0" rIns="0" tIns="0" bIns="0">
            <a:spAutoFit/>
          </a:bodyPr>
          <a:lstStyle/>
          <a:p>
            <a:pPr>
              <a:lnSpc>
                <a:spcPct val="112000"/>
              </a:lnSpc>
              <a:spcBef>
                <a:spcPts val="0"/>
              </a:spcBef>
              <a:spcAft>
                <a:spcPts val="0"/>
              </a:spcAft>
              <a:defRPr sz="1751" b="0">
                <a:solidFill>
                  <a:srgbClr val="333333"/>
                </a:solidFill>
                <a:latin typeface="微软雅黑"/>
              </a:defRPr>
            </a:pPr>
            <a:r>
              <a:rPr>
                <a:ea typeface="微软雅黑"/>
              </a:rPr>
              <a:t>请回答：</a:t>
            </a:r>
          </a:p>
        </p:txBody>
      </p:sp>
      <p:sp>
        <p:nvSpPr>
          <p:cNvPr id="17" name="文字_(1)写出A所含的元素 ______ o"/>
          <p:cNvSpPr txBox="1"/>
          <p:nvPr/>
        </p:nvSpPr>
        <p:spPr>
          <a:xfrm>
            <a:off x="502920" y="335980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(1)写出A所含的元素 ______ o</a:t>
            </a:r>
          </a:p>
        </p:txBody>
      </p:sp>
      <p:sp>
        <p:nvSpPr>
          <p:cNvPr id="18" name="文字_(2)写出红棕色固体C的化学式 ______ o"/>
          <p:cNvSpPr txBox="1"/>
          <p:nvPr/>
        </p:nvSpPr>
        <p:spPr>
          <a:xfrm>
            <a:off x="502920" y="379871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(2)写出红棕色固体C的化学式 ______ o</a:t>
            </a:r>
          </a:p>
        </p:txBody>
      </p:sp>
      <p:sp>
        <p:nvSpPr>
          <p:cNvPr id="19" name="文字_(3)写出A受热分解反应的化学方程式 _____"/>
          <p:cNvSpPr txBox="1"/>
          <p:nvPr/>
        </p:nvSpPr>
        <p:spPr>
          <a:xfrm>
            <a:off x="502920" y="423762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(3)写出A受热分解反应的化学方程式 ______ o</a:t>
            </a:r>
          </a:p>
        </p:txBody>
      </p:sp>
      <p:sp>
        <p:nvSpPr>
          <p:cNvPr id="20" name="文字_(4)写出检验A中阳离子的实验方案"/>
          <p:cNvSpPr txBox="1"/>
          <p:nvPr/>
        </p:nvSpPr>
        <p:spPr>
          <a:xfrm>
            <a:off x="502920" y="46765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(4)写出检验A中阳离子的实验方案</a:t>
            </a:r>
          </a:p>
        </p:txBody>
      </p:sp>
      <p:sp>
        <p:nvSpPr>
          <p:cNvPr id="21" name="文字_推断题  ·  16-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16-023</a:t>
            </a:r>
          </a:p>
        </p:txBody>
      </p:sp>
      <p:sp>
        <p:nvSpPr>
          <p:cNvPr id="22"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例题5</a:t>
            </a:r>
          </a:p>
        </p:txBody>
      </p:sp>
      <p:sp>
        <p:nvSpPr>
          <p:cNvPr id="5" name="文字_P3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P344</a:t>
            </a:r>
          </a:p>
        </p:txBody>
      </p:sp>
      <p:sp>
        <p:nvSpPr>
          <p:cNvPr id="6" name="文字_为探究某难溶性盐X(仅含三种常见元素)的组成，设"/>
          <p:cNvSpPr txBox="1"/>
          <p:nvPr/>
        </p:nvSpPr>
        <p:spPr>
          <a:xfrm>
            <a:off x="502920" y="1078992"/>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为探究某难溶性盐X(仅含三种常见元素)的组成，设计并完成以下实验(流程中部分物质已</a:t>
            </a:r>
          </a:p>
          <a:p>
            <a:pPr>
              <a:lnSpc>
                <a:spcPct val="112000"/>
              </a:lnSpc>
              <a:spcBef>
                <a:spcPts val="0"/>
              </a:spcBef>
              <a:spcAft>
                <a:spcPts val="0"/>
              </a:spcAft>
              <a:defRPr sz="2200" b="0">
                <a:solidFill>
                  <a:srgbClr val="333333"/>
                </a:solidFill>
                <a:latin typeface="微软雅黑"/>
              </a:defRPr>
            </a:pPr>
            <a:r>
              <a:rPr>
                <a:ea typeface="微软雅黑"/>
              </a:rPr>
              <a:t>略去):</a:t>
            </a:r>
          </a:p>
        </p:txBody>
      </p:sp>
      <p:pic>
        <p:nvPicPr>
          <p:cNvPr id="7" name="Picture 6" descr="image.png"/>
          <p:cNvPicPr>
            <a:picLocks noChangeAspect="1"/>
          </p:cNvPicPr>
          <p:nvPr/>
        </p:nvPicPr>
        <p:blipFill>
          <a:blip r:embed="rId3"/>
          <a:stretch>
            <a:fillRect/>
          </a:stretch>
        </p:blipFill>
        <p:spPr>
          <a:xfrm>
            <a:off x="502920" y="1813814"/>
            <a:ext cx="11064240" cy="2511467"/>
          </a:xfrm>
          <a:prstGeom prst="rect">
            <a:avLst/>
          </a:prstGeom>
        </p:spPr>
      </p:pic>
      <p:sp>
        <p:nvSpPr>
          <p:cNvPr id="8" name="原题文字_344_46"/>
          <p:cNvSpPr txBox="1"/>
          <p:nvPr/>
        </p:nvSpPr>
        <p:spPr>
          <a:xfrm>
            <a:off x="6773932" y="1914609"/>
            <a:ext cx="1134488"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白色沉淀</a:t>
            </a:r>
          </a:p>
        </p:txBody>
      </p:sp>
      <p:sp>
        <p:nvSpPr>
          <p:cNvPr id="9" name="原题文字_344_47"/>
          <p:cNvSpPr txBox="1"/>
          <p:nvPr/>
        </p:nvSpPr>
        <p:spPr>
          <a:xfrm>
            <a:off x="3244095" y="2282141"/>
            <a:ext cx="157093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气体A+气体B</a:t>
            </a:r>
          </a:p>
        </p:txBody>
      </p:sp>
      <p:sp>
        <p:nvSpPr>
          <p:cNvPr id="10" name="原题文字_344_48"/>
          <p:cNvSpPr txBox="1"/>
          <p:nvPr/>
        </p:nvSpPr>
        <p:spPr>
          <a:xfrm>
            <a:off x="4982214" y="2144317"/>
            <a:ext cx="1502020" cy="527561"/>
          </a:xfrm>
          <a:prstGeom prst="rect">
            <a:avLst/>
          </a:prstGeom>
          <a:noFill/>
        </p:spPr>
        <p:txBody>
          <a:bodyPr wrap="none" lIns="0" rIns="0" tIns="0" bIns="0">
            <a:spAutoFit/>
          </a:bodyPr>
          <a:lstStyle/>
          <a:p>
            <a:pPr>
              <a:lnSpc>
                <a:spcPct val="112000"/>
              </a:lnSpc>
              <a:spcBef>
                <a:spcPts val="0"/>
              </a:spcBef>
              <a:spcAft>
                <a:spcPts val="0"/>
              </a:spcAft>
              <a:defRPr sz="1957" b="0">
                <a:solidFill>
                  <a:srgbClr val="333333"/>
                </a:solidFill>
                <a:latin typeface="微软雅黑"/>
              </a:defRPr>
            </a:pPr>
            <a:r>
              <a:rPr>
                <a:ea typeface="微软雅黑"/>
              </a:rPr>
              <a:t>足量Ba(OH)2</a:t>
            </a:r>
          </a:p>
        </p:txBody>
      </p:sp>
      <p:sp>
        <p:nvSpPr>
          <p:cNvPr id="11" name="原题文字_344_49"/>
          <p:cNvSpPr txBox="1"/>
          <p:nvPr/>
        </p:nvSpPr>
        <p:spPr>
          <a:xfrm>
            <a:off x="6896442" y="2213229"/>
            <a:ext cx="851183" cy="447929"/>
          </a:xfrm>
          <a:prstGeom prst="rect">
            <a:avLst/>
          </a:prstGeom>
          <a:noFill/>
        </p:spPr>
        <p:txBody>
          <a:bodyPr wrap="none" lIns="0" rIns="0" tIns="0" bIns="0">
            <a:spAutoFit/>
          </a:bodyPr>
          <a:lstStyle/>
          <a:p>
            <a:pPr>
              <a:lnSpc>
                <a:spcPct val="112000"/>
              </a:lnSpc>
              <a:spcBef>
                <a:spcPts val="0"/>
              </a:spcBef>
              <a:spcAft>
                <a:spcPts val="0"/>
              </a:spcAft>
              <a:defRPr sz="2041" b="0">
                <a:solidFill>
                  <a:srgbClr val="333333"/>
                </a:solidFill>
                <a:latin typeface="微软雅黑"/>
              </a:defRPr>
            </a:pPr>
            <a:r>
              <a:rPr>
                <a:ea typeface="微软雅黑"/>
              </a:rPr>
              <a:t>(3.94g)</a:t>
            </a:r>
          </a:p>
        </p:txBody>
      </p:sp>
      <p:sp>
        <p:nvSpPr>
          <p:cNvPr id="12" name="原题文字_344_50"/>
          <p:cNvSpPr txBox="1"/>
          <p:nvPr/>
        </p:nvSpPr>
        <p:spPr>
          <a:xfrm>
            <a:off x="3060329" y="2542476"/>
            <a:ext cx="190783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(标况下共1.344L)</a:t>
            </a:r>
          </a:p>
        </p:txBody>
      </p:sp>
      <p:sp>
        <p:nvSpPr>
          <p:cNvPr id="13" name="原题文字_344_51"/>
          <p:cNvSpPr txBox="1"/>
          <p:nvPr/>
        </p:nvSpPr>
        <p:spPr>
          <a:xfrm>
            <a:off x="6659078" y="2664987"/>
            <a:ext cx="866496" cy="507653"/>
          </a:xfrm>
          <a:prstGeom prst="rect">
            <a:avLst/>
          </a:prstGeom>
          <a:noFill/>
        </p:spPr>
        <p:txBody>
          <a:bodyPr wrap="none" lIns="0" rIns="0" tIns="0" bIns="0">
            <a:spAutoFit/>
          </a:bodyPr>
          <a:lstStyle/>
          <a:p>
            <a:pPr>
              <a:lnSpc>
                <a:spcPct val="112000"/>
              </a:lnSpc>
              <a:spcBef>
                <a:spcPts val="0"/>
              </a:spcBef>
              <a:spcAft>
                <a:spcPts val="0"/>
              </a:spcAft>
              <a:defRPr sz="2459" b="0">
                <a:solidFill>
                  <a:srgbClr val="333333"/>
                </a:solidFill>
                <a:latin typeface="微软雅黑"/>
              </a:defRPr>
            </a:pPr>
            <a:r>
              <a:rPr>
                <a:ea typeface="微软雅黑"/>
              </a:rPr>
              <a:t>气体B</a:t>
            </a:r>
          </a:p>
        </p:txBody>
      </p:sp>
      <p:sp>
        <p:nvSpPr>
          <p:cNvPr id="14" name="原题文字_344_52"/>
          <p:cNvSpPr txBox="1"/>
          <p:nvPr/>
        </p:nvSpPr>
        <p:spPr>
          <a:xfrm>
            <a:off x="1391121" y="2879381"/>
            <a:ext cx="1157459"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隔绝空气</a:t>
            </a:r>
          </a:p>
        </p:txBody>
      </p:sp>
      <p:sp>
        <p:nvSpPr>
          <p:cNvPr id="15" name="原题文字_344_53"/>
          <p:cNvSpPr txBox="1"/>
          <p:nvPr/>
        </p:nvSpPr>
        <p:spPr>
          <a:xfrm>
            <a:off x="893422" y="2963607"/>
            <a:ext cx="34582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X</a:t>
            </a:r>
          </a:p>
        </p:txBody>
      </p:sp>
      <p:sp>
        <p:nvSpPr>
          <p:cNvPr id="16" name="原题文字_344_54"/>
          <p:cNvSpPr txBox="1"/>
          <p:nvPr/>
        </p:nvSpPr>
        <p:spPr>
          <a:xfrm>
            <a:off x="686685" y="3193314"/>
            <a:ext cx="743986" cy="497699"/>
          </a:xfrm>
          <a:prstGeom prst="rect">
            <a:avLst/>
          </a:prstGeom>
          <a:noFill/>
        </p:spPr>
        <p:txBody>
          <a:bodyPr wrap="none" lIns="0" rIns="0" tIns="0" bIns="0">
            <a:spAutoFit/>
          </a:bodyPr>
          <a:lstStyle/>
          <a:p>
            <a:pPr>
              <a:lnSpc>
                <a:spcPct val="112000"/>
              </a:lnSpc>
              <a:spcBef>
                <a:spcPts val="0"/>
              </a:spcBef>
              <a:spcAft>
                <a:spcPts val="0"/>
              </a:spcAft>
              <a:defRPr sz="2197" b="0">
                <a:solidFill>
                  <a:srgbClr val="333333"/>
                </a:solidFill>
                <a:latin typeface="微软雅黑"/>
              </a:defRPr>
            </a:pPr>
            <a:r>
              <a:rPr>
                <a:ea typeface="微软雅黑"/>
              </a:rPr>
              <a:t>4.32g</a:t>
            </a:r>
          </a:p>
        </p:txBody>
      </p:sp>
      <p:sp>
        <p:nvSpPr>
          <p:cNvPr id="17" name="原题文字_344_55"/>
          <p:cNvSpPr txBox="1"/>
          <p:nvPr/>
        </p:nvSpPr>
        <p:spPr>
          <a:xfrm>
            <a:off x="1636143" y="3208628"/>
            <a:ext cx="690387"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加热</a:t>
            </a:r>
          </a:p>
        </p:txBody>
      </p:sp>
      <p:sp>
        <p:nvSpPr>
          <p:cNvPr id="18" name="原题文字_344_56"/>
          <p:cNvSpPr txBox="1"/>
          <p:nvPr/>
        </p:nvSpPr>
        <p:spPr>
          <a:xfrm>
            <a:off x="4270121" y="3461306"/>
            <a:ext cx="62147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NaH</a:t>
            </a:r>
          </a:p>
        </p:txBody>
      </p:sp>
      <p:sp>
        <p:nvSpPr>
          <p:cNvPr id="19" name="原题文字_344_57"/>
          <p:cNvSpPr txBox="1"/>
          <p:nvPr/>
        </p:nvSpPr>
        <p:spPr>
          <a:xfrm>
            <a:off x="2945475" y="3560846"/>
            <a:ext cx="1318254"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黑色固体C</a:t>
            </a:r>
          </a:p>
        </p:txBody>
      </p:sp>
      <p:sp>
        <p:nvSpPr>
          <p:cNvPr id="20" name="原题文字_344_58"/>
          <p:cNvSpPr txBox="1"/>
          <p:nvPr/>
        </p:nvSpPr>
        <p:spPr>
          <a:xfrm>
            <a:off x="5058783" y="3553189"/>
            <a:ext cx="1456079" cy="477791"/>
          </a:xfrm>
          <a:prstGeom prst="rect">
            <a:avLst/>
          </a:prstGeom>
          <a:noFill/>
        </p:spPr>
        <p:txBody>
          <a:bodyPr wrap="none" lIns="0" rIns="0" tIns="0" bIns="0">
            <a:spAutoFit/>
          </a:bodyPr>
          <a:lstStyle/>
          <a:p>
            <a:pPr>
              <a:lnSpc>
                <a:spcPct val="112000"/>
              </a:lnSpc>
              <a:spcBef>
                <a:spcPts val="0"/>
              </a:spcBef>
              <a:spcAft>
                <a:spcPts val="0"/>
              </a:spcAft>
              <a:defRPr sz="1897" b="0">
                <a:solidFill>
                  <a:srgbClr val="333333"/>
                </a:solidFill>
                <a:latin typeface="微软雅黑"/>
              </a:defRPr>
            </a:pPr>
            <a:r>
              <a:rPr>
                <a:ea typeface="微软雅黑"/>
              </a:rPr>
              <a:t>单质D(1.68g)</a:t>
            </a:r>
          </a:p>
        </p:txBody>
      </p:sp>
      <p:sp>
        <p:nvSpPr>
          <p:cNvPr id="21" name="原题文字_344_59"/>
          <p:cNvSpPr txBox="1"/>
          <p:nvPr/>
        </p:nvSpPr>
        <p:spPr>
          <a:xfrm>
            <a:off x="602459" y="4020261"/>
            <a:ext cx="1073625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已知：气体A和气体B所含元素相同，都是无色无味气体，固体C为纯净物且具有磁性，单质D是目前建筑行业应用</a:t>
            </a:r>
          </a:p>
        </p:txBody>
      </p:sp>
      <p:sp>
        <p:nvSpPr>
          <p:cNvPr id="22" name="文字_最广泛的金属。根据上述信息，回答下列问题："/>
          <p:cNvSpPr txBox="1"/>
          <p:nvPr/>
        </p:nvSpPr>
        <p:spPr>
          <a:xfrm>
            <a:off x="502920" y="4398433"/>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最广泛的金属。根据上述信息，回答下列问题：</a:t>
            </a:r>
          </a:p>
        </p:txBody>
      </p:sp>
      <p:sp>
        <p:nvSpPr>
          <p:cNvPr id="23" name="文字_(1)盐X的化学式为"/>
          <p:cNvSpPr txBox="1"/>
          <p:nvPr/>
        </p:nvSpPr>
        <p:spPr>
          <a:xfrm>
            <a:off x="502920" y="4800769"/>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(1)盐X的化学式为</a:t>
            </a:r>
          </a:p>
        </p:txBody>
      </p:sp>
      <p:sp>
        <p:nvSpPr>
          <p:cNvPr id="24" name="文字_(2)无水条件下，少量NaH就能与固体C反应并放"/>
          <p:cNvSpPr txBox="1"/>
          <p:nvPr/>
        </p:nvSpPr>
        <p:spPr>
          <a:xfrm>
            <a:off x="502920" y="5203105"/>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(2)无水条件下，少量NaH就能与固体C反应并放出大量的热，写出该反应的化学方程式</a:t>
            </a:r>
          </a:p>
        </p:txBody>
      </p:sp>
      <p:sp>
        <p:nvSpPr>
          <p:cNvPr id="25" name="文字_(3)将产生的气体A全部被100mL₀.35mo"/>
          <p:cNvSpPr txBox="1"/>
          <p:nvPr/>
        </p:nvSpPr>
        <p:spPr>
          <a:xfrm>
            <a:off x="502920" y="5605441"/>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(3)将产生的气体A全部被100mL₀.35mol·L-1氢氧化钠溶液充分吸收，反应的总离子方程</a:t>
            </a:r>
          </a:p>
          <a:p>
            <a:pPr>
              <a:lnSpc>
                <a:spcPct val="112000"/>
              </a:lnSpc>
              <a:spcBef>
                <a:spcPts val="0"/>
              </a:spcBef>
              <a:spcAft>
                <a:spcPts val="0"/>
              </a:spcAft>
              <a:defRPr sz="2200" b="0">
                <a:solidFill>
                  <a:srgbClr val="333333"/>
                </a:solidFill>
                <a:latin typeface="微软雅黑"/>
              </a:defRPr>
            </a:pPr>
            <a:r>
              <a:rPr>
                <a:ea typeface="微软雅黑"/>
              </a:rPr>
              <a:t>式为</a:t>
            </a:r>
          </a:p>
        </p:txBody>
      </p:sp>
      <p:sp>
        <p:nvSpPr>
          <p:cNvPr id="26" name="文字_推断题  ·  16-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16-024</a:t>
            </a:r>
          </a:p>
        </p:txBody>
      </p:sp>
      <p:sp>
        <p:nvSpPr>
          <p:cNvPr id="27"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变式1</a:t>
            </a:r>
          </a:p>
        </p:txBody>
      </p:sp>
      <p:sp>
        <p:nvSpPr>
          <p:cNvPr id="5" name="文字_P3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P345</a:t>
            </a:r>
          </a:p>
        </p:txBody>
      </p:sp>
      <p:sp>
        <p:nvSpPr>
          <p:cNvPr id="6" name="文字_某磁性固体A仅含两种元素，为探究A的组成，某研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某磁性固体A仅含两种元素，为探究A的组成，某研究小组进行如下实验(图中部分</a:t>
            </a:r>
          </a:p>
          <a:p>
            <a:pPr>
              <a:lnSpc>
                <a:spcPct val="112000"/>
              </a:lnSpc>
              <a:spcBef>
                <a:spcPts val="0"/>
              </a:spcBef>
              <a:spcAft>
                <a:spcPts val="0"/>
              </a:spcAft>
              <a:defRPr sz="2400" b="0">
                <a:solidFill>
                  <a:srgbClr val="333333"/>
                </a:solidFill>
                <a:latin typeface="微软雅黑"/>
              </a:defRPr>
            </a:pPr>
            <a:r>
              <a:rPr>
                <a:ea typeface="微软雅黑"/>
              </a:rPr>
              <a:t>产物未标出):</a:t>
            </a:r>
          </a:p>
        </p:txBody>
      </p:sp>
      <p:pic>
        <p:nvPicPr>
          <p:cNvPr id="7" name="Picture 6" descr="image.png"/>
          <p:cNvPicPr>
            <a:picLocks noChangeAspect="1"/>
          </p:cNvPicPr>
          <p:nvPr/>
        </p:nvPicPr>
        <p:blipFill>
          <a:blip r:embed="rId3"/>
          <a:stretch>
            <a:fillRect/>
          </a:stretch>
        </p:blipFill>
        <p:spPr>
          <a:xfrm>
            <a:off x="502920" y="1880616"/>
            <a:ext cx="11064240" cy="2182220"/>
          </a:xfrm>
          <a:prstGeom prst="rect">
            <a:avLst/>
          </a:prstGeom>
        </p:spPr>
      </p:pic>
      <p:sp>
        <p:nvSpPr>
          <p:cNvPr id="8" name="原题文字_345_5"/>
          <p:cNvSpPr txBox="1"/>
          <p:nvPr/>
        </p:nvSpPr>
        <p:spPr>
          <a:xfrm>
            <a:off x="5227235" y="1912499"/>
            <a:ext cx="4166626" cy="557423"/>
          </a:xfrm>
          <a:prstGeom prst="rect">
            <a:avLst/>
          </a:prstGeom>
          <a:noFill/>
        </p:spPr>
        <p:txBody>
          <a:bodyPr wrap="none" lIns="0" rIns="0" tIns="0" bIns="0">
            <a:spAutoFit/>
          </a:bodyPr>
          <a:lstStyle/>
          <a:p>
            <a:pPr>
              <a:lnSpc>
                <a:spcPct val="112000"/>
              </a:lnSpc>
              <a:spcBef>
                <a:spcPts val="0"/>
              </a:spcBef>
              <a:spcAft>
                <a:spcPts val="0"/>
              </a:spcAft>
              <a:defRPr sz="2284" b="0">
                <a:solidFill>
                  <a:srgbClr val="333333"/>
                </a:solidFill>
                <a:latin typeface="微软雅黑"/>
              </a:defRPr>
            </a:pPr>
            <a:r>
              <a:rPr>
                <a:ea typeface="微软雅黑"/>
              </a:rPr>
              <a:t>气体C(湿润的红色石蕊试纸变蓝)</a:t>
            </a:r>
          </a:p>
        </p:txBody>
      </p:sp>
      <p:sp>
        <p:nvSpPr>
          <p:cNvPr id="9" name="原题文字_345_6"/>
          <p:cNvSpPr txBox="1"/>
          <p:nvPr/>
        </p:nvSpPr>
        <p:spPr>
          <a:xfrm>
            <a:off x="4132296" y="2203462"/>
            <a:ext cx="79758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NaOH</a:t>
            </a:r>
          </a:p>
        </p:txBody>
      </p:sp>
      <p:sp>
        <p:nvSpPr>
          <p:cNvPr id="10" name="原题文字_345_7"/>
          <p:cNvSpPr txBox="1"/>
          <p:nvPr/>
        </p:nvSpPr>
        <p:spPr>
          <a:xfrm>
            <a:off x="2179784" y="2417856"/>
            <a:ext cx="1034948" cy="527561"/>
          </a:xfrm>
          <a:prstGeom prst="rect">
            <a:avLst/>
          </a:prstGeom>
          <a:noFill/>
        </p:spPr>
        <p:txBody>
          <a:bodyPr wrap="none" lIns="0" rIns="0" tIns="0" bIns="0">
            <a:spAutoFit/>
          </a:bodyPr>
          <a:lstStyle/>
          <a:p>
            <a:pPr>
              <a:lnSpc>
                <a:spcPct val="112000"/>
              </a:lnSpc>
              <a:spcBef>
                <a:spcPts val="0"/>
              </a:spcBef>
              <a:spcAft>
                <a:spcPts val="0"/>
              </a:spcAft>
              <a:defRPr sz="2556" b="0">
                <a:solidFill>
                  <a:srgbClr val="333333"/>
                </a:solidFill>
                <a:latin typeface="微软雅黑"/>
              </a:defRPr>
            </a:pPr>
            <a:r>
              <a:rPr>
                <a:ea typeface="微软雅黑"/>
              </a:rPr>
              <a:t>稀盐酸</a:t>
            </a:r>
          </a:p>
        </p:txBody>
      </p:sp>
      <p:sp>
        <p:nvSpPr>
          <p:cNvPr id="11" name="原题文字_345_8"/>
          <p:cNvSpPr txBox="1"/>
          <p:nvPr/>
        </p:nvSpPr>
        <p:spPr>
          <a:xfrm>
            <a:off x="4155267" y="2425512"/>
            <a:ext cx="743986" cy="507653"/>
          </a:xfrm>
          <a:prstGeom prst="rect">
            <a:avLst/>
          </a:prstGeom>
          <a:noFill/>
        </p:spPr>
        <p:txBody>
          <a:bodyPr wrap="none" lIns="0" rIns="0" tIns="0" bIns="0">
            <a:spAutoFit/>
          </a:bodyPr>
          <a:lstStyle/>
          <a:p>
            <a:pPr>
              <a:lnSpc>
                <a:spcPct val="112000"/>
              </a:lnSpc>
              <a:spcBef>
                <a:spcPts val="0"/>
              </a:spcBef>
              <a:spcAft>
                <a:spcPts val="0"/>
              </a:spcAft>
              <a:defRPr sz="2459" b="0">
                <a:solidFill>
                  <a:srgbClr val="333333"/>
                </a:solidFill>
                <a:latin typeface="微软雅黑"/>
              </a:defRPr>
            </a:pPr>
            <a:r>
              <a:rPr>
                <a:ea typeface="微软雅黑"/>
              </a:rPr>
              <a:t>溶液</a:t>
            </a:r>
          </a:p>
        </p:txBody>
      </p:sp>
      <p:sp>
        <p:nvSpPr>
          <p:cNvPr id="12" name="原题文字_345_9"/>
          <p:cNvSpPr txBox="1"/>
          <p:nvPr/>
        </p:nvSpPr>
        <p:spPr>
          <a:xfrm>
            <a:off x="740284" y="2570994"/>
            <a:ext cx="1463736" cy="557423"/>
          </a:xfrm>
          <a:prstGeom prst="rect">
            <a:avLst/>
          </a:prstGeom>
          <a:noFill/>
        </p:spPr>
        <p:txBody>
          <a:bodyPr wrap="none" lIns="0" rIns="0" tIns="0" bIns="0">
            <a:spAutoFit/>
          </a:bodyPr>
          <a:lstStyle/>
          <a:p>
            <a:pPr>
              <a:lnSpc>
                <a:spcPct val="112000"/>
              </a:lnSpc>
              <a:spcBef>
                <a:spcPts val="0"/>
              </a:spcBef>
              <a:spcAft>
                <a:spcPts val="0"/>
              </a:spcAft>
              <a:defRPr sz="2104" b="0">
                <a:solidFill>
                  <a:srgbClr val="333333"/>
                </a:solidFill>
                <a:latin typeface="微软雅黑"/>
              </a:defRPr>
            </a:pPr>
            <a:r>
              <a:rPr>
                <a:ea typeface="微软雅黑"/>
              </a:rPr>
              <a:t>固体A(4.2g)</a:t>
            </a:r>
          </a:p>
        </p:txBody>
      </p:sp>
      <p:sp>
        <p:nvSpPr>
          <p:cNvPr id="13" name="原题文字_345_10"/>
          <p:cNvSpPr txBox="1"/>
          <p:nvPr/>
        </p:nvSpPr>
        <p:spPr>
          <a:xfrm>
            <a:off x="3198153" y="2555680"/>
            <a:ext cx="927752" cy="567377"/>
          </a:xfrm>
          <a:prstGeom prst="rect">
            <a:avLst/>
          </a:prstGeom>
          <a:noFill/>
        </p:spPr>
        <p:txBody>
          <a:bodyPr wrap="none" lIns="0" rIns="0" tIns="0" bIns="0">
            <a:spAutoFit/>
          </a:bodyPr>
          <a:lstStyle/>
          <a:p>
            <a:pPr>
              <a:lnSpc>
                <a:spcPct val="112000"/>
              </a:lnSpc>
              <a:spcBef>
                <a:spcPts val="0"/>
              </a:spcBef>
              <a:spcAft>
                <a:spcPts val="0"/>
              </a:spcAft>
              <a:defRPr sz="2749" b="0">
                <a:solidFill>
                  <a:srgbClr val="333333"/>
                </a:solidFill>
                <a:latin typeface="微软雅黑"/>
              </a:defRPr>
            </a:pPr>
            <a:r>
              <a:rPr>
                <a:ea typeface="微软雅黑"/>
              </a:rPr>
              <a:t>溶液B</a:t>
            </a:r>
          </a:p>
        </p:txBody>
      </p:sp>
      <p:sp>
        <p:nvSpPr>
          <p:cNvPr id="14" name="原题文字_345_11"/>
          <p:cNvSpPr txBox="1"/>
          <p:nvPr/>
        </p:nvSpPr>
        <p:spPr>
          <a:xfrm>
            <a:off x="2294637" y="2793044"/>
            <a:ext cx="751643"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过量</a:t>
            </a:r>
          </a:p>
        </p:txBody>
      </p:sp>
      <p:sp>
        <p:nvSpPr>
          <p:cNvPr id="15" name="原题文字_345_12"/>
          <p:cNvSpPr txBox="1"/>
          <p:nvPr/>
        </p:nvSpPr>
        <p:spPr>
          <a:xfrm>
            <a:off x="4193552" y="2800701"/>
            <a:ext cx="721015"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加热</a:t>
            </a:r>
          </a:p>
        </p:txBody>
      </p:sp>
      <p:sp>
        <p:nvSpPr>
          <p:cNvPr id="16" name="原题文字_345_13"/>
          <p:cNvSpPr txBox="1"/>
          <p:nvPr/>
        </p:nvSpPr>
        <p:spPr>
          <a:xfrm>
            <a:off x="6881128" y="3106978"/>
            <a:ext cx="743986" cy="507653"/>
          </a:xfrm>
          <a:prstGeom prst="rect">
            <a:avLst/>
          </a:prstGeom>
          <a:noFill/>
        </p:spPr>
        <p:txBody>
          <a:bodyPr wrap="none" lIns="0" rIns="0" tIns="0" bIns="0">
            <a:spAutoFit/>
          </a:bodyPr>
          <a:lstStyle/>
          <a:p>
            <a:pPr>
              <a:lnSpc>
                <a:spcPct val="112000"/>
              </a:lnSpc>
              <a:spcBef>
                <a:spcPts val="0"/>
              </a:spcBef>
              <a:spcAft>
                <a:spcPts val="0"/>
              </a:spcAft>
              <a:defRPr sz="2459" b="0">
                <a:solidFill>
                  <a:srgbClr val="333333"/>
                </a:solidFill>
                <a:latin typeface="微软雅黑"/>
              </a:defRPr>
            </a:pPr>
            <a:r>
              <a:rPr>
                <a:ea typeface="微软雅黑"/>
              </a:rPr>
              <a:t>灼烧</a:t>
            </a:r>
          </a:p>
        </p:txBody>
      </p:sp>
      <p:sp>
        <p:nvSpPr>
          <p:cNvPr id="17" name="原题文字_345_14"/>
          <p:cNvSpPr txBox="1"/>
          <p:nvPr/>
        </p:nvSpPr>
        <p:spPr>
          <a:xfrm>
            <a:off x="5257863" y="3244802"/>
            <a:ext cx="1655158"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红褐色沉淀D</a:t>
            </a:r>
          </a:p>
        </p:txBody>
      </p:sp>
      <p:sp>
        <p:nvSpPr>
          <p:cNvPr id="18" name="原题文字_345_15"/>
          <p:cNvSpPr txBox="1"/>
          <p:nvPr/>
        </p:nvSpPr>
        <p:spPr>
          <a:xfrm>
            <a:off x="7761673" y="3252459"/>
            <a:ext cx="2214113" cy="457883"/>
          </a:xfrm>
          <a:prstGeom prst="rect">
            <a:avLst/>
          </a:prstGeom>
          <a:noFill/>
        </p:spPr>
        <p:txBody>
          <a:bodyPr wrap="none" lIns="0" rIns="0" tIns="0" bIns="0">
            <a:spAutoFit/>
          </a:bodyPr>
          <a:lstStyle/>
          <a:p>
            <a:pPr>
              <a:lnSpc>
                <a:spcPct val="112000"/>
              </a:lnSpc>
              <a:spcBef>
                <a:spcPts val="0"/>
              </a:spcBef>
              <a:spcAft>
                <a:spcPts val="0"/>
              </a:spcAft>
              <a:defRPr sz="2110" b="0">
                <a:solidFill>
                  <a:srgbClr val="333333"/>
                </a:solidFill>
                <a:latin typeface="微软雅黑"/>
              </a:defRPr>
            </a:pPr>
            <a:r>
              <a:rPr>
                <a:ea typeface="微软雅黑"/>
              </a:rPr>
              <a:t>红棕色固体E(4.8g)</a:t>
            </a:r>
          </a:p>
        </p:txBody>
      </p:sp>
      <p:sp>
        <p:nvSpPr>
          <p:cNvPr id="19" name="原题文字_345_16"/>
          <p:cNvSpPr txBox="1"/>
          <p:nvPr/>
        </p:nvSpPr>
        <p:spPr>
          <a:xfrm>
            <a:off x="556518" y="3704217"/>
            <a:ext cx="874153" cy="408113"/>
          </a:xfrm>
          <a:prstGeom prst="rect">
            <a:avLst/>
          </a:prstGeom>
          <a:noFill/>
        </p:spPr>
        <p:txBody>
          <a:bodyPr wrap="none" lIns="0" rIns="0" tIns="0" bIns="0">
            <a:spAutoFit/>
          </a:bodyPr>
          <a:lstStyle/>
          <a:p>
            <a:pPr>
              <a:lnSpc>
                <a:spcPct val="112000"/>
              </a:lnSpc>
              <a:spcBef>
                <a:spcPts val="0"/>
              </a:spcBef>
              <a:spcAft>
                <a:spcPts val="0"/>
              </a:spcAft>
              <a:defRPr sz="1726" b="0">
                <a:solidFill>
                  <a:srgbClr val="333333"/>
                </a:solidFill>
                <a:latin typeface="微软雅黑"/>
              </a:defRPr>
            </a:pPr>
            <a:r>
              <a:rPr>
                <a:ea typeface="微软雅黑"/>
              </a:rPr>
              <a:t>请回答：</a:t>
            </a:r>
          </a:p>
        </p:txBody>
      </p:sp>
      <p:sp>
        <p:nvSpPr>
          <p:cNvPr id="20" name="文字_(1)组成A的两种元素是 ______ ；A的化"/>
          <p:cNvSpPr txBox="1"/>
          <p:nvPr/>
        </p:nvSpPr>
        <p:spPr>
          <a:xfrm>
            <a:off x="502920" y="41359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(1)组成A的两种元素是 ______ ；A的化学式为</a:t>
            </a:r>
          </a:p>
        </p:txBody>
      </p:sp>
      <p:sp>
        <p:nvSpPr>
          <p:cNvPr id="21" name="文字_(2)沉淀D可溶于稀硫酸，发生反应的离子方程式为"/>
          <p:cNvSpPr txBox="1"/>
          <p:nvPr/>
        </p:nvSpPr>
        <p:spPr>
          <a:xfrm>
            <a:off x="502920" y="457490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(2)沉淀D可溶于稀硫酸，发生反应的离子方程式为 ______ ；检验沉淀D溶于过量稀</a:t>
            </a:r>
          </a:p>
          <a:p>
            <a:pPr>
              <a:lnSpc>
                <a:spcPct val="112000"/>
              </a:lnSpc>
              <a:spcBef>
                <a:spcPts val="0"/>
              </a:spcBef>
              <a:spcAft>
                <a:spcPts val="0"/>
              </a:spcAft>
              <a:defRPr sz="2400" b="0">
                <a:solidFill>
                  <a:srgbClr val="333333"/>
                </a:solidFill>
                <a:latin typeface="微软雅黑"/>
              </a:defRPr>
            </a:pPr>
            <a:r>
              <a:rPr>
                <a:ea typeface="微软雅黑"/>
              </a:rPr>
              <a:t>硫酸后溶液中的金属阳离子的</a:t>
            </a:r>
          </a:p>
        </p:txBody>
      </p:sp>
      <p:pic>
        <p:nvPicPr>
          <p:cNvPr id="22" name="Picture 21" descr="image.png"/>
          <p:cNvPicPr>
            <a:picLocks noChangeAspect="1"/>
          </p:cNvPicPr>
          <p:nvPr/>
        </p:nvPicPr>
        <p:blipFill>
          <a:blip r:embed="rId4"/>
          <a:stretch>
            <a:fillRect/>
          </a:stretch>
        </p:blipFill>
        <p:spPr>
          <a:xfrm>
            <a:off x="502920" y="5376524"/>
            <a:ext cx="11064240" cy="842260"/>
          </a:xfrm>
          <a:prstGeom prst="rect">
            <a:avLst/>
          </a:prstGeom>
        </p:spPr>
      </p:pic>
      <p:sp>
        <p:nvSpPr>
          <p:cNvPr id="23" name="原题文字_345_23"/>
          <p:cNvSpPr txBox="1"/>
          <p:nvPr/>
        </p:nvSpPr>
        <p:spPr>
          <a:xfrm>
            <a:off x="1100159" y="5408408"/>
            <a:ext cx="118043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实验方案为</a:t>
            </a:r>
          </a:p>
        </p:txBody>
      </p:sp>
      <p:sp>
        <p:nvSpPr>
          <p:cNvPr id="24" name="原题文字_345_24"/>
          <p:cNvSpPr txBox="1"/>
          <p:nvPr/>
        </p:nvSpPr>
        <p:spPr>
          <a:xfrm>
            <a:off x="2861249" y="5569203"/>
            <a:ext cx="162060"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25" name="原题文字_345_25"/>
          <p:cNvSpPr txBox="1"/>
          <p:nvPr/>
        </p:nvSpPr>
        <p:spPr>
          <a:xfrm>
            <a:off x="556518" y="5883136"/>
            <a:ext cx="560220"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(3)</a:t>
            </a:r>
          </a:p>
        </p:txBody>
      </p:sp>
      <p:sp>
        <p:nvSpPr>
          <p:cNvPr id="26" name="原题文字_345_26"/>
          <p:cNvSpPr txBox="1"/>
          <p:nvPr/>
        </p:nvSpPr>
        <p:spPr>
          <a:xfrm>
            <a:off x="1077188" y="5883136"/>
            <a:ext cx="486340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溶液B与NaOH溶液共热产生气体C的离子方程式为</a:t>
            </a:r>
          </a:p>
        </p:txBody>
      </p:sp>
      <p:sp>
        <p:nvSpPr>
          <p:cNvPr id="27" name="文字_推断题  ·  16-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16-025</a:t>
            </a:r>
          </a:p>
        </p:txBody>
      </p:sp>
      <p:sp>
        <p:nvSpPr>
          <p:cNvPr id="28"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变式2</a:t>
            </a:r>
          </a:p>
        </p:txBody>
      </p:sp>
      <p:sp>
        <p:nvSpPr>
          <p:cNvPr id="5" name="文字_P3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P345</a:t>
            </a:r>
          </a:p>
        </p:txBody>
      </p:sp>
      <p:sp>
        <p:nvSpPr>
          <p:cNvPr id="6" name="文字_化合物X是一种常见的脱叶剂，某兴趣小组对X开展探"/>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化合物X是一种常见的脱叶剂，某兴趣小组对X开展探究实验。</a:t>
            </a:r>
          </a:p>
        </p:txBody>
      </p:sp>
      <p:pic>
        <p:nvPicPr>
          <p:cNvPr id="7" name="Picture 6" descr="image.png"/>
          <p:cNvPicPr>
            <a:picLocks noChangeAspect="1"/>
          </p:cNvPicPr>
          <p:nvPr/>
        </p:nvPicPr>
        <p:blipFill>
          <a:blip r:embed="rId3"/>
          <a:stretch>
            <a:fillRect/>
          </a:stretch>
        </p:blipFill>
        <p:spPr>
          <a:xfrm>
            <a:off x="502920" y="1517904"/>
            <a:ext cx="11064240" cy="2189877"/>
          </a:xfrm>
          <a:prstGeom prst="rect">
            <a:avLst/>
          </a:prstGeom>
        </p:spPr>
      </p:pic>
      <p:sp>
        <p:nvSpPr>
          <p:cNvPr id="8" name="原题文字_345_31"/>
          <p:cNvSpPr txBox="1"/>
          <p:nvPr/>
        </p:nvSpPr>
        <p:spPr>
          <a:xfrm>
            <a:off x="3106270" y="1634013"/>
            <a:ext cx="789927"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固体A</a:t>
            </a:r>
          </a:p>
        </p:txBody>
      </p:sp>
      <p:sp>
        <p:nvSpPr>
          <p:cNvPr id="9" name="原题文字_345_32"/>
          <p:cNvSpPr txBox="1"/>
          <p:nvPr/>
        </p:nvSpPr>
        <p:spPr>
          <a:xfrm>
            <a:off x="3956187" y="1588072"/>
            <a:ext cx="1080890" cy="457883"/>
          </a:xfrm>
          <a:prstGeom prst="rect">
            <a:avLst/>
          </a:prstGeom>
          <a:noFill/>
        </p:spPr>
        <p:txBody>
          <a:bodyPr wrap="none" lIns="0" rIns="0" tIns="0" bIns="0">
            <a:spAutoFit/>
          </a:bodyPr>
          <a:lstStyle/>
          <a:p>
            <a:pPr>
              <a:lnSpc>
                <a:spcPct val="112000"/>
              </a:lnSpc>
              <a:spcBef>
                <a:spcPts val="0"/>
              </a:spcBef>
              <a:spcAft>
                <a:spcPts val="0"/>
              </a:spcAft>
              <a:defRPr sz="2127" b="0">
                <a:solidFill>
                  <a:srgbClr val="333333"/>
                </a:solidFill>
                <a:latin typeface="微软雅黑"/>
              </a:defRPr>
            </a:pPr>
            <a:r>
              <a:rPr>
                <a:ea typeface="微软雅黑"/>
              </a:rPr>
              <a:t>焰色试验</a:t>
            </a:r>
          </a:p>
        </p:txBody>
      </p:sp>
      <p:sp>
        <p:nvSpPr>
          <p:cNvPr id="10" name="原题文字_345_33"/>
          <p:cNvSpPr txBox="1"/>
          <p:nvPr/>
        </p:nvSpPr>
        <p:spPr>
          <a:xfrm>
            <a:off x="4897988" y="1748867"/>
            <a:ext cx="958379" cy="437975"/>
          </a:xfrm>
          <a:prstGeom prst="rect">
            <a:avLst/>
          </a:prstGeom>
          <a:noFill/>
        </p:spPr>
        <p:txBody>
          <a:bodyPr wrap="none" lIns="0" rIns="0" tIns="0" bIns="0">
            <a:spAutoFit/>
          </a:bodyPr>
          <a:lstStyle/>
          <a:p>
            <a:pPr>
              <a:lnSpc>
                <a:spcPct val="112000"/>
              </a:lnSpc>
              <a:spcBef>
                <a:spcPts val="0"/>
              </a:spcBef>
              <a:spcAft>
                <a:spcPts val="0"/>
              </a:spcAft>
              <a:defRPr sz="1888" b="0">
                <a:solidFill>
                  <a:srgbClr val="333333"/>
                </a:solidFill>
                <a:latin typeface="微软雅黑"/>
              </a:defRPr>
            </a:pPr>
            <a:r>
              <a:rPr>
                <a:ea typeface="微软雅黑"/>
              </a:rPr>
              <a:t>→砖红色</a:t>
            </a:r>
          </a:p>
        </p:txBody>
      </p:sp>
      <p:sp>
        <p:nvSpPr>
          <p:cNvPr id="11" name="原题文字_345_34"/>
          <p:cNvSpPr txBox="1"/>
          <p:nvPr/>
        </p:nvSpPr>
        <p:spPr>
          <a:xfrm>
            <a:off x="3129241" y="1894348"/>
            <a:ext cx="721015" cy="457883"/>
          </a:xfrm>
          <a:prstGeom prst="rect">
            <a:avLst/>
          </a:prstGeom>
          <a:noFill/>
        </p:spPr>
        <p:txBody>
          <a:bodyPr wrap="none" lIns="0" rIns="0" tIns="0" bIns="0">
            <a:spAutoFit/>
          </a:bodyPr>
          <a:lstStyle/>
          <a:p>
            <a:pPr>
              <a:lnSpc>
                <a:spcPct val="112000"/>
              </a:lnSpc>
              <a:spcBef>
                <a:spcPts val="0"/>
              </a:spcBef>
              <a:spcAft>
                <a:spcPts val="0"/>
              </a:spcAft>
              <a:defRPr sz="2125" b="0">
                <a:solidFill>
                  <a:srgbClr val="333333"/>
                </a:solidFill>
                <a:latin typeface="微软雅黑"/>
              </a:defRPr>
            </a:pPr>
            <a:r>
              <a:rPr>
                <a:ea typeface="微软雅黑"/>
              </a:rPr>
              <a:t>0.56g</a:t>
            </a:r>
          </a:p>
        </p:txBody>
      </p:sp>
      <p:sp>
        <p:nvSpPr>
          <p:cNvPr id="12" name="原题文字_345_35"/>
          <p:cNvSpPr txBox="1"/>
          <p:nvPr/>
        </p:nvSpPr>
        <p:spPr>
          <a:xfrm>
            <a:off x="778568" y="2047487"/>
            <a:ext cx="78227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固体X</a:t>
            </a:r>
          </a:p>
        </p:txBody>
      </p:sp>
      <p:sp>
        <p:nvSpPr>
          <p:cNvPr id="13" name="原题文字_345_36"/>
          <p:cNvSpPr txBox="1"/>
          <p:nvPr/>
        </p:nvSpPr>
        <p:spPr>
          <a:xfrm>
            <a:off x="1521289" y="2024516"/>
            <a:ext cx="127997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适量氧气中</a:t>
            </a:r>
          </a:p>
        </p:txBody>
      </p:sp>
      <p:sp>
        <p:nvSpPr>
          <p:cNvPr id="14" name="原题文字_345_37"/>
          <p:cNvSpPr txBox="1"/>
          <p:nvPr/>
        </p:nvSpPr>
        <p:spPr>
          <a:xfrm>
            <a:off x="7593221" y="2085771"/>
            <a:ext cx="613818"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足量</a:t>
            </a:r>
          </a:p>
        </p:txBody>
      </p:sp>
      <p:sp>
        <p:nvSpPr>
          <p:cNvPr id="15" name="原题文字_345_38"/>
          <p:cNvSpPr txBox="1"/>
          <p:nvPr/>
        </p:nvSpPr>
        <p:spPr>
          <a:xfrm>
            <a:off x="8527365" y="2070457"/>
            <a:ext cx="1203401" cy="467837"/>
          </a:xfrm>
          <a:prstGeom prst="rect">
            <a:avLst/>
          </a:prstGeom>
          <a:noFill/>
        </p:spPr>
        <p:txBody>
          <a:bodyPr wrap="none" lIns="0" rIns="0" tIns="0" bIns="0">
            <a:spAutoFit/>
          </a:bodyPr>
          <a:lstStyle/>
          <a:p>
            <a:pPr>
              <a:lnSpc>
                <a:spcPct val="112000"/>
              </a:lnSpc>
              <a:spcBef>
                <a:spcPts val="0"/>
              </a:spcBef>
              <a:spcAft>
                <a:spcPts val="0"/>
              </a:spcAft>
              <a:defRPr sz="2079" b="0">
                <a:solidFill>
                  <a:srgbClr val="333333"/>
                </a:solidFill>
                <a:latin typeface="微软雅黑"/>
              </a:defRPr>
            </a:pPr>
            <a:r>
              <a:rPr>
                <a:ea typeface="微软雅黑"/>
              </a:rPr>
              <a:t>白色沉淀E</a:t>
            </a:r>
          </a:p>
        </p:txBody>
      </p:sp>
      <p:sp>
        <p:nvSpPr>
          <p:cNvPr id="16" name="原题文字_345_39"/>
          <p:cNvSpPr txBox="1"/>
          <p:nvPr/>
        </p:nvSpPr>
        <p:spPr>
          <a:xfrm>
            <a:off x="6498283" y="2192968"/>
            <a:ext cx="820555"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气体C</a:t>
            </a:r>
          </a:p>
        </p:txBody>
      </p:sp>
      <p:sp>
        <p:nvSpPr>
          <p:cNvPr id="17" name="原题文字_345_40"/>
          <p:cNvSpPr txBox="1"/>
          <p:nvPr/>
        </p:nvSpPr>
        <p:spPr>
          <a:xfrm>
            <a:off x="839824" y="2307822"/>
            <a:ext cx="636789"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0.8g</a:t>
            </a:r>
          </a:p>
        </p:txBody>
      </p:sp>
      <p:sp>
        <p:nvSpPr>
          <p:cNvPr id="18" name="原题文字_345_41"/>
          <p:cNvSpPr txBox="1"/>
          <p:nvPr/>
        </p:nvSpPr>
        <p:spPr>
          <a:xfrm>
            <a:off x="1559574" y="2307822"/>
            <a:ext cx="122637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一定条件下</a:t>
            </a:r>
          </a:p>
        </p:txBody>
      </p:sp>
      <p:sp>
        <p:nvSpPr>
          <p:cNvPr id="19" name="原题文字_345_42"/>
          <p:cNvSpPr txBox="1"/>
          <p:nvPr/>
        </p:nvSpPr>
        <p:spPr>
          <a:xfrm>
            <a:off x="7248660" y="2369077"/>
            <a:ext cx="1302940"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澄清石灰水</a:t>
            </a:r>
          </a:p>
        </p:txBody>
      </p:sp>
      <p:sp>
        <p:nvSpPr>
          <p:cNvPr id="20" name="原题文字_345_43"/>
          <p:cNvSpPr txBox="1"/>
          <p:nvPr/>
        </p:nvSpPr>
        <p:spPr>
          <a:xfrm>
            <a:off x="8764729" y="2353763"/>
            <a:ext cx="713358" cy="467837"/>
          </a:xfrm>
          <a:prstGeom prst="rect">
            <a:avLst/>
          </a:prstGeom>
          <a:noFill/>
        </p:spPr>
        <p:txBody>
          <a:bodyPr wrap="none" lIns="0" rIns="0" tIns="0" bIns="0">
            <a:spAutoFit/>
          </a:bodyPr>
          <a:lstStyle/>
          <a:p>
            <a:pPr>
              <a:lnSpc>
                <a:spcPct val="112000"/>
              </a:lnSpc>
              <a:spcBef>
                <a:spcPts val="0"/>
              </a:spcBef>
              <a:spcAft>
                <a:spcPts val="0"/>
              </a:spcAft>
              <a:defRPr sz="2130" b="0">
                <a:solidFill>
                  <a:srgbClr val="333333"/>
                </a:solidFill>
                <a:latin typeface="微软雅黑"/>
              </a:defRPr>
            </a:pPr>
            <a:r>
              <a:rPr>
                <a:ea typeface="微软雅黑"/>
              </a:rPr>
              <a:t>1.00g</a:t>
            </a:r>
          </a:p>
        </p:txBody>
      </p:sp>
      <p:sp>
        <p:nvSpPr>
          <p:cNvPr id="21" name="原题文字_345_44"/>
          <p:cNvSpPr txBox="1"/>
          <p:nvPr/>
        </p:nvSpPr>
        <p:spPr>
          <a:xfrm>
            <a:off x="3251751" y="2491588"/>
            <a:ext cx="121871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混合气体B</a:t>
            </a:r>
          </a:p>
        </p:txBody>
      </p:sp>
      <p:sp>
        <p:nvSpPr>
          <p:cNvPr id="22" name="原题文字_345_45"/>
          <p:cNvSpPr txBox="1"/>
          <p:nvPr/>
        </p:nvSpPr>
        <p:spPr>
          <a:xfrm>
            <a:off x="4798448" y="2522215"/>
            <a:ext cx="1509677" cy="398159"/>
          </a:xfrm>
          <a:prstGeom prst="rect">
            <a:avLst/>
          </a:prstGeom>
          <a:noFill/>
        </p:spPr>
        <p:txBody>
          <a:bodyPr wrap="none" lIns="0" rIns="0" tIns="0" bIns="0">
            <a:spAutoFit/>
          </a:bodyPr>
          <a:lstStyle/>
          <a:p>
            <a:pPr>
              <a:lnSpc>
                <a:spcPct val="112000"/>
              </a:lnSpc>
              <a:spcBef>
                <a:spcPts val="0"/>
              </a:spcBef>
              <a:spcAft>
                <a:spcPts val="0"/>
              </a:spcAft>
              <a:defRPr sz="1713" b="0">
                <a:solidFill>
                  <a:srgbClr val="333333"/>
                </a:solidFill>
                <a:latin typeface="微软雅黑"/>
              </a:defRPr>
            </a:pPr>
            <a:r>
              <a:rPr>
                <a:ea typeface="微软雅黑"/>
              </a:rPr>
              <a:t>足量H₂O₂溶液</a:t>
            </a:r>
          </a:p>
        </p:txBody>
      </p:sp>
      <p:sp>
        <p:nvSpPr>
          <p:cNvPr id="23" name="原题文字_345_46"/>
          <p:cNvSpPr txBox="1"/>
          <p:nvPr/>
        </p:nvSpPr>
        <p:spPr>
          <a:xfrm>
            <a:off x="2930161" y="2774893"/>
            <a:ext cx="1800640" cy="378251"/>
          </a:xfrm>
          <a:prstGeom prst="rect">
            <a:avLst/>
          </a:prstGeom>
          <a:noFill/>
        </p:spPr>
        <p:txBody>
          <a:bodyPr wrap="none" lIns="0" rIns="0" tIns="0" bIns="0">
            <a:spAutoFit/>
          </a:bodyPr>
          <a:lstStyle/>
          <a:p>
            <a:pPr>
              <a:lnSpc>
                <a:spcPct val="112000"/>
              </a:lnSpc>
              <a:spcBef>
                <a:spcPts val="0"/>
              </a:spcBef>
              <a:spcAft>
                <a:spcPts val="0"/>
              </a:spcAft>
              <a:defRPr sz="1776" b="0">
                <a:solidFill>
                  <a:srgbClr val="333333"/>
                </a:solidFill>
                <a:latin typeface="微软雅黑"/>
              </a:defRPr>
            </a:pPr>
            <a:r>
              <a:rPr>
                <a:ea typeface="微软雅黑"/>
              </a:rPr>
              <a:t>0.672L（标况下）</a:t>
            </a:r>
          </a:p>
        </p:txBody>
      </p:sp>
      <p:sp>
        <p:nvSpPr>
          <p:cNvPr id="24" name="原题文字_345_47"/>
          <p:cNvSpPr txBox="1"/>
          <p:nvPr/>
        </p:nvSpPr>
        <p:spPr>
          <a:xfrm>
            <a:off x="5418658" y="2851463"/>
            <a:ext cx="26925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I</a:t>
            </a:r>
          </a:p>
        </p:txBody>
      </p:sp>
      <p:sp>
        <p:nvSpPr>
          <p:cNvPr id="25" name="原题文字_345_48"/>
          <p:cNvSpPr txBox="1"/>
          <p:nvPr/>
        </p:nvSpPr>
        <p:spPr>
          <a:xfrm>
            <a:off x="6582509" y="2996944"/>
            <a:ext cx="84352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强酸性</a:t>
            </a:r>
          </a:p>
        </p:txBody>
      </p:sp>
      <p:sp>
        <p:nvSpPr>
          <p:cNvPr id="26" name="原题文字_345_49"/>
          <p:cNvSpPr txBox="1"/>
          <p:nvPr/>
        </p:nvSpPr>
        <p:spPr>
          <a:xfrm>
            <a:off x="7593221" y="2996944"/>
            <a:ext cx="675073"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Cu片</a:t>
            </a:r>
          </a:p>
        </p:txBody>
      </p:sp>
      <p:sp>
        <p:nvSpPr>
          <p:cNvPr id="27" name="原题文字_345_50"/>
          <p:cNvSpPr txBox="1"/>
          <p:nvPr/>
        </p:nvSpPr>
        <p:spPr>
          <a:xfrm>
            <a:off x="8443139" y="3127111"/>
            <a:ext cx="1080890"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蓝色溶液</a:t>
            </a:r>
          </a:p>
        </p:txBody>
      </p:sp>
      <p:sp>
        <p:nvSpPr>
          <p:cNvPr id="28" name="原题文字_345_51"/>
          <p:cNvSpPr txBox="1"/>
          <p:nvPr/>
        </p:nvSpPr>
        <p:spPr>
          <a:xfrm>
            <a:off x="6605480" y="3249622"/>
            <a:ext cx="789927"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溶液D</a:t>
            </a:r>
          </a:p>
        </p:txBody>
      </p:sp>
      <p:sp>
        <p:nvSpPr>
          <p:cNvPr id="29" name="文字_其中：X是一种盐，由3种常见元素组成；混合气体B"/>
          <p:cNvSpPr txBox="1"/>
          <p:nvPr/>
        </p:nvSpPr>
        <p:spPr>
          <a:xfrm>
            <a:off x="502920" y="3780933"/>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其中：X是一种盐，由3种常见元素组成；混合气体B无色，只含有两种成分，遇空</a:t>
            </a:r>
          </a:p>
          <a:p>
            <a:pPr>
              <a:lnSpc>
                <a:spcPct val="112000"/>
              </a:lnSpc>
              <a:spcBef>
                <a:spcPts val="0"/>
              </a:spcBef>
              <a:spcAft>
                <a:spcPts val="0"/>
              </a:spcAft>
              <a:defRPr sz="2400" b="0">
                <a:solidFill>
                  <a:srgbClr val="333333"/>
                </a:solidFill>
                <a:latin typeface="微软雅黑"/>
              </a:defRPr>
            </a:pPr>
            <a:r>
              <a:rPr>
                <a:ea typeface="微软雅黑"/>
              </a:rPr>
              <a:t>气变红棕色。请回答：</a:t>
            </a:r>
          </a:p>
        </p:txBody>
      </p:sp>
      <p:sp>
        <p:nvSpPr>
          <p:cNvPr id="30" name="文字_(1)组成X的3种元素是 ______ (填元素"/>
          <p:cNvSpPr txBox="1"/>
          <p:nvPr/>
        </p:nvSpPr>
        <p:spPr>
          <a:xfrm>
            <a:off x="502920" y="458255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(1)组成X的3种元素是 ______ (填元素符号)，X的化学式是</a:t>
            </a:r>
          </a:p>
        </p:txBody>
      </p:sp>
      <p:sp>
        <p:nvSpPr>
          <p:cNvPr id="31" name="文字_(2)步骤I发生反应的离子方程式是 ______"/>
          <p:cNvSpPr txBox="1"/>
          <p:nvPr/>
        </p:nvSpPr>
        <p:spPr>
          <a:xfrm>
            <a:off x="502920" y="502146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(2)步骤I发生反应的离子方程式是 ______ o</a:t>
            </a:r>
          </a:p>
        </p:txBody>
      </p:sp>
      <p:sp>
        <p:nvSpPr>
          <p:cNvPr id="32" name="文字_(3)向强酸性溶液D中加入一定量铁粉，充分反应，"/>
          <p:cNvSpPr txBox="1"/>
          <p:nvPr/>
        </p:nvSpPr>
        <p:spPr>
          <a:xfrm>
            <a:off x="502920" y="5460381"/>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(3)向强酸性溶液D中加入一定量铁粉，充分反应，甲同学认为反应后只生成Fe³⁺，</a:t>
            </a:r>
          </a:p>
          <a:p>
            <a:pPr>
              <a:lnSpc>
                <a:spcPct val="112000"/>
              </a:lnSpc>
              <a:spcBef>
                <a:spcPts val="0"/>
              </a:spcBef>
              <a:spcAft>
                <a:spcPts val="0"/>
              </a:spcAft>
              <a:defRPr sz="2400" b="0">
                <a:solidFill>
                  <a:srgbClr val="333333"/>
                </a:solidFill>
                <a:latin typeface="微软雅黑"/>
              </a:defRPr>
            </a:pPr>
            <a:r>
              <a:rPr>
                <a:ea typeface="微软雅黑"/>
              </a:rPr>
              <a:t>乙同学认为只生成Fe²⁺，丙同学认为 ，请设计实验方案证明丙同学的观点</a:t>
            </a:r>
          </a:p>
        </p:txBody>
      </p:sp>
      <p:sp>
        <p:nvSpPr>
          <p:cNvPr id="33" name="文字_推断题  ·  16-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16-026</a:t>
            </a:r>
          </a:p>
        </p:txBody>
      </p:sp>
      <p:sp>
        <p:nvSpPr>
          <p:cNvPr id="34"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变式3</a:t>
            </a:r>
          </a:p>
        </p:txBody>
      </p:sp>
      <p:sp>
        <p:nvSpPr>
          <p:cNvPr id="5" name="文字_P34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P346</a:t>
            </a:r>
          </a:p>
        </p:txBody>
      </p:sp>
      <p:pic>
        <p:nvPicPr>
          <p:cNvPr id="6" name="Picture 5" descr="image.png"/>
          <p:cNvPicPr>
            <a:picLocks noChangeAspect="1"/>
          </p:cNvPicPr>
          <p:nvPr/>
        </p:nvPicPr>
        <p:blipFill>
          <a:blip r:embed="rId3"/>
          <a:stretch>
            <a:fillRect/>
          </a:stretch>
        </p:blipFill>
        <p:spPr>
          <a:xfrm>
            <a:off x="502920" y="1078992"/>
            <a:ext cx="10124965" cy="2116082"/>
          </a:xfrm>
          <a:prstGeom prst="rect">
            <a:avLst/>
          </a:prstGeom>
        </p:spPr>
      </p:pic>
      <p:sp>
        <p:nvSpPr>
          <p:cNvPr id="7" name="原题文字_346_3"/>
          <p:cNvSpPr txBox="1"/>
          <p:nvPr/>
        </p:nvSpPr>
        <p:spPr>
          <a:xfrm>
            <a:off x="594009" y="1100618"/>
            <a:ext cx="7096795" cy="273268"/>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化合物X是由三种主族元素组成的液体物质，某兴趣小组对化合物X开展探究实验。</a:t>
            </a:r>
          </a:p>
        </p:txBody>
      </p:sp>
      <p:sp>
        <p:nvSpPr>
          <p:cNvPr id="8" name="原题文字_346_4"/>
          <p:cNvSpPr txBox="1"/>
          <p:nvPr/>
        </p:nvSpPr>
        <p:spPr>
          <a:xfrm>
            <a:off x="2597982" y="1471984"/>
            <a:ext cx="608408" cy="355249"/>
          </a:xfrm>
          <a:prstGeom prst="rect">
            <a:avLst/>
          </a:prstGeom>
          <a:noFill/>
        </p:spPr>
        <p:txBody>
          <a:bodyPr wrap="none" lIns="0" rIns="0" tIns="0" bIns="0">
            <a:spAutoFit/>
          </a:bodyPr>
          <a:lstStyle/>
          <a:p>
            <a:pPr>
              <a:lnSpc>
                <a:spcPct val="112000"/>
              </a:lnSpc>
              <a:spcBef>
                <a:spcPts val="0"/>
              </a:spcBef>
              <a:spcAft>
                <a:spcPts val="0"/>
              </a:spcAft>
              <a:defRPr sz="1721" b="0">
                <a:solidFill>
                  <a:srgbClr val="333333"/>
                </a:solidFill>
                <a:latin typeface="微软雅黑"/>
              </a:defRPr>
            </a:pPr>
            <a:r>
              <a:rPr>
                <a:ea typeface="微软雅黑"/>
              </a:rPr>
              <a:t>气体A</a:t>
            </a:r>
          </a:p>
        </p:txBody>
      </p:sp>
      <p:sp>
        <p:nvSpPr>
          <p:cNvPr id="9" name="原题文字_346_5"/>
          <p:cNvSpPr txBox="1"/>
          <p:nvPr/>
        </p:nvSpPr>
        <p:spPr>
          <a:xfrm>
            <a:off x="3284657" y="1366880"/>
            <a:ext cx="503305" cy="309704"/>
          </a:xfrm>
          <a:prstGeom prst="rect">
            <a:avLst/>
          </a:prstGeom>
          <a:noFill/>
        </p:spPr>
        <p:txBody>
          <a:bodyPr wrap="none" lIns="0" rIns="0" tIns="0" bIns="0">
            <a:spAutoFit/>
          </a:bodyPr>
          <a:lstStyle/>
          <a:p>
            <a:pPr>
              <a:lnSpc>
                <a:spcPct val="112000"/>
              </a:lnSpc>
              <a:spcBef>
                <a:spcPts val="0"/>
              </a:spcBef>
              <a:spcAft>
                <a:spcPts val="0"/>
              </a:spcAft>
              <a:defRPr sz="1312" b="0">
                <a:solidFill>
                  <a:srgbClr val="333333"/>
                </a:solidFill>
                <a:latin typeface="微软雅黑"/>
              </a:defRPr>
            </a:pPr>
            <a:r>
              <a:rPr>
                <a:ea typeface="微软雅黑"/>
              </a:rPr>
              <a:t>H₂O₂</a:t>
            </a:r>
          </a:p>
        </p:txBody>
      </p:sp>
      <p:sp>
        <p:nvSpPr>
          <p:cNvPr id="10" name="原题文字_346_6"/>
          <p:cNvSpPr txBox="1"/>
          <p:nvPr/>
        </p:nvSpPr>
        <p:spPr>
          <a:xfrm>
            <a:off x="3964326" y="1457970"/>
            <a:ext cx="629429" cy="382576"/>
          </a:xfrm>
          <a:prstGeom prst="rect">
            <a:avLst/>
          </a:prstGeom>
          <a:noFill/>
        </p:spPr>
        <p:txBody>
          <a:bodyPr wrap="none" lIns="0" rIns="0" tIns="0" bIns="0">
            <a:spAutoFit/>
          </a:bodyPr>
          <a:lstStyle/>
          <a:p>
            <a:pPr>
              <a:lnSpc>
                <a:spcPct val="112000"/>
              </a:lnSpc>
              <a:spcBef>
                <a:spcPts val="0"/>
              </a:spcBef>
              <a:spcAft>
                <a:spcPts val="0"/>
              </a:spcAft>
              <a:defRPr sz="1829" b="0">
                <a:solidFill>
                  <a:srgbClr val="333333"/>
                </a:solidFill>
                <a:latin typeface="微软雅黑"/>
              </a:defRPr>
            </a:pPr>
            <a:r>
              <a:rPr>
                <a:ea typeface="微软雅黑"/>
              </a:rPr>
              <a:t>溶液C</a:t>
            </a:r>
          </a:p>
        </p:txBody>
      </p:sp>
      <p:sp>
        <p:nvSpPr>
          <p:cNvPr id="11" name="原题文字_346_7"/>
          <p:cNvSpPr txBox="1"/>
          <p:nvPr/>
        </p:nvSpPr>
        <p:spPr>
          <a:xfrm>
            <a:off x="4679030" y="1380894"/>
            <a:ext cx="573374" cy="337031"/>
          </a:xfrm>
          <a:prstGeom prst="rect">
            <a:avLst/>
          </a:prstGeom>
          <a:noFill/>
        </p:spPr>
        <p:txBody>
          <a:bodyPr wrap="none" lIns="0" rIns="0" tIns="0" bIns="0">
            <a:spAutoFit/>
          </a:bodyPr>
          <a:lstStyle/>
          <a:p>
            <a:pPr>
              <a:lnSpc>
                <a:spcPct val="112000"/>
              </a:lnSpc>
              <a:spcBef>
                <a:spcPts val="0"/>
              </a:spcBef>
              <a:spcAft>
                <a:spcPts val="0"/>
              </a:spcAft>
              <a:defRPr sz="1612" b="0">
                <a:solidFill>
                  <a:srgbClr val="333333"/>
                </a:solidFill>
                <a:latin typeface="微软雅黑"/>
              </a:defRPr>
            </a:pPr>
            <a:r>
              <a:rPr>
                <a:ea typeface="微软雅黑"/>
              </a:rPr>
              <a:t>BaCl₂</a:t>
            </a:r>
          </a:p>
        </p:txBody>
      </p:sp>
      <p:sp>
        <p:nvSpPr>
          <p:cNvPr id="12" name="原题文字_346_8"/>
          <p:cNvSpPr txBox="1"/>
          <p:nvPr/>
        </p:nvSpPr>
        <p:spPr>
          <a:xfrm>
            <a:off x="5456795" y="1415929"/>
            <a:ext cx="587388"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固体D</a:t>
            </a:r>
          </a:p>
        </p:txBody>
      </p:sp>
      <p:sp>
        <p:nvSpPr>
          <p:cNvPr id="13" name="原题文字_346_9"/>
          <p:cNvSpPr txBox="1"/>
          <p:nvPr/>
        </p:nvSpPr>
        <p:spPr>
          <a:xfrm>
            <a:off x="3326699" y="1605115"/>
            <a:ext cx="496298"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足量</a:t>
            </a:r>
          </a:p>
        </p:txBody>
      </p:sp>
      <p:sp>
        <p:nvSpPr>
          <p:cNvPr id="14" name="原题文字_346_10"/>
          <p:cNvSpPr txBox="1"/>
          <p:nvPr/>
        </p:nvSpPr>
        <p:spPr>
          <a:xfrm>
            <a:off x="4707057" y="1612122"/>
            <a:ext cx="489291"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足量</a:t>
            </a:r>
          </a:p>
        </p:txBody>
      </p:sp>
      <p:sp>
        <p:nvSpPr>
          <p:cNvPr id="15" name="原题文字_346_11"/>
          <p:cNvSpPr txBox="1"/>
          <p:nvPr/>
        </p:nvSpPr>
        <p:spPr>
          <a:xfrm>
            <a:off x="5407747" y="1626136"/>
            <a:ext cx="664463" cy="337031"/>
          </a:xfrm>
          <a:prstGeom prst="rect">
            <a:avLst/>
          </a:prstGeom>
          <a:noFill/>
        </p:spPr>
        <p:txBody>
          <a:bodyPr wrap="none" lIns="0" rIns="0" tIns="0" bIns="0">
            <a:spAutoFit/>
          </a:bodyPr>
          <a:lstStyle/>
          <a:p>
            <a:pPr>
              <a:lnSpc>
                <a:spcPct val="112000"/>
              </a:lnSpc>
              <a:spcBef>
                <a:spcPts val="0"/>
              </a:spcBef>
              <a:spcAft>
                <a:spcPts val="0"/>
              </a:spcAft>
              <a:defRPr sz="1575" b="0">
                <a:solidFill>
                  <a:srgbClr val="333333"/>
                </a:solidFill>
                <a:latin typeface="微软雅黑"/>
              </a:defRPr>
            </a:pPr>
            <a:r>
              <a:rPr>
                <a:ea typeface="微软雅黑"/>
              </a:rPr>
              <a:t>(2.33g)</a:t>
            </a:r>
          </a:p>
        </p:txBody>
      </p:sp>
      <p:sp>
        <p:nvSpPr>
          <p:cNvPr id="16" name="原题文字_346_12"/>
          <p:cNvSpPr txBox="1"/>
          <p:nvPr/>
        </p:nvSpPr>
        <p:spPr>
          <a:xfrm>
            <a:off x="685099" y="1906411"/>
            <a:ext cx="783581" cy="337031"/>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化合物X</a:t>
            </a:r>
          </a:p>
        </p:txBody>
      </p:sp>
      <p:sp>
        <p:nvSpPr>
          <p:cNvPr id="17" name="原题文字_346_13"/>
          <p:cNvSpPr txBox="1"/>
          <p:nvPr/>
        </p:nvSpPr>
        <p:spPr>
          <a:xfrm>
            <a:off x="1567968" y="1927432"/>
            <a:ext cx="454257"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H₂O</a:t>
            </a:r>
          </a:p>
        </p:txBody>
      </p:sp>
      <p:sp>
        <p:nvSpPr>
          <p:cNvPr id="18" name="原题文字_346_14"/>
          <p:cNvSpPr txBox="1"/>
          <p:nvPr/>
        </p:nvSpPr>
        <p:spPr>
          <a:xfrm>
            <a:off x="720133" y="2123625"/>
            <a:ext cx="699498" cy="364358"/>
          </a:xfrm>
          <a:prstGeom prst="rect">
            <a:avLst/>
          </a:prstGeom>
          <a:noFill/>
        </p:spPr>
        <p:txBody>
          <a:bodyPr wrap="none" lIns="0" rIns="0" tIns="0" bIns="0">
            <a:spAutoFit/>
          </a:bodyPr>
          <a:lstStyle/>
          <a:p>
            <a:pPr>
              <a:lnSpc>
                <a:spcPct val="112000"/>
              </a:lnSpc>
              <a:spcBef>
                <a:spcPts val="0"/>
              </a:spcBef>
              <a:spcAft>
                <a:spcPts val="0"/>
              </a:spcAft>
              <a:defRPr sz="1640" b="0">
                <a:solidFill>
                  <a:srgbClr val="333333"/>
                </a:solidFill>
                <a:latin typeface="微软雅黑"/>
              </a:defRPr>
            </a:pPr>
            <a:r>
              <a:rPr>
                <a:ea typeface="微软雅黑"/>
              </a:rPr>
              <a:t>(1.19g)</a:t>
            </a:r>
          </a:p>
        </p:txBody>
      </p:sp>
      <p:sp>
        <p:nvSpPr>
          <p:cNvPr id="19" name="原题文字_346_15"/>
          <p:cNvSpPr txBox="1"/>
          <p:nvPr/>
        </p:nvSpPr>
        <p:spPr>
          <a:xfrm>
            <a:off x="1553954" y="2158660"/>
            <a:ext cx="503305"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适量</a:t>
            </a:r>
          </a:p>
        </p:txBody>
      </p:sp>
      <p:sp>
        <p:nvSpPr>
          <p:cNvPr id="20" name="原题文字_346_16"/>
          <p:cNvSpPr txBox="1"/>
          <p:nvPr/>
        </p:nvSpPr>
        <p:spPr>
          <a:xfrm>
            <a:off x="2604988" y="2438936"/>
            <a:ext cx="601401" cy="337031"/>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气体B</a:t>
            </a:r>
          </a:p>
        </p:txBody>
      </p:sp>
      <p:sp>
        <p:nvSpPr>
          <p:cNvPr id="21" name="原题文字_346_17"/>
          <p:cNvSpPr txBox="1"/>
          <p:nvPr/>
        </p:nvSpPr>
        <p:spPr>
          <a:xfrm>
            <a:off x="3340713" y="2347846"/>
            <a:ext cx="643443" cy="309704"/>
          </a:xfrm>
          <a:prstGeom prst="rect">
            <a:avLst/>
          </a:prstGeom>
          <a:noFill/>
        </p:spPr>
        <p:txBody>
          <a:bodyPr wrap="none" lIns="0" rIns="0" tIns="0" bIns="0">
            <a:spAutoFit/>
          </a:bodyPr>
          <a:lstStyle/>
          <a:p>
            <a:pPr>
              <a:lnSpc>
                <a:spcPct val="112000"/>
              </a:lnSpc>
              <a:spcBef>
                <a:spcPts val="0"/>
              </a:spcBef>
              <a:spcAft>
                <a:spcPts val="0"/>
              </a:spcAft>
              <a:defRPr sz="1375" b="0">
                <a:solidFill>
                  <a:srgbClr val="333333"/>
                </a:solidFill>
                <a:latin typeface="微软雅黑"/>
              </a:defRPr>
            </a:pPr>
            <a:r>
              <a:rPr>
                <a:ea typeface="微软雅黑"/>
              </a:rPr>
              <a:t>AgNO₃</a:t>
            </a:r>
          </a:p>
        </p:txBody>
      </p:sp>
      <p:sp>
        <p:nvSpPr>
          <p:cNvPr id="22" name="原题文字_346_18"/>
          <p:cNvSpPr txBox="1"/>
          <p:nvPr/>
        </p:nvSpPr>
        <p:spPr>
          <a:xfrm>
            <a:off x="4118478" y="2396894"/>
            <a:ext cx="594395" cy="337031"/>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固体E</a:t>
            </a:r>
          </a:p>
        </p:txBody>
      </p:sp>
      <p:sp>
        <p:nvSpPr>
          <p:cNvPr id="23" name="原题文字_346_19"/>
          <p:cNvSpPr txBox="1"/>
          <p:nvPr/>
        </p:nvSpPr>
        <p:spPr>
          <a:xfrm>
            <a:off x="3410782" y="2586080"/>
            <a:ext cx="552353" cy="300595"/>
          </a:xfrm>
          <a:prstGeom prst="rect">
            <a:avLst/>
          </a:prstGeom>
          <a:noFill/>
        </p:spPr>
        <p:txBody>
          <a:bodyPr wrap="none" lIns="0" rIns="0" tIns="0" bIns="0">
            <a:spAutoFit/>
          </a:bodyPr>
          <a:lstStyle/>
          <a:p>
            <a:pPr>
              <a:lnSpc>
                <a:spcPct val="112000"/>
              </a:lnSpc>
              <a:spcBef>
                <a:spcPts val="0"/>
              </a:spcBef>
              <a:spcAft>
                <a:spcPts val="0"/>
              </a:spcAft>
              <a:defRPr sz="1384" b="0">
                <a:solidFill>
                  <a:srgbClr val="333333"/>
                </a:solidFill>
                <a:latin typeface="微软雅黑"/>
              </a:defRPr>
            </a:pPr>
            <a:r>
              <a:rPr>
                <a:ea typeface="微软雅黑"/>
              </a:rPr>
              <a:t>HNO₃</a:t>
            </a:r>
          </a:p>
        </p:txBody>
      </p:sp>
      <p:sp>
        <p:nvSpPr>
          <p:cNvPr id="24" name="原题文字_346_20"/>
          <p:cNvSpPr txBox="1"/>
          <p:nvPr/>
        </p:nvSpPr>
        <p:spPr>
          <a:xfrm>
            <a:off x="4076437" y="2628122"/>
            <a:ext cx="671470"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(2.87g)</a:t>
            </a:r>
          </a:p>
        </p:txBody>
      </p:sp>
      <p:sp>
        <p:nvSpPr>
          <p:cNvPr id="25" name="原题文字_346_21"/>
          <p:cNvSpPr txBox="1"/>
          <p:nvPr/>
        </p:nvSpPr>
        <p:spPr>
          <a:xfrm>
            <a:off x="587002" y="2901391"/>
            <a:ext cx="3243001" cy="327922"/>
          </a:xfrm>
          <a:prstGeom prst="rect">
            <a:avLst/>
          </a:prstGeom>
          <a:noFill/>
        </p:spPr>
        <p:txBody>
          <a:bodyPr wrap="none" lIns="0" rIns="0" tIns="0" bIns="0">
            <a:spAutoFit/>
          </a:bodyPr>
          <a:lstStyle/>
          <a:p>
            <a:pPr>
              <a:lnSpc>
                <a:spcPct val="112000"/>
              </a:lnSpc>
              <a:spcBef>
                <a:spcPts val="0"/>
              </a:spcBef>
              <a:spcAft>
                <a:spcPts val="0"/>
              </a:spcAft>
              <a:defRPr sz="1568" b="0">
                <a:solidFill>
                  <a:srgbClr val="333333"/>
                </a:solidFill>
                <a:latin typeface="微软雅黑"/>
              </a:defRPr>
            </a:pPr>
            <a:r>
              <a:rPr>
                <a:ea typeface="微软雅黑"/>
              </a:rPr>
              <a:t>已知：①X遇水反应剧烈，产生白雾；</a:t>
            </a:r>
          </a:p>
        </p:txBody>
      </p:sp>
      <p:sp>
        <p:nvSpPr>
          <p:cNvPr id="26" name="文字_②气体A和气体B是纯净物；"/>
          <p:cNvSpPr txBox="1"/>
          <p:nvPr/>
        </p:nvSpPr>
        <p:spPr>
          <a:xfrm>
            <a:off x="502920" y="3268226"/>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②气体A和气体B是纯净物；</a:t>
            </a:r>
          </a:p>
        </p:txBody>
      </p:sp>
      <p:sp>
        <p:nvSpPr>
          <p:cNvPr id="27" name="文字_③Ag₂SO₃为不溶于水的白色沉淀。"/>
          <p:cNvSpPr txBox="1"/>
          <p:nvPr/>
        </p:nvSpPr>
        <p:spPr>
          <a:xfrm>
            <a:off x="502920" y="3560834"/>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③Ag₂SO₃为不溶于水的白色沉淀。</a:t>
            </a:r>
          </a:p>
        </p:txBody>
      </p:sp>
      <p:sp>
        <p:nvSpPr>
          <p:cNvPr id="28" name="文字_请回答："/>
          <p:cNvSpPr txBox="1"/>
          <p:nvPr/>
        </p:nvSpPr>
        <p:spPr>
          <a:xfrm>
            <a:off x="502920" y="3853442"/>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请回答：</a:t>
            </a:r>
          </a:p>
        </p:txBody>
      </p:sp>
      <p:sp>
        <p:nvSpPr>
          <p:cNvPr id="29" name="文字_(1)写出气体A的化学式 ______ ，组成X"/>
          <p:cNvSpPr txBox="1"/>
          <p:nvPr/>
        </p:nvSpPr>
        <p:spPr>
          <a:xfrm>
            <a:off x="502920" y="4146050"/>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(1)写出气体A的化学式 ______ ，组成X的三种元素 ______ (填元素符号)</a:t>
            </a:r>
          </a:p>
        </p:txBody>
      </p:sp>
      <p:sp>
        <p:nvSpPr>
          <p:cNvPr id="30" name="文字_(2)写出X与水反应的化学方程式是"/>
          <p:cNvSpPr txBox="1"/>
          <p:nvPr/>
        </p:nvSpPr>
        <p:spPr>
          <a:xfrm>
            <a:off x="502920" y="4438658"/>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(2)写出X与水反应的化学方程式是</a:t>
            </a:r>
          </a:p>
        </p:txBody>
      </p:sp>
      <p:sp>
        <p:nvSpPr>
          <p:cNvPr id="31" name="文字_(3)将A通入到还原性气体Y的水溶液中，生成一种"/>
          <p:cNvSpPr txBox="1"/>
          <p:nvPr/>
        </p:nvSpPr>
        <p:spPr>
          <a:xfrm>
            <a:off x="502920" y="4731266"/>
            <a:ext cx="11064240"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(3)将A通入到还原性气体Y的水溶液中，生成一种淡黄色沉淀。则Y、A、H₂O₂三种微粒还原性由强到弱的顺序为 ______ (用</a:t>
            </a:r>
          </a:p>
          <a:p>
            <a:pPr>
              <a:lnSpc>
                <a:spcPct val="112000"/>
              </a:lnSpc>
              <a:spcBef>
                <a:spcPts val="0"/>
              </a:spcBef>
              <a:spcAft>
                <a:spcPts val="0"/>
              </a:spcAft>
              <a:defRPr sz="1600" b="0">
                <a:solidFill>
                  <a:srgbClr val="333333"/>
                </a:solidFill>
                <a:latin typeface="微软雅黑"/>
              </a:defRPr>
            </a:pPr>
            <a:r>
              <a:rPr>
                <a:ea typeface="微软雅黑"/>
              </a:rPr>
              <a:t>化学式表示)。</a:t>
            </a:r>
          </a:p>
        </p:txBody>
      </p:sp>
      <p:sp>
        <p:nvSpPr>
          <p:cNvPr id="32" name="文字_(4)用硫磺(用S表示)、液氯和三氧化硫为原料，"/>
          <p:cNvSpPr txBox="1"/>
          <p:nvPr/>
        </p:nvSpPr>
        <p:spPr>
          <a:xfrm>
            <a:off x="502920" y="5265682"/>
            <a:ext cx="11064240"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(4)用硫磺(用S表示)、液氯和三氧化硫为原料，在一定条件下合成X，如果总原子利用率最大化(即期望产物的总质量与生成</a:t>
            </a:r>
          </a:p>
          <a:p>
            <a:pPr>
              <a:lnSpc>
                <a:spcPct val="112000"/>
              </a:lnSpc>
              <a:spcBef>
                <a:spcPts val="0"/>
              </a:spcBef>
              <a:spcAft>
                <a:spcPts val="0"/>
              </a:spcAft>
              <a:defRPr sz="1600" b="0">
                <a:solidFill>
                  <a:srgbClr val="333333"/>
                </a:solidFill>
                <a:latin typeface="微软雅黑"/>
              </a:defRPr>
            </a:pPr>
            <a:r>
              <a:rPr>
                <a:ea typeface="微软雅黑"/>
              </a:rPr>
              <a:t>物的总质量之比)，则相对应的三种物质的物质的量之比为</a:t>
            </a:r>
          </a:p>
        </p:txBody>
      </p:sp>
      <p:sp>
        <p:nvSpPr>
          <p:cNvPr id="33" name="文字_(5)将气体A和B通入足量的氢氧化钠溶液中，充分"/>
          <p:cNvSpPr txBox="1"/>
          <p:nvPr/>
        </p:nvSpPr>
        <p:spPr>
          <a:xfrm>
            <a:off x="502920" y="5800098"/>
            <a:ext cx="11064240"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(5)将气体A和B通入足量的氢氧化钠溶液中，充分反应，请设计实验方案，检验所得溶液中的阴离子(不考虑水解和溶液中的</a:t>
            </a:r>
          </a:p>
          <a:p>
            <a:pPr>
              <a:lnSpc>
                <a:spcPct val="112000"/>
              </a:lnSpc>
              <a:spcBef>
                <a:spcPts val="0"/>
              </a:spcBef>
              <a:spcAft>
                <a:spcPts val="0"/>
              </a:spcAft>
              <a:defRPr sz="1600" b="0">
                <a:solidFill>
                  <a:srgbClr val="333333"/>
                </a:solidFill>
                <a:latin typeface="微软雅黑"/>
              </a:defRPr>
            </a:pPr>
            <a:r>
              <a:rPr>
                <a:ea typeface="微软雅黑"/>
              </a:rPr>
              <a:t>OH-)</a:t>
            </a:r>
          </a:p>
        </p:txBody>
      </p:sp>
      <p:sp>
        <p:nvSpPr>
          <p:cNvPr id="34" name="文字_推断题  ·  16-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16-027</a:t>
            </a:r>
          </a:p>
        </p:txBody>
      </p:sp>
      <p:sp>
        <p:nvSpPr>
          <p:cNvPr id="35"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变式4</a:t>
            </a:r>
          </a:p>
        </p:txBody>
      </p:sp>
      <p:sp>
        <p:nvSpPr>
          <p:cNvPr id="5" name="文字_P34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P346</a:t>
            </a:r>
          </a:p>
        </p:txBody>
      </p:sp>
      <p:sp>
        <p:nvSpPr>
          <p:cNvPr id="6" name="文字_无机盐X(仅含两种元素)可通过单质甲与Ca(OH"/>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无机盐X(仅含两种元素)可通过单质甲与Ca(OH)₂浊液共热的方法来制备,某同学为</a:t>
            </a:r>
          </a:p>
          <a:p>
            <a:pPr>
              <a:lnSpc>
                <a:spcPct val="112000"/>
              </a:lnSpc>
              <a:spcBef>
                <a:spcPts val="0"/>
              </a:spcBef>
              <a:spcAft>
                <a:spcPts val="0"/>
              </a:spcAft>
              <a:defRPr sz="2400" b="0">
                <a:solidFill>
                  <a:srgbClr val="333333"/>
                </a:solidFill>
                <a:latin typeface="微软雅黑"/>
              </a:defRPr>
            </a:pPr>
            <a:r>
              <a:rPr>
                <a:ea typeface="微软雅黑"/>
              </a:rPr>
              <a:t>探究X的组成和性质,设计了如下实验(流程图中部分产物已略去)。</a:t>
            </a:r>
          </a:p>
        </p:txBody>
      </p:sp>
      <p:pic>
        <p:nvPicPr>
          <p:cNvPr id="7" name="Picture 6" descr="image.png"/>
          <p:cNvPicPr>
            <a:picLocks noChangeAspect="1"/>
          </p:cNvPicPr>
          <p:nvPr/>
        </p:nvPicPr>
        <p:blipFill>
          <a:blip r:embed="rId3"/>
          <a:stretch>
            <a:fillRect/>
          </a:stretch>
        </p:blipFill>
        <p:spPr>
          <a:xfrm>
            <a:off x="502920" y="1880616"/>
            <a:ext cx="11064240" cy="1577324"/>
          </a:xfrm>
          <a:prstGeom prst="rect">
            <a:avLst/>
          </a:prstGeom>
        </p:spPr>
      </p:pic>
      <p:sp>
        <p:nvSpPr>
          <p:cNvPr id="8" name="原题文字_346_46"/>
          <p:cNvSpPr txBox="1"/>
          <p:nvPr/>
        </p:nvSpPr>
        <p:spPr>
          <a:xfrm>
            <a:off x="2769366" y="1912499"/>
            <a:ext cx="1088547" cy="398159"/>
          </a:xfrm>
          <a:prstGeom prst="rect">
            <a:avLst/>
          </a:prstGeom>
          <a:noFill/>
        </p:spPr>
        <p:txBody>
          <a:bodyPr wrap="none" lIns="0" rIns="0" tIns="0" bIns="0">
            <a:spAutoFit/>
          </a:bodyPr>
          <a:lstStyle/>
          <a:p>
            <a:pPr>
              <a:lnSpc>
                <a:spcPct val="112000"/>
              </a:lnSpc>
              <a:spcBef>
                <a:spcPts val="0"/>
              </a:spcBef>
              <a:spcAft>
                <a:spcPts val="0"/>
              </a:spcAft>
              <a:defRPr sz="1753" b="0">
                <a:solidFill>
                  <a:srgbClr val="333333"/>
                </a:solidFill>
                <a:latin typeface="微软雅黑"/>
              </a:defRPr>
            </a:pPr>
            <a:r>
              <a:rPr>
                <a:ea typeface="微软雅黑"/>
              </a:rPr>
              <a:t>甲(0.3mol)</a:t>
            </a:r>
          </a:p>
        </p:txBody>
      </p:sp>
      <p:sp>
        <p:nvSpPr>
          <p:cNvPr id="9" name="原题文字_346_47"/>
          <p:cNvSpPr txBox="1"/>
          <p:nvPr/>
        </p:nvSpPr>
        <p:spPr>
          <a:xfrm>
            <a:off x="1636143" y="2188148"/>
            <a:ext cx="95072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足量盐酸</a:t>
            </a:r>
          </a:p>
        </p:txBody>
      </p:sp>
      <p:sp>
        <p:nvSpPr>
          <p:cNvPr id="10" name="原题文字_346_48"/>
          <p:cNvSpPr txBox="1"/>
          <p:nvPr/>
        </p:nvSpPr>
        <p:spPr>
          <a:xfrm>
            <a:off x="686685" y="2310659"/>
            <a:ext cx="981350" cy="358343"/>
          </a:xfrm>
          <a:prstGeom prst="rect">
            <a:avLst/>
          </a:prstGeom>
          <a:noFill/>
        </p:spPr>
        <p:txBody>
          <a:bodyPr wrap="none" lIns="0" rIns="0" tIns="0" bIns="0">
            <a:spAutoFit/>
          </a:bodyPr>
          <a:lstStyle/>
          <a:p>
            <a:pPr>
              <a:lnSpc>
                <a:spcPct val="112000"/>
              </a:lnSpc>
              <a:spcBef>
                <a:spcPts val="0"/>
              </a:spcBef>
              <a:spcAft>
                <a:spcPts val="0"/>
              </a:spcAft>
              <a:defRPr sz="1726" b="0">
                <a:solidFill>
                  <a:srgbClr val="333333"/>
                </a:solidFill>
                <a:latin typeface="微软雅黑"/>
              </a:defRPr>
            </a:pPr>
            <a:r>
              <a:rPr>
                <a:ea typeface="微软雅黑"/>
              </a:rPr>
              <a:t>X(16.80g)</a:t>
            </a:r>
          </a:p>
        </p:txBody>
      </p:sp>
      <p:sp>
        <p:nvSpPr>
          <p:cNvPr id="11" name="原题文字_346_49"/>
          <p:cNvSpPr txBox="1"/>
          <p:nvPr/>
        </p:nvSpPr>
        <p:spPr>
          <a:xfrm>
            <a:off x="4254807" y="2303002"/>
            <a:ext cx="76695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气体丙</a:t>
            </a:r>
          </a:p>
        </p:txBody>
      </p:sp>
      <p:sp>
        <p:nvSpPr>
          <p:cNvPr id="12" name="原题文字_346_50"/>
          <p:cNvSpPr txBox="1"/>
          <p:nvPr/>
        </p:nvSpPr>
        <p:spPr>
          <a:xfrm>
            <a:off x="2884220" y="2479111"/>
            <a:ext cx="805241"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乙(标准</a:t>
            </a:r>
          </a:p>
        </p:txBody>
      </p:sp>
      <p:sp>
        <p:nvSpPr>
          <p:cNvPr id="13" name="原题文字_346_51"/>
          <p:cNvSpPr txBox="1"/>
          <p:nvPr/>
        </p:nvSpPr>
        <p:spPr>
          <a:xfrm>
            <a:off x="3711166" y="2570994"/>
            <a:ext cx="368797" cy="408113"/>
          </a:xfrm>
          <a:prstGeom prst="rect">
            <a:avLst/>
          </a:prstGeom>
          <a:noFill/>
        </p:spPr>
        <p:txBody>
          <a:bodyPr wrap="none" lIns="0" rIns="0" tIns="0" bIns="0">
            <a:spAutoFit/>
          </a:bodyPr>
          <a:lstStyle/>
          <a:p>
            <a:pPr>
              <a:lnSpc>
                <a:spcPct val="112000"/>
              </a:lnSpc>
              <a:spcBef>
                <a:spcPts val="0"/>
              </a:spcBef>
              <a:spcAft>
                <a:spcPts val="0"/>
              </a:spcAft>
              <a:defRPr sz="1898" b="0">
                <a:solidFill>
                  <a:srgbClr val="333333"/>
                </a:solidFill>
                <a:latin typeface="微软雅黑"/>
              </a:defRPr>
            </a:pPr>
            <a:r>
              <a:rPr>
                <a:ea typeface="微软雅黑"/>
              </a:rPr>
              <a:t>O₂</a:t>
            </a:r>
          </a:p>
        </p:txBody>
      </p:sp>
      <p:sp>
        <p:nvSpPr>
          <p:cNvPr id="14" name="原题文字_346_52"/>
          <p:cNvSpPr txBox="1"/>
          <p:nvPr/>
        </p:nvSpPr>
        <p:spPr>
          <a:xfrm>
            <a:off x="2861249" y="2701161"/>
            <a:ext cx="843526" cy="437975"/>
          </a:xfrm>
          <a:prstGeom prst="rect">
            <a:avLst/>
          </a:prstGeom>
          <a:noFill/>
        </p:spPr>
        <p:txBody>
          <a:bodyPr wrap="none" lIns="0" rIns="0" tIns="0" bIns="0">
            <a:spAutoFit/>
          </a:bodyPr>
          <a:lstStyle/>
          <a:p>
            <a:pPr>
              <a:lnSpc>
                <a:spcPct val="112000"/>
              </a:lnSpc>
              <a:spcBef>
                <a:spcPts val="0"/>
              </a:spcBef>
              <a:spcAft>
                <a:spcPts val="0"/>
              </a:spcAft>
              <a:defRPr sz="1659" b="0">
                <a:solidFill>
                  <a:srgbClr val="333333"/>
                </a:solidFill>
                <a:latin typeface="微软雅黑"/>
              </a:defRPr>
            </a:pPr>
            <a:r>
              <a:rPr>
                <a:ea typeface="微软雅黑"/>
              </a:rPr>
              <a:t>状况下，</a:t>
            </a:r>
          </a:p>
        </p:txBody>
      </p:sp>
      <p:sp>
        <p:nvSpPr>
          <p:cNvPr id="15" name="原题文字_346_53"/>
          <p:cNvSpPr txBox="1"/>
          <p:nvPr/>
        </p:nvSpPr>
        <p:spPr>
          <a:xfrm>
            <a:off x="5127695" y="2915555"/>
            <a:ext cx="1172773" cy="507653"/>
          </a:xfrm>
          <a:prstGeom prst="rect">
            <a:avLst/>
          </a:prstGeom>
          <a:noFill/>
        </p:spPr>
        <p:txBody>
          <a:bodyPr wrap="none" lIns="0" rIns="0" tIns="0" bIns="0">
            <a:spAutoFit/>
          </a:bodyPr>
          <a:lstStyle/>
          <a:p>
            <a:pPr>
              <a:lnSpc>
                <a:spcPct val="112000"/>
              </a:lnSpc>
              <a:spcBef>
                <a:spcPts val="0"/>
              </a:spcBef>
              <a:spcAft>
                <a:spcPts val="0"/>
              </a:spcAft>
              <a:defRPr sz="1713" b="0">
                <a:solidFill>
                  <a:srgbClr val="333333"/>
                </a:solidFill>
                <a:latin typeface="微软雅黑"/>
              </a:defRPr>
            </a:pPr>
            <a:r>
              <a:rPr>
                <a:ea typeface="微软雅黑"/>
              </a:rPr>
              <a:t>无水CuSO₄</a:t>
            </a:r>
          </a:p>
        </p:txBody>
      </p:sp>
      <p:sp>
        <p:nvSpPr>
          <p:cNvPr id="16" name="原题文字_346_54"/>
          <p:cNvSpPr txBox="1"/>
          <p:nvPr/>
        </p:nvSpPr>
        <p:spPr>
          <a:xfrm>
            <a:off x="2876563" y="2999781"/>
            <a:ext cx="69038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2.24L)</a:t>
            </a:r>
          </a:p>
        </p:txBody>
      </p:sp>
      <p:sp>
        <p:nvSpPr>
          <p:cNvPr id="17" name="原题文字_346_55"/>
          <p:cNvSpPr txBox="1"/>
          <p:nvPr/>
        </p:nvSpPr>
        <p:spPr>
          <a:xfrm>
            <a:off x="4231836" y="3114635"/>
            <a:ext cx="98135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无色液体</a:t>
            </a:r>
          </a:p>
        </p:txBody>
      </p:sp>
      <p:sp>
        <p:nvSpPr>
          <p:cNvPr id="18" name="原题文字_346_56"/>
          <p:cNvSpPr txBox="1"/>
          <p:nvPr/>
        </p:nvSpPr>
        <p:spPr>
          <a:xfrm>
            <a:off x="6329831" y="3114635"/>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变蓝</a:t>
            </a:r>
          </a:p>
        </p:txBody>
      </p:sp>
      <p:sp>
        <p:nvSpPr>
          <p:cNvPr id="19" name="文字_气体乙在标准状况下的密度为1.52g/L，气体丙"/>
          <p:cNvSpPr txBox="1"/>
          <p:nvPr/>
        </p:nvSpPr>
        <p:spPr>
          <a:xfrm>
            <a:off x="502920" y="35310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气体乙在标准状况下的密度为1.52g/L，气体丙无色、有刺激性气味,能使品红溶液</a:t>
            </a:r>
          </a:p>
          <a:p>
            <a:pPr>
              <a:lnSpc>
                <a:spcPct val="112000"/>
              </a:lnSpc>
              <a:spcBef>
                <a:spcPts val="0"/>
              </a:spcBef>
              <a:spcAft>
                <a:spcPts val="0"/>
              </a:spcAft>
              <a:defRPr sz="2400" b="0">
                <a:solidFill>
                  <a:srgbClr val="333333"/>
                </a:solidFill>
                <a:latin typeface="微软雅黑"/>
              </a:defRPr>
            </a:pPr>
            <a:r>
              <a:rPr>
                <a:ea typeface="微软雅黑"/>
              </a:rPr>
              <a:t>褪色。</a:t>
            </a:r>
          </a:p>
        </p:txBody>
      </p:sp>
      <p:sp>
        <p:nvSpPr>
          <p:cNvPr id="20" name="文字_(1) 甲的化学式为"/>
          <p:cNvSpPr txBox="1"/>
          <p:nvPr/>
        </p:nvSpPr>
        <p:spPr>
          <a:xfrm>
            <a:off x="502920" y="43327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甲的化学式为</a:t>
            </a:r>
          </a:p>
        </p:txBody>
      </p:sp>
      <p:sp>
        <p:nvSpPr>
          <p:cNvPr id="21" name="文字_(2)X的化学式为 ______ O"/>
          <p:cNvSpPr txBox="1"/>
          <p:nvPr/>
        </p:nvSpPr>
        <p:spPr>
          <a:xfrm>
            <a:off x="502920" y="47716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(2)X的化学式为 ______ O</a:t>
            </a:r>
          </a:p>
        </p:txBody>
      </p:sp>
      <p:sp>
        <p:nvSpPr>
          <p:cNvPr id="22" name="文字_(3)在澄清石灰水中通入少量气体丙,反应的离子方"/>
          <p:cNvSpPr txBox="1"/>
          <p:nvPr/>
        </p:nvSpPr>
        <p:spPr>
          <a:xfrm>
            <a:off x="502920" y="52105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(3)在澄清石灰水中通入少量气体丙,反应的离子方程式为 ______ o</a:t>
            </a:r>
          </a:p>
        </p:txBody>
      </p:sp>
      <p:sp>
        <p:nvSpPr>
          <p:cNvPr id="23" name="文字_(4)将气体乙通入气体丙的水溶液中的现象为"/>
          <p:cNvSpPr txBox="1"/>
          <p:nvPr/>
        </p:nvSpPr>
        <p:spPr>
          <a:xfrm>
            <a:off x="502920" y="56494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(4)将气体乙通入气体丙的水溶液中的现象为</a:t>
            </a:r>
          </a:p>
        </p:txBody>
      </p:sp>
      <p:sp>
        <p:nvSpPr>
          <p:cNvPr id="24" name="文字_推断题  ·  16-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16-028</a:t>
            </a:r>
          </a:p>
        </p:txBody>
      </p:sp>
      <p:sp>
        <p:nvSpPr>
          <p:cNvPr id="25"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变式5</a:t>
            </a:r>
          </a:p>
        </p:txBody>
      </p:sp>
      <p:sp>
        <p:nvSpPr>
          <p:cNvPr id="5" name="文字_P34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P347</a:t>
            </a:r>
          </a:p>
        </p:txBody>
      </p:sp>
      <p:sp>
        <p:nvSpPr>
          <p:cNvPr id="6" name="文字_如图所示物质之间的转化："/>
          <p:cNvSpPr txBox="1"/>
          <p:nvPr/>
        </p:nvSpPr>
        <p:spPr>
          <a:xfrm>
            <a:off x="502920" y="1078992"/>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如图所示物质之间的转化：</a:t>
            </a:r>
          </a:p>
        </p:txBody>
      </p:sp>
      <p:pic>
        <p:nvPicPr>
          <p:cNvPr id="7" name="Picture 6" descr="image.png"/>
          <p:cNvPicPr>
            <a:picLocks noChangeAspect="1"/>
          </p:cNvPicPr>
          <p:nvPr/>
        </p:nvPicPr>
        <p:blipFill>
          <a:blip r:embed="rId3"/>
          <a:stretch>
            <a:fillRect/>
          </a:stretch>
        </p:blipFill>
        <p:spPr>
          <a:xfrm>
            <a:off x="502920" y="1380743"/>
            <a:ext cx="10441370" cy="2738601"/>
          </a:xfrm>
          <a:prstGeom prst="rect">
            <a:avLst/>
          </a:prstGeom>
        </p:spPr>
      </p:pic>
      <p:sp>
        <p:nvSpPr>
          <p:cNvPr id="8" name="原题文字_347_4"/>
          <p:cNvSpPr txBox="1"/>
          <p:nvPr/>
        </p:nvSpPr>
        <p:spPr>
          <a:xfrm>
            <a:off x="6066833" y="1410472"/>
            <a:ext cx="1637327" cy="356957"/>
          </a:xfrm>
          <a:prstGeom prst="rect">
            <a:avLst/>
          </a:prstGeom>
          <a:noFill/>
        </p:spPr>
        <p:txBody>
          <a:bodyPr wrap="none" lIns="0" rIns="0" tIns="0" bIns="0">
            <a:spAutoFit/>
          </a:bodyPr>
          <a:lstStyle/>
          <a:p>
            <a:pPr>
              <a:lnSpc>
                <a:spcPct val="112000"/>
              </a:lnSpc>
              <a:spcBef>
                <a:spcPts val="0"/>
              </a:spcBef>
              <a:spcAft>
                <a:spcPts val="0"/>
              </a:spcAft>
              <a:defRPr sz="1729" b="0">
                <a:solidFill>
                  <a:srgbClr val="333333"/>
                </a:solidFill>
                <a:latin typeface="微软雅黑"/>
              </a:defRPr>
            </a:pPr>
            <a:r>
              <a:rPr>
                <a:ea typeface="微软雅黑"/>
              </a:rPr>
              <a:t>焰色试验呈紫色</a:t>
            </a:r>
          </a:p>
        </p:txBody>
      </p:sp>
      <p:sp>
        <p:nvSpPr>
          <p:cNvPr id="9" name="原题文字_347_5"/>
          <p:cNvSpPr txBox="1"/>
          <p:nvPr/>
        </p:nvSpPr>
        <p:spPr>
          <a:xfrm>
            <a:off x="5394828" y="1540538"/>
            <a:ext cx="604029" cy="403925"/>
          </a:xfrm>
          <a:prstGeom prst="rect">
            <a:avLst/>
          </a:prstGeom>
          <a:noFill/>
        </p:spPr>
        <p:txBody>
          <a:bodyPr wrap="none" lIns="0" rIns="0" tIns="0" bIns="0">
            <a:spAutoFit/>
          </a:bodyPr>
          <a:lstStyle/>
          <a:p>
            <a:pPr>
              <a:lnSpc>
                <a:spcPct val="112000"/>
              </a:lnSpc>
              <a:spcBef>
                <a:spcPts val="0"/>
              </a:spcBef>
              <a:spcAft>
                <a:spcPts val="0"/>
              </a:spcAft>
              <a:defRPr sz="1957" b="0">
                <a:solidFill>
                  <a:srgbClr val="333333"/>
                </a:solidFill>
                <a:latin typeface="微软雅黑"/>
              </a:defRPr>
            </a:pPr>
            <a:r>
              <a:rPr>
                <a:ea typeface="微软雅黑"/>
              </a:rPr>
              <a:t>溶液</a:t>
            </a:r>
          </a:p>
        </p:txBody>
      </p:sp>
      <p:sp>
        <p:nvSpPr>
          <p:cNvPr id="10" name="原题文字_347_6"/>
          <p:cNvSpPr txBox="1"/>
          <p:nvPr/>
        </p:nvSpPr>
        <p:spPr>
          <a:xfrm>
            <a:off x="1659057" y="1685055"/>
            <a:ext cx="625707" cy="450893"/>
          </a:xfrm>
          <a:prstGeom prst="rect">
            <a:avLst/>
          </a:prstGeom>
          <a:noFill/>
        </p:spPr>
        <p:txBody>
          <a:bodyPr wrap="none" lIns="0" rIns="0" tIns="0" bIns="0">
            <a:spAutoFit/>
          </a:bodyPr>
          <a:lstStyle/>
          <a:p>
            <a:pPr>
              <a:lnSpc>
                <a:spcPct val="112000"/>
              </a:lnSpc>
              <a:spcBef>
                <a:spcPts val="0"/>
              </a:spcBef>
              <a:spcAft>
                <a:spcPts val="0"/>
              </a:spcAft>
              <a:defRPr sz="2184" b="0">
                <a:solidFill>
                  <a:srgbClr val="333333"/>
                </a:solidFill>
                <a:latin typeface="微软雅黑"/>
              </a:defRPr>
            </a:pPr>
            <a:r>
              <a:rPr>
                <a:ea typeface="微软雅黑"/>
              </a:rPr>
              <a:t>气体</a:t>
            </a:r>
          </a:p>
        </p:txBody>
      </p:sp>
      <p:sp>
        <p:nvSpPr>
          <p:cNvPr id="11" name="原题文字_347_7"/>
          <p:cNvSpPr txBox="1"/>
          <p:nvPr/>
        </p:nvSpPr>
        <p:spPr>
          <a:xfrm>
            <a:off x="6001801" y="1656151"/>
            <a:ext cx="1796296" cy="356957"/>
          </a:xfrm>
          <a:prstGeom prst="rect">
            <a:avLst/>
          </a:prstGeom>
          <a:noFill/>
        </p:spPr>
        <p:txBody>
          <a:bodyPr wrap="none" lIns="0" rIns="0" tIns="0" bIns="0">
            <a:spAutoFit/>
          </a:bodyPr>
          <a:lstStyle/>
          <a:p>
            <a:pPr>
              <a:lnSpc>
                <a:spcPct val="112000"/>
              </a:lnSpc>
              <a:spcBef>
                <a:spcPts val="0"/>
              </a:spcBef>
              <a:spcAft>
                <a:spcPts val="0"/>
              </a:spcAft>
              <a:defRPr sz="1729" b="0">
                <a:solidFill>
                  <a:srgbClr val="333333"/>
                </a:solidFill>
                <a:latin typeface="微软雅黑"/>
              </a:defRPr>
            </a:pPr>
            <a:r>
              <a:rPr>
                <a:ea typeface="微软雅黑"/>
              </a:rPr>
              <a:t>(透过蓝色钴玻璃)</a:t>
            </a:r>
          </a:p>
        </p:txBody>
      </p:sp>
      <p:sp>
        <p:nvSpPr>
          <p:cNvPr id="12" name="原题文字_347_8"/>
          <p:cNvSpPr txBox="1"/>
          <p:nvPr/>
        </p:nvSpPr>
        <p:spPr>
          <a:xfrm>
            <a:off x="4260368" y="1764539"/>
            <a:ext cx="849708" cy="422712"/>
          </a:xfrm>
          <a:prstGeom prst="rect">
            <a:avLst/>
          </a:prstGeom>
          <a:noFill/>
        </p:spPr>
        <p:txBody>
          <a:bodyPr wrap="none" lIns="0" rIns="0" tIns="0" bIns="0">
            <a:spAutoFit/>
          </a:bodyPr>
          <a:lstStyle/>
          <a:p>
            <a:pPr>
              <a:lnSpc>
                <a:spcPct val="112000"/>
              </a:lnSpc>
              <a:spcBef>
                <a:spcPts val="0"/>
              </a:spcBef>
              <a:spcAft>
                <a:spcPts val="0"/>
              </a:spcAft>
              <a:defRPr sz="1831" b="0">
                <a:solidFill>
                  <a:srgbClr val="333333"/>
                </a:solidFill>
                <a:latin typeface="微软雅黑"/>
              </a:defRPr>
            </a:pPr>
            <a:r>
              <a:rPr>
                <a:ea typeface="微软雅黑"/>
              </a:rPr>
              <a:t>AgNO₃</a:t>
            </a:r>
          </a:p>
        </p:txBody>
      </p:sp>
      <p:sp>
        <p:nvSpPr>
          <p:cNvPr id="13" name="原题文字_347_9"/>
          <p:cNvSpPr txBox="1"/>
          <p:nvPr/>
        </p:nvSpPr>
        <p:spPr>
          <a:xfrm>
            <a:off x="3465523" y="1901831"/>
            <a:ext cx="784676" cy="422712"/>
          </a:xfrm>
          <a:prstGeom prst="rect">
            <a:avLst/>
          </a:prstGeom>
          <a:noFill/>
        </p:spPr>
        <p:txBody>
          <a:bodyPr wrap="none" lIns="0" rIns="0" tIns="0" bIns="0">
            <a:spAutoFit/>
          </a:bodyPr>
          <a:lstStyle/>
          <a:p>
            <a:pPr>
              <a:lnSpc>
                <a:spcPct val="112000"/>
              </a:lnSpc>
              <a:spcBef>
                <a:spcPts val="0"/>
              </a:spcBef>
              <a:spcAft>
                <a:spcPts val="0"/>
              </a:spcAft>
              <a:defRPr sz="2048" b="0">
                <a:solidFill>
                  <a:srgbClr val="333333"/>
                </a:solidFill>
                <a:latin typeface="微软雅黑"/>
              </a:defRPr>
            </a:pPr>
            <a:r>
              <a:rPr>
                <a:ea typeface="微软雅黑"/>
              </a:rPr>
              <a:t>D溶液</a:t>
            </a:r>
          </a:p>
        </p:txBody>
      </p:sp>
      <p:sp>
        <p:nvSpPr>
          <p:cNvPr id="14" name="原题文字_347_10"/>
          <p:cNvSpPr txBox="1"/>
          <p:nvPr/>
        </p:nvSpPr>
        <p:spPr>
          <a:xfrm>
            <a:off x="712470" y="2096929"/>
            <a:ext cx="322220" cy="347563"/>
          </a:xfrm>
          <a:prstGeom prst="rect">
            <a:avLst/>
          </a:prstGeom>
          <a:noFill/>
        </p:spPr>
        <p:txBody>
          <a:bodyPr wrap="none" lIns="0" rIns="0" tIns="0" bIns="0">
            <a:spAutoFit/>
          </a:bodyPr>
          <a:lstStyle/>
          <a:p>
            <a:pPr>
              <a:lnSpc>
                <a:spcPct val="112000"/>
              </a:lnSpc>
              <a:spcBef>
                <a:spcPts val="0"/>
              </a:spcBef>
              <a:spcAft>
                <a:spcPts val="0"/>
              </a:spcAft>
              <a:defRPr sz="1684" b="0">
                <a:solidFill>
                  <a:srgbClr val="333333"/>
                </a:solidFill>
                <a:latin typeface="微软雅黑"/>
              </a:defRPr>
            </a:pPr>
            <a:r>
              <a:rPr>
                <a:ea typeface="微软雅黑"/>
              </a:rPr>
              <a:t>A</a:t>
            </a:r>
          </a:p>
        </p:txBody>
      </p:sp>
      <p:sp>
        <p:nvSpPr>
          <p:cNvPr id="15" name="原题文字_347_11"/>
          <p:cNvSpPr txBox="1"/>
          <p:nvPr/>
        </p:nvSpPr>
        <p:spPr>
          <a:xfrm>
            <a:off x="4332626" y="2060800"/>
            <a:ext cx="748546" cy="460287"/>
          </a:xfrm>
          <a:prstGeom prst="rect">
            <a:avLst/>
          </a:prstGeom>
          <a:noFill/>
        </p:spPr>
        <p:txBody>
          <a:bodyPr wrap="none" lIns="0" rIns="0" tIns="0" bIns="0">
            <a:spAutoFit/>
          </a:bodyPr>
          <a:lstStyle/>
          <a:p>
            <a:pPr>
              <a:lnSpc>
                <a:spcPct val="112000"/>
              </a:lnSpc>
              <a:spcBef>
                <a:spcPts val="0"/>
              </a:spcBef>
              <a:spcAft>
                <a:spcPts val="0"/>
              </a:spcAft>
              <a:defRPr sz="1895" b="0">
                <a:solidFill>
                  <a:srgbClr val="333333"/>
                </a:solidFill>
                <a:latin typeface="微软雅黑"/>
              </a:defRPr>
            </a:pPr>
            <a:r>
              <a:rPr>
                <a:ea typeface="微软雅黑"/>
              </a:rPr>
              <a:t>HNO₃</a:t>
            </a:r>
          </a:p>
        </p:txBody>
      </p:sp>
      <p:sp>
        <p:nvSpPr>
          <p:cNvPr id="16" name="原题文字_347_12"/>
          <p:cNvSpPr txBox="1"/>
          <p:nvPr/>
        </p:nvSpPr>
        <p:spPr>
          <a:xfrm>
            <a:off x="2417773" y="2299253"/>
            <a:ext cx="770224" cy="432106"/>
          </a:xfrm>
          <a:prstGeom prst="rect">
            <a:avLst/>
          </a:prstGeom>
          <a:noFill/>
        </p:spPr>
        <p:txBody>
          <a:bodyPr wrap="none" lIns="0" rIns="0" tIns="0" bIns="0">
            <a:spAutoFit/>
          </a:bodyPr>
          <a:lstStyle/>
          <a:p>
            <a:pPr>
              <a:lnSpc>
                <a:spcPct val="112000"/>
              </a:lnSpc>
              <a:spcBef>
                <a:spcPts val="0"/>
              </a:spcBef>
              <a:spcAft>
                <a:spcPts val="0"/>
              </a:spcAft>
              <a:defRPr sz="2093" b="0">
                <a:solidFill>
                  <a:srgbClr val="333333"/>
                </a:solidFill>
                <a:latin typeface="微软雅黑"/>
              </a:defRPr>
            </a:pPr>
            <a:r>
              <a:rPr>
                <a:ea typeface="微软雅黑"/>
              </a:rPr>
              <a:t>C溶液</a:t>
            </a:r>
          </a:p>
        </p:txBody>
      </p:sp>
      <p:sp>
        <p:nvSpPr>
          <p:cNvPr id="17" name="原题文字_347_13"/>
          <p:cNvSpPr txBox="1"/>
          <p:nvPr/>
        </p:nvSpPr>
        <p:spPr>
          <a:xfrm>
            <a:off x="5344247" y="2292027"/>
            <a:ext cx="1203776" cy="394532"/>
          </a:xfrm>
          <a:prstGeom prst="rect">
            <a:avLst/>
          </a:prstGeom>
          <a:noFill/>
        </p:spPr>
        <p:txBody>
          <a:bodyPr wrap="none" lIns="0" rIns="0" tIns="0" bIns="0">
            <a:spAutoFit/>
          </a:bodyPr>
          <a:lstStyle/>
          <a:p>
            <a:pPr>
              <a:lnSpc>
                <a:spcPct val="112000"/>
              </a:lnSpc>
              <a:spcBef>
                <a:spcPts val="0"/>
              </a:spcBef>
              <a:spcAft>
                <a:spcPts val="0"/>
              </a:spcAft>
              <a:defRPr sz="1911" b="0">
                <a:solidFill>
                  <a:srgbClr val="333333"/>
                </a:solidFill>
                <a:latin typeface="微软雅黑"/>
              </a:defRPr>
            </a:pPr>
            <a:r>
              <a:rPr>
                <a:ea typeface="微软雅黑"/>
              </a:rPr>
              <a:t>白色沉淀H</a:t>
            </a:r>
          </a:p>
        </p:txBody>
      </p:sp>
      <p:sp>
        <p:nvSpPr>
          <p:cNvPr id="18" name="原题文字_347_14"/>
          <p:cNvSpPr txBox="1"/>
          <p:nvPr/>
        </p:nvSpPr>
        <p:spPr>
          <a:xfrm>
            <a:off x="1680735" y="2429319"/>
            <a:ext cx="784676" cy="422712"/>
          </a:xfrm>
          <a:prstGeom prst="rect">
            <a:avLst/>
          </a:prstGeom>
          <a:noFill/>
        </p:spPr>
        <p:txBody>
          <a:bodyPr wrap="none" lIns="0" rIns="0" tIns="0" bIns="0">
            <a:spAutoFit/>
          </a:bodyPr>
          <a:lstStyle/>
          <a:p>
            <a:pPr>
              <a:lnSpc>
                <a:spcPct val="112000"/>
              </a:lnSpc>
              <a:spcBef>
                <a:spcPts val="0"/>
              </a:spcBef>
              <a:spcAft>
                <a:spcPts val="0"/>
              </a:spcAft>
              <a:defRPr sz="2048" b="0">
                <a:solidFill>
                  <a:srgbClr val="333333"/>
                </a:solidFill>
                <a:latin typeface="微软雅黑"/>
              </a:defRPr>
            </a:pPr>
            <a:r>
              <a:rPr>
                <a:ea typeface="微软雅黑"/>
              </a:rPr>
              <a:t>B溶液</a:t>
            </a:r>
          </a:p>
        </p:txBody>
      </p:sp>
      <p:sp>
        <p:nvSpPr>
          <p:cNvPr id="19" name="原题文字_347_15"/>
          <p:cNvSpPr txBox="1"/>
          <p:nvPr/>
        </p:nvSpPr>
        <p:spPr>
          <a:xfrm>
            <a:off x="4520499" y="2841193"/>
            <a:ext cx="632932" cy="441500"/>
          </a:xfrm>
          <a:prstGeom prst="rect">
            <a:avLst/>
          </a:prstGeom>
          <a:noFill/>
        </p:spPr>
        <p:txBody>
          <a:bodyPr wrap="none" lIns="0" rIns="0" tIns="0" bIns="0">
            <a:spAutoFit/>
          </a:bodyPr>
          <a:lstStyle/>
          <a:p>
            <a:pPr>
              <a:lnSpc>
                <a:spcPct val="112000"/>
              </a:lnSpc>
              <a:spcBef>
                <a:spcPts val="0"/>
              </a:spcBef>
              <a:spcAft>
                <a:spcPts val="0"/>
              </a:spcAft>
              <a:defRPr sz="2139" b="0">
                <a:solidFill>
                  <a:srgbClr val="333333"/>
                </a:solidFill>
                <a:latin typeface="微软雅黑"/>
              </a:defRPr>
            </a:pPr>
            <a:r>
              <a:rPr>
                <a:ea typeface="微软雅黑"/>
              </a:rPr>
              <a:t>空气</a:t>
            </a:r>
          </a:p>
        </p:txBody>
      </p:sp>
      <p:sp>
        <p:nvSpPr>
          <p:cNvPr id="20" name="原题文字_347_16"/>
          <p:cNvSpPr txBox="1"/>
          <p:nvPr/>
        </p:nvSpPr>
        <p:spPr>
          <a:xfrm>
            <a:off x="6565418" y="2862870"/>
            <a:ext cx="604029" cy="413319"/>
          </a:xfrm>
          <a:prstGeom prst="rect">
            <a:avLst/>
          </a:prstGeom>
          <a:noFill/>
        </p:spPr>
        <p:txBody>
          <a:bodyPr wrap="none" lIns="0" rIns="0" tIns="0" bIns="0">
            <a:spAutoFit/>
          </a:bodyPr>
          <a:lstStyle/>
          <a:p>
            <a:pPr>
              <a:lnSpc>
                <a:spcPct val="112000"/>
              </a:lnSpc>
              <a:spcBef>
                <a:spcPts val="0"/>
              </a:spcBef>
              <a:spcAft>
                <a:spcPts val="0"/>
              </a:spcAft>
              <a:defRPr sz="2002" b="0">
                <a:solidFill>
                  <a:srgbClr val="333333"/>
                </a:solidFill>
                <a:latin typeface="微软雅黑"/>
              </a:defRPr>
            </a:pPr>
            <a:r>
              <a:rPr>
                <a:ea typeface="微软雅黑"/>
              </a:rPr>
              <a:t>盐酸</a:t>
            </a:r>
          </a:p>
        </p:txBody>
      </p:sp>
      <p:sp>
        <p:nvSpPr>
          <p:cNvPr id="21" name="原题文字_347_17"/>
          <p:cNvSpPr txBox="1"/>
          <p:nvPr/>
        </p:nvSpPr>
        <p:spPr>
          <a:xfrm>
            <a:off x="3393264" y="3000162"/>
            <a:ext cx="1189324" cy="403925"/>
          </a:xfrm>
          <a:prstGeom prst="rect">
            <a:avLst/>
          </a:prstGeom>
          <a:noFill/>
        </p:spPr>
        <p:txBody>
          <a:bodyPr wrap="none" lIns="0" rIns="0" tIns="0" bIns="0">
            <a:spAutoFit/>
          </a:bodyPr>
          <a:lstStyle/>
          <a:p>
            <a:pPr>
              <a:lnSpc>
                <a:spcPct val="112000"/>
              </a:lnSpc>
              <a:spcBef>
                <a:spcPts val="0"/>
              </a:spcBef>
              <a:spcAft>
                <a:spcPts val="0"/>
              </a:spcAft>
              <a:defRPr sz="1957" b="0">
                <a:solidFill>
                  <a:srgbClr val="333333"/>
                </a:solidFill>
                <a:latin typeface="微软雅黑"/>
              </a:defRPr>
            </a:pPr>
            <a:r>
              <a:rPr>
                <a:ea typeface="微软雅黑"/>
              </a:rPr>
              <a:t>白色沉淀E</a:t>
            </a:r>
          </a:p>
        </p:txBody>
      </p:sp>
      <p:sp>
        <p:nvSpPr>
          <p:cNvPr id="22" name="原题文字_347_18"/>
          <p:cNvSpPr txBox="1"/>
          <p:nvPr/>
        </p:nvSpPr>
        <p:spPr>
          <a:xfrm>
            <a:off x="5228633" y="2985710"/>
            <a:ext cx="1369970" cy="413319"/>
          </a:xfrm>
          <a:prstGeom prst="rect">
            <a:avLst/>
          </a:prstGeom>
          <a:noFill/>
        </p:spPr>
        <p:txBody>
          <a:bodyPr wrap="none" lIns="0" rIns="0" tIns="0" bIns="0">
            <a:spAutoFit/>
          </a:bodyPr>
          <a:lstStyle/>
          <a:p>
            <a:pPr>
              <a:lnSpc>
                <a:spcPct val="112000"/>
              </a:lnSpc>
              <a:spcBef>
                <a:spcPts val="0"/>
              </a:spcBef>
              <a:spcAft>
                <a:spcPts val="0"/>
              </a:spcAft>
              <a:defRPr sz="1942" b="0">
                <a:solidFill>
                  <a:srgbClr val="333333"/>
                </a:solidFill>
                <a:latin typeface="微软雅黑"/>
              </a:defRPr>
            </a:pPr>
            <a:r>
              <a:rPr>
                <a:ea typeface="微软雅黑"/>
              </a:rPr>
              <a:t>红褐色沉淀F</a:t>
            </a:r>
          </a:p>
        </p:txBody>
      </p:sp>
      <p:sp>
        <p:nvSpPr>
          <p:cNvPr id="23" name="原题文字_347_19"/>
          <p:cNvSpPr txBox="1"/>
          <p:nvPr/>
        </p:nvSpPr>
        <p:spPr>
          <a:xfrm>
            <a:off x="7222971" y="3007388"/>
            <a:ext cx="770224" cy="422712"/>
          </a:xfrm>
          <a:prstGeom prst="rect">
            <a:avLst/>
          </a:prstGeom>
          <a:noFill/>
        </p:spPr>
        <p:txBody>
          <a:bodyPr wrap="none" lIns="0" rIns="0" tIns="0" bIns="0">
            <a:spAutoFit/>
          </a:bodyPr>
          <a:lstStyle/>
          <a:p>
            <a:pPr>
              <a:lnSpc>
                <a:spcPct val="112000"/>
              </a:lnSpc>
              <a:spcBef>
                <a:spcPts val="0"/>
              </a:spcBef>
              <a:spcAft>
                <a:spcPts val="0"/>
              </a:spcAft>
              <a:defRPr sz="2048" b="0">
                <a:solidFill>
                  <a:srgbClr val="333333"/>
                </a:solidFill>
                <a:latin typeface="微软雅黑"/>
              </a:defRPr>
            </a:pPr>
            <a:r>
              <a:rPr>
                <a:ea typeface="微软雅黑"/>
              </a:rPr>
              <a:t>G溶液</a:t>
            </a:r>
          </a:p>
        </p:txBody>
      </p:sp>
      <p:sp>
        <p:nvSpPr>
          <p:cNvPr id="24" name="原题文字_347_20"/>
          <p:cNvSpPr txBox="1"/>
          <p:nvPr/>
        </p:nvSpPr>
        <p:spPr>
          <a:xfrm>
            <a:off x="4643338" y="3491520"/>
            <a:ext cx="307769" cy="347563"/>
          </a:xfrm>
          <a:prstGeom prst="rect">
            <a:avLst/>
          </a:prstGeom>
          <a:noFill/>
        </p:spPr>
        <p:txBody>
          <a:bodyPr wrap="none" lIns="0" rIns="0" tIns="0" bIns="0">
            <a:spAutoFit/>
          </a:bodyPr>
          <a:lstStyle/>
          <a:p>
            <a:pPr>
              <a:lnSpc>
                <a:spcPct val="112000"/>
              </a:lnSpc>
              <a:spcBef>
                <a:spcPts val="0"/>
              </a:spcBef>
              <a:spcAft>
                <a:spcPts val="0"/>
              </a:spcAft>
              <a:defRPr sz="1684" b="0">
                <a:solidFill>
                  <a:srgbClr val="333333"/>
                </a:solidFill>
                <a:latin typeface="微软雅黑"/>
              </a:defRPr>
            </a:pPr>
            <a:r>
              <a:rPr>
                <a:ea typeface="微软雅黑"/>
              </a:rPr>
              <a:t>A</a:t>
            </a:r>
          </a:p>
        </p:txBody>
      </p:sp>
      <p:sp>
        <p:nvSpPr>
          <p:cNvPr id="25" name="原题文字_347_21"/>
          <p:cNvSpPr txBox="1"/>
          <p:nvPr/>
        </p:nvSpPr>
        <p:spPr>
          <a:xfrm>
            <a:off x="582404" y="3823910"/>
            <a:ext cx="1579520" cy="328776"/>
          </a:xfrm>
          <a:prstGeom prst="rect">
            <a:avLst/>
          </a:prstGeom>
          <a:noFill/>
        </p:spPr>
        <p:txBody>
          <a:bodyPr wrap="none" lIns="0" rIns="0" tIns="0" bIns="0">
            <a:spAutoFit/>
          </a:bodyPr>
          <a:lstStyle/>
          <a:p>
            <a:pPr>
              <a:lnSpc>
                <a:spcPct val="112000"/>
              </a:lnSpc>
              <a:spcBef>
                <a:spcPts val="0"/>
              </a:spcBef>
              <a:spcAft>
                <a:spcPts val="0"/>
              </a:spcAft>
              <a:defRPr sz="1593" b="0">
                <a:solidFill>
                  <a:srgbClr val="333333"/>
                </a:solidFill>
                <a:latin typeface="微软雅黑"/>
              </a:defRPr>
            </a:pPr>
            <a:r>
              <a:rPr>
                <a:ea typeface="微软雅黑"/>
              </a:rPr>
              <a:t>请回答下列问题:</a:t>
            </a:r>
          </a:p>
        </p:txBody>
      </p:sp>
      <p:sp>
        <p:nvSpPr>
          <p:cNvPr id="26" name="文字_(1)写出A的化学式 ______ ；写出C的化"/>
          <p:cNvSpPr txBox="1"/>
          <p:nvPr/>
        </p:nvSpPr>
        <p:spPr>
          <a:xfrm>
            <a:off x="502920" y="4192497"/>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(1)写出A的化学式 ______ ；写出C的化学式</a:t>
            </a:r>
          </a:p>
        </p:txBody>
      </p:sp>
      <p:sp>
        <p:nvSpPr>
          <p:cNvPr id="27" name="文字_(2)写出F转化为G的离子方程式"/>
          <p:cNvSpPr txBox="1"/>
          <p:nvPr/>
        </p:nvSpPr>
        <p:spPr>
          <a:xfrm>
            <a:off x="502920" y="4494249"/>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(2)写出F转化为G的离子方程式</a:t>
            </a:r>
          </a:p>
        </p:txBody>
      </p:sp>
      <p:sp>
        <p:nvSpPr>
          <p:cNvPr id="28" name="文字_(3)有同学向盛有H₂O₂的溶液的试管中加入几滴"/>
          <p:cNvSpPr txBox="1"/>
          <p:nvPr/>
        </p:nvSpPr>
        <p:spPr>
          <a:xfrm>
            <a:off x="502920" y="4796001"/>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(3)有同学向盛有H₂O₂的溶液的试管中加入几滴酸化的B溶液，溶液变为棕黄色，发生的离子方程式为</a:t>
            </a:r>
          </a:p>
        </p:txBody>
      </p:sp>
      <p:sp>
        <p:nvSpPr>
          <p:cNvPr id="29" name="文字_(4)为了检验A在氯气中燃烧的产物(产物为纯净物"/>
          <p:cNvSpPr txBox="1"/>
          <p:nvPr/>
        </p:nvSpPr>
        <p:spPr>
          <a:xfrm>
            <a:off x="502920" y="5097753"/>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(4)为了检验A在氯气中燃烧的产物(产物为纯净物)，可将产物溶解于水配成溶液，则可选用进行检验的试剂是</a:t>
            </a:r>
          </a:p>
        </p:txBody>
      </p:sp>
      <p:sp>
        <p:nvSpPr>
          <p:cNvPr id="30" name="文字_，其现象是 ______ o"/>
          <p:cNvSpPr txBox="1"/>
          <p:nvPr/>
        </p:nvSpPr>
        <p:spPr>
          <a:xfrm>
            <a:off x="502920" y="5399505"/>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，其现象是 ______ o</a:t>
            </a:r>
          </a:p>
        </p:txBody>
      </p:sp>
      <p:sp>
        <p:nvSpPr>
          <p:cNvPr id="31" name="文字_(5)将足量的A投入硫酸和CuSO₄的混合溶液中"/>
          <p:cNvSpPr txBox="1"/>
          <p:nvPr/>
        </p:nvSpPr>
        <p:spPr>
          <a:xfrm>
            <a:off x="502920" y="5701257"/>
            <a:ext cx="11064240" cy="551116"/>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(5)将足量的A投入硫酸和CuSO₄的混合溶液中，充分反应后，剩余固体的质量与原加入的固体的质量相等，则原溶液中</a:t>
            </a:r>
          </a:p>
          <a:p>
            <a:pPr>
              <a:lnSpc>
                <a:spcPct val="112000"/>
              </a:lnSpc>
              <a:spcBef>
                <a:spcPts val="0"/>
              </a:spcBef>
              <a:spcAft>
                <a:spcPts val="0"/>
              </a:spcAft>
              <a:defRPr sz="1650" b="0">
                <a:solidFill>
                  <a:srgbClr val="333333"/>
                </a:solidFill>
                <a:latin typeface="微软雅黑"/>
              </a:defRPr>
            </a:pPr>
            <a:r>
              <a:rPr>
                <a:ea typeface="微软雅黑"/>
              </a:rPr>
              <a:t>c(H+)与c(SO₂⁻)之比为</a:t>
            </a:r>
          </a:p>
        </p:txBody>
      </p:sp>
      <p:sp>
        <p:nvSpPr>
          <p:cNvPr id="32" name="文字_推断题  ·  16-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16-029</a:t>
            </a:r>
          </a:p>
        </p:txBody>
      </p:sp>
      <p:sp>
        <p:nvSpPr>
          <p:cNvPr id="33"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变式6</a:t>
            </a:r>
          </a:p>
        </p:txBody>
      </p:sp>
      <p:sp>
        <p:nvSpPr>
          <p:cNvPr id="5" name="文字_P34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P347</a:t>
            </a:r>
          </a:p>
        </p:txBody>
      </p:sp>
      <p:pic>
        <p:nvPicPr>
          <p:cNvPr id="6" name="Picture 5" descr="image.png"/>
          <p:cNvPicPr>
            <a:picLocks noChangeAspect="1"/>
          </p:cNvPicPr>
          <p:nvPr/>
        </p:nvPicPr>
        <p:blipFill>
          <a:blip r:embed="rId3"/>
          <a:stretch>
            <a:fillRect/>
          </a:stretch>
        </p:blipFill>
        <p:spPr>
          <a:xfrm>
            <a:off x="502920" y="1078992"/>
            <a:ext cx="11064240" cy="2771802"/>
          </a:xfrm>
          <a:prstGeom prst="rect">
            <a:avLst/>
          </a:prstGeom>
        </p:spPr>
      </p:pic>
      <p:sp>
        <p:nvSpPr>
          <p:cNvPr id="7" name="原题文字_347_39"/>
          <p:cNvSpPr txBox="1"/>
          <p:nvPr/>
        </p:nvSpPr>
        <p:spPr>
          <a:xfrm>
            <a:off x="594802" y="1087905"/>
            <a:ext cx="778834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化合物X的化学式为BaCu₃O₄。将X按如下图所示的关系进行试验，回答下列问题：</a:t>
            </a:r>
          </a:p>
        </p:txBody>
      </p:sp>
      <p:sp>
        <p:nvSpPr>
          <p:cNvPr id="8" name="原题文字_347_40"/>
          <p:cNvSpPr txBox="1"/>
          <p:nvPr/>
        </p:nvSpPr>
        <p:spPr>
          <a:xfrm>
            <a:off x="4346690" y="1386524"/>
            <a:ext cx="1425451" cy="517607"/>
          </a:xfrm>
          <a:prstGeom prst="rect">
            <a:avLst/>
          </a:prstGeom>
          <a:noFill/>
        </p:spPr>
        <p:txBody>
          <a:bodyPr wrap="none" lIns="0" rIns="0" tIns="0" bIns="0">
            <a:spAutoFit/>
          </a:bodyPr>
          <a:lstStyle/>
          <a:p>
            <a:pPr>
              <a:lnSpc>
                <a:spcPct val="112000"/>
              </a:lnSpc>
              <a:spcBef>
                <a:spcPts val="0"/>
              </a:spcBef>
              <a:spcAft>
                <a:spcPts val="0"/>
              </a:spcAft>
              <a:defRPr sz="1810" b="0">
                <a:solidFill>
                  <a:srgbClr val="333333"/>
                </a:solidFill>
                <a:latin typeface="微软雅黑"/>
              </a:defRPr>
            </a:pPr>
            <a:r>
              <a:rPr>
                <a:ea typeface="微软雅黑"/>
              </a:rPr>
              <a:t>Na₂SO₄溶液</a:t>
            </a:r>
          </a:p>
        </p:txBody>
      </p:sp>
      <p:sp>
        <p:nvSpPr>
          <p:cNvPr id="9" name="原题文字_347_41"/>
          <p:cNvSpPr txBox="1"/>
          <p:nvPr/>
        </p:nvSpPr>
        <p:spPr>
          <a:xfrm>
            <a:off x="2830621" y="1593261"/>
            <a:ext cx="1310597" cy="547469"/>
          </a:xfrm>
          <a:prstGeom prst="rect">
            <a:avLst/>
          </a:prstGeom>
          <a:noFill/>
        </p:spPr>
        <p:txBody>
          <a:bodyPr wrap="none" lIns="0" rIns="0" tIns="0" bIns="0">
            <a:spAutoFit/>
          </a:bodyPr>
          <a:lstStyle/>
          <a:p>
            <a:pPr>
              <a:lnSpc>
                <a:spcPct val="112000"/>
              </a:lnSpc>
              <a:spcBef>
                <a:spcPts val="0"/>
              </a:spcBef>
              <a:spcAft>
                <a:spcPts val="0"/>
              </a:spcAft>
              <a:defRPr sz="1750" b="0">
                <a:solidFill>
                  <a:srgbClr val="333333"/>
                </a:solidFill>
                <a:latin typeface="微软雅黑"/>
              </a:defRPr>
            </a:pPr>
            <a:r>
              <a:rPr>
                <a:ea typeface="微软雅黑"/>
              </a:rPr>
              <a:t>-BaCl₁₂溶液</a:t>
            </a:r>
          </a:p>
        </p:txBody>
      </p:sp>
      <p:sp>
        <p:nvSpPr>
          <p:cNvPr id="10" name="原题文字_347_42"/>
          <p:cNvSpPr txBox="1"/>
          <p:nvPr/>
        </p:nvSpPr>
        <p:spPr>
          <a:xfrm>
            <a:off x="6061839" y="1654516"/>
            <a:ext cx="1103861"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白色沉淀</a:t>
            </a:r>
          </a:p>
        </p:txBody>
      </p:sp>
      <p:sp>
        <p:nvSpPr>
          <p:cNvPr id="11" name="原题文字_347_43"/>
          <p:cNvSpPr txBox="1"/>
          <p:nvPr/>
        </p:nvSpPr>
        <p:spPr>
          <a:xfrm>
            <a:off x="4875017" y="1845939"/>
            <a:ext cx="36114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②</a:t>
            </a:r>
          </a:p>
        </p:txBody>
      </p:sp>
      <p:sp>
        <p:nvSpPr>
          <p:cNvPr id="12" name="原题文字_347_44"/>
          <p:cNvSpPr txBox="1"/>
          <p:nvPr/>
        </p:nvSpPr>
        <p:spPr>
          <a:xfrm>
            <a:off x="9469165" y="1868910"/>
            <a:ext cx="659760" cy="567377"/>
          </a:xfrm>
          <a:prstGeom prst="rect">
            <a:avLst/>
          </a:prstGeom>
          <a:noFill/>
        </p:spPr>
        <p:txBody>
          <a:bodyPr wrap="none" lIns="0" rIns="0" tIns="0" bIns="0">
            <a:spAutoFit/>
          </a:bodyPr>
          <a:lstStyle/>
          <a:p>
            <a:pPr>
              <a:lnSpc>
                <a:spcPct val="112000"/>
              </a:lnSpc>
              <a:spcBef>
                <a:spcPts val="0"/>
              </a:spcBef>
              <a:spcAft>
                <a:spcPts val="0"/>
              </a:spcAft>
              <a:defRPr sz="2271" b="0">
                <a:solidFill>
                  <a:srgbClr val="333333"/>
                </a:solidFill>
                <a:latin typeface="微软雅黑"/>
              </a:defRPr>
            </a:pPr>
            <a:r>
              <a:rPr>
                <a:ea typeface="微软雅黑"/>
              </a:rPr>
              <a:t>NH₃</a:t>
            </a:r>
          </a:p>
        </p:txBody>
      </p:sp>
      <p:sp>
        <p:nvSpPr>
          <p:cNvPr id="13" name="原题文字_347_45"/>
          <p:cNvSpPr txBox="1"/>
          <p:nvPr/>
        </p:nvSpPr>
        <p:spPr>
          <a:xfrm>
            <a:off x="1842879" y="1960793"/>
            <a:ext cx="675073"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盐酸</a:t>
            </a:r>
          </a:p>
        </p:txBody>
      </p:sp>
      <p:sp>
        <p:nvSpPr>
          <p:cNvPr id="14" name="原题文字_347_46"/>
          <p:cNvSpPr txBox="1"/>
          <p:nvPr/>
        </p:nvSpPr>
        <p:spPr>
          <a:xfrm>
            <a:off x="564175" y="2167529"/>
            <a:ext cx="1080890" cy="537515"/>
          </a:xfrm>
          <a:prstGeom prst="rect">
            <a:avLst/>
          </a:prstGeom>
          <a:noFill/>
        </p:spPr>
        <p:txBody>
          <a:bodyPr wrap="none" lIns="0" rIns="0" tIns="0" bIns="0">
            <a:spAutoFit/>
          </a:bodyPr>
          <a:lstStyle/>
          <a:p>
            <a:pPr>
              <a:lnSpc>
                <a:spcPct val="112000"/>
              </a:lnSpc>
              <a:spcBef>
                <a:spcPts val="0"/>
              </a:spcBef>
              <a:spcAft>
                <a:spcPts val="0"/>
              </a:spcAft>
              <a:defRPr sz="1809" b="0">
                <a:solidFill>
                  <a:srgbClr val="333333"/>
                </a:solidFill>
                <a:latin typeface="微软雅黑"/>
              </a:defRPr>
            </a:pPr>
            <a:r>
              <a:rPr>
                <a:ea typeface="微软雅黑"/>
              </a:rPr>
              <a:t>BaCu₃O₄</a:t>
            </a:r>
          </a:p>
        </p:txBody>
      </p:sp>
      <p:sp>
        <p:nvSpPr>
          <p:cNvPr id="15" name="原题文字_347_47"/>
          <p:cNvSpPr txBox="1"/>
          <p:nvPr/>
        </p:nvSpPr>
        <p:spPr>
          <a:xfrm>
            <a:off x="8818328" y="2136902"/>
            <a:ext cx="62913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CuO</a:t>
            </a:r>
          </a:p>
        </p:txBody>
      </p:sp>
      <p:sp>
        <p:nvSpPr>
          <p:cNvPr id="16" name="原题文字_347_48"/>
          <p:cNvSpPr txBox="1"/>
          <p:nvPr/>
        </p:nvSpPr>
        <p:spPr>
          <a:xfrm>
            <a:off x="10074061" y="2113931"/>
            <a:ext cx="460680" cy="517607"/>
          </a:xfrm>
          <a:prstGeom prst="rect">
            <a:avLst/>
          </a:prstGeom>
          <a:noFill/>
        </p:spPr>
        <p:txBody>
          <a:bodyPr wrap="none" lIns="0" rIns="0" tIns="0" bIns="0">
            <a:spAutoFit/>
          </a:bodyPr>
          <a:lstStyle/>
          <a:p>
            <a:pPr>
              <a:lnSpc>
                <a:spcPct val="112000"/>
              </a:lnSpc>
              <a:spcBef>
                <a:spcPts val="0"/>
              </a:spcBef>
              <a:spcAft>
                <a:spcPts val="0"/>
              </a:spcAft>
              <a:defRPr sz="1819" b="0">
                <a:solidFill>
                  <a:srgbClr val="333333"/>
                </a:solidFill>
                <a:latin typeface="微软雅黑"/>
              </a:defRPr>
            </a:pPr>
            <a:r>
              <a:rPr>
                <a:ea typeface="微软雅黑"/>
              </a:rPr>
              <a:t>-N₂</a:t>
            </a:r>
          </a:p>
        </p:txBody>
      </p:sp>
      <p:sp>
        <p:nvSpPr>
          <p:cNvPr id="17" name="原题文字_347_49"/>
          <p:cNvSpPr txBox="1"/>
          <p:nvPr/>
        </p:nvSpPr>
        <p:spPr>
          <a:xfrm>
            <a:off x="9407910" y="2236442"/>
            <a:ext cx="759300"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⑤△</a:t>
            </a:r>
          </a:p>
        </p:txBody>
      </p:sp>
      <p:sp>
        <p:nvSpPr>
          <p:cNvPr id="18" name="原题文字_347_50"/>
          <p:cNvSpPr txBox="1"/>
          <p:nvPr/>
        </p:nvSpPr>
        <p:spPr>
          <a:xfrm>
            <a:off x="2003675" y="2397237"/>
            <a:ext cx="384111"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①</a:t>
            </a:r>
          </a:p>
        </p:txBody>
      </p:sp>
      <p:sp>
        <p:nvSpPr>
          <p:cNvPr id="19" name="原题文字_347_51"/>
          <p:cNvSpPr txBox="1"/>
          <p:nvPr/>
        </p:nvSpPr>
        <p:spPr>
          <a:xfrm>
            <a:off x="4316062" y="2443178"/>
            <a:ext cx="1456079" cy="547469"/>
          </a:xfrm>
          <a:prstGeom prst="rect">
            <a:avLst/>
          </a:prstGeom>
          <a:noFill/>
        </p:spPr>
        <p:txBody>
          <a:bodyPr wrap="none" lIns="0" rIns="0" tIns="0" bIns="0">
            <a:spAutoFit/>
          </a:bodyPr>
          <a:lstStyle/>
          <a:p>
            <a:pPr>
              <a:lnSpc>
                <a:spcPct val="112000"/>
              </a:lnSpc>
              <a:spcBef>
                <a:spcPts val="0"/>
              </a:spcBef>
              <a:spcAft>
                <a:spcPts val="0"/>
              </a:spcAft>
              <a:defRPr sz="1831" b="0">
                <a:solidFill>
                  <a:srgbClr val="333333"/>
                </a:solidFill>
                <a:latin typeface="微软雅黑"/>
              </a:defRPr>
            </a:pPr>
            <a:r>
              <a:rPr>
                <a:ea typeface="微软雅黑"/>
              </a:rPr>
              <a:t>Na₂CO₃溶液</a:t>
            </a:r>
          </a:p>
        </p:txBody>
      </p:sp>
      <p:sp>
        <p:nvSpPr>
          <p:cNvPr id="20" name="原题文字_347_52"/>
          <p:cNvSpPr txBox="1"/>
          <p:nvPr/>
        </p:nvSpPr>
        <p:spPr>
          <a:xfrm>
            <a:off x="7761673" y="2481463"/>
            <a:ext cx="667417"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加热</a:t>
            </a:r>
          </a:p>
        </p:txBody>
      </p:sp>
      <p:sp>
        <p:nvSpPr>
          <p:cNvPr id="21" name="原题文字_347_53"/>
          <p:cNvSpPr txBox="1"/>
          <p:nvPr/>
        </p:nvSpPr>
        <p:spPr>
          <a:xfrm>
            <a:off x="8741758" y="2519747"/>
            <a:ext cx="698044" cy="656963"/>
          </a:xfrm>
          <a:prstGeom prst="rect">
            <a:avLst/>
          </a:prstGeom>
          <a:noFill/>
        </p:spPr>
        <p:txBody>
          <a:bodyPr wrap="none" lIns="0" rIns="0" tIns="0" bIns="0">
            <a:spAutoFit/>
          </a:bodyPr>
          <a:lstStyle/>
          <a:p>
            <a:pPr>
              <a:lnSpc>
                <a:spcPct val="112000"/>
              </a:lnSpc>
              <a:spcBef>
                <a:spcPts val="0"/>
              </a:spcBef>
              <a:spcAft>
                <a:spcPts val="0"/>
              </a:spcAft>
              <a:defRPr sz="2106" b="0">
                <a:solidFill>
                  <a:srgbClr val="333333"/>
                </a:solidFill>
                <a:latin typeface="微软雅黑"/>
              </a:defRPr>
            </a:pPr>
            <a:r>
              <a:rPr>
                <a:ea typeface="微软雅黑"/>
              </a:rPr>
              <a:t>-CO₂</a:t>
            </a:r>
          </a:p>
        </p:txBody>
      </p:sp>
      <p:sp>
        <p:nvSpPr>
          <p:cNvPr id="22" name="原题文字_347_54"/>
          <p:cNvSpPr txBox="1"/>
          <p:nvPr/>
        </p:nvSpPr>
        <p:spPr>
          <a:xfrm>
            <a:off x="2700454" y="2657572"/>
            <a:ext cx="1486706" cy="527561"/>
          </a:xfrm>
          <a:prstGeom prst="rect">
            <a:avLst/>
          </a:prstGeom>
          <a:noFill/>
        </p:spPr>
        <p:txBody>
          <a:bodyPr wrap="none" lIns="0" rIns="0" tIns="0" bIns="0">
            <a:spAutoFit/>
          </a:bodyPr>
          <a:lstStyle/>
          <a:p>
            <a:pPr>
              <a:lnSpc>
                <a:spcPct val="112000"/>
              </a:lnSpc>
              <a:spcBef>
                <a:spcPts val="0"/>
              </a:spcBef>
              <a:spcAft>
                <a:spcPts val="0"/>
              </a:spcAft>
              <a:defRPr sz="2072" b="0">
                <a:solidFill>
                  <a:srgbClr val="333333"/>
                </a:solidFill>
                <a:latin typeface="微软雅黑"/>
              </a:defRPr>
            </a:pPr>
            <a:r>
              <a:rPr>
                <a:ea typeface="微软雅黑"/>
              </a:rPr>
              <a:t>CuCl₁₂溶液</a:t>
            </a:r>
          </a:p>
        </p:txBody>
      </p:sp>
      <p:sp>
        <p:nvSpPr>
          <p:cNvPr id="23" name="原题文字_347_55"/>
          <p:cNvSpPr txBox="1"/>
          <p:nvPr/>
        </p:nvSpPr>
        <p:spPr>
          <a:xfrm>
            <a:off x="5901044" y="2649915"/>
            <a:ext cx="1494363" cy="467837"/>
          </a:xfrm>
          <a:prstGeom prst="rect">
            <a:avLst/>
          </a:prstGeom>
          <a:noFill/>
        </p:spPr>
        <p:txBody>
          <a:bodyPr wrap="none" lIns="0" rIns="0" tIns="0" bIns="0">
            <a:spAutoFit/>
          </a:bodyPr>
          <a:lstStyle/>
          <a:p>
            <a:pPr>
              <a:lnSpc>
                <a:spcPct val="112000"/>
              </a:lnSpc>
              <a:spcBef>
                <a:spcPts val="0"/>
              </a:spcBef>
              <a:spcAft>
                <a:spcPts val="0"/>
              </a:spcAft>
              <a:defRPr sz="1657" b="0">
                <a:solidFill>
                  <a:srgbClr val="333333"/>
                </a:solidFill>
                <a:latin typeface="微软雅黑"/>
              </a:defRPr>
            </a:pPr>
            <a:r>
              <a:rPr>
                <a:ea typeface="微软雅黑"/>
              </a:rPr>
              <a:t>Cu₂(OH)₂CO₃</a:t>
            </a:r>
          </a:p>
        </p:txBody>
      </p:sp>
      <p:sp>
        <p:nvSpPr>
          <p:cNvPr id="24" name="原题文字_347_56"/>
          <p:cNvSpPr txBox="1"/>
          <p:nvPr/>
        </p:nvSpPr>
        <p:spPr>
          <a:xfrm>
            <a:off x="4875017" y="2925564"/>
            <a:ext cx="36114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③</a:t>
            </a:r>
          </a:p>
        </p:txBody>
      </p:sp>
      <p:sp>
        <p:nvSpPr>
          <p:cNvPr id="25" name="原题文字_347_57"/>
          <p:cNvSpPr txBox="1"/>
          <p:nvPr/>
        </p:nvSpPr>
        <p:spPr>
          <a:xfrm>
            <a:off x="7930126" y="2871965"/>
            <a:ext cx="37645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④</a:t>
            </a:r>
          </a:p>
        </p:txBody>
      </p:sp>
      <p:sp>
        <p:nvSpPr>
          <p:cNvPr id="26" name="原题文字_347_58"/>
          <p:cNvSpPr txBox="1"/>
          <p:nvPr/>
        </p:nvSpPr>
        <p:spPr>
          <a:xfrm>
            <a:off x="8780043" y="3155271"/>
            <a:ext cx="621475" cy="477791"/>
          </a:xfrm>
          <a:prstGeom prst="rect">
            <a:avLst/>
          </a:prstGeom>
          <a:noFill/>
        </p:spPr>
        <p:txBody>
          <a:bodyPr wrap="none" lIns="0" rIns="0" tIns="0" bIns="0">
            <a:spAutoFit/>
          </a:bodyPr>
          <a:lstStyle/>
          <a:p>
            <a:pPr>
              <a:lnSpc>
                <a:spcPct val="112000"/>
              </a:lnSpc>
              <a:spcBef>
                <a:spcPts val="0"/>
              </a:spcBef>
              <a:spcAft>
                <a:spcPts val="0"/>
              </a:spcAft>
              <a:defRPr sz="1786" b="0">
                <a:solidFill>
                  <a:srgbClr val="333333"/>
                </a:solidFill>
                <a:latin typeface="微软雅黑"/>
              </a:defRPr>
            </a:pPr>
            <a:r>
              <a:rPr>
                <a:ea typeface="微软雅黑"/>
              </a:rPr>
              <a:t>-H₂O</a:t>
            </a:r>
          </a:p>
        </p:txBody>
      </p:sp>
      <p:sp>
        <p:nvSpPr>
          <p:cNvPr id="27" name="原题文字_347_59"/>
          <p:cNvSpPr txBox="1"/>
          <p:nvPr/>
        </p:nvSpPr>
        <p:spPr>
          <a:xfrm>
            <a:off x="587146" y="3499832"/>
            <a:ext cx="8829686" cy="398159"/>
          </a:xfrm>
          <a:prstGeom prst="rect">
            <a:avLst/>
          </a:prstGeom>
          <a:noFill/>
        </p:spPr>
        <p:txBody>
          <a:bodyPr wrap="none" lIns="0" rIns="0" tIns="0" bIns="0">
            <a:spAutoFit/>
          </a:bodyPr>
          <a:lstStyle/>
          <a:p>
            <a:pPr>
              <a:lnSpc>
                <a:spcPct val="112000"/>
              </a:lnSpc>
              <a:spcBef>
                <a:spcPts val="0"/>
              </a:spcBef>
              <a:spcAft>
                <a:spcPts val="0"/>
              </a:spcAft>
              <a:defRPr sz="1645" b="0">
                <a:solidFill>
                  <a:srgbClr val="333333"/>
                </a:solidFill>
                <a:latin typeface="微软雅黑"/>
              </a:defRPr>
            </a:pPr>
            <a:r>
              <a:rPr>
                <a:ea typeface="微软雅黑"/>
              </a:rPr>
              <a:t>已知：1.Cu₂(OH)₂CO₃难溶于水，可溶于酸；2.NH₃中N元素的化合价为-3价。回答下列问题：</a:t>
            </a:r>
          </a:p>
        </p:txBody>
      </p:sp>
      <p:sp>
        <p:nvSpPr>
          <p:cNvPr id="28" name="文字_(1)上图中白色沉淀的化学式为"/>
          <p:cNvSpPr txBox="1"/>
          <p:nvPr/>
        </p:nvSpPr>
        <p:spPr>
          <a:xfrm>
            <a:off x="502920" y="392394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(1)上图中白色沉淀的化学式为</a:t>
            </a:r>
          </a:p>
        </p:txBody>
      </p:sp>
      <p:sp>
        <p:nvSpPr>
          <p:cNvPr id="29" name="文字_(2)写出Cu₂(OH)₂CO₃与足量盐酸反应的"/>
          <p:cNvSpPr txBox="1"/>
          <p:nvPr/>
        </p:nvSpPr>
        <p:spPr>
          <a:xfrm>
            <a:off x="502920" y="436285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(2)写出Cu₂(OH)₂CO₃与足量盐酸反应的离子方程式 ______ O</a:t>
            </a:r>
          </a:p>
        </p:txBody>
      </p:sp>
      <p:sp>
        <p:nvSpPr>
          <p:cNvPr id="30" name="文字_(3)写出反应⑤的化学方程式 ______ o"/>
          <p:cNvSpPr txBox="1"/>
          <p:nvPr/>
        </p:nvSpPr>
        <p:spPr>
          <a:xfrm>
            <a:off x="502920" y="480177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(3)写出反应⑤的化学方程式 ______ o</a:t>
            </a:r>
          </a:p>
        </p:txBody>
      </p:sp>
      <p:sp>
        <p:nvSpPr>
          <p:cNvPr id="31" name="文字_(4)设计实验，检验Cu₂(OH)₂CO₃加热分"/>
          <p:cNvSpPr txBox="1"/>
          <p:nvPr/>
        </p:nvSpPr>
        <p:spPr>
          <a:xfrm>
            <a:off x="502920" y="524068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(4)设计实验，检验Cu₂(OH)₂CO₃加热分解产生的尾气</a:t>
            </a:r>
          </a:p>
        </p:txBody>
      </p:sp>
      <p:sp>
        <p:nvSpPr>
          <p:cNvPr id="32" name="文字_解答题  ·  16-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16-030</a:t>
            </a:r>
          </a:p>
        </p:txBody>
      </p:sp>
      <p:sp>
        <p:nvSpPr>
          <p:cNvPr id="33"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变式7</a:t>
            </a:r>
          </a:p>
        </p:txBody>
      </p:sp>
      <p:sp>
        <p:nvSpPr>
          <p:cNvPr id="5" name="文字_P347–34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P347–348</a:t>
            </a:r>
          </a:p>
        </p:txBody>
      </p:sp>
      <p:sp>
        <p:nvSpPr>
          <p:cNvPr id="6" name="文字_已知X是一种黄绿色气体，X、Y、z都是有刺激性气"/>
          <p:cNvSpPr txBox="1"/>
          <p:nvPr/>
        </p:nvSpPr>
        <p:spPr>
          <a:xfrm>
            <a:off x="502920" y="1078992"/>
            <a:ext cx="11064240" cy="61791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已知X是一种黄绿色气体，X、Y、z都是有刺激性气味的气体，M是人类使用最多的一种金属单质，D是一</a:t>
            </a:r>
          </a:p>
          <a:p>
            <a:pPr>
              <a:lnSpc>
                <a:spcPct val="112000"/>
              </a:lnSpc>
              <a:spcBef>
                <a:spcPts val="0"/>
              </a:spcBef>
              <a:spcAft>
                <a:spcPts val="0"/>
              </a:spcAft>
              <a:defRPr sz="1850" b="0">
                <a:solidFill>
                  <a:srgbClr val="333333"/>
                </a:solidFill>
                <a:latin typeface="微软雅黑"/>
              </a:defRPr>
            </a:pPr>
            <a:r>
              <a:rPr>
                <a:ea typeface="微软雅黑"/>
              </a:rPr>
              <a:t>种盐，受热易分解。现有以下转化关系，部分产物未标出。</a:t>
            </a:r>
          </a:p>
        </p:txBody>
      </p:sp>
      <p:pic>
        <p:nvPicPr>
          <p:cNvPr id="7" name="Picture 6" descr="image.png"/>
          <p:cNvPicPr>
            <a:picLocks noChangeAspect="1"/>
          </p:cNvPicPr>
          <p:nvPr/>
        </p:nvPicPr>
        <p:blipFill>
          <a:blip r:embed="rId3"/>
          <a:stretch>
            <a:fillRect/>
          </a:stretch>
        </p:blipFill>
        <p:spPr>
          <a:xfrm>
            <a:off x="502920" y="1696910"/>
            <a:ext cx="11064240" cy="2840714"/>
          </a:xfrm>
          <a:prstGeom prst="rect">
            <a:avLst/>
          </a:prstGeom>
        </p:spPr>
      </p:pic>
      <p:sp>
        <p:nvSpPr>
          <p:cNvPr id="8" name="原题文字_348_0"/>
          <p:cNvSpPr txBox="1"/>
          <p:nvPr/>
        </p:nvSpPr>
        <p:spPr>
          <a:xfrm>
            <a:off x="3642254" y="1790049"/>
            <a:ext cx="996664"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C的溶液</a:t>
            </a:r>
          </a:p>
        </p:txBody>
      </p:sp>
      <p:sp>
        <p:nvSpPr>
          <p:cNvPr id="9" name="原题文字_348_1"/>
          <p:cNvSpPr txBox="1"/>
          <p:nvPr/>
        </p:nvSpPr>
        <p:spPr>
          <a:xfrm>
            <a:off x="5005185" y="2019756"/>
            <a:ext cx="1272313"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红褐色沉淀</a:t>
            </a:r>
          </a:p>
        </p:txBody>
      </p:sp>
      <p:sp>
        <p:nvSpPr>
          <p:cNvPr id="10" name="原题文字_348_2"/>
          <p:cNvSpPr txBox="1"/>
          <p:nvPr/>
        </p:nvSpPr>
        <p:spPr>
          <a:xfrm>
            <a:off x="3182839" y="2103983"/>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Z</a:t>
            </a:r>
          </a:p>
        </p:txBody>
      </p:sp>
      <p:sp>
        <p:nvSpPr>
          <p:cNvPr id="11" name="原题文字_348_3"/>
          <p:cNvSpPr txBox="1"/>
          <p:nvPr/>
        </p:nvSpPr>
        <p:spPr>
          <a:xfrm>
            <a:off x="4025100" y="2280092"/>
            <a:ext cx="30754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③</a:t>
            </a:r>
          </a:p>
        </p:txBody>
      </p:sp>
      <p:sp>
        <p:nvSpPr>
          <p:cNvPr id="12" name="原题文字_348_4"/>
          <p:cNvSpPr txBox="1"/>
          <p:nvPr/>
        </p:nvSpPr>
        <p:spPr>
          <a:xfrm>
            <a:off x="1950076" y="2502142"/>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3" name="原题文字_348_5"/>
          <p:cNvSpPr txBox="1"/>
          <p:nvPr/>
        </p:nvSpPr>
        <p:spPr>
          <a:xfrm>
            <a:off x="5227235" y="2578711"/>
            <a:ext cx="766956" cy="418067"/>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AgNO₃</a:t>
            </a:r>
          </a:p>
        </p:txBody>
      </p:sp>
      <p:sp>
        <p:nvSpPr>
          <p:cNvPr id="14" name="原题文字_348_6"/>
          <p:cNvSpPr txBox="1"/>
          <p:nvPr/>
        </p:nvSpPr>
        <p:spPr>
          <a:xfrm>
            <a:off x="3144555" y="2823732"/>
            <a:ext cx="33816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15" name="原题文字_348_7"/>
          <p:cNvSpPr txBox="1"/>
          <p:nvPr/>
        </p:nvSpPr>
        <p:spPr>
          <a:xfrm>
            <a:off x="4737193" y="2800762"/>
            <a:ext cx="29988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6" name="原题文字_348_8"/>
          <p:cNvSpPr txBox="1"/>
          <p:nvPr/>
        </p:nvSpPr>
        <p:spPr>
          <a:xfrm>
            <a:off x="5832131" y="2747163"/>
            <a:ext cx="200345"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3</a:t>
            </a:r>
          </a:p>
        </p:txBody>
      </p:sp>
      <p:sp>
        <p:nvSpPr>
          <p:cNvPr id="17" name="原题文字_348_9"/>
          <p:cNvSpPr txBox="1"/>
          <p:nvPr/>
        </p:nvSpPr>
        <p:spPr>
          <a:xfrm>
            <a:off x="6299203" y="2770134"/>
            <a:ext cx="1034948"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白色沉淀</a:t>
            </a:r>
          </a:p>
        </p:txBody>
      </p:sp>
      <p:sp>
        <p:nvSpPr>
          <p:cNvPr id="18" name="原题文字_348_10"/>
          <p:cNvSpPr txBox="1"/>
          <p:nvPr/>
        </p:nvSpPr>
        <p:spPr>
          <a:xfrm>
            <a:off x="1192042" y="3076411"/>
            <a:ext cx="560220"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H₂O</a:t>
            </a:r>
          </a:p>
        </p:txBody>
      </p:sp>
      <p:sp>
        <p:nvSpPr>
          <p:cNvPr id="19" name="原题文字_348_11"/>
          <p:cNvSpPr txBox="1"/>
          <p:nvPr/>
        </p:nvSpPr>
        <p:spPr>
          <a:xfrm>
            <a:off x="1950076" y="2984528"/>
            <a:ext cx="2769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a:t>
            </a:r>
          </a:p>
        </p:txBody>
      </p:sp>
      <p:sp>
        <p:nvSpPr>
          <p:cNvPr id="20" name="原题文字_348_12"/>
          <p:cNvSpPr txBox="1"/>
          <p:nvPr/>
        </p:nvSpPr>
        <p:spPr>
          <a:xfrm>
            <a:off x="2524345" y="3022812"/>
            <a:ext cx="34582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M</a:t>
            </a:r>
          </a:p>
        </p:txBody>
      </p:sp>
      <p:sp>
        <p:nvSpPr>
          <p:cNvPr id="21" name="原题文字_348_13"/>
          <p:cNvSpPr txBox="1"/>
          <p:nvPr/>
        </p:nvSpPr>
        <p:spPr>
          <a:xfrm>
            <a:off x="3718823" y="3061097"/>
            <a:ext cx="621475" cy="537515"/>
          </a:xfrm>
          <a:prstGeom prst="rect">
            <a:avLst/>
          </a:prstGeom>
          <a:noFill/>
        </p:spPr>
        <p:txBody>
          <a:bodyPr wrap="none" lIns="0" rIns="0" tIns="0" bIns="0">
            <a:spAutoFit/>
          </a:bodyPr>
          <a:lstStyle/>
          <a:p>
            <a:pPr>
              <a:lnSpc>
                <a:spcPct val="112000"/>
              </a:lnSpc>
              <a:spcBef>
                <a:spcPts val="0"/>
              </a:spcBef>
              <a:spcAft>
                <a:spcPts val="0"/>
              </a:spcAft>
              <a:defRPr sz="2128" b="0">
                <a:solidFill>
                  <a:srgbClr val="333333"/>
                </a:solidFill>
                <a:latin typeface="微软雅黑"/>
              </a:defRPr>
            </a:pPr>
            <a:r>
              <a:rPr>
                <a:ea typeface="微软雅黑"/>
              </a:rPr>
              <a:t>H₂O</a:t>
            </a:r>
          </a:p>
        </p:txBody>
      </p:sp>
      <p:sp>
        <p:nvSpPr>
          <p:cNvPr id="22" name="原题文字_348_14"/>
          <p:cNvSpPr txBox="1"/>
          <p:nvPr/>
        </p:nvSpPr>
        <p:spPr>
          <a:xfrm>
            <a:off x="5426315" y="2969214"/>
            <a:ext cx="613818"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硝酸</a:t>
            </a:r>
          </a:p>
        </p:txBody>
      </p:sp>
      <p:sp>
        <p:nvSpPr>
          <p:cNvPr id="23" name="原题文字_348_15"/>
          <p:cNvSpPr txBox="1"/>
          <p:nvPr/>
        </p:nvSpPr>
        <p:spPr>
          <a:xfrm>
            <a:off x="694342" y="3298461"/>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24" name="原题文字_348_16"/>
          <p:cNvSpPr txBox="1"/>
          <p:nvPr/>
        </p:nvSpPr>
        <p:spPr>
          <a:xfrm>
            <a:off x="1314552" y="3466913"/>
            <a:ext cx="33816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②</a:t>
            </a:r>
          </a:p>
        </p:txBody>
      </p:sp>
      <p:sp>
        <p:nvSpPr>
          <p:cNvPr id="25" name="原题文字_348_17"/>
          <p:cNvSpPr txBox="1"/>
          <p:nvPr/>
        </p:nvSpPr>
        <p:spPr>
          <a:xfrm>
            <a:off x="3887275" y="3474570"/>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①</a:t>
            </a:r>
          </a:p>
        </p:txBody>
      </p:sp>
      <p:sp>
        <p:nvSpPr>
          <p:cNvPr id="26" name="原题文字_348_18"/>
          <p:cNvSpPr txBox="1"/>
          <p:nvPr/>
        </p:nvSpPr>
        <p:spPr>
          <a:xfrm>
            <a:off x="5257863" y="3482227"/>
            <a:ext cx="675073" cy="408113"/>
          </a:xfrm>
          <a:prstGeom prst="rect">
            <a:avLst/>
          </a:prstGeom>
          <a:noFill/>
        </p:spPr>
        <p:txBody>
          <a:bodyPr wrap="none" lIns="0" rIns="0" tIns="0" bIns="0">
            <a:spAutoFit/>
          </a:bodyPr>
          <a:lstStyle/>
          <a:p>
            <a:pPr>
              <a:lnSpc>
                <a:spcPct val="112000"/>
              </a:lnSpc>
              <a:spcBef>
                <a:spcPts val="0"/>
              </a:spcBef>
              <a:spcAft>
                <a:spcPts val="0"/>
              </a:spcAft>
              <a:defRPr sz="1902" b="0">
                <a:solidFill>
                  <a:srgbClr val="333333"/>
                </a:solidFill>
                <a:latin typeface="微软雅黑"/>
              </a:defRPr>
            </a:pPr>
            <a:r>
              <a:rPr>
                <a:ea typeface="微软雅黑"/>
              </a:rPr>
              <a:t>BaCl₂</a:t>
            </a:r>
          </a:p>
        </p:txBody>
      </p:sp>
      <p:sp>
        <p:nvSpPr>
          <p:cNvPr id="27" name="原题文字_348_19"/>
          <p:cNvSpPr txBox="1"/>
          <p:nvPr/>
        </p:nvSpPr>
        <p:spPr>
          <a:xfrm>
            <a:off x="4737193" y="3734905"/>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a:t>
            </a:r>
          </a:p>
        </p:txBody>
      </p:sp>
      <p:sp>
        <p:nvSpPr>
          <p:cNvPr id="28" name="原题文字_348_20"/>
          <p:cNvSpPr txBox="1"/>
          <p:nvPr/>
        </p:nvSpPr>
        <p:spPr>
          <a:xfrm>
            <a:off x="6283889" y="3673650"/>
            <a:ext cx="1050262" cy="437975"/>
          </a:xfrm>
          <a:prstGeom prst="rect">
            <a:avLst/>
          </a:prstGeom>
          <a:noFill/>
        </p:spPr>
        <p:txBody>
          <a:bodyPr wrap="none" lIns="0" rIns="0" tIns="0" bIns="0">
            <a:spAutoFit/>
          </a:bodyPr>
          <a:lstStyle/>
          <a:p>
            <a:pPr>
              <a:lnSpc>
                <a:spcPct val="112000"/>
              </a:lnSpc>
              <a:spcBef>
                <a:spcPts val="0"/>
              </a:spcBef>
              <a:spcAft>
                <a:spcPts val="0"/>
              </a:spcAft>
              <a:defRPr sz="2071" b="0">
                <a:solidFill>
                  <a:srgbClr val="333333"/>
                </a:solidFill>
                <a:latin typeface="微软雅黑"/>
              </a:defRPr>
            </a:pPr>
            <a:r>
              <a:rPr>
                <a:ea typeface="微软雅黑"/>
              </a:rPr>
              <a:t>白色沉淀</a:t>
            </a:r>
          </a:p>
        </p:txBody>
      </p:sp>
      <p:sp>
        <p:nvSpPr>
          <p:cNvPr id="29" name="原题文字_348_21"/>
          <p:cNvSpPr txBox="1"/>
          <p:nvPr/>
        </p:nvSpPr>
        <p:spPr>
          <a:xfrm>
            <a:off x="3175182" y="3842102"/>
            <a:ext cx="29222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Y</a:t>
            </a:r>
          </a:p>
        </p:txBody>
      </p:sp>
      <p:sp>
        <p:nvSpPr>
          <p:cNvPr id="30" name="原题文字_348_22"/>
          <p:cNvSpPr txBox="1"/>
          <p:nvPr/>
        </p:nvSpPr>
        <p:spPr>
          <a:xfrm>
            <a:off x="5319118" y="3880386"/>
            <a:ext cx="62147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盐酸</a:t>
            </a:r>
          </a:p>
        </p:txBody>
      </p:sp>
      <p:sp>
        <p:nvSpPr>
          <p:cNvPr id="31" name="原题文字_348_23"/>
          <p:cNvSpPr txBox="1"/>
          <p:nvPr/>
        </p:nvSpPr>
        <p:spPr>
          <a:xfrm>
            <a:off x="571832" y="4224948"/>
            <a:ext cx="170110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试回答下列问题：</a:t>
            </a:r>
          </a:p>
        </p:txBody>
      </p:sp>
      <p:sp>
        <p:nvSpPr>
          <p:cNvPr id="32" name="文字_(1)写出下列物质的化学式：x ______ 、"/>
          <p:cNvSpPr txBox="1"/>
          <p:nvPr/>
        </p:nvSpPr>
        <p:spPr>
          <a:xfrm>
            <a:off x="502920" y="4610777"/>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(1)写出下列物质的化学式：x ______ 、M ______ D</a:t>
            </a:r>
          </a:p>
        </p:txBody>
      </p:sp>
      <p:sp>
        <p:nvSpPr>
          <p:cNvPr id="33" name="文字_(2)写出下列反应的离子方程式。"/>
          <p:cNvSpPr txBox="1"/>
          <p:nvPr/>
        </p:nvSpPr>
        <p:spPr>
          <a:xfrm>
            <a:off x="502920" y="4949105"/>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(2)写出下列反应的离子方程式。</a:t>
            </a:r>
          </a:p>
        </p:txBody>
      </p:sp>
      <p:sp>
        <p:nvSpPr>
          <p:cNvPr id="34" name="文字_①C + Y---B: ______ O"/>
          <p:cNvSpPr txBox="1"/>
          <p:nvPr/>
        </p:nvSpPr>
        <p:spPr>
          <a:xfrm>
            <a:off x="502920" y="5287433"/>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①C + Y---B: ______ O</a:t>
            </a:r>
          </a:p>
        </p:txBody>
      </p:sp>
      <p:sp>
        <p:nvSpPr>
          <p:cNvPr id="35" name="文字_②Z + C---红褐色沉淀： ______ O"/>
          <p:cNvSpPr txBox="1"/>
          <p:nvPr/>
        </p:nvSpPr>
        <p:spPr>
          <a:xfrm>
            <a:off x="502920" y="5625761"/>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②Z + C---红褐色沉淀： ______ O</a:t>
            </a:r>
          </a:p>
        </p:txBody>
      </p:sp>
      <p:sp>
        <p:nvSpPr>
          <p:cNvPr id="36" name="文字_(3)请设计实验检验固体产物D:"/>
          <p:cNvSpPr txBox="1"/>
          <p:nvPr/>
        </p:nvSpPr>
        <p:spPr>
          <a:xfrm>
            <a:off x="502920" y="5964089"/>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(3)请设计实验检验固体产物D:</a:t>
            </a:r>
          </a:p>
        </p:txBody>
      </p:sp>
      <p:sp>
        <p:nvSpPr>
          <p:cNvPr id="37" name="文字_推断题  ·  16-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16-031</a:t>
            </a:r>
          </a:p>
        </p:txBody>
      </p:sp>
      <p:sp>
        <p:nvSpPr>
          <p:cNvPr id="38"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无机推断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无机推断 · 变式8</a:t>
            </a:r>
          </a:p>
        </p:txBody>
      </p:sp>
      <p:sp>
        <p:nvSpPr>
          <p:cNvPr id="5" name="文字_P34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P348</a:t>
            </a:r>
          </a:p>
        </p:txBody>
      </p:sp>
      <p:sp>
        <p:nvSpPr>
          <p:cNvPr id="6" name="文字_物质A～G是中学化学中常见的物质，这些物质有如图"/>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物质A～G是中学化学中常见的物质，这些物质有如图所示的转化关系(部分反应物</a:t>
            </a:r>
          </a:p>
          <a:p>
            <a:pPr>
              <a:lnSpc>
                <a:spcPct val="112000"/>
              </a:lnSpc>
              <a:spcBef>
                <a:spcPts val="0"/>
              </a:spcBef>
              <a:spcAft>
                <a:spcPts val="0"/>
              </a:spcAft>
              <a:defRPr sz="2400" b="0">
                <a:solidFill>
                  <a:srgbClr val="333333"/>
                </a:solidFill>
                <a:latin typeface="微软雅黑"/>
              </a:defRPr>
            </a:pPr>
            <a:r>
              <a:rPr>
                <a:ea typeface="微软雅黑"/>
              </a:rPr>
              <a:t>、生成物没有列出)。其中A、</a:t>
            </a:r>
          </a:p>
        </p:txBody>
      </p:sp>
      <p:pic>
        <p:nvPicPr>
          <p:cNvPr id="7" name="Picture 6" descr="image.png"/>
          <p:cNvPicPr>
            <a:picLocks noChangeAspect="1"/>
          </p:cNvPicPr>
          <p:nvPr/>
        </p:nvPicPr>
        <p:blipFill>
          <a:blip r:embed="rId3"/>
          <a:stretch>
            <a:fillRect/>
          </a:stretch>
        </p:blipFill>
        <p:spPr>
          <a:xfrm>
            <a:off x="502920" y="1880616"/>
            <a:ext cx="11064240" cy="2327701"/>
          </a:xfrm>
          <a:prstGeom prst="rect">
            <a:avLst/>
          </a:prstGeom>
        </p:spPr>
      </p:pic>
      <p:sp>
        <p:nvSpPr>
          <p:cNvPr id="8" name="原题文字_348_40"/>
          <p:cNvSpPr txBox="1"/>
          <p:nvPr/>
        </p:nvSpPr>
        <p:spPr>
          <a:xfrm>
            <a:off x="564175" y="1912499"/>
            <a:ext cx="89139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B、F含有一种相同的元素，C、D、G含有一种相同的元素，F具有磁性，G为黑色非金属单质。</a:t>
            </a:r>
          </a:p>
        </p:txBody>
      </p:sp>
      <p:sp>
        <p:nvSpPr>
          <p:cNvPr id="9" name="原题文字_348_41"/>
          <p:cNvSpPr txBox="1"/>
          <p:nvPr/>
        </p:nvSpPr>
        <p:spPr>
          <a:xfrm>
            <a:off x="701999" y="2310659"/>
            <a:ext cx="261600"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A</a:t>
            </a:r>
          </a:p>
        </p:txBody>
      </p:sp>
      <p:sp>
        <p:nvSpPr>
          <p:cNvPr id="10" name="原题文字_348_42"/>
          <p:cNvSpPr txBox="1"/>
          <p:nvPr/>
        </p:nvSpPr>
        <p:spPr>
          <a:xfrm>
            <a:off x="2417148" y="2295345"/>
            <a:ext cx="246286"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B</a:t>
            </a:r>
          </a:p>
        </p:txBody>
      </p:sp>
      <p:sp>
        <p:nvSpPr>
          <p:cNvPr id="11" name="原题文字_348_43"/>
          <p:cNvSpPr txBox="1"/>
          <p:nvPr/>
        </p:nvSpPr>
        <p:spPr>
          <a:xfrm>
            <a:off x="3090956" y="2387228"/>
            <a:ext cx="2769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②</a:t>
            </a:r>
          </a:p>
        </p:txBody>
      </p:sp>
      <p:sp>
        <p:nvSpPr>
          <p:cNvPr id="12" name="原题文字_348_44"/>
          <p:cNvSpPr txBox="1"/>
          <p:nvPr/>
        </p:nvSpPr>
        <p:spPr>
          <a:xfrm>
            <a:off x="3711166" y="2517395"/>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F</a:t>
            </a:r>
          </a:p>
        </p:txBody>
      </p:sp>
      <p:sp>
        <p:nvSpPr>
          <p:cNvPr id="13" name="原题文字_348_45"/>
          <p:cNvSpPr txBox="1"/>
          <p:nvPr/>
        </p:nvSpPr>
        <p:spPr>
          <a:xfrm>
            <a:off x="1368151" y="2770074"/>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①</a:t>
            </a:r>
          </a:p>
        </p:txBody>
      </p:sp>
      <p:sp>
        <p:nvSpPr>
          <p:cNvPr id="14" name="原题文字_348_46"/>
          <p:cNvSpPr txBox="1"/>
          <p:nvPr/>
        </p:nvSpPr>
        <p:spPr>
          <a:xfrm>
            <a:off x="2417148" y="2762417"/>
            <a:ext cx="246286"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E</a:t>
            </a:r>
          </a:p>
        </p:txBody>
      </p:sp>
      <p:sp>
        <p:nvSpPr>
          <p:cNvPr id="15" name="原题文字_348_47"/>
          <p:cNvSpPr txBox="1"/>
          <p:nvPr/>
        </p:nvSpPr>
        <p:spPr>
          <a:xfrm>
            <a:off x="2532002" y="3145262"/>
            <a:ext cx="208002"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G</a:t>
            </a:r>
          </a:p>
        </p:txBody>
      </p:sp>
      <p:sp>
        <p:nvSpPr>
          <p:cNvPr id="16" name="原题文字_348_48"/>
          <p:cNvSpPr txBox="1"/>
          <p:nvPr/>
        </p:nvSpPr>
        <p:spPr>
          <a:xfrm>
            <a:off x="2914847" y="3390284"/>
            <a:ext cx="41473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Mg</a:t>
            </a:r>
          </a:p>
        </p:txBody>
      </p:sp>
      <p:sp>
        <p:nvSpPr>
          <p:cNvPr id="17" name="原题文字_348_49"/>
          <p:cNvSpPr txBox="1"/>
          <p:nvPr/>
        </p:nvSpPr>
        <p:spPr>
          <a:xfrm>
            <a:off x="717313" y="3535765"/>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a:t>
            </a:r>
          </a:p>
        </p:txBody>
      </p:sp>
      <p:sp>
        <p:nvSpPr>
          <p:cNvPr id="18" name="原题文字_348_50"/>
          <p:cNvSpPr txBox="1"/>
          <p:nvPr/>
        </p:nvSpPr>
        <p:spPr>
          <a:xfrm>
            <a:off x="2409491" y="3535765"/>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9" name="原题文字_348_51"/>
          <p:cNvSpPr txBox="1"/>
          <p:nvPr/>
        </p:nvSpPr>
        <p:spPr>
          <a:xfrm>
            <a:off x="3711166" y="3520451"/>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G</a:t>
            </a:r>
          </a:p>
        </p:txBody>
      </p:sp>
      <p:sp>
        <p:nvSpPr>
          <p:cNvPr id="20" name="原题文字_348_52"/>
          <p:cNvSpPr txBox="1"/>
          <p:nvPr/>
        </p:nvSpPr>
        <p:spPr>
          <a:xfrm>
            <a:off x="2983759" y="3650619"/>
            <a:ext cx="2922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③</a:t>
            </a:r>
          </a:p>
        </p:txBody>
      </p:sp>
      <p:sp>
        <p:nvSpPr>
          <p:cNvPr id="21" name="原题文字_348_53"/>
          <p:cNvSpPr txBox="1"/>
          <p:nvPr/>
        </p:nvSpPr>
        <p:spPr>
          <a:xfrm>
            <a:off x="587146" y="3865012"/>
            <a:ext cx="10659689" cy="388205"/>
          </a:xfrm>
          <a:prstGeom prst="rect">
            <a:avLst/>
          </a:prstGeom>
          <a:noFill/>
        </p:spPr>
        <p:txBody>
          <a:bodyPr wrap="none" lIns="0" rIns="0" tIns="0" bIns="0">
            <a:spAutoFit/>
          </a:bodyPr>
          <a:lstStyle/>
          <a:p>
            <a:pPr>
              <a:lnSpc>
                <a:spcPct val="112000"/>
              </a:lnSpc>
              <a:spcBef>
                <a:spcPts val="0"/>
              </a:spcBef>
              <a:spcAft>
                <a:spcPts val="0"/>
              </a:spcAft>
              <a:defRPr sz="1728" b="0">
                <a:solidFill>
                  <a:srgbClr val="333333"/>
                </a:solidFill>
                <a:latin typeface="微软雅黑"/>
              </a:defRPr>
            </a:pPr>
            <a:r>
              <a:rPr>
                <a:ea typeface="微软雅黑"/>
              </a:rPr>
              <a:t>(1)物质A溶解于盐酸，然后加入KSCN溶液，溶液不变色，再滴加几滴氯水，溶液变为血红色，由此推知A的化学</a:t>
            </a:r>
          </a:p>
        </p:txBody>
      </p:sp>
      <p:sp>
        <p:nvSpPr>
          <p:cNvPr id="22" name="文字_式为 ______ o"/>
          <p:cNvSpPr txBox="1"/>
          <p:nvPr/>
        </p:nvSpPr>
        <p:spPr>
          <a:xfrm>
            <a:off x="502920" y="428146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式为 ______ o</a:t>
            </a:r>
          </a:p>
        </p:txBody>
      </p:sp>
      <p:sp>
        <p:nvSpPr>
          <p:cNvPr id="23" name="文字_(2)反应③的化学方程式是"/>
          <p:cNvSpPr txBox="1"/>
          <p:nvPr/>
        </p:nvSpPr>
        <p:spPr>
          <a:xfrm>
            <a:off x="502920" y="472038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(2)反应③的化学方程式是</a:t>
            </a:r>
          </a:p>
        </p:txBody>
      </p:sp>
      <p:sp>
        <p:nvSpPr>
          <p:cNvPr id="24" name="文字_(3)写出下列物质的化学式：E ______ 、"/>
          <p:cNvSpPr txBox="1"/>
          <p:nvPr/>
        </p:nvSpPr>
        <p:spPr>
          <a:xfrm>
            <a:off x="502920" y="515929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(3)写出下列物质的化学式：E ______ 、F</a:t>
            </a:r>
          </a:p>
        </p:txBody>
      </p:sp>
      <p:sp>
        <p:nvSpPr>
          <p:cNvPr id="25" name="文字_填空题  ·  16-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16-032</a:t>
            </a:r>
          </a:p>
        </p:txBody>
      </p:sp>
      <p:sp>
        <p:nvSpPr>
          <p:cNvPr id="26"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综合计算：三大守恒"/>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综合计算：三大守恒</a:t>
            </a:r>
          </a:p>
        </p:txBody>
      </p:sp>
      <p:sp>
        <p:nvSpPr>
          <p:cNvPr id="5" name="文字_知识梳理 · 讲义 P349"/>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P349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综合计算：三大守恒"/>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综合计算：三大守恒</a:t>
            </a:r>
          </a:p>
        </p:txBody>
      </p:sp>
      <p:sp>
        <p:nvSpPr>
          <p:cNvPr id="5" name="文字_知识讲解 · P34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P349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元素守恒：反应前后元素的种类与原子个数不变，多步"/>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元素守恒：反应前后元素的种类与原子个数不变，多步反应抓住始态与终态。</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电荷守恒：溶液中阳离子所带正电荷总数 = 阴离子"/>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电荷守恒：溶液中阳离子所带正电荷总数 = 阴离子所带负电荷总数。</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电子守恒：氧化剂得电子总数 = 还原剂失电子总数"/>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电子守恒：氧化剂得电子总数 = 还原剂失电子总数，适用于多步氧化还原计算</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常用工具：气体体积差量法、沉淀质量法、极值讨论法"/>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常用工具：气体体积差量法、沉淀质量法、极值讨论法、平均值法。</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规范：设未知数 → 写反应方程式或守恒式 → 代"/>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规范：设未知数 → 写反应方程式或守恒式 → 代数据 → 求解并保留有效数字。</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混合物计算先分清&quot;谁与谁反应、是否过量&quot;"/>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混合物计算先分清"谁与谁反应、是否过量"，再选守恒关系，避免逐方程硬算。</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检测题1</a:t>
            </a:r>
          </a:p>
        </p:txBody>
      </p:sp>
      <p:sp>
        <p:nvSpPr>
          <p:cNvPr id="5" name="文字_P3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P349</a:t>
            </a:r>
          </a:p>
        </p:txBody>
      </p:sp>
      <p:sp>
        <p:nvSpPr>
          <p:cNvPr id="6" name="文字_将标准状况下的3LCO、CO₂混合气体通入足量B"/>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将标准状况下的3LCO、CO₂混合气体通入足量Ba(OH)₂溶液中，充分反应后生成</a:t>
            </a:r>
          </a:p>
          <a:p>
            <a:pPr>
              <a:lnSpc>
                <a:spcPct val="112000"/>
              </a:lnSpc>
              <a:spcBef>
                <a:spcPts val="0"/>
              </a:spcBef>
              <a:spcAft>
                <a:spcPts val="0"/>
              </a:spcAft>
              <a:defRPr sz="2400" b="0">
                <a:solidFill>
                  <a:srgbClr val="333333"/>
                </a:solidFill>
                <a:latin typeface="微软雅黑"/>
              </a:defRPr>
            </a:pPr>
            <a:r>
              <a:rPr>
                <a:ea typeface="微软雅黑"/>
              </a:rPr>
              <a:t>19.7g沉淀。</a:t>
            </a:r>
          </a:p>
        </p:txBody>
      </p:sp>
      <p:sp>
        <p:nvSpPr>
          <p:cNvPr id="7" name="文字_(1）计算混合气体中CO₂的体积（标准状况) _"/>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(1）计算混合气体中CO₂的体积（标准状况) ______ o</a:t>
            </a:r>
          </a:p>
        </p:txBody>
      </p:sp>
      <p:sp>
        <p:nvSpPr>
          <p:cNvPr id="8" name="文字_(2) 若原Ba(OH)₂溶液的体积为200 m"/>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若原Ba(OH)₂溶液的体积为200 mL，含Ba(OH)₂₀.12 mol，计算其物质的量</a:t>
            </a:r>
          </a:p>
          <a:p>
            <a:pPr>
              <a:lnSpc>
                <a:spcPct val="112000"/>
              </a:lnSpc>
              <a:spcBef>
                <a:spcPts val="0"/>
              </a:spcBef>
              <a:spcAft>
                <a:spcPts val="0"/>
              </a:spcAft>
              <a:defRPr sz="2400" b="0">
                <a:solidFill>
                  <a:srgbClr val="333333"/>
                </a:solidFill>
                <a:latin typeface="微软雅黑"/>
              </a:defRPr>
            </a:pPr>
            <a:r>
              <a:rPr>
                <a:ea typeface="微软雅黑"/>
              </a:rPr>
              <a:t>浓度</a:t>
            </a:r>
          </a:p>
        </p:txBody>
      </p:sp>
      <p:sp>
        <p:nvSpPr>
          <p:cNvPr id="9" name="文字_解答题  ·  16-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16-033</a:t>
            </a:r>
          </a:p>
        </p:txBody>
      </p:sp>
      <p:sp>
        <p:nvSpPr>
          <p:cNvPr id="10" name="文字_4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检测题2</a:t>
            </a:r>
          </a:p>
        </p:txBody>
      </p:sp>
      <p:sp>
        <p:nvSpPr>
          <p:cNvPr id="5" name="文字_P3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P349</a:t>
            </a:r>
          </a:p>
        </p:txBody>
      </p:sp>
      <p:sp>
        <p:nvSpPr>
          <p:cNvPr id="6" name="文字_盖尔达法是测定牛奶样品中蛋白质含量的一种常用方法"/>
          <p:cNvSpPr txBox="1"/>
          <p:nvPr/>
        </p:nvSpPr>
        <p:spPr>
          <a:xfrm>
            <a:off x="502920" y="1078992"/>
            <a:ext cx="11064240" cy="1889759"/>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盖尔达法是测定牛奶样品中蛋白质含量的一种常用方法，其原理是把牛奶中的氮元</a:t>
            </a:r>
          </a:p>
          <a:p>
            <a:pPr>
              <a:lnSpc>
                <a:spcPct val="112000"/>
              </a:lnSpc>
              <a:spcBef>
                <a:spcPts val="0"/>
              </a:spcBef>
              <a:spcAft>
                <a:spcPts val="0"/>
              </a:spcAft>
              <a:defRPr sz="2400" b="0">
                <a:solidFill>
                  <a:srgbClr val="333333"/>
                </a:solidFill>
                <a:latin typeface="微软雅黑"/>
              </a:defRPr>
            </a:pPr>
            <a:r>
              <a:rPr>
                <a:ea typeface="微软雅黑"/>
              </a:rPr>
              <a:t>素完全转化成氨。为测定某款牛奶的蛋白质含量，取60.0g牛奶样品，经盖尔达法</a:t>
            </a:r>
          </a:p>
          <a:p>
            <a:pPr>
              <a:lnSpc>
                <a:spcPct val="112000"/>
              </a:lnSpc>
              <a:spcBef>
                <a:spcPts val="0"/>
              </a:spcBef>
              <a:spcAft>
                <a:spcPts val="0"/>
              </a:spcAft>
              <a:defRPr sz="2400" b="0">
                <a:solidFill>
                  <a:srgbClr val="333333"/>
                </a:solidFill>
                <a:latin typeface="微软雅黑"/>
              </a:defRPr>
            </a:pPr>
            <a:r>
              <a:rPr>
                <a:ea typeface="微软雅黑"/>
              </a:rPr>
              <a:t>处理后，用50.00mL₁.00mol/L硫酸将其完全吸收(其他物质不与硫酸反应)，再加</a:t>
            </a:r>
          </a:p>
          <a:p>
            <a:pPr>
              <a:lnSpc>
                <a:spcPct val="112000"/>
              </a:lnSpc>
              <a:spcBef>
                <a:spcPts val="0"/>
              </a:spcBef>
              <a:spcAft>
                <a:spcPts val="0"/>
              </a:spcAft>
              <a:defRPr sz="2400" b="0">
                <a:solidFill>
                  <a:srgbClr val="333333"/>
                </a:solidFill>
                <a:latin typeface="微软雅黑"/>
              </a:defRPr>
            </a:pPr>
            <a:r>
              <a:rPr>
                <a:ea typeface="微软雅黑"/>
              </a:rPr>
              <a:t>入19.00mL₄.00mol/L氢氧化钠溶液恰好生成硫酸钠和硫酸铵。请计算：(计算结果</a:t>
            </a:r>
          </a:p>
          <a:p>
            <a:pPr>
              <a:lnSpc>
                <a:spcPct val="112000"/>
              </a:lnSpc>
              <a:spcBef>
                <a:spcPts val="0"/>
              </a:spcBef>
              <a:spcAft>
                <a:spcPts val="0"/>
              </a:spcAft>
              <a:defRPr sz="2400" b="0">
                <a:solidFill>
                  <a:srgbClr val="333333"/>
                </a:solidFill>
                <a:latin typeface="微软雅黑"/>
              </a:defRPr>
            </a:pPr>
            <a:r>
              <a:rPr>
                <a:ea typeface="微软雅黑"/>
              </a:rPr>
              <a:t>均保留3位有效数字)</a:t>
            </a:r>
          </a:p>
        </p:txBody>
      </p:sp>
      <p:sp>
        <p:nvSpPr>
          <p:cNvPr id="7" name="文字_(1)所用NaOH的物质的量为 ______ m"/>
          <p:cNvSpPr txBox="1"/>
          <p:nvPr/>
        </p:nvSpPr>
        <p:spPr>
          <a:xfrm>
            <a:off x="502920" y="29687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(1)所用NaOH的物质的量为 ______ mol。</a:t>
            </a:r>
          </a:p>
        </p:txBody>
      </p:sp>
      <p:sp>
        <p:nvSpPr>
          <p:cNvPr id="8" name="文字_(2)样品中蛋白质转化生成的氨的物质的量为 __"/>
          <p:cNvSpPr txBox="1"/>
          <p:nvPr/>
        </p:nvSpPr>
        <p:spPr>
          <a:xfrm>
            <a:off x="502920" y="34076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(2)样品中蛋白质转化生成的氨的物质的量为 ______ molo</a:t>
            </a:r>
          </a:p>
        </p:txBody>
      </p:sp>
      <p:sp>
        <p:nvSpPr>
          <p:cNvPr id="9" name="文字_(3)若蛋白质中氮元素的质量分数为14.0%，则"/>
          <p:cNvSpPr txBox="1"/>
          <p:nvPr/>
        </p:nvSpPr>
        <p:spPr>
          <a:xfrm>
            <a:off x="502920" y="38465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(3)若蛋白质中氮元素的质量分数为14.0%，则样品中蛋白质的质量分数为 ______ O</a:t>
            </a:r>
          </a:p>
        </p:txBody>
      </p:sp>
      <p:sp>
        <p:nvSpPr>
          <p:cNvPr id="10" name="文字_解答题  ·  16-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16-034</a:t>
            </a:r>
          </a:p>
        </p:txBody>
      </p:sp>
      <p:sp>
        <p:nvSpPr>
          <p:cNvPr id="11" name="文字_4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检测题3</a:t>
            </a:r>
          </a:p>
        </p:txBody>
      </p:sp>
      <p:sp>
        <p:nvSpPr>
          <p:cNvPr id="5" name="文字_P3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P349</a:t>
            </a:r>
          </a:p>
        </p:txBody>
      </p:sp>
      <p:sp>
        <p:nvSpPr>
          <p:cNvPr id="6" name="文字_为测定某抗胃酸药片中碳酸钙的质量分数(设该药片中"/>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为测定某抗胃酸药片中碳酸钙的质量分数(设该药片中的其他成分不与盐酸或氢氧</a:t>
            </a:r>
          </a:p>
          <a:p>
            <a:pPr>
              <a:lnSpc>
                <a:spcPct val="112000"/>
              </a:lnSpc>
              <a:spcBef>
                <a:spcPts val="0"/>
              </a:spcBef>
              <a:spcAft>
                <a:spcPts val="0"/>
              </a:spcAft>
              <a:defRPr sz="2400" b="0">
                <a:solidFill>
                  <a:srgbClr val="333333"/>
                </a:solidFill>
                <a:latin typeface="微软雅黑"/>
              </a:defRPr>
            </a:pPr>
            <a:r>
              <a:rPr>
                <a:ea typeface="微软雅黑"/>
              </a:rPr>
              <a:t>化钠反应):</a:t>
            </a:r>
          </a:p>
        </p:txBody>
      </p:sp>
      <p:sp>
        <p:nvSpPr>
          <p:cNvPr id="7" name="文字_I.向0.1000 g药片粉末中依次加入20.0"/>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I.向0.1000 g药片粉末中依次加入20.00 mL蒸馏水、25.00mL 0.1000 mol/L稀盐</a:t>
            </a:r>
          </a:p>
          <a:p>
            <a:pPr>
              <a:lnSpc>
                <a:spcPct val="112000"/>
              </a:lnSpc>
              <a:spcBef>
                <a:spcPts val="0"/>
              </a:spcBef>
              <a:spcAft>
                <a:spcPts val="0"/>
              </a:spcAft>
              <a:defRPr sz="2400" b="0">
                <a:solidFill>
                  <a:srgbClr val="333333"/>
                </a:solidFill>
                <a:latin typeface="微软雅黑"/>
              </a:defRPr>
            </a:pPr>
            <a:r>
              <a:rPr>
                <a:ea typeface="微软雅黑"/>
              </a:rPr>
              <a:t>酸，使之充分反应。</a:t>
            </a:r>
          </a:p>
        </p:txBody>
      </p:sp>
      <p:sp>
        <p:nvSpPr>
          <p:cNvPr id="8" name="文字_II.中和过量的盐酸，消耗0.1000 mo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II.中和过量的盐酸，消耗0.1000 mol/L NaOH溶液13.00 mL。</a:t>
            </a:r>
          </a:p>
        </p:txBody>
      </p:sp>
      <p:sp>
        <p:nvSpPr>
          <p:cNvPr id="9" name="文字_请计算："/>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请计算：</a:t>
            </a:r>
          </a:p>
        </p:txBody>
      </p:sp>
      <p:sp>
        <p:nvSpPr>
          <p:cNvPr id="10" name="文字_(1)ⅡI中消耗NaOH的物质的量为 _____"/>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(1)ⅡI中消耗NaOH的物质的量为 ______ molo</a:t>
            </a:r>
          </a:p>
        </p:txBody>
      </p:sp>
      <p:sp>
        <p:nvSpPr>
          <p:cNvPr id="11" name="文字_(2) 0.1000 g药片消耗HCl的物质的量"/>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0.1000 g药片消耗HCl的物质的量为 ______ molo</a:t>
            </a:r>
          </a:p>
        </p:txBody>
      </p:sp>
      <p:sp>
        <p:nvSpPr>
          <p:cNvPr id="12" name="文字_(3)药片中碳酸钙的质量分数为"/>
          <p:cNvSpPr txBox="1"/>
          <p:nvPr/>
        </p:nvSpPr>
        <p:spPr>
          <a:xfrm>
            <a:off x="502920" y="44378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(3)药片中碳酸钙的质量分数为</a:t>
            </a:r>
          </a:p>
        </p:txBody>
      </p:sp>
      <p:sp>
        <p:nvSpPr>
          <p:cNvPr id="13" name="文字_填空题  ·  16-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16-035</a:t>
            </a:r>
          </a:p>
        </p:txBody>
      </p:sp>
      <p:sp>
        <p:nvSpPr>
          <p:cNvPr id="14"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检测题4</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有氯化钠、碳酸钠、碳酸氢钠的固体混合物共4克，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有氯化钠、碳酸钠、碳酸氢钠的固体混合物共4克，加热到质量不再减少为止。此</a:t>
            </a:r>
          </a:p>
          <a:p>
            <a:pPr>
              <a:lnSpc>
                <a:spcPct val="112000"/>
              </a:lnSpc>
              <a:spcBef>
                <a:spcPts val="0"/>
              </a:spcBef>
              <a:spcAft>
                <a:spcPts val="0"/>
              </a:spcAft>
              <a:defRPr sz="2400" b="0">
                <a:solidFill>
                  <a:srgbClr val="333333"/>
                </a:solidFill>
                <a:latin typeface="微软雅黑"/>
              </a:defRPr>
            </a:pPr>
            <a:r>
              <a:rPr>
                <a:ea typeface="微软雅黑"/>
              </a:rPr>
              <a:t>时剩余固体质量为3.38克，在残留的固体中加入足量盐酸，将产生的气体通过干燥</a:t>
            </a:r>
          </a:p>
          <a:p>
            <a:pPr>
              <a:lnSpc>
                <a:spcPct val="112000"/>
              </a:lnSpc>
              <a:spcBef>
                <a:spcPts val="0"/>
              </a:spcBef>
              <a:spcAft>
                <a:spcPts val="0"/>
              </a:spcAft>
              <a:defRPr sz="2400" b="0">
                <a:solidFill>
                  <a:srgbClr val="333333"/>
                </a:solidFill>
                <a:latin typeface="微软雅黑"/>
              </a:defRPr>
            </a:pPr>
            <a:r>
              <a:rPr>
                <a:ea typeface="微软雅黑"/>
              </a:rPr>
              <a:t>管后，通入澄清石灰水中，生成2g固体。</a:t>
            </a:r>
          </a:p>
        </p:txBody>
      </p:sp>
      <p:sp>
        <p:nvSpPr>
          <p:cNvPr id="7" name="文字_(1)原混合物中碳酸氢钠的物质的量是 _____"/>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(1)原混合物中碳酸氢钠的物质的量是 ______ o</a:t>
            </a:r>
          </a:p>
        </p:txBody>
      </p:sp>
      <p:sp>
        <p:nvSpPr>
          <p:cNvPr id="8" name="文字_(2)原混合物中碳酸钠的质量是多少？(写出具体计"/>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(2)原混合物中碳酸钠的质量是多少？(写出具体计算过程)</a:t>
            </a:r>
          </a:p>
        </p:txBody>
      </p:sp>
      <p:pic>
        <p:nvPicPr>
          <p:cNvPr id="9" name="Picture 8" descr="image.png"/>
          <p:cNvPicPr>
            <a:picLocks noChangeAspect="1"/>
          </p:cNvPicPr>
          <p:nvPr/>
        </p:nvPicPr>
        <p:blipFill>
          <a:blip r:embed="rId3"/>
          <a:stretch>
            <a:fillRect/>
          </a:stretch>
        </p:blipFill>
        <p:spPr>
          <a:xfrm>
            <a:off x="502920" y="3121152"/>
            <a:ext cx="11064240" cy="689122"/>
          </a:xfrm>
          <a:prstGeom prst="rect">
            <a:avLst/>
          </a:prstGeom>
        </p:spPr>
      </p:pic>
      <p:sp>
        <p:nvSpPr>
          <p:cNvPr id="10" name="原题文字_350_10"/>
          <p:cNvSpPr txBox="1"/>
          <p:nvPr/>
        </p:nvSpPr>
        <p:spPr>
          <a:xfrm>
            <a:off x="1796938" y="3283203"/>
            <a:ext cx="1417794"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电荷守恒</a:t>
            </a:r>
          </a:p>
        </p:txBody>
      </p:sp>
      <p:sp>
        <p:nvSpPr>
          <p:cNvPr id="11" name="文字_解答题  ·  16-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16-036</a:t>
            </a:r>
          </a:p>
        </p:txBody>
      </p:sp>
      <p:sp>
        <p:nvSpPr>
          <p:cNvPr id="12"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检测题1</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某盐的混合物中含有0.2mol Na+、0.4m"/>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某盐的混合物中含有0.2mol Na+、0.4mol Mg²⁺、0.4mol Cr、0.1mol Al³⁺及一</a:t>
            </a:r>
          </a:p>
          <a:p>
            <a:pPr>
              <a:lnSpc>
                <a:spcPct val="112000"/>
              </a:lnSpc>
              <a:spcBef>
                <a:spcPts val="0"/>
              </a:spcBef>
              <a:spcAft>
                <a:spcPts val="0"/>
              </a:spcAft>
              <a:defRPr sz="2400" b="0">
                <a:solidFill>
                  <a:srgbClr val="333333"/>
                </a:solidFill>
                <a:latin typeface="微软雅黑"/>
              </a:defRPr>
            </a:pPr>
            <a:r>
              <a:rPr>
                <a:ea typeface="微软雅黑"/>
              </a:rPr>
              <a:t>定量的SO₄²⁻，则其中所含SO₄²⁻的物质的量为</a:t>
            </a:r>
          </a:p>
        </p:txBody>
      </p:sp>
      <p:sp>
        <p:nvSpPr>
          <p:cNvPr id="7" name="文字_A. 0.1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0.1mol</a:t>
            </a:r>
          </a:p>
        </p:txBody>
      </p:sp>
      <p:sp>
        <p:nvSpPr>
          <p:cNvPr id="8" name="文字_B. 0.3mo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0.3mol</a:t>
            </a:r>
          </a:p>
        </p:txBody>
      </p:sp>
      <p:sp>
        <p:nvSpPr>
          <p:cNvPr id="9" name="文字_C. 0.5mo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0.5mol</a:t>
            </a:r>
          </a:p>
        </p:txBody>
      </p:sp>
      <p:sp>
        <p:nvSpPr>
          <p:cNvPr id="10" name="文字_D. 0.45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0.45mol</a:t>
            </a:r>
          </a:p>
        </p:txBody>
      </p:sp>
      <p:sp>
        <p:nvSpPr>
          <p:cNvPr id="11" name="文字_单选题  ·  16-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16-037</a:t>
            </a:r>
          </a:p>
        </p:txBody>
      </p:sp>
      <p:sp>
        <p:nvSpPr>
          <p:cNvPr id="12"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检测题2</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把200mL含有BaCl₂和KCl的混合溶液分成"/>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把200mL含有BaCl₂和KCl的混合溶液分成两等份，取一份加入含amol硫酸钠的溶</a:t>
            </a:r>
          </a:p>
          <a:p>
            <a:pPr>
              <a:lnSpc>
                <a:spcPct val="112000"/>
              </a:lnSpc>
              <a:spcBef>
                <a:spcPts val="0"/>
              </a:spcBef>
              <a:spcAft>
                <a:spcPts val="0"/>
              </a:spcAft>
              <a:defRPr sz="2400" b="0">
                <a:solidFill>
                  <a:srgbClr val="333333"/>
                </a:solidFill>
                <a:latin typeface="微软雅黑"/>
              </a:defRPr>
            </a:pPr>
            <a:r>
              <a:rPr>
                <a:ea typeface="微软雅黑"/>
              </a:rPr>
              <a:t>液，恰好使钡离子完全沉淀；另取一份加入含bmol硝酸银的溶液，恰好使氯离子</a:t>
            </a:r>
          </a:p>
          <a:p>
            <a:pPr>
              <a:lnSpc>
                <a:spcPct val="112000"/>
              </a:lnSpc>
              <a:spcBef>
                <a:spcPts val="0"/>
              </a:spcBef>
              <a:spcAft>
                <a:spcPts val="0"/>
              </a:spcAft>
              <a:defRPr sz="2400" b="0">
                <a:solidFill>
                  <a:srgbClr val="333333"/>
                </a:solidFill>
                <a:latin typeface="微软雅黑"/>
              </a:defRPr>
            </a:pPr>
            <a:r>
              <a:rPr>
                <a:ea typeface="微软雅黑"/>
              </a:rPr>
              <a:t>完全沉淀。则该混合溶液中钾离子浓度为</a:t>
            </a:r>
          </a:p>
        </p:txBody>
      </p:sp>
      <p:sp>
        <p:nvSpPr>
          <p:cNvPr id="7" name="文字_A. 0.1 (b − 2a)mol/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 (b − 2a)mol/L</a:t>
            </a:r>
          </a:p>
        </p:txBody>
      </p:sp>
      <p:sp>
        <p:nvSpPr>
          <p:cNvPr id="8" name="文字_B. 10 (2a − b)mol/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10 (2a − b)mol/L</a:t>
            </a:r>
          </a:p>
        </p:txBody>
      </p:sp>
      <p:sp>
        <p:nvSpPr>
          <p:cNvPr id="9" name="文字_C. 10 (b − a)mol/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10 (b − a)mol/L</a:t>
            </a:r>
          </a:p>
        </p:txBody>
      </p:sp>
      <p:sp>
        <p:nvSpPr>
          <p:cNvPr id="10" name="文字_D. 10 (b − 2a)mol/L"/>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10 (b − 2a)mol/L</a:t>
            </a:r>
          </a:p>
        </p:txBody>
      </p:sp>
      <p:sp>
        <p:nvSpPr>
          <p:cNvPr id="11" name="文字_单选题  ·  16-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16-038</a:t>
            </a:r>
          </a:p>
        </p:txBody>
      </p:sp>
      <p:sp>
        <p:nvSpPr>
          <p:cNvPr id="12" name="文字_4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检测题3</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取100 mL等物质的量浓度的盐酸和硫酸混合溶液"/>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取100 mL等物质的量浓度的盐酸和硫酸混合溶液，当加入100 mL 3.00mol·L-1的</a:t>
            </a:r>
          </a:p>
          <a:p>
            <a:pPr>
              <a:lnSpc>
                <a:spcPct val="112000"/>
              </a:lnSpc>
              <a:spcBef>
                <a:spcPts val="0"/>
              </a:spcBef>
              <a:spcAft>
                <a:spcPts val="0"/>
              </a:spcAft>
              <a:defRPr sz="2400" b="0">
                <a:solidFill>
                  <a:srgbClr val="333333"/>
                </a:solidFill>
                <a:latin typeface="微软雅黑"/>
              </a:defRPr>
            </a:pPr>
            <a:r>
              <a:rPr>
                <a:ea typeface="微软雅黑"/>
              </a:rPr>
              <a:t>Ba(OH)₂溶液时，溶液显中性。请计算：</a:t>
            </a:r>
          </a:p>
        </p:txBody>
      </p:sp>
      <p:sp>
        <p:nvSpPr>
          <p:cNvPr id="7" name="文字_(1）硫酸的物质的量浓度为 ______ 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(1）硫酸的物质的量浓度为 ______ mol·L−1。</a:t>
            </a:r>
          </a:p>
        </p:txBody>
      </p:sp>
      <p:sp>
        <p:nvSpPr>
          <p:cNvPr id="8" name="文字_(2) 当加入的Ba(OH)₂体积为75.0 m"/>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当加入的Ba(OH)₂体积为75.0 mL时，产生的沉淀质量为 ______ g。</a:t>
            </a:r>
          </a:p>
        </p:txBody>
      </p:sp>
      <p:pic>
        <p:nvPicPr>
          <p:cNvPr id="9" name="Picture 8" descr="image.png"/>
          <p:cNvPicPr>
            <a:picLocks noChangeAspect="1"/>
          </p:cNvPicPr>
          <p:nvPr/>
        </p:nvPicPr>
        <p:blipFill>
          <a:blip r:embed="rId3"/>
          <a:stretch>
            <a:fillRect/>
          </a:stretch>
        </p:blipFill>
        <p:spPr>
          <a:xfrm>
            <a:off x="502920" y="2758440"/>
            <a:ext cx="11064240" cy="689122"/>
          </a:xfrm>
          <a:prstGeom prst="rect">
            <a:avLst/>
          </a:prstGeom>
        </p:spPr>
      </p:pic>
      <p:sp>
        <p:nvSpPr>
          <p:cNvPr id="10" name="原题文字_350_38"/>
          <p:cNvSpPr txBox="1"/>
          <p:nvPr/>
        </p:nvSpPr>
        <p:spPr>
          <a:xfrm>
            <a:off x="1046560" y="2920491"/>
            <a:ext cx="2145201" cy="507653"/>
          </a:xfrm>
          <a:prstGeom prst="rect">
            <a:avLst/>
          </a:prstGeom>
          <a:noFill/>
        </p:spPr>
        <p:txBody>
          <a:bodyPr wrap="none" lIns="0" rIns="0" tIns="0" bIns="0">
            <a:spAutoFit/>
          </a:bodyPr>
          <a:lstStyle/>
          <a:p>
            <a:pPr>
              <a:lnSpc>
                <a:spcPct val="112000"/>
              </a:lnSpc>
              <a:spcBef>
                <a:spcPts val="0"/>
              </a:spcBef>
              <a:spcAft>
                <a:spcPts val="0"/>
              </a:spcAft>
              <a:defRPr sz="2459" b="0">
                <a:solidFill>
                  <a:srgbClr val="333333"/>
                </a:solidFill>
                <a:latin typeface="微软雅黑"/>
              </a:defRPr>
            </a:pPr>
            <a:r>
              <a:rPr>
                <a:ea typeface="微软雅黑"/>
              </a:rPr>
              <a:t>三、电子守恒</a:t>
            </a:r>
          </a:p>
        </p:txBody>
      </p:sp>
      <p:sp>
        <p:nvSpPr>
          <p:cNvPr id="11" name="文字_解答题  ·  16-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16-039</a:t>
            </a:r>
          </a:p>
        </p:txBody>
      </p:sp>
      <p:sp>
        <p:nvSpPr>
          <p:cNvPr id="12" name="文字_4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检测题1</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为了消除NOx对大气的污染，工业上通常利用NH₃"/>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为了消除NOx对大气的污染，工业上通常利用NH₃还原的方法实现无害化处理，</a:t>
            </a:r>
          </a:p>
          <a:p>
            <a:pPr>
              <a:lnSpc>
                <a:spcPct val="112000"/>
              </a:lnSpc>
              <a:spcBef>
                <a:spcPts val="0"/>
              </a:spcBef>
              <a:spcAft>
                <a:spcPts val="0"/>
              </a:spcAft>
              <a:defRPr sz="2400" b="0">
                <a:solidFill>
                  <a:srgbClr val="333333"/>
                </a:solidFill>
                <a:latin typeface="微软雅黑"/>
              </a:defRPr>
            </a:pPr>
            <a:r>
              <a:rPr>
                <a:ea typeface="微软雅黑"/>
              </a:rPr>
              <a:t>现有NO₂和NO的混合气体3L，可用相同状况下3.5L的NH₃恰好使其完全转化为</a:t>
            </a:r>
          </a:p>
          <a:p>
            <a:pPr>
              <a:lnSpc>
                <a:spcPct val="112000"/>
              </a:lnSpc>
              <a:spcBef>
                <a:spcPts val="0"/>
              </a:spcBef>
              <a:spcAft>
                <a:spcPts val="0"/>
              </a:spcAft>
              <a:defRPr sz="2400" b="0">
                <a:solidFill>
                  <a:srgbClr val="333333"/>
                </a:solidFill>
                <a:latin typeface="微软雅黑"/>
              </a:defRPr>
            </a:pPr>
            <a:r>
              <a:rPr>
                <a:ea typeface="微软雅黑"/>
              </a:rPr>
              <a:t>N₂，则混合气体中NO₂和NO体积之比为</a:t>
            </a:r>
          </a:p>
        </p:txBody>
      </p:sp>
      <p:sp>
        <p:nvSpPr>
          <p:cNvPr id="7" name="文字_A. 3: 1"/>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3: 1</a:t>
            </a:r>
          </a:p>
        </p:txBody>
      </p:sp>
      <p:sp>
        <p:nvSpPr>
          <p:cNvPr id="8" name="文字_B. 1: 3"/>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3</a:t>
            </a:r>
          </a:p>
        </p:txBody>
      </p:sp>
      <p:sp>
        <p:nvSpPr>
          <p:cNvPr id="9" name="文字_C. 2: 1"/>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 1</a:t>
            </a:r>
          </a:p>
        </p:txBody>
      </p:sp>
      <p:sp>
        <p:nvSpPr>
          <p:cNvPr id="10" name="文字_D. 1: 2"/>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 2</a:t>
            </a:r>
          </a:p>
        </p:txBody>
      </p:sp>
      <p:sp>
        <p:nvSpPr>
          <p:cNvPr id="11" name="文字_单选题  ·  16-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16-040</a:t>
            </a:r>
          </a:p>
        </p:txBody>
      </p:sp>
      <p:sp>
        <p:nvSpPr>
          <p:cNvPr id="12" name="文字_4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检测题2</a:t>
            </a:r>
          </a:p>
        </p:txBody>
      </p:sp>
      <p:sp>
        <p:nvSpPr>
          <p:cNvPr id="5" name="文字_P3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P350</a:t>
            </a:r>
          </a:p>
        </p:txBody>
      </p:sp>
      <p:sp>
        <p:nvSpPr>
          <p:cNvPr id="6" name="文字_NO、NO₂、O₂按照一定比例通入水中，能被完全"/>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NO、NO₂、O₂按照一定比例通入水中，能被完全吸收，无剩余气体，若NO、</a:t>
            </a:r>
          </a:p>
          <a:p>
            <a:pPr>
              <a:lnSpc>
                <a:spcPct val="112000"/>
              </a:lnSpc>
              <a:spcBef>
                <a:spcPts val="0"/>
              </a:spcBef>
              <a:spcAft>
                <a:spcPts val="0"/>
              </a:spcAft>
              <a:defRPr sz="2400" b="0">
                <a:solidFill>
                  <a:srgbClr val="333333"/>
                </a:solidFill>
                <a:latin typeface="微软雅黑"/>
              </a:defRPr>
            </a:pPr>
            <a:r>
              <a:rPr>
                <a:ea typeface="微软雅黑"/>
              </a:rPr>
              <a:t>NO₂、O₂的气体体积分别为x，y，z则x；y；z；不可能为</a:t>
            </a:r>
          </a:p>
        </p:txBody>
      </p:sp>
      <p:sp>
        <p:nvSpPr>
          <p:cNvPr id="7" name="文字_A. 2: 6: 3"/>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 6: 3</a:t>
            </a:r>
          </a:p>
        </p:txBody>
      </p:sp>
      <p:sp>
        <p:nvSpPr>
          <p:cNvPr id="8" name="文字_B. 1: 1: 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1: 1</a:t>
            </a:r>
          </a:p>
        </p:txBody>
      </p:sp>
      <p:sp>
        <p:nvSpPr>
          <p:cNvPr id="9" name="文字_C. 6; 2: 5"/>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6; 2: 5</a:t>
            </a:r>
          </a:p>
        </p:txBody>
      </p:sp>
      <p:sp>
        <p:nvSpPr>
          <p:cNvPr id="10" name="文字_D. 3: 6: 4"/>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 6: 4</a:t>
            </a:r>
          </a:p>
        </p:txBody>
      </p:sp>
      <p:sp>
        <p:nvSpPr>
          <p:cNvPr id="11" name="文字_单选题  ·  16-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16-041</a:t>
            </a:r>
          </a:p>
        </p:txBody>
      </p:sp>
      <p:sp>
        <p:nvSpPr>
          <p:cNvPr id="12"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检测题3</a:t>
            </a:r>
          </a:p>
        </p:txBody>
      </p:sp>
      <p:sp>
        <p:nvSpPr>
          <p:cNvPr id="5" name="文字_P3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P351</a:t>
            </a:r>
          </a:p>
        </p:txBody>
      </p:sp>
      <p:sp>
        <p:nvSpPr>
          <p:cNvPr id="6" name="文字_一定量的SO₂通入到含0.2molNaOH的溶液"/>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一定量的SO₂通入到含0.2molNaOH的溶液中，充分反应后生成的Na₂SO₃和</a:t>
            </a:r>
          </a:p>
          <a:p>
            <a:pPr>
              <a:lnSpc>
                <a:spcPct val="112000"/>
              </a:lnSpc>
              <a:spcBef>
                <a:spcPts val="0"/>
              </a:spcBef>
              <a:spcAft>
                <a:spcPts val="0"/>
              </a:spcAft>
              <a:defRPr sz="2400" b="0">
                <a:solidFill>
                  <a:srgbClr val="333333"/>
                </a:solidFill>
                <a:latin typeface="微软雅黑"/>
              </a:defRPr>
            </a:pPr>
            <a:r>
              <a:rPr>
                <a:ea typeface="微软雅黑"/>
              </a:rPr>
              <a:t>NaHSO₃的物质的量之比为2：1。再向反应后溶液中通入Cl₂恰好使硫元素全部转</a:t>
            </a:r>
          </a:p>
          <a:p>
            <a:pPr>
              <a:lnSpc>
                <a:spcPct val="112000"/>
              </a:lnSpc>
              <a:spcBef>
                <a:spcPts val="0"/>
              </a:spcBef>
              <a:spcAft>
                <a:spcPts val="0"/>
              </a:spcAft>
              <a:defRPr sz="2400" b="0">
                <a:solidFill>
                  <a:srgbClr val="333333"/>
                </a:solidFill>
                <a:latin typeface="微软雅黑"/>
              </a:defRPr>
            </a:pPr>
            <a:r>
              <a:rPr>
                <a:ea typeface="微软雅黑"/>
              </a:rPr>
              <a:t>化为SO₂⁻。则通入Cl₂的物质的量为</a:t>
            </a:r>
          </a:p>
        </p:txBody>
      </p:sp>
      <p:sp>
        <p:nvSpPr>
          <p:cNvPr id="7" name="文字_A. 0.04mo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0.04mol</a:t>
            </a:r>
          </a:p>
        </p:txBody>
      </p:sp>
      <p:sp>
        <p:nvSpPr>
          <p:cNvPr id="8" name="文字_B. 0.08mo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0.08mol</a:t>
            </a:r>
          </a:p>
        </p:txBody>
      </p:sp>
      <p:sp>
        <p:nvSpPr>
          <p:cNvPr id="9" name="文字_C. 0.12mo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0.12mol</a:t>
            </a:r>
          </a:p>
        </p:txBody>
      </p:sp>
      <p:sp>
        <p:nvSpPr>
          <p:cNvPr id="10" name="文字_D. 0.2mol"/>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0.2mol</a:t>
            </a:r>
          </a:p>
        </p:txBody>
      </p:sp>
      <p:pic>
        <p:nvPicPr>
          <p:cNvPr id="11" name="Picture 10" descr="image.png"/>
          <p:cNvPicPr>
            <a:picLocks noChangeAspect="1"/>
          </p:cNvPicPr>
          <p:nvPr/>
        </p:nvPicPr>
        <p:blipFill>
          <a:blip r:embed="rId3"/>
          <a:stretch>
            <a:fillRect/>
          </a:stretch>
        </p:blipFill>
        <p:spPr>
          <a:xfrm>
            <a:off x="502920" y="3998975"/>
            <a:ext cx="11064240" cy="689122"/>
          </a:xfrm>
          <a:prstGeom prst="rect">
            <a:avLst/>
          </a:prstGeom>
        </p:spPr>
      </p:pic>
      <p:sp>
        <p:nvSpPr>
          <p:cNvPr id="12" name="原题文字_351_9"/>
          <p:cNvSpPr txBox="1"/>
          <p:nvPr/>
        </p:nvSpPr>
        <p:spPr>
          <a:xfrm>
            <a:off x="1207356" y="4161027"/>
            <a:ext cx="1065576"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图像型</a:t>
            </a:r>
          </a:p>
        </p:txBody>
      </p:sp>
      <p:sp>
        <p:nvSpPr>
          <p:cNvPr id="13" name="文字_单选题  ·  16-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16-042</a:t>
            </a:r>
          </a:p>
        </p:txBody>
      </p:sp>
      <p:sp>
        <p:nvSpPr>
          <p:cNvPr id="14"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检测题1</a:t>
            </a:r>
          </a:p>
        </p:txBody>
      </p:sp>
      <p:sp>
        <p:nvSpPr>
          <p:cNvPr id="5" name="文字_P3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P351</a:t>
            </a:r>
          </a:p>
        </p:txBody>
      </p:sp>
      <p:sp>
        <p:nvSpPr>
          <p:cNvPr id="6" name="文字_分别称取：2.39g(NH₄)₂₂SO₄和NH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分别称取：2.39g(NH₄)₂₂SO₄和NH₄Cl固体混合物两份。</a:t>
            </a:r>
          </a:p>
        </p:txBody>
      </p:sp>
      <p:sp>
        <p:nvSpPr>
          <p:cNvPr id="7" name="文字_(1)将其中一份配成溶液，逐滴加入一定浓度的Ba"/>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(1)将其中一份配成溶液，逐滴加入一定浓度的Ba(OH)₂溶液，产生的沉淀质量与</a:t>
            </a:r>
          </a:p>
          <a:p>
            <a:pPr>
              <a:lnSpc>
                <a:spcPct val="112000"/>
              </a:lnSpc>
              <a:spcBef>
                <a:spcPts val="0"/>
              </a:spcBef>
              <a:spcAft>
                <a:spcPts val="0"/>
              </a:spcAft>
              <a:defRPr sz="2400" b="0">
                <a:solidFill>
                  <a:srgbClr val="333333"/>
                </a:solidFill>
                <a:latin typeface="微软雅黑"/>
              </a:defRPr>
            </a:pPr>
            <a:r>
              <a:rPr>
                <a:ea typeface="微软雅黑"/>
              </a:rPr>
              <a:t>加入Ba(OH)₂溶液体积的关系如图。</a:t>
            </a:r>
          </a:p>
        </p:txBody>
      </p:sp>
      <p:sp>
        <p:nvSpPr>
          <p:cNvPr id="8" name="文字_①滴入的Ba(OH)₂溶液的浓度为 ______"/>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①滴入的Ba(OH)₂溶液的浓度为 ______ mol·L-1.</a:t>
            </a:r>
          </a:p>
        </p:txBody>
      </p:sp>
      <p:sp>
        <p:nvSpPr>
          <p:cNvPr id="9" name="文字_②混合物中n [(NH₄)₂SO₄]: n(NH"/>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②混合物中n [(NH₄)₂SO₄]: n(NH₄Cl)为</a:t>
            </a:r>
          </a:p>
        </p:txBody>
      </p:sp>
      <p:sp>
        <p:nvSpPr>
          <p:cNvPr id="10" name="文字_(2)另一份固体混合物中NH+与Ba(OH)₂溶"/>
          <p:cNvSpPr txBox="1"/>
          <p:nvPr/>
        </p:nvSpPr>
        <p:spPr>
          <a:xfrm>
            <a:off x="502920" y="31973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(2)另一份固体混合物中NH+与Ba(OH)₂溶液(浓度同上)恰好完全反应时，溶液中</a:t>
            </a:r>
          </a:p>
          <a:p>
            <a:pPr>
              <a:lnSpc>
                <a:spcPct val="112000"/>
              </a:lnSpc>
              <a:spcBef>
                <a:spcPts val="0"/>
              </a:spcBef>
              <a:spcAft>
                <a:spcPts val="0"/>
              </a:spcAft>
              <a:defRPr sz="2400" b="0">
                <a:solidFill>
                  <a:srgbClr val="333333"/>
                </a:solidFill>
                <a:latin typeface="微软雅黑"/>
              </a:defRPr>
            </a:pPr>
            <a:r>
              <a:rPr>
                <a:ea typeface="微软雅黑"/>
              </a:rPr>
              <a:t>c(Cl-)= ______ mol·L-1(溶液体积变化忽略不计)。</a:t>
            </a:r>
          </a:p>
        </p:txBody>
      </p:sp>
      <p:sp>
        <p:nvSpPr>
          <p:cNvPr id="11" name="文字_m/g"/>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m/g</a:t>
            </a:r>
          </a:p>
        </p:txBody>
      </p:sp>
      <p:pic>
        <p:nvPicPr>
          <p:cNvPr id="12" name="Picture 11" descr="image.png"/>
          <p:cNvPicPr>
            <a:picLocks noChangeAspect="1"/>
          </p:cNvPicPr>
          <p:nvPr/>
        </p:nvPicPr>
        <p:blipFill>
          <a:blip r:embed="rId3"/>
          <a:stretch>
            <a:fillRect/>
          </a:stretch>
        </p:blipFill>
        <p:spPr>
          <a:xfrm>
            <a:off x="502920" y="4437888"/>
            <a:ext cx="11064240" cy="1577324"/>
          </a:xfrm>
          <a:prstGeom prst="rect">
            <a:avLst/>
          </a:prstGeom>
        </p:spPr>
      </p:pic>
      <p:sp>
        <p:nvSpPr>
          <p:cNvPr id="13" name="原题文字_351_25"/>
          <p:cNvSpPr txBox="1"/>
          <p:nvPr/>
        </p:nvSpPr>
        <p:spPr>
          <a:xfrm>
            <a:off x="1146100" y="4469771"/>
            <a:ext cx="52959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2.33</a:t>
            </a:r>
          </a:p>
        </p:txBody>
      </p:sp>
      <p:sp>
        <p:nvSpPr>
          <p:cNvPr id="14" name="原题文字_351_26"/>
          <p:cNvSpPr txBox="1"/>
          <p:nvPr/>
        </p:nvSpPr>
        <p:spPr>
          <a:xfrm>
            <a:off x="1467691" y="5687221"/>
            <a:ext cx="23097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a:t>
            </a:r>
          </a:p>
        </p:txBody>
      </p:sp>
      <p:sp>
        <p:nvSpPr>
          <p:cNvPr id="15" name="原题文字_351_27"/>
          <p:cNvSpPr txBox="1"/>
          <p:nvPr/>
        </p:nvSpPr>
        <p:spPr>
          <a:xfrm>
            <a:off x="2279323" y="5687221"/>
            <a:ext cx="44536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100</a:t>
            </a:r>
          </a:p>
        </p:txBody>
      </p:sp>
      <p:sp>
        <p:nvSpPr>
          <p:cNvPr id="16" name="原题文字_351_28"/>
          <p:cNvSpPr txBox="1"/>
          <p:nvPr/>
        </p:nvSpPr>
        <p:spPr>
          <a:xfrm>
            <a:off x="3113927" y="5763790"/>
            <a:ext cx="59850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V/mL</a:t>
            </a:r>
          </a:p>
        </p:txBody>
      </p:sp>
      <p:sp>
        <p:nvSpPr>
          <p:cNvPr id="17" name="文字_填空题  ·  16-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16-043</a:t>
            </a:r>
          </a:p>
        </p:txBody>
      </p:sp>
      <p:sp>
        <p:nvSpPr>
          <p:cNvPr id="18" name="文字_5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检测题2</a:t>
            </a:r>
          </a:p>
        </p:txBody>
      </p:sp>
      <p:sp>
        <p:nvSpPr>
          <p:cNvPr id="5" name="文字_P3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P351</a:t>
            </a:r>
          </a:p>
        </p:txBody>
      </p:sp>
      <p:sp>
        <p:nvSpPr>
          <p:cNvPr id="6" name="文字_将28.8g铜投入100mL浓硝酸中，充分反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将28.8g铜投入100mL浓硝酸中，充分反应，铜有剩余，产生NO和NO₂的混合气</a:t>
            </a:r>
          </a:p>
          <a:p>
            <a:pPr>
              <a:lnSpc>
                <a:spcPct val="112000"/>
              </a:lnSpc>
              <a:spcBef>
                <a:spcPts val="0"/>
              </a:spcBef>
              <a:spcAft>
                <a:spcPts val="0"/>
              </a:spcAft>
              <a:defRPr sz="2400" b="0">
                <a:solidFill>
                  <a:srgbClr val="333333"/>
                </a:solidFill>
                <a:latin typeface="微软雅黑"/>
              </a:defRPr>
            </a:pPr>
            <a:r>
              <a:rPr>
                <a:ea typeface="微软雅黑"/>
              </a:rPr>
              <a:t>体，溶液中NO₅离子物质的量变化如下图所示，请回答下列问题：</a:t>
            </a:r>
          </a:p>
        </p:txBody>
      </p:sp>
      <p:sp>
        <p:nvSpPr>
          <p:cNvPr id="7" name="文字_n(NO₃)/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n(NO₃)/mol</a:t>
            </a:r>
          </a:p>
        </p:txBody>
      </p:sp>
      <p:pic>
        <p:nvPicPr>
          <p:cNvPr id="8" name="Picture 7" descr="image.png"/>
          <p:cNvPicPr>
            <a:picLocks noChangeAspect="1"/>
          </p:cNvPicPr>
          <p:nvPr/>
        </p:nvPicPr>
        <p:blipFill>
          <a:blip r:embed="rId3"/>
          <a:stretch>
            <a:fillRect/>
          </a:stretch>
        </p:blipFill>
        <p:spPr>
          <a:xfrm>
            <a:off x="502920" y="2319528"/>
            <a:ext cx="11064240" cy="1653893"/>
          </a:xfrm>
          <a:prstGeom prst="rect">
            <a:avLst/>
          </a:prstGeom>
        </p:spPr>
      </p:pic>
      <p:sp>
        <p:nvSpPr>
          <p:cNvPr id="9" name="原题文字_351_35"/>
          <p:cNvSpPr txBox="1"/>
          <p:nvPr/>
        </p:nvSpPr>
        <p:spPr>
          <a:xfrm>
            <a:off x="602459" y="2351411"/>
            <a:ext cx="49896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1.0</a:t>
            </a:r>
          </a:p>
        </p:txBody>
      </p:sp>
      <p:sp>
        <p:nvSpPr>
          <p:cNvPr id="10" name="原题文字_351_36"/>
          <p:cNvSpPr txBox="1"/>
          <p:nvPr/>
        </p:nvSpPr>
        <p:spPr>
          <a:xfrm>
            <a:off x="571832" y="2764885"/>
            <a:ext cx="529592"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0.6</a:t>
            </a:r>
          </a:p>
        </p:txBody>
      </p:sp>
      <p:sp>
        <p:nvSpPr>
          <p:cNvPr id="11" name="原题文字_351_37"/>
          <p:cNvSpPr txBox="1"/>
          <p:nvPr/>
        </p:nvSpPr>
        <p:spPr>
          <a:xfrm>
            <a:off x="809196" y="3385095"/>
            <a:ext cx="269257"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0</a:t>
            </a:r>
          </a:p>
        </p:txBody>
      </p:sp>
      <p:sp>
        <p:nvSpPr>
          <p:cNvPr id="12" name="原题文字_351_38"/>
          <p:cNvSpPr txBox="1"/>
          <p:nvPr/>
        </p:nvSpPr>
        <p:spPr>
          <a:xfrm>
            <a:off x="2455432" y="3492291"/>
            <a:ext cx="1341225" cy="567377"/>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n(Cu)/mol</a:t>
            </a:r>
          </a:p>
        </p:txBody>
      </p:sp>
      <p:sp>
        <p:nvSpPr>
          <p:cNvPr id="13" name="文字_(1) 该浓硝酸物质的量浓度为 ______ m"/>
          <p:cNvSpPr txBox="1"/>
          <p:nvPr/>
        </p:nvSpPr>
        <p:spPr>
          <a:xfrm>
            <a:off x="502920" y="404657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该浓硝酸物质的量浓度为 ______ mol · L−1。</a:t>
            </a:r>
          </a:p>
        </p:txBody>
      </p:sp>
      <p:sp>
        <p:nvSpPr>
          <p:cNvPr id="14" name="文字_(2) 该反应消耗铜的物质的量为 ______ "/>
          <p:cNvSpPr txBox="1"/>
          <p:nvPr/>
        </p:nvSpPr>
        <p:spPr>
          <a:xfrm>
            <a:off x="502920" y="44854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该反应消耗铜的物质的量为 ______ mol。</a:t>
            </a:r>
          </a:p>
        </p:txBody>
      </p:sp>
      <p:sp>
        <p:nvSpPr>
          <p:cNvPr id="15" name="文字_(3)生成的NO气体在标况下的体积为 _____"/>
          <p:cNvSpPr txBox="1"/>
          <p:nvPr/>
        </p:nvSpPr>
        <p:spPr>
          <a:xfrm>
            <a:off x="502920" y="492439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(3)生成的NO气体在标况下的体积为 ______ Lo</a:t>
            </a:r>
          </a:p>
        </p:txBody>
      </p:sp>
      <p:sp>
        <p:nvSpPr>
          <p:cNvPr id="16" name="文字_解答题  ·  16-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16-044</a:t>
            </a:r>
          </a:p>
        </p:txBody>
      </p:sp>
      <p:sp>
        <p:nvSpPr>
          <p:cNvPr id="17" name="文字_5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检测题3</a:t>
            </a:r>
          </a:p>
        </p:txBody>
      </p:sp>
      <p:sp>
        <p:nvSpPr>
          <p:cNvPr id="5" name="文字_P3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P352</a:t>
            </a:r>
          </a:p>
        </p:txBody>
      </p:sp>
      <p:sp>
        <p:nvSpPr>
          <p:cNvPr id="6" name="文字_向已经放置一段时间的氢氧化钠溶液中通入二氧化碳，"/>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向已经放置一段时间的氢氧化钠溶液中通入二氧化碳，碳酸根离子浓度随通入二氧</a:t>
            </a:r>
          </a:p>
          <a:p>
            <a:pPr>
              <a:lnSpc>
                <a:spcPct val="112000"/>
              </a:lnSpc>
              <a:spcBef>
                <a:spcPts val="0"/>
              </a:spcBef>
              <a:spcAft>
                <a:spcPts val="0"/>
              </a:spcAft>
              <a:defRPr sz="2400" b="0">
                <a:solidFill>
                  <a:srgbClr val="333333"/>
                </a:solidFill>
                <a:latin typeface="微软雅黑"/>
              </a:defRPr>
            </a:pPr>
            <a:r>
              <a:rPr>
                <a:ea typeface="微软雅黑"/>
              </a:rPr>
              <a:t>化碳物质的量的变化如图所示(忽略溶液体积变化)，回答下列问题:</a:t>
            </a:r>
          </a:p>
        </p:txBody>
      </p:sp>
      <p:pic>
        <p:nvPicPr>
          <p:cNvPr id="7" name="Picture 6" descr="image.png"/>
          <p:cNvPicPr>
            <a:picLocks noChangeAspect="1"/>
          </p:cNvPicPr>
          <p:nvPr/>
        </p:nvPicPr>
        <p:blipFill>
          <a:blip r:embed="rId3"/>
          <a:stretch>
            <a:fillRect/>
          </a:stretch>
        </p:blipFill>
        <p:spPr>
          <a:xfrm>
            <a:off x="502920" y="1880616"/>
            <a:ext cx="11064240" cy="2725861"/>
          </a:xfrm>
          <a:prstGeom prst="rect">
            <a:avLst/>
          </a:prstGeom>
        </p:spPr>
      </p:pic>
      <p:sp>
        <p:nvSpPr>
          <p:cNvPr id="8" name="原题文字_352_5"/>
          <p:cNvSpPr txBox="1"/>
          <p:nvPr/>
        </p:nvSpPr>
        <p:spPr>
          <a:xfrm>
            <a:off x="594802" y="1912499"/>
            <a:ext cx="1601560" cy="418067"/>
          </a:xfrm>
          <a:prstGeom prst="rect">
            <a:avLst/>
          </a:prstGeom>
          <a:noFill/>
        </p:spPr>
        <p:txBody>
          <a:bodyPr wrap="none" lIns="0" rIns="0" tIns="0" bIns="0">
            <a:spAutoFit/>
          </a:bodyPr>
          <a:lstStyle/>
          <a:p>
            <a:pPr>
              <a:lnSpc>
                <a:spcPct val="112000"/>
              </a:lnSpc>
              <a:spcBef>
                <a:spcPts val="0"/>
              </a:spcBef>
              <a:spcAft>
                <a:spcPts val="0"/>
              </a:spcAft>
              <a:defRPr sz="1954" b="0">
                <a:solidFill>
                  <a:srgbClr val="333333"/>
                </a:solidFill>
                <a:latin typeface="微软雅黑"/>
              </a:defRPr>
            </a:pPr>
            <a:r>
              <a:rPr>
                <a:ea typeface="微软雅黑"/>
              </a:rPr>
              <a:t>c(CO)/(mol/L)</a:t>
            </a:r>
          </a:p>
        </p:txBody>
      </p:sp>
      <p:sp>
        <p:nvSpPr>
          <p:cNvPr id="9" name="原题文字_352_6"/>
          <p:cNvSpPr txBox="1"/>
          <p:nvPr/>
        </p:nvSpPr>
        <p:spPr>
          <a:xfrm>
            <a:off x="2018988" y="2670534"/>
            <a:ext cx="26160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a:t>
            </a:r>
          </a:p>
        </p:txBody>
      </p:sp>
      <p:sp>
        <p:nvSpPr>
          <p:cNvPr id="10" name="原题文字_352_7"/>
          <p:cNvSpPr txBox="1"/>
          <p:nvPr/>
        </p:nvSpPr>
        <p:spPr>
          <a:xfrm>
            <a:off x="778568" y="2777730"/>
            <a:ext cx="43005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0.5</a:t>
            </a:r>
          </a:p>
        </p:txBody>
      </p:sp>
      <p:sp>
        <p:nvSpPr>
          <p:cNvPr id="11" name="原题文字_352_8"/>
          <p:cNvSpPr txBox="1"/>
          <p:nvPr/>
        </p:nvSpPr>
        <p:spPr>
          <a:xfrm>
            <a:off x="3267065" y="3627648"/>
            <a:ext cx="208002"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c</a:t>
            </a:r>
          </a:p>
        </p:txBody>
      </p:sp>
      <p:sp>
        <p:nvSpPr>
          <p:cNvPr id="12" name="原题文字_352_9"/>
          <p:cNvSpPr txBox="1"/>
          <p:nvPr/>
        </p:nvSpPr>
        <p:spPr>
          <a:xfrm>
            <a:off x="793882" y="3711874"/>
            <a:ext cx="41473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0.1</a:t>
            </a:r>
          </a:p>
        </p:txBody>
      </p:sp>
      <p:sp>
        <p:nvSpPr>
          <p:cNvPr id="13" name="原题文字_352_10"/>
          <p:cNvSpPr txBox="1"/>
          <p:nvPr/>
        </p:nvSpPr>
        <p:spPr>
          <a:xfrm>
            <a:off x="1230326" y="3872669"/>
            <a:ext cx="23097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a</a:t>
            </a:r>
          </a:p>
        </p:txBody>
      </p:sp>
      <p:sp>
        <p:nvSpPr>
          <p:cNvPr id="14" name="原题文字_352_11"/>
          <p:cNvSpPr txBox="1"/>
          <p:nvPr/>
        </p:nvSpPr>
        <p:spPr>
          <a:xfrm>
            <a:off x="3672882" y="3918611"/>
            <a:ext cx="26160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a:t>
            </a:r>
          </a:p>
        </p:txBody>
      </p:sp>
      <p:sp>
        <p:nvSpPr>
          <p:cNvPr id="15" name="原题文字_352_12"/>
          <p:cNvSpPr txBox="1"/>
          <p:nvPr/>
        </p:nvSpPr>
        <p:spPr>
          <a:xfrm>
            <a:off x="1988361" y="4278486"/>
            <a:ext cx="43770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0.2</a:t>
            </a:r>
          </a:p>
        </p:txBody>
      </p:sp>
      <p:sp>
        <p:nvSpPr>
          <p:cNvPr id="16" name="原题文字_352_13"/>
          <p:cNvSpPr txBox="1"/>
          <p:nvPr/>
        </p:nvSpPr>
        <p:spPr>
          <a:xfrm>
            <a:off x="3940874" y="4293799"/>
            <a:ext cx="1180430" cy="348389"/>
          </a:xfrm>
          <a:prstGeom prst="rect">
            <a:avLst/>
          </a:prstGeom>
          <a:noFill/>
        </p:spPr>
        <p:txBody>
          <a:bodyPr wrap="none" lIns="0" rIns="0" tIns="0" bIns="0">
            <a:spAutoFit/>
          </a:bodyPr>
          <a:lstStyle/>
          <a:p>
            <a:pPr>
              <a:lnSpc>
                <a:spcPct val="112000"/>
              </a:lnSpc>
              <a:spcBef>
                <a:spcPts val="0"/>
              </a:spcBef>
              <a:spcAft>
                <a:spcPts val="0"/>
              </a:spcAft>
              <a:defRPr sz="1647" b="0">
                <a:solidFill>
                  <a:srgbClr val="333333"/>
                </a:solidFill>
                <a:latin typeface="微软雅黑"/>
              </a:defRPr>
            </a:pPr>
            <a:r>
              <a:rPr>
                <a:ea typeface="微软雅黑"/>
              </a:rPr>
              <a:t>n(CO₂)/mol</a:t>
            </a:r>
          </a:p>
        </p:txBody>
      </p:sp>
      <p:sp>
        <p:nvSpPr>
          <p:cNvPr id="17" name="文字_(1)c点溶质的成分 ______ (填化学式)"/>
          <p:cNvSpPr txBox="1"/>
          <p:nvPr/>
        </p:nvSpPr>
        <p:spPr>
          <a:xfrm>
            <a:off x="502920" y="467962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(1)c点溶质的成分 ______ (填化学式)。</a:t>
            </a:r>
          </a:p>
        </p:txBody>
      </p:sp>
      <p:sp>
        <p:nvSpPr>
          <p:cNvPr id="18" name="文字_(2)通过计算得出，变质前的氢氧化钠溶液中溶质的"/>
          <p:cNvSpPr txBox="1"/>
          <p:nvPr/>
        </p:nvSpPr>
        <p:spPr>
          <a:xfrm>
            <a:off x="502920" y="511854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(2)通过计算得出，变质前的氢氧化钠溶液中溶质的质量为 ______ go</a:t>
            </a:r>
          </a:p>
        </p:txBody>
      </p:sp>
      <p:sp>
        <p:nvSpPr>
          <p:cNvPr id="19" name="文字_解答题  ·  16-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16-045</a:t>
            </a:r>
          </a:p>
        </p:txBody>
      </p:sp>
      <p:sp>
        <p:nvSpPr>
          <p:cNvPr id="20" name="文字_5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变式1</a:t>
            </a:r>
          </a:p>
        </p:txBody>
      </p:sp>
      <p:sp>
        <p:nvSpPr>
          <p:cNvPr id="5" name="文字_P3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P352</a:t>
            </a:r>
          </a:p>
        </p:txBody>
      </p:sp>
      <p:sp>
        <p:nvSpPr>
          <p:cNvPr id="6" name="文字_取不同质量由Ba(OH)₂和BaCO₃组成的均匀"/>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取不同质量由Ba(OH)₂和BaCO₃组成的均匀混合样品，先加适量的水溶解，然后</a:t>
            </a:r>
          </a:p>
          <a:p>
            <a:pPr>
              <a:lnSpc>
                <a:spcPct val="112000"/>
              </a:lnSpc>
              <a:spcBef>
                <a:spcPts val="0"/>
              </a:spcBef>
              <a:spcAft>
                <a:spcPts val="0"/>
              </a:spcAft>
              <a:defRPr sz="2400" b="0">
                <a:solidFill>
                  <a:srgbClr val="333333"/>
                </a:solidFill>
                <a:latin typeface="微软雅黑"/>
              </a:defRPr>
            </a:pPr>
            <a:r>
              <a:rPr>
                <a:ea typeface="微软雅黑"/>
              </a:rPr>
              <a:t>加入100mL某浓度稀盐酸，所得CO₂气体的体积（已换算为标准状况）与加入样</a:t>
            </a:r>
          </a:p>
          <a:p>
            <a:pPr>
              <a:lnSpc>
                <a:spcPct val="112000"/>
              </a:lnSpc>
              <a:spcBef>
                <a:spcPts val="0"/>
              </a:spcBef>
              <a:spcAft>
                <a:spcPts val="0"/>
              </a:spcAft>
              <a:defRPr sz="2400" b="0">
                <a:solidFill>
                  <a:srgbClr val="333333"/>
                </a:solidFill>
                <a:latin typeface="微软雅黑"/>
              </a:defRPr>
            </a:pPr>
            <a:r>
              <a:rPr>
                <a:ea typeface="微软雅黑"/>
              </a:rPr>
              <a:t>品的质量关系如图所示（不考虑CO₂的溶解、反应及碳酸氢盐的生成)。请计算：</a:t>
            </a:r>
          </a:p>
        </p:txBody>
      </p:sp>
      <p:pic>
        <p:nvPicPr>
          <p:cNvPr id="7" name="Picture 6" descr="image.png"/>
          <p:cNvPicPr>
            <a:picLocks noChangeAspect="1"/>
          </p:cNvPicPr>
          <p:nvPr/>
        </p:nvPicPr>
        <p:blipFill>
          <a:blip r:embed="rId3"/>
          <a:stretch>
            <a:fillRect/>
          </a:stretch>
        </p:blipFill>
        <p:spPr>
          <a:xfrm>
            <a:off x="502920" y="2243328"/>
            <a:ext cx="11064240" cy="2779459"/>
          </a:xfrm>
          <a:prstGeom prst="rect">
            <a:avLst/>
          </a:prstGeom>
        </p:spPr>
      </p:pic>
      <p:sp>
        <p:nvSpPr>
          <p:cNvPr id="8" name="原题文字_352_28"/>
          <p:cNvSpPr txBox="1"/>
          <p:nvPr/>
        </p:nvSpPr>
        <p:spPr>
          <a:xfrm>
            <a:off x="4002129" y="2275211"/>
            <a:ext cx="147139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气体体积(mL)</a:t>
            </a:r>
          </a:p>
        </p:txBody>
      </p:sp>
      <p:sp>
        <p:nvSpPr>
          <p:cNvPr id="9" name="原题文字_352_29"/>
          <p:cNvSpPr txBox="1"/>
          <p:nvPr/>
        </p:nvSpPr>
        <p:spPr>
          <a:xfrm>
            <a:off x="4124640" y="3775966"/>
            <a:ext cx="46833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224</a:t>
            </a:r>
          </a:p>
        </p:txBody>
      </p:sp>
      <p:sp>
        <p:nvSpPr>
          <p:cNvPr id="10" name="原题文字_352_30"/>
          <p:cNvSpPr txBox="1"/>
          <p:nvPr/>
        </p:nvSpPr>
        <p:spPr>
          <a:xfrm>
            <a:off x="4132296" y="4066929"/>
            <a:ext cx="44536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112</a:t>
            </a:r>
          </a:p>
        </p:txBody>
      </p:sp>
      <p:sp>
        <p:nvSpPr>
          <p:cNvPr id="11" name="原题文字_352_31"/>
          <p:cNvSpPr txBox="1"/>
          <p:nvPr/>
        </p:nvSpPr>
        <p:spPr>
          <a:xfrm>
            <a:off x="4629996" y="4549315"/>
            <a:ext cx="46068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1.84</a:t>
            </a:r>
          </a:p>
        </p:txBody>
      </p:sp>
      <p:sp>
        <p:nvSpPr>
          <p:cNvPr id="12" name="原题文字_352_32"/>
          <p:cNvSpPr txBox="1"/>
          <p:nvPr/>
        </p:nvSpPr>
        <p:spPr>
          <a:xfrm>
            <a:off x="6092466" y="4534001"/>
            <a:ext cx="583191" cy="378251"/>
          </a:xfrm>
          <a:prstGeom prst="rect">
            <a:avLst/>
          </a:prstGeom>
          <a:noFill/>
        </p:spPr>
        <p:txBody>
          <a:bodyPr wrap="none" lIns="0" rIns="0" tIns="0" bIns="0">
            <a:spAutoFit/>
          </a:bodyPr>
          <a:lstStyle/>
          <a:p>
            <a:pPr>
              <a:lnSpc>
                <a:spcPct val="112000"/>
              </a:lnSpc>
              <a:spcBef>
                <a:spcPts val="0"/>
              </a:spcBef>
              <a:spcAft>
                <a:spcPts val="0"/>
              </a:spcAft>
              <a:defRPr sz="1781" b="0">
                <a:solidFill>
                  <a:srgbClr val="333333"/>
                </a:solidFill>
                <a:latin typeface="微软雅黑"/>
              </a:defRPr>
            </a:pPr>
            <a:r>
              <a:rPr>
                <a:ea typeface="微软雅黑"/>
              </a:rPr>
              <a:t>11.04</a:t>
            </a:r>
          </a:p>
        </p:txBody>
      </p:sp>
      <p:sp>
        <p:nvSpPr>
          <p:cNvPr id="13" name="原题文字_352_33"/>
          <p:cNvSpPr txBox="1"/>
          <p:nvPr/>
        </p:nvSpPr>
        <p:spPr>
          <a:xfrm>
            <a:off x="6705019" y="4648854"/>
            <a:ext cx="1279970" cy="428021"/>
          </a:xfrm>
          <a:prstGeom prst="rect">
            <a:avLst/>
          </a:prstGeom>
          <a:noFill/>
        </p:spPr>
        <p:txBody>
          <a:bodyPr wrap="none" lIns="0" rIns="0" tIns="0" bIns="0">
            <a:spAutoFit/>
          </a:bodyPr>
          <a:lstStyle/>
          <a:p>
            <a:pPr>
              <a:lnSpc>
                <a:spcPct val="112000"/>
              </a:lnSpc>
              <a:spcBef>
                <a:spcPts val="0"/>
              </a:spcBef>
              <a:spcAft>
                <a:spcPts val="0"/>
              </a:spcAft>
              <a:defRPr sz="1903" b="0">
                <a:solidFill>
                  <a:srgbClr val="333333"/>
                </a:solidFill>
                <a:latin typeface="微软雅黑"/>
              </a:defRPr>
            </a:pPr>
            <a:r>
              <a:rPr>
                <a:ea typeface="微软雅黑"/>
              </a:rPr>
              <a:t>样品质量(g)</a:t>
            </a:r>
          </a:p>
        </p:txBody>
      </p:sp>
      <p:sp>
        <p:nvSpPr>
          <p:cNvPr id="14" name="文字_(1）混合物中Ba(OH)₂和 BaCO₃物质的"/>
          <p:cNvSpPr txBox="1"/>
          <p:nvPr/>
        </p:nvSpPr>
        <p:spPr>
          <a:xfrm>
            <a:off x="502920" y="50959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(1）混合物中Ba(OH)₂和 BaCO₃物质的量之比为 ______ O</a:t>
            </a:r>
          </a:p>
        </p:txBody>
      </p:sp>
      <p:sp>
        <p:nvSpPr>
          <p:cNvPr id="15" name="文字_(2) 稀盐酸物质的量浓度为 ______ mo"/>
          <p:cNvSpPr txBox="1"/>
          <p:nvPr/>
        </p:nvSpPr>
        <p:spPr>
          <a:xfrm>
            <a:off x="502920" y="55348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稀盐酸物质的量浓度为 ______ mol·L−1。</a:t>
            </a:r>
          </a:p>
        </p:txBody>
      </p:sp>
      <p:sp>
        <p:nvSpPr>
          <p:cNvPr id="16" name="文字_解答题  ·  16-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16-046</a:t>
            </a:r>
          </a:p>
        </p:txBody>
      </p:sp>
      <p:sp>
        <p:nvSpPr>
          <p:cNvPr id="17" name="文字_5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变式2</a:t>
            </a:r>
          </a:p>
        </p:txBody>
      </p:sp>
      <p:sp>
        <p:nvSpPr>
          <p:cNvPr id="5" name="文字_P3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P352</a:t>
            </a:r>
          </a:p>
        </p:txBody>
      </p:sp>
      <p:sp>
        <p:nvSpPr>
          <p:cNvPr id="6" name="文字_某磁黄铁矿的主要成分是FexS(S为一2价)，既"/>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某磁黄铁矿的主要成分是FexS(S为一2价)，既含有Fe²⁺又含有Fe³⁺。将一定量的</a:t>
            </a:r>
          </a:p>
          <a:p>
            <a:pPr>
              <a:lnSpc>
                <a:spcPct val="112000"/>
              </a:lnSpc>
              <a:spcBef>
                <a:spcPts val="0"/>
              </a:spcBef>
              <a:spcAft>
                <a:spcPts val="0"/>
              </a:spcAft>
              <a:defRPr sz="2400" b="0">
                <a:solidFill>
                  <a:srgbClr val="333333"/>
                </a:solidFill>
                <a:latin typeface="微软雅黑"/>
              </a:defRPr>
            </a:pPr>
            <a:r>
              <a:rPr>
                <a:ea typeface="微软雅黑"/>
              </a:rPr>
              <a:t>该磁黄铁矿与盐酸完全反应(注：矿石中其他成分不与盐酸反应)，生成2.4g硫单质</a:t>
            </a:r>
          </a:p>
          <a:p>
            <a:pPr>
              <a:lnSpc>
                <a:spcPct val="112000"/>
              </a:lnSpc>
              <a:spcBef>
                <a:spcPts val="0"/>
              </a:spcBef>
              <a:spcAft>
                <a:spcPts val="0"/>
              </a:spcAft>
              <a:defRPr sz="2400" b="0">
                <a:solidFill>
                  <a:srgbClr val="333333"/>
                </a:solidFill>
                <a:latin typeface="微软雅黑"/>
              </a:defRPr>
            </a:pPr>
            <a:r>
              <a:rPr>
                <a:ea typeface="微软雅黑"/>
              </a:rPr>
              <a:t>、0.425 molFeCl₂和一定量H₂S气体，且溶液中滴加KSCN溶液不变血红色。请计</a:t>
            </a:r>
          </a:p>
          <a:p>
            <a:pPr>
              <a:lnSpc>
                <a:spcPct val="112000"/>
              </a:lnSpc>
              <a:spcBef>
                <a:spcPts val="0"/>
              </a:spcBef>
              <a:spcAft>
                <a:spcPts val="0"/>
              </a:spcAft>
              <a:defRPr sz="2400" b="0">
                <a:solidFill>
                  <a:srgbClr val="333333"/>
                </a:solidFill>
                <a:latin typeface="微软雅黑"/>
              </a:defRPr>
            </a:pPr>
            <a:r>
              <a:rPr>
                <a:ea typeface="微软雅黑"/>
              </a:rPr>
              <a:t>算并回答下列问题：</a:t>
            </a:r>
          </a:p>
        </p:txBody>
      </p:sp>
      <p:sp>
        <p:nvSpPr>
          <p:cNvPr id="7" name="文字_(1)该磁黄铁矿FexS中，Fe²⁺与Fe³⁺的"/>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(1)该磁黄铁矿FexS中，Fe²⁺与Fe³⁺的物质的量之比为</a:t>
            </a:r>
          </a:p>
        </p:txBody>
      </p:sp>
      <p:sp>
        <p:nvSpPr>
          <p:cNvPr id="8" name="文字_(2)该磁黄铁矿FexS中，x= ______ "/>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(2)该磁黄铁矿FexS中，x= ______ O</a:t>
            </a:r>
          </a:p>
        </p:txBody>
      </p:sp>
      <p:sp>
        <p:nvSpPr>
          <p:cNvPr id="9" name="文字_解答题  ·  16-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16-047</a:t>
            </a:r>
          </a:p>
        </p:txBody>
      </p:sp>
      <p:sp>
        <p:nvSpPr>
          <p:cNvPr id="10" name="文字_5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变式3</a:t>
            </a:r>
          </a:p>
        </p:txBody>
      </p:sp>
      <p:sp>
        <p:nvSpPr>
          <p:cNvPr id="5" name="文字_P3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P353</a:t>
            </a:r>
          </a:p>
        </p:txBody>
      </p:sp>
      <p:sp>
        <p:nvSpPr>
          <p:cNvPr id="6" name="文字_现有Cu、Cu₂O组成的混合物，某研究性学习小组"/>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现有Cu、Cu₂O组成的混合物，某研究性学习小组为了探究其组成情况，取35.2g</a:t>
            </a:r>
          </a:p>
          <a:p>
            <a:pPr>
              <a:lnSpc>
                <a:spcPct val="112000"/>
              </a:lnSpc>
              <a:spcBef>
                <a:spcPts val="0"/>
              </a:spcBef>
              <a:spcAft>
                <a:spcPts val="0"/>
              </a:spcAft>
              <a:defRPr sz="2400" b="0">
                <a:solidFill>
                  <a:srgbClr val="333333"/>
                </a:solidFill>
                <a:latin typeface="微软雅黑"/>
              </a:defRPr>
            </a:pPr>
            <a:r>
              <a:rPr>
                <a:ea typeface="微软雅黑"/>
              </a:rPr>
              <a:t>该混合物加入0.5L₃.6mol/L的稀硝酸中，固体物质完全反应，溶液中铜元素均为</a:t>
            </a:r>
          </a:p>
          <a:p>
            <a:pPr>
              <a:lnSpc>
                <a:spcPct val="112000"/>
              </a:lnSpc>
              <a:spcBef>
                <a:spcPts val="0"/>
              </a:spcBef>
              <a:spcAft>
                <a:spcPts val="0"/>
              </a:spcAft>
              <a:defRPr sz="2400" b="0">
                <a:solidFill>
                  <a:srgbClr val="333333"/>
                </a:solidFill>
                <a:latin typeface="微软雅黑"/>
              </a:defRPr>
            </a:pPr>
            <a:r>
              <a:rPr>
                <a:ea typeface="微软雅黑"/>
              </a:rPr>
              <a:t>Cu²⁺，且生成4.48L(标准状况)的NO。向所得溶液中加入0.8Lamol/L的NaOH溶</a:t>
            </a:r>
          </a:p>
          <a:p>
            <a:pPr>
              <a:lnSpc>
                <a:spcPct val="112000"/>
              </a:lnSpc>
              <a:spcBef>
                <a:spcPts val="0"/>
              </a:spcBef>
              <a:spcAft>
                <a:spcPts val="0"/>
              </a:spcAft>
              <a:defRPr sz="2400" b="0">
                <a:solidFill>
                  <a:srgbClr val="333333"/>
                </a:solidFill>
                <a:latin typeface="微软雅黑"/>
              </a:defRPr>
            </a:pPr>
            <a:r>
              <a:rPr>
                <a:ea typeface="微软雅黑"/>
              </a:rPr>
              <a:t>液，恰好使溶液中的Cu²⁺沉淀完全。</a:t>
            </a:r>
          </a:p>
        </p:txBody>
      </p:sp>
      <p:sp>
        <p:nvSpPr>
          <p:cNvPr id="7" name="文字_(1) 将Cu₂O与稀硝酸反应的离子方程式配平："/>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将Cu₂O与稀硝酸反应的离子方程式配平：</a:t>
            </a:r>
          </a:p>
        </p:txBody>
      </p:sp>
      <p:sp>
        <p:nvSpPr>
          <p:cNvPr id="8" name="文字_Cu₂O⁺ ______ H++ ______ "/>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Cu₂O⁺ ______ H++ ______ NO₃= ______ _Cu²⁺+_ ______ NO ↑+ ______ H₂O</a:t>
            </a:r>
          </a:p>
        </p:txBody>
      </p:sp>
      <p:sp>
        <p:nvSpPr>
          <p:cNvPr id="9" name="文字_(2)a="/>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(2)a=</a:t>
            </a:r>
          </a:p>
        </p:txBody>
      </p:sp>
      <p:sp>
        <p:nvSpPr>
          <p:cNvPr id="10" name="文字_(3) 求混合物中Cu的质量分数 ______ "/>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求混合物中Cu的质量分数 ______ (保留三位有效数字)。</a:t>
            </a:r>
          </a:p>
        </p:txBody>
      </p:sp>
      <p:sp>
        <p:nvSpPr>
          <p:cNvPr id="11" name="文字_填空题  ·  16-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16-048</a:t>
            </a:r>
          </a:p>
        </p:txBody>
      </p:sp>
      <p:sp>
        <p:nvSpPr>
          <p:cNvPr id="12"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变式4</a:t>
            </a:r>
          </a:p>
        </p:txBody>
      </p:sp>
      <p:sp>
        <p:nvSpPr>
          <p:cNvPr id="5" name="文字_P3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P353</a:t>
            </a:r>
          </a:p>
        </p:txBody>
      </p:sp>
      <p:sp>
        <p:nvSpPr>
          <p:cNvPr id="6" name="文字_化合物A仅含碳、硫两种元素。为测定化合物A中碳、"/>
          <p:cNvSpPr txBox="1"/>
          <p:nvPr/>
        </p:nvSpPr>
        <p:spPr>
          <a:xfrm>
            <a:off x="502920" y="1078992"/>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化合物A仅含碳、硫两种元素。为测定化合物A中碳、硫元素的含量，某化学兴趣小组进行了如下实验：</a:t>
            </a:r>
          </a:p>
        </p:txBody>
      </p:sp>
      <p:sp>
        <p:nvSpPr>
          <p:cNvPr id="7" name="文字_步骤I：取2.00g化合物A固体，在氧气中充分燃"/>
          <p:cNvSpPr txBox="1"/>
          <p:nvPr/>
        </p:nvSpPr>
        <p:spPr>
          <a:xfrm>
            <a:off x="502920" y="1335024"/>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步骤I：取2.00g化合物A固体，在氧气中充分燃烧，得到混合气体X；</a:t>
            </a:r>
          </a:p>
        </p:txBody>
      </p:sp>
      <p:sp>
        <p:nvSpPr>
          <p:cNvPr id="8" name="文字_步骤Ⅱ：为除去混合气体X中的SO₂，将混合气体X"/>
          <p:cNvSpPr txBox="1"/>
          <p:nvPr/>
        </p:nvSpPr>
        <p:spPr>
          <a:xfrm>
            <a:off x="502920" y="1591056"/>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步骤Ⅱ：为除去混合气体X中的SO₂，将混合气体X通入足量氯水充分反应；</a:t>
            </a:r>
          </a:p>
        </p:txBody>
      </p:sp>
      <p:sp>
        <p:nvSpPr>
          <p:cNvPr id="9" name="文字_步骤ⅢI：再将剩余气体通入足量Ca(OH)₂溶液"/>
          <p:cNvSpPr txBox="1"/>
          <p:nvPr/>
        </p:nvSpPr>
        <p:spPr>
          <a:xfrm>
            <a:off x="502920" y="1847088"/>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步骤ⅢI：再将剩余气体通入足量Ca(OH)₂溶液充分反应，测得质量增加了2.64g。</a:t>
            </a:r>
          </a:p>
        </p:txBody>
      </p:sp>
      <p:sp>
        <p:nvSpPr>
          <p:cNvPr id="10" name="文字_请计算："/>
          <p:cNvSpPr txBox="1"/>
          <p:nvPr/>
        </p:nvSpPr>
        <p:spPr>
          <a:xfrm>
            <a:off x="502920" y="2103120"/>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请计算：</a:t>
            </a:r>
          </a:p>
        </p:txBody>
      </p:sp>
      <p:sp>
        <p:nvSpPr>
          <p:cNvPr id="11" name="文字_(1) 混合气体中CO₂的物质的量为 _____"/>
          <p:cNvSpPr txBox="1"/>
          <p:nvPr/>
        </p:nvSpPr>
        <p:spPr>
          <a:xfrm>
            <a:off x="502920" y="2359152"/>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(1) 混合气体中CO₂的物质的量为 ______ mol。</a:t>
            </a:r>
          </a:p>
        </p:txBody>
      </p:sp>
      <p:sp>
        <p:nvSpPr>
          <p:cNvPr id="12" name="文字_(2)物质A的分子式(已知A的相对分子质量不超过"/>
          <p:cNvSpPr txBox="1"/>
          <p:nvPr/>
        </p:nvSpPr>
        <p:spPr>
          <a:xfrm>
            <a:off x="502920" y="2615184"/>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(2)物质A的分子式(已知A的相对分子质量不超过150)</a:t>
            </a:r>
          </a:p>
        </p:txBody>
      </p:sp>
      <p:sp>
        <p:nvSpPr>
          <p:cNvPr id="13" name="文字_(3)下列实验方案中，能测定化合物A中硫的质量分"/>
          <p:cNvSpPr txBox="1"/>
          <p:nvPr/>
        </p:nvSpPr>
        <p:spPr>
          <a:xfrm>
            <a:off x="502920" y="2871216"/>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(3)下列实验方案中，能测定化合物A中硫的质量分数的是 ______ o</a:t>
            </a:r>
          </a:p>
        </p:txBody>
      </p:sp>
      <p:sp>
        <p:nvSpPr>
          <p:cNvPr id="14" name="文字_A. 将混合气体X通入Ba(OH)₂溶液充分反应"/>
          <p:cNvSpPr txBox="1"/>
          <p:nvPr/>
        </p:nvSpPr>
        <p:spPr>
          <a:xfrm>
            <a:off x="502920" y="3127248"/>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A. 将混合气体X通入Ba(OH)₂溶液充分反应，过滤、洗涤、干燥，得ag固体。经计算，测得化合物A中硫的</a:t>
            </a:r>
          </a:p>
        </p:txBody>
      </p:sp>
      <p:sp>
        <p:nvSpPr>
          <p:cNvPr id="15" name="文字_32a"/>
          <p:cNvSpPr txBox="1"/>
          <p:nvPr/>
        </p:nvSpPr>
        <p:spPr>
          <a:xfrm>
            <a:off x="502920" y="3383280"/>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32a</a:t>
            </a:r>
          </a:p>
        </p:txBody>
      </p:sp>
      <p:sp>
        <p:nvSpPr>
          <p:cNvPr id="16" name="文字_质量分数w (S) = ______ × 100"/>
          <p:cNvSpPr txBox="1"/>
          <p:nvPr/>
        </p:nvSpPr>
        <p:spPr>
          <a:xfrm>
            <a:off x="502920" y="3639312"/>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质量分数w (S) = ______ × 100%</a:t>
            </a:r>
          </a:p>
        </p:txBody>
      </p:sp>
      <p:sp>
        <p:nvSpPr>
          <p:cNvPr id="17" name="文字_217 × 2.00"/>
          <p:cNvSpPr txBox="1"/>
          <p:nvPr/>
        </p:nvSpPr>
        <p:spPr>
          <a:xfrm>
            <a:off x="502920" y="3895344"/>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217 × 2.00</a:t>
            </a:r>
          </a:p>
        </p:txBody>
      </p:sp>
      <p:sp>
        <p:nvSpPr>
          <p:cNvPr id="18" name="文字_B. 将混合气体X通入H₂O₂和BaCl₂混合溶"/>
          <p:cNvSpPr txBox="1"/>
          <p:nvPr/>
        </p:nvSpPr>
        <p:spPr>
          <a:xfrm>
            <a:off x="502920" y="4151376"/>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B. 将混合气体X通入H₂O₂和BaCl₂混合溶液充分反应，过滤、洗涤、干燥，得bg固体。经计算，测得化合物</a:t>
            </a:r>
          </a:p>
        </p:txBody>
      </p:sp>
      <p:sp>
        <p:nvSpPr>
          <p:cNvPr id="19" name="文字_32b"/>
          <p:cNvSpPr txBox="1"/>
          <p:nvPr/>
        </p:nvSpPr>
        <p:spPr>
          <a:xfrm>
            <a:off x="502920" y="4407408"/>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32b</a:t>
            </a:r>
          </a:p>
        </p:txBody>
      </p:sp>
      <p:sp>
        <p:nvSpPr>
          <p:cNvPr id="20" name="文字_A中硫的质量分数w(S) = ______ × "/>
          <p:cNvSpPr txBox="1"/>
          <p:nvPr/>
        </p:nvSpPr>
        <p:spPr>
          <a:xfrm>
            <a:off x="502920" y="4663440"/>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A中硫的质量分数w(S) = ______ × 100%</a:t>
            </a:r>
          </a:p>
        </p:txBody>
      </p:sp>
      <p:sp>
        <p:nvSpPr>
          <p:cNvPr id="21" name="文字_233 × 2.00"/>
          <p:cNvSpPr txBox="1"/>
          <p:nvPr/>
        </p:nvSpPr>
        <p:spPr>
          <a:xfrm>
            <a:off x="502920" y="4919472"/>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233 × 2.00</a:t>
            </a:r>
          </a:p>
        </p:txBody>
      </p:sp>
      <p:sp>
        <p:nvSpPr>
          <p:cNvPr id="22" name="文字_C. 将混合气体X通入氯水充分反应，共消耗cmo"/>
          <p:cNvSpPr txBox="1"/>
          <p:nvPr/>
        </p:nvSpPr>
        <p:spPr>
          <a:xfrm>
            <a:off x="502920" y="5175504"/>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C. 将混合气体X通入氯水充分反应，共消耗cmol的Cl₂。经计算，测得化合物A中硫的质量分数</a:t>
            </a:r>
          </a:p>
        </p:txBody>
      </p:sp>
      <p:sp>
        <p:nvSpPr>
          <p:cNvPr id="23" name="文字_32c"/>
          <p:cNvSpPr txBox="1"/>
          <p:nvPr/>
        </p:nvSpPr>
        <p:spPr>
          <a:xfrm>
            <a:off x="502920" y="5431536"/>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32c</a:t>
            </a:r>
          </a:p>
        </p:txBody>
      </p:sp>
      <p:sp>
        <p:nvSpPr>
          <p:cNvPr id="24" name="文字_w (S) = × 100%"/>
          <p:cNvSpPr txBox="1"/>
          <p:nvPr/>
        </p:nvSpPr>
        <p:spPr>
          <a:xfrm>
            <a:off x="502920" y="5687568"/>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w (S) = × 100%</a:t>
            </a:r>
          </a:p>
        </p:txBody>
      </p:sp>
      <p:sp>
        <p:nvSpPr>
          <p:cNvPr id="25" name="文字_2.00"/>
          <p:cNvSpPr txBox="1"/>
          <p:nvPr/>
        </p:nvSpPr>
        <p:spPr>
          <a:xfrm>
            <a:off x="502920" y="5943600"/>
            <a:ext cx="11064240" cy="256032"/>
          </a:xfrm>
          <a:prstGeom prst="rect">
            <a:avLst/>
          </a:prstGeom>
          <a:noFill/>
        </p:spPr>
        <p:txBody>
          <a:bodyPr wrap="squar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2.00</a:t>
            </a:r>
          </a:p>
        </p:txBody>
      </p:sp>
      <p:sp>
        <p:nvSpPr>
          <p:cNvPr id="26" name="文字_解答题  ·  16-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16-049</a:t>
            </a:r>
          </a:p>
        </p:txBody>
      </p:sp>
      <p:sp>
        <p:nvSpPr>
          <p:cNvPr id="27"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变式5</a:t>
            </a:r>
          </a:p>
        </p:txBody>
      </p:sp>
      <p:sp>
        <p:nvSpPr>
          <p:cNvPr id="5" name="文字_P3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P354</a:t>
            </a:r>
          </a:p>
        </p:txBody>
      </p:sp>
      <p:sp>
        <p:nvSpPr>
          <p:cNvPr id="6" name="文字_向2LFe(NO₃)₃、稀H₂SO₄、CuSO₄"/>
          <p:cNvSpPr txBox="1"/>
          <p:nvPr/>
        </p:nvSpPr>
        <p:spPr>
          <a:xfrm>
            <a:off x="502920" y="1078992"/>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向2LFe(NO₃)₃、稀H₂SO₄、CuSO₄的混合溶液中，缓慢加入42g铁粉充分反应。加入铁粉的量与容器中产</a:t>
            </a:r>
          </a:p>
          <a:p>
            <a:pPr>
              <a:lnSpc>
                <a:spcPct val="112000"/>
              </a:lnSpc>
              <a:spcBef>
                <a:spcPts val="0"/>
              </a:spcBef>
              <a:spcAft>
                <a:spcPts val="0"/>
              </a:spcAft>
              <a:defRPr sz="1800" b="0">
                <a:solidFill>
                  <a:srgbClr val="333333"/>
                </a:solidFill>
                <a:latin typeface="微软雅黑"/>
              </a:defRPr>
            </a:pPr>
            <a:r>
              <a:rPr>
                <a:ea typeface="微软雅黑"/>
              </a:rPr>
              <a:t>生的气体和固体的变化曲线如图所示。（以下气体体积均已换算为标准状况）请回答以下问题：</a:t>
            </a:r>
          </a:p>
        </p:txBody>
      </p:sp>
      <p:sp>
        <p:nvSpPr>
          <p:cNvPr id="7" name="文字_已知： ①氧化性: 稀HNO₃ &gt; Fe³⁺ &gt;"/>
          <p:cNvSpPr txBox="1"/>
          <p:nvPr/>
        </p:nvSpPr>
        <p:spPr>
          <a:xfrm>
            <a:off x="502920" y="1680210"/>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已知： ①氧化性: 稀HNO₃ &gt; Fe³⁺ &gt; Cu²⁺ &gt; H+;</a:t>
            </a:r>
          </a:p>
        </p:txBody>
      </p:sp>
      <p:sp>
        <p:nvSpPr>
          <p:cNvPr id="8" name="文字_②Fe + 4H+ + NO₃ = Fe³⁺ +"/>
          <p:cNvSpPr txBox="1"/>
          <p:nvPr/>
        </p:nvSpPr>
        <p:spPr>
          <a:xfrm>
            <a:off x="502920" y="2009393"/>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②Fe + 4H+ + NO₃ = Fe³⁺ + NO ↑ +2H₂O。</a:t>
            </a:r>
          </a:p>
        </p:txBody>
      </p:sp>
      <p:pic>
        <p:nvPicPr>
          <p:cNvPr id="9" name="Picture 8" descr="image.png"/>
          <p:cNvPicPr>
            <a:picLocks noChangeAspect="1"/>
          </p:cNvPicPr>
          <p:nvPr/>
        </p:nvPicPr>
        <p:blipFill>
          <a:blip r:embed="rId3"/>
          <a:stretch>
            <a:fillRect/>
          </a:stretch>
        </p:blipFill>
        <p:spPr>
          <a:xfrm>
            <a:off x="502920" y="2338577"/>
            <a:ext cx="11064240" cy="2955568"/>
          </a:xfrm>
          <a:prstGeom prst="rect">
            <a:avLst/>
          </a:prstGeom>
        </p:spPr>
      </p:pic>
      <p:sp>
        <p:nvSpPr>
          <p:cNvPr id="10" name="原题文字_354_7"/>
          <p:cNvSpPr txBox="1"/>
          <p:nvPr/>
        </p:nvSpPr>
        <p:spPr>
          <a:xfrm>
            <a:off x="755598" y="2370461"/>
            <a:ext cx="690387" cy="388205"/>
          </a:xfrm>
          <a:prstGeom prst="rect">
            <a:avLst/>
          </a:prstGeom>
          <a:noFill/>
        </p:spPr>
        <p:txBody>
          <a:bodyPr wrap="none" lIns="0" rIns="0" tIns="0" bIns="0">
            <a:spAutoFit/>
          </a:bodyPr>
          <a:lstStyle/>
          <a:p>
            <a:pPr>
              <a:lnSpc>
                <a:spcPct val="112000"/>
              </a:lnSpc>
              <a:spcBef>
                <a:spcPts val="0"/>
              </a:spcBef>
              <a:spcAft>
                <a:spcPts val="0"/>
              </a:spcAft>
              <a:defRPr sz="1868" b="0">
                <a:solidFill>
                  <a:srgbClr val="333333"/>
                </a:solidFill>
                <a:latin typeface="微软雅黑"/>
              </a:defRPr>
            </a:pPr>
            <a:r>
              <a:rPr>
                <a:ea typeface="微软雅黑"/>
              </a:rPr>
              <a:t>V(g)/L</a:t>
            </a:r>
          </a:p>
        </p:txBody>
      </p:sp>
      <p:sp>
        <p:nvSpPr>
          <p:cNvPr id="11" name="原题文字_354_8"/>
          <p:cNvSpPr txBox="1"/>
          <p:nvPr/>
        </p:nvSpPr>
        <p:spPr>
          <a:xfrm>
            <a:off x="3573342" y="2370461"/>
            <a:ext cx="698044" cy="388205"/>
          </a:xfrm>
          <a:prstGeom prst="rect">
            <a:avLst/>
          </a:prstGeom>
          <a:noFill/>
        </p:spPr>
        <p:txBody>
          <a:bodyPr wrap="none" lIns="0" rIns="0" tIns="0" bIns="0">
            <a:spAutoFit/>
          </a:bodyPr>
          <a:lstStyle/>
          <a:p>
            <a:pPr>
              <a:lnSpc>
                <a:spcPct val="112000"/>
              </a:lnSpc>
              <a:spcBef>
                <a:spcPts val="0"/>
              </a:spcBef>
              <a:spcAft>
                <a:spcPts val="0"/>
              </a:spcAft>
              <a:defRPr sz="1759" b="0">
                <a:solidFill>
                  <a:srgbClr val="333333"/>
                </a:solidFill>
                <a:latin typeface="微软雅黑"/>
              </a:defRPr>
            </a:pPr>
            <a:r>
              <a:rPr>
                <a:ea typeface="微软雅黑"/>
              </a:rPr>
              <a:t>m(s)/g</a:t>
            </a:r>
          </a:p>
        </p:txBody>
      </p:sp>
      <p:sp>
        <p:nvSpPr>
          <p:cNvPr id="12" name="原题文字_354_9"/>
          <p:cNvSpPr txBox="1"/>
          <p:nvPr/>
        </p:nvSpPr>
        <p:spPr>
          <a:xfrm>
            <a:off x="3864305" y="2646110"/>
            <a:ext cx="162060"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4</a:t>
            </a:r>
          </a:p>
        </p:txBody>
      </p:sp>
      <p:sp>
        <p:nvSpPr>
          <p:cNvPr id="13" name="原题文字_354_10"/>
          <p:cNvSpPr txBox="1"/>
          <p:nvPr/>
        </p:nvSpPr>
        <p:spPr>
          <a:xfrm>
            <a:off x="1888821" y="2845190"/>
            <a:ext cx="141013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气体体积曲线</a:t>
            </a:r>
          </a:p>
        </p:txBody>
      </p:sp>
      <p:sp>
        <p:nvSpPr>
          <p:cNvPr id="14" name="原题文字_354_11"/>
          <p:cNvSpPr txBox="1"/>
          <p:nvPr/>
        </p:nvSpPr>
        <p:spPr>
          <a:xfrm>
            <a:off x="1873507" y="3258663"/>
            <a:ext cx="141779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固体质量曲线</a:t>
            </a:r>
          </a:p>
        </p:txBody>
      </p:sp>
      <p:sp>
        <p:nvSpPr>
          <p:cNvPr id="15" name="原题文字_354_12"/>
          <p:cNvSpPr txBox="1"/>
          <p:nvPr/>
        </p:nvSpPr>
        <p:spPr>
          <a:xfrm>
            <a:off x="3940874" y="3335232"/>
            <a:ext cx="52193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31.2</a:t>
            </a:r>
          </a:p>
        </p:txBody>
      </p:sp>
      <p:sp>
        <p:nvSpPr>
          <p:cNvPr id="16" name="原题文字_354_13"/>
          <p:cNvSpPr txBox="1"/>
          <p:nvPr/>
        </p:nvSpPr>
        <p:spPr>
          <a:xfrm>
            <a:off x="2309951" y="3496028"/>
            <a:ext cx="1188087" cy="348389"/>
          </a:xfrm>
          <a:prstGeom prst="rect">
            <a:avLst/>
          </a:prstGeom>
          <a:noFill/>
        </p:spPr>
        <p:txBody>
          <a:bodyPr wrap="none" lIns="0" rIns="0" tIns="0" bIns="0">
            <a:spAutoFit/>
          </a:bodyPr>
          <a:lstStyle/>
          <a:p>
            <a:pPr>
              <a:lnSpc>
                <a:spcPct val="112000"/>
              </a:lnSpc>
              <a:spcBef>
                <a:spcPts val="0"/>
              </a:spcBef>
              <a:spcAft>
                <a:spcPts val="0"/>
              </a:spcAft>
              <a:defRPr sz="1658" b="0">
                <a:solidFill>
                  <a:srgbClr val="333333"/>
                </a:solidFill>
                <a:latin typeface="微软雅黑"/>
              </a:defRPr>
            </a:pPr>
            <a:r>
              <a:rPr>
                <a:ea typeface="微软雅黑"/>
              </a:rPr>
              <a:t>b(36.4,25.6),</a:t>
            </a:r>
          </a:p>
        </p:txBody>
      </p:sp>
      <p:sp>
        <p:nvSpPr>
          <p:cNvPr id="17" name="原题文字_354_14"/>
          <p:cNvSpPr txBox="1"/>
          <p:nvPr/>
        </p:nvSpPr>
        <p:spPr>
          <a:xfrm>
            <a:off x="3940874" y="3564940"/>
            <a:ext cx="52193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25.6</a:t>
            </a:r>
          </a:p>
        </p:txBody>
      </p:sp>
      <p:sp>
        <p:nvSpPr>
          <p:cNvPr id="18" name="原题文字_354_15"/>
          <p:cNvSpPr txBox="1"/>
          <p:nvPr/>
        </p:nvSpPr>
        <p:spPr>
          <a:xfrm>
            <a:off x="1169071" y="4032011"/>
            <a:ext cx="105026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a(5.6,2.24)</a:t>
            </a:r>
          </a:p>
        </p:txBody>
      </p:sp>
      <p:sp>
        <p:nvSpPr>
          <p:cNvPr id="19" name="原题文字_354_16"/>
          <p:cNvSpPr txBox="1"/>
          <p:nvPr/>
        </p:nvSpPr>
        <p:spPr>
          <a:xfrm>
            <a:off x="610116" y="4185150"/>
            <a:ext cx="52193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2.24</a:t>
            </a:r>
          </a:p>
        </p:txBody>
      </p:sp>
      <p:sp>
        <p:nvSpPr>
          <p:cNvPr id="20" name="原题文字_354_17"/>
          <p:cNvSpPr txBox="1"/>
          <p:nvPr/>
        </p:nvSpPr>
        <p:spPr>
          <a:xfrm>
            <a:off x="3994472" y="4835987"/>
            <a:ext cx="874153" cy="398159"/>
          </a:xfrm>
          <a:prstGeom prst="rect">
            <a:avLst/>
          </a:prstGeom>
          <a:noFill/>
        </p:spPr>
        <p:txBody>
          <a:bodyPr wrap="none" lIns="0" rIns="0" tIns="0" bIns="0">
            <a:spAutoFit/>
          </a:bodyPr>
          <a:lstStyle/>
          <a:p>
            <a:pPr>
              <a:lnSpc>
                <a:spcPct val="112000"/>
              </a:lnSpc>
              <a:spcBef>
                <a:spcPts val="0"/>
              </a:spcBef>
              <a:spcAft>
                <a:spcPts val="0"/>
              </a:spcAft>
              <a:defRPr sz="1555" b="0">
                <a:solidFill>
                  <a:srgbClr val="333333"/>
                </a:solidFill>
                <a:latin typeface="微软雅黑"/>
              </a:defRPr>
            </a:pPr>
            <a:r>
              <a:rPr>
                <a:ea typeface="微软雅黑"/>
              </a:rPr>
              <a:t>→ m(s)/g</a:t>
            </a:r>
          </a:p>
        </p:txBody>
      </p:sp>
      <p:sp>
        <p:nvSpPr>
          <p:cNvPr id="21" name="原题文字_354_18"/>
          <p:cNvSpPr txBox="1"/>
          <p:nvPr/>
        </p:nvSpPr>
        <p:spPr>
          <a:xfrm>
            <a:off x="1008276" y="5012096"/>
            <a:ext cx="200345"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0</a:t>
            </a:r>
          </a:p>
        </p:txBody>
      </p:sp>
      <p:sp>
        <p:nvSpPr>
          <p:cNvPr id="22" name="原题文字_354_19"/>
          <p:cNvSpPr txBox="1"/>
          <p:nvPr/>
        </p:nvSpPr>
        <p:spPr>
          <a:xfrm>
            <a:off x="1337523" y="5004440"/>
            <a:ext cx="42239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5.6</a:t>
            </a:r>
          </a:p>
        </p:txBody>
      </p:sp>
      <p:sp>
        <p:nvSpPr>
          <p:cNvPr id="23" name="原题文字_354_20"/>
          <p:cNvSpPr txBox="1"/>
          <p:nvPr/>
        </p:nvSpPr>
        <p:spPr>
          <a:xfrm>
            <a:off x="1980704" y="5012096"/>
            <a:ext cx="33051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14</a:t>
            </a:r>
          </a:p>
        </p:txBody>
      </p:sp>
      <p:sp>
        <p:nvSpPr>
          <p:cNvPr id="24" name="原题文字_354_21"/>
          <p:cNvSpPr txBox="1"/>
          <p:nvPr/>
        </p:nvSpPr>
        <p:spPr>
          <a:xfrm>
            <a:off x="3236438" y="5004440"/>
            <a:ext cx="858839"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36.442</a:t>
            </a:r>
          </a:p>
        </p:txBody>
      </p:sp>
      <p:sp>
        <p:nvSpPr>
          <p:cNvPr id="25" name="文字_(1) 产生的气体为 ______ (填化学式)"/>
          <p:cNvSpPr txBox="1"/>
          <p:nvPr/>
        </p:nvSpPr>
        <p:spPr>
          <a:xfrm>
            <a:off x="502920" y="5367298"/>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(1) 产生的气体为 ______ (填化学式)。</a:t>
            </a:r>
          </a:p>
        </p:txBody>
      </p:sp>
      <p:sp>
        <p:nvSpPr>
          <p:cNvPr id="26" name="文字_(2)b点溶液中的溶质为 ______ (填化学"/>
          <p:cNvSpPr txBox="1"/>
          <p:nvPr/>
        </p:nvSpPr>
        <p:spPr>
          <a:xfrm>
            <a:off x="502920" y="5696482"/>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(2)b点溶液中的溶质为 ______ (填化学式)。</a:t>
            </a:r>
          </a:p>
        </p:txBody>
      </p:sp>
      <p:sp>
        <p:nvSpPr>
          <p:cNvPr id="27" name="文字_(3)原溶液中Fe(NO₃)₃的物质的量浓度为 "/>
          <p:cNvSpPr txBox="1"/>
          <p:nvPr/>
        </p:nvSpPr>
        <p:spPr>
          <a:xfrm>
            <a:off x="502920" y="6025666"/>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(3)原溶液中Fe(NO₃)₃的物质的量浓度为 ______ mol/L。</a:t>
            </a:r>
          </a:p>
        </p:txBody>
      </p:sp>
      <p:sp>
        <p:nvSpPr>
          <p:cNvPr id="28" name="文字_填空题  ·  16-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16-050</a:t>
            </a:r>
          </a:p>
        </p:txBody>
      </p:sp>
      <p:sp>
        <p:nvSpPr>
          <p:cNvPr id="29"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变式6</a:t>
            </a:r>
          </a:p>
        </p:txBody>
      </p:sp>
      <p:sp>
        <p:nvSpPr>
          <p:cNvPr id="5" name="文字_P3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P354</a:t>
            </a:r>
          </a:p>
        </p:txBody>
      </p:sp>
      <p:sp>
        <p:nvSpPr>
          <p:cNvPr id="6" name="文字_铜既能与稀硝酸反应，也能与浓硝酸反应。现将32g"/>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铜既能与稀硝酸反应，也能与浓硝酸反应。现将32gCu投入50mL₁₂mol/L的浓硝</a:t>
            </a:r>
          </a:p>
          <a:p>
            <a:pPr>
              <a:lnSpc>
                <a:spcPct val="112000"/>
              </a:lnSpc>
              <a:spcBef>
                <a:spcPts val="0"/>
              </a:spcBef>
              <a:spcAft>
                <a:spcPts val="0"/>
              </a:spcAft>
              <a:defRPr sz="2400" b="0">
                <a:solidFill>
                  <a:srgbClr val="333333"/>
                </a:solidFill>
                <a:latin typeface="微软雅黑"/>
              </a:defRPr>
            </a:pPr>
            <a:r>
              <a:rPr>
                <a:ea typeface="微软雅黑"/>
              </a:rPr>
              <a:t>酸中，充分反应后，收集到</a:t>
            </a:r>
          </a:p>
        </p:txBody>
      </p:sp>
      <p:sp>
        <p:nvSpPr>
          <p:cNvPr id="7" name="文字_4.48L(标准状态)NO和NO₂的混合气体。"/>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4.48L(标准状态)NO和NO₂的混合气体。</a:t>
            </a:r>
          </a:p>
        </p:txBody>
      </p:sp>
      <p:sp>
        <p:nvSpPr>
          <p:cNvPr id="8" name="文字_(1) 被还原硝酸的物质的量是 ______ m"/>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被还原硝酸的物质的量是 ______ mol。</a:t>
            </a:r>
          </a:p>
        </p:txBody>
      </p:sp>
      <p:sp>
        <p:nvSpPr>
          <p:cNvPr id="9" name="文字_(2)反应有 ______ molCu剩余。"/>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(2)反应有 ______ molCu剩余。</a:t>
            </a:r>
          </a:p>
        </p:txBody>
      </p:sp>
      <p:sp>
        <p:nvSpPr>
          <p:cNvPr id="10" name="文字_(3)如果往反应后的体系内再加入100mL₀.4"/>
          <p:cNvSpPr txBox="1"/>
          <p:nvPr/>
        </p:nvSpPr>
        <p:spPr>
          <a:xfrm>
            <a:off x="502920" y="31973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(3)如果往反应后的体系内再加入100mL₀.4mol/L的稀硫酸，又会有气体逸出，产</a:t>
            </a:r>
          </a:p>
          <a:p>
            <a:pPr>
              <a:lnSpc>
                <a:spcPct val="112000"/>
              </a:lnSpc>
              <a:spcBef>
                <a:spcPts val="0"/>
              </a:spcBef>
              <a:spcAft>
                <a:spcPts val="0"/>
              </a:spcAft>
              <a:defRPr sz="2400" b="0">
                <a:solidFill>
                  <a:srgbClr val="333333"/>
                </a:solidFill>
                <a:latin typeface="微软雅黑"/>
              </a:defRPr>
            </a:pPr>
            <a:r>
              <a:rPr>
                <a:ea typeface="微软雅黑"/>
              </a:rPr>
              <a:t>生的气体在标准状况下的体积为 ______ mL。</a:t>
            </a:r>
          </a:p>
        </p:txBody>
      </p:sp>
      <p:sp>
        <p:nvSpPr>
          <p:cNvPr id="11" name="文字_解答题  ·  16-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16-051</a:t>
            </a:r>
          </a:p>
        </p:txBody>
      </p:sp>
      <p:sp>
        <p:nvSpPr>
          <p:cNvPr id="12"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变式7</a:t>
            </a:r>
          </a:p>
        </p:txBody>
      </p:sp>
      <p:sp>
        <p:nvSpPr>
          <p:cNvPr id="5" name="文字_P3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P354</a:t>
            </a:r>
          </a:p>
        </p:txBody>
      </p:sp>
      <p:sp>
        <p:nvSpPr>
          <p:cNvPr id="6" name="文字_现有400 mLK₂SO₄和Fe₂(SO₄)₃的"/>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现有400 mLK₂SO₄和Fe₂(SO₄)₃的混合溶液，将其分为两等份，向其中一份中加</a:t>
            </a:r>
          </a:p>
          <a:p>
            <a:pPr>
              <a:lnSpc>
                <a:spcPct val="112000"/>
              </a:lnSpc>
              <a:spcBef>
                <a:spcPts val="0"/>
              </a:spcBef>
              <a:spcAft>
                <a:spcPts val="0"/>
              </a:spcAft>
              <a:defRPr sz="2400" b="0">
                <a:solidFill>
                  <a:srgbClr val="333333"/>
                </a:solidFill>
                <a:latin typeface="微软雅黑"/>
              </a:defRPr>
            </a:pPr>
            <a:r>
              <a:rPr>
                <a:ea typeface="微软雅黑"/>
              </a:rPr>
              <a:t>入1 mol/LBaCl₂溶液，至恰好不再产生沉淀，消耗50mL，将沉淀过滤、洗涤、干</a:t>
            </a:r>
          </a:p>
          <a:p>
            <a:pPr>
              <a:lnSpc>
                <a:spcPct val="112000"/>
              </a:lnSpc>
              <a:spcBef>
                <a:spcPts val="0"/>
              </a:spcBef>
              <a:spcAft>
                <a:spcPts val="0"/>
              </a:spcAft>
              <a:defRPr sz="2400" b="0">
                <a:solidFill>
                  <a:srgbClr val="333333"/>
                </a:solidFill>
                <a:latin typeface="微软雅黑"/>
              </a:defRPr>
            </a:pPr>
            <a:r>
              <a:rPr>
                <a:ea typeface="微软雅黑"/>
              </a:rPr>
              <a:t>燥，称其质量为mg；向另一份溶液中加入铁片，充分反应后，取出铁片，洗涤、</a:t>
            </a:r>
          </a:p>
          <a:p>
            <a:pPr>
              <a:lnSpc>
                <a:spcPct val="112000"/>
              </a:lnSpc>
              <a:spcBef>
                <a:spcPts val="0"/>
              </a:spcBef>
              <a:spcAft>
                <a:spcPts val="0"/>
              </a:spcAft>
              <a:defRPr sz="2400" b="0">
                <a:solidFill>
                  <a:srgbClr val="333333"/>
                </a:solidFill>
                <a:latin typeface="微软雅黑"/>
              </a:defRPr>
            </a:pPr>
            <a:r>
              <a:rPr>
                <a:ea typeface="微软雅黑"/>
              </a:rPr>
              <a:t>烘干，称其质量比原来减轻了0.56g。试计算：</a:t>
            </a:r>
          </a:p>
        </p:txBody>
      </p:sp>
      <p:sp>
        <p:nvSpPr>
          <p:cNvPr id="7" name="文字_(1) 写出混合溶液中加入BaCl₂溶液后产生反"/>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写出混合溶液中加入BaCl₂溶液后产生反应的离子方程式 ______ O</a:t>
            </a:r>
          </a:p>
        </p:txBody>
      </p:sp>
      <p:sp>
        <p:nvSpPr>
          <p:cNvPr id="8" name="文字_(2)m= ______ go"/>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(2)m= ______ go</a:t>
            </a:r>
          </a:p>
        </p:txBody>
      </p:sp>
      <p:sp>
        <p:nvSpPr>
          <p:cNvPr id="9" name="文字_(3)则原溶液中K+的物质的量浓度为 _____"/>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(3)则原溶液中K+的物质的量浓度为 ______ mol/L。</a:t>
            </a:r>
          </a:p>
        </p:txBody>
      </p:sp>
      <p:sp>
        <p:nvSpPr>
          <p:cNvPr id="10" name="文字_填空题  ·  16-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16-052</a:t>
            </a:r>
          </a:p>
        </p:txBody>
      </p:sp>
      <p:sp>
        <p:nvSpPr>
          <p:cNvPr id="11"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变式8</a:t>
            </a:r>
          </a:p>
        </p:txBody>
      </p:sp>
      <p:sp>
        <p:nvSpPr>
          <p:cNvPr id="5" name="文字_P3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P355</a:t>
            </a:r>
          </a:p>
        </p:txBody>
      </p:sp>
      <p:sp>
        <p:nvSpPr>
          <p:cNvPr id="6" name="文字_将混有铜粉的镁粉3.0g投入100ml稀硫酸中，"/>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将混有铜粉的镁粉3.0g投入100ml稀硫酸中，至不再产生气泡为止，共收集到标准</a:t>
            </a:r>
          </a:p>
          <a:p>
            <a:pPr>
              <a:lnSpc>
                <a:spcPct val="112000"/>
              </a:lnSpc>
              <a:spcBef>
                <a:spcPts val="0"/>
              </a:spcBef>
              <a:spcAft>
                <a:spcPts val="0"/>
              </a:spcAft>
              <a:defRPr sz="2400" b="0">
                <a:solidFill>
                  <a:srgbClr val="333333"/>
                </a:solidFill>
                <a:latin typeface="微软雅黑"/>
              </a:defRPr>
            </a:pPr>
            <a:r>
              <a:rPr>
                <a:ea typeface="微软雅黑"/>
              </a:rPr>
              <a:t>状况气体2.24L，过滤后向所得溶液中滴入0.5mol·L-¹的氢氧化钠溶液，开始滴入</a:t>
            </a:r>
          </a:p>
          <a:p>
            <a:pPr>
              <a:lnSpc>
                <a:spcPct val="112000"/>
              </a:lnSpc>
              <a:spcBef>
                <a:spcPts val="0"/>
              </a:spcBef>
              <a:spcAft>
                <a:spcPts val="0"/>
              </a:spcAft>
              <a:defRPr sz="2400" b="0">
                <a:solidFill>
                  <a:srgbClr val="333333"/>
                </a:solidFill>
                <a:latin typeface="微软雅黑"/>
              </a:defRPr>
            </a:pPr>
            <a:r>
              <a:rPr>
                <a:ea typeface="微软雅黑"/>
              </a:rPr>
              <a:t>时无沉淀生成，滴加一定量的氢氧化钠溶液后开始出现白色沉淀，当滴加氢氧化钠</a:t>
            </a:r>
          </a:p>
          <a:p>
            <a:pPr>
              <a:lnSpc>
                <a:spcPct val="112000"/>
              </a:lnSpc>
              <a:spcBef>
                <a:spcPts val="0"/>
              </a:spcBef>
              <a:spcAft>
                <a:spcPts val="0"/>
              </a:spcAft>
              <a:defRPr sz="2400" b="0">
                <a:solidFill>
                  <a:srgbClr val="333333"/>
                </a:solidFill>
                <a:latin typeface="微软雅黑"/>
              </a:defRPr>
            </a:pPr>
            <a:r>
              <a:rPr>
                <a:ea typeface="微软雅黑"/>
              </a:rPr>
              <a:t>溶液体积至100ml时，恰好使沉淀完全。试求（溶液体积变化忽略不计)：</a:t>
            </a:r>
          </a:p>
        </p:txBody>
      </p:sp>
      <p:sp>
        <p:nvSpPr>
          <p:cNvPr id="7" name="文字_(1) 原混合物中镁的质量分数 _ ;"/>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原混合物中镁的质量分数 _ ;</a:t>
            </a:r>
          </a:p>
        </p:txBody>
      </p:sp>
      <p:sp>
        <p:nvSpPr>
          <p:cNvPr id="8" name="文字_(2)最终所得溶液中溶质的物质的量浓度 ____"/>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(2)最终所得溶液中溶质的物质的量浓度 ______ mol/L。</a:t>
            </a:r>
          </a:p>
        </p:txBody>
      </p:sp>
      <p:sp>
        <p:nvSpPr>
          <p:cNvPr id="9" name="文字_解答题  ·  16-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16-053</a:t>
            </a:r>
          </a:p>
        </p:txBody>
      </p:sp>
      <p:sp>
        <p:nvSpPr>
          <p:cNvPr id="10"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变式9</a:t>
            </a:r>
          </a:p>
        </p:txBody>
      </p:sp>
      <p:sp>
        <p:nvSpPr>
          <p:cNvPr id="5" name="文字_P3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P355</a:t>
            </a:r>
          </a:p>
        </p:txBody>
      </p:sp>
      <p:sp>
        <p:nvSpPr>
          <p:cNvPr id="6" name="文字_将mg的FexS（S为-2价，Fe有+2和+3价"/>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将mg的FexS（S为-2价，Fe有+2和+3价与100mL₆mol/L的盐酸反应，恰好得到</a:t>
            </a:r>
          </a:p>
          <a:p>
            <a:pPr>
              <a:lnSpc>
                <a:spcPct val="112000"/>
              </a:lnSpc>
              <a:spcBef>
                <a:spcPts val="0"/>
              </a:spcBef>
              <a:spcAft>
                <a:spcPts val="0"/>
              </a:spcAft>
              <a:defRPr sz="2400" b="0">
                <a:solidFill>
                  <a:srgbClr val="333333"/>
                </a:solidFill>
                <a:latin typeface="微软雅黑"/>
              </a:defRPr>
            </a:pPr>
            <a:r>
              <a:rPr>
                <a:ea typeface="微软雅黑"/>
              </a:rPr>
              <a:t>FeCl₂溶液，同时生成3.2g的硫单质和标准状况下V₁L的硫化氢气体。</a:t>
            </a:r>
          </a:p>
        </p:txBody>
      </p:sp>
      <p:sp>
        <p:nvSpPr>
          <p:cNvPr id="7" name="文字_(1) V₁= ______ O"/>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V₁= ______ O</a:t>
            </a:r>
          </a:p>
        </p:txBody>
      </p:sp>
      <p:sp>
        <p:nvSpPr>
          <p:cNvPr id="8" name="文字_(2) FexS中Fe²⁺与Fe³⁺的物质的量之"/>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FexS中Fe²⁺与Fe³⁺的物质的量之比 ______ o</a:t>
            </a:r>
          </a:p>
        </p:txBody>
      </p:sp>
      <p:sp>
        <p:nvSpPr>
          <p:cNvPr id="9" name="文字_(3） 若将mg的FexS与足量的稀HNO₃反应"/>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若将mg的FexS与足量的稀HNO₃反应会生成单质硫和标准状况下V₂L的NO</a:t>
            </a:r>
          </a:p>
          <a:p>
            <a:pPr>
              <a:lnSpc>
                <a:spcPct val="112000"/>
              </a:lnSpc>
              <a:spcBef>
                <a:spcPts val="0"/>
              </a:spcBef>
              <a:spcAft>
                <a:spcPts val="0"/>
              </a:spcAft>
              <a:defRPr sz="2400" b="0">
                <a:solidFill>
                  <a:srgbClr val="333333"/>
                </a:solidFill>
                <a:latin typeface="微软雅黑"/>
              </a:defRPr>
            </a:pPr>
            <a:r>
              <a:rPr>
                <a:ea typeface="微软雅黑"/>
              </a:rPr>
              <a:t>气体，则V₂=</a:t>
            </a:r>
          </a:p>
        </p:txBody>
      </p:sp>
      <p:sp>
        <p:nvSpPr>
          <p:cNvPr id="10" name="文字_解答题  ·  16-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16-054</a:t>
            </a:r>
          </a:p>
        </p:txBody>
      </p:sp>
      <p:sp>
        <p:nvSpPr>
          <p:cNvPr id="11"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变式10</a:t>
            </a:r>
          </a:p>
        </p:txBody>
      </p:sp>
      <p:sp>
        <p:nvSpPr>
          <p:cNvPr id="5" name="文字_P3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P355</a:t>
            </a:r>
          </a:p>
        </p:txBody>
      </p:sp>
      <p:sp>
        <p:nvSpPr>
          <p:cNvPr id="6" name="文字_H₂S可用于光电材料，为测定某实验小组制得的产品"/>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H₂S可用于光电材料，为测定某实验小组制得的产品中硫化氢的质量分数(设该产</a:t>
            </a:r>
          </a:p>
          <a:p>
            <a:pPr>
              <a:lnSpc>
                <a:spcPct val="112000"/>
              </a:lnSpc>
              <a:spcBef>
                <a:spcPts val="0"/>
              </a:spcBef>
              <a:spcAft>
                <a:spcPts val="0"/>
              </a:spcAft>
              <a:defRPr sz="2400" b="0">
                <a:solidFill>
                  <a:srgbClr val="333333"/>
                </a:solidFill>
                <a:latin typeface="微软雅黑"/>
              </a:defRPr>
            </a:pPr>
            <a:r>
              <a:rPr>
                <a:ea typeface="微软雅黑"/>
              </a:rPr>
              <a:t>品中的其他成分不与CuSO₄溶液反应):</a:t>
            </a:r>
          </a:p>
        </p:txBody>
      </p:sp>
      <p:sp>
        <p:nvSpPr>
          <p:cNvPr id="7" name="文字_I. 取0.68000 gH₂S产品，与足量Cu"/>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I. 取0.68000 gH₂S产品，与足量CuSO₄溶液充分反应后。</a:t>
            </a:r>
          </a:p>
        </p:txBody>
      </p:sp>
      <p:sp>
        <p:nvSpPr>
          <p:cNvPr id="8" name="文字_Ⅱ. 将生成的CuS置于已恒重、质量为31.23"/>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Ⅱ. 将生成的CuS置于已恒重、质量为31.230 g的坩埚中煅烧，恒重后总质量为</a:t>
            </a:r>
          </a:p>
          <a:p>
            <a:pPr>
              <a:lnSpc>
                <a:spcPct val="112000"/>
              </a:lnSpc>
              <a:spcBef>
                <a:spcPts val="0"/>
              </a:spcBef>
              <a:spcAft>
                <a:spcPts val="0"/>
              </a:spcAft>
              <a:defRPr sz="2400" b="0">
                <a:solidFill>
                  <a:srgbClr val="333333"/>
                </a:solidFill>
                <a:latin typeface="微软雅黑"/>
              </a:defRPr>
            </a:pPr>
            <a:r>
              <a:rPr>
                <a:ea typeface="微软雅黑"/>
              </a:rPr>
              <a:t>32.814g。</a:t>
            </a:r>
          </a:p>
        </p:txBody>
      </p:sp>
      <p:sp>
        <p:nvSpPr>
          <p:cNvPr id="9" name="文字_请计算："/>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请计算：</a:t>
            </a:r>
          </a:p>
        </p:txBody>
      </p:sp>
      <p:sp>
        <p:nvSpPr>
          <p:cNvPr id="10" name="文字_(1） 实验过程中化学科研工作者使用了950 m"/>
          <p:cNvSpPr txBox="1"/>
          <p:nvPr/>
        </p:nvSpPr>
        <p:spPr>
          <a:xfrm>
            <a:off x="502920" y="356006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实验过程中化学科研工作者使用了950 mL 0.60000 mol/LCuSO₄溶液，该试</a:t>
            </a:r>
          </a:p>
          <a:p>
            <a:pPr>
              <a:lnSpc>
                <a:spcPct val="112000"/>
              </a:lnSpc>
              <a:spcBef>
                <a:spcPts val="0"/>
              </a:spcBef>
              <a:spcAft>
                <a:spcPts val="0"/>
              </a:spcAft>
              <a:defRPr sz="2400" b="0">
                <a:solidFill>
                  <a:srgbClr val="333333"/>
                </a:solidFill>
                <a:latin typeface="微软雅黑"/>
              </a:defRPr>
            </a:pPr>
            <a:r>
              <a:rPr>
                <a:ea typeface="微软雅黑"/>
              </a:rPr>
              <a:t>剂的物质的量为 ______ molo</a:t>
            </a:r>
          </a:p>
        </p:txBody>
      </p:sp>
      <p:sp>
        <p:nvSpPr>
          <p:cNvPr id="11" name="文字_(2) II中CuS煅烧成CuO， CuO的物质"/>
          <p:cNvSpPr txBox="1"/>
          <p:nvPr/>
        </p:nvSpPr>
        <p:spPr>
          <a:xfrm>
            <a:off x="502920" y="43616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II中CuS煅烧成CuO， CuO的物质的量为 ______ molo</a:t>
            </a:r>
          </a:p>
        </p:txBody>
      </p:sp>
      <p:sp>
        <p:nvSpPr>
          <p:cNvPr id="12" name="文字_(3)产品中硫化氢的质量分数为"/>
          <p:cNvSpPr txBox="1"/>
          <p:nvPr/>
        </p:nvSpPr>
        <p:spPr>
          <a:xfrm>
            <a:off x="502920" y="48006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(3)产品中硫化氢的质量分数为</a:t>
            </a:r>
          </a:p>
        </p:txBody>
      </p:sp>
      <p:sp>
        <p:nvSpPr>
          <p:cNvPr id="13" name="文字_解答题  ·  16-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16-055</a:t>
            </a:r>
          </a:p>
        </p:txBody>
      </p:sp>
      <p:sp>
        <p:nvSpPr>
          <p:cNvPr id="14"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变式11</a:t>
            </a:r>
          </a:p>
        </p:txBody>
      </p:sp>
      <p:sp>
        <p:nvSpPr>
          <p:cNvPr id="5" name="文字_P3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P355</a:t>
            </a:r>
          </a:p>
        </p:txBody>
      </p:sp>
      <p:sp>
        <p:nvSpPr>
          <p:cNvPr id="6" name="文字_某研究性学习小组利用酸性KMnO₄溶液测定河水中"/>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某研究性学习小组利用酸性KMnO₄溶液测定河水中溶解的H₂S的含量。其测定反</a:t>
            </a:r>
          </a:p>
          <a:p>
            <a:pPr>
              <a:lnSpc>
                <a:spcPct val="112000"/>
              </a:lnSpc>
              <a:spcBef>
                <a:spcPts val="0"/>
              </a:spcBef>
              <a:spcAft>
                <a:spcPts val="0"/>
              </a:spcAft>
              <a:defRPr sz="2400" b="0">
                <a:solidFill>
                  <a:srgbClr val="333333"/>
                </a:solidFill>
                <a:latin typeface="微软雅黑"/>
              </a:defRPr>
            </a:pPr>
            <a:r>
              <a:rPr>
                <a:ea typeface="微软雅黑"/>
              </a:rPr>
              <a:t>应原理：5</a:t>
            </a:r>
          </a:p>
        </p:txBody>
      </p:sp>
      <p:sp>
        <p:nvSpPr>
          <p:cNvPr id="7" name="文字_5H₂S + 2MnO₄ + 6H+ = 2Mn"/>
          <p:cNvSpPr txBox="1"/>
          <p:nvPr/>
        </p:nvSpPr>
        <p:spPr>
          <a:xfrm>
            <a:off x="502920" y="1880616"/>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5H₂S + 2MnO₄ + 6H+ = 2Mn²⁺ + 5S ↓ +8H₂O。现将31.6gKMnO₄固体溶于</a:t>
            </a:r>
          </a:p>
          <a:p>
            <a:pPr>
              <a:lnSpc>
                <a:spcPct val="112000"/>
              </a:lnSpc>
              <a:spcBef>
                <a:spcPts val="0"/>
              </a:spcBef>
              <a:spcAft>
                <a:spcPts val="0"/>
              </a:spcAft>
              <a:defRPr sz="2400" b="0">
                <a:solidFill>
                  <a:srgbClr val="333333"/>
                </a:solidFill>
                <a:latin typeface="微软雅黑"/>
              </a:defRPr>
            </a:pPr>
            <a:r>
              <a:rPr>
                <a:ea typeface="微软雅黑"/>
              </a:rPr>
              <a:t>水配成1L溶液，稀释100倍后，取稀释后的KMnO₄溶液20mL与1000mL河水反应</a:t>
            </a:r>
          </a:p>
          <a:p>
            <a:pPr>
              <a:lnSpc>
                <a:spcPct val="112000"/>
              </a:lnSpc>
              <a:spcBef>
                <a:spcPts val="0"/>
              </a:spcBef>
              <a:spcAft>
                <a:spcPts val="0"/>
              </a:spcAft>
              <a:defRPr sz="2400" b="0">
                <a:solidFill>
                  <a:srgbClr val="333333"/>
                </a:solidFill>
                <a:latin typeface="微软雅黑"/>
              </a:defRPr>
            </a:pPr>
            <a:r>
              <a:rPr>
                <a:ea typeface="微软雅黑"/>
              </a:rPr>
              <a:t>，恰好褪色。请计算：</a:t>
            </a:r>
          </a:p>
        </p:txBody>
      </p:sp>
      <p:sp>
        <p:nvSpPr>
          <p:cNvPr id="8" name="文字_(1)稀释后的KMnO₄溶液的物质的量浓度为 _"/>
          <p:cNvSpPr txBox="1"/>
          <p:nvPr/>
        </p:nvSpPr>
        <p:spPr>
          <a:xfrm>
            <a:off x="502920" y="30449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(1)稀释后的KMnO₄溶液的物质的量浓度为 ______ mol/L。</a:t>
            </a:r>
          </a:p>
        </p:txBody>
      </p:sp>
      <p:sp>
        <p:nvSpPr>
          <p:cNvPr id="9" name="文字_(2)者若31.6gKMnO₄全都被还原，则转移"/>
          <p:cNvSpPr txBox="1"/>
          <p:nvPr/>
        </p:nvSpPr>
        <p:spPr>
          <a:xfrm>
            <a:off x="502920" y="34838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(2)者若31.6gKMnO₄全都被还原，则转移电子的物质的量为 ______ mol。</a:t>
            </a:r>
          </a:p>
        </p:txBody>
      </p:sp>
      <p:sp>
        <p:nvSpPr>
          <p:cNvPr id="10" name="文字_(3) 河水中H₂S的含量为 ______ o"/>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河水中H₂S的含量为 ______ o</a:t>
            </a:r>
          </a:p>
        </p:txBody>
      </p:sp>
      <p:sp>
        <p:nvSpPr>
          <p:cNvPr id="11" name="文字_填空题  ·  16-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16-056</a:t>
            </a:r>
          </a:p>
        </p:txBody>
      </p:sp>
      <p:sp>
        <p:nvSpPr>
          <p:cNvPr id="12" name="文字_6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变式12</a:t>
            </a:r>
          </a:p>
        </p:txBody>
      </p:sp>
      <p:sp>
        <p:nvSpPr>
          <p:cNvPr id="5" name="文字_P355–3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P355–356</a:t>
            </a:r>
          </a:p>
        </p:txBody>
      </p:sp>
      <p:sp>
        <p:nvSpPr>
          <p:cNvPr id="6" name="文字_某同学设计实验探究Al(NO₃)₃·9H₂O的分"/>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某同学设计实验探究Al(NO₃)₃·9H₂O的分解产物。称取样品7.50g，经隔绝空气</a:t>
            </a:r>
          </a:p>
          <a:p>
            <a:pPr>
              <a:lnSpc>
                <a:spcPct val="112000"/>
              </a:lnSpc>
              <a:spcBef>
                <a:spcPts val="0"/>
              </a:spcBef>
              <a:spcAft>
                <a:spcPts val="0"/>
              </a:spcAft>
              <a:defRPr sz="2400" b="0">
                <a:solidFill>
                  <a:srgbClr val="333333"/>
                </a:solidFill>
                <a:latin typeface="微软雅黑"/>
              </a:defRPr>
            </a:pPr>
            <a:r>
              <a:rPr>
                <a:ea typeface="微软雅黑"/>
              </a:rPr>
              <a:t>热分解测得气体产物中有NO₂、O₂、HNO₃、H₂O，其中H₂O的质量为3.06g；</a:t>
            </a:r>
          </a:p>
          <a:p>
            <a:pPr>
              <a:lnSpc>
                <a:spcPct val="112000"/>
              </a:lnSpc>
              <a:spcBef>
                <a:spcPts val="0"/>
              </a:spcBef>
              <a:spcAft>
                <a:spcPts val="0"/>
              </a:spcAft>
              <a:defRPr sz="2400" b="0">
                <a:solidFill>
                  <a:srgbClr val="333333"/>
                </a:solidFill>
                <a:latin typeface="微软雅黑"/>
              </a:defRPr>
            </a:pPr>
            <a:r>
              <a:rPr>
                <a:ea typeface="微软雅黑"/>
              </a:rPr>
              <a:t>残留的固体产物是Al₂O₃，质量为1.02g。计算：</a:t>
            </a:r>
          </a:p>
        </p:txBody>
      </p:sp>
      <p:sp>
        <p:nvSpPr>
          <p:cNvPr id="7" name="文字_(1) 残留的固体产物是Al₂O₃的物质的量为 "/>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残留的固体产物是Al₂O₃的物质的量为 ______ molo</a:t>
            </a:r>
          </a:p>
        </p:txBody>
      </p:sp>
      <p:sp>
        <p:nvSpPr>
          <p:cNvPr id="8" name="文字_(2) HNO₃的质量为 ______ go"/>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HNO₃的质量为 ______ go</a:t>
            </a:r>
          </a:p>
        </p:txBody>
      </p:sp>
      <p:sp>
        <p:nvSpPr>
          <p:cNvPr id="9" name="文字_(3)气体产物中n(O₂) ______ mo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(3)气体产物中n(O₂) ______ mol。</a:t>
            </a:r>
          </a:p>
        </p:txBody>
      </p:sp>
      <p:sp>
        <p:nvSpPr>
          <p:cNvPr id="10" name="文字_填空题  ·  16-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16-057</a:t>
            </a:r>
          </a:p>
        </p:txBody>
      </p:sp>
      <p:sp>
        <p:nvSpPr>
          <p:cNvPr id="11" name="文字_6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计算 · 变式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计算 · 变式13</a:t>
            </a:r>
          </a:p>
        </p:txBody>
      </p:sp>
      <p:sp>
        <p:nvSpPr>
          <p:cNvPr id="5" name="文字_P3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P356</a:t>
            </a:r>
          </a:p>
        </p:txBody>
      </p:sp>
      <p:sp>
        <p:nvSpPr>
          <p:cNvPr id="6" name="文字_工业上用NH₃为原料制HNO₃可简化为如下两步反"/>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工业上用NH₃为原料制HNO₃可简化为如下两步反应：</a:t>
            </a:r>
          </a:p>
        </p:txBody>
      </p:sp>
      <p:sp>
        <p:nvSpPr>
          <p:cNvPr id="7" name="文字_第一步: 4NH₃ + 5O₂ = 4NO + "/>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第一步: 4NH₃ + 5O₂ = 4NO + 6H₂O(条件略)；第二步: 4NO + 3O₂ + 2H₂O </a:t>
            </a:r>
          </a:p>
          <a:p>
            <a:pPr>
              <a:lnSpc>
                <a:spcPct val="112000"/>
              </a:lnSpc>
              <a:spcBef>
                <a:spcPts val="0"/>
              </a:spcBef>
              <a:spcAft>
                <a:spcPts val="0"/>
              </a:spcAft>
              <a:defRPr sz="2400" b="0">
                <a:solidFill>
                  <a:srgbClr val="333333"/>
                </a:solidFill>
                <a:latin typeface="微软雅黑"/>
              </a:defRPr>
            </a:pPr>
            <a:r>
              <a:rPr>
                <a:ea typeface="微软雅黑"/>
              </a:rPr>
              <a:t>= 4HNO₃。</a:t>
            </a:r>
          </a:p>
        </p:txBody>
      </p:sp>
      <p:sp>
        <p:nvSpPr>
          <p:cNvPr id="8" name="文字_某同学用NH₃与足量O₂和水为原料，在一定条件下"/>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某同学用NH₃与足量O₂和水为原料，在一定条件下模拟了上述生产过程，共消耗</a:t>
            </a:r>
          </a:p>
          <a:p>
            <a:pPr>
              <a:lnSpc>
                <a:spcPct val="112000"/>
              </a:lnSpc>
              <a:spcBef>
                <a:spcPts val="0"/>
              </a:spcBef>
              <a:spcAft>
                <a:spcPts val="0"/>
              </a:spcAft>
              <a:defRPr sz="2400" b="0">
                <a:solidFill>
                  <a:srgbClr val="333333"/>
                </a:solidFill>
                <a:latin typeface="微软雅黑"/>
              </a:defRPr>
            </a:pPr>
            <a:r>
              <a:rPr>
                <a:ea typeface="微软雅黑"/>
              </a:rPr>
              <a:t>了标准状况下氨气8.96L。请计算：</a:t>
            </a:r>
          </a:p>
        </p:txBody>
      </p:sp>
      <p:sp>
        <p:nvSpPr>
          <p:cNvPr id="9" name="文字_(1) 消耗的NH₃的物质的量为 ______ "/>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消耗的NH₃的物质的量为 ______ molo</a:t>
            </a:r>
          </a:p>
        </p:txBody>
      </p:sp>
      <p:sp>
        <p:nvSpPr>
          <p:cNvPr id="10" name="文字_(2) 整个过程转移电子的物质的量为 _____"/>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整个过程转移电子的物质的量为 ______ mol。</a:t>
            </a:r>
          </a:p>
        </p:txBody>
      </p:sp>
      <p:sp>
        <p:nvSpPr>
          <p:cNvPr id="11" name="文字_(3) 理论上可获得质量分数为31.5%的硝酸("/>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理论上可获得质量分数为31.5%的硝酸(假设溶质不挥发)质量为 ______ go</a:t>
            </a:r>
          </a:p>
        </p:txBody>
      </p:sp>
      <p:sp>
        <p:nvSpPr>
          <p:cNvPr id="12" name="文字_填空题  ·  16-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16-058</a:t>
            </a:r>
          </a:p>
        </p:txBody>
      </p:sp>
      <p:sp>
        <p:nvSpPr>
          <p:cNvPr id="13" name="文字_6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阶段检测(二)"/>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阶段检测(二)</a:t>
            </a:r>
          </a:p>
        </p:txBody>
      </p:sp>
      <p:sp>
        <p:nvSpPr>
          <p:cNvPr id="5" name="文字_每道原题一页 · 保留题目作答空白"/>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每道原题一页 · 保留题目作答空白</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a:t>
            </a:r>
          </a:p>
        </p:txBody>
      </p:sp>
      <p:sp>
        <p:nvSpPr>
          <p:cNvPr id="5" name="文字_P3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P357</a:t>
            </a:r>
          </a:p>
        </p:txBody>
      </p:sp>
      <p:sp>
        <p:nvSpPr>
          <p:cNvPr id="6" name="文字_下列物质中主要成分属于盐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下列物质中主要成分属于盐的是</a:t>
            </a:r>
          </a:p>
        </p:txBody>
      </p:sp>
      <p:sp>
        <p:nvSpPr>
          <p:cNvPr id="7" name="文字_A. 烧碱"/>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烧碱</a:t>
            </a:r>
          </a:p>
        </p:txBody>
      </p:sp>
      <p:sp>
        <p:nvSpPr>
          <p:cNvPr id="8" name="文字_B. 明矾"/>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明矾</a:t>
            </a:r>
          </a:p>
        </p:txBody>
      </p:sp>
      <p:sp>
        <p:nvSpPr>
          <p:cNvPr id="9" name="文字_C. 生石灰"/>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生石灰</a:t>
            </a:r>
          </a:p>
        </p:txBody>
      </p:sp>
      <p:sp>
        <p:nvSpPr>
          <p:cNvPr id="10" name="文字_D. 石英"/>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石英</a:t>
            </a:r>
          </a:p>
        </p:txBody>
      </p:sp>
      <p:sp>
        <p:nvSpPr>
          <p:cNvPr id="11" name="文字_单选题  ·  16-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16-059</a:t>
            </a:r>
          </a:p>
        </p:txBody>
      </p:sp>
      <p:sp>
        <p:nvSpPr>
          <p:cNvPr id="1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a:t>
            </a:r>
          </a:p>
        </p:txBody>
      </p:sp>
      <p:sp>
        <p:nvSpPr>
          <p:cNvPr id="5" name="文字_P3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P357</a:t>
            </a:r>
          </a:p>
        </p:txBody>
      </p:sp>
      <p:sp>
        <p:nvSpPr>
          <p:cNvPr id="6" name="文字_下列化学用语或图示表达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下列化学用语或图示表达正确的是</a:t>
            </a:r>
          </a:p>
        </p:txBody>
      </p:sp>
      <p:pic>
        <p:nvPicPr>
          <p:cNvPr id="7" name="Picture 6" descr="image.png"/>
          <p:cNvPicPr>
            <a:picLocks noChangeAspect="1"/>
          </p:cNvPicPr>
          <p:nvPr/>
        </p:nvPicPr>
        <p:blipFill>
          <a:blip r:embed="rId3"/>
          <a:stretch>
            <a:fillRect/>
          </a:stretch>
        </p:blipFill>
        <p:spPr>
          <a:xfrm>
            <a:off x="502920" y="1517904"/>
            <a:ext cx="11064240" cy="2136278"/>
          </a:xfrm>
          <a:prstGeom prst="rect">
            <a:avLst/>
          </a:prstGeom>
        </p:spPr>
      </p:pic>
      <p:sp>
        <p:nvSpPr>
          <p:cNvPr id="8" name="原题文字_357_13"/>
          <p:cNvSpPr txBox="1"/>
          <p:nvPr/>
        </p:nvSpPr>
        <p:spPr>
          <a:xfrm>
            <a:off x="5931671" y="1702926"/>
            <a:ext cx="2405536" cy="428021"/>
          </a:xfrm>
          <a:prstGeom prst="rect">
            <a:avLst/>
          </a:prstGeom>
          <a:noFill/>
        </p:spPr>
        <p:txBody>
          <a:bodyPr wrap="none" lIns="0" rIns="0" tIns="0" bIns="0">
            <a:spAutoFit/>
          </a:bodyPr>
          <a:lstStyle/>
          <a:p>
            <a:pPr>
              <a:lnSpc>
                <a:spcPct val="112000"/>
              </a:lnSpc>
              <a:spcBef>
                <a:spcPts val="0"/>
              </a:spcBef>
              <a:spcAft>
                <a:spcPts val="0"/>
              </a:spcAft>
              <a:defRPr sz="2033" b="0">
                <a:solidFill>
                  <a:srgbClr val="333333"/>
                </a:solidFill>
                <a:latin typeface="微软雅黑"/>
              </a:defRPr>
            </a:pPr>
            <a:r>
              <a:rPr>
                <a:ea typeface="微软雅黑"/>
              </a:rPr>
              <a:t>B. CO₂的电子式：:O</a:t>
            </a:r>
          </a:p>
        </p:txBody>
      </p:sp>
      <p:sp>
        <p:nvSpPr>
          <p:cNvPr id="9" name="原题文字_357_14"/>
          <p:cNvSpPr txBox="1"/>
          <p:nvPr/>
        </p:nvSpPr>
        <p:spPr>
          <a:xfrm>
            <a:off x="8259373" y="1748867"/>
            <a:ext cx="66741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a:t>
            </a:r>
          </a:p>
        </p:txBody>
      </p:sp>
      <p:sp>
        <p:nvSpPr>
          <p:cNvPr id="10" name="原题文字_357_15"/>
          <p:cNvSpPr txBox="1"/>
          <p:nvPr/>
        </p:nvSpPr>
        <p:spPr>
          <a:xfrm>
            <a:off x="8803014" y="1764181"/>
            <a:ext cx="45302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O:</a:t>
            </a:r>
          </a:p>
        </p:txBody>
      </p:sp>
      <p:sp>
        <p:nvSpPr>
          <p:cNvPr id="11" name="原题文字_357_16"/>
          <p:cNvSpPr txBox="1"/>
          <p:nvPr/>
        </p:nvSpPr>
        <p:spPr>
          <a:xfrm>
            <a:off x="587146" y="1917319"/>
            <a:ext cx="240553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CH₄分子的结构模型：</a:t>
            </a:r>
          </a:p>
        </p:txBody>
      </p:sp>
      <p:sp>
        <p:nvSpPr>
          <p:cNvPr id="12" name="原题文字_357_17"/>
          <p:cNvSpPr txBox="1"/>
          <p:nvPr/>
        </p:nvSpPr>
        <p:spPr>
          <a:xfrm>
            <a:off x="5946985" y="2629412"/>
            <a:ext cx="2742440"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D. 中子数为8的氮原子：N</a:t>
            </a:r>
          </a:p>
        </p:txBody>
      </p:sp>
      <p:sp>
        <p:nvSpPr>
          <p:cNvPr id="13" name="原题文字_357_18"/>
          <p:cNvSpPr txBox="1"/>
          <p:nvPr/>
        </p:nvSpPr>
        <p:spPr>
          <a:xfrm>
            <a:off x="571832" y="2966316"/>
            <a:ext cx="291089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 18O的结构示意图可表示为</a:t>
            </a:r>
          </a:p>
        </p:txBody>
      </p:sp>
      <p:sp>
        <p:nvSpPr>
          <p:cNvPr id="14" name="原题文字_357_19"/>
          <p:cNvSpPr txBox="1"/>
          <p:nvPr/>
        </p:nvSpPr>
        <p:spPr>
          <a:xfrm>
            <a:off x="3527400" y="2958659"/>
            <a:ext cx="460680"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+8</a:t>
            </a:r>
          </a:p>
        </p:txBody>
      </p:sp>
      <p:sp>
        <p:nvSpPr>
          <p:cNvPr id="15" name="原题文字_357_20"/>
          <p:cNvSpPr txBox="1"/>
          <p:nvPr/>
        </p:nvSpPr>
        <p:spPr>
          <a:xfrm>
            <a:off x="3963844" y="2958659"/>
            <a:ext cx="506621"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28</a:t>
            </a:r>
          </a:p>
        </p:txBody>
      </p:sp>
      <p:sp>
        <p:nvSpPr>
          <p:cNvPr id="16" name="文字_单选题  ·  16-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16-060</a:t>
            </a:r>
          </a:p>
        </p:txBody>
      </p:sp>
      <p:sp>
        <p:nvSpPr>
          <p:cNvPr id="17"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检测题3</a:t>
            </a:r>
          </a:p>
        </p:txBody>
      </p:sp>
      <p:sp>
        <p:nvSpPr>
          <p:cNvPr id="5" name="文字_P3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P357</a:t>
            </a:r>
          </a:p>
        </p:txBody>
      </p:sp>
      <p:sp>
        <p:nvSpPr>
          <p:cNvPr id="6" name="文字_下列有关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下列有关说法不正确的是</a:t>
            </a:r>
          </a:p>
        </p:txBody>
      </p:sp>
      <p:sp>
        <p:nvSpPr>
          <p:cNvPr id="7" name="文字_A. 陶瓷、水泥、光导纤维都属于硅酸盐材料"/>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陶瓷、水泥、光导纤维都属于硅酸盐材料</a:t>
            </a:r>
          </a:p>
        </p:txBody>
      </p:sp>
      <p:sp>
        <p:nvSpPr>
          <p:cNvPr id="8" name="文字_B. SO₂具有杀菌、抗氧化功能，可添加在葡萄酒"/>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SO₂具有杀菌、抗氧化功能，可添加在葡萄酒中起到保质作用</a:t>
            </a:r>
          </a:p>
        </p:txBody>
      </p:sp>
      <p:sp>
        <p:nvSpPr>
          <p:cNvPr id="9" name="文字_C. 手机中的锂电池在工作时，可将化学能转化成电"/>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手机中的锂电池在工作时，可将化学能转化成电能</a:t>
            </a:r>
          </a:p>
        </p:txBody>
      </p:sp>
      <p:sp>
        <p:nvSpPr>
          <p:cNvPr id="10" name="文字_D. 储氢合金吸收氢气时形成的金属氢化物，稍稍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储氢合金吸收氢气时形成的金属氢化物，稍稍加热又容易分解而释放出氢气</a:t>
            </a:r>
          </a:p>
        </p:txBody>
      </p:sp>
      <p:sp>
        <p:nvSpPr>
          <p:cNvPr id="11" name="文字_单选题  ·  16-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16-061</a:t>
            </a:r>
          </a:p>
        </p:txBody>
      </p:sp>
      <p:sp>
        <p:nvSpPr>
          <p:cNvPr id="12"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检测题4</a:t>
            </a:r>
          </a:p>
        </p:txBody>
      </p:sp>
      <p:sp>
        <p:nvSpPr>
          <p:cNvPr id="5" name="文字_P3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P357</a:t>
            </a:r>
          </a:p>
        </p:txBody>
      </p:sp>
      <p:sp>
        <p:nvSpPr>
          <p:cNvPr id="6" name="文字_下列各组离子在指定条件下的溶液中，一定能大量共存"/>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下列各组离子在指定条件下的溶液中，一定能大量共存的是</a:t>
            </a:r>
          </a:p>
        </p:txBody>
      </p:sp>
      <p:sp>
        <p:nvSpPr>
          <p:cNvPr id="7" name="文字_A. 酸性溶液中：Na+、Fe²⁺、NO₃、SO"/>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酸性溶液中：Na+、Fe²⁺、NO₃、SO₂⁻</a:t>
            </a:r>
          </a:p>
        </p:txBody>
      </p:sp>
      <p:sp>
        <p:nvSpPr>
          <p:cNvPr id="8" name="文字_B. 澄清透明的溶液中：K+、Fe³⁺、SO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澄清透明的溶液中：K+、Fe³⁺、SO₂⁻、Cl⁻</a:t>
            </a:r>
          </a:p>
        </p:txBody>
      </p:sp>
      <p:sp>
        <p:nvSpPr>
          <p:cNvPr id="9" name="文字_C. 使酚酞溶液呈红色的溶液中：K+、A₁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使酚酞溶液呈红色的溶液中：K+、A₁₃⁺、NO₃、Cl⁻</a:t>
            </a:r>
          </a:p>
        </p:txBody>
      </p:sp>
      <p:sp>
        <p:nvSpPr>
          <p:cNvPr id="10" name="文字_D. 含有大量HCO₃的溶液中：Na+、Cl-、"/>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含有大量HCO₃的溶液中：Na+、Cl-、OH-、NO₃</a:t>
            </a:r>
          </a:p>
        </p:txBody>
      </p:sp>
      <p:sp>
        <p:nvSpPr>
          <p:cNvPr id="11" name="文字_单选题  ·  16-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16-062</a:t>
            </a:r>
          </a:p>
        </p:txBody>
      </p:sp>
      <p:sp>
        <p:nvSpPr>
          <p:cNvPr id="12" name="文字_7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检测题5</a:t>
            </a:r>
          </a:p>
        </p:txBody>
      </p:sp>
      <p:sp>
        <p:nvSpPr>
          <p:cNvPr id="5" name="文字_P35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P358</a:t>
            </a:r>
          </a:p>
        </p:txBody>
      </p:sp>
      <p:sp>
        <p:nvSpPr>
          <p:cNvPr id="6" name="文字_某化学反应的能量变化如图所示，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某化学反应的能量变化如图所示，下列说法正确的是（）</a:t>
            </a:r>
          </a:p>
        </p:txBody>
      </p:sp>
      <p:pic>
        <p:nvPicPr>
          <p:cNvPr id="7" name="Picture 6" descr="image.png"/>
          <p:cNvPicPr>
            <a:picLocks noChangeAspect="1"/>
          </p:cNvPicPr>
          <p:nvPr/>
        </p:nvPicPr>
        <p:blipFill>
          <a:blip r:embed="rId3"/>
          <a:stretch>
            <a:fillRect/>
          </a:stretch>
        </p:blipFill>
        <p:spPr>
          <a:xfrm>
            <a:off x="502920" y="1517904"/>
            <a:ext cx="11064240" cy="1676864"/>
          </a:xfrm>
          <a:prstGeom prst="rect">
            <a:avLst/>
          </a:prstGeom>
        </p:spPr>
      </p:pic>
      <p:sp>
        <p:nvSpPr>
          <p:cNvPr id="8" name="原题文字_358_4"/>
          <p:cNvSpPr txBox="1"/>
          <p:nvPr/>
        </p:nvSpPr>
        <p:spPr>
          <a:xfrm>
            <a:off x="602459" y="1549787"/>
            <a:ext cx="252804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该反应需要加热或高温</a:t>
            </a:r>
          </a:p>
        </p:txBody>
      </p:sp>
      <p:sp>
        <p:nvSpPr>
          <p:cNvPr id="9" name="原题文字_358_5"/>
          <p:cNvSpPr txBox="1"/>
          <p:nvPr/>
        </p:nvSpPr>
        <p:spPr>
          <a:xfrm>
            <a:off x="571832" y="1917319"/>
            <a:ext cx="492466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该反应断键吸收的总能量小于成键释放的总能量</a:t>
            </a:r>
          </a:p>
        </p:txBody>
      </p:sp>
      <p:sp>
        <p:nvSpPr>
          <p:cNvPr id="10" name="原题文字_358_6"/>
          <p:cNvSpPr txBox="1"/>
          <p:nvPr/>
        </p:nvSpPr>
        <p:spPr>
          <a:xfrm>
            <a:off x="594802" y="2307822"/>
            <a:ext cx="446524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 该反应可能是化合反应，也可能是中和反应</a:t>
            </a:r>
          </a:p>
        </p:txBody>
      </p:sp>
      <p:sp>
        <p:nvSpPr>
          <p:cNvPr id="11" name="原题文字_358_7"/>
          <p:cNvSpPr txBox="1"/>
          <p:nvPr/>
        </p:nvSpPr>
        <p:spPr>
          <a:xfrm>
            <a:off x="10518162" y="2300165"/>
            <a:ext cx="567877" cy="318527"/>
          </a:xfrm>
          <a:prstGeom prst="rect">
            <a:avLst/>
          </a:prstGeom>
          <a:noFill/>
        </p:spPr>
        <p:txBody>
          <a:bodyPr wrap="none" lIns="0" rIns="0" tIns="0" bIns="0">
            <a:spAutoFit/>
          </a:bodyPr>
          <a:lstStyle/>
          <a:p>
            <a:pPr>
              <a:lnSpc>
                <a:spcPct val="112000"/>
              </a:lnSpc>
              <a:spcBef>
                <a:spcPts val="0"/>
              </a:spcBef>
              <a:spcAft>
                <a:spcPts val="0"/>
              </a:spcAft>
              <a:defRPr sz="1508" b="0">
                <a:solidFill>
                  <a:srgbClr val="333333"/>
                </a:solidFill>
                <a:latin typeface="微软雅黑"/>
              </a:defRPr>
            </a:pPr>
            <a:r>
              <a:rPr>
                <a:ea typeface="微软雅黑"/>
              </a:rPr>
              <a:t>生成物</a:t>
            </a:r>
          </a:p>
        </p:txBody>
      </p:sp>
      <p:sp>
        <p:nvSpPr>
          <p:cNvPr id="12" name="原题文字_358_8"/>
          <p:cNvSpPr txBox="1"/>
          <p:nvPr/>
        </p:nvSpPr>
        <p:spPr>
          <a:xfrm>
            <a:off x="571832" y="2690667"/>
            <a:ext cx="429679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碳酸氢钠和盐酸的反应过程可用该图表示</a:t>
            </a:r>
          </a:p>
        </p:txBody>
      </p:sp>
      <p:sp>
        <p:nvSpPr>
          <p:cNvPr id="13" name="原题文字_358_9"/>
          <p:cNvSpPr txBox="1"/>
          <p:nvPr/>
        </p:nvSpPr>
        <p:spPr>
          <a:xfrm>
            <a:off x="9545734" y="2621755"/>
            <a:ext cx="567877" cy="328481"/>
          </a:xfrm>
          <a:prstGeom prst="rect">
            <a:avLst/>
          </a:prstGeom>
          <a:noFill/>
        </p:spPr>
        <p:txBody>
          <a:bodyPr wrap="none" lIns="0" rIns="0" tIns="0" bIns="0">
            <a:spAutoFit/>
          </a:bodyPr>
          <a:lstStyle/>
          <a:p>
            <a:pPr>
              <a:lnSpc>
                <a:spcPct val="112000"/>
              </a:lnSpc>
              <a:spcBef>
                <a:spcPts val="0"/>
              </a:spcBef>
              <a:spcAft>
                <a:spcPts val="0"/>
              </a:spcAft>
              <a:defRPr sz="1505" b="0">
                <a:solidFill>
                  <a:srgbClr val="333333"/>
                </a:solidFill>
                <a:latin typeface="微软雅黑"/>
              </a:defRPr>
            </a:pPr>
            <a:r>
              <a:rPr>
                <a:ea typeface="微软雅黑"/>
              </a:rPr>
              <a:t>反应物</a:t>
            </a:r>
          </a:p>
        </p:txBody>
      </p:sp>
      <p:sp>
        <p:nvSpPr>
          <p:cNvPr id="14" name="原题文字_358_10"/>
          <p:cNvSpPr txBox="1"/>
          <p:nvPr/>
        </p:nvSpPr>
        <p:spPr>
          <a:xfrm>
            <a:off x="10655987" y="2966316"/>
            <a:ext cx="682730" cy="288665"/>
          </a:xfrm>
          <a:prstGeom prst="rect">
            <a:avLst/>
          </a:prstGeom>
          <a:noFill/>
        </p:spPr>
        <p:txBody>
          <a:bodyPr wrap="none" lIns="0" rIns="0" tIns="0" bIns="0">
            <a:spAutoFit/>
          </a:bodyPr>
          <a:lstStyle/>
          <a:p>
            <a:pPr>
              <a:lnSpc>
                <a:spcPct val="112000"/>
              </a:lnSpc>
              <a:spcBef>
                <a:spcPts val="0"/>
              </a:spcBef>
              <a:spcAft>
                <a:spcPts val="0"/>
              </a:spcAft>
              <a:defRPr sz="1373" b="0">
                <a:solidFill>
                  <a:srgbClr val="333333"/>
                </a:solidFill>
                <a:latin typeface="微软雅黑"/>
              </a:defRPr>
            </a:pPr>
            <a:r>
              <a:rPr>
                <a:ea typeface="微软雅黑"/>
              </a:rPr>
              <a:t>反应过程</a:t>
            </a:r>
          </a:p>
        </p:txBody>
      </p:sp>
      <p:sp>
        <p:nvSpPr>
          <p:cNvPr id="15" name="文字_单选题  ·  16-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16-063</a:t>
            </a:r>
          </a:p>
        </p:txBody>
      </p:sp>
      <p:sp>
        <p:nvSpPr>
          <p:cNvPr id="16" name="文字_7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检测题6</a:t>
            </a:r>
          </a:p>
        </p:txBody>
      </p:sp>
      <p:sp>
        <p:nvSpPr>
          <p:cNvPr id="5" name="文字_P35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P358</a:t>
            </a:r>
          </a:p>
        </p:txBody>
      </p:sp>
      <p:sp>
        <p:nvSpPr>
          <p:cNvPr id="6" name="文字_向Fe₂(SO₄)₃和CuSO₄的混合溶液中加入"/>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向Fe₂(SO₄)₃和CuSO₄的混合溶液中加入铁粉，下列说法不正确的是</a:t>
            </a:r>
          </a:p>
        </p:txBody>
      </p:sp>
      <p:sp>
        <p:nvSpPr>
          <p:cNvPr id="7" name="文字_A. 若有铁粉剩余，则不溶物中有铁和铜单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若有铁粉剩余，则不溶物中有铁和铜单质</a:t>
            </a:r>
          </a:p>
        </p:txBody>
      </p:sp>
      <p:sp>
        <p:nvSpPr>
          <p:cNvPr id="8" name="文字_B. 若有铁粉剩余，则溶液的溶质只有FeSO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若有铁粉剩余，则溶液的溶质只有FeSO₄</a:t>
            </a:r>
          </a:p>
        </p:txBody>
      </p:sp>
      <p:sp>
        <p:nvSpPr>
          <p:cNvPr id="9" name="文字_C. 若有固体剩余，则固体一定有铜单质"/>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若有固体剩余，则固体一定有铜单质</a:t>
            </a:r>
          </a:p>
        </p:txBody>
      </p:sp>
      <p:sp>
        <p:nvSpPr>
          <p:cNvPr id="10" name="文字_D. 若有固体剩余，则溶液中一定没有Cu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若有固体剩余，则溶液中一定没有Cu²⁺</a:t>
            </a:r>
          </a:p>
        </p:txBody>
      </p:sp>
      <p:sp>
        <p:nvSpPr>
          <p:cNvPr id="11" name="文字_单选题  ·  16-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16-064</a:t>
            </a:r>
          </a:p>
        </p:txBody>
      </p:sp>
      <p:sp>
        <p:nvSpPr>
          <p:cNvPr id="12"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检测题7</a:t>
            </a:r>
          </a:p>
        </p:txBody>
      </p:sp>
      <p:sp>
        <p:nvSpPr>
          <p:cNvPr id="5" name="文字_P35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P358</a:t>
            </a:r>
          </a:p>
        </p:txBody>
      </p:sp>
      <p:sp>
        <p:nvSpPr>
          <p:cNvPr id="6" name="文字_在含有Fe₂(SO₄)₃和CuSO₄的溶液中加入"/>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在含有Fe₂(SO₄)₃和CuSO₄的溶液中加入铁粉，下列说法中不正确的是(</a:t>
            </a:r>
          </a:p>
        </p:txBody>
      </p:sp>
      <p:sp>
        <p:nvSpPr>
          <p:cNvPr id="7" name="文字_A. 若铁粉有剩余，则不溶物中一定有铜"/>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若铁粉有剩余，则不溶物中一定有铜</a:t>
            </a:r>
          </a:p>
        </p:txBody>
      </p:sp>
      <p:sp>
        <p:nvSpPr>
          <p:cNvPr id="8" name="文字_B. 若铁粉有剩余，则溶液中的金属阳离子只有Fe"/>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若铁粉有剩余，则溶液中的金属阳离子只有Fe²⁺</a:t>
            </a:r>
          </a:p>
        </p:txBody>
      </p:sp>
      <p:sp>
        <p:nvSpPr>
          <p:cNvPr id="9" name="文字_C. 若铁粉无剩余，且溶液中有Cu²⁺，则溶液中"/>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若铁粉无剩余，且溶液中有Cu²⁺，则溶液中一定无Fe³⁺</a:t>
            </a:r>
          </a:p>
        </p:txBody>
      </p:sp>
      <p:sp>
        <p:nvSpPr>
          <p:cNvPr id="10" name="文字_D. 若铁粉无剩余，且溶液中无Cu²⁺，则溶液中"/>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若铁粉无剩余，且溶液中无Cu²⁺，则溶液中一定有Fe²⁺，一定无Fe³⁺</a:t>
            </a:r>
          </a:p>
        </p:txBody>
      </p:sp>
      <p:sp>
        <p:nvSpPr>
          <p:cNvPr id="11" name="文字_单选题  ·  16-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16-065</a:t>
            </a:r>
          </a:p>
        </p:txBody>
      </p:sp>
      <p:sp>
        <p:nvSpPr>
          <p:cNvPr id="12"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检测题8</a:t>
            </a:r>
          </a:p>
        </p:txBody>
      </p:sp>
      <p:sp>
        <p:nvSpPr>
          <p:cNvPr id="5" name="文字_P35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P358</a:t>
            </a:r>
          </a:p>
        </p:txBody>
      </p:sp>
      <p:sp>
        <p:nvSpPr>
          <p:cNvPr id="6" name="文字_向CuSO₄溶液中加入H₂O₂溶液，很快有大量气"/>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向CuSO₄溶液中加入H₂O₂溶液，很快有大量气体逸出，同时放热，一段时间后</a:t>
            </a:r>
          </a:p>
          <a:p>
            <a:pPr>
              <a:lnSpc>
                <a:spcPct val="112000"/>
              </a:lnSpc>
              <a:spcBef>
                <a:spcPts val="0"/>
              </a:spcBef>
              <a:spcAft>
                <a:spcPts val="0"/>
              </a:spcAft>
              <a:defRPr sz="2400" b="0">
                <a:solidFill>
                  <a:srgbClr val="333333"/>
                </a:solidFill>
                <a:latin typeface="微软雅黑"/>
              </a:defRPr>
            </a:pPr>
            <a:r>
              <a:rPr>
                <a:ea typeface="微软雅黑"/>
              </a:rPr>
              <a:t>，蓝色溶液变为红色浑浊(Cu₂O)，继续加入H₂O₂溶液，红色浑浊又变为蓝色溶</a:t>
            </a:r>
          </a:p>
          <a:p>
            <a:pPr>
              <a:lnSpc>
                <a:spcPct val="112000"/>
              </a:lnSpc>
              <a:spcBef>
                <a:spcPts val="0"/>
              </a:spcBef>
              <a:spcAft>
                <a:spcPts val="0"/>
              </a:spcAft>
              <a:defRPr sz="2400" b="0">
                <a:solidFill>
                  <a:srgbClr val="333333"/>
                </a:solidFill>
                <a:latin typeface="微软雅黑"/>
              </a:defRPr>
            </a:pPr>
            <a:r>
              <a:rPr>
                <a:ea typeface="微软雅黑"/>
              </a:rPr>
              <a:t>液，这个反应可以反复多次。下列关于上述过程的说法不正确的是()</a:t>
            </a:r>
          </a:p>
        </p:txBody>
      </p:sp>
      <p:sp>
        <p:nvSpPr>
          <p:cNvPr id="7" name="文字_A. Cu²⁺是H₂O₂分解反应的催化剂"/>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Cu²⁺是H₂O₂分解反应的催化剂</a:t>
            </a:r>
          </a:p>
        </p:txBody>
      </p:sp>
      <p:sp>
        <p:nvSpPr>
          <p:cNvPr id="8" name="文字_B. Cu²⁺将H₂O₂还原为O₂"/>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Cu²⁺将H₂O₂还原为O₂</a:t>
            </a:r>
          </a:p>
        </p:txBody>
      </p:sp>
      <p:sp>
        <p:nvSpPr>
          <p:cNvPr id="9" name="文字_C. H₂O₂既表现氧化性又表现还原性"/>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H₂O₂既表现氧化性又表现还原性</a:t>
            </a:r>
          </a:p>
        </p:txBody>
      </p:sp>
      <p:sp>
        <p:nvSpPr>
          <p:cNvPr id="10" name="文字_D. 发生了反应: Cu₂O + H₂O₂ + "/>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发生了反应: Cu₂O + H₂O₂ + 4H+=2 Cu²⁺+ 3H₂O</a:t>
            </a:r>
          </a:p>
        </p:txBody>
      </p:sp>
      <p:sp>
        <p:nvSpPr>
          <p:cNvPr id="11" name="文字_单选题  ·  16-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16-066</a:t>
            </a:r>
          </a:p>
        </p:txBody>
      </p:sp>
      <p:sp>
        <p:nvSpPr>
          <p:cNvPr id="12"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检测题9</a:t>
            </a:r>
          </a:p>
        </p:txBody>
      </p:sp>
      <p:sp>
        <p:nvSpPr>
          <p:cNvPr id="5" name="文字_P35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P358</a:t>
            </a:r>
          </a:p>
        </p:txBody>
      </p:sp>
      <p:sp>
        <p:nvSpPr>
          <p:cNvPr id="6" name="文字_下列离子方程式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下列离子方程式正确的是</a:t>
            </a:r>
          </a:p>
        </p:txBody>
      </p:sp>
      <p:sp>
        <p:nvSpPr>
          <p:cNvPr id="7" name="文字_A. Al(OH)3和NaOH溶液的反应:： A"/>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Al(OH)3和NaOH溶液的反应:： Al³⁺ + 4OH− = [Al(OH)₄]⁻</a:t>
            </a:r>
          </a:p>
        </p:txBody>
      </p:sp>
      <p:sp>
        <p:nvSpPr>
          <p:cNvPr id="8" name="文字_B. 水玻璃在空气中变质：CO₂ + SiO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水玻璃在空气中变质：CO₂ + SiO₂⁻ = SiO₂ ↓ +CO₂⁻</a:t>
            </a:r>
          </a:p>
        </p:txBody>
      </p:sp>
      <p:sp>
        <p:nvSpPr>
          <p:cNvPr id="9" name="文字_C. 向FeBr₂溶液中通入足量氯气的反应: 2"/>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向FeBr₂溶液中通入足量氯气的反应: 2Fe²⁺ + 2Br− + 2Cl₂ = 2Fe³⁺ + Br₂ + </a:t>
            </a:r>
          </a:p>
          <a:p>
            <a:pPr>
              <a:lnSpc>
                <a:spcPct val="112000"/>
              </a:lnSpc>
              <a:spcBef>
                <a:spcPts val="0"/>
              </a:spcBef>
              <a:spcAft>
                <a:spcPts val="0"/>
              </a:spcAft>
              <a:defRPr sz="2400" b="0">
                <a:solidFill>
                  <a:srgbClr val="333333"/>
                </a:solidFill>
                <a:latin typeface="微软雅黑"/>
              </a:defRPr>
            </a:pPr>
            <a:r>
              <a:rPr>
                <a:ea typeface="微软雅黑"/>
              </a:rPr>
              <a:t>4Cl−</a:t>
            </a:r>
          </a:p>
        </p:txBody>
      </p:sp>
      <p:sp>
        <p:nvSpPr>
          <p:cNvPr id="10" name="文字_D. 将SO₂气体通入碘水中使其褪色的反应: S"/>
          <p:cNvSpPr txBox="1"/>
          <p:nvPr/>
        </p:nvSpPr>
        <p:spPr>
          <a:xfrm>
            <a:off x="502920" y="31973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将SO₂气体通入碘水中使其褪色的反应: SO₂ + I₂ + 2H₂O = 4H+ + SO₂⁻ +</a:t>
            </a:r>
          </a:p>
          <a:p>
            <a:pPr>
              <a:lnSpc>
                <a:spcPct val="112000"/>
              </a:lnSpc>
              <a:spcBef>
                <a:spcPts val="0"/>
              </a:spcBef>
              <a:spcAft>
                <a:spcPts val="0"/>
              </a:spcAft>
              <a:defRPr sz="2400" b="0">
                <a:solidFill>
                  <a:srgbClr val="333333"/>
                </a:solidFill>
                <a:latin typeface="微软雅黑"/>
              </a:defRPr>
            </a:pPr>
            <a:r>
              <a:rPr>
                <a:ea typeface="微软雅黑"/>
              </a:rPr>
              <a:t> 2I−</a:t>
            </a:r>
          </a:p>
        </p:txBody>
      </p:sp>
      <p:sp>
        <p:nvSpPr>
          <p:cNvPr id="11" name="文字_单选题  ·  16-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16-067</a:t>
            </a:r>
          </a:p>
        </p:txBody>
      </p:sp>
      <p:sp>
        <p:nvSpPr>
          <p:cNvPr id="12"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检测题10</a:t>
            </a:r>
          </a:p>
        </p:txBody>
      </p:sp>
      <p:sp>
        <p:nvSpPr>
          <p:cNvPr id="5" name="文字_P3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P359</a:t>
            </a:r>
          </a:p>
        </p:txBody>
      </p:sp>
      <p:sp>
        <p:nvSpPr>
          <p:cNvPr id="6" name="文字_实验室用如图装置来制取Fe(OH)₂，关于该实验"/>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实验室用如图装置来制取Fe(OH)₂，关于该实验的说法中正确的是</a:t>
            </a:r>
          </a:p>
        </p:txBody>
      </p:sp>
      <p:pic>
        <p:nvPicPr>
          <p:cNvPr id="7" name="Picture 6" descr="image.png"/>
          <p:cNvPicPr>
            <a:picLocks noChangeAspect="1"/>
          </p:cNvPicPr>
          <p:nvPr/>
        </p:nvPicPr>
        <p:blipFill>
          <a:blip r:embed="rId3"/>
          <a:stretch>
            <a:fillRect/>
          </a:stretch>
        </p:blipFill>
        <p:spPr>
          <a:xfrm>
            <a:off x="502920" y="1517904"/>
            <a:ext cx="11064240" cy="2274103"/>
          </a:xfrm>
          <a:prstGeom prst="rect">
            <a:avLst/>
          </a:prstGeom>
        </p:spPr>
      </p:pic>
      <p:sp>
        <p:nvSpPr>
          <p:cNvPr id="8" name="原题文字_359_4"/>
          <p:cNvSpPr txBox="1"/>
          <p:nvPr/>
        </p:nvSpPr>
        <p:spPr>
          <a:xfrm>
            <a:off x="1276268" y="1702926"/>
            <a:ext cx="54490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稀硫酸</a:t>
            </a:r>
          </a:p>
        </p:txBody>
      </p:sp>
      <p:sp>
        <p:nvSpPr>
          <p:cNvPr id="9" name="原题文字_359_5"/>
          <p:cNvSpPr txBox="1"/>
          <p:nvPr/>
        </p:nvSpPr>
        <p:spPr>
          <a:xfrm>
            <a:off x="1115473" y="2101085"/>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一</a:t>
            </a:r>
          </a:p>
        </p:txBody>
      </p:sp>
      <p:sp>
        <p:nvSpPr>
          <p:cNvPr id="10" name="原题文字_359_6"/>
          <p:cNvSpPr txBox="1"/>
          <p:nvPr/>
        </p:nvSpPr>
        <p:spPr>
          <a:xfrm>
            <a:off x="2049616" y="2453303"/>
            <a:ext cx="299885"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一</a:t>
            </a:r>
          </a:p>
        </p:txBody>
      </p:sp>
      <p:sp>
        <p:nvSpPr>
          <p:cNvPr id="11" name="原题文字_359_7"/>
          <p:cNvSpPr txBox="1"/>
          <p:nvPr/>
        </p:nvSpPr>
        <p:spPr>
          <a:xfrm>
            <a:off x="1460034" y="2820835"/>
            <a:ext cx="376454"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铁屑</a:t>
            </a:r>
          </a:p>
        </p:txBody>
      </p:sp>
      <p:sp>
        <p:nvSpPr>
          <p:cNvPr id="12" name="原题文字_359_8"/>
          <p:cNvSpPr txBox="1"/>
          <p:nvPr/>
        </p:nvSpPr>
        <p:spPr>
          <a:xfrm>
            <a:off x="2547315" y="2774893"/>
            <a:ext cx="299885" cy="298619"/>
          </a:xfrm>
          <a:prstGeom prst="rect">
            <a:avLst/>
          </a:prstGeom>
          <a:noFill/>
        </p:spPr>
        <p:txBody>
          <a:bodyPr wrap="none" lIns="0" rIns="0" tIns="0" bIns="0">
            <a:spAutoFit/>
          </a:bodyPr>
          <a:lstStyle/>
          <a:p>
            <a:pPr>
              <a:lnSpc>
                <a:spcPct val="112000"/>
              </a:lnSpc>
              <a:spcBef>
                <a:spcPts val="0"/>
              </a:spcBef>
              <a:spcAft>
                <a:spcPts val="0"/>
              </a:spcAft>
              <a:defRPr sz="1183" b="0">
                <a:solidFill>
                  <a:srgbClr val="333333"/>
                </a:solidFill>
                <a:latin typeface="微软雅黑"/>
              </a:defRPr>
            </a:pPr>
            <a:r>
              <a:rPr>
                <a:ea typeface="微软雅黑"/>
              </a:rPr>
              <a:t>水、</a:t>
            </a:r>
          </a:p>
        </p:txBody>
      </p:sp>
      <p:sp>
        <p:nvSpPr>
          <p:cNvPr id="13" name="原题文字_359_9"/>
          <p:cNvSpPr txBox="1"/>
          <p:nvPr/>
        </p:nvSpPr>
        <p:spPr>
          <a:xfrm>
            <a:off x="2401834" y="3004601"/>
            <a:ext cx="468337" cy="258803"/>
          </a:xfrm>
          <a:prstGeom prst="rect">
            <a:avLst/>
          </a:prstGeom>
          <a:noFill/>
        </p:spPr>
        <p:txBody>
          <a:bodyPr wrap="none" lIns="0" rIns="0" tIns="0" bIns="0">
            <a:spAutoFit/>
          </a:bodyPr>
          <a:lstStyle/>
          <a:p>
            <a:pPr>
              <a:lnSpc>
                <a:spcPct val="112000"/>
              </a:lnSpc>
              <a:spcBef>
                <a:spcPts val="0"/>
              </a:spcBef>
              <a:spcAft>
                <a:spcPts val="0"/>
              </a:spcAft>
              <a:defRPr sz="1242" b="0">
                <a:solidFill>
                  <a:srgbClr val="333333"/>
                </a:solidFill>
                <a:latin typeface="微软雅黑"/>
              </a:defRPr>
            </a:pPr>
            <a:r>
              <a:rPr>
                <a:ea typeface="微软雅黑"/>
              </a:rPr>
              <a:t>NaOH</a:t>
            </a:r>
          </a:p>
        </p:txBody>
      </p:sp>
      <p:sp>
        <p:nvSpPr>
          <p:cNvPr id="14" name="原题文字_359_10"/>
          <p:cNvSpPr txBox="1"/>
          <p:nvPr/>
        </p:nvSpPr>
        <p:spPr>
          <a:xfrm>
            <a:off x="2432462" y="3150082"/>
            <a:ext cx="41473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溶液</a:t>
            </a:r>
          </a:p>
        </p:txBody>
      </p:sp>
      <p:sp>
        <p:nvSpPr>
          <p:cNvPr id="15" name="原题文字_359_11"/>
          <p:cNvSpPr txBox="1"/>
          <p:nvPr/>
        </p:nvSpPr>
        <p:spPr>
          <a:xfrm>
            <a:off x="1100159" y="3272593"/>
            <a:ext cx="22331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A</a:t>
            </a:r>
          </a:p>
        </p:txBody>
      </p:sp>
      <p:sp>
        <p:nvSpPr>
          <p:cNvPr id="16" name="原题文字_359_12"/>
          <p:cNvSpPr txBox="1"/>
          <p:nvPr/>
        </p:nvSpPr>
        <p:spPr>
          <a:xfrm>
            <a:off x="2087901" y="3280250"/>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B</a:t>
            </a:r>
          </a:p>
        </p:txBody>
      </p:sp>
      <p:sp>
        <p:nvSpPr>
          <p:cNvPr id="17" name="原题文字_359_13"/>
          <p:cNvSpPr txBox="1"/>
          <p:nvPr/>
        </p:nvSpPr>
        <p:spPr>
          <a:xfrm>
            <a:off x="3328321" y="3272593"/>
            <a:ext cx="238629"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C</a:t>
            </a:r>
          </a:p>
        </p:txBody>
      </p:sp>
      <p:sp>
        <p:nvSpPr>
          <p:cNvPr id="18" name="原题文字_359_14"/>
          <p:cNvSpPr txBox="1"/>
          <p:nvPr/>
        </p:nvSpPr>
        <p:spPr>
          <a:xfrm>
            <a:off x="594802" y="3494643"/>
            <a:ext cx="618805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组装好仪器后，实验操作的第一步是向装置中加入对应的试剂</a:t>
            </a:r>
          </a:p>
        </p:txBody>
      </p:sp>
      <p:sp>
        <p:nvSpPr>
          <p:cNvPr id="19" name="文字_B. 引发B中产生Fe(OH)₂的操作是关闭K，"/>
          <p:cNvSpPr txBox="1"/>
          <p:nvPr/>
        </p:nvSpPr>
        <p:spPr>
          <a:xfrm>
            <a:off x="502920" y="386515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引发B中产生Fe(OH)₂的操作是关闭K，继续滴加稀硫酸</a:t>
            </a:r>
          </a:p>
        </p:txBody>
      </p:sp>
      <p:sp>
        <p:nvSpPr>
          <p:cNvPr id="20" name="文字_C. 从反应开始至关闭K时，C中集气瓶收集到的气"/>
          <p:cNvSpPr txBox="1"/>
          <p:nvPr/>
        </p:nvSpPr>
        <p:spPr>
          <a:xfrm>
            <a:off x="502920" y="430407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从反应开始至关闭K时，C中集气瓶收集到的气体是纯净的氢气</a:t>
            </a:r>
          </a:p>
        </p:txBody>
      </p:sp>
      <p:sp>
        <p:nvSpPr>
          <p:cNvPr id="21" name="文字_D. 打开B中瓶塞，可看到B中白色沉淀迅速变为红"/>
          <p:cNvSpPr txBox="1"/>
          <p:nvPr/>
        </p:nvSpPr>
        <p:spPr>
          <a:xfrm>
            <a:off x="502920" y="474298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打开B中瓶塞，可看到B中白色沉淀迅速变为红褐色沉淀</a:t>
            </a:r>
          </a:p>
        </p:txBody>
      </p:sp>
      <p:sp>
        <p:nvSpPr>
          <p:cNvPr id="22" name="文字_单选题  ·  16-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16-068</a:t>
            </a:r>
          </a:p>
        </p:txBody>
      </p:sp>
      <p:sp>
        <p:nvSpPr>
          <p:cNvPr id="23" name="文字_7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检测题11</a:t>
            </a:r>
          </a:p>
        </p:txBody>
      </p:sp>
      <p:sp>
        <p:nvSpPr>
          <p:cNvPr id="5" name="文字_P3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P359</a:t>
            </a:r>
          </a:p>
        </p:txBody>
      </p:sp>
      <p:sp>
        <p:nvSpPr>
          <p:cNvPr id="6" name="文字_1934年约里奥—居里夫妇在核反应中用α粒子(即"/>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1934年约里奥—居里夫妇在核反应中用α粒子(即氦核He)轰击金属原子X，得到核</a:t>
            </a:r>
          </a:p>
          <a:p>
            <a:pPr>
              <a:lnSpc>
                <a:spcPct val="112000"/>
              </a:lnSpc>
              <a:spcBef>
                <a:spcPts val="0"/>
              </a:spcBef>
              <a:spcAft>
                <a:spcPts val="0"/>
              </a:spcAft>
              <a:defRPr sz="2400" b="0">
                <a:solidFill>
                  <a:srgbClr val="333333"/>
                </a:solidFill>
                <a:latin typeface="微软雅黑"/>
              </a:defRPr>
            </a:pPr>
            <a:r>
              <a:rPr>
                <a:ea typeface="微软雅黑"/>
              </a:rPr>
              <a:t>素0+2Y，开创了人造放射性核素的先河：X + He →</a:t>
            </a:r>
          </a:p>
        </p:txBody>
      </p:sp>
      <p:sp>
        <p:nvSpPr>
          <p:cNvPr id="7" name="文字_A. X的质量数为27"/>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X的质量数为27</a:t>
            </a:r>
          </a:p>
        </p:txBody>
      </p:sp>
      <p:sp>
        <p:nvSpPr>
          <p:cNvPr id="8" name="文字_B. Y与氯形成的YCl₃分子内所有原子最外层均"/>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Y与氯形成的YCl₃分子内所有原子最外层均满足8电子</a:t>
            </a:r>
          </a:p>
        </p:txBody>
      </p:sp>
      <p:sp>
        <p:nvSpPr>
          <p:cNvPr id="9" name="文字_C. Y的简单氢化物的稳定性比NH₃的弱"/>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Y的简单氢化物的稳定性比NH₃的弱</a:t>
            </a:r>
          </a:p>
        </p:txBody>
      </p:sp>
      <p:sp>
        <p:nvSpPr>
          <p:cNvPr id="10" name="文字_D. X的最高价氧化物的水化物能与氨水反应"/>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X的最高价氧化物的水化物能与氨水反应</a:t>
            </a:r>
          </a:p>
        </p:txBody>
      </p:sp>
      <p:sp>
        <p:nvSpPr>
          <p:cNvPr id="11" name="文字_单选题  ·  16-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16-069</a:t>
            </a:r>
          </a:p>
        </p:txBody>
      </p:sp>
      <p:sp>
        <p:nvSpPr>
          <p:cNvPr id="12" name="文字_7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检测题12</a:t>
            </a:r>
          </a:p>
        </p:txBody>
      </p:sp>
      <p:sp>
        <p:nvSpPr>
          <p:cNvPr id="5" name="文字_P3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P359</a:t>
            </a:r>
          </a:p>
        </p:txBody>
      </p:sp>
      <p:sp>
        <p:nvSpPr>
          <p:cNvPr id="6" name="文字_甲~戊均为短周期元素，在元素周期表中的相对位置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甲~戊均为短周期元素，在元素周期表中的相对位置如图所示。戊的最高价氧化物</a:t>
            </a:r>
          </a:p>
          <a:p>
            <a:pPr>
              <a:lnSpc>
                <a:spcPct val="112000"/>
              </a:lnSpc>
              <a:spcBef>
                <a:spcPts val="0"/>
              </a:spcBef>
              <a:spcAft>
                <a:spcPts val="0"/>
              </a:spcAft>
              <a:defRPr sz="2400" b="0">
                <a:solidFill>
                  <a:srgbClr val="333333"/>
                </a:solidFill>
                <a:latin typeface="微软雅黑"/>
              </a:defRPr>
            </a:pPr>
            <a:r>
              <a:rPr>
                <a:ea typeface="微软雅黑"/>
              </a:rPr>
              <a:t>对应的水化物为强酸。下列说法不正确的是</a:t>
            </a:r>
          </a:p>
        </p:txBody>
      </p:sp>
      <p:pic>
        <p:nvPicPr>
          <p:cNvPr id="7" name="Picture 6" descr="image.png"/>
          <p:cNvPicPr>
            <a:picLocks noChangeAspect="1"/>
          </p:cNvPicPr>
          <p:nvPr/>
        </p:nvPicPr>
        <p:blipFill>
          <a:blip r:embed="rId3"/>
          <a:stretch>
            <a:fillRect/>
          </a:stretch>
        </p:blipFill>
        <p:spPr>
          <a:xfrm>
            <a:off x="502920" y="1880616"/>
            <a:ext cx="11064240" cy="872888"/>
          </a:xfrm>
          <a:prstGeom prst="rect">
            <a:avLst/>
          </a:prstGeom>
        </p:spPr>
      </p:pic>
      <p:sp>
        <p:nvSpPr>
          <p:cNvPr id="8" name="原题文字_359_32"/>
          <p:cNvSpPr txBox="1"/>
          <p:nvPr/>
        </p:nvSpPr>
        <p:spPr>
          <a:xfrm>
            <a:off x="724970" y="2012039"/>
            <a:ext cx="32285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甲</a:t>
            </a:r>
          </a:p>
        </p:txBody>
      </p:sp>
      <p:sp>
        <p:nvSpPr>
          <p:cNvPr id="9" name="原题文字_359_33"/>
          <p:cNvSpPr txBox="1"/>
          <p:nvPr/>
        </p:nvSpPr>
        <p:spPr>
          <a:xfrm>
            <a:off x="3443174" y="2035010"/>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乙</a:t>
            </a:r>
          </a:p>
        </p:txBody>
      </p:sp>
      <p:sp>
        <p:nvSpPr>
          <p:cNvPr id="10" name="原题文字_359_34"/>
          <p:cNvSpPr txBox="1"/>
          <p:nvPr/>
        </p:nvSpPr>
        <p:spPr>
          <a:xfrm>
            <a:off x="701999" y="2356600"/>
            <a:ext cx="353483"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丙</a:t>
            </a:r>
          </a:p>
        </p:txBody>
      </p:sp>
      <p:sp>
        <p:nvSpPr>
          <p:cNvPr id="11" name="原题文字_359_35"/>
          <p:cNvSpPr txBox="1"/>
          <p:nvPr/>
        </p:nvSpPr>
        <p:spPr>
          <a:xfrm>
            <a:off x="2080244" y="2333630"/>
            <a:ext cx="32285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丁</a:t>
            </a:r>
          </a:p>
        </p:txBody>
      </p:sp>
      <p:sp>
        <p:nvSpPr>
          <p:cNvPr id="12" name="原题文字_359_36"/>
          <p:cNvSpPr txBox="1"/>
          <p:nvPr/>
        </p:nvSpPr>
        <p:spPr>
          <a:xfrm>
            <a:off x="3381919" y="2303002"/>
            <a:ext cx="407082"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戊</a:t>
            </a:r>
          </a:p>
        </p:txBody>
      </p:sp>
      <p:sp>
        <p:nvSpPr>
          <p:cNvPr id="13" name="文字_A. 表中5种元素中非金属性最强的是乙"/>
          <p:cNvSpPr txBox="1"/>
          <p:nvPr/>
        </p:nvSpPr>
        <p:spPr>
          <a:xfrm>
            <a:off x="502920" y="282665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表中5种元素中非金属性最强的是乙</a:t>
            </a:r>
          </a:p>
        </p:txBody>
      </p:sp>
      <p:sp>
        <p:nvSpPr>
          <p:cNvPr id="14" name="文字_B. 简单氢化物的还原性：丙&gt;丁&gt;戊"/>
          <p:cNvSpPr txBox="1"/>
          <p:nvPr/>
        </p:nvSpPr>
        <p:spPr>
          <a:xfrm>
            <a:off x="502920" y="326556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简单氢化物的还原性：丙&gt;丁&gt;戊</a:t>
            </a:r>
          </a:p>
        </p:txBody>
      </p:sp>
      <p:sp>
        <p:nvSpPr>
          <p:cNvPr id="15" name="文字_C. 甲的氢化物遇氯化氢一定有白烟产生"/>
          <p:cNvSpPr txBox="1"/>
          <p:nvPr/>
        </p:nvSpPr>
        <p:spPr>
          <a:xfrm>
            <a:off x="502920" y="370448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甲的氢化物遇氯化氢一定有白烟产生</a:t>
            </a:r>
          </a:p>
        </p:txBody>
      </p:sp>
      <p:sp>
        <p:nvSpPr>
          <p:cNvPr id="16" name="文字_D. 丙的最高价氧化物的水化物一定能与强碱反应"/>
          <p:cNvSpPr txBox="1"/>
          <p:nvPr/>
        </p:nvSpPr>
        <p:spPr>
          <a:xfrm>
            <a:off x="502920" y="41433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丙的最高价氧化物的水化物一定能与强碱反应</a:t>
            </a:r>
          </a:p>
        </p:txBody>
      </p:sp>
      <p:sp>
        <p:nvSpPr>
          <p:cNvPr id="17" name="文字_单选题  ·  16-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16-070</a:t>
            </a:r>
          </a:p>
        </p:txBody>
      </p:sp>
      <p:sp>
        <p:nvSpPr>
          <p:cNvPr id="18"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检测题13</a:t>
            </a:r>
          </a:p>
        </p:txBody>
      </p:sp>
      <p:sp>
        <p:nvSpPr>
          <p:cNvPr id="5" name="文字_P3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P359</a:t>
            </a:r>
          </a:p>
        </p:txBody>
      </p:sp>
      <p:sp>
        <p:nvSpPr>
          <p:cNvPr id="6" name="文字_锗(Ge)和硒(Se)分别是第四周期第IVA族和"/>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锗(Ge)和硒(Se)分别是第四周期第IVA族和第VIA族元素，下列关于它们叙述正确的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锗的单质可能具有半导体的性能，它的最高价氧"/>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锗的单质可能具有半导体的性能，它的最高价氧化物的水化物可能是强酸</a:t>
            </a:r>
          </a:p>
        </p:txBody>
      </p:sp>
      <p:sp>
        <p:nvSpPr>
          <p:cNvPr id="8" name="文字_B. 锗是一种金属性很强的元素，极易与空气反应"/>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锗是一种金属性很强的元素，极易与空气反应</a:t>
            </a:r>
          </a:p>
        </p:txBody>
      </p:sp>
      <p:sp>
        <p:nvSpPr>
          <p:cNvPr id="9" name="文字_C. H₂Se的稳定性大于H₂S，H₂SO₄的酸"/>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H₂Se的稳定性大于H₂S，H₂SO₄的酸性比H₂SeO₄强</a:t>
            </a:r>
          </a:p>
        </p:txBody>
      </p:sp>
      <p:sp>
        <p:nvSpPr>
          <p:cNvPr id="10" name="文字_D. 将O₂通入H₂Se的水溶液中可得到Se"/>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将O₂通入H₂Se的水溶液中可得到Se</a:t>
            </a:r>
          </a:p>
        </p:txBody>
      </p:sp>
      <p:sp>
        <p:nvSpPr>
          <p:cNvPr id="11" name="文字_单选题  ·  16-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16-071</a:t>
            </a:r>
          </a:p>
        </p:txBody>
      </p:sp>
      <p:sp>
        <p:nvSpPr>
          <p:cNvPr id="12" name="文字_8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检测题14</a:t>
            </a:r>
          </a:p>
        </p:txBody>
      </p:sp>
      <p:sp>
        <p:nvSpPr>
          <p:cNvPr id="5" name="文字_P3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P360</a:t>
            </a:r>
          </a:p>
        </p:txBody>
      </p:sp>
      <p:sp>
        <p:nvSpPr>
          <p:cNvPr id="6" name="文字_如图表示部分短周期元素的原子半径和最高正价、最低"/>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如图表示部分短周期元素的原子半径和最高正价、最低负价随原子序数的变化情况</a:t>
            </a:r>
          </a:p>
          <a:p>
            <a:pPr>
              <a:lnSpc>
                <a:spcPct val="112000"/>
              </a:lnSpc>
              <a:spcBef>
                <a:spcPts val="0"/>
              </a:spcBef>
              <a:spcAft>
                <a:spcPts val="0"/>
              </a:spcAft>
              <a:defRPr sz="2400" b="0">
                <a:solidFill>
                  <a:srgbClr val="333333"/>
                </a:solidFill>
                <a:latin typeface="微软雅黑"/>
              </a:defRPr>
            </a:pPr>
            <a:r>
              <a:rPr>
                <a:ea typeface="微软雅黑"/>
              </a:rPr>
              <a:t>，下列有关说法正确的是</a:t>
            </a:r>
          </a:p>
        </p:txBody>
      </p:sp>
      <p:pic>
        <p:nvPicPr>
          <p:cNvPr id="7" name="Picture 6" descr="image.png"/>
          <p:cNvPicPr>
            <a:picLocks noChangeAspect="1"/>
          </p:cNvPicPr>
          <p:nvPr/>
        </p:nvPicPr>
        <p:blipFill>
          <a:blip r:embed="rId3"/>
          <a:stretch>
            <a:fillRect/>
          </a:stretch>
        </p:blipFill>
        <p:spPr>
          <a:xfrm>
            <a:off x="502920" y="1880616"/>
            <a:ext cx="11064240" cy="2143935"/>
          </a:xfrm>
          <a:prstGeom prst="rect">
            <a:avLst/>
          </a:prstGeom>
        </p:spPr>
      </p:pic>
      <p:sp>
        <p:nvSpPr>
          <p:cNvPr id="8" name="原题文字_360_4"/>
          <p:cNvSpPr txBox="1"/>
          <p:nvPr/>
        </p:nvSpPr>
        <p:spPr>
          <a:xfrm>
            <a:off x="541204" y="1912499"/>
            <a:ext cx="475994" cy="1294018"/>
          </a:xfrm>
          <a:prstGeom prst="rect">
            <a:avLst/>
          </a:prstGeom>
          <a:noFill/>
        </p:spPr>
        <p:txBody>
          <a:bodyPr wrap="none" lIns="0" rIns="0" tIns="0" bIns="0">
            <a:spAutoFit/>
          </a:bodyPr>
          <a:lstStyle/>
          <a:p>
            <a:pPr>
              <a:lnSpc>
                <a:spcPct val="112000"/>
              </a:lnSpc>
              <a:spcBef>
                <a:spcPts val="0"/>
              </a:spcBef>
              <a:spcAft>
                <a:spcPts val="0"/>
              </a:spcAft>
              <a:defRPr sz="4138" b="0">
                <a:solidFill>
                  <a:srgbClr val="333333"/>
                </a:solidFill>
                <a:latin typeface="微软雅黑"/>
              </a:defRPr>
            </a:pPr>
            <a:r>
              <a:rPr>
                <a:ea typeface="微软雅黑"/>
              </a:rPr>
              <a:t>原子半径</a:t>
            </a:r>
          </a:p>
        </p:txBody>
      </p:sp>
      <p:sp>
        <p:nvSpPr>
          <p:cNvPr id="9" name="原题文字_360_5"/>
          <p:cNvSpPr txBox="1"/>
          <p:nvPr/>
        </p:nvSpPr>
        <p:spPr>
          <a:xfrm>
            <a:off x="2554972" y="2119236"/>
            <a:ext cx="23862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d</a:t>
            </a:r>
          </a:p>
        </p:txBody>
      </p:sp>
      <p:sp>
        <p:nvSpPr>
          <p:cNvPr id="10" name="原题文字_360_6"/>
          <p:cNvSpPr txBox="1"/>
          <p:nvPr/>
        </p:nvSpPr>
        <p:spPr>
          <a:xfrm>
            <a:off x="2524345" y="2318316"/>
            <a:ext cx="284571"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+1</a:t>
            </a:r>
          </a:p>
        </p:txBody>
      </p:sp>
      <p:sp>
        <p:nvSpPr>
          <p:cNvPr id="11" name="原题文字_360_7"/>
          <p:cNvSpPr txBox="1"/>
          <p:nvPr/>
        </p:nvSpPr>
        <p:spPr>
          <a:xfrm>
            <a:off x="3190496" y="2494425"/>
            <a:ext cx="292228"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+3</a:t>
            </a:r>
          </a:p>
        </p:txBody>
      </p:sp>
      <p:sp>
        <p:nvSpPr>
          <p:cNvPr id="12" name="原题文字_360_8"/>
          <p:cNvSpPr txBox="1"/>
          <p:nvPr/>
        </p:nvSpPr>
        <p:spPr>
          <a:xfrm>
            <a:off x="4208866" y="2448483"/>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f</a:t>
            </a:r>
          </a:p>
        </p:txBody>
      </p:sp>
      <p:sp>
        <p:nvSpPr>
          <p:cNvPr id="13" name="原题文字_360_9"/>
          <p:cNvSpPr txBox="1"/>
          <p:nvPr/>
        </p:nvSpPr>
        <p:spPr>
          <a:xfrm>
            <a:off x="4507485" y="2486768"/>
            <a:ext cx="230973"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g</a:t>
            </a:r>
          </a:p>
        </p:txBody>
      </p:sp>
      <p:sp>
        <p:nvSpPr>
          <p:cNvPr id="14" name="原题文字_360_10"/>
          <p:cNvSpPr txBox="1"/>
          <p:nvPr/>
        </p:nvSpPr>
        <p:spPr>
          <a:xfrm>
            <a:off x="1023590" y="2708818"/>
            <a:ext cx="246286"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a</a:t>
            </a:r>
          </a:p>
        </p:txBody>
      </p:sp>
      <p:sp>
        <p:nvSpPr>
          <p:cNvPr id="15" name="原题文字_360_11"/>
          <p:cNvSpPr txBox="1"/>
          <p:nvPr/>
        </p:nvSpPr>
        <p:spPr>
          <a:xfrm>
            <a:off x="1299239" y="2662877"/>
            <a:ext cx="590847"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b c</a:t>
            </a:r>
          </a:p>
        </p:txBody>
      </p:sp>
      <p:sp>
        <p:nvSpPr>
          <p:cNvPr id="16" name="原题文字_360_12"/>
          <p:cNvSpPr txBox="1"/>
          <p:nvPr/>
        </p:nvSpPr>
        <p:spPr>
          <a:xfrm>
            <a:off x="985305" y="2854300"/>
            <a:ext cx="315199"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+4</a:t>
            </a:r>
          </a:p>
        </p:txBody>
      </p:sp>
      <p:sp>
        <p:nvSpPr>
          <p:cNvPr id="17" name="原题文字_360_13"/>
          <p:cNvSpPr txBox="1"/>
          <p:nvPr/>
        </p:nvSpPr>
        <p:spPr>
          <a:xfrm>
            <a:off x="1215012" y="2838986"/>
            <a:ext cx="698044"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+5 -2</a:t>
            </a:r>
          </a:p>
        </p:txBody>
      </p:sp>
      <p:sp>
        <p:nvSpPr>
          <p:cNvPr id="18" name="原题文字_360_14"/>
          <p:cNvSpPr txBox="1"/>
          <p:nvPr/>
        </p:nvSpPr>
        <p:spPr>
          <a:xfrm>
            <a:off x="4063384" y="3436225"/>
            <a:ext cx="91243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原子序数</a:t>
            </a:r>
          </a:p>
        </p:txBody>
      </p:sp>
      <p:sp>
        <p:nvSpPr>
          <p:cNvPr id="19" name="原题文字_360_15"/>
          <p:cNvSpPr txBox="1"/>
          <p:nvPr/>
        </p:nvSpPr>
        <p:spPr>
          <a:xfrm>
            <a:off x="571832" y="3696560"/>
            <a:ext cx="305637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A. 最高正价的顺序：g &gt; c &gt; b</a:t>
            </a:r>
          </a:p>
        </p:txBody>
      </p:sp>
      <p:sp>
        <p:nvSpPr>
          <p:cNvPr id="20" name="文字_B. 形成的简单离子半径: b &gt; c &gt; e "/>
          <p:cNvSpPr txBox="1"/>
          <p:nvPr/>
        </p:nvSpPr>
        <p:spPr>
          <a:xfrm>
            <a:off x="502920" y="409770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形成的简单离子半径: b &gt; c &gt; e &gt; d</a:t>
            </a:r>
          </a:p>
        </p:txBody>
      </p:sp>
      <p:sp>
        <p:nvSpPr>
          <p:cNvPr id="21" name="文字_C. b、d、e的最高价氧化物的水化物能两两之间"/>
          <p:cNvSpPr txBox="1"/>
          <p:nvPr/>
        </p:nvSpPr>
        <p:spPr>
          <a:xfrm>
            <a:off x="502920" y="453661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b、d、e的最高价氧化物的水化物能两两之间相互发生反应</a:t>
            </a:r>
          </a:p>
        </p:txBody>
      </p:sp>
      <p:sp>
        <p:nvSpPr>
          <p:cNvPr id="22" name="文字_D. a和c、b和c、f和c形成的化合物中，均有"/>
          <p:cNvSpPr txBox="1"/>
          <p:nvPr/>
        </p:nvSpPr>
        <p:spPr>
          <a:xfrm>
            <a:off x="502920" y="497552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a和c、b和c、f和c形成的化合物中，均有能够造成酸雨危害的物质</a:t>
            </a:r>
          </a:p>
        </p:txBody>
      </p:sp>
      <p:sp>
        <p:nvSpPr>
          <p:cNvPr id="23" name="文字_单选题  ·  16-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16-072</a:t>
            </a:r>
          </a:p>
        </p:txBody>
      </p:sp>
      <p:sp>
        <p:nvSpPr>
          <p:cNvPr id="24" name="文字_8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检测题15</a:t>
            </a:r>
          </a:p>
        </p:txBody>
      </p:sp>
      <p:sp>
        <p:nvSpPr>
          <p:cNvPr id="5" name="文字_P3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P360</a:t>
            </a:r>
          </a:p>
        </p:txBody>
      </p:sp>
      <p:sp>
        <p:nvSpPr>
          <p:cNvPr id="6" name="文字_如图所示，电流计G发生偏转，同时a极逐渐变细，b"/>
          <p:cNvSpPr txBox="1"/>
          <p:nvPr/>
        </p:nvSpPr>
        <p:spPr>
          <a:xfrm>
            <a:off x="502920" y="1078992"/>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如图所示，电流计G发生偏转，同时a极逐渐变细，b极放出无色气体，X为电解质溶液，则a、b、X可以是下列各组中的</a:t>
            </a:r>
          </a:p>
        </p:txBody>
      </p:sp>
      <p:pic>
        <p:nvPicPr>
          <p:cNvPr id="7" name="Picture 6" descr="image.png"/>
          <p:cNvPicPr>
            <a:picLocks noChangeAspect="1"/>
          </p:cNvPicPr>
          <p:nvPr/>
        </p:nvPicPr>
        <p:blipFill>
          <a:blip r:embed="rId3"/>
          <a:stretch>
            <a:fillRect/>
          </a:stretch>
        </p:blipFill>
        <p:spPr>
          <a:xfrm>
            <a:off x="502920" y="1371600"/>
            <a:ext cx="10124965" cy="4799724"/>
          </a:xfrm>
          <a:prstGeom prst="rect">
            <a:avLst/>
          </a:prstGeom>
        </p:spPr>
      </p:pic>
      <p:sp>
        <p:nvSpPr>
          <p:cNvPr id="8" name="原题文字_360_24"/>
          <p:cNvSpPr txBox="1"/>
          <p:nvPr/>
        </p:nvSpPr>
        <p:spPr>
          <a:xfrm>
            <a:off x="1252657" y="1449281"/>
            <a:ext cx="328132" cy="373467"/>
          </a:xfrm>
          <a:prstGeom prst="rect">
            <a:avLst/>
          </a:prstGeom>
          <a:noFill/>
        </p:spPr>
        <p:txBody>
          <a:bodyPr wrap="none" lIns="0" rIns="0" tIns="0" bIns="0">
            <a:spAutoFit/>
          </a:bodyPr>
          <a:lstStyle/>
          <a:p>
            <a:pPr>
              <a:lnSpc>
                <a:spcPct val="112000"/>
              </a:lnSpc>
              <a:spcBef>
                <a:spcPts val="0"/>
              </a:spcBef>
              <a:spcAft>
                <a:spcPts val="0"/>
              </a:spcAft>
              <a:defRPr sz="1809" b="0">
                <a:solidFill>
                  <a:srgbClr val="333333"/>
                </a:solidFill>
                <a:latin typeface="微软雅黑"/>
              </a:defRPr>
            </a:pPr>
            <a:r>
              <a:rPr>
                <a:ea typeface="微软雅黑"/>
              </a:rPr>
              <a:t>G</a:t>
            </a:r>
          </a:p>
        </p:txBody>
      </p:sp>
      <p:sp>
        <p:nvSpPr>
          <p:cNvPr id="9" name="原题文字_360_25"/>
          <p:cNvSpPr txBox="1"/>
          <p:nvPr/>
        </p:nvSpPr>
        <p:spPr>
          <a:xfrm>
            <a:off x="558975" y="1995819"/>
            <a:ext cx="265070" cy="282377"/>
          </a:xfrm>
          <a:prstGeom prst="rect">
            <a:avLst/>
          </a:prstGeom>
          <a:noFill/>
        </p:spPr>
        <p:txBody>
          <a:bodyPr wrap="none" lIns="0" rIns="0" tIns="0" bIns="0">
            <a:spAutoFit/>
          </a:bodyPr>
          <a:lstStyle/>
          <a:p>
            <a:pPr>
              <a:lnSpc>
                <a:spcPct val="112000"/>
              </a:lnSpc>
              <a:spcBef>
                <a:spcPts val="0"/>
              </a:spcBef>
              <a:spcAft>
                <a:spcPts val="0"/>
              </a:spcAft>
              <a:defRPr sz="1368" b="0">
                <a:solidFill>
                  <a:srgbClr val="333333"/>
                </a:solidFill>
                <a:latin typeface="微软雅黑"/>
              </a:defRPr>
            </a:pPr>
            <a:r>
              <a:rPr>
                <a:ea typeface="微软雅黑"/>
              </a:rPr>
              <a:t>a</a:t>
            </a:r>
          </a:p>
        </p:txBody>
      </p:sp>
      <p:sp>
        <p:nvSpPr>
          <p:cNvPr id="10" name="原题文字_360_26"/>
          <p:cNvSpPr txBox="1"/>
          <p:nvPr/>
        </p:nvSpPr>
        <p:spPr>
          <a:xfrm>
            <a:off x="2016409" y="1967792"/>
            <a:ext cx="244050" cy="300595"/>
          </a:xfrm>
          <a:prstGeom prst="rect">
            <a:avLst/>
          </a:prstGeom>
          <a:noFill/>
        </p:spPr>
        <p:txBody>
          <a:bodyPr wrap="none" lIns="0" rIns="0" tIns="0" bIns="0">
            <a:spAutoFit/>
          </a:bodyPr>
          <a:lstStyle/>
          <a:p>
            <a:pPr>
              <a:lnSpc>
                <a:spcPct val="112000"/>
              </a:lnSpc>
              <a:spcBef>
                <a:spcPts val="0"/>
              </a:spcBef>
              <a:spcAft>
                <a:spcPts val="0"/>
              </a:spcAft>
              <a:defRPr sz="1456" b="0">
                <a:solidFill>
                  <a:srgbClr val="333333"/>
                </a:solidFill>
                <a:latin typeface="微软雅黑"/>
              </a:defRPr>
            </a:pPr>
            <a:r>
              <a:rPr>
                <a:ea typeface="微软雅黑"/>
              </a:rPr>
              <a:t>b</a:t>
            </a:r>
          </a:p>
        </p:txBody>
      </p:sp>
      <p:sp>
        <p:nvSpPr>
          <p:cNvPr id="11" name="原题文字_360_27"/>
          <p:cNvSpPr txBox="1"/>
          <p:nvPr/>
        </p:nvSpPr>
        <p:spPr>
          <a:xfrm>
            <a:off x="2464851" y="3137944"/>
            <a:ext cx="349153" cy="373467"/>
          </a:xfrm>
          <a:prstGeom prst="rect">
            <a:avLst/>
          </a:prstGeom>
          <a:noFill/>
        </p:spPr>
        <p:txBody>
          <a:bodyPr wrap="none" lIns="0" rIns="0" tIns="0" bIns="0">
            <a:spAutoFit/>
          </a:bodyPr>
          <a:lstStyle/>
          <a:p>
            <a:pPr>
              <a:lnSpc>
                <a:spcPct val="112000"/>
              </a:lnSpc>
              <a:spcBef>
                <a:spcPts val="0"/>
              </a:spcBef>
              <a:spcAft>
                <a:spcPts val="0"/>
              </a:spcAft>
              <a:defRPr sz="1809" b="0">
                <a:solidFill>
                  <a:srgbClr val="333333"/>
                </a:solidFill>
                <a:latin typeface="微软雅黑"/>
              </a:defRPr>
            </a:pPr>
            <a:r>
              <a:rPr>
                <a:ea typeface="微软雅黑"/>
              </a:rPr>
              <a:t>X</a:t>
            </a:r>
          </a:p>
        </p:txBody>
      </p:sp>
      <p:sp>
        <p:nvSpPr>
          <p:cNvPr id="12" name="原题文字_360_28"/>
          <p:cNvSpPr txBox="1"/>
          <p:nvPr/>
        </p:nvSpPr>
        <p:spPr>
          <a:xfrm>
            <a:off x="2506892" y="4006799"/>
            <a:ext cx="657457" cy="391685"/>
          </a:xfrm>
          <a:prstGeom prst="rect">
            <a:avLst/>
          </a:prstGeom>
          <a:noFill/>
        </p:spPr>
        <p:txBody>
          <a:bodyPr wrap="none" lIns="0" rIns="0" tIns="0" bIns="0">
            <a:spAutoFit/>
          </a:bodyPr>
          <a:lstStyle/>
          <a:p>
            <a:pPr>
              <a:lnSpc>
                <a:spcPct val="112000"/>
              </a:lnSpc>
              <a:spcBef>
                <a:spcPts val="0"/>
              </a:spcBef>
              <a:spcAft>
                <a:spcPts val="0"/>
              </a:spcAft>
              <a:defRPr sz="1897" b="0">
                <a:solidFill>
                  <a:srgbClr val="333333"/>
                </a:solidFill>
                <a:latin typeface="微软雅黑"/>
              </a:defRPr>
            </a:pPr>
            <a:r>
              <a:rPr>
                <a:ea typeface="微软雅黑"/>
              </a:rPr>
              <a:t>a电极</a:t>
            </a:r>
          </a:p>
        </p:txBody>
      </p:sp>
      <p:sp>
        <p:nvSpPr>
          <p:cNvPr id="13" name="原题文字_360_29"/>
          <p:cNvSpPr txBox="1"/>
          <p:nvPr/>
        </p:nvSpPr>
        <p:spPr>
          <a:xfrm>
            <a:off x="4440795" y="4006799"/>
            <a:ext cx="664463" cy="391685"/>
          </a:xfrm>
          <a:prstGeom prst="rect">
            <a:avLst/>
          </a:prstGeom>
          <a:noFill/>
        </p:spPr>
        <p:txBody>
          <a:bodyPr wrap="none" lIns="0" rIns="0" tIns="0" bIns="0">
            <a:spAutoFit/>
          </a:bodyPr>
          <a:lstStyle/>
          <a:p>
            <a:pPr>
              <a:lnSpc>
                <a:spcPct val="112000"/>
              </a:lnSpc>
              <a:spcBef>
                <a:spcPts val="0"/>
              </a:spcBef>
              <a:spcAft>
                <a:spcPts val="0"/>
              </a:spcAft>
              <a:defRPr sz="1897" b="0">
                <a:solidFill>
                  <a:srgbClr val="333333"/>
                </a:solidFill>
                <a:latin typeface="微软雅黑"/>
              </a:defRPr>
            </a:pPr>
            <a:r>
              <a:rPr>
                <a:ea typeface="微软雅黑"/>
              </a:rPr>
              <a:t>b电极</a:t>
            </a:r>
          </a:p>
        </p:txBody>
      </p:sp>
      <p:sp>
        <p:nvSpPr>
          <p:cNvPr id="14" name="原题文字_360_30"/>
          <p:cNvSpPr txBox="1"/>
          <p:nvPr/>
        </p:nvSpPr>
        <p:spPr>
          <a:xfrm>
            <a:off x="6381706" y="3999792"/>
            <a:ext cx="713512" cy="409903"/>
          </a:xfrm>
          <a:prstGeom prst="rect">
            <a:avLst/>
          </a:prstGeom>
          <a:noFill/>
        </p:spPr>
        <p:txBody>
          <a:bodyPr wrap="none" lIns="0" rIns="0" tIns="0" bIns="0">
            <a:spAutoFit/>
          </a:bodyPr>
          <a:lstStyle/>
          <a:p>
            <a:pPr>
              <a:lnSpc>
                <a:spcPct val="112000"/>
              </a:lnSpc>
              <a:spcBef>
                <a:spcPts val="0"/>
              </a:spcBef>
              <a:spcAft>
                <a:spcPts val="0"/>
              </a:spcAft>
              <a:defRPr sz="1986" b="0">
                <a:solidFill>
                  <a:srgbClr val="333333"/>
                </a:solidFill>
                <a:latin typeface="微软雅黑"/>
              </a:defRPr>
            </a:pPr>
            <a:r>
              <a:rPr>
                <a:ea typeface="微软雅黑"/>
              </a:rPr>
              <a:t>X溶液</a:t>
            </a:r>
          </a:p>
        </p:txBody>
      </p:sp>
      <p:sp>
        <p:nvSpPr>
          <p:cNvPr id="15" name="原题文字_360_31"/>
          <p:cNvSpPr txBox="1"/>
          <p:nvPr/>
        </p:nvSpPr>
        <p:spPr>
          <a:xfrm>
            <a:off x="608023" y="4434219"/>
            <a:ext cx="328132"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a:t>
            </a:r>
          </a:p>
        </p:txBody>
      </p:sp>
      <p:sp>
        <p:nvSpPr>
          <p:cNvPr id="16" name="原题文字_360_32"/>
          <p:cNvSpPr txBox="1"/>
          <p:nvPr/>
        </p:nvSpPr>
        <p:spPr>
          <a:xfrm>
            <a:off x="2520906" y="4413199"/>
            <a:ext cx="377181"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Zn</a:t>
            </a:r>
          </a:p>
        </p:txBody>
      </p:sp>
      <p:sp>
        <p:nvSpPr>
          <p:cNvPr id="17" name="原题文字_360_33"/>
          <p:cNvSpPr txBox="1"/>
          <p:nvPr/>
        </p:nvSpPr>
        <p:spPr>
          <a:xfrm>
            <a:off x="4447802" y="4413199"/>
            <a:ext cx="377181"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Fe</a:t>
            </a:r>
          </a:p>
        </p:txBody>
      </p:sp>
      <p:sp>
        <p:nvSpPr>
          <p:cNvPr id="18" name="原题文字_360_34"/>
          <p:cNvSpPr txBox="1"/>
          <p:nvPr/>
        </p:nvSpPr>
        <p:spPr>
          <a:xfrm>
            <a:off x="6388713" y="4392178"/>
            <a:ext cx="748546" cy="391685"/>
          </a:xfrm>
          <a:prstGeom prst="rect">
            <a:avLst/>
          </a:prstGeom>
          <a:noFill/>
        </p:spPr>
        <p:txBody>
          <a:bodyPr wrap="none" lIns="0" rIns="0" tIns="0" bIns="0">
            <a:spAutoFit/>
          </a:bodyPr>
          <a:lstStyle/>
          <a:p>
            <a:pPr>
              <a:lnSpc>
                <a:spcPct val="112000"/>
              </a:lnSpc>
              <a:spcBef>
                <a:spcPts val="0"/>
              </a:spcBef>
              <a:spcAft>
                <a:spcPts val="0"/>
              </a:spcAft>
              <a:defRPr sz="1767" b="0">
                <a:solidFill>
                  <a:srgbClr val="333333"/>
                </a:solidFill>
                <a:latin typeface="微软雅黑"/>
              </a:defRPr>
            </a:pPr>
            <a:r>
              <a:rPr>
                <a:ea typeface="微软雅黑"/>
              </a:rPr>
              <a:t>CuSO₄</a:t>
            </a:r>
          </a:p>
        </p:txBody>
      </p:sp>
      <p:sp>
        <p:nvSpPr>
          <p:cNvPr id="19" name="原题文字_360_35"/>
          <p:cNvSpPr txBox="1"/>
          <p:nvPr/>
        </p:nvSpPr>
        <p:spPr>
          <a:xfrm>
            <a:off x="601016" y="4805585"/>
            <a:ext cx="328132"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B.</a:t>
            </a:r>
          </a:p>
        </p:txBody>
      </p:sp>
      <p:sp>
        <p:nvSpPr>
          <p:cNvPr id="20" name="原题文字_360_36"/>
          <p:cNvSpPr txBox="1"/>
          <p:nvPr/>
        </p:nvSpPr>
        <p:spPr>
          <a:xfrm>
            <a:off x="2506892" y="4791571"/>
            <a:ext cx="377181"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Fe</a:t>
            </a:r>
          </a:p>
        </p:txBody>
      </p:sp>
      <p:sp>
        <p:nvSpPr>
          <p:cNvPr id="21" name="原题文字_360_37"/>
          <p:cNvSpPr txBox="1"/>
          <p:nvPr/>
        </p:nvSpPr>
        <p:spPr>
          <a:xfrm>
            <a:off x="4475830" y="4791571"/>
            <a:ext cx="377181"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Cu</a:t>
            </a:r>
          </a:p>
        </p:txBody>
      </p:sp>
      <p:sp>
        <p:nvSpPr>
          <p:cNvPr id="22" name="原题文字_360_38"/>
          <p:cNvSpPr txBox="1"/>
          <p:nvPr/>
        </p:nvSpPr>
        <p:spPr>
          <a:xfrm>
            <a:off x="6367692" y="4770550"/>
            <a:ext cx="671470" cy="409903"/>
          </a:xfrm>
          <a:prstGeom prst="rect">
            <a:avLst/>
          </a:prstGeom>
          <a:noFill/>
        </p:spPr>
        <p:txBody>
          <a:bodyPr wrap="none" lIns="0" rIns="0" tIns="0" bIns="0">
            <a:spAutoFit/>
          </a:bodyPr>
          <a:lstStyle/>
          <a:p>
            <a:pPr>
              <a:lnSpc>
                <a:spcPct val="112000"/>
              </a:lnSpc>
              <a:spcBef>
                <a:spcPts val="0"/>
              </a:spcBef>
              <a:spcAft>
                <a:spcPts val="0"/>
              </a:spcAft>
              <a:defRPr sz="1954" b="0">
                <a:solidFill>
                  <a:srgbClr val="333333"/>
                </a:solidFill>
                <a:latin typeface="微软雅黑"/>
              </a:defRPr>
            </a:pPr>
            <a:r>
              <a:rPr>
                <a:ea typeface="微软雅黑"/>
              </a:rPr>
              <a:t>FeCl₃</a:t>
            </a:r>
          </a:p>
        </p:txBody>
      </p:sp>
      <p:sp>
        <p:nvSpPr>
          <p:cNvPr id="23" name="原题文字_360_39"/>
          <p:cNvSpPr txBox="1"/>
          <p:nvPr/>
        </p:nvSpPr>
        <p:spPr>
          <a:xfrm>
            <a:off x="608023" y="5176950"/>
            <a:ext cx="321126" cy="327922"/>
          </a:xfrm>
          <a:prstGeom prst="rect">
            <a:avLst/>
          </a:prstGeom>
          <a:noFill/>
        </p:spPr>
        <p:txBody>
          <a:bodyPr wrap="none" lIns="0" rIns="0" tIns="0" bIns="0">
            <a:spAutoFit/>
          </a:bodyPr>
          <a:lstStyle/>
          <a:p>
            <a:pPr>
              <a:lnSpc>
                <a:spcPct val="112000"/>
              </a:lnSpc>
              <a:spcBef>
                <a:spcPts val="0"/>
              </a:spcBef>
              <a:spcAft>
                <a:spcPts val="0"/>
              </a:spcAft>
              <a:defRPr sz="1588" b="0">
                <a:solidFill>
                  <a:srgbClr val="333333"/>
                </a:solidFill>
                <a:latin typeface="微软雅黑"/>
              </a:defRPr>
            </a:pPr>
            <a:r>
              <a:rPr>
                <a:ea typeface="微软雅黑"/>
              </a:rPr>
              <a:t>C.</a:t>
            </a:r>
          </a:p>
        </p:txBody>
      </p:sp>
      <p:sp>
        <p:nvSpPr>
          <p:cNvPr id="24" name="原题文字_360_40"/>
          <p:cNvSpPr txBox="1"/>
          <p:nvPr/>
        </p:nvSpPr>
        <p:spPr>
          <a:xfrm>
            <a:off x="2527913" y="5162937"/>
            <a:ext cx="370174"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Zn</a:t>
            </a:r>
          </a:p>
        </p:txBody>
      </p:sp>
      <p:sp>
        <p:nvSpPr>
          <p:cNvPr id="25" name="原题文字_360_41"/>
          <p:cNvSpPr txBox="1"/>
          <p:nvPr/>
        </p:nvSpPr>
        <p:spPr>
          <a:xfrm>
            <a:off x="4475830" y="5155930"/>
            <a:ext cx="510312" cy="355249"/>
          </a:xfrm>
          <a:prstGeom prst="rect">
            <a:avLst/>
          </a:prstGeom>
          <a:noFill/>
        </p:spPr>
        <p:txBody>
          <a:bodyPr wrap="none" lIns="0" rIns="0" tIns="0" bIns="0">
            <a:spAutoFit/>
          </a:bodyPr>
          <a:lstStyle/>
          <a:p>
            <a:pPr>
              <a:lnSpc>
                <a:spcPct val="112000"/>
              </a:lnSpc>
              <a:spcBef>
                <a:spcPts val="0"/>
              </a:spcBef>
              <a:spcAft>
                <a:spcPts val="0"/>
              </a:spcAft>
              <a:defRPr sz="1721" b="0">
                <a:solidFill>
                  <a:srgbClr val="333333"/>
                </a:solidFill>
                <a:latin typeface="微软雅黑"/>
              </a:defRPr>
            </a:pPr>
            <a:r>
              <a:rPr>
                <a:ea typeface="微软雅黑"/>
              </a:rPr>
              <a:t>石墨</a:t>
            </a:r>
          </a:p>
        </p:txBody>
      </p:sp>
      <p:sp>
        <p:nvSpPr>
          <p:cNvPr id="26" name="原题文字_360_42"/>
          <p:cNvSpPr txBox="1"/>
          <p:nvPr/>
        </p:nvSpPr>
        <p:spPr>
          <a:xfrm>
            <a:off x="6395719" y="5148923"/>
            <a:ext cx="727526" cy="364358"/>
          </a:xfrm>
          <a:prstGeom prst="rect">
            <a:avLst/>
          </a:prstGeom>
          <a:noFill/>
        </p:spPr>
        <p:txBody>
          <a:bodyPr wrap="none" lIns="0" rIns="0" tIns="0" bIns="0">
            <a:spAutoFit/>
          </a:bodyPr>
          <a:lstStyle/>
          <a:p>
            <a:pPr>
              <a:lnSpc>
                <a:spcPct val="112000"/>
              </a:lnSpc>
              <a:spcBef>
                <a:spcPts val="0"/>
              </a:spcBef>
              <a:spcAft>
                <a:spcPts val="0"/>
              </a:spcAft>
              <a:defRPr sz="1765" b="0">
                <a:solidFill>
                  <a:srgbClr val="333333"/>
                </a:solidFill>
                <a:latin typeface="微软雅黑"/>
              </a:defRPr>
            </a:pPr>
            <a:r>
              <a:rPr>
                <a:ea typeface="微软雅黑"/>
              </a:rPr>
              <a:t>稀盐酸</a:t>
            </a:r>
          </a:p>
        </p:txBody>
      </p:sp>
      <p:sp>
        <p:nvSpPr>
          <p:cNvPr id="27" name="原题文字_360_43"/>
          <p:cNvSpPr txBox="1"/>
          <p:nvPr/>
        </p:nvSpPr>
        <p:spPr>
          <a:xfrm>
            <a:off x="601016" y="5555323"/>
            <a:ext cx="335139"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D.</a:t>
            </a:r>
          </a:p>
        </p:txBody>
      </p:sp>
      <p:sp>
        <p:nvSpPr>
          <p:cNvPr id="28" name="原题文字_360_44"/>
          <p:cNvSpPr txBox="1"/>
          <p:nvPr/>
        </p:nvSpPr>
        <p:spPr>
          <a:xfrm>
            <a:off x="2534920" y="5527295"/>
            <a:ext cx="391195"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Cu</a:t>
            </a:r>
          </a:p>
        </p:txBody>
      </p:sp>
      <p:sp>
        <p:nvSpPr>
          <p:cNvPr id="29" name="原题文字_360_45"/>
          <p:cNvSpPr txBox="1"/>
          <p:nvPr/>
        </p:nvSpPr>
        <p:spPr>
          <a:xfrm>
            <a:off x="4440795" y="5506275"/>
            <a:ext cx="447250" cy="437230"/>
          </a:xfrm>
          <a:prstGeom prst="rect">
            <a:avLst/>
          </a:prstGeom>
          <a:noFill/>
        </p:spPr>
        <p:txBody>
          <a:bodyPr wrap="none" lIns="0" rIns="0" tIns="0" bIns="0">
            <a:spAutoFit/>
          </a:bodyPr>
          <a:lstStyle/>
          <a:p>
            <a:pPr>
              <a:lnSpc>
                <a:spcPct val="112000"/>
              </a:lnSpc>
              <a:spcBef>
                <a:spcPts val="0"/>
              </a:spcBef>
              <a:spcAft>
                <a:spcPts val="0"/>
              </a:spcAft>
              <a:defRPr sz="2118" b="0">
                <a:solidFill>
                  <a:srgbClr val="333333"/>
                </a:solidFill>
                <a:latin typeface="微软雅黑"/>
              </a:defRPr>
            </a:pPr>
            <a:r>
              <a:rPr>
                <a:ea typeface="微软雅黑"/>
              </a:rPr>
              <a:t>Ag</a:t>
            </a:r>
          </a:p>
        </p:txBody>
      </p:sp>
      <p:sp>
        <p:nvSpPr>
          <p:cNvPr id="30" name="原题文字_360_46"/>
          <p:cNvSpPr txBox="1"/>
          <p:nvPr/>
        </p:nvSpPr>
        <p:spPr>
          <a:xfrm>
            <a:off x="6395719" y="5513281"/>
            <a:ext cx="727526" cy="364358"/>
          </a:xfrm>
          <a:prstGeom prst="rect">
            <a:avLst/>
          </a:prstGeom>
          <a:noFill/>
        </p:spPr>
        <p:txBody>
          <a:bodyPr wrap="none" lIns="0" rIns="0" tIns="0" bIns="0">
            <a:spAutoFit/>
          </a:bodyPr>
          <a:lstStyle/>
          <a:p>
            <a:pPr>
              <a:lnSpc>
                <a:spcPct val="112000"/>
              </a:lnSpc>
              <a:spcBef>
                <a:spcPts val="0"/>
              </a:spcBef>
              <a:spcAft>
                <a:spcPts val="0"/>
              </a:spcAft>
              <a:defRPr sz="1765" b="0">
                <a:solidFill>
                  <a:srgbClr val="333333"/>
                </a:solidFill>
                <a:latin typeface="微软雅黑"/>
              </a:defRPr>
            </a:pPr>
            <a:r>
              <a:rPr>
                <a:ea typeface="微软雅黑"/>
              </a:rPr>
              <a:t>稀硫酸</a:t>
            </a:r>
          </a:p>
        </p:txBody>
      </p:sp>
      <p:sp>
        <p:nvSpPr>
          <p:cNvPr id="31" name="原题文字_360_47"/>
          <p:cNvSpPr txBox="1"/>
          <p:nvPr/>
        </p:nvSpPr>
        <p:spPr>
          <a:xfrm>
            <a:off x="558975" y="5933695"/>
            <a:ext cx="566367" cy="300595"/>
          </a:xfrm>
          <a:prstGeom prst="rect">
            <a:avLst/>
          </a:prstGeom>
          <a:noFill/>
        </p:spPr>
        <p:txBody>
          <a:bodyPr wrap="none" lIns="0" rIns="0" tIns="0" bIns="0">
            <a:spAutoFit/>
          </a:bodyPr>
          <a:lstStyle/>
          <a:p>
            <a:pPr>
              <a:lnSpc>
                <a:spcPct val="112000"/>
              </a:lnSpc>
              <a:spcBef>
                <a:spcPts val="0"/>
              </a:spcBef>
              <a:spcAft>
                <a:spcPts val="0"/>
              </a:spcAft>
              <a:defRPr sz="1456" b="0">
                <a:solidFill>
                  <a:srgbClr val="333333"/>
                </a:solidFill>
                <a:latin typeface="微软雅黑"/>
              </a:defRPr>
            </a:pPr>
            <a:r>
              <a:rPr>
                <a:ea typeface="微软雅黑"/>
              </a:rPr>
              <a:t>A. A</a:t>
            </a:r>
          </a:p>
        </p:txBody>
      </p:sp>
      <p:sp>
        <p:nvSpPr>
          <p:cNvPr id="32" name="原题文字_360_48"/>
          <p:cNvSpPr txBox="1"/>
          <p:nvPr/>
        </p:nvSpPr>
        <p:spPr>
          <a:xfrm>
            <a:off x="3011388" y="5940702"/>
            <a:ext cx="559360"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B. B</a:t>
            </a:r>
          </a:p>
        </p:txBody>
      </p:sp>
      <p:sp>
        <p:nvSpPr>
          <p:cNvPr id="33" name="原题文字_360_49"/>
          <p:cNvSpPr txBox="1"/>
          <p:nvPr/>
        </p:nvSpPr>
        <p:spPr>
          <a:xfrm>
            <a:off x="5463802" y="5926688"/>
            <a:ext cx="594395" cy="337031"/>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C. C</a:t>
            </a:r>
          </a:p>
        </p:txBody>
      </p:sp>
      <p:sp>
        <p:nvSpPr>
          <p:cNvPr id="34" name="原题文字_360_50"/>
          <p:cNvSpPr txBox="1"/>
          <p:nvPr/>
        </p:nvSpPr>
        <p:spPr>
          <a:xfrm>
            <a:off x="7930230" y="5940702"/>
            <a:ext cx="580381"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D. D</a:t>
            </a:r>
          </a:p>
        </p:txBody>
      </p:sp>
      <p:sp>
        <p:nvSpPr>
          <p:cNvPr id="35" name="文字_单选题  ·  16-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16-073</a:t>
            </a:r>
          </a:p>
        </p:txBody>
      </p:sp>
      <p:sp>
        <p:nvSpPr>
          <p:cNvPr id="36"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检测题16</a:t>
            </a:r>
          </a:p>
        </p:txBody>
      </p:sp>
      <p:sp>
        <p:nvSpPr>
          <p:cNvPr id="5" name="文字_P3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P360</a:t>
            </a:r>
          </a:p>
        </p:txBody>
      </p:sp>
      <p:sp>
        <p:nvSpPr>
          <p:cNvPr id="6" name="文字_学习化学要学会运用合适的方法，如“类推”，这样才"/>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学习化学要学会运用合适的方法，如“类推”，这样才能事半功倍。下列类推正确</a:t>
            </a:r>
          </a:p>
          <a:p>
            <a:pPr>
              <a:lnSpc>
                <a:spcPct val="112000"/>
              </a:lnSpc>
              <a:spcBef>
                <a:spcPts val="0"/>
              </a:spcBef>
              <a:spcAft>
                <a:spcPts val="0"/>
              </a:spcAft>
              <a:defRPr sz="2400" b="0">
                <a:solidFill>
                  <a:srgbClr val="333333"/>
                </a:solidFill>
                <a:latin typeface="微软雅黑"/>
              </a:defRPr>
            </a:pPr>
            <a:r>
              <a:rPr>
                <a:ea typeface="微软雅黑"/>
              </a:rPr>
              <a:t>的是</a:t>
            </a:r>
          </a:p>
        </p:txBody>
      </p:sp>
      <p:sp>
        <p:nvSpPr>
          <p:cNvPr id="7" name="文字_A. 已知CO₂能与Na₂O₂反应生成Na₂CO"/>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已知CO₂能与Na₂O₂反应生成Na₂CO₃和O₂，可推测SO₂能与Na₂O₂反应</a:t>
            </a:r>
          </a:p>
          <a:p>
            <a:pPr>
              <a:lnSpc>
                <a:spcPct val="112000"/>
              </a:lnSpc>
              <a:spcBef>
                <a:spcPts val="0"/>
              </a:spcBef>
              <a:spcAft>
                <a:spcPts val="0"/>
              </a:spcAft>
              <a:defRPr sz="2400" b="0">
                <a:solidFill>
                  <a:srgbClr val="333333"/>
                </a:solidFill>
                <a:latin typeface="微软雅黑"/>
              </a:defRPr>
            </a:pPr>
            <a:r>
              <a:rPr>
                <a:ea typeface="微软雅黑"/>
              </a:rPr>
              <a:t>生成Na₂SO₃和O₂</a:t>
            </a:r>
          </a:p>
        </p:txBody>
      </p:sp>
      <p:sp>
        <p:nvSpPr>
          <p:cNvPr id="8" name="文字_B. 已知Al₂O₃能和NaOH反应，可推测Fe"/>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已知Al₂O₃能和NaOH反应，可推测Fe₂O₃能和NaOH反应</a:t>
            </a:r>
          </a:p>
        </p:txBody>
      </p:sp>
      <p:sp>
        <p:nvSpPr>
          <p:cNvPr id="9" name="文字_C. 已知常温下Fe在浓硝酸中可发生钝化，可推测"/>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已知常温下Fe在浓硝酸中可发生钝化，可推测常温下Cu在浓硝酸中可发生钝化</a:t>
            </a:r>
          </a:p>
        </p:txBody>
      </p:sp>
      <p:sp>
        <p:nvSpPr>
          <p:cNvPr id="10" name="文字_D. 已知CO₂能与NaOH反应生成Na₂CO₃"/>
          <p:cNvSpPr txBox="1"/>
          <p:nvPr/>
        </p:nvSpPr>
        <p:spPr>
          <a:xfrm>
            <a:off x="502920" y="356006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已知CO₂能与NaOH反应生成Na₂CO₃，可推测SiO₂能与NaOH反应生成</a:t>
            </a:r>
          </a:p>
          <a:p>
            <a:pPr>
              <a:lnSpc>
                <a:spcPct val="112000"/>
              </a:lnSpc>
              <a:spcBef>
                <a:spcPts val="0"/>
              </a:spcBef>
              <a:spcAft>
                <a:spcPts val="0"/>
              </a:spcAft>
              <a:defRPr sz="2400" b="0">
                <a:solidFill>
                  <a:srgbClr val="333333"/>
                </a:solidFill>
                <a:latin typeface="微软雅黑"/>
              </a:defRPr>
            </a:pPr>
            <a:r>
              <a:rPr>
                <a:ea typeface="微软雅黑"/>
              </a:rPr>
              <a:t>Na₂SiO₃</a:t>
            </a:r>
          </a:p>
        </p:txBody>
      </p:sp>
      <p:sp>
        <p:nvSpPr>
          <p:cNvPr id="11" name="文字_单选题  ·  16-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16-074</a:t>
            </a:r>
          </a:p>
        </p:txBody>
      </p:sp>
      <p:sp>
        <p:nvSpPr>
          <p:cNvPr id="12"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检测题17</a:t>
            </a:r>
          </a:p>
        </p:txBody>
      </p:sp>
      <p:sp>
        <p:nvSpPr>
          <p:cNvPr id="5" name="文字_P3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P361</a:t>
            </a:r>
          </a:p>
        </p:txBody>
      </p:sp>
      <p:sp>
        <p:nvSpPr>
          <p:cNvPr id="6" name="文字_南京理工大学团队成功合成了能在室温下稳定存在的五"/>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南京理工大学团队成功合成了能在室温下稳定存在的五氮阴离子盐</a:t>
            </a:r>
          </a:p>
          <a:p>
            <a:pPr>
              <a:lnSpc>
                <a:spcPct val="112000"/>
              </a:lnSpc>
              <a:spcBef>
                <a:spcPts val="0"/>
              </a:spcBef>
              <a:spcAft>
                <a:spcPts val="0"/>
              </a:spcAft>
              <a:defRPr sz="2400" b="0">
                <a:solidFill>
                  <a:srgbClr val="333333"/>
                </a:solidFill>
                <a:latin typeface="微软雅黑"/>
              </a:defRPr>
            </a:pPr>
            <a:r>
              <a:rPr>
                <a:ea typeface="微软雅黑"/>
              </a:rPr>
              <a:t>(N₅)₆(H₃O)₃(NH₄)₄Cl，五氮阴离子盐(N₅)是制备全氮类物质NN₅的重要中间</a:t>
            </a:r>
          </a:p>
          <a:p>
            <a:pPr>
              <a:lnSpc>
                <a:spcPct val="112000"/>
              </a:lnSpc>
              <a:spcBef>
                <a:spcPts val="0"/>
              </a:spcBef>
              <a:spcAft>
                <a:spcPts val="0"/>
              </a:spcAft>
              <a:defRPr sz="2400" b="0">
                <a:solidFill>
                  <a:srgbClr val="333333"/>
                </a:solidFill>
                <a:latin typeface="微软雅黑"/>
              </a:defRPr>
            </a:pPr>
            <a:r>
              <a:rPr>
                <a:ea typeface="微软雅黑"/>
              </a:rPr>
              <a:t>体。下列说法正确的是</a:t>
            </a:r>
          </a:p>
        </p:txBody>
      </p:sp>
      <p:sp>
        <p:nvSpPr>
          <p:cNvPr id="7" name="文字_A. (N₅)₆(H₃O)₃(NH₄)₄Cl中含"/>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(N₅)₆(H₃O)₃(NH₄)₄Cl中含有共价键，属于共价化合物</a:t>
            </a:r>
          </a:p>
        </p:txBody>
      </p:sp>
      <p:sp>
        <p:nvSpPr>
          <p:cNvPr id="8" name="文字_B. (N₅)₆(H₃O)₃(NH₄)₄Cl中，"/>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(N₅)₆(H₃O)₃(NH₄)₄Cl中，每个H₃O⁺与NH+含有的电子数相同</a:t>
            </a:r>
          </a:p>
        </p:txBody>
      </p:sp>
      <p:sp>
        <p:nvSpPr>
          <p:cNvPr id="9" name="文字_C. 1molN₅N₅中含有70mol电子，N₅"/>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1molN₅N₅中含有70mol电子，N₅N₅与N₂互为同位素</a:t>
            </a:r>
          </a:p>
        </p:txBody>
      </p:sp>
      <p:sp>
        <p:nvSpPr>
          <p:cNvPr id="10" name="文字_D. N₅N₅含有共价键和离子键，属于离子化合物"/>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N₅N₅含有共价键和离子键，属于离子化合物</a:t>
            </a:r>
          </a:p>
        </p:txBody>
      </p:sp>
      <p:sp>
        <p:nvSpPr>
          <p:cNvPr id="11" name="文字_单选题  ·  16-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16-075</a:t>
            </a:r>
          </a:p>
        </p:txBody>
      </p:sp>
      <p:sp>
        <p:nvSpPr>
          <p:cNvPr id="12"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检测题18</a:t>
            </a:r>
          </a:p>
        </p:txBody>
      </p:sp>
      <p:sp>
        <p:nvSpPr>
          <p:cNvPr id="5" name="文字_P3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P361</a:t>
            </a:r>
          </a:p>
        </p:txBody>
      </p:sp>
      <p:pic>
        <p:nvPicPr>
          <p:cNvPr id="6" name="Picture 5" descr="image.png"/>
          <p:cNvPicPr>
            <a:picLocks noChangeAspect="1"/>
          </p:cNvPicPr>
          <p:nvPr/>
        </p:nvPicPr>
        <p:blipFill>
          <a:blip r:embed="rId3"/>
          <a:stretch>
            <a:fillRect/>
          </a:stretch>
        </p:blipFill>
        <p:spPr>
          <a:xfrm>
            <a:off x="502920" y="1078992"/>
            <a:ext cx="11064240" cy="4226616"/>
          </a:xfrm>
          <a:prstGeom prst="rect">
            <a:avLst/>
          </a:prstGeom>
        </p:spPr>
      </p:pic>
      <p:sp>
        <p:nvSpPr>
          <p:cNvPr id="7" name="原题文字_361_12"/>
          <p:cNvSpPr txBox="1"/>
          <p:nvPr/>
        </p:nvSpPr>
        <p:spPr>
          <a:xfrm>
            <a:off x="610116" y="1087905"/>
            <a:ext cx="371486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下列实验操作、现象和结论均正确的是</a:t>
            </a:r>
          </a:p>
        </p:txBody>
      </p:sp>
      <p:sp>
        <p:nvSpPr>
          <p:cNvPr id="8" name="原题文字_361_13"/>
          <p:cNvSpPr txBox="1"/>
          <p:nvPr/>
        </p:nvSpPr>
        <p:spPr>
          <a:xfrm>
            <a:off x="1023590" y="1493721"/>
            <a:ext cx="100432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实验操作</a:t>
            </a:r>
          </a:p>
        </p:txBody>
      </p:sp>
      <p:sp>
        <p:nvSpPr>
          <p:cNvPr id="9" name="原题文字_361_14"/>
          <p:cNvSpPr txBox="1"/>
          <p:nvPr/>
        </p:nvSpPr>
        <p:spPr>
          <a:xfrm>
            <a:off x="5732591" y="1493721"/>
            <a:ext cx="98900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实验现象</a:t>
            </a:r>
          </a:p>
        </p:txBody>
      </p:sp>
      <p:sp>
        <p:nvSpPr>
          <p:cNvPr id="10" name="原题文字_361_15"/>
          <p:cNvSpPr txBox="1"/>
          <p:nvPr/>
        </p:nvSpPr>
        <p:spPr>
          <a:xfrm>
            <a:off x="8588620" y="1478407"/>
            <a:ext cx="62147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结论</a:t>
            </a:r>
          </a:p>
        </p:txBody>
      </p:sp>
      <p:sp>
        <p:nvSpPr>
          <p:cNvPr id="11" name="原题文字_361_16"/>
          <p:cNvSpPr txBox="1"/>
          <p:nvPr/>
        </p:nvSpPr>
        <p:spPr>
          <a:xfrm>
            <a:off x="625430" y="1953136"/>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2" name="原题文字_361_17"/>
          <p:cNvSpPr txBox="1"/>
          <p:nvPr/>
        </p:nvSpPr>
        <p:spPr>
          <a:xfrm>
            <a:off x="1061874" y="2098617"/>
            <a:ext cx="372252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向盛有浓硝酸的烧杯中放入灼热的木炭</a:t>
            </a:r>
          </a:p>
        </p:txBody>
      </p:sp>
      <p:sp>
        <p:nvSpPr>
          <p:cNvPr id="13" name="原题文字_361_18"/>
          <p:cNvSpPr txBox="1"/>
          <p:nvPr/>
        </p:nvSpPr>
        <p:spPr>
          <a:xfrm>
            <a:off x="5755562" y="2098617"/>
            <a:ext cx="288792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溶液上方产生红棕色气体NO₂</a:t>
            </a:r>
          </a:p>
        </p:txBody>
      </p:sp>
      <p:sp>
        <p:nvSpPr>
          <p:cNvPr id="14" name="原题文字_361_19"/>
          <p:cNvSpPr txBox="1"/>
          <p:nvPr/>
        </p:nvSpPr>
        <p:spPr>
          <a:xfrm>
            <a:off x="8634562" y="2106274"/>
            <a:ext cx="223708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证明木炭能还原浓硝酸</a:t>
            </a:r>
          </a:p>
        </p:txBody>
      </p:sp>
      <p:sp>
        <p:nvSpPr>
          <p:cNvPr id="15" name="原题文字_361_20"/>
          <p:cNvSpPr txBox="1"/>
          <p:nvPr/>
        </p:nvSpPr>
        <p:spPr>
          <a:xfrm>
            <a:off x="8649875" y="2711170"/>
            <a:ext cx="26505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证明常温下铝与浓硝酸不反</a:t>
            </a:r>
          </a:p>
        </p:txBody>
      </p:sp>
      <p:sp>
        <p:nvSpPr>
          <p:cNvPr id="16" name="原题文字_361_21"/>
          <p:cNvSpPr txBox="1"/>
          <p:nvPr/>
        </p:nvSpPr>
        <p:spPr>
          <a:xfrm>
            <a:off x="617773" y="2902593"/>
            <a:ext cx="361140"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17" name="原题文字_361_22"/>
          <p:cNvSpPr txBox="1"/>
          <p:nvPr/>
        </p:nvSpPr>
        <p:spPr>
          <a:xfrm>
            <a:off x="1061874" y="2887279"/>
            <a:ext cx="372252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常温下，将打磨后的铝片放入浓硝酸中</a:t>
            </a:r>
          </a:p>
        </p:txBody>
      </p:sp>
      <p:sp>
        <p:nvSpPr>
          <p:cNvPr id="18" name="原题文字_361_23"/>
          <p:cNvSpPr txBox="1"/>
          <p:nvPr/>
        </p:nvSpPr>
        <p:spPr>
          <a:xfrm>
            <a:off x="5740248" y="2879622"/>
            <a:ext cx="118043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无明显现象</a:t>
            </a:r>
          </a:p>
        </p:txBody>
      </p:sp>
      <p:sp>
        <p:nvSpPr>
          <p:cNvPr id="19" name="原题文字_361_24"/>
          <p:cNvSpPr txBox="1"/>
          <p:nvPr/>
        </p:nvSpPr>
        <p:spPr>
          <a:xfrm>
            <a:off x="8611591" y="3048074"/>
            <a:ext cx="37645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应</a:t>
            </a:r>
          </a:p>
        </p:txBody>
      </p:sp>
      <p:sp>
        <p:nvSpPr>
          <p:cNvPr id="20" name="原题文字_361_25"/>
          <p:cNvSpPr txBox="1"/>
          <p:nvPr/>
        </p:nvSpPr>
        <p:spPr>
          <a:xfrm>
            <a:off x="5763219" y="3484518"/>
            <a:ext cx="287260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溶液颜色变浅，并产生白色沉</a:t>
            </a:r>
          </a:p>
        </p:txBody>
      </p:sp>
      <p:sp>
        <p:nvSpPr>
          <p:cNvPr id="21" name="原题文字_361_26"/>
          <p:cNvSpPr txBox="1"/>
          <p:nvPr/>
        </p:nvSpPr>
        <p:spPr>
          <a:xfrm>
            <a:off x="656058" y="3691255"/>
            <a:ext cx="31519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C.</a:t>
            </a:r>
          </a:p>
        </p:txBody>
      </p:sp>
      <p:sp>
        <p:nvSpPr>
          <p:cNvPr id="22" name="原题文字_361_27"/>
          <p:cNvSpPr txBox="1"/>
          <p:nvPr/>
        </p:nvSpPr>
        <p:spPr>
          <a:xfrm>
            <a:off x="1046560" y="3660627"/>
            <a:ext cx="414365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将SO₂气体通入FeCl₃和BaCl₂的混合溶液中</a:t>
            </a:r>
          </a:p>
        </p:txBody>
      </p:sp>
      <p:sp>
        <p:nvSpPr>
          <p:cNvPr id="23" name="原题文字_361_28"/>
          <p:cNvSpPr txBox="1"/>
          <p:nvPr/>
        </p:nvSpPr>
        <p:spPr>
          <a:xfrm>
            <a:off x="8649875" y="3675941"/>
            <a:ext cx="196143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证明SO₂具有还原性</a:t>
            </a:r>
          </a:p>
        </p:txBody>
      </p:sp>
      <p:sp>
        <p:nvSpPr>
          <p:cNvPr id="24" name="原题文字_361_29"/>
          <p:cNvSpPr txBox="1"/>
          <p:nvPr/>
        </p:nvSpPr>
        <p:spPr>
          <a:xfrm>
            <a:off x="5724935" y="3813766"/>
            <a:ext cx="376454"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淀</a:t>
            </a:r>
          </a:p>
        </p:txBody>
      </p:sp>
      <p:sp>
        <p:nvSpPr>
          <p:cNvPr id="25" name="原题文字_361_30"/>
          <p:cNvSpPr txBox="1"/>
          <p:nvPr/>
        </p:nvSpPr>
        <p:spPr>
          <a:xfrm>
            <a:off x="1054217" y="4242553"/>
            <a:ext cx="458009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将炽热的木炭与浓硫酸混合所得气体通入澄清石</a:t>
            </a:r>
          </a:p>
        </p:txBody>
      </p:sp>
      <p:sp>
        <p:nvSpPr>
          <p:cNvPr id="26" name="原题文字_361_31"/>
          <p:cNvSpPr txBox="1"/>
          <p:nvPr/>
        </p:nvSpPr>
        <p:spPr>
          <a:xfrm>
            <a:off x="5740248" y="4418662"/>
            <a:ext cx="140248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产生白色沉淀</a:t>
            </a:r>
          </a:p>
        </p:txBody>
      </p:sp>
      <p:sp>
        <p:nvSpPr>
          <p:cNvPr id="27" name="原题文字_361_32"/>
          <p:cNvSpPr txBox="1"/>
          <p:nvPr/>
        </p:nvSpPr>
        <p:spPr>
          <a:xfrm>
            <a:off x="8634562" y="4418662"/>
            <a:ext cx="2237084" cy="368297"/>
          </a:xfrm>
          <a:prstGeom prst="rect">
            <a:avLst/>
          </a:prstGeom>
          <a:noFill/>
        </p:spPr>
        <p:txBody>
          <a:bodyPr wrap="none" lIns="0" rIns="0" tIns="0" bIns="0">
            <a:spAutoFit/>
          </a:bodyPr>
          <a:lstStyle/>
          <a:p>
            <a:pPr>
              <a:lnSpc>
                <a:spcPct val="112000"/>
              </a:lnSpc>
              <a:spcBef>
                <a:spcPts val="0"/>
              </a:spcBef>
              <a:spcAft>
                <a:spcPts val="0"/>
              </a:spcAft>
              <a:defRPr sz="1758" b="0">
                <a:solidFill>
                  <a:srgbClr val="333333"/>
                </a:solidFill>
                <a:latin typeface="微软雅黑"/>
              </a:defRPr>
            </a:pPr>
            <a:r>
              <a:rPr>
                <a:ea typeface="微软雅黑"/>
              </a:rPr>
              <a:t>证明木炭被氧化为CO₂</a:t>
            </a:r>
          </a:p>
        </p:txBody>
      </p:sp>
      <p:sp>
        <p:nvSpPr>
          <p:cNvPr id="28" name="原题文字_361_33"/>
          <p:cNvSpPr txBox="1"/>
          <p:nvPr/>
        </p:nvSpPr>
        <p:spPr>
          <a:xfrm>
            <a:off x="1015933" y="4571800"/>
            <a:ext cx="598504"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灰水</a:t>
            </a:r>
          </a:p>
        </p:txBody>
      </p:sp>
      <p:sp>
        <p:nvSpPr>
          <p:cNvPr id="29" name="原题文字_361_34"/>
          <p:cNvSpPr txBox="1"/>
          <p:nvPr/>
        </p:nvSpPr>
        <p:spPr>
          <a:xfrm>
            <a:off x="564175" y="5054186"/>
            <a:ext cx="62147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30" name="原题文字_361_35"/>
          <p:cNvSpPr txBox="1"/>
          <p:nvPr/>
        </p:nvSpPr>
        <p:spPr>
          <a:xfrm>
            <a:off x="3236438" y="5054186"/>
            <a:ext cx="62147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31" name="原题文字_361_36"/>
          <p:cNvSpPr txBox="1"/>
          <p:nvPr/>
        </p:nvSpPr>
        <p:spPr>
          <a:xfrm>
            <a:off x="5924014" y="5038872"/>
            <a:ext cx="64444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32" name="原题文字_361_37"/>
          <p:cNvSpPr txBox="1"/>
          <p:nvPr/>
        </p:nvSpPr>
        <p:spPr>
          <a:xfrm>
            <a:off x="8619248" y="5054186"/>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33" name="文字_单选题  ·  16-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16-076</a:t>
            </a:r>
          </a:p>
        </p:txBody>
      </p:sp>
      <p:sp>
        <p:nvSpPr>
          <p:cNvPr id="34" name="文字_8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1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检测题19</a:t>
            </a:r>
          </a:p>
        </p:txBody>
      </p:sp>
      <p:sp>
        <p:nvSpPr>
          <p:cNvPr id="5" name="文字_P3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P361</a:t>
            </a:r>
          </a:p>
        </p:txBody>
      </p:sp>
      <p:sp>
        <p:nvSpPr>
          <p:cNvPr id="6" name="文字_用NaC₁O可除去水体中过量氨氮(以NH₃表示)"/>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用NaC₁O可除去水体中过量氨氮(以NH₃表示)，以防止水体富营养化，其原理如</a:t>
            </a:r>
          </a:p>
          <a:p>
            <a:pPr>
              <a:lnSpc>
                <a:spcPct val="112000"/>
              </a:lnSpc>
              <a:spcBef>
                <a:spcPts val="0"/>
              </a:spcBef>
              <a:spcAft>
                <a:spcPts val="0"/>
              </a:spcAft>
              <a:defRPr sz="2400" b="0">
                <a:solidFill>
                  <a:srgbClr val="333333"/>
                </a:solidFill>
                <a:latin typeface="微软雅黑"/>
              </a:defRPr>
            </a:pPr>
            <a:r>
              <a:rPr>
                <a:ea typeface="微软雅黑"/>
              </a:rPr>
              <a:t>图所示。下列有关叙述正确的是NH₃ ②N₂ + H₂O</a:t>
            </a:r>
          </a:p>
        </p:txBody>
      </p:sp>
      <p:sp>
        <p:nvSpPr>
          <p:cNvPr id="7" name="文字_NaClO①HClO HCl③H₂O"/>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NaClO①HClO HCl③H₂O</a:t>
            </a:r>
          </a:p>
        </p:txBody>
      </p:sp>
      <p:sp>
        <p:nvSpPr>
          <p:cNvPr id="8" name="文字_H₂O ______ NaOH ______ N"/>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H₂O ______ NaOH ______ NaCl</a:t>
            </a:r>
          </a:p>
        </p:txBody>
      </p:sp>
      <p:sp>
        <p:nvSpPr>
          <p:cNvPr id="9" name="文字_A. HClO的结构式为H- O- Cl， 可能"/>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HClO的结构式为H- O- Cl， 可能为直线形分子</a:t>
            </a:r>
          </a:p>
        </p:txBody>
      </p:sp>
      <p:sp>
        <p:nvSpPr>
          <p:cNvPr id="10" name="文字_B. NaClO和HClO所含的化学键类型完全相"/>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NaClO和HClO所含的化学键类型完全相同</a:t>
            </a:r>
          </a:p>
        </p:txBody>
      </p:sp>
      <p:sp>
        <p:nvSpPr>
          <p:cNvPr id="11" name="文字_C. H₂O的沸点比NH₃高，所以H₂O比NH₃"/>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H₂O的沸点比NH₃高，所以H₂O比NH₃更稳定</a:t>
            </a:r>
          </a:p>
        </p:txBody>
      </p:sp>
      <p:sp>
        <p:nvSpPr>
          <p:cNvPr id="12" name="文字_D. HClO还可与NH₃发生反应：3NH₃ +"/>
          <p:cNvSpPr txBox="1"/>
          <p:nvPr/>
        </p:nvSpPr>
        <p:spPr>
          <a:xfrm>
            <a:off x="502920" y="40751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HClO还可与NH₃发生反应：3NH₃ + HClO = X + NH₄Cl + H₂O，X中同时</a:t>
            </a:r>
          </a:p>
          <a:p>
            <a:pPr>
              <a:lnSpc>
                <a:spcPct val="112000"/>
              </a:lnSpc>
              <a:spcBef>
                <a:spcPts val="0"/>
              </a:spcBef>
              <a:spcAft>
                <a:spcPts val="0"/>
              </a:spcAft>
              <a:defRPr sz="2400" b="0">
                <a:solidFill>
                  <a:srgbClr val="333333"/>
                </a:solidFill>
                <a:latin typeface="微软雅黑"/>
              </a:defRPr>
            </a:pPr>
            <a:r>
              <a:rPr>
                <a:ea typeface="微软雅黑"/>
              </a:rPr>
              <a:t>含极性和非极性共价键</a:t>
            </a:r>
          </a:p>
        </p:txBody>
      </p:sp>
      <p:sp>
        <p:nvSpPr>
          <p:cNvPr id="13" name="文字_单选题  ·  16-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16-077</a:t>
            </a:r>
          </a:p>
        </p:txBody>
      </p:sp>
      <p:sp>
        <p:nvSpPr>
          <p:cNvPr id="14" name="文字_8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检测题20</a:t>
            </a:r>
          </a:p>
        </p:txBody>
      </p:sp>
      <p:sp>
        <p:nvSpPr>
          <p:cNvPr id="5" name="文字_P3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P361</a:t>
            </a:r>
          </a:p>
        </p:txBody>
      </p:sp>
      <p:sp>
        <p:nvSpPr>
          <p:cNvPr id="6" name="文字_汽车剧烈碰撞时，安全气囊中发生反应：10NaN₃"/>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汽车剧烈碰撞时，安全气囊中发生反应：10NaN₃ + 2KNO₃ = K₂O + 5Na₂O +</a:t>
            </a:r>
          </a:p>
          <a:p>
            <a:pPr>
              <a:lnSpc>
                <a:spcPct val="112000"/>
              </a:lnSpc>
              <a:spcBef>
                <a:spcPts val="0"/>
              </a:spcBef>
              <a:spcAft>
                <a:spcPts val="0"/>
              </a:spcAft>
              <a:defRPr sz="2400" b="0">
                <a:solidFill>
                  <a:srgbClr val="333333"/>
                </a:solidFill>
                <a:latin typeface="微软雅黑"/>
              </a:defRPr>
            </a:pPr>
            <a:r>
              <a:rPr>
                <a:ea typeface="微软雅黑"/>
              </a:rPr>
              <a:t> 16N₂↑。若氧化产物比还原产物多</a:t>
            </a:r>
          </a:p>
        </p:txBody>
      </p:sp>
      <p:sp>
        <p:nvSpPr>
          <p:cNvPr id="7" name="文字_2.8mol，则下列判断正确的是"/>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2.8mol，则下列判断正确的是</a:t>
            </a:r>
          </a:p>
        </p:txBody>
      </p:sp>
      <p:sp>
        <p:nvSpPr>
          <p:cNvPr id="8" name="文字_A. 生成35.84LN₂(标准状况)"/>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生成35.84LN₂(标准状况)</a:t>
            </a:r>
          </a:p>
        </p:txBody>
      </p:sp>
      <p:sp>
        <p:nvSpPr>
          <p:cNvPr id="9" name="文字_B. 有0.4mol KNO₃被氧化"/>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有0.4mol KNO₃被氧化</a:t>
            </a:r>
          </a:p>
        </p:txBody>
      </p:sp>
      <p:sp>
        <p:nvSpPr>
          <p:cNvPr id="10" name="文字_C. 转移电子的物质的量为2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转移电子的物质的量为2mol</a:t>
            </a:r>
          </a:p>
        </p:txBody>
      </p:sp>
      <p:sp>
        <p:nvSpPr>
          <p:cNvPr id="11" name="文字_D. 被氧化的N原子的物质的量为3mol"/>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被氧化的N原子的物质的量为3mol</a:t>
            </a:r>
          </a:p>
        </p:txBody>
      </p:sp>
      <p:sp>
        <p:nvSpPr>
          <p:cNvPr id="12" name="文字_单选题  ·  16-07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16-078</a:t>
            </a:r>
          </a:p>
        </p:txBody>
      </p:sp>
      <p:sp>
        <p:nvSpPr>
          <p:cNvPr id="13"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检测题21</a:t>
            </a:r>
          </a:p>
        </p:txBody>
      </p:sp>
      <p:sp>
        <p:nvSpPr>
          <p:cNvPr id="5" name="文字_P3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P362</a:t>
            </a:r>
          </a:p>
        </p:txBody>
      </p:sp>
      <p:sp>
        <p:nvSpPr>
          <p:cNvPr id="6" name="文字_某混合固体A可能由Fe(NO₃)₃、Na₂CO₃"/>
          <p:cNvSpPr txBox="1"/>
          <p:nvPr/>
        </p:nvSpPr>
        <p:spPr>
          <a:xfrm>
            <a:off x="502920" y="1078992"/>
            <a:ext cx="11064240" cy="768222"/>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某混合固体A可能由Fe(NO₃)₃、Na₂CO₃、AlCl₃、(NH₄)₂SO₄、Cu、SiO₂组成，</a:t>
            </a:r>
          </a:p>
          <a:p>
            <a:pPr>
              <a:lnSpc>
                <a:spcPct val="112000"/>
              </a:lnSpc>
              <a:spcBef>
                <a:spcPts val="0"/>
              </a:spcBef>
              <a:spcAft>
                <a:spcPts val="0"/>
              </a:spcAft>
              <a:defRPr sz="2300" b="0">
                <a:solidFill>
                  <a:srgbClr val="333333"/>
                </a:solidFill>
                <a:latin typeface="微软雅黑"/>
              </a:defRPr>
            </a:pPr>
            <a:r>
              <a:rPr>
                <a:ea typeface="微软雅黑"/>
              </a:rPr>
              <a:t>取固体A完成如下实验(所加试剂均过量)。下列说法不正确的是</a:t>
            </a:r>
          </a:p>
        </p:txBody>
      </p:sp>
      <p:pic>
        <p:nvPicPr>
          <p:cNvPr id="7" name="Picture 6" descr="image.png"/>
          <p:cNvPicPr>
            <a:picLocks noChangeAspect="1"/>
          </p:cNvPicPr>
          <p:nvPr/>
        </p:nvPicPr>
        <p:blipFill>
          <a:blip r:embed="rId3"/>
          <a:stretch>
            <a:fillRect/>
          </a:stretch>
        </p:blipFill>
        <p:spPr>
          <a:xfrm>
            <a:off x="502920" y="1847215"/>
            <a:ext cx="11064240" cy="2136278"/>
          </a:xfrm>
          <a:prstGeom prst="rect">
            <a:avLst/>
          </a:prstGeom>
        </p:spPr>
      </p:pic>
      <p:sp>
        <p:nvSpPr>
          <p:cNvPr id="8" name="原题文字_362_5"/>
          <p:cNvSpPr txBox="1"/>
          <p:nvPr/>
        </p:nvSpPr>
        <p:spPr>
          <a:xfrm>
            <a:off x="3397233" y="1978638"/>
            <a:ext cx="107323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NaOH溶液</a:t>
            </a:r>
          </a:p>
        </p:txBody>
      </p:sp>
      <p:sp>
        <p:nvSpPr>
          <p:cNvPr id="9" name="原题文字_362_6"/>
          <p:cNvSpPr txBox="1"/>
          <p:nvPr/>
        </p:nvSpPr>
        <p:spPr>
          <a:xfrm>
            <a:off x="4530456" y="1963324"/>
            <a:ext cx="1831267" cy="348389"/>
          </a:xfrm>
          <a:prstGeom prst="rect">
            <a:avLst/>
          </a:prstGeom>
          <a:noFill/>
        </p:spPr>
        <p:txBody>
          <a:bodyPr wrap="none" lIns="0" rIns="0" tIns="0" bIns="0">
            <a:spAutoFit/>
          </a:bodyPr>
          <a:lstStyle/>
          <a:p>
            <a:pPr>
              <a:lnSpc>
                <a:spcPct val="112000"/>
              </a:lnSpc>
              <a:spcBef>
                <a:spcPts val="0"/>
              </a:spcBef>
              <a:spcAft>
                <a:spcPts val="0"/>
              </a:spcAft>
              <a:defRPr sz="1631" b="0">
                <a:solidFill>
                  <a:srgbClr val="333333"/>
                </a:solidFill>
                <a:latin typeface="微软雅黑"/>
              </a:defRPr>
            </a:pPr>
            <a:r>
              <a:rPr>
                <a:ea typeface="微软雅黑"/>
              </a:rPr>
              <a:t>先沉淀后部分溶解，</a:t>
            </a:r>
          </a:p>
        </p:txBody>
      </p:sp>
      <p:sp>
        <p:nvSpPr>
          <p:cNvPr id="10" name="原题文字_362_7"/>
          <p:cNvSpPr txBox="1"/>
          <p:nvPr/>
        </p:nvSpPr>
        <p:spPr>
          <a:xfrm>
            <a:off x="4530456" y="2216002"/>
            <a:ext cx="108089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产生沉淀C</a:t>
            </a:r>
          </a:p>
        </p:txBody>
      </p:sp>
      <p:sp>
        <p:nvSpPr>
          <p:cNvPr id="11" name="原题文字_362_8"/>
          <p:cNvSpPr txBox="1"/>
          <p:nvPr/>
        </p:nvSpPr>
        <p:spPr>
          <a:xfrm>
            <a:off x="2409491" y="2384455"/>
            <a:ext cx="73632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溶液B</a:t>
            </a:r>
          </a:p>
        </p:txBody>
      </p:sp>
      <p:sp>
        <p:nvSpPr>
          <p:cNvPr id="12" name="原题文字_362_9"/>
          <p:cNvSpPr txBox="1"/>
          <p:nvPr/>
        </p:nvSpPr>
        <p:spPr>
          <a:xfrm>
            <a:off x="3412547" y="2476338"/>
            <a:ext cx="1057919" cy="437975"/>
          </a:xfrm>
          <a:prstGeom prst="rect">
            <a:avLst/>
          </a:prstGeom>
          <a:noFill/>
        </p:spPr>
        <p:txBody>
          <a:bodyPr wrap="none" lIns="0" rIns="0" tIns="0" bIns="0">
            <a:spAutoFit/>
          </a:bodyPr>
          <a:lstStyle/>
          <a:p>
            <a:pPr>
              <a:lnSpc>
                <a:spcPct val="112000"/>
              </a:lnSpc>
              <a:spcBef>
                <a:spcPts val="0"/>
              </a:spcBef>
              <a:spcAft>
                <a:spcPts val="0"/>
              </a:spcAft>
              <a:defRPr sz="1743" b="0">
                <a:solidFill>
                  <a:srgbClr val="333333"/>
                </a:solidFill>
                <a:latin typeface="微软雅黑"/>
              </a:defRPr>
            </a:pPr>
            <a:r>
              <a:rPr>
                <a:ea typeface="微软雅黑"/>
              </a:rPr>
              <a:t>BaCl₂溶液</a:t>
            </a:r>
          </a:p>
        </p:txBody>
      </p:sp>
      <p:sp>
        <p:nvSpPr>
          <p:cNvPr id="13" name="原题文字_362_10"/>
          <p:cNvSpPr txBox="1"/>
          <p:nvPr/>
        </p:nvSpPr>
        <p:spPr>
          <a:xfrm>
            <a:off x="4484515" y="2644790"/>
            <a:ext cx="736329"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沉淀D</a:t>
            </a:r>
          </a:p>
        </p:txBody>
      </p:sp>
      <p:sp>
        <p:nvSpPr>
          <p:cNvPr id="14" name="原题文字_362_11"/>
          <p:cNvSpPr txBox="1"/>
          <p:nvPr/>
        </p:nvSpPr>
        <p:spPr>
          <a:xfrm>
            <a:off x="1460034" y="2836212"/>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盐酸</a:t>
            </a:r>
          </a:p>
        </p:txBody>
      </p:sp>
      <p:sp>
        <p:nvSpPr>
          <p:cNvPr id="15" name="原题文字_362_12"/>
          <p:cNvSpPr txBox="1"/>
          <p:nvPr/>
        </p:nvSpPr>
        <p:spPr>
          <a:xfrm>
            <a:off x="679029" y="2951066"/>
            <a:ext cx="74398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固体A</a:t>
            </a:r>
          </a:p>
        </p:txBody>
      </p:sp>
      <p:sp>
        <p:nvSpPr>
          <p:cNvPr id="16" name="原题文字_362_13"/>
          <p:cNvSpPr txBox="1"/>
          <p:nvPr/>
        </p:nvSpPr>
        <p:spPr>
          <a:xfrm>
            <a:off x="2271667" y="2928095"/>
            <a:ext cx="125699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无色气体B</a:t>
            </a:r>
          </a:p>
        </p:txBody>
      </p:sp>
      <p:sp>
        <p:nvSpPr>
          <p:cNvPr id="17" name="原题文字_362_14"/>
          <p:cNvSpPr txBox="1"/>
          <p:nvPr/>
        </p:nvSpPr>
        <p:spPr>
          <a:xfrm>
            <a:off x="3136898" y="3433452"/>
            <a:ext cx="1134488" cy="418067"/>
          </a:xfrm>
          <a:prstGeom prst="rect">
            <a:avLst/>
          </a:prstGeom>
          <a:noFill/>
        </p:spPr>
        <p:txBody>
          <a:bodyPr wrap="none" lIns="0" rIns="0" tIns="0" bIns="0">
            <a:spAutoFit/>
          </a:bodyPr>
          <a:lstStyle/>
          <a:p>
            <a:pPr>
              <a:lnSpc>
                <a:spcPct val="112000"/>
              </a:lnSpc>
              <a:spcBef>
                <a:spcPts val="0"/>
              </a:spcBef>
              <a:spcAft>
                <a:spcPts val="0"/>
              </a:spcAft>
              <a:defRPr sz="1804" b="0">
                <a:solidFill>
                  <a:srgbClr val="333333"/>
                </a:solidFill>
                <a:latin typeface="微软雅黑"/>
              </a:defRPr>
            </a:pPr>
            <a:r>
              <a:rPr>
                <a:ea typeface="微软雅黑"/>
              </a:rPr>
              <a:t>NaOH溶液</a:t>
            </a:r>
          </a:p>
        </p:txBody>
      </p:sp>
      <p:sp>
        <p:nvSpPr>
          <p:cNvPr id="18" name="原题文字_362_15"/>
          <p:cNvSpPr txBox="1"/>
          <p:nvPr/>
        </p:nvSpPr>
        <p:spPr>
          <a:xfrm>
            <a:off x="2478403" y="3555962"/>
            <a:ext cx="713358"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固体B</a:t>
            </a:r>
          </a:p>
        </p:txBody>
      </p:sp>
      <p:sp>
        <p:nvSpPr>
          <p:cNvPr id="19" name="原题文字_362_16"/>
          <p:cNvSpPr txBox="1"/>
          <p:nvPr/>
        </p:nvSpPr>
        <p:spPr>
          <a:xfrm>
            <a:off x="4384975" y="3578933"/>
            <a:ext cx="2489762" cy="368297"/>
          </a:xfrm>
          <a:prstGeom prst="rect">
            <a:avLst/>
          </a:prstGeom>
          <a:noFill/>
        </p:spPr>
        <p:txBody>
          <a:bodyPr wrap="none" lIns="0" rIns="0" tIns="0" bIns="0">
            <a:spAutoFit/>
          </a:bodyPr>
          <a:lstStyle/>
          <a:p>
            <a:pPr>
              <a:lnSpc>
                <a:spcPct val="112000"/>
              </a:lnSpc>
              <a:spcBef>
                <a:spcPts val="0"/>
              </a:spcBef>
              <a:spcAft>
                <a:spcPts val="0"/>
              </a:spcAft>
              <a:defRPr sz="1725" b="0">
                <a:solidFill>
                  <a:srgbClr val="333333"/>
                </a:solidFill>
                <a:latin typeface="微软雅黑"/>
              </a:defRPr>
            </a:pPr>
            <a:r>
              <a:rPr>
                <a:ea typeface="微软雅黑"/>
              </a:rPr>
              <a:t>固体部分溶解，得到固体E</a:t>
            </a:r>
          </a:p>
        </p:txBody>
      </p:sp>
      <p:sp>
        <p:nvSpPr>
          <p:cNvPr id="20" name="文字_A. 无色气体可能为NO和CO₂的混合物"/>
          <p:cNvSpPr txBox="1"/>
          <p:nvPr/>
        </p:nvSpPr>
        <p:spPr>
          <a:xfrm>
            <a:off x="502920" y="4056645"/>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A. 无色气体可能为NO和CO₂的混合物</a:t>
            </a:r>
          </a:p>
        </p:txBody>
      </p:sp>
      <p:sp>
        <p:nvSpPr>
          <p:cNvPr id="21" name="文字_B. 固体A中一定有Fe(NO₃)₃、AlCl₃"/>
          <p:cNvSpPr txBox="1"/>
          <p:nvPr/>
        </p:nvSpPr>
        <p:spPr>
          <a:xfrm>
            <a:off x="502920" y="4477269"/>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B. 固体A中一定有Fe(NO₃)₃、AlCl₃、(NH₄)₂SO₄₄、Cu、SiO₂，可能有Na₂CO₃</a:t>
            </a:r>
          </a:p>
        </p:txBody>
      </p:sp>
      <p:sp>
        <p:nvSpPr>
          <p:cNvPr id="22" name="文字_C. 溶液B中可能含有Al³⁺、Cu²⁺、Fe²"/>
          <p:cNvSpPr txBox="1"/>
          <p:nvPr/>
        </p:nvSpPr>
        <p:spPr>
          <a:xfrm>
            <a:off x="502920" y="4897893"/>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C. 溶液B中可能含有Al³⁺、Cu²⁺、Fe²⁺和Fe³⁺</a:t>
            </a:r>
          </a:p>
        </p:txBody>
      </p:sp>
      <p:sp>
        <p:nvSpPr>
          <p:cNvPr id="23" name="文字_D. 无色气体B遇到空气一定会变为红棕色，并可将"/>
          <p:cNvSpPr txBox="1"/>
          <p:nvPr/>
        </p:nvSpPr>
        <p:spPr>
          <a:xfrm>
            <a:off x="502920" y="5318517"/>
            <a:ext cx="11064240" cy="768222"/>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D. 无色气体B遇到空气一定会变为红棕色，并可将气体B通入足量澄清石灰水来检验固</a:t>
            </a:r>
          </a:p>
          <a:p>
            <a:pPr>
              <a:lnSpc>
                <a:spcPct val="112000"/>
              </a:lnSpc>
              <a:spcBef>
                <a:spcPts val="0"/>
              </a:spcBef>
              <a:spcAft>
                <a:spcPts val="0"/>
              </a:spcAft>
              <a:defRPr sz="2300" b="0">
                <a:solidFill>
                  <a:srgbClr val="333333"/>
                </a:solidFill>
                <a:latin typeface="微软雅黑"/>
              </a:defRPr>
            </a:pPr>
            <a:r>
              <a:rPr>
                <a:ea typeface="微软雅黑"/>
              </a:rPr>
              <a:t>体A是否含有Na₂CO₃</a:t>
            </a:r>
          </a:p>
        </p:txBody>
      </p:sp>
      <p:sp>
        <p:nvSpPr>
          <p:cNvPr id="24" name="文字_单选题  ·  16-07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16-079</a:t>
            </a:r>
          </a:p>
        </p:txBody>
      </p:sp>
      <p:sp>
        <p:nvSpPr>
          <p:cNvPr id="25"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检测题22</a:t>
            </a:r>
          </a:p>
        </p:txBody>
      </p:sp>
      <p:sp>
        <p:nvSpPr>
          <p:cNvPr id="5" name="文字_P3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P362</a:t>
            </a:r>
          </a:p>
        </p:txBody>
      </p:sp>
      <p:sp>
        <p:nvSpPr>
          <p:cNvPr id="6" name="文字_8种短周期元素A、D、E、G、X、Y、Z、W的原"/>
          <p:cNvSpPr txBox="1"/>
          <p:nvPr/>
        </p:nvSpPr>
        <p:spPr>
          <a:xfrm>
            <a:off x="502920" y="1078992"/>
            <a:ext cx="11064240" cy="1145286"/>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8种短周期元素A、D、E、G、X、Y、Z、W的原子序数依次增大，A是原子半径最小的元素，A和D能形成正四</a:t>
            </a:r>
          </a:p>
          <a:p>
            <a:pPr>
              <a:lnSpc>
                <a:spcPct val="112000"/>
              </a:lnSpc>
              <a:spcBef>
                <a:spcPts val="0"/>
              </a:spcBef>
              <a:spcAft>
                <a:spcPts val="0"/>
              </a:spcAft>
              <a:defRPr sz="1800" b="0">
                <a:solidFill>
                  <a:srgbClr val="333333"/>
                </a:solidFill>
                <a:latin typeface="微软雅黑"/>
              </a:defRPr>
            </a:pPr>
            <a:r>
              <a:rPr>
                <a:ea typeface="微软雅黑"/>
              </a:rPr>
              <a:t>面体结构的分子，G原子的最外层电子数是其内层电子总数的3倍，X与G能形成两种阴、阳离子个数比均为1:2</a:t>
            </a:r>
          </a:p>
          <a:p>
            <a:pPr>
              <a:lnSpc>
                <a:spcPct val="112000"/>
              </a:lnSpc>
              <a:spcBef>
                <a:spcPts val="0"/>
              </a:spcBef>
              <a:spcAft>
                <a:spcPts val="0"/>
              </a:spcAft>
              <a:defRPr sz="1800" b="0">
                <a:solidFill>
                  <a:srgbClr val="333333"/>
                </a:solidFill>
                <a:latin typeface="微软雅黑"/>
              </a:defRPr>
            </a:pPr>
            <a:r>
              <a:rPr>
                <a:ea typeface="微软雅黑"/>
              </a:rPr>
              <a:t>的化合物，Y元素的单质是目前使用量最大的主族金属元素，Z元素在地壳中的含量仅次于G，W和G形成的一</a:t>
            </a:r>
          </a:p>
          <a:p>
            <a:pPr>
              <a:lnSpc>
                <a:spcPct val="112000"/>
              </a:lnSpc>
              <a:spcBef>
                <a:spcPts val="0"/>
              </a:spcBef>
              <a:spcAft>
                <a:spcPts val="0"/>
              </a:spcAft>
              <a:defRPr sz="1800" b="0">
                <a:solidFill>
                  <a:srgbClr val="333333"/>
                </a:solidFill>
                <a:latin typeface="微软雅黑"/>
              </a:defRPr>
            </a:pPr>
            <a:r>
              <a:rPr>
                <a:ea typeface="微软雅黑"/>
              </a:rPr>
              <a:t>种化合物可用于自来水杀菌消毒。完成以下问题(涉及的元素和物质均用相对应的化学符号表示):</a:t>
            </a:r>
          </a:p>
        </p:txBody>
      </p:sp>
      <p:sp>
        <p:nvSpPr>
          <p:cNvPr id="7" name="文字_(1)以上8种元素形成的化合物中，稳定性最强的简"/>
          <p:cNvSpPr txBox="1"/>
          <p:nvPr/>
        </p:nvSpPr>
        <p:spPr>
          <a:xfrm>
            <a:off x="502920" y="2224278"/>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(1)以上8种元素形成的化合物中，稳定性最强的简单非金属氢化物的结构式为 ______ ，碱性最强的最高价氧化</a:t>
            </a:r>
          </a:p>
          <a:p>
            <a:pPr>
              <a:lnSpc>
                <a:spcPct val="112000"/>
              </a:lnSpc>
              <a:spcBef>
                <a:spcPts val="0"/>
              </a:spcBef>
              <a:spcAft>
                <a:spcPts val="0"/>
              </a:spcAft>
              <a:defRPr sz="1800" b="0">
                <a:solidFill>
                  <a:srgbClr val="333333"/>
                </a:solidFill>
                <a:latin typeface="微软雅黑"/>
              </a:defRPr>
            </a:pPr>
            <a:r>
              <a:rPr>
                <a:ea typeface="微软雅黑"/>
              </a:rPr>
              <a:t>物的水化物的电子式为</a:t>
            </a:r>
          </a:p>
        </p:txBody>
      </p:sp>
      <p:sp>
        <p:nvSpPr>
          <p:cNvPr id="8" name="文字_(2)Z元素位于元素周期表中的位置是 _____"/>
          <p:cNvSpPr txBox="1"/>
          <p:nvPr/>
        </p:nvSpPr>
        <p:spPr>
          <a:xfrm>
            <a:off x="502920" y="2825496"/>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(2)Z元素位于元素周期表中的位置是 ______ ，工业上制备Z单质粗产品的化学方程式为</a:t>
            </a:r>
          </a:p>
        </p:txBody>
      </p:sp>
      <p:sp>
        <p:nvSpPr>
          <p:cNvPr id="9" name="文字_(3)Y的单质可与X的最高价氧化物水化物溶液发生"/>
          <p:cNvSpPr txBox="1"/>
          <p:nvPr/>
        </p:nvSpPr>
        <p:spPr>
          <a:xfrm>
            <a:off x="502920" y="3154679"/>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(3)Y的单质可与X的最高价氧化物水化物溶液发生反应，试写出该反应的化学方程式 ______ ，若将反应后产物</a:t>
            </a:r>
          </a:p>
          <a:p>
            <a:pPr>
              <a:lnSpc>
                <a:spcPct val="112000"/>
              </a:lnSpc>
              <a:spcBef>
                <a:spcPts val="0"/>
              </a:spcBef>
              <a:spcAft>
                <a:spcPts val="0"/>
              </a:spcAft>
              <a:defRPr sz="1800" b="0">
                <a:solidFill>
                  <a:srgbClr val="333333"/>
                </a:solidFill>
                <a:latin typeface="微软雅黑"/>
              </a:defRPr>
            </a:pPr>
            <a:r>
              <a:rPr>
                <a:ea typeface="微软雅黑"/>
              </a:rPr>
              <a:t>的水溶液与Y和W形成的化合物的水溶液混合，可得到Y的最高价氧化物的水化物，试写出该反应的离子方程式</a:t>
            </a:r>
          </a:p>
        </p:txBody>
      </p:sp>
      <p:sp>
        <p:nvSpPr>
          <p:cNvPr id="10" name="文字_•n"/>
          <p:cNvSpPr txBox="1"/>
          <p:nvPr/>
        </p:nvSpPr>
        <p:spPr>
          <a:xfrm>
            <a:off x="502920" y="3755898"/>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•n</a:t>
            </a:r>
          </a:p>
        </p:txBody>
      </p:sp>
      <p:sp>
        <p:nvSpPr>
          <p:cNvPr id="11" name="文字_(4)已知化合物E₂A₄与EG₂间相互反应可作为"/>
          <p:cNvSpPr txBox="1"/>
          <p:nvPr/>
        </p:nvSpPr>
        <p:spPr>
          <a:xfrm>
            <a:off x="502920" y="4085082"/>
            <a:ext cx="11064240" cy="1145286"/>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(4)已知化合物E₂A₄与EG₂间相互反应可作为火箭推进剂，两者反应生成E₂单质和1g气态水时放出akJ的热量</a:t>
            </a:r>
          </a:p>
          <a:p>
            <a:pPr>
              <a:lnSpc>
                <a:spcPct val="112000"/>
              </a:lnSpc>
              <a:spcBef>
                <a:spcPts val="0"/>
              </a:spcBef>
              <a:spcAft>
                <a:spcPts val="0"/>
              </a:spcAft>
              <a:defRPr sz="1800" b="0">
                <a:solidFill>
                  <a:srgbClr val="333333"/>
                </a:solidFill>
                <a:latin typeface="微软雅黑"/>
              </a:defRPr>
            </a:pPr>
            <a:r>
              <a:rPr>
                <a:ea typeface="微软雅黑"/>
              </a:rPr>
              <a:t>，1mol液态水转化为气态水需吸收bkJ的热量，试写出25C和101kPa时，液态E₂A₄与气态EG₂相互反应的热</a:t>
            </a:r>
          </a:p>
          <a:p>
            <a:pPr>
              <a:lnSpc>
                <a:spcPct val="112000"/>
              </a:lnSpc>
              <a:spcBef>
                <a:spcPts val="0"/>
              </a:spcBef>
              <a:spcAft>
                <a:spcPts val="0"/>
              </a:spcAft>
              <a:defRPr sz="1800" b="0">
                <a:solidFill>
                  <a:srgbClr val="333333"/>
                </a:solidFill>
                <a:latin typeface="微软雅黑"/>
              </a:defRPr>
            </a:pPr>
            <a:r>
              <a:rPr>
                <a:ea typeface="微软雅黑"/>
              </a:rPr>
              <a:t>化学方程式 ______ ；利用E₂A₄和EG₂相互间的反应还可制作成燃料电池，若以NaOH溶液做该电池的电解质</a:t>
            </a:r>
          </a:p>
          <a:p>
            <a:pPr>
              <a:lnSpc>
                <a:spcPct val="112000"/>
              </a:lnSpc>
              <a:spcBef>
                <a:spcPts val="0"/>
              </a:spcBef>
              <a:spcAft>
                <a:spcPts val="0"/>
              </a:spcAft>
              <a:defRPr sz="1800" b="0">
                <a:solidFill>
                  <a:srgbClr val="333333"/>
                </a:solidFill>
                <a:latin typeface="微软雅黑"/>
              </a:defRPr>
            </a:pPr>
            <a:r>
              <a:rPr>
                <a:ea typeface="微软雅黑"/>
              </a:rPr>
              <a:t>溶液，则负极发生的电极反应式为</a:t>
            </a:r>
          </a:p>
        </p:txBody>
      </p:sp>
      <p:sp>
        <p:nvSpPr>
          <p:cNvPr id="12" name="文字_(5) E₂A₄的工业生产可在高锰酸钾催化作用下"/>
          <p:cNvSpPr txBox="1"/>
          <p:nvPr/>
        </p:nvSpPr>
        <p:spPr>
          <a:xfrm>
            <a:off x="502920" y="5230368"/>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(5) E₂A₄的工业生产可在高锰酸钾催化作用下；用尿素[CO(NH₂)₂] 和次氯酸钠-氢氧化钠溶液反应获得，试</a:t>
            </a:r>
          </a:p>
          <a:p>
            <a:pPr>
              <a:lnSpc>
                <a:spcPct val="112000"/>
              </a:lnSpc>
              <a:spcBef>
                <a:spcPts val="0"/>
              </a:spcBef>
              <a:spcAft>
                <a:spcPts val="0"/>
              </a:spcAft>
              <a:defRPr sz="1800" b="0">
                <a:solidFill>
                  <a:srgbClr val="333333"/>
                </a:solidFill>
                <a:latin typeface="微软雅黑"/>
              </a:defRPr>
            </a:pPr>
            <a:r>
              <a:rPr>
                <a:ea typeface="微软雅黑"/>
              </a:rPr>
              <a:t>写</a:t>
            </a:r>
          </a:p>
        </p:txBody>
      </p:sp>
      <p:pic>
        <p:nvPicPr>
          <p:cNvPr id="13" name="Picture 12" descr="image.png"/>
          <p:cNvPicPr>
            <a:picLocks noChangeAspect="1"/>
          </p:cNvPicPr>
          <p:nvPr/>
        </p:nvPicPr>
        <p:blipFill>
          <a:blip r:embed="rId3"/>
          <a:stretch>
            <a:fillRect/>
          </a:stretch>
        </p:blipFill>
        <p:spPr>
          <a:xfrm>
            <a:off x="502920" y="5831586"/>
            <a:ext cx="11064240" cy="428787"/>
          </a:xfrm>
          <a:prstGeom prst="rect">
            <a:avLst/>
          </a:prstGeom>
        </p:spPr>
      </p:pic>
      <p:sp>
        <p:nvSpPr>
          <p:cNvPr id="14" name="原题文字_362_47"/>
          <p:cNvSpPr txBox="1"/>
          <p:nvPr/>
        </p:nvSpPr>
        <p:spPr>
          <a:xfrm>
            <a:off x="1123129" y="5863469"/>
            <a:ext cx="2229427"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出该反应的离子方程式</a:t>
            </a:r>
          </a:p>
        </p:txBody>
      </p:sp>
      <p:sp>
        <p:nvSpPr>
          <p:cNvPr id="15" name="原题文字_362_48"/>
          <p:cNvSpPr txBox="1"/>
          <p:nvPr/>
        </p:nvSpPr>
        <p:spPr>
          <a:xfrm>
            <a:off x="3940874" y="6001294"/>
            <a:ext cx="154403"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16" name="文字_推断题  ·  16-08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16-080</a:t>
            </a:r>
          </a:p>
        </p:txBody>
      </p:sp>
      <p:sp>
        <p:nvSpPr>
          <p:cNvPr id="17"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检测题23</a:t>
            </a:r>
          </a:p>
        </p:txBody>
      </p:sp>
      <p:sp>
        <p:nvSpPr>
          <p:cNvPr id="5" name="文字_P36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P363</a:t>
            </a:r>
          </a:p>
        </p:txBody>
      </p:sp>
      <p:sp>
        <p:nvSpPr>
          <p:cNvPr id="6" name="文字_复盐A的结晶水合物（摩尔质量为392g·mol-"/>
          <p:cNvSpPr txBox="1"/>
          <p:nvPr/>
        </p:nvSpPr>
        <p:spPr>
          <a:xfrm>
            <a:off x="502920" y="107899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复盐A的结晶水合物（摩尔质量为392g·mol-¹）有如图转化关系，回答下列问题：</a:t>
            </a:r>
          </a:p>
        </p:txBody>
      </p:sp>
      <p:pic>
        <p:nvPicPr>
          <p:cNvPr id="7" name="Picture 6" descr="image.png"/>
          <p:cNvPicPr>
            <a:picLocks noChangeAspect="1"/>
          </p:cNvPicPr>
          <p:nvPr/>
        </p:nvPicPr>
        <p:blipFill>
          <a:blip r:embed="rId3"/>
          <a:stretch>
            <a:fillRect/>
          </a:stretch>
        </p:blipFill>
        <p:spPr>
          <a:xfrm>
            <a:off x="502920" y="1344168"/>
            <a:ext cx="9175750" cy="1638300"/>
          </a:xfrm>
          <a:prstGeom prst="rect">
            <a:avLst/>
          </a:prstGeom>
        </p:spPr>
      </p:pic>
      <p:sp>
        <p:nvSpPr>
          <p:cNvPr id="8" name="原题文字_363_4"/>
          <p:cNvSpPr txBox="1"/>
          <p:nvPr/>
        </p:nvSpPr>
        <p:spPr>
          <a:xfrm>
            <a:off x="1779270" y="1420317"/>
            <a:ext cx="68986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无色气体</a:t>
            </a:r>
          </a:p>
        </p:txBody>
      </p:sp>
      <p:sp>
        <p:nvSpPr>
          <p:cNvPr id="9" name="原题文字_363_5"/>
          <p:cNvSpPr txBox="1"/>
          <p:nvPr/>
        </p:nvSpPr>
        <p:spPr>
          <a:xfrm>
            <a:off x="2547620" y="1394917"/>
            <a:ext cx="55651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浓盐酸</a:t>
            </a:r>
          </a:p>
        </p:txBody>
      </p:sp>
      <p:sp>
        <p:nvSpPr>
          <p:cNvPr id="10" name="原题文字_363_6"/>
          <p:cNvSpPr txBox="1"/>
          <p:nvPr/>
        </p:nvSpPr>
        <p:spPr>
          <a:xfrm>
            <a:off x="3169920" y="1420317"/>
            <a:ext cx="68351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白色固体</a:t>
            </a:r>
          </a:p>
        </p:txBody>
      </p:sp>
      <p:sp>
        <p:nvSpPr>
          <p:cNvPr id="11" name="原题文字_363_7"/>
          <p:cNvSpPr txBox="1"/>
          <p:nvPr/>
        </p:nvSpPr>
        <p:spPr>
          <a:xfrm>
            <a:off x="2014220" y="1598117"/>
            <a:ext cx="21996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B</a:t>
            </a:r>
          </a:p>
        </p:txBody>
      </p:sp>
      <p:sp>
        <p:nvSpPr>
          <p:cNvPr id="12" name="原题文字_363_8"/>
          <p:cNvSpPr txBox="1"/>
          <p:nvPr/>
        </p:nvSpPr>
        <p:spPr>
          <a:xfrm>
            <a:off x="2693670" y="1610817"/>
            <a:ext cx="251714"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②</a:t>
            </a:r>
          </a:p>
        </p:txBody>
      </p:sp>
      <p:sp>
        <p:nvSpPr>
          <p:cNvPr id="13" name="原题文字_363_9"/>
          <p:cNvSpPr txBox="1"/>
          <p:nvPr/>
        </p:nvSpPr>
        <p:spPr>
          <a:xfrm>
            <a:off x="3404870" y="1598117"/>
            <a:ext cx="21361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E</a:t>
            </a:r>
          </a:p>
        </p:txBody>
      </p:sp>
      <p:sp>
        <p:nvSpPr>
          <p:cNvPr id="14" name="原题文字_363_10"/>
          <p:cNvSpPr txBox="1"/>
          <p:nvPr/>
        </p:nvSpPr>
        <p:spPr>
          <a:xfrm>
            <a:off x="972820" y="1833067"/>
            <a:ext cx="505714" cy="239395"/>
          </a:xfrm>
          <a:prstGeom prst="rect">
            <a:avLst/>
          </a:prstGeom>
          <a:noFill/>
        </p:spPr>
        <p:txBody>
          <a:bodyPr wrap="none" lIns="0" rIns="0" tIns="0" bIns="0">
            <a:spAutoFit/>
          </a:bodyPr>
          <a:lstStyle/>
          <a:p>
            <a:pPr>
              <a:lnSpc>
                <a:spcPct val="112000"/>
              </a:lnSpc>
              <a:spcBef>
                <a:spcPts val="0"/>
              </a:spcBef>
              <a:spcAft>
                <a:spcPts val="0"/>
              </a:spcAft>
              <a:defRPr sz="1160" b="0">
                <a:solidFill>
                  <a:srgbClr val="333333"/>
                </a:solidFill>
                <a:latin typeface="微软雅黑"/>
              </a:defRPr>
            </a:pPr>
            <a:r>
              <a:rPr>
                <a:ea typeface="微软雅黑"/>
              </a:rPr>
              <a:t>NaOH</a:t>
            </a:r>
          </a:p>
        </p:txBody>
      </p:sp>
      <p:sp>
        <p:nvSpPr>
          <p:cNvPr id="15" name="原题文字_363_11"/>
          <p:cNvSpPr txBox="1"/>
          <p:nvPr/>
        </p:nvSpPr>
        <p:spPr>
          <a:xfrm>
            <a:off x="6471920" y="1794967"/>
            <a:ext cx="68986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无色气体</a:t>
            </a:r>
          </a:p>
        </p:txBody>
      </p:sp>
      <p:sp>
        <p:nvSpPr>
          <p:cNvPr id="16" name="原题文字_363_12"/>
          <p:cNvSpPr txBox="1"/>
          <p:nvPr/>
        </p:nvSpPr>
        <p:spPr>
          <a:xfrm>
            <a:off x="1004570" y="1953717"/>
            <a:ext cx="58191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溶液△</a:t>
            </a:r>
          </a:p>
        </p:txBody>
      </p:sp>
      <p:sp>
        <p:nvSpPr>
          <p:cNvPr id="17" name="原题文字_363_13"/>
          <p:cNvSpPr txBox="1"/>
          <p:nvPr/>
        </p:nvSpPr>
        <p:spPr>
          <a:xfrm>
            <a:off x="1779270" y="2004517"/>
            <a:ext cx="68986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无色溶液</a:t>
            </a:r>
          </a:p>
        </p:txBody>
      </p:sp>
      <p:sp>
        <p:nvSpPr>
          <p:cNvPr id="18" name="原题文字_363_14"/>
          <p:cNvSpPr txBox="1"/>
          <p:nvPr/>
        </p:nvSpPr>
        <p:spPr>
          <a:xfrm>
            <a:off x="2446020" y="1985467"/>
            <a:ext cx="740664" cy="264160"/>
          </a:xfrm>
          <a:prstGeom prst="rect">
            <a:avLst/>
          </a:prstGeom>
          <a:noFill/>
        </p:spPr>
        <p:txBody>
          <a:bodyPr wrap="none" lIns="0" rIns="0" tIns="0" bIns="0">
            <a:spAutoFit/>
          </a:bodyPr>
          <a:lstStyle/>
          <a:p>
            <a:pPr>
              <a:lnSpc>
                <a:spcPct val="112000"/>
              </a:lnSpc>
              <a:spcBef>
                <a:spcPts val="0"/>
              </a:spcBef>
              <a:spcAft>
                <a:spcPts val="0"/>
              </a:spcAft>
              <a:defRPr sz="1218" b="0">
                <a:solidFill>
                  <a:srgbClr val="333333"/>
                </a:solidFill>
                <a:latin typeface="微软雅黑"/>
              </a:defRPr>
            </a:pPr>
            <a:r>
              <a:rPr>
                <a:ea typeface="微软雅黑"/>
              </a:rPr>
              <a:t>BaCl₂溶液</a:t>
            </a:r>
          </a:p>
        </p:txBody>
      </p:sp>
      <p:sp>
        <p:nvSpPr>
          <p:cNvPr id="19" name="原题文字_363_15"/>
          <p:cNvSpPr txBox="1"/>
          <p:nvPr/>
        </p:nvSpPr>
        <p:spPr>
          <a:xfrm>
            <a:off x="3169920" y="2010867"/>
            <a:ext cx="6835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白色固体</a:t>
            </a:r>
          </a:p>
        </p:txBody>
      </p:sp>
      <p:sp>
        <p:nvSpPr>
          <p:cNvPr id="20" name="原题文字_363_16"/>
          <p:cNvSpPr txBox="1"/>
          <p:nvPr/>
        </p:nvSpPr>
        <p:spPr>
          <a:xfrm>
            <a:off x="6725920" y="1979117"/>
            <a:ext cx="175514" cy="198120"/>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J</a:t>
            </a:r>
          </a:p>
        </p:txBody>
      </p:sp>
      <p:sp>
        <p:nvSpPr>
          <p:cNvPr id="21" name="原题文字_363_17"/>
          <p:cNvSpPr txBox="1"/>
          <p:nvPr/>
        </p:nvSpPr>
        <p:spPr>
          <a:xfrm>
            <a:off x="648970" y="2099767"/>
            <a:ext cx="219964" cy="214630"/>
          </a:xfrm>
          <a:prstGeom prst="rect">
            <a:avLst/>
          </a:prstGeom>
          <a:noFill/>
        </p:spPr>
        <p:txBody>
          <a:bodyPr wrap="none" lIns="0" rIns="0" tIns="0" bIns="0">
            <a:spAutoFit/>
          </a:bodyPr>
          <a:lstStyle/>
          <a:p>
            <a:pPr>
              <a:lnSpc>
                <a:spcPct val="112000"/>
              </a:lnSpc>
              <a:spcBef>
                <a:spcPts val="0"/>
              </a:spcBef>
              <a:spcAft>
                <a:spcPts val="0"/>
              </a:spcAft>
              <a:defRPr sz="1040" b="0">
                <a:solidFill>
                  <a:srgbClr val="333333"/>
                </a:solidFill>
                <a:latin typeface="微软雅黑"/>
              </a:defRPr>
            </a:pPr>
            <a:r>
              <a:rPr>
                <a:ea typeface="微软雅黑"/>
              </a:rPr>
              <a:t>A</a:t>
            </a:r>
          </a:p>
        </p:txBody>
      </p:sp>
      <p:sp>
        <p:nvSpPr>
          <p:cNvPr id="22" name="原题文字_363_18"/>
          <p:cNvSpPr txBox="1"/>
          <p:nvPr/>
        </p:nvSpPr>
        <p:spPr>
          <a:xfrm>
            <a:off x="1093470" y="2195017"/>
            <a:ext cx="251714" cy="239395"/>
          </a:xfrm>
          <a:prstGeom prst="rect">
            <a:avLst/>
          </a:prstGeom>
          <a:noFill/>
        </p:spPr>
        <p:txBody>
          <a:bodyPr wrap="none" lIns="0" rIns="0" tIns="0" bIns="0">
            <a:spAutoFit/>
          </a:bodyPr>
          <a:lstStyle/>
          <a:p>
            <a:pPr>
              <a:lnSpc>
                <a:spcPct val="112000"/>
              </a:lnSpc>
              <a:spcBef>
                <a:spcPts val="0"/>
              </a:spcBef>
              <a:spcAft>
                <a:spcPts val="0"/>
              </a:spcAft>
              <a:defRPr sz="1160" b="0">
                <a:solidFill>
                  <a:srgbClr val="333333"/>
                </a:solidFill>
                <a:latin typeface="微软雅黑"/>
              </a:defRPr>
            </a:pPr>
            <a:r>
              <a:rPr>
                <a:ea typeface="微软雅黑"/>
              </a:rPr>
              <a:t>①</a:t>
            </a:r>
          </a:p>
        </p:txBody>
      </p:sp>
      <p:sp>
        <p:nvSpPr>
          <p:cNvPr id="23" name="原题文字_363_19"/>
          <p:cNvSpPr txBox="1"/>
          <p:nvPr/>
        </p:nvSpPr>
        <p:spPr>
          <a:xfrm>
            <a:off x="2020570" y="2175967"/>
            <a:ext cx="21361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C</a:t>
            </a:r>
          </a:p>
        </p:txBody>
      </p:sp>
      <p:sp>
        <p:nvSpPr>
          <p:cNvPr id="24" name="原题文字_363_20"/>
          <p:cNvSpPr txBox="1"/>
          <p:nvPr/>
        </p:nvSpPr>
        <p:spPr>
          <a:xfrm>
            <a:off x="2547620" y="2175967"/>
            <a:ext cx="55016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稀硝酸</a:t>
            </a:r>
          </a:p>
        </p:txBody>
      </p:sp>
      <p:sp>
        <p:nvSpPr>
          <p:cNvPr id="25" name="原题文字_363_21"/>
          <p:cNvSpPr txBox="1"/>
          <p:nvPr/>
        </p:nvSpPr>
        <p:spPr>
          <a:xfrm>
            <a:off x="3404870" y="2175967"/>
            <a:ext cx="21361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F</a:t>
            </a:r>
          </a:p>
        </p:txBody>
      </p:sp>
      <p:sp>
        <p:nvSpPr>
          <p:cNvPr id="26" name="原题文字_363_22"/>
          <p:cNvSpPr txBox="1"/>
          <p:nvPr/>
        </p:nvSpPr>
        <p:spPr>
          <a:xfrm>
            <a:off x="6611620" y="2271217"/>
            <a:ext cx="219964" cy="214630"/>
          </a:xfrm>
          <a:prstGeom prst="rect">
            <a:avLst/>
          </a:prstGeom>
          <a:noFill/>
        </p:spPr>
        <p:txBody>
          <a:bodyPr wrap="none" lIns="0" rIns="0" tIns="0" bIns="0">
            <a:spAutoFit/>
          </a:bodyPr>
          <a:lstStyle/>
          <a:p>
            <a:pPr>
              <a:lnSpc>
                <a:spcPct val="112000"/>
              </a:lnSpc>
              <a:spcBef>
                <a:spcPts val="0"/>
              </a:spcBef>
              <a:spcAft>
                <a:spcPts val="0"/>
              </a:spcAft>
              <a:defRPr sz="1040" b="0">
                <a:solidFill>
                  <a:srgbClr val="333333"/>
                </a:solidFill>
                <a:latin typeface="微软雅黑"/>
              </a:defRPr>
            </a:pPr>
            <a:r>
              <a:rPr>
                <a:ea typeface="微软雅黑"/>
              </a:rPr>
              <a:t>⑥</a:t>
            </a:r>
          </a:p>
        </p:txBody>
      </p:sp>
      <p:sp>
        <p:nvSpPr>
          <p:cNvPr id="27" name="原题文字_363_23"/>
          <p:cNvSpPr txBox="1"/>
          <p:nvPr/>
        </p:nvSpPr>
        <p:spPr>
          <a:xfrm>
            <a:off x="6776720" y="2252167"/>
            <a:ext cx="55016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稀硝酸</a:t>
            </a:r>
          </a:p>
        </p:txBody>
      </p:sp>
      <p:sp>
        <p:nvSpPr>
          <p:cNvPr id="28" name="原题文字_363_24"/>
          <p:cNvSpPr txBox="1"/>
          <p:nvPr/>
        </p:nvSpPr>
        <p:spPr>
          <a:xfrm>
            <a:off x="1779270" y="2544267"/>
            <a:ext cx="67716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白色沉淀</a:t>
            </a:r>
          </a:p>
        </p:txBody>
      </p:sp>
      <p:sp>
        <p:nvSpPr>
          <p:cNvPr id="29" name="原题文字_363_25"/>
          <p:cNvSpPr txBox="1"/>
          <p:nvPr/>
        </p:nvSpPr>
        <p:spPr>
          <a:xfrm>
            <a:off x="2547620" y="2518867"/>
            <a:ext cx="55016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湿空气</a:t>
            </a:r>
          </a:p>
        </p:txBody>
      </p:sp>
      <p:sp>
        <p:nvSpPr>
          <p:cNvPr id="30" name="原题文字_363_26"/>
          <p:cNvSpPr txBox="1"/>
          <p:nvPr/>
        </p:nvSpPr>
        <p:spPr>
          <a:xfrm>
            <a:off x="3157220" y="2544267"/>
            <a:ext cx="8232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红褐色固体</a:t>
            </a:r>
          </a:p>
        </p:txBody>
      </p:sp>
      <p:sp>
        <p:nvSpPr>
          <p:cNvPr id="31" name="原题文字_363_27"/>
          <p:cNvSpPr txBox="1"/>
          <p:nvPr/>
        </p:nvSpPr>
        <p:spPr>
          <a:xfrm>
            <a:off x="3950970" y="2531567"/>
            <a:ext cx="89941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浓NaOH溶液</a:t>
            </a:r>
          </a:p>
        </p:txBody>
      </p:sp>
      <p:sp>
        <p:nvSpPr>
          <p:cNvPr id="32" name="原题文字_363_28"/>
          <p:cNvSpPr txBox="1"/>
          <p:nvPr/>
        </p:nvSpPr>
        <p:spPr>
          <a:xfrm>
            <a:off x="4839970" y="2544267"/>
            <a:ext cx="8232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紫红色溶液</a:t>
            </a:r>
          </a:p>
        </p:txBody>
      </p:sp>
      <p:sp>
        <p:nvSpPr>
          <p:cNvPr id="33" name="原题文字_363_29"/>
          <p:cNvSpPr txBox="1"/>
          <p:nvPr/>
        </p:nvSpPr>
        <p:spPr>
          <a:xfrm>
            <a:off x="5652770" y="2525217"/>
            <a:ext cx="74066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BaCl₂溶液</a:t>
            </a:r>
          </a:p>
        </p:txBody>
      </p:sp>
      <p:sp>
        <p:nvSpPr>
          <p:cNvPr id="34" name="原题文字_363_30"/>
          <p:cNvSpPr txBox="1"/>
          <p:nvPr/>
        </p:nvSpPr>
        <p:spPr>
          <a:xfrm>
            <a:off x="6408420" y="2544267"/>
            <a:ext cx="8232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紫红色固体</a:t>
            </a:r>
          </a:p>
        </p:txBody>
      </p:sp>
      <p:sp>
        <p:nvSpPr>
          <p:cNvPr id="35" name="原题文字_363_31"/>
          <p:cNvSpPr txBox="1"/>
          <p:nvPr/>
        </p:nvSpPr>
        <p:spPr>
          <a:xfrm>
            <a:off x="2001520" y="2722067"/>
            <a:ext cx="226314" cy="214630"/>
          </a:xfrm>
          <a:prstGeom prst="rect">
            <a:avLst/>
          </a:prstGeom>
          <a:noFill/>
        </p:spPr>
        <p:txBody>
          <a:bodyPr wrap="none" lIns="0" rIns="0" tIns="0" bIns="0">
            <a:spAutoFit/>
          </a:bodyPr>
          <a:lstStyle/>
          <a:p>
            <a:pPr>
              <a:lnSpc>
                <a:spcPct val="112000"/>
              </a:lnSpc>
              <a:spcBef>
                <a:spcPts val="0"/>
              </a:spcBef>
              <a:spcAft>
                <a:spcPts val="0"/>
              </a:spcAft>
              <a:defRPr sz="1040" b="0">
                <a:solidFill>
                  <a:srgbClr val="333333"/>
                </a:solidFill>
                <a:latin typeface="微软雅黑"/>
              </a:defRPr>
            </a:pPr>
            <a:r>
              <a:rPr>
                <a:ea typeface="微软雅黑"/>
              </a:rPr>
              <a:t>D</a:t>
            </a:r>
          </a:p>
        </p:txBody>
      </p:sp>
      <p:sp>
        <p:nvSpPr>
          <p:cNvPr id="36" name="原题文字_363_32"/>
          <p:cNvSpPr txBox="1"/>
          <p:nvPr/>
        </p:nvSpPr>
        <p:spPr>
          <a:xfrm>
            <a:off x="2693670" y="2722067"/>
            <a:ext cx="245363"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③</a:t>
            </a:r>
          </a:p>
        </p:txBody>
      </p:sp>
      <p:sp>
        <p:nvSpPr>
          <p:cNvPr id="37" name="原题文字_363_33"/>
          <p:cNvSpPr txBox="1"/>
          <p:nvPr/>
        </p:nvSpPr>
        <p:spPr>
          <a:xfrm>
            <a:off x="3462020" y="2715717"/>
            <a:ext cx="213614" cy="214630"/>
          </a:xfrm>
          <a:prstGeom prst="rect">
            <a:avLst/>
          </a:prstGeom>
          <a:noFill/>
        </p:spPr>
        <p:txBody>
          <a:bodyPr wrap="none" lIns="0" rIns="0" tIns="0" bIns="0">
            <a:spAutoFit/>
          </a:bodyPr>
          <a:lstStyle/>
          <a:p>
            <a:pPr>
              <a:lnSpc>
                <a:spcPct val="112000"/>
              </a:lnSpc>
              <a:spcBef>
                <a:spcPts val="0"/>
              </a:spcBef>
              <a:spcAft>
                <a:spcPts val="0"/>
              </a:spcAft>
              <a:defRPr sz="1040" b="0">
                <a:solidFill>
                  <a:srgbClr val="333333"/>
                </a:solidFill>
                <a:latin typeface="微软雅黑"/>
              </a:defRPr>
            </a:pPr>
            <a:r>
              <a:rPr>
                <a:ea typeface="微软雅黑"/>
              </a:rPr>
              <a:t>G</a:t>
            </a:r>
          </a:p>
        </p:txBody>
      </p:sp>
      <p:sp>
        <p:nvSpPr>
          <p:cNvPr id="38" name="原题文字_363_34"/>
          <p:cNvSpPr txBox="1"/>
          <p:nvPr/>
        </p:nvSpPr>
        <p:spPr>
          <a:xfrm>
            <a:off x="4306570" y="2753817"/>
            <a:ext cx="188214" cy="173355"/>
          </a:xfrm>
          <a:prstGeom prst="rect">
            <a:avLst/>
          </a:prstGeom>
          <a:noFill/>
        </p:spPr>
        <p:txBody>
          <a:bodyPr wrap="none" lIns="0" rIns="0" tIns="0" bIns="0">
            <a:spAutoFit/>
          </a:bodyPr>
          <a:lstStyle/>
          <a:p>
            <a:pPr>
              <a:lnSpc>
                <a:spcPct val="112000"/>
              </a:lnSpc>
              <a:spcBef>
                <a:spcPts val="0"/>
              </a:spcBef>
              <a:spcAft>
                <a:spcPts val="0"/>
              </a:spcAft>
              <a:defRPr sz="840" b="0">
                <a:solidFill>
                  <a:srgbClr val="333333"/>
                </a:solidFill>
                <a:latin typeface="微软雅黑"/>
              </a:defRPr>
            </a:pPr>
            <a:r>
              <a:rPr>
                <a:ea typeface="微软雅黑"/>
              </a:rPr>
              <a:t>④</a:t>
            </a:r>
          </a:p>
        </p:txBody>
      </p:sp>
      <p:sp>
        <p:nvSpPr>
          <p:cNvPr id="39" name="原题文字_363_35"/>
          <p:cNvSpPr txBox="1"/>
          <p:nvPr/>
        </p:nvSpPr>
        <p:spPr>
          <a:xfrm>
            <a:off x="5132070" y="2709367"/>
            <a:ext cx="245363"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H</a:t>
            </a:r>
          </a:p>
        </p:txBody>
      </p:sp>
      <p:sp>
        <p:nvSpPr>
          <p:cNvPr id="40" name="原题文字_363_36"/>
          <p:cNvSpPr txBox="1"/>
          <p:nvPr/>
        </p:nvSpPr>
        <p:spPr>
          <a:xfrm>
            <a:off x="5919470" y="2734767"/>
            <a:ext cx="226314" cy="222885"/>
          </a:xfrm>
          <a:prstGeom prst="rect">
            <a:avLst/>
          </a:prstGeom>
          <a:noFill/>
        </p:spPr>
        <p:txBody>
          <a:bodyPr wrap="none" lIns="0" rIns="0" tIns="0" bIns="0">
            <a:spAutoFit/>
          </a:bodyPr>
          <a:lstStyle/>
          <a:p>
            <a:pPr>
              <a:lnSpc>
                <a:spcPct val="112000"/>
              </a:lnSpc>
              <a:spcBef>
                <a:spcPts val="0"/>
              </a:spcBef>
              <a:spcAft>
                <a:spcPts val="0"/>
              </a:spcAft>
              <a:defRPr sz="1080" b="0">
                <a:solidFill>
                  <a:srgbClr val="333333"/>
                </a:solidFill>
                <a:latin typeface="微软雅黑"/>
              </a:defRPr>
            </a:pPr>
            <a:r>
              <a:rPr>
                <a:ea typeface="微软雅黑"/>
              </a:rPr>
              <a:t>⑤</a:t>
            </a:r>
          </a:p>
        </p:txBody>
      </p:sp>
      <p:sp>
        <p:nvSpPr>
          <p:cNvPr id="41" name="原题文字_363_37"/>
          <p:cNvSpPr txBox="1"/>
          <p:nvPr/>
        </p:nvSpPr>
        <p:spPr>
          <a:xfrm>
            <a:off x="6732270" y="2728417"/>
            <a:ext cx="181864" cy="189865"/>
          </a:xfrm>
          <a:prstGeom prst="rect">
            <a:avLst/>
          </a:prstGeom>
          <a:noFill/>
        </p:spPr>
        <p:txBody>
          <a:bodyPr wrap="none" lIns="0" rIns="0" tIns="0" bIns="0">
            <a:spAutoFit/>
          </a:bodyPr>
          <a:lstStyle/>
          <a:p>
            <a:pPr>
              <a:lnSpc>
                <a:spcPct val="112000"/>
              </a:lnSpc>
              <a:spcBef>
                <a:spcPts val="0"/>
              </a:spcBef>
              <a:spcAft>
                <a:spcPts val="0"/>
              </a:spcAft>
              <a:defRPr sz="920" b="0">
                <a:solidFill>
                  <a:srgbClr val="333333"/>
                </a:solidFill>
                <a:latin typeface="微软雅黑"/>
              </a:defRPr>
            </a:pPr>
            <a:r>
              <a:rPr>
                <a:ea typeface="微软雅黑"/>
              </a:rPr>
              <a:t>I</a:t>
            </a:r>
          </a:p>
        </p:txBody>
      </p:sp>
      <p:sp>
        <p:nvSpPr>
          <p:cNvPr id="42" name="文字_已知："/>
          <p:cNvSpPr txBox="1"/>
          <p:nvPr/>
        </p:nvSpPr>
        <p:spPr>
          <a:xfrm>
            <a:off x="502920" y="305562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已知：</a:t>
            </a:r>
          </a:p>
        </p:txBody>
      </p:sp>
      <p:sp>
        <p:nvSpPr>
          <p:cNvPr id="43" name="文字_①A中含两种阳离子和一种阴离子，三种离子的物质的"/>
          <p:cNvSpPr txBox="1"/>
          <p:nvPr/>
        </p:nvSpPr>
        <p:spPr>
          <a:xfrm>
            <a:off x="502920" y="332079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①A中含两种阳离子和一种阴离子，三种离子的物质的量之比为2:1:2;</a:t>
            </a:r>
          </a:p>
        </p:txBody>
      </p:sp>
      <p:sp>
        <p:nvSpPr>
          <p:cNvPr id="44" name="文字_②H（Na₂FeO₄）是一种绿色净水剂和消毒剂；"/>
          <p:cNvSpPr txBox="1"/>
          <p:nvPr/>
        </p:nvSpPr>
        <p:spPr>
          <a:xfrm>
            <a:off x="502920" y="358597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②H（Na₂FeO₄）是一种绿色净水剂和消毒剂；</a:t>
            </a:r>
          </a:p>
        </p:txBody>
      </p:sp>
      <p:sp>
        <p:nvSpPr>
          <p:cNvPr id="45" name="文字_③J是空气的主要成分之一；"/>
          <p:cNvSpPr txBox="1"/>
          <p:nvPr/>
        </p:nvSpPr>
        <p:spPr>
          <a:xfrm>
            <a:off x="502920" y="385114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③J是空气的主要成分之一；</a:t>
            </a:r>
          </a:p>
        </p:txBody>
      </p:sp>
      <p:sp>
        <p:nvSpPr>
          <p:cNvPr id="46" name="文字_④H → I为复分解反应。"/>
          <p:cNvSpPr txBox="1"/>
          <p:nvPr/>
        </p:nvSpPr>
        <p:spPr>
          <a:xfrm>
            <a:off x="502920" y="411632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④H → I为复分解反应。</a:t>
            </a:r>
          </a:p>
        </p:txBody>
      </p:sp>
      <p:sp>
        <p:nvSpPr>
          <p:cNvPr id="47" name="文字_(1)A的化学式是"/>
          <p:cNvSpPr txBox="1"/>
          <p:nvPr/>
        </p:nvSpPr>
        <p:spPr>
          <a:xfrm>
            <a:off x="502920" y="438150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(1)A的化学式是</a:t>
            </a:r>
          </a:p>
        </p:txBody>
      </p:sp>
      <p:sp>
        <p:nvSpPr>
          <p:cNvPr id="48" name="文字_(2) E中含有的化学键有"/>
          <p:cNvSpPr txBox="1"/>
          <p:nvPr/>
        </p:nvSpPr>
        <p:spPr>
          <a:xfrm>
            <a:off x="502920" y="464667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(2) E中含有的化学键有</a:t>
            </a:r>
          </a:p>
        </p:txBody>
      </p:sp>
      <p:sp>
        <p:nvSpPr>
          <p:cNvPr id="49" name="文字_(3) 实验室利用固体E制备气体B的化学方程式为"/>
          <p:cNvSpPr txBox="1"/>
          <p:nvPr/>
        </p:nvSpPr>
        <p:spPr>
          <a:xfrm>
            <a:off x="502920" y="491185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(3) 实验室利用固体E制备气体B的化学方程式为</a:t>
            </a:r>
          </a:p>
        </p:txBody>
      </p:sp>
      <p:sp>
        <p:nvSpPr>
          <p:cNvPr id="50" name="文字_(4) 检验A中金属阳离子的方法为"/>
          <p:cNvSpPr txBox="1"/>
          <p:nvPr/>
        </p:nvSpPr>
        <p:spPr>
          <a:xfrm>
            <a:off x="502920" y="517702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(4) 检验A中金属阳离子的方法为</a:t>
            </a:r>
          </a:p>
        </p:txBody>
      </p:sp>
      <p:sp>
        <p:nvSpPr>
          <p:cNvPr id="51" name="文字_(5) 反应④的离子方程式为 ______ ；H"/>
          <p:cNvSpPr txBox="1"/>
          <p:nvPr/>
        </p:nvSpPr>
        <p:spPr>
          <a:xfrm>
            <a:off x="502920" y="544220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(5) 反应④的离子方程式为 ______ ；H作为绿色净水剂和消毒剂，是因为其可以和水缓慢反应生成G和O₂，请写出此反应的离子方程式</a:t>
            </a:r>
          </a:p>
        </p:txBody>
      </p:sp>
      <p:sp>
        <p:nvSpPr>
          <p:cNvPr id="52" name="文字_(6) 标准状况下，反应⑥生成5.6L气体J时转"/>
          <p:cNvSpPr txBox="1"/>
          <p:nvPr/>
        </p:nvSpPr>
        <p:spPr>
          <a:xfrm>
            <a:off x="502920" y="570738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(6) 标准状况下，反应⑥生成5.6L气体J时转移的电子的物质的量为 ______ mol。</a:t>
            </a:r>
          </a:p>
        </p:txBody>
      </p:sp>
      <p:sp>
        <p:nvSpPr>
          <p:cNvPr id="53" name="文字_推断题  ·  16-08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16-081</a:t>
            </a:r>
          </a:p>
        </p:txBody>
      </p:sp>
      <p:sp>
        <p:nvSpPr>
          <p:cNvPr id="54" name="文字_9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检测题24</a:t>
            </a:r>
          </a:p>
        </p:txBody>
      </p:sp>
      <p:sp>
        <p:nvSpPr>
          <p:cNvPr id="5" name="文字_P3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P364</a:t>
            </a:r>
          </a:p>
        </p:txBody>
      </p:sp>
      <p:sp>
        <p:nvSpPr>
          <p:cNvPr id="6" name="文字_黄铁矿(主要成分为FeS₂，还有少量CuS、Si"/>
          <p:cNvSpPr txBox="1"/>
          <p:nvPr/>
        </p:nvSpPr>
        <p:spPr>
          <a:xfrm>
            <a:off x="502920" y="1078992"/>
            <a:ext cx="11064240" cy="450913"/>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黄铁矿(主要成分为FeS₂，还有少量CuS、SiO₂)是工业制备硫酸的重要原料，为提高原料的综合利用，某科研小组进一步研发制备硫酸亚铁晶体</a:t>
            </a:r>
          </a:p>
          <a:p>
            <a:pPr>
              <a:lnSpc>
                <a:spcPct val="112000"/>
              </a:lnSpc>
              <a:spcBef>
                <a:spcPts val="0"/>
              </a:spcBef>
              <a:spcAft>
                <a:spcPts val="0"/>
              </a:spcAft>
              <a:defRPr sz="1350" b="0">
                <a:solidFill>
                  <a:srgbClr val="333333"/>
                </a:solidFill>
                <a:latin typeface="微软雅黑"/>
              </a:defRPr>
            </a:pPr>
            <a:r>
              <a:rPr>
                <a:ea typeface="微软雅黑"/>
              </a:rPr>
              <a:t>(FeSO₄·7H₂O)和软磁性材料γ−Fe₂O₃，其工艺流程如下：</a:t>
            </a:r>
          </a:p>
        </p:txBody>
      </p:sp>
      <p:pic>
        <p:nvPicPr>
          <p:cNvPr id="7" name="Picture 6" descr="image.png"/>
          <p:cNvPicPr>
            <a:picLocks noChangeAspect="1"/>
          </p:cNvPicPr>
          <p:nvPr/>
        </p:nvPicPr>
        <p:blipFill>
          <a:blip r:embed="rId3"/>
          <a:stretch>
            <a:fillRect/>
          </a:stretch>
        </p:blipFill>
        <p:spPr>
          <a:xfrm>
            <a:off x="502920" y="1529905"/>
            <a:ext cx="8542939" cy="1566698"/>
          </a:xfrm>
          <a:prstGeom prst="rect">
            <a:avLst/>
          </a:prstGeom>
        </p:spPr>
      </p:pic>
      <p:sp>
        <p:nvSpPr>
          <p:cNvPr id="8" name="原题文字_364_5"/>
          <p:cNvSpPr txBox="1"/>
          <p:nvPr/>
        </p:nvSpPr>
        <p:spPr>
          <a:xfrm>
            <a:off x="1342433" y="1612185"/>
            <a:ext cx="397764"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空气</a:t>
            </a:r>
          </a:p>
        </p:txBody>
      </p:sp>
      <p:sp>
        <p:nvSpPr>
          <p:cNvPr id="9" name="原题文字_364_6"/>
          <p:cNvSpPr txBox="1"/>
          <p:nvPr/>
        </p:nvSpPr>
        <p:spPr>
          <a:xfrm>
            <a:off x="1839047" y="1576713"/>
            <a:ext cx="646070" cy="253627"/>
          </a:xfrm>
          <a:prstGeom prst="rect">
            <a:avLst/>
          </a:prstGeom>
          <a:noFill/>
        </p:spPr>
        <p:txBody>
          <a:bodyPr wrap="none" lIns="0" rIns="0" tIns="0" bIns="0">
            <a:spAutoFit/>
          </a:bodyPr>
          <a:lstStyle/>
          <a:p>
            <a:pPr>
              <a:lnSpc>
                <a:spcPct val="112000"/>
              </a:lnSpc>
              <a:spcBef>
                <a:spcPts val="0"/>
              </a:spcBef>
              <a:spcAft>
                <a:spcPts val="0"/>
              </a:spcAft>
              <a:defRPr sz="1228" b="0">
                <a:solidFill>
                  <a:srgbClr val="333333"/>
                </a:solidFill>
                <a:latin typeface="微软雅黑"/>
              </a:defRPr>
            </a:pPr>
            <a:r>
              <a:rPr>
                <a:ea typeface="微软雅黑"/>
              </a:rPr>
              <a:t>20%硫酸</a:t>
            </a:r>
          </a:p>
        </p:txBody>
      </p:sp>
      <p:sp>
        <p:nvSpPr>
          <p:cNvPr id="10" name="原题文字_364_7"/>
          <p:cNvSpPr txBox="1"/>
          <p:nvPr/>
        </p:nvSpPr>
        <p:spPr>
          <a:xfrm>
            <a:off x="3204735" y="1553065"/>
            <a:ext cx="498269" cy="253627"/>
          </a:xfrm>
          <a:prstGeom prst="rect">
            <a:avLst/>
          </a:prstGeom>
          <a:noFill/>
        </p:spPr>
        <p:txBody>
          <a:bodyPr wrap="none" lIns="0" rIns="0" tIns="0" bIns="0">
            <a:spAutoFit/>
          </a:bodyPr>
          <a:lstStyle/>
          <a:p>
            <a:pPr>
              <a:lnSpc>
                <a:spcPct val="112000"/>
              </a:lnSpc>
              <a:spcBef>
                <a:spcPts val="0"/>
              </a:spcBef>
              <a:spcAft>
                <a:spcPts val="0"/>
              </a:spcAft>
              <a:defRPr sz="1228" b="0">
                <a:solidFill>
                  <a:srgbClr val="333333"/>
                </a:solidFill>
                <a:latin typeface="微软雅黑"/>
              </a:defRPr>
            </a:pPr>
            <a:r>
              <a:rPr>
                <a:ea typeface="微软雅黑"/>
              </a:rPr>
              <a:t>试剂X</a:t>
            </a:r>
          </a:p>
        </p:txBody>
      </p:sp>
      <p:sp>
        <p:nvSpPr>
          <p:cNvPr id="11" name="原题文字_364_8"/>
          <p:cNvSpPr txBox="1"/>
          <p:nvPr/>
        </p:nvSpPr>
        <p:spPr>
          <a:xfrm>
            <a:off x="573864" y="2043766"/>
            <a:ext cx="782048" cy="276684"/>
          </a:xfrm>
          <a:prstGeom prst="rect">
            <a:avLst/>
          </a:prstGeom>
          <a:noFill/>
        </p:spPr>
        <p:txBody>
          <a:bodyPr wrap="none" lIns="0" rIns="0" tIns="0" bIns="0">
            <a:spAutoFit/>
          </a:bodyPr>
          <a:lstStyle/>
          <a:p>
            <a:pPr>
              <a:lnSpc>
                <a:spcPct val="112000"/>
              </a:lnSpc>
              <a:spcBef>
                <a:spcPts val="0"/>
              </a:spcBef>
              <a:spcAft>
                <a:spcPts val="0"/>
              </a:spcAft>
              <a:defRPr sz="1340" b="0">
                <a:solidFill>
                  <a:srgbClr val="333333"/>
                </a:solidFill>
                <a:latin typeface="微软雅黑"/>
              </a:defRPr>
            </a:pPr>
            <a:r>
              <a:rPr>
                <a:ea typeface="微软雅黑"/>
              </a:rPr>
              <a:t>黄铁矿</a:t>
            </a:r>
          </a:p>
        </p:txBody>
      </p:sp>
      <p:sp>
        <p:nvSpPr>
          <p:cNvPr id="12" name="原题文字_364_9"/>
          <p:cNvSpPr txBox="1"/>
          <p:nvPr/>
        </p:nvSpPr>
        <p:spPr>
          <a:xfrm>
            <a:off x="1312873" y="2079239"/>
            <a:ext cx="421412" cy="292056"/>
          </a:xfrm>
          <a:prstGeom prst="rect">
            <a:avLst/>
          </a:prstGeom>
          <a:noFill/>
        </p:spPr>
        <p:txBody>
          <a:bodyPr wrap="none" lIns="0" rIns="0" tIns="0" bIns="0">
            <a:spAutoFit/>
          </a:bodyPr>
          <a:lstStyle/>
          <a:p>
            <a:pPr>
              <a:lnSpc>
                <a:spcPct val="112000"/>
              </a:lnSpc>
              <a:spcBef>
                <a:spcPts val="0"/>
              </a:spcBef>
              <a:spcAft>
                <a:spcPts val="0"/>
              </a:spcAft>
              <a:defRPr sz="1415" b="0">
                <a:solidFill>
                  <a:srgbClr val="333333"/>
                </a:solidFill>
                <a:latin typeface="微软雅黑"/>
              </a:defRPr>
            </a:pPr>
            <a:r>
              <a:rPr>
                <a:ea typeface="微软雅黑"/>
              </a:rPr>
              <a:t>焙烧</a:t>
            </a:r>
          </a:p>
        </p:txBody>
      </p:sp>
      <p:sp>
        <p:nvSpPr>
          <p:cNvPr id="13" name="原题文字_364_10"/>
          <p:cNvSpPr txBox="1"/>
          <p:nvPr/>
        </p:nvSpPr>
        <p:spPr>
          <a:xfrm>
            <a:off x="1986849" y="2085151"/>
            <a:ext cx="403676" cy="268999"/>
          </a:xfrm>
          <a:prstGeom prst="rect">
            <a:avLst/>
          </a:prstGeom>
          <a:noFill/>
        </p:spPr>
        <p:txBody>
          <a:bodyPr wrap="none" lIns="0" rIns="0" tIns="0" bIns="0">
            <a:spAutoFit/>
          </a:bodyPr>
          <a:lstStyle/>
          <a:p>
            <a:pPr>
              <a:lnSpc>
                <a:spcPct val="112000"/>
              </a:lnSpc>
              <a:spcBef>
                <a:spcPts val="0"/>
              </a:spcBef>
              <a:spcAft>
                <a:spcPts val="0"/>
              </a:spcAft>
              <a:defRPr sz="1303" b="0">
                <a:solidFill>
                  <a:srgbClr val="333333"/>
                </a:solidFill>
                <a:latin typeface="微软雅黑"/>
              </a:defRPr>
            </a:pPr>
            <a:r>
              <a:rPr>
                <a:ea typeface="微软雅黑"/>
              </a:rPr>
              <a:t>酸溶</a:t>
            </a:r>
          </a:p>
        </p:txBody>
      </p:sp>
      <p:sp>
        <p:nvSpPr>
          <p:cNvPr id="14" name="原题文字_364_11"/>
          <p:cNvSpPr txBox="1"/>
          <p:nvPr/>
        </p:nvSpPr>
        <p:spPr>
          <a:xfrm>
            <a:off x="2578056" y="2055590"/>
            <a:ext cx="445060" cy="292056"/>
          </a:xfrm>
          <a:prstGeom prst="rect">
            <a:avLst/>
          </a:prstGeom>
          <a:noFill/>
        </p:spPr>
        <p:txBody>
          <a:bodyPr wrap="none" lIns="0" rIns="0" tIns="0" bIns="0">
            <a:spAutoFit/>
          </a:bodyPr>
          <a:lstStyle/>
          <a:p>
            <a:pPr>
              <a:lnSpc>
                <a:spcPct val="112000"/>
              </a:lnSpc>
              <a:spcBef>
                <a:spcPts val="0"/>
              </a:spcBef>
              <a:spcAft>
                <a:spcPts val="0"/>
              </a:spcAft>
              <a:defRPr sz="1415" b="0">
                <a:solidFill>
                  <a:srgbClr val="333333"/>
                </a:solidFill>
                <a:latin typeface="微软雅黑"/>
              </a:defRPr>
            </a:pPr>
            <a:r>
              <a:rPr>
                <a:ea typeface="微软雅黑"/>
              </a:rPr>
              <a:t>过滤</a:t>
            </a:r>
          </a:p>
        </p:txBody>
      </p:sp>
      <p:sp>
        <p:nvSpPr>
          <p:cNvPr id="15" name="原题文字_364_12"/>
          <p:cNvSpPr txBox="1"/>
          <p:nvPr/>
        </p:nvSpPr>
        <p:spPr>
          <a:xfrm>
            <a:off x="3281592" y="2085151"/>
            <a:ext cx="415500" cy="268999"/>
          </a:xfrm>
          <a:prstGeom prst="rect">
            <a:avLst/>
          </a:prstGeom>
          <a:noFill/>
        </p:spPr>
        <p:txBody>
          <a:bodyPr wrap="none" lIns="0" rIns="0" tIns="0" bIns="0">
            <a:spAutoFit/>
          </a:bodyPr>
          <a:lstStyle/>
          <a:p>
            <a:pPr>
              <a:lnSpc>
                <a:spcPct val="112000"/>
              </a:lnSpc>
              <a:spcBef>
                <a:spcPts val="0"/>
              </a:spcBef>
              <a:spcAft>
                <a:spcPts val="0"/>
              </a:spcAft>
              <a:defRPr sz="1303" b="0">
                <a:solidFill>
                  <a:srgbClr val="333333"/>
                </a:solidFill>
                <a:latin typeface="微软雅黑"/>
              </a:defRPr>
            </a:pPr>
            <a:r>
              <a:rPr>
                <a:ea typeface="微软雅黑"/>
              </a:rPr>
              <a:t>还原</a:t>
            </a:r>
          </a:p>
        </p:txBody>
      </p:sp>
      <p:sp>
        <p:nvSpPr>
          <p:cNvPr id="16" name="原题文字_364_13"/>
          <p:cNvSpPr txBox="1"/>
          <p:nvPr/>
        </p:nvSpPr>
        <p:spPr>
          <a:xfrm>
            <a:off x="3914183" y="2055590"/>
            <a:ext cx="439148" cy="292056"/>
          </a:xfrm>
          <a:prstGeom prst="rect">
            <a:avLst/>
          </a:prstGeom>
          <a:noFill/>
        </p:spPr>
        <p:txBody>
          <a:bodyPr wrap="none" lIns="0" rIns="0" tIns="0" bIns="0">
            <a:spAutoFit/>
          </a:bodyPr>
          <a:lstStyle/>
          <a:p>
            <a:pPr>
              <a:lnSpc>
                <a:spcPct val="112000"/>
              </a:lnSpc>
              <a:spcBef>
                <a:spcPts val="0"/>
              </a:spcBef>
              <a:spcAft>
                <a:spcPts val="0"/>
              </a:spcAft>
              <a:defRPr sz="1415" b="0">
                <a:solidFill>
                  <a:srgbClr val="333333"/>
                </a:solidFill>
                <a:latin typeface="微软雅黑"/>
              </a:defRPr>
            </a:pPr>
            <a:r>
              <a:rPr>
                <a:ea typeface="微软雅黑"/>
              </a:rPr>
              <a:t>过滤</a:t>
            </a:r>
          </a:p>
        </p:txBody>
      </p:sp>
      <p:sp>
        <p:nvSpPr>
          <p:cNvPr id="17" name="原题文字_364_14"/>
          <p:cNvSpPr txBox="1"/>
          <p:nvPr/>
        </p:nvSpPr>
        <p:spPr>
          <a:xfrm>
            <a:off x="4783257" y="2067415"/>
            <a:ext cx="427324" cy="292056"/>
          </a:xfrm>
          <a:prstGeom prst="rect">
            <a:avLst/>
          </a:prstGeom>
          <a:noFill/>
        </p:spPr>
        <p:txBody>
          <a:bodyPr wrap="none" lIns="0" rIns="0" tIns="0" bIns="0">
            <a:spAutoFit/>
          </a:bodyPr>
          <a:lstStyle/>
          <a:p>
            <a:pPr>
              <a:lnSpc>
                <a:spcPct val="112000"/>
              </a:lnSpc>
              <a:spcBef>
                <a:spcPts val="0"/>
              </a:spcBef>
              <a:spcAft>
                <a:spcPts val="0"/>
              </a:spcAft>
              <a:defRPr sz="1415" b="0">
                <a:solidFill>
                  <a:srgbClr val="333333"/>
                </a:solidFill>
                <a:latin typeface="微软雅黑"/>
              </a:defRPr>
            </a:pPr>
            <a:r>
              <a:rPr>
                <a:ea typeface="微软雅黑"/>
              </a:rPr>
              <a:t>滤液</a:t>
            </a:r>
          </a:p>
        </p:txBody>
      </p:sp>
      <p:sp>
        <p:nvSpPr>
          <p:cNvPr id="18" name="原题文字_364_15"/>
          <p:cNvSpPr txBox="1"/>
          <p:nvPr/>
        </p:nvSpPr>
        <p:spPr>
          <a:xfrm>
            <a:off x="5398113" y="2085151"/>
            <a:ext cx="1793012" cy="276684"/>
          </a:xfrm>
          <a:prstGeom prst="rect">
            <a:avLst/>
          </a:prstGeom>
          <a:noFill/>
        </p:spPr>
        <p:txBody>
          <a:bodyPr wrap="none" lIns="0" rIns="0" tIns="0" bIns="0">
            <a:spAutoFit/>
          </a:bodyPr>
          <a:lstStyle/>
          <a:p>
            <a:pPr>
              <a:lnSpc>
                <a:spcPct val="112000"/>
              </a:lnSpc>
              <a:spcBef>
                <a:spcPts val="0"/>
              </a:spcBef>
              <a:spcAft>
                <a:spcPts val="0"/>
              </a:spcAft>
              <a:defRPr sz="1158" b="0">
                <a:solidFill>
                  <a:srgbClr val="333333"/>
                </a:solidFill>
                <a:latin typeface="微软雅黑"/>
              </a:defRPr>
            </a:pPr>
            <a:r>
              <a:rPr>
                <a:ea typeface="微软雅黑"/>
              </a:rPr>
              <a:t>→ …… 粗产品FeSO₄·7H₂O</a:t>
            </a:r>
          </a:p>
        </p:txBody>
      </p:sp>
      <p:sp>
        <p:nvSpPr>
          <p:cNvPr id="19" name="原题文字_364_16"/>
          <p:cNvSpPr txBox="1"/>
          <p:nvPr/>
        </p:nvSpPr>
        <p:spPr>
          <a:xfrm>
            <a:off x="1342433" y="2569940"/>
            <a:ext cx="350467" cy="276684"/>
          </a:xfrm>
          <a:prstGeom prst="rect">
            <a:avLst/>
          </a:prstGeom>
          <a:noFill/>
        </p:spPr>
        <p:txBody>
          <a:bodyPr wrap="none" lIns="0" rIns="0" tIns="0" bIns="0">
            <a:spAutoFit/>
          </a:bodyPr>
          <a:lstStyle/>
          <a:p>
            <a:pPr>
              <a:lnSpc>
                <a:spcPct val="112000"/>
              </a:lnSpc>
              <a:spcBef>
                <a:spcPts val="0"/>
              </a:spcBef>
              <a:spcAft>
                <a:spcPts val="0"/>
              </a:spcAft>
              <a:defRPr sz="1334" b="0">
                <a:solidFill>
                  <a:srgbClr val="333333"/>
                </a:solidFill>
                <a:latin typeface="微软雅黑"/>
              </a:defRPr>
            </a:pPr>
            <a:r>
              <a:rPr>
                <a:ea typeface="微软雅黑"/>
              </a:rPr>
              <a:t>SO₂</a:t>
            </a:r>
          </a:p>
        </p:txBody>
      </p:sp>
      <p:sp>
        <p:nvSpPr>
          <p:cNvPr id="20" name="原题文字_364_17"/>
          <p:cNvSpPr txBox="1"/>
          <p:nvPr/>
        </p:nvSpPr>
        <p:spPr>
          <a:xfrm>
            <a:off x="2566232" y="2575852"/>
            <a:ext cx="456884"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滤渣1</a:t>
            </a:r>
          </a:p>
        </p:txBody>
      </p:sp>
      <p:sp>
        <p:nvSpPr>
          <p:cNvPr id="21" name="原题文字_364_18"/>
          <p:cNvSpPr txBox="1"/>
          <p:nvPr/>
        </p:nvSpPr>
        <p:spPr>
          <a:xfrm>
            <a:off x="3866887" y="2522644"/>
            <a:ext cx="486445" cy="284370"/>
          </a:xfrm>
          <a:prstGeom prst="rect">
            <a:avLst/>
          </a:prstGeom>
          <a:noFill/>
        </p:spPr>
        <p:txBody>
          <a:bodyPr wrap="none" lIns="0" rIns="0" tIns="0" bIns="0">
            <a:spAutoFit/>
          </a:bodyPr>
          <a:lstStyle/>
          <a:p>
            <a:pPr>
              <a:lnSpc>
                <a:spcPct val="112000"/>
              </a:lnSpc>
              <a:spcBef>
                <a:spcPts val="0"/>
              </a:spcBef>
              <a:spcAft>
                <a:spcPts val="0"/>
              </a:spcAft>
              <a:defRPr sz="1377" b="0">
                <a:solidFill>
                  <a:srgbClr val="333333"/>
                </a:solidFill>
                <a:latin typeface="微软雅黑"/>
              </a:defRPr>
            </a:pPr>
            <a:r>
              <a:rPr>
                <a:ea typeface="微软雅黑"/>
              </a:rPr>
              <a:t>滤渣2</a:t>
            </a:r>
          </a:p>
        </p:txBody>
      </p:sp>
      <p:sp>
        <p:nvSpPr>
          <p:cNvPr id="22" name="原题文字_364_19"/>
          <p:cNvSpPr txBox="1"/>
          <p:nvPr/>
        </p:nvSpPr>
        <p:spPr>
          <a:xfrm>
            <a:off x="4771433" y="2564028"/>
            <a:ext cx="433236" cy="299741"/>
          </a:xfrm>
          <a:prstGeom prst="rect">
            <a:avLst/>
          </a:prstGeom>
          <a:noFill/>
        </p:spPr>
        <p:txBody>
          <a:bodyPr wrap="none" lIns="0" rIns="0" tIns="0" bIns="0">
            <a:spAutoFit/>
          </a:bodyPr>
          <a:lstStyle/>
          <a:p>
            <a:pPr>
              <a:lnSpc>
                <a:spcPct val="112000"/>
              </a:lnSpc>
              <a:spcBef>
                <a:spcPts val="0"/>
              </a:spcBef>
              <a:spcAft>
                <a:spcPts val="0"/>
              </a:spcAft>
              <a:defRPr sz="1452" b="0">
                <a:solidFill>
                  <a:srgbClr val="333333"/>
                </a:solidFill>
                <a:latin typeface="微软雅黑"/>
              </a:defRPr>
            </a:pPr>
            <a:r>
              <a:rPr>
                <a:ea typeface="微软雅黑"/>
              </a:rPr>
              <a:t>沉铁</a:t>
            </a:r>
          </a:p>
        </p:txBody>
      </p:sp>
      <p:sp>
        <p:nvSpPr>
          <p:cNvPr id="23" name="原题文字_364_20"/>
          <p:cNvSpPr txBox="1"/>
          <p:nvPr/>
        </p:nvSpPr>
        <p:spPr>
          <a:xfrm>
            <a:off x="5155718" y="2569940"/>
            <a:ext cx="1278662" cy="315113"/>
          </a:xfrm>
          <a:prstGeom prst="rect">
            <a:avLst/>
          </a:prstGeom>
          <a:noFill/>
        </p:spPr>
        <p:txBody>
          <a:bodyPr wrap="none" lIns="0" rIns="0" tIns="0" bIns="0">
            <a:spAutoFit/>
          </a:bodyPr>
          <a:lstStyle/>
          <a:p>
            <a:pPr>
              <a:lnSpc>
                <a:spcPct val="112000"/>
              </a:lnSpc>
              <a:spcBef>
                <a:spcPts val="0"/>
              </a:spcBef>
              <a:spcAft>
                <a:spcPts val="0"/>
              </a:spcAft>
              <a:defRPr sz="1356" b="0">
                <a:solidFill>
                  <a:srgbClr val="333333"/>
                </a:solidFill>
                <a:latin typeface="微软雅黑"/>
              </a:defRPr>
            </a:pPr>
            <a:r>
              <a:rPr>
                <a:ea typeface="微软雅黑"/>
              </a:rPr>
              <a:t>…… → γ-Fe₂O₃</a:t>
            </a:r>
          </a:p>
        </p:txBody>
      </p:sp>
      <p:sp>
        <p:nvSpPr>
          <p:cNvPr id="24" name="原题文字_364_21"/>
          <p:cNvSpPr txBox="1"/>
          <p:nvPr/>
        </p:nvSpPr>
        <p:spPr>
          <a:xfrm>
            <a:off x="573864" y="2859632"/>
            <a:ext cx="1958550"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已知：沉铁所得为FeCO₃。</a:t>
            </a:r>
          </a:p>
        </p:txBody>
      </p:sp>
      <p:sp>
        <p:nvSpPr>
          <p:cNvPr id="25" name="文字_回答下列问题:"/>
          <p:cNvSpPr txBox="1"/>
          <p:nvPr/>
        </p:nvSpPr>
        <p:spPr>
          <a:xfrm>
            <a:off x="502920" y="3169755"/>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回答下列问题:</a:t>
            </a:r>
          </a:p>
        </p:txBody>
      </p:sp>
      <p:sp>
        <p:nvSpPr>
          <p:cNvPr id="26" name="文字_(1)为提高原料的利用率，焙烧时可采用"/>
          <p:cNvSpPr txBox="1"/>
          <p:nvPr/>
        </p:nvSpPr>
        <p:spPr>
          <a:xfrm>
            <a:off x="502920" y="3416643"/>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(1)为提高原料的利用率，焙烧时可采用</a:t>
            </a:r>
          </a:p>
        </p:txBody>
      </p:sp>
      <p:sp>
        <p:nvSpPr>
          <p:cNvPr id="27" name="文字_(2)第1次过滤操作后，溶液中的阳离子主要有Cu"/>
          <p:cNvSpPr txBox="1"/>
          <p:nvPr/>
        </p:nvSpPr>
        <p:spPr>
          <a:xfrm>
            <a:off x="502920" y="3663531"/>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(2)第1次过滤操作后，溶液中的阳离子主要有Cu²⁺、</a:t>
            </a:r>
          </a:p>
        </p:txBody>
      </p:sp>
      <p:sp>
        <p:nvSpPr>
          <p:cNvPr id="28" name="文字_(3) 下列说法正确的是"/>
          <p:cNvSpPr txBox="1"/>
          <p:nvPr/>
        </p:nvSpPr>
        <p:spPr>
          <a:xfrm>
            <a:off x="502920" y="3910419"/>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(3) 下列说法正确的是</a:t>
            </a:r>
          </a:p>
        </p:txBody>
      </p:sp>
      <p:sp>
        <p:nvSpPr>
          <p:cNvPr id="29" name="文字_A. SO₂经过催化氧化后，用98.3%的浓硫酸"/>
          <p:cNvSpPr txBox="1"/>
          <p:nvPr/>
        </p:nvSpPr>
        <p:spPr>
          <a:xfrm>
            <a:off x="502920" y="4157307"/>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A. SO₂经过催化氧化后，用98.3%的浓硫酸进行吸收</a:t>
            </a:r>
          </a:p>
        </p:txBody>
      </p:sp>
      <p:sp>
        <p:nvSpPr>
          <p:cNvPr id="30" name="文字_B. 为了提高酸溶的效率，可将20%硫酸改为98"/>
          <p:cNvSpPr txBox="1"/>
          <p:nvPr/>
        </p:nvSpPr>
        <p:spPr>
          <a:xfrm>
            <a:off x="502920" y="4404195"/>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B. 为了提高酸溶的效率，可将20%硫酸改为98%浓硫酸</a:t>
            </a:r>
          </a:p>
        </p:txBody>
      </p:sp>
      <p:sp>
        <p:nvSpPr>
          <p:cNvPr id="31" name="文字_C. 滤渣2的主要成分是Cu、S"/>
          <p:cNvSpPr txBox="1"/>
          <p:nvPr/>
        </p:nvSpPr>
        <p:spPr>
          <a:xfrm>
            <a:off x="502920" y="4651083"/>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C. 滤渣2的主要成分是Cu、S</a:t>
            </a:r>
          </a:p>
        </p:txBody>
      </p:sp>
      <p:sp>
        <p:nvSpPr>
          <p:cNvPr id="32" name="文字_D. 将滤液蒸发结晶、灼烧，可得到粗产品FeSO"/>
          <p:cNvSpPr txBox="1"/>
          <p:nvPr/>
        </p:nvSpPr>
        <p:spPr>
          <a:xfrm>
            <a:off x="502920" y="4897971"/>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D. 将滤液蒸发结晶、灼烧，可得到粗产品FeSO₄·7H₂O</a:t>
            </a:r>
          </a:p>
        </p:txBody>
      </p:sp>
      <p:sp>
        <p:nvSpPr>
          <p:cNvPr id="33" name="文字_(4)“沉铁”操作时，边搅拌边缓慢向滤液中滴加氨"/>
          <p:cNvSpPr txBox="1"/>
          <p:nvPr/>
        </p:nvSpPr>
        <p:spPr>
          <a:xfrm>
            <a:off x="502920" y="5144859"/>
            <a:ext cx="11064240" cy="450913"/>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(4)“沉铁”操作时，边搅拌边缓慢向滤液中滴加氨水-NH₄HCO₃混合溶液，发生的离子反应方程式为 ______ ；加入时需控制好溶液的pH，原因</a:t>
            </a:r>
          </a:p>
          <a:p>
            <a:pPr>
              <a:lnSpc>
                <a:spcPct val="112000"/>
              </a:lnSpc>
              <a:spcBef>
                <a:spcPts val="0"/>
              </a:spcBef>
              <a:spcAft>
                <a:spcPts val="0"/>
              </a:spcAft>
              <a:defRPr sz="1350" b="0">
                <a:solidFill>
                  <a:srgbClr val="333333"/>
                </a:solidFill>
                <a:latin typeface="微软雅黑"/>
              </a:defRPr>
            </a:pPr>
            <a:r>
              <a:rPr>
                <a:ea typeface="微软雅黑"/>
              </a:rPr>
              <a:t>是 ______ ；静置后过滤，所得沉淀用蒸馏水洗涤2~3次；检验沉淀是否洗净；</a:t>
            </a:r>
          </a:p>
        </p:txBody>
      </p:sp>
      <p:sp>
        <p:nvSpPr>
          <p:cNvPr id="34" name="文字_干燥。请写出检验沉淀是否洗净的方法"/>
          <p:cNvSpPr txBox="1"/>
          <p:nvPr/>
        </p:nvSpPr>
        <p:spPr>
          <a:xfrm>
            <a:off x="502920" y="5595773"/>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干燥。请写出检验沉淀是否洗净的方法</a:t>
            </a:r>
          </a:p>
        </p:txBody>
      </p:sp>
      <p:sp>
        <p:nvSpPr>
          <p:cNvPr id="35" name="文字_(5)取FeSO₄·7H₂O(M = 278g·"/>
          <p:cNvSpPr txBox="1"/>
          <p:nvPr/>
        </p:nvSpPr>
        <p:spPr>
          <a:xfrm>
            <a:off x="502920" y="5842661"/>
            <a:ext cx="11064240" cy="450913"/>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(5)取FeSO₄·7H₂O(M = 278g·mol−¹)粗产品ag，加水完全溶解，滴加酸化的cmol/L KMnO₄溶液至恰好完全反应，消耗KMnO₄溶液bmL，则</a:t>
            </a:r>
          </a:p>
          <a:p>
            <a:pPr>
              <a:lnSpc>
                <a:spcPct val="112000"/>
              </a:lnSpc>
              <a:spcBef>
                <a:spcPts val="0"/>
              </a:spcBef>
              <a:spcAft>
                <a:spcPts val="0"/>
              </a:spcAft>
              <a:defRPr sz="1350" b="0">
                <a:solidFill>
                  <a:srgbClr val="333333"/>
                </a:solidFill>
                <a:latin typeface="微软雅黑"/>
              </a:defRPr>
            </a:pPr>
            <a:r>
              <a:rPr>
                <a:ea typeface="微软雅黑"/>
              </a:rPr>
              <a:t>FeSO₄·7H₂O的纯度为 ______ %。</a:t>
            </a:r>
          </a:p>
        </p:txBody>
      </p:sp>
      <p:sp>
        <p:nvSpPr>
          <p:cNvPr id="36" name="文字_解答题  ·  16-08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16-082</a:t>
            </a:r>
          </a:p>
        </p:txBody>
      </p:sp>
      <p:sp>
        <p:nvSpPr>
          <p:cNvPr id="37" name="文字_9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检测题25</a:t>
            </a:r>
          </a:p>
        </p:txBody>
      </p:sp>
      <p:sp>
        <p:nvSpPr>
          <p:cNvPr id="5" name="文字_P364–3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P364–365</a:t>
            </a:r>
          </a:p>
        </p:txBody>
      </p:sp>
      <p:sp>
        <p:nvSpPr>
          <p:cNvPr id="6" name="文字_A同学做“HNO₃与FeSO₄反应”的实验，发现"/>
          <p:cNvSpPr txBox="1"/>
          <p:nvPr/>
        </p:nvSpPr>
        <p:spPr>
          <a:xfrm>
            <a:off x="502920" y="1078992"/>
            <a:ext cx="11064240" cy="400811"/>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A同学做“HNO₃与FeSO₄反应”的实验，发现溶液变深棕色。猜想可能是生成的NO₂或NO与Fe²⁺或Fe³⁺反应，使溶液变为深棕色，设计下列装置探究。回答下</a:t>
            </a:r>
          </a:p>
          <a:p>
            <a:pPr>
              <a:lnSpc>
                <a:spcPct val="112000"/>
              </a:lnSpc>
              <a:spcBef>
                <a:spcPts val="0"/>
              </a:spcBef>
              <a:spcAft>
                <a:spcPts val="0"/>
              </a:spcAft>
              <a:defRPr sz="1200" b="0">
                <a:solidFill>
                  <a:srgbClr val="333333"/>
                </a:solidFill>
                <a:latin typeface="微软雅黑"/>
              </a:defRPr>
            </a:pPr>
            <a:r>
              <a:rPr>
                <a:ea typeface="微软雅黑"/>
              </a:rPr>
              <a:t>列问题。</a:t>
            </a:r>
          </a:p>
        </p:txBody>
      </p:sp>
      <p:pic>
        <p:nvPicPr>
          <p:cNvPr id="7" name="Picture 6" descr="image.png"/>
          <p:cNvPicPr>
            <a:picLocks noChangeAspect="1"/>
          </p:cNvPicPr>
          <p:nvPr/>
        </p:nvPicPr>
        <p:blipFill>
          <a:blip r:embed="rId3"/>
          <a:stretch>
            <a:fillRect/>
          </a:stretch>
        </p:blipFill>
        <p:spPr>
          <a:xfrm>
            <a:off x="502920" y="1479803"/>
            <a:ext cx="7593724" cy="1597572"/>
          </a:xfrm>
          <a:prstGeom prst="rect">
            <a:avLst/>
          </a:prstGeom>
        </p:spPr>
      </p:pic>
      <p:sp>
        <p:nvSpPr>
          <p:cNvPr id="8" name="原题文字_364_46"/>
          <p:cNvSpPr txBox="1"/>
          <p:nvPr/>
        </p:nvSpPr>
        <p:spPr>
          <a:xfrm>
            <a:off x="1648547" y="1594272"/>
            <a:ext cx="622422" cy="252773"/>
          </a:xfrm>
          <a:prstGeom prst="rect">
            <a:avLst/>
          </a:prstGeom>
          <a:noFill/>
        </p:spPr>
        <p:txBody>
          <a:bodyPr wrap="none" lIns="0" rIns="0" tIns="0" bIns="0">
            <a:spAutoFit/>
          </a:bodyPr>
          <a:lstStyle/>
          <a:p>
            <a:pPr>
              <a:lnSpc>
                <a:spcPct val="112000"/>
              </a:lnSpc>
              <a:spcBef>
                <a:spcPts val="0"/>
              </a:spcBef>
              <a:spcAft>
                <a:spcPts val="0"/>
              </a:spcAft>
              <a:defRPr sz="1224" b="0">
                <a:solidFill>
                  <a:srgbClr val="333333"/>
                </a:solidFill>
                <a:latin typeface="微软雅黑"/>
              </a:defRPr>
            </a:pPr>
            <a:r>
              <a:rPr>
                <a:ea typeface="微软雅黑"/>
              </a:rPr>
              <a:t>一浓硝酸</a:t>
            </a:r>
          </a:p>
        </p:txBody>
      </p:sp>
      <p:sp>
        <p:nvSpPr>
          <p:cNvPr id="9" name="原题文字_364_47"/>
          <p:cNvSpPr txBox="1"/>
          <p:nvPr/>
        </p:nvSpPr>
        <p:spPr>
          <a:xfrm>
            <a:off x="565982" y="1867541"/>
            <a:ext cx="291346"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N₂</a:t>
            </a:r>
          </a:p>
        </p:txBody>
      </p:sp>
      <p:sp>
        <p:nvSpPr>
          <p:cNvPr id="10" name="原题文字_364_48"/>
          <p:cNvSpPr txBox="1"/>
          <p:nvPr/>
        </p:nvSpPr>
        <p:spPr>
          <a:xfrm>
            <a:off x="918078" y="1899072"/>
            <a:ext cx="154712" cy="143466"/>
          </a:xfrm>
          <a:prstGeom prst="rect">
            <a:avLst/>
          </a:prstGeom>
          <a:noFill/>
        </p:spPr>
        <p:txBody>
          <a:bodyPr wrap="none" lIns="0" rIns="0" tIns="0" bIns="0">
            <a:spAutoFit/>
          </a:bodyPr>
          <a:lstStyle/>
          <a:p>
            <a:pPr>
              <a:lnSpc>
                <a:spcPct val="112000"/>
              </a:lnSpc>
              <a:spcBef>
                <a:spcPts val="0"/>
              </a:spcBef>
              <a:spcAft>
                <a:spcPts val="0"/>
              </a:spcAft>
              <a:defRPr sz="695" b="0">
                <a:solidFill>
                  <a:srgbClr val="333333"/>
                </a:solidFill>
                <a:latin typeface="微软雅黑"/>
              </a:defRPr>
            </a:pPr>
            <a:r>
              <a:rPr>
                <a:ea typeface="微软雅黑"/>
              </a:rPr>
              <a:t>a</a:t>
            </a:r>
          </a:p>
        </p:txBody>
      </p:sp>
      <p:sp>
        <p:nvSpPr>
          <p:cNvPr id="11" name="原题文字_364_49"/>
          <p:cNvSpPr txBox="1"/>
          <p:nvPr/>
        </p:nvSpPr>
        <p:spPr>
          <a:xfrm>
            <a:off x="2631264" y="1846520"/>
            <a:ext cx="170477" cy="198120"/>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d</a:t>
            </a:r>
          </a:p>
        </p:txBody>
      </p:sp>
      <p:sp>
        <p:nvSpPr>
          <p:cNvPr id="12" name="原题文字_364_50"/>
          <p:cNvSpPr txBox="1"/>
          <p:nvPr/>
        </p:nvSpPr>
        <p:spPr>
          <a:xfrm>
            <a:off x="844506" y="1998920"/>
            <a:ext cx="228284" cy="184456"/>
          </a:xfrm>
          <a:prstGeom prst="rect">
            <a:avLst/>
          </a:prstGeom>
          <a:noFill/>
        </p:spPr>
        <p:txBody>
          <a:bodyPr wrap="none" lIns="0" rIns="0" tIns="0" bIns="0">
            <a:spAutoFit/>
          </a:bodyPr>
          <a:lstStyle/>
          <a:p>
            <a:pPr>
              <a:lnSpc>
                <a:spcPct val="112000"/>
              </a:lnSpc>
              <a:spcBef>
                <a:spcPts val="0"/>
              </a:spcBef>
              <a:spcAft>
                <a:spcPts val="0"/>
              </a:spcAft>
              <a:defRPr sz="893" b="0">
                <a:solidFill>
                  <a:srgbClr val="333333"/>
                </a:solidFill>
                <a:latin typeface="微软雅黑"/>
              </a:defRPr>
            </a:pPr>
            <a:r>
              <a:rPr>
                <a:ea typeface="微软雅黑"/>
              </a:rPr>
              <a:t>=</a:t>
            </a:r>
          </a:p>
        </p:txBody>
      </p:sp>
      <p:sp>
        <p:nvSpPr>
          <p:cNvPr id="13" name="原题文字_364_51"/>
          <p:cNvSpPr txBox="1"/>
          <p:nvPr/>
        </p:nvSpPr>
        <p:spPr>
          <a:xfrm>
            <a:off x="3682299" y="2004175"/>
            <a:ext cx="238795"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丙</a:t>
            </a:r>
          </a:p>
        </p:txBody>
      </p:sp>
      <p:sp>
        <p:nvSpPr>
          <p:cNvPr id="14" name="原题文字_364_52"/>
          <p:cNvSpPr txBox="1"/>
          <p:nvPr/>
        </p:nvSpPr>
        <p:spPr>
          <a:xfrm>
            <a:off x="1165071" y="2104023"/>
            <a:ext cx="249305" cy="252773"/>
          </a:xfrm>
          <a:prstGeom prst="rect">
            <a:avLst/>
          </a:prstGeom>
          <a:noFill/>
        </p:spPr>
        <p:txBody>
          <a:bodyPr wrap="none" lIns="0" rIns="0" tIns="0" bIns="0">
            <a:spAutoFit/>
          </a:bodyPr>
          <a:lstStyle/>
          <a:p>
            <a:pPr>
              <a:lnSpc>
                <a:spcPct val="112000"/>
              </a:lnSpc>
              <a:spcBef>
                <a:spcPts val="0"/>
              </a:spcBef>
              <a:spcAft>
                <a:spcPts val="0"/>
              </a:spcAft>
              <a:defRPr sz="1224" b="0">
                <a:solidFill>
                  <a:srgbClr val="333333"/>
                </a:solidFill>
                <a:latin typeface="微软雅黑"/>
              </a:defRPr>
            </a:pPr>
            <a:r>
              <a:rPr>
                <a:ea typeface="微软雅黑"/>
              </a:rPr>
              <a:t>IF</a:t>
            </a:r>
          </a:p>
        </p:txBody>
      </p:sp>
      <p:sp>
        <p:nvSpPr>
          <p:cNvPr id="15" name="原题文字_364_53"/>
          <p:cNvSpPr txBox="1"/>
          <p:nvPr/>
        </p:nvSpPr>
        <p:spPr>
          <a:xfrm>
            <a:off x="4286644" y="2072492"/>
            <a:ext cx="790588" cy="239110"/>
          </a:xfrm>
          <a:prstGeom prst="rect">
            <a:avLst/>
          </a:prstGeom>
          <a:noFill/>
        </p:spPr>
        <p:txBody>
          <a:bodyPr wrap="none" lIns="0" rIns="0" tIns="0" bIns="0">
            <a:spAutoFit/>
          </a:bodyPr>
          <a:lstStyle/>
          <a:p>
            <a:pPr>
              <a:lnSpc>
                <a:spcPct val="112000"/>
              </a:lnSpc>
              <a:spcBef>
                <a:spcPts val="0"/>
              </a:spcBef>
              <a:spcAft>
                <a:spcPts val="0"/>
              </a:spcAft>
              <a:defRPr sz="1105" b="0">
                <a:solidFill>
                  <a:srgbClr val="333333"/>
                </a:solidFill>
                <a:latin typeface="微软雅黑"/>
              </a:defRPr>
            </a:pPr>
            <a:r>
              <a:rPr>
                <a:ea typeface="微软雅黑"/>
              </a:rPr>
              <a:t>-FeSO₄溶液</a:t>
            </a:r>
          </a:p>
        </p:txBody>
      </p:sp>
      <p:sp>
        <p:nvSpPr>
          <p:cNvPr id="16" name="原题文字_364_54"/>
          <p:cNvSpPr txBox="1"/>
          <p:nvPr/>
        </p:nvSpPr>
        <p:spPr>
          <a:xfrm>
            <a:off x="1827223" y="2356272"/>
            <a:ext cx="422726" cy="266437"/>
          </a:xfrm>
          <a:prstGeom prst="rect">
            <a:avLst/>
          </a:prstGeom>
          <a:noFill/>
        </p:spPr>
        <p:txBody>
          <a:bodyPr wrap="none" lIns="0" rIns="0" tIns="0" bIns="0">
            <a:spAutoFit/>
          </a:bodyPr>
          <a:lstStyle/>
          <a:p>
            <a:pPr>
              <a:lnSpc>
                <a:spcPct val="112000"/>
              </a:lnSpc>
              <a:spcBef>
                <a:spcPts val="0"/>
              </a:spcBef>
              <a:spcAft>
                <a:spcPts val="0"/>
              </a:spcAft>
              <a:defRPr sz="1291" b="0">
                <a:solidFill>
                  <a:srgbClr val="333333"/>
                </a:solidFill>
                <a:latin typeface="微软雅黑"/>
              </a:defRPr>
            </a:pPr>
            <a:r>
              <a:rPr>
                <a:ea typeface="微软雅黑"/>
              </a:rPr>
              <a:t>Cu片</a:t>
            </a:r>
          </a:p>
        </p:txBody>
      </p:sp>
      <p:sp>
        <p:nvSpPr>
          <p:cNvPr id="17" name="原题文字_364_55"/>
          <p:cNvSpPr txBox="1"/>
          <p:nvPr/>
        </p:nvSpPr>
        <p:spPr>
          <a:xfrm>
            <a:off x="2904533" y="2534948"/>
            <a:ext cx="385939" cy="273268"/>
          </a:xfrm>
          <a:prstGeom prst="rect">
            <a:avLst/>
          </a:prstGeom>
          <a:noFill/>
        </p:spPr>
        <p:txBody>
          <a:bodyPr wrap="none" lIns="0" rIns="0" tIns="0" bIns="0">
            <a:spAutoFit/>
          </a:bodyPr>
          <a:lstStyle/>
          <a:p>
            <a:pPr>
              <a:lnSpc>
                <a:spcPct val="112000"/>
              </a:lnSpc>
              <a:spcBef>
                <a:spcPts val="0"/>
              </a:spcBef>
              <a:spcAft>
                <a:spcPts val="0"/>
              </a:spcAft>
              <a:defRPr sz="1122" b="0">
                <a:solidFill>
                  <a:srgbClr val="333333"/>
                </a:solidFill>
                <a:latin typeface="微软雅黑"/>
              </a:defRPr>
            </a:pPr>
            <a:r>
              <a:rPr>
                <a:ea typeface="微软雅黑"/>
              </a:rPr>
              <a:t>-H₂O</a:t>
            </a:r>
          </a:p>
        </p:txBody>
      </p:sp>
      <p:sp>
        <p:nvSpPr>
          <p:cNvPr id="18" name="原题文字_364_56"/>
          <p:cNvSpPr txBox="1"/>
          <p:nvPr/>
        </p:nvSpPr>
        <p:spPr>
          <a:xfrm>
            <a:off x="1427830" y="2703113"/>
            <a:ext cx="228284" cy="252773"/>
          </a:xfrm>
          <a:prstGeom prst="rect">
            <a:avLst/>
          </a:prstGeom>
          <a:noFill/>
        </p:spPr>
        <p:txBody>
          <a:bodyPr wrap="none" lIns="0" rIns="0" tIns="0" bIns="0">
            <a:spAutoFit/>
          </a:bodyPr>
          <a:lstStyle/>
          <a:p>
            <a:pPr>
              <a:lnSpc>
                <a:spcPct val="112000"/>
              </a:lnSpc>
              <a:spcBef>
                <a:spcPts val="0"/>
              </a:spcBef>
              <a:spcAft>
                <a:spcPts val="0"/>
              </a:spcAft>
              <a:defRPr sz="1224" b="0">
                <a:solidFill>
                  <a:srgbClr val="333333"/>
                </a:solidFill>
                <a:latin typeface="微软雅黑"/>
              </a:defRPr>
            </a:pPr>
            <a:r>
              <a:rPr>
                <a:ea typeface="微软雅黑"/>
              </a:rPr>
              <a:t>甲</a:t>
            </a:r>
          </a:p>
        </p:txBody>
      </p:sp>
      <p:sp>
        <p:nvSpPr>
          <p:cNvPr id="19" name="原题文字_364_57"/>
          <p:cNvSpPr txBox="1"/>
          <p:nvPr/>
        </p:nvSpPr>
        <p:spPr>
          <a:xfrm>
            <a:off x="4244602" y="2739899"/>
            <a:ext cx="969264" cy="266437"/>
          </a:xfrm>
          <a:prstGeom prst="rect">
            <a:avLst/>
          </a:prstGeom>
          <a:noFill/>
        </p:spPr>
        <p:txBody>
          <a:bodyPr wrap="none" lIns="0" rIns="0" tIns="0" bIns="0">
            <a:spAutoFit/>
          </a:bodyPr>
          <a:lstStyle/>
          <a:p>
            <a:pPr>
              <a:lnSpc>
                <a:spcPct val="112000"/>
              </a:lnSpc>
              <a:spcBef>
                <a:spcPts val="0"/>
              </a:spcBef>
              <a:spcAft>
                <a:spcPts val="0"/>
              </a:spcAft>
              <a:defRPr sz="1032" b="0">
                <a:solidFill>
                  <a:srgbClr val="333333"/>
                </a:solidFill>
                <a:latin typeface="微软雅黑"/>
              </a:defRPr>
            </a:pPr>
            <a:r>
              <a:rPr>
                <a:ea typeface="微软雅黑"/>
              </a:rPr>
              <a:t>-Fe₂(SO₄)₃溶液</a:t>
            </a:r>
          </a:p>
        </p:txBody>
      </p:sp>
      <p:sp>
        <p:nvSpPr>
          <p:cNvPr id="20" name="原题文字_364_58"/>
          <p:cNvSpPr txBox="1"/>
          <p:nvPr/>
        </p:nvSpPr>
        <p:spPr>
          <a:xfrm>
            <a:off x="2573457" y="2813472"/>
            <a:ext cx="244050"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乙</a:t>
            </a:r>
          </a:p>
        </p:txBody>
      </p:sp>
      <p:sp>
        <p:nvSpPr>
          <p:cNvPr id="21" name="文字_(1) 盛放浓硝酸的仪器名称为"/>
          <p:cNvSpPr txBox="1"/>
          <p:nvPr/>
        </p:nvSpPr>
        <p:spPr>
          <a:xfrm>
            <a:off x="502920" y="315052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(1) 盛放浓硝酸的仪器名称为</a:t>
            </a:r>
          </a:p>
        </p:txBody>
      </p:sp>
      <p:sp>
        <p:nvSpPr>
          <p:cNvPr id="22" name="文字_(2)在反应开始前，先通一段时间N₂，此时应打开"/>
          <p:cNvSpPr txBox="1"/>
          <p:nvPr/>
        </p:nvSpPr>
        <p:spPr>
          <a:xfrm>
            <a:off x="502920" y="336998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(2)在反应开始前，先通一段时间N₂，此时应打开活塞 ______ ，其余活塞保持关闭状态。</a:t>
            </a:r>
          </a:p>
        </p:txBody>
      </p:sp>
      <p:sp>
        <p:nvSpPr>
          <p:cNvPr id="23" name="文字_(3)预通N₂完毕后，A同学欲先检验NO，则应关"/>
          <p:cNvSpPr txBox="1"/>
          <p:nvPr/>
        </p:nvSpPr>
        <p:spPr>
          <a:xfrm>
            <a:off x="502920" y="3589440"/>
            <a:ext cx="11064240" cy="582168"/>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(3)预通N₂完毕后，A同学欲先检验NO，则应关闭活塞 ______ ，并将其余活塞打开。此时甲中发生反应的离子方程式为 ______ 。观察丙、丁中的现象，发现反应后</a:t>
            </a:r>
          </a:p>
          <a:p>
            <a:pPr>
              <a:lnSpc>
                <a:spcPct val="112000"/>
              </a:lnSpc>
              <a:spcBef>
                <a:spcPts val="0"/>
              </a:spcBef>
              <a:spcAft>
                <a:spcPts val="0"/>
              </a:spcAft>
              <a:defRPr sz="1200" b="0">
                <a:solidFill>
                  <a:srgbClr val="333333"/>
                </a:solidFill>
                <a:latin typeface="微软雅黑"/>
              </a:defRPr>
            </a:pPr>
            <a:r>
              <a:rPr>
                <a:ea typeface="微软雅黑"/>
              </a:rPr>
              <a:t>丙中溶液变为深棕色，丁中溶液无明显变化。A同学由此得到结论1：NO能与Fe²⁺反应，产物呈深棕色。再通一段时间N₂，并更新丙、丁中试剂。关闭活塞a、c，</a:t>
            </a:r>
          </a:p>
          <a:p>
            <a:pPr>
              <a:lnSpc>
                <a:spcPct val="112000"/>
              </a:lnSpc>
              <a:spcBef>
                <a:spcPts val="0"/>
              </a:spcBef>
              <a:spcAft>
                <a:spcPts val="0"/>
              </a:spcAft>
              <a:defRPr sz="1200" b="0">
                <a:solidFill>
                  <a:srgbClr val="333333"/>
                </a:solidFill>
                <a:latin typeface="微软雅黑"/>
              </a:defRPr>
            </a:pPr>
            <a:r>
              <a:rPr>
                <a:ea typeface="微软雅黑"/>
              </a:rPr>
              <a:t>打开b、d，将NO₂通入丙、丁中，发现丙中溶液变为深棕色，丁中溶液无明显变化。A同学由此得到结论2：</a:t>
            </a:r>
          </a:p>
        </p:txBody>
      </p:sp>
      <p:sp>
        <p:nvSpPr>
          <p:cNvPr id="24" name="文字_NO₂也可与Fe²⁺反应，产物呈深棕色。"/>
          <p:cNvSpPr txBox="1"/>
          <p:nvPr/>
        </p:nvSpPr>
        <p:spPr>
          <a:xfrm>
            <a:off x="502920" y="417160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NO₂也可与Fe²⁺反应，产物呈深棕色。</a:t>
            </a:r>
          </a:p>
        </p:txBody>
      </p:sp>
      <p:sp>
        <p:nvSpPr>
          <p:cNvPr id="25" name="文字_(4)B同学查证资料发现，NO和Fe²⁺能结合生"/>
          <p:cNvSpPr txBox="1"/>
          <p:nvPr/>
        </p:nvSpPr>
        <p:spPr>
          <a:xfrm>
            <a:off x="502920" y="439106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(4)B同学查证资料发现，NO和Fe²⁺能结合生成深棕色离子，而NO₂不能与Fe²⁺结合。B推测A同学将NO₂通入丙中，丙中溶液变为深棕色的原因可能是 ______ O</a:t>
            </a:r>
          </a:p>
        </p:txBody>
      </p:sp>
      <p:sp>
        <p:nvSpPr>
          <p:cNvPr id="26" name="文字_(5)实验中为防止氮氧化物污染，应在丙和丁后面接"/>
          <p:cNvSpPr txBox="1"/>
          <p:nvPr/>
        </p:nvSpPr>
        <p:spPr>
          <a:xfrm>
            <a:off x="502920" y="461052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(5)实验中为防止氮氧化物污染，应在丙和丁后面接上尾气吸收装置，可采用 ______ 试剂；</a:t>
            </a:r>
          </a:p>
        </p:txBody>
      </p:sp>
      <p:sp>
        <p:nvSpPr>
          <p:cNvPr id="27" name="文字_(6)实验结束后，同学们发现装置甲中溶液呈绿色，"/>
          <p:cNvSpPr txBox="1"/>
          <p:nvPr/>
        </p:nvSpPr>
        <p:spPr>
          <a:xfrm>
            <a:off x="502920" y="4829976"/>
            <a:ext cx="11064240" cy="400811"/>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(6)实验结束后，同学们发现装置甲中溶液呈绿色，而不显蓝色。A同学认为是该溶液中硝酸铜的质量分数较高所致，而B同学认为是该溶液中溶解了生成的气体。同学</a:t>
            </a:r>
          </a:p>
          <a:p>
            <a:pPr>
              <a:lnSpc>
                <a:spcPct val="112000"/>
              </a:lnSpc>
              <a:spcBef>
                <a:spcPts val="0"/>
              </a:spcBef>
              <a:spcAft>
                <a:spcPts val="0"/>
              </a:spcAft>
              <a:defRPr sz="1200" b="0">
                <a:solidFill>
                  <a:srgbClr val="333333"/>
                </a:solidFill>
                <a:latin typeface="微软雅黑"/>
              </a:defRPr>
            </a:pPr>
            <a:r>
              <a:rPr>
                <a:ea typeface="微软雅黑"/>
              </a:rPr>
              <a:t>们分别设计了以下4个实验方案来判断两种看法是否正确。这些方案中可行的是</a:t>
            </a:r>
          </a:p>
        </p:txBody>
      </p:sp>
      <p:sp>
        <p:nvSpPr>
          <p:cNvPr id="28" name="文字_A. 加热该绿色溶液，观察颜色变化"/>
          <p:cNvSpPr txBox="1"/>
          <p:nvPr/>
        </p:nvSpPr>
        <p:spPr>
          <a:xfrm>
            <a:off x="502920" y="523078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A. 加热该绿色溶液，观察颜色变化</a:t>
            </a:r>
          </a:p>
        </p:txBody>
      </p:sp>
      <p:sp>
        <p:nvSpPr>
          <p:cNvPr id="29" name="文字_B. 加水稀释该绿色溶液，观察颜色变化"/>
          <p:cNvSpPr txBox="1"/>
          <p:nvPr/>
        </p:nvSpPr>
        <p:spPr>
          <a:xfrm>
            <a:off x="502920" y="545024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B. 加水稀释该绿色溶液，观察颜色变化</a:t>
            </a:r>
          </a:p>
        </p:txBody>
      </p:sp>
      <p:sp>
        <p:nvSpPr>
          <p:cNvPr id="30" name="文字_C. 向该绿色溶液中通入氮气，观察颜色变化"/>
          <p:cNvSpPr txBox="1"/>
          <p:nvPr/>
        </p:nvSpPr>
        <p:spPr>
          <a:xfrm>
            <a:off x="502920" y="566970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C. 向该绿色溶液中通入氮气，观察颜色变化</a:t>
            </a:r>
          </a:p>
        </p:txBody>
      </p:sp>
      <p:sp>
        <p:nvSpPr>
          <p:cNvPr id="31" name="文字_D. 向饱和硝酸铜溶液中通入浓硝酸与铜反应产生的"/>
          <p:cNvSpPr txBox="1"/>
          <p:nvPr/>
        </p:nvSpPr>
        <p:spPr>
          <a:xfrm>
            <a:off x="502920" y="5889156"/>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D. 向饱和硝酸铜溶液中通入浓硝酸与铜反应产生的气体，观察颜色变化</a:t>
            </a:r>
          </a:p>
        </p:txBody>
      </p:sp>
      <p:sp>
        <p:nvSpPr>
          <p:cNvPr id="32" name="文字_解答题  ·  16-08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16-083</a:t>
            </a:r>
          </a:p>
        </p:txBody>
      </p:sp>
      <p:sp>
        <p:nvSpPr>
          <p:cNvPr id="33" name="文字_9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二) · 检测题2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阶段检测(二) · 检测题26</a:t>
            </a:r>
          </a:p>
        </p:txBody>
      </p:sp>
      <p:sp>
        <p:nvSpPr>
          <p:cNvPr id="5" name="文字_P3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P365</a:t>
            </a:r>
          </a:p>
        </p:txBody>
      </p:sp>
      <p:sp>
        <p:nvSpPr>
          <p:cNvPr id="6" name="文字_取ag铁粉投入600mL某浓度的稀HNO₃溶液中"/>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取ag铁粉投入600mL某浓度的稀HNO₃溶液中，充分反应后铁粉完全溶解，硝酸</a:t>
            </a:r>
          </a:p>
          <a:p>
            <a:pPr>
              <a:lnSpc>
                <a:spcPct val="112000"/>
              </a:lnSpc>
              <a:spcBef>
                <a:spcPts val="0"/>
              </a:spcBef>
              <a:spcAft>
                <a:spcPts val="0"/>
              </a:spcAft>
              <a:defRPr sz="2400" b="0">
                <a:solidFill>
                  <a:srgbClr val="333333"/>
                </a:solidFill>
                <a:latin typeface="微软雅黑"/>
              </a:defRPr>
            </a:pPr>
            <a:r>
              <a:rPr>
                <a:ea typeface="微软雅黑"/>
              </a:rPr>
              <a:t>恰好完全反应，同时生成标准状况下NO气体6.72L(硝酸的还原产物只有一种)。向</a:t>
            </a:r>
          </a:p>
          <a:p>
            <a:pPr>
              <a:lnSpc>
                <a:spcPct val="112000"/>
              </a:lnSpc>
              <a:spcBef>
                <a:spcPts val="0"/>
              </a:spcBef>
              <a:spcAft>
                <a:spcPts val="0"/>
              </a:spcAft>
              <a:defRPr sz="2400" b="0">
                <a:solidFill>
                  <a:srgbClr val="333333"/>
                </a:solidFill>
                <a:latin typeface="微软雅黑"/>
              </a:defRPr>
            </a:pPr>
            <a:r>
              <a:rPr>
                <a:ea typeface="微软雅黑"/>
              </a:rPr>
              <a:t>反应后的溶液中加入足量NaOH溶液，将沉淀过滤、洗涤、充分灼烧得32g红棕色</a:t>
            </a:r>
          </a:p>
          <a:p>
            <a:pPr>
              <a:lnSpc>
                <a:spcPct val="112000"/>
              </a:lnSpc>
              <a:spcBef>
                <a:spcPts val="0"/>
              </a:spcBef>
              <a:spcAft>
                <a:spcPts val="0"/>
              </a:spcAft>
              <a:defRPr sz="2400" b="0">
                <a:solidFill>
                  <a:srgbClr val="333333"/>
                </a:solidFill>
                <a:latin typeface="微软雅黑"/>
              </a:defRPr>
            </a:pPr>
            <a:r>
              <a:rPr>
                <a:ea typeface="微软雅黑"/>
              </a:rPr>
              <a:t>固体。完成以下问题：</a:t>
            </a:r>
          </a:p>
        </p:txBody>
      </p:sp>
      <p:sp>
        <p:nvSpPr>
          <p:cNvPr id="7" name="文字_(1) a ="/>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a =</a:t>
            </a:r>
          </a:p>
        </p:txBody>
      </p:sp>
      <p:sp>
        <p:nvSpPr>
          <p:cNvPr id="8" name="文字_(2) 原稀HNO₃溶液的物质的量浓度为 ___"/>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原稀HNO₃溶液的物质的量浓度为 ______ mol/L;</a:t>
            </a:r>
          </a:p>
        </p:txBody>
      </p:sp>
      <p:sp>
        <p:nvSpPr>
          <p:cNvPr id="9" name="文字_(3) ag铁粉和600mL该浓度的稀HNO₃溶"/>
          <p:cNvSpPr txBox="1"/>
          <p:nvPr/>
        </p:nvSpPr>
        <p:spPr>
          <a:xfrm>
            <a:off x="502920" y="3483863"/>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ag铁粉和600mL该浓度的稀HNO₃溶液反应后，所得溶液最多还可溶解铁粉 __</a:t>
            </a:r>
          </a:p>
          <a:p>
            <a:pPr>
              <a:lnSpc>
                <a:spcPct val="112000"/>
              </a:lnSpc>
              <a:spcBef>
                <a:spcPts val="0"/>
              </a:spcBef>
              <a:spcAft>
                <a:spcPts val="0"/>
              </a:spcAft>
              <a:defRPr sz="2400" b="0">
                <a:solidFill>
                  <a:srgbClr val="333333"/>
                </a:solidFill>
                <a:latin typeface="微软雅黑"/>
              </a:defRPr>
            </a:pPr>
            <a:r>
              <a:rPr>
                <a:ea typeface="微软雅黑"/>
              </a:rPr>
              <a:t>____ go</a:t>
            </a:r>
          </a:p>
        </p:txBody>
      </p:sp>
      <p:sp>
        <p:nvSpPr>
          <p:cNvPr id="10" name="文字_解答题  ·  16-08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16-084</a:t>
            </a:r>
          </a:p>
        </p:txBody>
      </p:sp>
      <p:sp>
        <p:nvSpPr>
          <p:cNvPr id="11"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第16章 无机综合应用</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
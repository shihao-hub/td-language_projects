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P54；PDF 文件第 56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P54；PDF 文件第 56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P54；PDF 文件第 56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P54；PDF 文件第 56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原题定位：知识点1氧化还原基础 / 例题 1 / 单选题</a:t>
            </a:r>
          </a:p>
          <a:p>
            <a:r>
              <a:t>讲义印刷页：P55</a:t>
            </a:r>
          </a:p>
          <a:p>
            <a:r>
              <a:t>PDF 文件页：57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原题定位：知识点1氧化还原基础 / 例题 2 / 解答题</a:t>
            </a:r>
          </a:p>
          <a:p>
            <a:r>
              <a:t>讲义印刷页：P56</a:t>
            </a:r>
          </a:p>
          <a:p>
            <a:r>
              <a:t>PDF 文件页：58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原题定位：知识点1氧化还原基础 / 例题 3 / 单选题</a:t>
            </a:r>
          </a:p>
          <a:p>
            <a:r>
              <a:t>讲义印刷页：P56</a:t>
            </a:r>
          </a:p>
          <a:p>
            <a:r>
              <a:t>PDF 文件页：58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原题定位：知识点1氧化还原基础 / 例题 4 / 单选题</a:t>
            </a:r>
          </a:p>
          <a:p>
            <a:r>
              <a:t>讲义印刷页：P56</a:t>
            </a:r>
          </a:p>
          <a:p>
            <a:r>
              <a:t>PDF 文件页：58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原题定位：知识点1氧化还原基础 / 例题 5 / 单选题</a:t>
            </a:r>
          </a:p>
          <a:p>
            <a:r>
              <a:t>讲义印刷页：P57</a:t>
            </a:r>
          </a:p>
          <a:p>
            <a:r>
              <a:t>PDF 文件页：59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P57：6e⁻</a:t>
            </a:r>
          </a:p>
          <a:p>
            <a:r>
              <a:t>P57：=2PCl₅</a:t>
            </a:r>
          </a:p>
          <a:p>
            <a:r>
              <a:t>P57：Fe₂O₃ + 3CO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原题定位：知识点1氧化还原基础 / 例题 6 / 填空题</a:t>
            </a:r>
          </a:p>
          <a:p>
            <a:r>
              <a:t>讲义印刷页：P57</a:t>
            </a:r>
          </a:p>
          <a:p>
            <a:r>
              <a:t>PDF 文件页：59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P57：∆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原题定位：知识点1氧化还原基础 / 例题 7 / 解答题</a:t>
            </a:r>
          </a:p>
          <a:p>
            <a:r>
              <a:t>讲义印刷页：P57</a:t>
            </a:r>
          </a:p>
          <a:p>
            <a:r>
              <a:t>PDF 文件页：59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原题定位：知识点1氧化还原基础 / 变式 1 / 单选题</a:t>
            </a:r>
          </a:p>
          <a:p>
            <a:r>
              <a:t>讲义印刷页：P58</a:t>
            </a:r>
          </a:p>
          <a:p>
            <a:r>
              <a:t>PDF 文件页：60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原题定位：知识点1氧化还原基础 / 变式 2 / 单选题</a:t>
            </a:r>
          </a:p>
          <a:p>
            <a:r>
              <a:t>讲义印刷页：P58</a:t>
            </a:r>
          </a:p>
          <a:p>
            <a:r>
              <a:t>PDF 文件页：60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原题定位：知识点1氧化还原基础 / 变式 3 / 单选题</a:t>
            </a:r>
          </a:p>
          <a:p>
            <a:r>
              <a:t>讲义印刷页：P58</a:t>
            </a:r>
          </a:p>
          <a:p>
            <a:r>
              <a:t>PDF 文件页：60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原题定位：知识点1氧化还原基础 / 变式 4 / 单选题</a:t>
            </a:r>
          </a:p>
          <a:p>
            <a:r>
              <a:t>讲义印刷页：P58</a:t>
            </a:r>
          </a:p>
          <a:p>
            <a:r>
              <a:t>PDF 文件页：60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原题定位：知识点1氧化还原基础 / 变式 5 / 单选题</a:t>
            </a:r>
          </a:p>
          <a:p>
            <a:r>
              <a:t>讲义印刷页：P58</a:t>
            </a:r>
          </a:p>
          <a:p>
            <a:r>
              <a:t>PDF 文件页：60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原题定位：知识点1氧化还原基础 / 变式 6 / 单选题</a:t>
            </a:r>
          </a:p>
          <a:p>
            <a:r>
              <a:t>讲义印刷页：P58</a:t>
            </a:r>
          </a:p>
          <a:p>
            <a:r>
              <a:t>PDF 文件页：60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原题定位：知识点1氧化还原基础 / 变式 7 / 单选题</a:t>
            </a:r>
          </a:p>
          <a:p>
            <a:r>
              <a:t>讲义印刷页：P59</a:t>
            </a:r>
          </a:p>
          <a:p>
            <a:r>
              <a:t>PDF 文件页：61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原题定位：知识点1氧化还原基础 / 变式 8 / 单选题</a:t>
            </a:r>
          </a:p>
          <a:p>
            <a:r>
              <a:t>讲义印刷页：P59</a:t>
            </a:r>
          </a:p>
          <a:p>
            <a:r>
              <a:t>PDF 文件页：61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原题定位：知识点1氧化还原基础 / 变式 9 / 单选题</a:t>
            </a:r>
          </a:p>
          <a:p>
            <a:r>
              <a:t>讲义印刷页：P59</a:t>
            </a:r>
          </a:p>
          <a:p>
            <a:r>
              <a:t>PDF 文件页：61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P59：个</a:t>
            </a:r>
          </a:p>
          <a:p>
            <a:r>
              <a:t>P59：个</a:t>
            </a:r>
          </a:p>
          <a:p>
            <a:r>
              <a:t>P59：个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原题定位：知识点1氧化还原基础 / 变式 10 / 解答题</a:t>
            </a:r>
          </a:p>
          <a:p>
            <a:r>
              <a:t>讲义印刷页：P59</a:t>
            </a:r>
          </a:p>
          <a:p>
            <a:r>
              <a:t>PDF 文件页：61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P59：MnO₄⁻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P60；PDF 文件第 62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P60；PDF 文件第 62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P60；PDF 文件第 62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P60；PDF 文件第 62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原题定位：知识点1氧化还原反应的基本规律 / 例题 1 / 单选题</a:t>
            </a:r>
          </a:p>
          <a:p>
            <a:r>
              <a:t>讲义印刷页：P63</a:t>
            </a:r>
          </a:p>
          <a:p>
            <a:r>
              <a:t>PDF 文件页：65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原题定位：知识点1氧化还原反应的基本规律 / 例题 2 / 单选题</a:t>
            </a:r>
          </a:p>
          <a:p>
            <a:r>
              <a:t>讲义印刷页：P63</a:t>
            </a:r>
          </a:p>
          <a:p>
            <a:r>
              <a:t>PDF 文件页：65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原题定位：知识点1氧化还原反应的基本规律 / 例题 3 / 单选题</a:t>
            </a:r>
          </a:p>
          <a:p>
            <a:r>
              <a:t>讲义印刷页：P63</a:t>
            </a:r>
          </a:p>
          <a:p>
            <a:r>
              <a:t>PDF 文件页：65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原题定位：知识点1氧化还原反应的基本规律 / 例题 4 / 单选题</a:t>
            </a:r>
          </a:p>
          <a:p>
            <a:r>
              <a:t>讲义印刷页：P63</a:t>
            </a:r>
          </a:p>
          <a:p>
            <a:r>
              <a:t>PDF 文件页：65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原题定位：知识点1氧化还原反应的基本规律 / 例题 5 / 单选题</a:t>
            </a:r>
          </a:p>
          <a:p>
            <a:r>
              <a:t>讲义印刷页：P63</a:t>
            </a:r>
          </a:p>
          <a:p>
            <a:r>
              <a:t>PDF 文件页：65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原题定位：知识点1氧化还原反应的基本规律 / 例题 6 / 单选题</a:t>
            </a:r>
          </a:p>
          <a:p>
            <a:r>
              <a:t>讲义印刷页：P64</a:t>
            </a:r>
          </a:p>
          <a:p>
            <a:r>
              <a:t>PDF 文件页：66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原题定位：知识点1氧化还原反应的基本规律 / 例题 7 / 单选题</a:t>
            </a:r>
          </a:p>
          <a:p>
            <a:r>
              <a:t>讲义印刷页：P64</a:t>
            </a:r>
          </a:p>
          <a:p>
            <a:r>
              <a:t>PDF 文件页：66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原题定位：知识点1氧化还原反应的基本规律 / 例题 8 / 单选题</a:t>
            </a:r>
          </a:p>
          <a:p>
            <a:r>
              <a:t>讲义印刷页：P64</a:t>
            </a:r>
          </a:p>
          <a:p>
            <a:r>
              <a:t>PDF 文件页：66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原题定位：知识点1氧化还原反应的基本规律 / 例题 9 / 单选题</a:t>
            </a:r>
          </a:p>
          <a:p>
            <a:r>
              <a:t>讲义印刷页：P64</a:t>
            </a:r>
          </a:p>
          <a:p>
            <a:r>
              <a:t>PDF 文件页：66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原题定位：知识点1氧化还原反应的基本规律 / 例题 10 / 单选题</a:t>
            </a:r>
          </a:p>
          <a:p>
            <a:r>
              <a:t>讲义印刷页：P64</a:t>
            </a:r>
          </a:p>
          <a:p>
            <a:r>
              <a:t>PDF 文件页：66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原题定位：知识点1氧化还原反应的基本规律 / 变式 1 / 单选题</a:t>
            </a:r>
          </a:p>
          <a:p>
            <a:r>
              <a:t>讲义印刷页：P65</a:t>
            </a:r>
          </a:p>
          <a:p>
            <a:r>
              <a:t>PDF 文件页：67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原题定位：知识点1氧化还原反应的基本规律 / 变式 2 / 单选题</a:t>
            </a:r>
          </a:p>
          <a:p>
            <a:r>
              <a:t>讲义印刷页：P65</a:t>
            </a:r>
          </a:p>
          <a:p>
            <a:r>
              <a:t>PDF 文件页：67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原题定位：知识点1氧化还原反应的基本规律 / 变式 3 / 单选题</a:t>
            </a:r>
          </a:p>
          <a:p>
            <a:r>
              <a:t>讲义印刷页：P65</a:t>
            </a:r>
          </a:p>
          <a:p>
            <a:r>
              <a:t>PDF 文件页：67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原题定位：知识点1氧化还原反应的基本规律 / 变式 4 / 单选题</a:t>
            </a:r>
          </a:p>
          <a:p>
            <a:r>
              <a:t>讲义印刷页：P65</a:t>
            </a:r>
          </a:p>
          <a:p>
            <a:r>
              <a:t>PDF 文件页：67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原题定位：知识点1氧化还原反应的基本规律 / 变式 5 / 单选题</a:t>
            </a:r>
          </a:p>
          <a:p>
            <a:r>
              <a:t>讲义印刷页：P65</a:t>
            </a:r>
          </a:p>
          <a:p>
            <a:r>
              <a:t>PDF 文件页：67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原题定位：知识点1氧化还原反应的基本规律 / 变式 6 / 单选题</a:t>
            </a:r>
          </a:p>
          <a:p>
            <a:r>
              <a:t>讲义印刷页：P65</a:t>
            </a:r>
          </a:p>
          <a:p>
            <a:r>
              <a:t>PDF 文件页：67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原题定位：知识点1氧化还原反应的基本规律 / 变式 7 / 单选题</a:t>
            </a:r>
          </a:p>
          <a:p>
            <a:r>
              <a:t>讲义印刷页：P65</a:t>
            </a:r>
          </a:p>
          <a:p>
            <a:r>
              <a:t>PDF 文件页：67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原题定位：知识点1氧化还原反应的基本规律 / 变式 8 / 单选题</a:t>
            </a:r>
          </a:p>
          <a:p>
            <a:r>
              <a:t>讲义印刷页：P66</a:t>
            </a:r>
          </a:p>
          <a:p>
            <a:r>
              <a:t>PDF 文件页：68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原题定位：知识点1氧化还原反应的基本规律 / 变式 9 / 单选题</a:t>
            </a:r>
          </a:p>
          <a:p>
            <a:r>
              <a:t>讲义印刷页：P66</a:t>
            </a:r>
          </a:p>
          <a:p>
            <a:r>
              <a:t>PDF 文件页：68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原题定位：知识点1氧化还原反应的基本规律 / 变式 10 / 单选题</a:t>
            </a:r>
          </a:p>
          <a:p>
            <a:r>
              <a:t>讲义印刷页：P66</a:t>
            </a:r>
          </a:p>
          <a:p>
            <a:r>
              <a:t>PDF 文件页：68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P67；PDF 文件第 69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P67；PDF 文件第 69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P67；PDF 文件第 69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P67；PDF 文件第 69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原题定位：知识点2氧化还原配平 / 例题 1 / 填空题</a:t>
            </a:r>
          </a:p>
          <a:p>
            <a:r>
              <a:t>讲义印刷页：P68</a:t>
            </a:r>
          </a:p>
          <a:p>
            <a:r>
              <a:t>PDF 文件页：70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P68：(4)H₂S⁺__SO₂=_S↓+_H₂O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原题定位：知识点2氧化还原配平 / 例题 2 / 填空题</a:t>
            </a:r>
          </a:p>
          <a:p>
            <a:r>
              <a:t>讲义印刷页：P68, P69</a:t>
            </a:r>
          </a:p>
          <a:p>
            <a:r>
              <a:t>PDF 文件页：70, 71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P68：_Cl²⁺_</a:t>
            </a:r>
          </a:p>
          <a:p>
            <a:r>
              <a:t>P69：NO₂↑+_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原题定位：知识点2氧化还原配平 / 例题 3 / 解答题</a:t>
            </a:r>
          </a:p>
          <a:p>
            <a:r>
              <a:t>讲义印刷页：P69</a:t>
            </a:r>
          </a:p>
          <a:p>
            <a:r>
              <a:t>PDF 文件页：71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P69：_H₃PO₄⁺</a:t>
            </a:r>
          </a:p>
          <a:p>
            <a:r>
              <a:t>P69：_H+;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原题定位：知识点2氧化还原配平 / 例题 4 / 单选题</a:t>
            </a:r>
          </a:p>
          <a:p>
            <a:r>
              <a:t>讲义印刷页：P69</a:t>
            </a:r>
          </a:p>
          <a:p>
            <a:r>
              <a:t>PDF 文件页：71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原题定位：知识点2氧化还原配平 / 例题 5 / 解答题</a:t>
            </a:r>
          </a:p>
          <a:p>
            <a:r>
              <a:t>讲义印刷页：P69</a:t>
            </a:r>
          </a:p>
          <a:p>
            <a:r>
              <a:t>PDF 文件页：71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P69：+</a:t>
            </a:r>
          </a:p>
          <a:p>
            <a:r>
              <a:t>P69：+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原题定位：知识点2氧化还原配平 / 变式 1 / 填空题</a:t>
            </a:r>
          </a:p>
          <a:p>
            <a:r>
              <a:t>讲义印刷页：P69</a:t>
            </a:r>
          </a:p>
          <a:p>
            <a:r>
              <a:t>PDF 文件页：71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P69：(4) _S+__OH=__S²⁻+__SO₂⁻3+_H₂O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原题定位：知识点2氧化还原配平 / 变式 2 / 填空题</a:t>
            </a:r>
          </a:p>
          <a:p>
            <a:r>
              <a:t>讲义印刷页：P70</a:t>
            </a:r>
          </a:p>
          <a:p>
            <a:r>
              <a:t>PDF 文件页：72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原题定位：知识点2氧化还原配平 / 变式 3 / 单选题</a:t>
            </a:r>
          </a:p>
          <a:p>
            <a:r>
              <a:t>讲义印刷页：P70</a:t>
            </a:r>
          </a:p>
          <a:p>
            <a:r>
              <a:t>PDF 文件页：72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原题定位：知识点2氧化还原配平 / 变式 4 / 填空题</a:t>
            </a:r>
          </a:p>
          <a:p>
            <a:r>
              <a:t>讲义印刷页：P70</a:t>
            </a:r>
          </a:p>
          <a:p>
            <a:r>
              <a:t>PDF 文件页：72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P70：K₂SO₄₄ +</a:t>
            </a:r>
          </a:p>
          <a:p>
            <a:r>
              <a:t>P70：H₂O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P71；PDF 文件第 73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P71；PDF 文件第 73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例题 1 / 单选题</a:t>
            </a:r>
          </a:p>
          <a:p>
            <a:r>
              <a:t>讲义印刷页：P71</a:t>
            </a:r>
          </a:p>
          <a:p>
            <a:r>
              <a:t>PDF 文件页：73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P71：A. 2 :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例题 2 / 单选题</a:t>
            </a:r>
          </a:p>
          <a:p>
            <a:r>
              <a:t>讲义印刷页：P71</a:t>
            </a:r>
          </a:p>
          <a:p>
            <a:r>
              <a:t>PDF 文件页：73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例题 3 / 单选题</a:t>
            </a:r>
          </a:p>
          <a:p>
            <a:r>
              <a:t>讲义印刷页：P71</a:t>
            </a:r>
          </a:p>
          <a:p>
            <a:r>
              <a:t>PDF 文件页：73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例题 4 / 单选题</a:t>
            </a:r>
          </a:p>
          <a:p>
            <a:r>
              <a:t>讲义印刷页：P71</a:t>
            </a:r>
          </a:p>
          <a:p>
            <a:r>
              <a:t>PDF 文件页：73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例题 5 / 单选题</a:t>
            </a:r>
          </a:p>
          <a:p>
            <a:r>
              <a:t>讲义印刷页：P72</a:t>
            </a:r>
          </a:p>
          <a:p>
            <a:r>
              <a:t>PDF 文件页：74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P72：Ni³⁺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例题 6 / 单选题</a:t>
            </a:r>
          </a:p>
          <a:p>
            <a:r>
              <a:t>讲义印刷页：P72</a:t>
            </a:r>
          </a:p>
          <a:p>
            <a:r>
              <a:t>PDF 文件页：74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例题 7 / 单选题</a:t>
            </a:r>
          </a:p>
          <a:p>
            <a:r>
              <a:t>讲义印刷页：P72</a:t>
            </a:r>
          </a:p>
          <a:p>
            <a:r>
              <a:t>PDF 文件页：74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例题 8 / 填空题</a:t>
            </a:r>
          </a:p>
          <a:p>
            <a:r>
              <a:t>讲义印刷页：P72</a:t>
            </a:r>
          </a:p>
          <a:p>
            <a:r>
              <a:t>PDF 文件页：74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例题 9 / 单选题</a:t>
            </a:r>
          </a:p>
          <a:p>
            <a:r>
              <a:t>讲义印刷页：P73</a:t>
            </a:r>
          </a:p>
          <a:p>
            <a:r>
              <a:t>PDF 文件页：75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例题 10 / 单选题</a:t>
            </a:r>
          </a:p>
          <a:p>
            <a:r>
              <a:t>讲义印刷页：P73</a:t>
            </a:r>
          </a:p>
          <a:p>
            <a:r>
              <a:t>PDF 文件页：75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变式 1 / 单选题</a:t>
            </a:r>
          </a:p>
          <a:p>
            <a:r>
              <a:t>讲义印刷页：P73</a:t>
            </a:r>
          </a:p>
          <a:p>
            <a:r>
              <a:t>PDF 文件页：75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变式 2 / 单选题</a:t>
            </a:r>
          </a:p>
          <a:p>
            <a:r>
              <a:t>讲义印刷页：P73</a:t>
            </a:r>
          </a:p>
          <a:p>
            <a:r>
              <a:t>PDF 文件页：75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变式 3 / 单选题</a:t>
            </a:r>
          </a:p>
          <a:p>
            <a:r>
              <a:t>讲义印刷页：P73</a:t>
            </a:r>
          </a:p>
          <a:p>
            <a:r>
              <a:t>PDF 文件页：75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变式 4 / 单选题</a:t>
            </a:r>
          </a:p>
          <a:p>
            <a:r>
              <a:t>讲义印刷页：P74</a:t>
            </a:r>
          </a:p>
          <a:p>
            <a:r>
              <a:t>PDF 文件页：76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变式 5 / 单选题</a:t>
            </a:r>
          </a:p>
          <a:p>
            <a:r>
              <a:t>讲义印刷页：P74</a:t>
            </a:r>
          </a:p>
          <a:p>
            <a:r>
              <a:t>PDF 文件页：76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变式 6 / 单选题</a:t>
            </a:r>
          </a:p>
          <a:p>
            <a:r>
              <a:t>讲义印刷页：P74</a:t>
            </a:r>
          </a:p>
          <a:p>
            <a:r>
              <a:t>PDF 文件页：76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变式 7 / 单选题</a:t>
            </a:r>
          </a:p>
          <a:p>
            <a:r>
              <a:t>讲义印刷页：P74</a:t>
            </a:r>
          </a:p>
          <a:p>
            <a:r>
              <a:t>PDF 文件页：76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变式 8 / 单选题</a:t>
            </a:r>
          </a:p>
          <a:p>
            <a:r>
              <a:t>讲义印刷页：P74</a:t>
            </a:r>
          </a:p>
          <a:p>
            <a:r>
              <a:t>PDF 文件页：76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变式 9 / 单选题</a:t>
            </a:r>
          </a:p>
          <a:p>
            <a:r>
              <a:t>讲义印刷页：P75</a:t>
            </a:r>
          </a:p>
          <a:p>
            <a:r>
              <a:t>PDF 文件页：77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综合 1 / 单选题</a:t>
            </a:r>
          </a:p>
          <a:p>
            <a:r>
              <a:t>讲义印刷页：P75</a:t>
            </a:r>
          </a:p>
          <a:p>
            <a:r>
              <a:t>PDF 文件页：77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综合 2 / 单选题</a:t>
            </a:r>
          </a:p>
          <a:p>
            <a:r>
              <a:t>讲义印刷页：P75</a:t>
            </a:r>
          </a:p>
          <a:p>
            <a:r>
              <a:t>PDF 文件页：77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综合 3 / 单选题</a:t>
            </a:r>
          </a:p>
          <a:p>
            <a:r>
              <a:t>讲义印刷页：P75</a:t>
            </a:r>
          </a:p>
          <a:p>
            <a:r>
              <a:t>PDF 文件页：77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综合 4 / 单选题</a:t>
            </a:r>
          </a:p>
          <a:p>
            <a:r>
              <a:t>讲义印刷页：P75</a:t>
            </a:r>
          </a:p>
          <a:p>
            <a:r>
              <a:t>PDF 文件页：77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综合 5 / 单选题</a:t>
            </a:r>
          </a:p>
          <a:p>
            <a:r>
              <a:t>讲义印刷页：P76</a:t>
            </a:r>
          </a:p>
          <a:p>
            <a:r>
              <a:t>PDF 文件页：78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综合 6 / 单选题</a:t>
            </a:r>
          </a:p>
          <a:p>
            <a:r>
              <a:t>讲义印刷页：P76</a:t>
            </a:r>
          </a:p>
          <a:p>
            <a:r>
              <a:t>PDF 文件页：78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综合 7 / 单选题</a:t>
            </a:r>
          </a:p>
          <a:p>
            <a:r>
              <a:t>讲义印刷页：P76</a:t>
            </a:r>
          </a:p>
          <a:p>
            <a:r>
              <a:t>PDF 文件页：78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综合 8 / 单选题</a:t>
            </a:r>
          </a:p>
          <a:p>
            <a:r>
              <a:t>讲义印刷页：P76</a:t>
            </a:r>
          </a:p>
          <a:p>
            <a:r>
              <a:t>PDF 文件页：78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综合 9 / 单选题</a:t>
            </a:r>
          </a:p>
          <a:p>
            <a:r>
              <a:t>讲义印刷页：P77</a:t>
            </a:r>
          </a:p>
          <a:p>
            <a:r>
              <a:t>PDF 文件页：79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综合 10 / 单选题</a:t>
            </a:r>
          </a:p>
          <a:p>
            <a:r>
              <a:t>讲义印刷页：P77</a:t>
            </a:r>
          </a:p>
          <a:p>
            <a:r>
              <a:t>PDF 文件页：79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综合 11 / 单选题</a:t>
            </a:r>
          </a:p>
          <a:p>
            <a:r>
              <a:t>讲义印刷页：P77</a:t>
            </a:r>
          </a:p>
          <a:p>
            <a:r>
              <a:t>PDF 文件页：79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综合 12 / 填空题</a:t>
            </a:r>
          </a:p>
          <a:p>
            <a:r>
              <a:t>讲义印刷页：P77</a:t>
            </a:r>
          </a:p>
          <a:p>
            <a:r>
              <a:t>PDF 文件页：79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P77：Δ</a:t>
            </a:r>
          </a:p>
          <a:p>
            <a:r>
              <a:t>P77：o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综合 13 / 填空题</a:t>
            </a:r>
          </a:p>
          <a:p>
            <a:r>
              <a:t>讲义印刷页：P78</a:t>
            </a:r>
          </a:p>
          <a:p>
            <a:r>
              <a:t>PDF 文件页：80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排版提示：本题原文较长，按要求保持一题一页；可按教学需要自行调整字号与布局。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原题定位：知识点3氧化还原反应的计算 / 综合 14 / 填空题</a:t>
            </a:r>
          </a:p>
          <a:p>
            <a:r>
              <a:t>讲义印刷页：P78</a:t>
            </a:r>
          </a:p>
          <a:p>
            <a:r>
              <a:t>PDF 文件页：80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氧化还原反应"/>
          <p:cNvSpPr txBox="1"/>
          <p:nvPr/>
        </p:nvSpPr>
        <p:spPr>
          <a:xfrm>
            <a:off x="713232" y="2103120"/>
            <a:ext cx="107442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</a:t>
            </a:r>
          </a:p>
        </p:txBody>
      </p:sp>
      <p:sp>
        <p:nvSpPr>
          <p:cNvPr id="4" name="文字_第 03 章  ·  高一化学"/>
          <p:cNvSpPr txBox="1"/>
          <p:nvPr/>
        </p:nvSpPr>
        <p:spPr>
          <a:xfrm>
            <a:off x="777240" y="151790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第 03 章  ·  高一化学</a:t>
            </a:r>
          </a:p>
        </p:txBody>
      </p:sp>
      <p:sp>
        <p:nvSpPr>
          <p:cNvPr id="5" name="文字_知识讲解  ·  例题与变式  ·  综合练习"/>
          <p:cNvSpPr txBox="1"/>
          <p:nvPr/>
        </p:nvSpPr>
        <p:spPr>
          <a:xfrm>
            <a:off x="777240" y="34747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知识讲解  ·  例题与变式  ·  综合练习</a:t>
            </a:r>
          </a:p>
        </p:txBody>
      </p:sp>
      <p:sp>
        <p:nvSpPr>
          <p:cNvPr id="6" name="文字_讲义 P54–78"/>
          <p:cNvSpPr txBox="1"/>
          <p:nvPr/>
        </p:nvSpPr>
        <p:spPr>
          <a:xfrm>
            <a:off x="804672" y="4892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讲义 P54–78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1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01</a:t>
            </a:r>
          </a:p>
        </p:txBody>
      </p:sp>
      <p:sp>
        <p:nvSpPr>
          <p:cNvPr id="4" name="文字_氧化还原反应：从化合价看电子转移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氧化还原反应：从化合价看电子转移</a:t>
            </a:r>
          </a:p>
        </p:txBody>
      </p:sp>
      <p:sp>
        <p:nvSpPr>
          <p:cNvPr id="5" name="文字_知识梳理 · 讲义 P54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P54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氧化还原反应：从化合价看电子转移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氧化还原反应：从化合价看电子转移</a:t>
            </a:r>
          </a:p>
        </p:txBody>
      </p:sp>
      <p:sp>
        <p:nvSpPr>
          <p:cNvPr id="5" name="文字_知识讲解 · P54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P54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本质：有电子转移，包括电子得失或共用电子对偏移。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本质：有电子转移，包括电子得失或共用电子对偏移。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判断依据：反应前后有元素的化合价发生变化。"/>
          <p:cNvSpPr txBox="1"/>
          <p:nvPr/>
        </p:nvSpPr>
        <p:spPr>
          <a:xfrm>
            <a:off x="722376" y="235610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判断依据：反应前后有元素的化合价发生变化。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02056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失电子 → 化合价升高 → 被氧化 → 发生氧化"/>
          <p:cNvSpPr txBox="1"/>
          <p:nvPr/>
        </p:nvSpPr>
        <p:spPr>
          <a:xfrm>
            <a:off x="722376" y="293827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失电子 → 化合价升高 → 被氧化 → 发生氧化反应。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60273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得电子 → 化合价降低 → 被还原 → 发生还原"/>
          <p:cNvSpPr txBox="1"/>
          <p:nvPr/>
        </p:nvSpPr>
        <p:spPr>
          <a:xfrm>
            <a:off x="722376" y="352044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得电子 → 化合价降低 → 被还原 → 发生还原反应。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" y="555955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提示  口诀：升、失、氧；降、得、还。氧化与还原"/>
          <p:cNvSpPr txBox="1"/>
          <p:nvPr/>
        </p:nvSpPr>
        <p:spPr>
          <a:xfrm>
            <a:off x="630936" y="561898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口诀：升、失、氧；降、得、还。氧化与还原同时发生。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氧化剂、还原剂与反应产物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氧化剂、还原剂与反应产物</a:t>
            </a:r>
          </a:p>
        </p:txBody>
      </p:sp>
      <p:sp>
        <p:nvSpPr>
          <p:cNvPr id="5" name="文字_知识讲解 · P54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73936"/>
          <a:ext cx="11109960" cy="242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/>
                <a:gridCol w="3703320"/>
                <a:gridCol w="3703320"/>
              </a:tblGrid>
              <a:tr h="48564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项目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还原剂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氧化剂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电子变化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失去电子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得到电子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化合价变化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升高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降低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发生的反应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氧化反应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还原反应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对应产物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氧化产物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还原产物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93776" y="4339336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文字_提示  Zn + CuSO₄ = ZnSO₄ +"/>
          <p:cNvSpPr txBox="1"/>
          <p:nvPr/>
        </p:nvSpPr>
        <p:spPr>
          <a:xfrm>
            <a:off x="630936" y="4398772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Zn + CuSO₄ = ZnSO₄ + Cu：Zn 是还原剂，CuSO₄ 是氧化剂。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与四大基本反应类型的关系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与四大基本反应类型的关系</a:t>
            </a:r>
          </a:p>
        </p:txBody>
      </p:sp>
      <p:sp>
        <p:nvSpPr>
          <p:cNvPr id="5" name="文字_知识讲解 · P54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73936"/>
          <a:ext cx="11109960" cy="275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/>
                <a:gridCol w="3703320"/>
                <a:gridCol w="3703320"/>
              </a:tblGrid>
              <a:tr h="48564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反应类型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是否属于氧化还原反应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判断提示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</a:tr>
              <a:tr h="8158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置换反应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一定是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单质与化合物之间发生元素置换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复分解反应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一定不是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元素化合价不变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化合反应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可能是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逐一检查化合价是否变化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分解反应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可能是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逐一检查化合价是否变化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93776" y="4669536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文字_提示  有单质参与并有单质生成，不一定发生氧化还"/>
          <p:cNvSpPr txBox="1"/>
          <p:nvPr/>
        </p:nvSpPr>
        <p:spPr>
          <a:xfrm>
            <a:off x="630936" y="4728972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有单质参与并有单质生成，不一定发生氧化还原反应，例如同素异形体之间的转化。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电子转移的表示：双线桥与单线桥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电子转移的表示：双线桥与单线桥</a:t>
            </a:r>
          </a:p>
        </p:txBody>
      </p:sp>
      <p:sp>
        <p:nvSpPr>
          <p:cNvPr id="5" name="文字_知识讲解 · P54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73936"/>
          <a:ext cx="11109960" cy="2117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/>
                <a:gridCol w="3703320"/>
                <a:gridCol w="3703320"/>
              </a:tblGrid>
              <a:tr h="48564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方法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箭头起止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线上标注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</a:tr>
              <a:tr h="8158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双线桥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反应物中的变价元素 → 产物中的同一元素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分别写得／失电子及电子总数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8158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单线桥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还原剂中失电子的原子 → 氧化剂中得电子的原子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只写转移电子总数，不写得／失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93776" y="4028440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文字_提示  Fe₂O₃ + 3H₂ —高温→ 2Fe"/>
          <p:cNvSpPr txBox="1"/>
          <p:nvPr/>
        </p:nvSpPr>
        <p:spPr>
          <a:xfrm>
            <a:off x="630936" y="4087876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Fe₂O₃ + 3H₂ —高温→ 2Fe + 3H₂O：2 个 Fe 共得 6e⁻，6 个 H 共失 6e⁻。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基础 · 例题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氧化还原基础 · 例题1</a:t>
            </a:r>
          </a:p>
        </p:txBody>
      </p:sp>
      <p:sp>
        <p:nvSpPr>
          <p:cNvPr id="5" name="文字_P5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P55</a:t>
            </a:r>
          </a:p>
        </p:txBody>
      </p:sp>
      <p:sp>
        <p:nvSpPr>
          <p:cNvPr id="6" name="文字_下列应用与氧化还原反应无关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下列应用与氧化还原反应无关的是</a:t>
            </a:r>
          </a:p>
        </p:txBody>
      </p:sp>
      <p:sp>
        <p:nvSpPr>
          <p:cNvPr id="7" name="文字_A. 食物变质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食物变质</a:t>
            </a:r>
          </a:p>
        </p:txBody>
      </p:sp>
      <p:sp>
        <p:nvSpPr>
          <p:cNvPr id="8" name="文字_B. 铁粉暖贴用于取暖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铁粉暖贴用于取暖</a:t>
            </a:r>
          </a:p>
        </p:txBody>
      </p:sp>
      <p:sp>
        <p:nvSpPr>
          <p:cNvPr id="9" name="文字_C. 用饱和FeCl₃溶液滴入沸水中制备氢氧化铁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用饱和FeCl₃溶液滴入沸水中制备氢氧化铁胶体</a:t>
            </a:r>
          </a:p>
        </p:txBody>
      </p:sp>
      <p:sp>
        <p:nvSpPr>
          <p:cNvPr id="10" name="文字_D. 三元催化器处理机动车尾气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三元催化器处理机动车尾气</a:t>
            </a:r>
          </a:p>
        </p:txBody>
      </p:sp>
      <p:sp>
        <p:nvSpPr>
          <p:cNvPr id="11" name="文字_单选题  ·  03-00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03-001</a:t>
            </a:r>
          </a:p>
        </p:txBody>
      </p:sp>
      <p:sp>
        <p:nvSpPr>
          <p:cNvPr id="12" name="文字_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基础 · 例题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氧化还原基础 · 例题2</a:t>
            </a:r>
          </a:p>
        </p:txBody>
      </p:sp>
      <p:sp>
        <p:nvSpPr>
          <p:cNvPr id="5" name="文字_P5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P56</a:t>
            </a:r>
          </a:p>
        </p:txBody>
      </p:sp>
      <p:sp>
        <p:nvSpPr>
          <p:cNvPr id="6" name="文字_指出它们的氧化剂、还原剂、氧化产物、还原产物（化"/>
          <p:cNvSpPr txBox="1"/>
          <p:nvPr/>
        </p:nvSpPr>
        <p:spPr>
          <a:xfrm>
            <a:off x="502920" y="1078992"/>
            <a:ext cx="11064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指出它们的氧化剂、还原剂、氧化产物、还原产物（化学式表示)</a:t>
            </a:r>
          </a:p>
        </p:txBody>
      </p:sp>
      <p:sp>
        <p:nvSpPr>
          <p:cNvPr id="7" name="文字_(1) C + 2H₂SO₄(浓)≌CO₂↑+2"/>
          <p:cNvSpPr txBox="1"/>
          <p:nvPr/>
        </p:nvSpPr>
        <p:spPr>
          <a:xfrm>
            <a:off x="502920" y="1481328"/>
            <a:ext cx="11064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 C + 2H₂SO₄(浓)≌CO₂↑+2SO₂↑+2H₂O</a:t>
            </a:r>
          </a:p>
        </p:txBody>
      </p:sp>
      <p:sp>
        <p:nvSpPr>
          <p:cNvPr id="8" name="文字_氧化剂 ______ ，还原剂是 ______ "/>
          <p:cNvSpPr txBox="1"/>
          <p:nvPr/>
        </p:nvSpPr>
        <p:spPr>
          <a:xfrm>
            <a:off x="502920" y="1883664"/>
            <a:ext cx="11064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氧化剂 ______ ，还原剂是 ______ ，氧化产物 ______ ，还原产物</a:t>
            </a:r>
          </a:p>
        </p:txBody>
      </p:sp>
      <p:sp>
        <p:nvSpPr>
          <p:cNvPr id="9" name="文字_(2) Cu + 2H₂SO₄(浓)∆CuSO₄"/>
          <p:cNvSpPr txBox="1"/>
          <p:nvPr/>
        </p:nvSpPr>
        <p:spPr>
          <a:xfrm>
            <a:off x="502920" y="2286000"/>
            <a:ext cx="11064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 Cu + 2H₂SO₄(浓)∆CuSO₄ + SO₂↑+2H₂O</a:t>
            </a:r>
          </a:p>
        </p:txBody>
      </p:sp>
      <p:sp>
        <p:nvSpPr>
          <p:cNvPr id="10" name="文字_氧化剂 ______ ，还原剂是 ______ "/>
          <p:cNvSpPr txBox="1"/>
          <p:nvPr/>
        </p:nvSpPr>
        <p:spPr>
          <a:xfrm>
            <a:off x="502920" y="2688336"/>
            <a:ext cx="11064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氧化剂 ______ ，还原剂是 ______ 氧化产物 ______ ，还原产物</a:t>
            </a:r>
          </a:p>
        </p:txBody>
      </p:sp>
      <p:sp>
        <p:nvSpPr>
          <p:cNvPr id="11" name="文字_(3) 4P + 3KOH + 3H₂O=3KH"/>
          <p:cNvSpPr txBox="1"/>
          <p:nvPr/>
        </p:nvSpPr>
        <p:spPr>
          <a:xfrm>
            <a:off x="502920" y="3090672"/>
            <a:ext cx="11064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 4P + 3KOH + 3H₂O=3KH₂PO₂ + PH₃</a:t>
            </a:r>
          </a:p>
        </p:txBody>
      </p:sp>
      <p:sp>
        <p:nvSpPr>
          <p:cNvPr id="12" name="文字_氧化剂 ______ ，还原剂是 ______ "/>
          <p:cNvSpPr txBox="1"/>
          <p:nvPr/>
        </p:nvSpPr>
        <p:spPr>
          <a:xfrm>
            <a:off x="502920" y="3493008"/>
            <a:ext cx="11064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氧化剂 ______ ，还原剂是 ______ ，氧化产物 ______ ，还原产物</a:t>
            </a:r>
          </a:p>
        </p:txBody>
      </p:sp>
      <p:sp>
        <p:nvSpPr>
          <p:cNvPr id="13" name="文字_(4) HCl + HClO=Cl₂↑+H₂O"/>
          <p:cNvSpPr txBox="1"/>
          <p:nvPr/>
        </p:nvSpPr>
        <p:spPr>
          <a:xfrm>
            <a:off x="502920" y="3895344"/>
            <a:ext cx="11064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 HCl + HClO=Cl₂↑+H₂O</a:t>
            </a:r>
          </a:p>
        </p:txBody>
      </p:sp>
      <p:sp>
        <p:nvSpPr>
          <p:cNvPr id="14" name="文字_氧化剂 ______ ，还原剂是 ______ "/>
          <p:cNvSpPr txBox="1"/>
          <p:nvPr/>
        </p:nvSpPr>
        <p:spPr>
          <a:xfrm>
            <a:off x="502920" y="4297680"/>
            <a:ext cx="11064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氧化剂 ______ ，还原剂是 ______ 氧化产物 ______ 还原产物</a:t>
            </a:r>
          </a:p>
        </p:txBody>
      </p:sp>
      <p:sp>
        <p:nvSpPr>
          <p:cNvPr id="15" name="文字_(5) S + 2KNO₃ + 3C=K₂S +"/>
          <p:cNvSpPr txBox="1"/>
          <p:nvPr/>
        </p:nvSpPr>
        <p:spPr>
          <a:xfrm>
            <a:off x="502920" y="4700016"/>
            <a:ext cx="11064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(5) S + 2KNO₃ + 3C=K₂S + 3CO₂↑+N₂↑</a:t>
            </a:r>
          </a:p>
        </p:txBody>
      </p:sp>
      <p:sp>
        <p:nvSpPr>
          <p:cNvPr id="16" name="文字_氧化剂 ______ ，还原剂是 ______ "/>
          <p:cNvSpPr txBox="1"/>
          <p:nvPr/>
        </p:nvSpPr>
        <p:spPr>
          <a:xfrm>
            <a:off x="502920" y="5102352"/>
            <a:ext cx="11064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氧化剂 ______ ，还原剂是 ______ 氧化产物 ______ 还原产物</a:t>
            </a:r>
          </a:p>
        </p:txBody>
      </p:sp>
      <p:sp>
        <p:nvSpPr>
          <p:cNvPr id="17" name="文字_(6) 6FeS + 16H₂SO₄=3Fe₂("/>
          <p:cNvSpPr txBox="1"/>
          <p:nvPr/>
        </p:nvSpPr>
        <p:spPr>
          <a:xfrm>
            <a:off x="502920" y="5504688"/>
            <a:ext cx="11064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(6) 6FeS + 16H₂SO₄=3Fe₂(SO₄)₃ + 6SO₂↑+7S + 16H₂O</a:t>
            </a:r>
          </a:p>
        </p:txBody>
      </p:sp>
      <p:sp>
        <p:nvSpPr>
          <p:cNvPr id="18" name="文字_氧化剂 ______ ，还原剂是 ______ "/>
          <p:cNvSpPr txBox="1"/>
          <p:nvPr/>
        </p:nvSpPr>
        <p:spPr>
          <a:xfrm>
            <a:off x="502920" y="5907024"/>
            <a:ext cx="11064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氧化剂 ______ ，还原剂是 ______ 氧化产物 ______ ，还原产物</a:t>
            </a:r>
          </a:p>
        </p:txBody>
      </p:sp>
      <p:sp>
        <p:nvSpPr>
          <p:cNvPr id="19" name="文字_解答题  ·  03-00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解答题  ·  03-002</a:t>
            </a:r>
          </a:p>
        </p:txBody>
      </p:sp>
      <p:sp>
        <p:nvSpPr>
          <p:cNvPr id="20" name="文字_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基础 · 例题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氧化还原基础 · 例题3</a:t>
            </a:r>
          </a:p>
        </p:txBody>
      </p:sp>
      <p:sp>
        <p:nvSpPr>
          <p:cNvPr id="5" name="文字_P5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P56</a:t>
            </a:r>
          </a:p>
        </p:txBody>
      </p:sp>
      <p:sp>
        <p:nvSpPr>
          <p:cNvPr id="6" name="文字_下列反应中，水作氧化剂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下列反应中，水作氧化剂的是（）</a:t>
            </a:r>
          </a:p>
        </p:txBody>
      </p:sp>
      <p:sp>
        <p:nvSpPr>
          <p:cNvPr id="7" name="文字_A. 2Na + 2H₂O=2NaOH + H₂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2Na + 2H₂O=2NaOH + H₂ ↑</a:t>
            </a:r>
          </a:p>
        </p:txBody>
      </p:sp>
      <p:sp>
        <p:nvSpPr>
          <p:cNvPr id="8" name="文字_B. H₂ + CuO = Cu + H₂O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H₂ + CuO = Cu + H₂O</a:t>
            </a:r>
          </a:p>
        </p:txBody>
      </p:sp>
      <p:sp>
        <p:nvSpPr>
          <p:cNvPr id="9" name="文字_C. Cl₂ + H₂O=HCl + HClO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Cl₂ + H₂O=HCl + HClO</a:t>
            </a:r>
          </a:p>
        </p:txBody>
      </p:sp>
      <p:sp>
        <p:nvSpPr>
          <p:cNvPr id="10" name="文字_D. SO₃ + H₂O=H₂SO₄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SO₃ + H₂O=H₂SO₄</a:t>
            </a:r>
          </a:p>
        </p:txBody>
      </p:sp>
      <p:sp>
        <p:nvSpPr>
          <p:cNvPr id="11" name="文字_单选题  ·  03-00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03-003</a:t>
            </a:r>
          </a:p>
        </p:txBody>
      </p:sp>
      <p:sp>
        <p:nvSpPr>
          <p:cNvPr id="12" name="文字_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基础 · 例题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氧化还原基础 · 例题4</a:t>
            </a:r>
          </a:p>
        </p:txBody>
      </p:sp>
      <p:sp>
        <p:nvSpPr>
          <p:cNvPr id="5" name="文字_P5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P56</a:t>
            </a:r>
          </a:p>
        </p:txBody>
      </p:sp>
      <p:sp>
        <p:nvSpPr>
          <p:cNvPr id="6" name="文字_某同学在奥运五连环中填入了5种物质，相连环物质间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某同学在奥运五连环中填入了5种物质，相连环物质间能发生反应，不相连环物质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间不能发生反应。五连环中物质间发生的反应没有涉及的基本反应类型为(）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80616"/>
            <a:ext cx="11064240" cy="1217449"/>
          </a:xfrm>
          <a:prstGeom prst="rect">
            <a:avLst/>
          </a:prstGeom>
        </p:spPr>
      </p:pic>
      <p:sp>
        <p:nvSpPr>
          <p:cNvPr id="8" name="原题文字_56_47"/>
          <p:cNvSpPr txBox="1"/>
          <p:nvPr/>
        </p:nvSpPr>
        <p:spPr>
          <a:xfrm>
            <a:off x="5686650" y="2012039"/>
            <a:ext cx="644446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NaOH</a:t>
            </a:r>
          </a:p>
        </p:txBody>
      </p:sp>
      <p:sp>
        <p:nvSpPr>
          <p:cNvPr id="9" name="原题文字_56_48"/>
          <p:cNvSpPr txBox="1"/>
          <p:nvPr/>
        </p:nvSpPr>
        <p:spPr>
          <a:xfrm>
            <a:off x="5035812" y="2172834"/>
            <a:ext cx="322855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Fe</a:t>
            </a:r>
          </a:p>
        </p:txBody>
      </p:sp>
      <p:sp>
        <p:nvSpPr>
          <p:cNvPr id="10" name="原题文字_56_49"/>
          <p:cNvSpPr txBox="1"/>
          <p:nvPr/>
        </p:nvSpPr>
        <p:spPr>
          <a:xfrm>
            <a:off x="5732591" y="2172834"/>
            <a:ext cx="529592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溶液</a:t>
            </a:r>
          </a:p>
        </p:txBody>
      </p:sp>
      <p:sp>
        <p:nvSpPr>
          <p:cNvPr id="11" name="原题文字_56_50"/>
          <p:cNvSpPr txBox="1"/>
          <p:nvPr/>
        </p:nvSpPr>
        <p:spPr>
          <a:xfrm>
            <a:off x="6689706" y="2180491"/>
            <a:ext cx="253943" cy="2787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</a:t>
            </a:r>
          </a:p>
        </p:txBody>
      </p:sp>
      <p:sp>
        <p:nvSpPr>
          <p:cNvPr id="12" name="原题文字_56_51"/>
          <p:cNvSpPr txBox="1"/>
          <p:nvPr/>
        </p:nvSpPr>
        <p:spPr>
          <a:xfrm>
            <a:off x="5288490" y="2586308"/>
            <a:ext cx="728672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稀盐酸</a:t>
            </a:r>
          </a:p>
        </p:txBody>
      </p:sp>
      <p:sp>
        <p:nvSpPr>
          <p:cNvPr id="13" name="原题文字_56_52"/>
          <p:cNvSpPr txBox="1"/>
          <p:nvPr/>
        </p:nvSpPr>
        <p:spPr>
          <a:xfrm>
            <a:off x="6192006" y="2570994"/>
            <a:ext cx="468337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CO₂</a:t>
            </a:r>
          </a:p>
        </p:txBody>
      </p:sp>
      <p:sp>
        <p:nvSpPr>
          <p:cNvPr id="14" name="文字_A. 复分解反应"/>
          <p:cNvSpPr txBox="1"/>
          <p:nvPr/>
        </p:nvSpPr>
        <p:spPr>
          <a:xfrm>
            <a:off x="502920" y="3171217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复分解反应</a:t>
            </a:r>
          </a:p>
        </p:txBody>
      </p:sp>
      <p:sp>
        <p:nvSpPr>
          <p:cNvPr id="15" name="文字_B. 分解反应"/>
          <p:cNvSpPr txBox="1"/>
          <p:nvPr/>
        </p:nvSpPr>
        <p:spPr>
          <a:xfrm>
            <a:off x="502920" y="3610129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分解反应</a:t>
            </a:r>
          </a:p>
        </p:txBody>
      </p:sp>
      <p:sp>
        <p:nvSpPr>
          <p:cNvPr id="16" name="文字_C. 化合反应"/>
          <p:cNvSpPr txBox="1"/>
          <p:nvPr/>
        </p:nvSpPr>
        <p:spPr>
          <a:xfrm>
            <a:off x="502920" y="4049041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化合反应</a:t>
            </a:r>
          </a:p>
        </p:txBody>
      </p:sp>
      <p:sp>
        <p:nvSpPr>
          <p:cNvPr id="17" name="文字_D. 置换反应"/>
          <p:cNvSpPr txBox="1"/>
          <p:nvPr/>
        </p:nvSpPr>
        <p:spPr>
          <a:xfrm>
            <a:off x="502920" y="4487953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置换反应</a:t>
            </a:r>
          </a:p>
        </p:txBody>
      </p:sp>
      <p:sp>
        <p:nvSpPr>
          <p:cNvPr id="18" name="文字_单选题  ·  03-00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03-004</a:t>
            </a:r>
          </a:p>
        </p:txBody>
      </p:sp>
      <p:sp>
        <p:nvSpPr>
          <p:cNvPr id="19" name="文字_1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基础 · 例题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氧化还原基础 · 例题5</a:t>
            </a:r>
          </a:p>
        </p:txBody>
      </p:sp>
      <p:sp>
        <p:nvSpPr>
          <p:cNvPr id="5" name="文字_P5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P57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78992"/>
            <a:ext cx="11064240" cy="3131677"/>
          </a:xfrm>
          <a:prstGeom prst="rect">
            <a:avLst/>
          </a:prstGeom>
        </p:spPr>
      </p:pic>
      <p:sp>
        <p:nvSpPr>
          <p:cNvPr id="7" name="原题文字_57_3"/>
          <p:cNvSpPr txBox="1"/>
          <p:nvPr/>
        </p:nvSpPr>
        <p:spPr>
          <a:xfrm>
            <a:off x="602459" y="1095561"/>
            <a:ext cx="5437674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下列氧化还原反应中的电子转移方向和数目表示正确的是</a:t>
            </a:r>
          </a:p>
        </p:txBody>
      </p:sp>
      <p:sp>
        <p:nvSpPr>
          <p:cNvPr id="8" name="原题文字_57_4"/>
          <p:cNvSpPr txBox="1"/>
          <p:nvPr/>
        </p:nvSpPr>
        <p:spPr>
          <a:xfrm>
            <a:off x="1406435" y="1447779"/>
            <a:ext cx="445366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6e⁻</a:t>
            </a:r>
          </a:p>
        </p:txBody>
      </p:sp>
      <p:sp>
        <p:nvSpPr>
          <p:cNvPr id="9" name="原题文字_57_5"/>
          <p:cNvSpPr txBox="1"/>
          <p:nvPr/>
        </p:nvSpPr>
        <p:spPr>
          <a:xfrm>
            <a:off x="6666735" y="1424809"/>
            <a:ext cx="544906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10e</a:t>
            </a:r>
          </a:p>
        </p:txBody>
      </p:sp>
      <p:sp>
        <p:nvSpPr>
          <p:cNvPr id="10" name="原题文字_57_6"/>
          <p:cNvSpPr txBox="1"/>
          <p:nvPr/>
        </p:nvSpPr>
        <p:spPr>
          <a:xfrm>
            <a:off x="571832" y="1822968"/>
            <a:ext cx="315199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</a:t>
            </a:r>
          </a:p>
        </p:txBody>
      </p:sp>
      <p:sp>
        <p:nvSpPr>
          <p:cNvPr id="11" name="原题文字_57_7"/>
          <p:cNvSpPr txBox="1"/>
          <p:nvPr/>
        </p:nvSpPr>
        <p:spPr>
          <a:xfrm>
            <a:off x="2302294" y="1822968"/>
            <a:ext cx="667417" cy="4777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1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高温</a:t>
            </a:r>
          </a:p>
        </p:txBody>
      </p:sp>
      <p:sp>
        <p:nvSpPr>
          <p:cNvPr id="12" name="原题文字_57_8"/>
          <p:cNvSpPr txBox="1"/>
          <p:nvPr/>
        </p:nvSpPr>
        <p:spPr>
          <a:xfrm>
            <a:off x="5946985" y="1746399"/>
            <a:ext cx="322855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</a:t>
            </a:r>
          </a:p>
        </p:txBody>
      </p:sp>
      <p:sp>
        <p:nvSpPr>
          <p:cNvPr id="13" name="原题文字_57_9"/>
          <p:cNvSpPr txBox="1"/>
          <p:nvPr/>
        </p:nvSpPr>
        <p:spPr>
          <a:xfrm>
            <a:off x="7248660" y="1715771"/>
            <a:ext cx="667417" cy="4678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6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点燃</a:t>
            </a:r>
          </a:p>
        </p:txBody>
      </p:sp>
      <p:sp>
        <p:nvSpPr>
          <p:cNvPr id="14" name="原题文字_57_10"/>
          <p:cNvSpPr txBox="1"/>
          <p:nvPr/>
        </p:nvSpPr>
        <p:spPr>
          <a:xfrm>
            <a:off x="7761673" y="1807654"/>
            <a:ext cx="881810" cy="706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6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=2PCl₅</a:t>
            </a:r>
          </a:p>
        </p:txBody>
      </p:sp>
      <p:sp>
        <p:nvSpPr>
          <p:cNvPr id="15" name="原题文字_57_11"/>
          <p:cNvSpPr txBox="1"/>
          <p:nvPr/>
        </p:nvSpPr>
        <p:spPr>
          <a:xfrm>
            <a:off x="6306860" y="1922508"/>
            <a:ext cx="981350" cy="4479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2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5Cl₂ + 2P</a:t>
            </a:r>
          </a:p>
        </p:txBody>
      </p:sp>
      <p:sp>
        <p:nvSpPr>
          <p:cNvPr id="16" name="原题文字_57_12"/>
          <p:cNvSpPr txBox="1"/>
          <p:nvPr/>
        </p:nvSpPr>
        <p:spPr>
          <a:xfrm>
            <a:off x="924050" y="1999077"/>
            <a:ext cx="1456079" cy="597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1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Fe₂O₃ + 3CO</a:t>
            </a:r>
          </a:p>
        </p:txBody>
      </p:sp>
      <p:sp>
        <p:nvSpPr>
          <p:cNvPr id="17" name="原题文字_57_13"/>
          <p:cNvSpPr txBox="1"/>
          <p:nvPr/>
        </p:nvSpPr>
        <p:spPr>
          <a:xfrm>
            <a:off x="2891877" y="2014391"/>
            <a:ext cx="1249342" cy="4678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2Fe + 3CO₂</a:t>
            </a:r>
          </a:p>
        </p:txBody>
      </p:sp>
      <p:sp>
        <p:nvSpPr>
          <p:cNvPr id="18" name="原题文字_57_14"/>
          <p:cNvSpPr txBox="1"/>
          <p:nvPr/>
        </p:nvSpPr>
        <p:spPr>
          <a:xfrm>
            <a:off x="1873507" y="2458492"/>
            <a:ext cx="728672" cy="5076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5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失6e</a:t>
            </a:r>
          </a:p>
        </p:txBody>
      </p:sp>
      <p:sp>
        <p:nvSpPr>
          <p:cNvPr id="19" name="原题文字_57_15"/>
          <p:cNvSpPr txBox="1"/>
          <p:nvPr/>
        </p:nvSpPr>
        <p:spPr>
          <a:xfrm>
            <a:off x="7202719" y="2458492"/>
            <a:ext cx="728672" cy="497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1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失6e</a:t>
            </a:r>
          </a:p>
        </p:txBody>
      </p:sp>
      <p:sp>
        <p:nvSpPr>
          <p:cNvPr id="20" name="原题文字_57_16"/>
          <p:cNvSpPr txBox="1"/>
          <p:nvPr/>
        </p:nvSpPr>
        <p:spPr>
          <a:xfrm>
            <a:off x="564175" y="3224183"/>
            <a:ext cx="338169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</a:t>
            </a:r>
          </a:p>
        </p:txBody>
      </p:sp>
      <p:sp>
        <p:nvSpPr>
          <p:cNvPr id="21" name="原题文字_57_17"/>
          <p:cNvSpPr txBox="1"/>
          <p:nvPr/>
        </p:nvSpPr>
        <p:spPr>
          <a:xfrm>
            <a:off x="947020" y="3323723"/>
            <a:ext cx="1318254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7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H₂S + H₂SO</a:t>
            </a:r>
          </a:p>
        </p:txBody>
      </p:sp>
      <p:sp>
        <p:nvSpPr>
          <p:cNvPr id="22" name="原题文字_57_18"/>
          <p:cNvSpPr txBox="1"/>
          <p:nvPr/>
        </p:nvSpPr>
        <p:spPr>
          <a:xfrm>
            <a:off x="1260954" y="3094016"/>
            <a:ext cx="253943" cy="2787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-2</a:t>
            </a:r>
          </a:p>
        </p:txBody>
      </p:sp>
      <p:sp>
        <p:nvSpPr>
          <p:cNvPr id="23" name="原题文字_57_19"/>
          <p:cNvSpPr txBox="1"/>
          <p:nvPr/>
        </p:nvSpPr>
        <p:spPr>
          <a:xfrm>
            <a:off x="1789281" y="3139957"/>
            <a:ext cx="330512" cy="2886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9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+6</a:t>
            </a:r>
          </a:p>
        </p:txBody>
      </p:sp>
      <p:sp>
        <p:nvSpPr>
          <p:cNvPr id="24" name="原题文字_57_20"/>
          <p:cNvSpPr txBox="1"/>
          <p:nvPr/>
        </p:nvSpPr>
        <p:spPr>
          <a:xfrm>
            <a:off x="2164470" y="3293096"/>
            <a:ext cx="1984406" cy="497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7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4=S↓+SO₂↑+2H₂O</a:t>
            </a:r>
          </a:p>
        </p:txBody>
      </p:sp>
      <p:sp>
        <p:nvSpPr>
          <p:cNvPr id="25" name="原题文字_57_21"/>
          <p:cNvSpPr txBox="1"/>
          <p:nvPr/>
        </p:nvSpPr>
        <p:spPr>
          <a:xfrm>
            <a:off x="2401834" y="3155271"/>
            <a:ext cx="192688" cy="2189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6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</a:t>
            </a:r>
          </a:p>
        </p:txBody>
      </p:sp>
      <p:sp>
        <p:nvSpPr>
          <p:cNvPr id="26" name="原题文字_57_22"/>
          <p:cNvSpPr txBox="1"/>
          <p:nvPr/>
        </p:nvSpPr>
        <p:spPr>
          <a:xfrm>
            <a:off x="2754052" y="3094016"/>
            <a:ext cx="315199" cy="2886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9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+4</a:t>
            </a:r>
          </a:p>
        </p:txBody>
      </p:sp>
      <p:sp>
        <p:nvSpPr>
          <p:cNvPr id="27" name="原题文字_57_23"/>
          <p:cNvSpPr txBox="1"/>
          <p:nvPr/>
        </p:nvSpPr>
        <p:spPr>
          <a:xfrm>
            <a:off x="5946985" y="3170585"/>
            <a:ext cx="537249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</a:t>
            </a:r>
          </a:p>
        </p:txBody>
      </p:sp>
      <p:sp>
        <p:nvSpPr>
          <p:cNvPr id="28" name="原题文字_57_24"/>
          <p:cNvSpPr txBox="1"/>
          <p:nvPr/>
        </p:nvSpPr>
        <p:spPr>
          <a:xfrm>
            <a:off x="6276232" y="3094016"/>
            <a:ext cx="3944576" cy="5773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3Cl₂ + 6KOHKClO₃ + 5KCl + 3H₂O</a:t>
            </a:r>
          </a:p>
        </p:txBody>
      </p:sp>
      <p:sp>
        <p:nvSpPr>
          <p:cNvPr id="29" name="原题文字_57_25"/>
          <p:cNvSpPr txBox="1"/>
          <p:nvPr/>
        </p:nvSpPr>
        <p:spPr>
          <a:xfrm>
            <a:off x="8228745" y="3032761"/>
            <a:ext cx="276914" cy="2588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5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+5</a:t>
            </a:r>
          </a:p>
        </p:txBody>
      </p:sp>
      <p:sp>
        <p:nvSpPr>
          <p:cNvPr id="30" name="原题文字_57_26"/>
          <p:cNvSpPr txBox="1"/>
          <p:nvPr/>
        </p:nvSpPr>
        <p:spPr>
          <a:xfrm>
            <a:off x="9193516" y="3040417"/>
            <a:ext cx="253943" cy="248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-1</a:t>
            </a:r>
          </a:p>
        </p:txBody>
      </p:sp>
      <p:sp>
        <p:nvSpPr>
          <p:cNvPr id="31" name="原题文字_57_27"/>
          <p:cNvSpPr txBox="1"/>
          <p:nvPr/>
        </p:nvSpPr>
        <p:spPr>
          <a:xfrm>
            <a:off x="7348200" y="3752510"/>
            <a:ext cx="713358" cy="4578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1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得6e</a:t>
            </a:r>
          </a:p>
        </p:txBody>
      </p:sp>
      <p:sp>
        <p:nvSpPr>
          <p:cNvPr id="32" name="原题文字_57_28"/>
          <p:cNvSpPr txBox="1"/>
          <p:nvPr/>
        </p:nvSpPr>
        <p:spPr>
          <a:xfrm>
            <a:off x="1819909" y="3844393"/>
            <a:ext cx="728672" cy="5076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5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得6e</a:t>
            </a:r>
          </a:p>
        </p:txBody>
      </p:sp>
      <p:sp>
        <p:nvSpPr>
          <p:cNvPr id="33" name="文字_单选题  ·  03-00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03-005</a:t>
            </a:r>
          </a:p>
        </p:txBody>
      </p:sp>
      <p:sp>
        <p:nvSpPr>
          <p:cNvPr id="34" name="文字_1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基础 · 例题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氧化还原基础 · 例题6</a:t>
            </a:r>
          </a:p>
        </p:txBody>
      </p:sp>
      <p:sp>
        <p:nvSpPr>
          <p:cNvPr id="5" name="文字_P5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P57</a:t>
            </a:r>
          </a:p>
        </p:txBody>
      </p:sp>
      <p:sp>
        <p:nvSpPr>
          <p:cNvPr id="6" name="文字_完成下列问题。"/>
          <p:cNvSpPr txBox="1"/>
          <p:nvPr/>
        </p:nvSpPr>
        <p:spPr>
          <a:xfrm>
            <a:off x="502920" y="1078992"/>
            <a:ext cx="1106424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完成下列问题。</a:t>
            </a:r>
          </a:p>
        </p:txBody>
      </p:sp>
      <p:sp>
        <p:nvSpPr>
          <p:cNvPr id="7" name="文字_(1)铜能与浓硝酸反应，化学方程式为：Cu + "/>
          <p:cNvSpPr txBox="1"/>
          <p:nvPr/>
        </p:nvSpPr>
        <p:spPr>
          <a:xfrm>
            <a:off x="502920" y="1499616"/>
            <a:ext cx="11064240" cy="7682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(1)铜能与浓硝酸反应，化学方程式为：Cu + 4HNO₃ = Cu(NO₃)₂ + 2NO₂ ↑ +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2H₂O。</a:t>
            </a:r>
          </a:p>
        </p:txBody>
      </p:sp>
      <p:sp>
        <p:nvSpPr>
          <p:cNvPr id="8" name="文字_①用单线桥标出电子转移的方向和数目 ______"/>
          <p:cNvSpPr txBox="1"/>
          <p:nvPr/>
        </p:nvSpPr>
        <p:spPr>
          <a:xfrm>
            <a:off x="502920" y="2267839"/>
            <a:ext cx="11064240" cy="7682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①用单线桥标出电子转移的方向和数目 ______ , Cu + 4HNO₃ = Cu(NO₃)₂ + 2NO₂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 ↑ +2H₂O.</a:t>
            </a:r>
          </a:p>
        </p:txBody>
      </p:sp>
      <p:sp>
        <p:nvSpPr>
          <p:cNvPr id="9" name="文字_②上述反应中氧化剂是 ______ (用化学式表"/>
          <p:cNvSpPr txBox="1"/>
          <p:nvPr/>
        </p:nvSpPr>
        <p:spPr>
          <a:xfrm>
            <a:off x="502920" y="3036062"/>
            <a:ext cx="1106424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②上述反应中氧化剂是 ______ (用化学式表示，下同)，还原产物是</a:t>
            </a:r>
          </a:p>
        </p:txBody>
      </p:sp>
      <p:sp>
        <p:nvSpPr>
          <p:cNvPr id="10" name="文字_③还原剂与氧化剂的数目比是 ______ ，每生"/>
          <p:cNvSpPr txBox="1"/>
          <p:nvPr/>
        </p:nvSpPr>
        <p:spPr>
          <a:xfrm>
            <a:off x="502920" y="3456686"/>
            <a:ext cx="1106424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③还原剂与氧化剂的数目比是 ______ ，每生成一个NO₂转移 ______ 个e⁻。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77309"/>
            <a:ext cx="11064240" cy="1148537"/>
          </a:xfrm>
          <a:prstGeom prst="rect">
            <a:avLst/>
          </a:prstGeom>
        </p:spPr>
      </p:pic>
      <p:sp>
        <p:nvSpPr>
          <p:cNvPr id="12" name="原题文字_57_42"/>
          <p:cNvSpPr txBox="1"/>
          <p:nvPr/>
        </p:nvSpPr>
        <p:spPr>
          <a:xfrm>
            <a:off x="556518" y="3916850"/>
            <a:ext cx="468337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</a:t>
            </a:r>
          </a:p>
        </p:txBody>
      </p:sp>
      <p:sp>
        <p:nvSpPr>
          <p:cNvPr id="13" name="原题文字_57_43"/>
          <p:cNvSpPr txBox="1"/>
          <p:nvPr/>
        </p:nvSpPr>
        <p:spPr>
          <a:xfrm>
            <a:off x="1100159" y="3909193"/>
            <a:ext cx="3117629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实验室用下列方法均可制取氯气</a:t>
            </a:r>
          </a:p>
        </p:txBody>
      </p:sp>
      <p:sp>
        <p:nvSpPr>
          <p:cNvPr id="14" name="原题文字_57_44"/>
          <p:cNvSpPr txBox="1"/>
          <p:nvPr/>
        </p:nvSpPr>
        <p:spPr>
          <a:xfrm>
            <a:off x="3029701" y="4238441"/>
            <a:ext cx="215659" cy="2090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1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∆</a:t>
            </a:r>
          </a:p>
        </p:txBody>
      </p:sp>
      <p:sp>
        <p:nvSpPr>
          <p:cNvPr id="15" name="原题文字_57_45"/>
          <p:cNvSpPr txBox="1"/>
          <p:nvPr/>
        </p:nvSpPr>
        <p:spPr>
          <a:xfrm>
            <a:off x="1123129" y="4353294"/>
            <a:ext cx="4312107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①MnO₂ + 4HCl(浓)= MnCl₂ + Cl₂ ↑ +2H₂O</a:t>
            </a:r>
          </a:p>
        </p:txBody>
      </p:sp>
      <p:sp>
        <p:nvSpPr>
          <p:cNvPr id="16" name="原题文字_57_46"/>
          <p:cNvSpPr txBox="1"/>
          <p:nvPr/>
        </p:nvSpPr>
        <p:spPr>
          <a:xfrm>
            <a:off x="1115473" y="4705512"/>
            <a:ext cx="3852693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7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②NaClO + 2HCl = NaCl + Cl₂ ↑ +H₂O</a:t>
            </a:r>
          </a:p>
        </p:txBody>
      </p:sp>
      <p:sp>
        <p:nvSpPr>
          <p:cNvPr id="17" name="文字_③2KMnO₄ + 16HCl(浓)= 2KCl"/>
          <p:cNvSpPr txBox="1"/>
          <p:nvPr/>
        </p:nvSpPr>
        <p:spPr>
          <a:xfrm>
            <a:off x="502920" y="5098999"/>
            <a:ext cx="1106424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③2KMnO₄ + 16HCl(浓)= 2KCl + 2MnCl₂ + 5Cl₂ ↑ +8H₂O</a:t>
            </a:r>
          </a:p>
        </p:txBody>
      </p:sp>
      <p:sp>
        <p:nvSpPr>
          <p:cNvPr id="18" name="文字_④KClO₃ + 6HCl = KCl + 3C"/>
          <p:cNvSpPr txBox="1"/>
          <p:nvPr/>
        </p:nvSpPr>
        <p:spPr>
          <a:xfrm>
            <a:off x="502920" y="5519623"/>
            <a:ext cx="1106424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④KClO₃ + 6HCl = KCl + 3Cl₂ ↑ +3H₂O</a:t>
            </a:r>
          </a:p>
        </p:txBody>
      </p:sp>
      <p:sp>
        <p:nvSpPr>
          <p:cNvPr id="19" name="文字_若各反应转移的电子数相同，①②③④生成的氯气质量"/>
          <p:cNvSpPr txBox="1"/>
          <p:nvPr/>
        </p:nvSpPr>
        <p:spPr>
          <a:xfrm>
            <a:off x="502920" y="5940247"/>
            <a:ext cx="1106424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若各反应转移的电子数相同，①②③④生成的氯气质量比为</a:t>
            </a:r>
          </a:p>
        </p:txBody>
      </p:sp>
      <p:sp>
        <p:nvSpPr>
          <p:cNvPr id="20" name="文字_填空题  ·  03-00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03-006</a:t>
            </a:r>
          </a:p>
        </p:txBody>
      </p:sp>
      <p:sp>
        <p:nvSpPr>
          <p:cNvPr id="21" name="文字_1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基础 · 例题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氧化还原基础 · 例题7</a:t>
            </a:r>
          </a:p>
        </p:txBody>
      </p:sp>
      <p:sp>
        <p:nvSpPr>
          <p:cNvPr id="5" name="文字_P5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P57</a:t>
            </a:r>
          </a:p>
        </p:txBody>
      </p:sp>
      <p:sp>
        <p:nvSpPr>
          <p:cNvPr id="6" name="文字_1.MnO₂ + 4HCl(浓) = MnCl₂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1.MnO₂ + 4HCl(浓) = MnCl₂ + Cl₂↑+2H₂O，用双线桥标出该反应的电子转移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的方向和数目。</a:t>
            </a:r>
          </a:p>
        </p:txBody>
      </p:sp>
      <p:sp>
        <p:nvSpPr>
          <p:cNvPr id="7" name="文字_2.3Cu + 8HNO₃(稀) = 3Cu(N"/>
          <p:cNvSpPr txBox="1"/>
          <p:nvPr/>
        </p:nvSpPr>
        <p:spPr>
          <a:xfrm>
            <a:off x="502920" y="1880616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2.3Cu + 8HNO₃(稀) = 3Cu(NO₃)₂ + 4H₂O + 2NO↑，用双线桥标出该反应的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电子转移的方向和数目。</a:t>
            </a:r>
          </a:p>
        </p:txBody>
      </p:sp>
      <p:sp>
        <p:nvSpPr>
          <p:cNvPr id="8" name="文字_3.4NH₄NO₃=3N₂ + 2NO₂ + 8"/>
          <p:cNvSpPr txBox="1"/>
          <p:nvPr/>
        </p:nvSpPr>
        <p:spPr>
          <a:xfrm>
            <a:off x="502920" y="2682240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3.4NH₄NO₃=3N₂ + 2NO₂ + 8H₂O，用单线桥标出该反应的电子转移的方向和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数目。</a:t>
            </a:r>
          </a:p>
        </p:txBody>
      </p:sp>
      <p:sp>
        <p:nvSpPr>
          <p:cNvPr id="9" name="文字_4.2KClO₃= 2KCl +3O₂↑，用单线"/>
          <p:cNvSpPr txBox="1"/>
          <p:nvPr/>
        </p:nvSpPr>
        <p:spPr>
          <a:xfrm>
            <a:off x="502920" y="3483863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4.2KClO₃= 2KCl +3O₂↑，用单线桥标出该反应的电子转移的方向和数目。</a:t>
            </a:r>
          </a:p>
        </p:txBody>
      </p:sp>
      <p:sp>
        <p:nvSpPr>
          <p:cNvPr id="10" name="文字_解答题  ·  03-00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解答题  ·  03-007</a:t>
            </a:r>
          </a:p>
        </p:txBody>
      </p:sp>
      <p:sp>
        <p:nvSpPr>
          <p:cNvPr id="11" name="文字_1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基础 · 变式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氧化还原基础 · 变式1</a:t>
            </a:r>
          </a:p>
        </p:txBody>
      </p:sp>
      <p:sp>
        <p:nvSpPr>
          <p:cNvPr id="5" name="文字_P5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P58</a:t>
            </a:r>
          </a:p>
        </p:txBody>
      </p:sp>
      <p:sp>
        <p:nvSpPr>
          <p:cNvPr id="6" name="文字_我国历史悠久，劳动人民创造了丰富的物质财富。下列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我国历史悠久，劳动人民创造了丰富的物质财富。下列古代生产和生活过程中没有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涉及氧化还原反应的是</a:t>
            </a:r>
          </a:p>
        </p:txBody>
      </p:sp>
      <p:sp>
        <p:nvSpPr>
          <p:cNvPr id="7" name="文字_A. 冶铁和炼钢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冶铁和炼钢</a:t>
            </a:r>
          </a:p>
        </p:txBody>
      </p:sp>
      <p:sp>
        <p:nvSpPr>
          <p:cNvPr id="8" name="文字_B. 制作笔、砚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制作笔、砚</a:t>
            </a:r>
          </a:p>
        </p:txBody>
      </p:sp>
      <p:sp>
        <p:nvSpPr>
          <p:cNvPr id="9" name="文字_C. 酿制酒、醋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酿制酒、醋</a:t>
            </a:r>
          </a:p>
        </p:txBody>
      </p:sp>
      <p:sp>
        <p:nvSpPr>
          <p:cNvPr id="10" name="文字_D. 烧煤取暖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烧煤取暖</a:t>
            </a:r>
          </a:p>
        </p:txBody>
      </p:sp>
      <p:sp>
        <p:nvSpPr>
          <p:cNvPr id="11" name="文字_单选题  ·  03-00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03-008</a:t>
            </a:r>
          </a:p>
        </p:txBody>
      </p:sp>
      <p:sp>
        <p:nvSpPr>
          <p:cNvPr id="12" name="文字_1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基础 · 变式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氧化还原基础 · 变式2</a:t>
            </a:r>
          </a:p>
        </p:txBody>
      </p:sp>
      <p:sp>
        <p:nvSpPr>
          <p:cNvPr id="5" name="文字_P5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P58</a:t>
            </a:r>
          </a:p>
        </p:txBody>
      </p:sp>
      <p:sp>
        <p:nvSpPr>
          <p:cNvPr id="6" name="文字_石材加工产生的石材废水中含石粉、石油烃、表面分散"/>
          <p:cNvSpPr txBox="1"/>
          <p:nvPr/>
        </p:nvSpPr>
        <p:spPr>
          <a:xfrm>
            <a:off x="502920" y="1078992"/>
            <a:ext cx="11064240" cy="1527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石材加工产生的石材废水中含石粉、石油烃、表面分散剂、NaNO₂等物质。用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NH₄Cl溶液处理石材废水时，可使NaNO₂转化为无毒物质，该处理方法可表示为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NaNO₂ + NH₄Cl=NaCl + N₂↑+2H₂O，升温有利于该反应的进行。下列有关叙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述不正确的是</a:t>
            </a:r>
          </a:p>
        </p:txBody>
      </p:sp>
      <p:sp>
        <p:nvSpPr>
          <p:cNvPr id="7" name="文字_A. 反应的离子方程式为 NO₂ + NH+=N"/>
          <p:cNvSpPr txBox="1"/>
          <p:nvPr/>
        </p:nvSpPr>
        <p:spPr>
          <a:xfrm>
            <a:off x="502920" y="2606039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反应的离子方程式为 NO₂ + NH+=N₂↑+ 2H₂O</a:t>
            </a:r>
          </a:p>
        </p:txBody>
      </p:sp>
      <p:sp>
        <p:nvSpPr>
          <p:cNvPr id="8" name="文字_B. NaNO₂是还原剂，NH₄Cl是氧化剂"/>
          <p:cNvSpPr txBox="1"/>
          <p:nvPr/>
        </p:nvSpPr>
        <p:spPr>
          <a:xfrm>
            <a:off x="502920" y="3044951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NaNO₂是还原剂，NH₄Cl是氧化剂</a:t>
            </a:r>
          </a:p>
        </p:txBody>
      </p:sp>
      <p:sp>
        <p:nvSpPr>
          <p:cNvPr id="9" name="文字_C. N₂既是氧化产物，又是还原产物"/>
          <p:cNvSpPr txBox="1"/>
          <p:nvPr/>
        </p:nvSpPr>
        <p:spPr>
          <a:xfrm>
            <a:off x="502920" y="3483863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N₂既是氧化产物，又是还原产物</a:t>
            </a:r>
          </a:p>
        </p:txBody>
      </p:sp>
      <p:sp>
        <p:nvSpPr>
          <p:cNvPr id="10" name="文字_D. 采用该处理方法，通过加热蒸发，最终可得到N"/>
          <p:cNvSpPr txBox="1"/>
          <p:nvPr/>
        </p:nvSpPr>
        <p:spPr>
          <a:xfrm>
            <a:off x="502920" y="39227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采用该处理方法，通过加热蒸发，最终可得到NaCl固体</a:t>
            </a:r>
          </a:p>
        </p:txBody>
      </p:sp>
      <p:sp>
        <p:nvSpPr>
          <p:cNvPr id="11" name="文字_单选题  ·  03-00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03-009</a:t>
            </a:r>
          </a:p>
        </p:txBody>
      </p:sp>
      <p:sp>
        <p:nvSpPr>
          <p:cNvPr id="12" name="文字_1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基础 · 变式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氧化还原基础 · 变式3</a:t>
            </a:r>
          </a:p>
        </p:txBody>
      </p:sp>
      <p:sp>
        <p:nvSpPr>
          <p:cNvPr id="5" name="文字_P5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P58</a:t>
            </a:r>
          </a:p>
        </p:txBody>
      </p:sp>
      <p:sp>
        <p:nvSpPr>
          <p:cNvPr id="6" name="文字_反应S + 6HNO₃(浓)△H₂SO₄ + 6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反应S + 6HNO₃(浓)△H₂SO₄ + 6NO₂ ↑+2H₂O中氧化剂是</a:t>
            </a:r>
          </a:p>
        </p:txBody>
      </p:sp>
      <p:sp>
        <p:nvSpPr>
          <p:cNvPr id="7" name="文字_A. H₂SO₄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H₂SO₄</a:t>
            </a:r>
          </a:p>
        </p:txBody>
      </p:sp>
      <p:sp>
        <p:nvSpPr>
          <p:cNvPr id="8" name="文字_B. HNO₃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HNO₃</a:t>
            </a:r>
          </a:p>
        </p:txBody>
      </p:sp>
      <p:sp>
        <p:nvSpPr>
          <p:cNvPr id="9" name="文字_C. NO₂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NO₂</a:t>
            </a:r>
          </a:p>
        </p:txBody>
      </p:sp>
      <p:sp>
        <p:nvSpPr>
          <p:cNvPr id="10" name="文字_D. S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S</a:t>
            </a:r>
          </a:p>
        </p:txBody>
      </p:sp>
      <p:sp>
        <p:nvSpPr>
          <p:cNvPr id="11" name="文字_单选题  ·  03-01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03-010</a:t>
            </a:r>
          </a:p>
        </p:txBody>
      </p:sp>
      <p:sp>
        <p:nvSpPr>
          <p:cNvPr id="12" name="文字_1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基础 · 变式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氧化还原基础 · 变式4</a:t>
            </a:r>
          </a:p>
        </p:txBody>
      </p:sp>
      <p:sp>
        <p:nvSpPr>
          <p:cNvPr id="5" name="文字_P5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P58</a:t>
            </a:r>
          </a:p>
        </p:txBody>
      </p:sp>
      <p:sp>
        <p:nvSpPr>
          <p:cNvPr id="6" name="文字_关于反应8NH₃ + 3Cl₂ = 6NH₄Cl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关于反应8NH₃ + 3Cl₂ = 6NH₄Cl + N₂，下列说法正确的是</a:t>
            </a:r>
          </a:p>
        </p:txBody>
      </p:sp>
      <p:sp>
        <p:nvSpPr>
          <p:cNvPr id="7" name="文字_A. N₂是还原产物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N₂是还原产物</a:t>
            </a:r>
          </a:p>
        </p:txBody>
      </p:sp>
      <p:sp>
        <p:nvSpPr>
          <p:cNvPr id="8" name="文字_B. Cl₂是氧化剂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Cl₂是氧化剂</a:t>
            </a:r>
          </a:p>
        </p:txBody>
      </p:sp>
      <p:sp>
        <p:nvSpPr>
          <p:cNvPr id="9" name="文字_C. 还原剂与氧化剂物质的量之比是8:3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还原剂与氧化剂物质的量之比是8:3</a:t>
            </a:r>
          </a:p>
        </p:txBody>
      </p:sp>
      <p:sp>
        <p:nvSpPr>
          <p:cNvPr id="10" name="文字_D. 还原产物与氧化产物物质的量之比是1:6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还原产物与氧化产物物质的量之比是1:6</a:t>
            </a:r>
          </a:p>
        </p:txBody>
      </p:sp>
      <p:sp>
        <p:nvSpPr>
          <p:cNvPr id="11" name="文字_单选题  ·  03-01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03-011</a:t>
            </a:r>
          </a:p>
        </p:txBody>
      </p:sp>
      <p:sp>
        <p:nvSpPr>
          <p:cNvPr id="12" name="文字_1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基础 · 变式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氧化还原基础 · 变式5</a:t>
            </a:r>
          </a:p>
        </p:txBody>
      </p:sp>
      <p:sp>
        <p:nvSpPr>
          <p:cNvPr id="5" name="文字_P5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P58</a:t>
            </a:r>
          </a:p>
        </p:txBody>
      </p:sp>
      <p:sp>
        <p:nvSpPr>
          <p:cNvPr id="6" name="文字_关于反应S + 2KNO₃ + 3C=K₂S +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关于反应S + 2KNO₃ + 3C=K₂S + N₂↑+3CO₂↑，下列说法正确的是</a:t>
            </a:r>
          </a:p>
        </p:txBody>
      </p:sp>
      <p:sp>
        <p:nvSpPr>
          <p:cNvPr id="7" name="文字_A. S是还原剂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S是还原剂</a:t>
            </a:r>
          </a:p>
        </p:txBody>
      </p:sp>
      <p:sp>
        <p:nvSpPr>
          <p:cNvPr id="8" name="文字_B. C发生氧化反应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C发生氧化反应</a:t>
            </a:r>
          </a:p>
        </p:txBody>
      </p:sp>
      <p:sp>
        <p:nvSpPr>
          <p:cNvPr id="9" name="文字_C. N₂是氧化产物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N₂是氧化产物</a:t>
            </a:r>
          </a:p>
        </p:txBody>
      </p:sp>
      <p:sp>
        <p:nvSpPr>
          <p:cNvPr id="10" name="文字_D. 生成1个N₂时，该反应转移10个电子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生成1个N₂时，该反应转移10个电子</a:t>
            </a:r>
          </a:p>
        </p:txBody>
      </p:sp>
      <p:sp>
        <p:nvSpPr>
          <p:cNvPr id="11" name="文字_单选题  ·  03-01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03-012</a:t>
            </a:r>
          </a:p>
        </p:txBody>
      </p:sp>
      <p:sp>
        <p:nvSpPr>
          <p:cNvPr id="12" name="文字_1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基础 · 变式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氧化还原基础 · 变式6</a:t>
            </a:r>
          </a:p>
        </p:txBody>
      </p:sp>
      <p:sp>
        <p:nvSpPr>
          <p:cNvPr id="5" name="文字_P5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P58</a:t>
            </a:r>
          </a:p>
        </p:txBody>
      </p:sp>
      <p:sp>
        <p:nvSpPr>
          <p:cNvPr id="6" name="文字_维生素C能帮助人体将从食物中摄取的、不易吸收的F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维生素C能帮助人体将从食物中摄取的、不易吸收的Fe³⁺转化为易吸收的Fe²⁺。下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列说法正确的是</a:t>
            </a:r>
          </a:p>
        </p:txBody>
      </p:sp>
      <p:sp>
        <p:nvSpPr>
          <p:cNvPr id="7" name="文字_A. 还原性：维生素C &gt; Fe²⁺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还原性：维生素C &gt; Fe²⁺</a:t>
            </a:r>
          </a:p>
        </p:txBody>
      </p:sp>
      <p:sp>
        <p:nvSpPr>
          <p:cNvPr id="8" name="文字_B. 该过程中Fe³⁺是还原剂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该过程中Fe³⁺是还原剂</a:t>
            </a:r>
          </a:p>
        </p:txBody>
      </p:sp>
      <p:sp>
        <p:nvSpPr>
          <p:cNvPr id="9" name="文字_C. 该过程中维生素C发生还原反应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该过程中维生素C发生还原反应</a:t>
            </a:r>
          </a:p>
        </p:txBody>
      </p:sp>
      <p:sp>
        <p:nvSpPr>
          <p:cNvPr id="10" name="文字_D. Fe³⁺转化为Fe²⁺是氧化反应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Fe³⁺转化为Fe²⁺是氧化反应</a:t>
            </a:r>
          </a:p>
        </p:txBody>
      </p:sp>
      <p:sp>
        <p:nvSpPr>
          <p:cNvPr id="11" name="文字_单选题  ·  03-01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03-013</a:t>
            </a:r>
          </a:p>
        </p:txBody>
      </p:sp>
      <p:sp>
        <p:nvSpPr>
          <p:cNvPr id="12" name="文字_1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基础 · 变式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氧化还原基础 · 变式7</a:t>
            </a:r>
          </a:p>
        </p:txBody>
      </p:sp>
      <p:sp>
        <p:nvSpPr>
          <p:cNvPr id="5" name="文字_P5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P59</a:t>
            </a:r>
          </a:p>
        </p:txBody>
      </p:sp>
      <p:sp>
        <p:nvSpPr>
          <p:cNvPr id="6" name="文字_在制电路板时常用氯化铁溶液作为“腐蚀液”。发生反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在制电路板时常用氯化铁溶液作为“腐蚀液”。发生反应的化学方程式如下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2FeCl₃ + Cu=2FeCl₂ + CuCl₂，下列有关说法正确的是</a:t>
            </a:r>
          </a:p>
        </p:txBody>
      </p:sp>
      <p:sp>
        <p:nvSpPr>
          <p:cNvPr id="7" name="文字_A. 该化学反应属于置换反应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该化学反应属于置换反应</a:t>
            </a:r>
          </a:p>
        </p:txBody>
      </p:sp>
      <p:sp>
        <p:nvSpPr>
          <p:cNvPr id="8" name="文字_B. 该化学反应中FeCl₃是还原剂，发生氧化反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该化学反应中FeCl₃是还原剂，发生氧化反应</a:t>
            </a:r>
          </a:p>
        </p:txBody>
      </p:sp>
      <p:sp>
        <p:nvSpPr>
          <p:cNvPr id="9" name="文字_C. 反应过程中各元素的化合价都发生变化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反应过程中各元素的化合价都发生变化</a:t>
            </a:r>
          </a:p>
        </p:txBody>
      </p:sp>
      <p:sp>
        <p:nvSpPr>
          <p:cNvPr id="10" name="文字_D. 反应中 Cu 失去电子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反应中 Cu 失去电子</a:t>
            </a:r>
          </a:p>
        </p:txBody>
      </p:sp>
      <p:sp>
        <p:nvSpPr>
          <p:cNvPr id="11" name="文字_单选题  ·  03-01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03-014</a:t>
            </a:r>
          </a:p>
        </p:txBody>
      </p:sp>
      <p:sp>
        <p:nvSpPr>
          <p:cNvPr id="12" name="文字_2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基础 · 变式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氧化还原基础 · 变式8</a:t>
            </a:r>
          </a:p>
        </p:txBody>
      </p:sp>
      <p:sp>
        <p:nvSpPr>
          <p:cNvPr id="5" name="文字_P5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P59</a:t>
            </a:r>
          </a:p>
        </p:txBody>
      </p:sp>
      <p:sp>
        <p:nvSpPr>
          <p:cNvPr id="6" name="文字_下列反应与图中标出的反应类型对应错误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下列反应与图中标出的反应类型对应错误的是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7904"/>
            <a:ext cx="11064240" cy="2136278"/>
          </a:xfrm>
          <a:prstGeom prst="rect">
            <a:avLst/>
          </a:prstGeom>
        </p:spPr>
      </p:pic>
      <p:sp>
        <p:nvSpPr>
          <p:cNvPr id="8" name="原题文字_59_13"/>
          <p:cNvSpPr txBox="1"/>
          <p:nvPr/>
        </p:nvSpPr>
        <p:spPr>
          <a:xfrm>
            <a:off x="587146" y="1549787"/>
            <a:ext cx="2198799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CaO与水的反应—1</a:t>
            </a:r>
          </a:p>
        </p:txBody>
      </p:sp>
      <p:sp>
        <p:nvSpPr>
          <p:cNvPr id="9" name="原题文字_59_14"/>
          <p:cNvSpPr txBox="1"/>
          <p:nvPr/>
        </p:nvSpPr>
        <p:spPr>
          <a:xfrm>
            <a:off x="9476822" y="1634013"/>
            <a:ext cx="766956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化合反应</a:t>
            </a:r>
          </a:p>
        </p:txBody>
      </p:sp>
      <p:sp>
        <p:nvSpPr>
          <p:cNvPr id="10" name="原题文字_59_15"/>
          <p:cNvSpPr txBox="1"/>
          <p:nvPr/>
        </p:nvSpPr>
        <p:spPr>
          <a:xfrm>
            <a:off x="10510505" y="1634013"/>
            <a:ext cx="766956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分解反应</a:t>
            </a:r>
          </a:p>
        </p:txBody>
      </p:sp>
      <p:sp>
        <p:nvSpPr>
          <p:cNvPr id="11" name="原题文字_59_16"/>
          <p:cNvSpPr txBox="1"/>
          <p:nvPr/>
        </p:nvSpPr>
        <p:spPr>
          <a:xfrm>
            <a:off x="571832" y="1924976"/>
            <a:ext cx="2091602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Na与水的反应—4</a:t>
            </a:r>
          </a:p>
        </p:txBody>
      </p:sp>
      <p:sp>
        <p:nvSpPr>
          <p:cNvPr id="12" name="原题文字_59_17"/>
          <p:cNvSpPr txBox="1"/>
          <p:nvPr/>
        </p:nvSpPr>
        <p:spPr>
          <a:xfrm>
            <a:off x="10640673" y="1909662"/>
            <a:ext cx="238629" cy="268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</a:t>
            </a:r>
          </a:p>
        </p:txBody>
      </p:sp>
      <p:sp>
        <p:nvSpPr>
          <p:cNvPr id="13" name="原题文字_59_18"/>
          <p:cNvSpPr txBox="1"/>
          <p:nvPr/>
        </p:nvSpPr>
        <p:spPr>
          <a:xfrm>
            <a:off x="9882639" y="2177654"/>
            <a:ext cx="1034948" cy="268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</a:t>
            </a:r>
          </a:p>
        </p:txBody>
      </p:sp>
      <p:sp>
        <p:nvSpPr>
          <p:cNvPr id="14" name="原题文字_59_19"/>
          <p:cNvSpPr txBox="1"/>
          <p:nvPr/>
        </p:nvSpPr>
        <p:spPr>
          <a:xfrm>
            <a:off x="587146" y="2315479"/>
            <a:ext cx="4388677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高温下，CO与Fe₂O₃反应生成CO₂和Fe—3</a:t>
            </a:r>
          </a:p>
        </p:txBody>
      </p:sp>
      <p:sp>
        <p:nvSpPr>
          <p:cNvPr id="15" name="原题文字_59_20"/>
          <p:cNvSpPr txBox="1"/>
          <p:nvPr/>
        </p:nvSpPr>
        <p:spPr>
          <a:xfrm>
            <a:off x="10028120" y="2552843"/>
            <a:ext cx="774613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置换反应</a:t>
            </a:r>
          </a:p>
        </p:txBody>
      </p:sp>
      <p:sp>
        <p:nvSpPr>
          <p:cNvPr id="16" name="原题文字_59_21"/>
          <p:cNvSpPr txBox="1"/>
          <p:nvPr/>
        </p:nvSpPr>
        <p:spPr>
          <a:xfrm>
            <a:off x="10839753" y="2514558"/>
            <a:ext cx="200345" cy="248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</a:t>
            </a:r>
          </a:p>
        </p:txBody>
      </p:sp>
      <p:sp>
        <p:nvSpPr>
          <p:cNvPr id="17" name="原题文字_59_22"/>
          <p:cNvSpPr txBox="1"/>
          <p:nvPr/>
        </p:nvSpPr>
        <p:spPr>
          <a:xfrm>
            <a:off x="556518" y="2683010"/>
            <a:ext cx="3263110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9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Na₂CO₃与Ca(OH)₂的反应—5</a:t>
            </a:r>
          </a:p>
        </p:txBody>
      </p:sp>
      <p:sp>
        <p:nvSpPr>
          <p:cNvPr id="18" name="原题文字_59_23"/>
          <p:cNvSpPr txBox="1"/>
          <p:nvPr/>
        </p:nvSpPr>
        <p:spPr>
          <a:xfrm>
            <a:off x="10303769" y="2774893"/>
            <a:ext cx="200345" cy="2289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4</a:t>
            </a:r>
          </a:p>
        </p:txBody>
      </p:sp>
      <p:sp>
        <p:nvSpPr>
          <p:cNvPr id="19" name="原题文字_59_24"/>
          <p:cNvSpPr txBox="1"/>
          <p:nvPr/>
        </p:nvSpPr>
        <p:spPr>
          <a:xfrm>
            <a:off x="9966865" y="3173053"/>
            <a:ext cx="912438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6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复分解反应</a:t>
            </a:r>
          </a:p>
        </p:txBody>
      </p:sp>
      <p:sp>
        <p:nvSpPr>
          <p:cNvPr id="20" name="原题文字_59_25"/>
          <p:cNvSpPr txBox="1"/>
          <p:nvPr/>
        </p:nvSpPr>
        <p:spPr>
          <a:xfrm>
            <a:off x="10311426" y="3418074"/>
            <a:ext cx="200345" cy="2289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5</a:t>
            </a:r>
          </a:p>
        </p:txBody>
      </p:sp>
      <p:sp>
        <p:nvSpPr>
          <p:cNvPr id="21" name="文字_单选题  ·  03-01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03-015</a:t>
            </a:r>
          </a:p>
        </p:txBody>
      </p:sp>
      <p:sp>
        <p:nvSpPr>
          <p:cNvPr id="22" name="文字_2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基础 · 变式9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氧化还原基础 · 变式9</a:t>
            </a:r>
          </a:p>
        </p:txBody>
      </p:sp>
      <p:sp>
        <p:nvSpPr>
          <p:cNvPr id="5" name="文字_P5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P59</a:t>
            </a:r>
          </a:p>
        </p:txBody>
      </p:sp>
      <p:sp>
        <p:nvSpPr>
          <p:cNvPr id="6" name="文字_下列各氧化还原反应方程式中电子转移表示方法正确的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下列各氧化还原反应方程式中电子转移表示方法正确的是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7904"/>
            <a:ext cx="11064240" cy="3445611"/>
          </a:xfrm>
          <a:prstGeom prst="rect">
            <a:avLst/>
          </a:prstGeom>
        </p:spPr>
      </p:pic>
      <p:sp>
        <p:nvSpPr>
          <p:cNvPr id="8" name="原题文字_59_30"/>
          <p:cNvSpPr txBox="1"/>
          <p:nvPr/>
        </p:nvSpPr>
        <p:spPr>
          <a:xfrm>
            <a:off x="1391121" y="1572758"/>
            <a:ext cx="1011978" cy="4479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7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失去2e-</a:t>
            </a:r>
          </a:p>
        </p:txBody>
      </p:sp>
      <p:sp>
        <p:nvSpPr>
          <p:cNvPr id="9" name="原题文字_59_31"/>
          <p:cNvSpPr txBox="1"/>
          <p:nvPr/>
        </p:nvSpPr>
        <p:spPr>
          <a:xfrm>
            <a:off x="6980668" y="1549787"/>
            <a:ext cx="981350" cy="4479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5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得到8e-</a:t>
            </a:r>
          </a:p>
        </p:txBody>
      </p:sp>
      <p:sp>
        <p:nvSpPr>
          <p:cNvPr id="10" name="原题文字_59_32"/>
          <p:cNvSpPr txBox="1"/>
          <p:nvPr/>
        </p:nvSpPr>
        <p:spPr>
          <a:xfrm>
            <a:off x="1590201" y="2016859"/>
            <a:ext cx="682730" cy="4678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6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电解</a:t>
            </a:r>
          </a:p>
        </p:txBody>
      </p:sp>
      <p:sp>
        <p:nvSpPr>
          <p:cNvPr id="11" name="原题文字_59_33"/>
          <p:cNvSpPr txBox="1"/>
          <p:nvPr/>
        </p:nvSpPr>
        <p:spPr>
          <a:xfrm>
            <a:off x="7723389" y="2116399"/>
            <a:ext cx="652103" cy="4678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6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高温</a:t>
            </a:r>
          </a:p>
        </p:txBody>
      </p:sp>
      <p:sp>
        <p:nvSpPr>
          <p:cNvPr id="12" name="原题文字_59_34"/>
          <p:cNvSpPr txBox="1"/>
          <p:nvPr/>
        </p:nvSpPr>
        <p:spPr>
          <a:xfrm>
            <a:off x="556518" y="2192968"/>
            <a:ext cx="399425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</a:t>
            </a:r>
          </a:p>
        </p:txBody>
      </p:sp>
      <p:sp>
        <p:nvSpPr>
          <p:cNvPr id="13" name="原题文字_59_35"/>
          <p:cNvSpPr txBox="1"/>
          <p:nvPr/>
        </p:nvSpPr>
        <p:spPr>
          <a:xfrm>
            <a:off x="924050" y="2215939"/>
            <a:ext cx="812898" cy="5076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2H₂O</a:t>
            </a:r>
          </a:p>
        </p:txBody>
      </p:sp>
      <p:sp>
        <p:nvSpPr>
          <p:cNvPr id="14" name="原题文字_59_36"/>
          <p:cNvSpPr txBox="1"/>
          <p:nvPr/>
        </p:nvSpPr>
        <p:spPr>
          <a:xfrm>
            <a:off x="2225725" y="2208282"/>
            <a:ext cx="1241685" cy="43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5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2H₂↑+O₂↑</a:t>
            </a:r>
          </a:p>
        </p:txBody>
      </p:sp>
      <p:sp>
        <p:nvSpPr>
          <p:cNvPr id="15" name="原题文字_59_37"/>
          <p:cNvSpPr txBox="1"/>
          <p:nvPr/>
        </p:nvSpPr>
        <p:spPr>
          <a:xfrm>
            <a:off x="5931671" y="2231253"/>
            <a:ext cx="338169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</a:t>
            </a:r>
          </a:p>
        </p:txBody>
      </p:sp>
      <p:sp>
        <p:nvSpPr>
          <p:cNvPr id="16" name="原题文字_59_38"/>
          <p:cNvSpPr txBox="1"/>
          <p:nvPr/>
        </p:nvSpPr>
        <p:spPr>
          <a:xfrm>
            <a:off x="6329831" y="2353763"/>
            <a:ext cx="1471392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5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Fe₃O₄ + 4CO</a:t>
            </a:r>
          </a:p>
        </p:txBody>
      </p:sp>
      <p:sp>
        <p:nvSpPr>
          <p:cNvPr id="17" name="原题文字_59_39"/>
          <p:cNvSpPr txBox="1"/>
          <p:nvPr/>
        </p:nvSpPr>
        <p:spPr>
          <a:xfrm>
            <a:off x="8351256" y="2315479"/>
            <a:ext cx="1371853" cy="418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7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3Fe + 4CO₂</a:t>
            </a:r>
          </a:p>
        </p:txBody>
      </p:sp>
      <p:sp>
        <p:nvSpPr>
          <p:cNvPr id="18" name="原题文字_59_40"/>
          <p:cNvSpPr txBox="1"/>
          <p:nvPr/>
        </p:nvSpPr>
        <p:spPr>
          <a:xfrm>
            <a:off x="3014387" y="2514558"/>
            <a:ext cx="200345" cy="248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个</a:t>
            </a:r>
          </a:p>
        </p:txBody>
      </p:sp>
      <p:sp>
        <p:nvSpPr>
          <p:cNvPr id="19" name="原题文字_59_41"/>
          <p:cNvSpPr txBox="1"/>
          <p:nvPr/>
        </p:nvSpPr>
        <p:spPr>
          <a:xfrm>
            <a:off x="9208830" y="2614098"/>
            <a:ext cx="200345" cy="2189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6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个</a:t>
            </a:r>
          </a:p>
        </p:txBody>
      </p:sp>
      <p:sp>
        <p:nvSpPr>
          <p:cNvPr id="20" name="原题文字_59_42"/>
          <p:cNvSpPr txBox="1"/>
          <p:nvPr/>
        </p:nvSpPr>
        <p:spPr>
          <a:xfrm>
            <a:off x="1666770" y="2728952"/>
            <a:ext cx="1034948" cy="4877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得到4e-</a:t>
            </a:r>
          </a:p>
        </p:txBody>
      </p:sp>
      <p:sp>
        <p:nvSpPr>
          <p:cNvPr id="21" name="原题文字_59_43"/>
          <p:cNvSpPr txBox="1"/>
          <p:nvPr/>
        </p:nvSpPr>
        <p:spPr>
          <a:xfrm>
            <a:off x="7776987" y="2828492"/>
            <a:ext cx="1034948" cy="4479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9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失去8 e-</a:t>
            </a:r>
          </a:p>
        </p:txBody>
      </p:sp>
      <p:sp>
        <p:nvSpPr>
          <p:cNvPr id="22" name="原题文字_59_44"/>
          <p:cNvSpPr txBox="1"/>
          <p:nvPr/>
        </p:nvSpPr>
        <p:spPr>
          <a:xfrm>
            <a:off x="1590201" y="3211337"/>
            <a:ext cx="1134488" cy="4578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2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失去2× e-</a:t>
            </a:r>
          </a:p>
        </p:txBody>
      </p:sp>
      <p:sp>
        <p:nvSpPr>
          <p:cNvPr id="23" name="原题文字_59_45"/>
          <p:cNvSpPr txBox="1"/>
          <p:nvPr/>
        </p:nvSpPr>
        <p:spPr>
          <a:xfrm>
            <a:off x="7769330" y="3218994"/>
            <a:ext cx="1042605" cy="4678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失去5×e-</a:t>
            </a:r>
          </a:p>
        </p:txBody>
      </p:sp>
      <p:sp>
        <p:nvSpPr>
          <p:cNvPr id="24" name="原题文字_59_46"/>
          <p:cNvSpPr txBox="1"/>
          <p:nvPr/>
        </p:nvSpPr>
        <p:spPr>
          <a:xfrm>
            <a:off x="571832" y="3846861"/>
            <a:ext cx="338169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</a:t>
            </a:r>
          </a:p>
        </p:txBody>
      </p:sp>
      <p:sp>
        <p:nvSpPr>
          <p:cNvPr id="25" name="原题文字_59_47"/>
          <p:cNvSpPr txBox="1"/>
          <p:nvPr/>
        </p:nvSpPr>
        <p:spPr>
          <a:xfrm>
            <a:off x="962334" y="3938744"/>
            <a:ext cx="3638299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6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Cl₂ + 2NaOH=NaCl + NaClO + H₂O</a:t>
            </a:r>
          </a:p>
        </p:txBody>
      </p:sp>
      <p:sp>
        <p:nvSpPr>
          <p:cNvPr id="26" name="原题文字_59_48"/>
          <p:cNvSpPr txBox="1"/>
          <p:nvPr/>
        </p:nvSpPr>
        <p:spPr>
          <a:xfrm>
            <a:off x="5916357" y="3908117"/>
            <a:ext cx="407082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</a:t>
            </a:r>
          </a:p>
        </p:txBody>
      </p:sp>
      <p:sp>
        <p:nvSpPr>
          <p:cNvPr id="27" name="原题文字_59_49"/>
          <p:cNvSpPr txBox="1"/>
          <p:nvPr/>
        </p:nvSpPr>
        <p:spPr>
          <a:xfrm>
            <a:off x="6314517" y="3961715"/>
            <a:ext cx="3906291" cy="4479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6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KClO₃ + 6HCl(浓)KCl + 3Cl₂↑+3H₂O</a:t>
            </a:r>
          </a:p>
        </p:txBody>
      </p:sp>
      <p:sp>
        <p:nvSpPr>
          <p:cNvPr id="28" name="原题文字_59_50"/>
          <p:cNvSpPr txBox="1"/>
          <p:nvPr/>
        </p:nvSpPr>
        <p:spPr>
          <a:xfrm>
            <a:off x="9170546" y="4290962"/>
            <a:ext cx="200345" cy="2388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5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个</a:t>
            </a:r>
          </a:p>
        </p:txBody>
      </p:sp>
      <p:sp>
        <p:nvSpPr>
          <p:cNvPr id="29" name="原题文字_59_51"/>
          <p:cNvSpPr txBox="1"/>
          <p:nvPr/>
        </p:nvSpPr>
        <p:spPr>
          <a:xfrm>
            <a:off x="1574887" y="4451757"/>
            <a:ext cx="943065" cy="43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6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得到2e-</a:t>
            </a:r>
          </a:p>
        </p:txBody>
      </p:sp>
      <p:sp>
        <p:nvSpPr>
          <p:cNvPr id="30" name="原题文字_59_52"/>
          <p:cNvSpPr txBox="1"/>
          <p:nvPr/>
        </p:nvSpPr>
        <p:spPr>
          <a:xfrm>
            <a:off x="7172091" y="4604896"/>
            <a:ext cx="1126831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1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得到1×5e-</a:t>
            </a:r>
          </a:p>
        </p:txBody>
      </p:sp>
      <p:sp>
        <p:nvSpPr>
          <p:cNvPr id="31" name="文字_单选题  ·  03-01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03-016</a:t>
            </a:r>
          </a:p>
        </p:txBody>
      </p:sp>
      <p:sp>
        <p:nvSpPr>
          <p:cNvPr id="32" name="文字_2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基础 · 变式10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氧化还原基础 · 变式10</a:t>
            </a:r>
          </a:p>
        </p:txBody>
      </p:sp>
      <p:sp>
        <p:nvSpPr>
          <p:cNvPr id="5" name="文字_P5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P59</a:t>
            </a:r>
          </a:p>
        </p:txBody>
      </p:sp>
      <p:sp>
        <p:nvSpPr>
          <p:cNvPr id="6" name="文字_用双线桥表示下列反应中电子转移的情况。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用双线桥表示下列反应中电子转移的情况。</a:t>
            </a:r>
          </a:p>
        </p:txBody>
      </p:sp>
      <p:sp>
        <p:nvSpPr>
          <p:cNvPr id="7" name="文字_①Cl₂ + 2NaOH=NaCl + NaCl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①Cl₂ + 2NaOH=NaCl + NaClO + H₂O</a:t>
            </a:r>
          </a:p>
        </p:txBody>
      </p:sp>
      <p:sp>
        <p:nvSpPr>
          <p:cNvPr id="8" name="文字_②SO₂ + 2H₂S=3S↓ + 2H₂O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②SO₂ + 2H₂S=3S↓ + 2H₂O</a:t>
            </a:r>
          </a:p>
        </p:txBody>
      </p:sp>
      <p:sp>
        <p:nvSpPr>
          <p:cNvPr id="9" name="文字_MnO₄⁻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MnO₄⁻</a:t>
            </a:r>
          </a:p>
        </p:txBody>
      </p:sp>
      <p:sp>
        <p:nvSpPr>
          <p:cNvPr id="10" name="文字_(2)用单线桥表示下列反应中电子转移的情况。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(2)用单线桥表示下列反应中电子转移的情况。</a:t>
            </a:r>
          </a:p>
        </p:txBody>
      </p:sp>
      <p:sp>
        <p:nvSpPr>
          <p:cNvPr id="11" name="文字_①Cu + 2H₂SO₄(浓) = CuSO₄ "/>
          <p:cNvSpPr txBox="1"/>
          <p:nvPr/>
        </p:nvSpPr>
        <p:spPr>
          <a:xfrm>
            <a:off x="502920" y="32735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①Cu + 2H₂SO₄(浓) = CuSO₄ + SO₂ ↑ +2H₂O</a:t>
            </a:r>
          </a:p>
        </p:txBody>
      </p:sp>
      <p:sp>
        <p:nvSpPr>
          <p:cNvPr id="12" name="文字_②Cl₂ + 2NaOH=NaCl + NaCl"/>
          <p:cNvSpPr txBox="1"/>
          <p:nvPr/>
        </p:nvSpPr>
        <p:spPr>
          <a:xfrm>
            <a:off x="502920" y="37124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②Cl₂ + 2NaOH=NaCl + NaClO + H₂</a:t>
            </a:r>
          </a:p>
        </p:txBody>
      </p:sp>
      <p:sp>
        <p:nvSpPr>
          <p:cNvPr id="13" name="文字_解答题  ·  03-01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解答题  ·  03-017</a:t>
            </a:r>
          </a:p>
        </p:txBody>
      </p:sp>
      <p:sp>
        <p:nvSpPr>
          <p:cNvPr id="14" name="文字_2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2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02</a:t>
            </a:r>
          </a:p>
        </p:txBody>
      </p:sp>
      <p:sp>
        <p:nvSpPr>
          <p:cNvPr id="4" name="文字_常见氧化剂与还原剂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常见氧化剂与还原剂</a:t>
            </a:r>
          </a:p>
        </p:txBody>
      </p:sp>
      <p:sp>
        <p:nvSpPr>
          <p:cNvPr id="5" name="文字_知识梳理 · 讲义 P60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P60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常见氧化剂与还原剂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常见氧化剂与还原剂</a:t>
            </a:r>
          </a:p>
        </p:txBody>
      </p:sp>
      <p:sp>
        <p:nvSpPr>
          <p:cNvPr id="5" name="文字_知识讲解 · P60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P60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73936"/>
          <a:ext cx="11109960" cy="3244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4980"/>
                <a:gridCol w="5554980"/>
              </a:tblGrid>
              <a:tr h="48564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类别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常见物质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氧化剂：活泼非金属单质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O₂、Cl₂、Br₂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8158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氧化剂：高价态物质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MnO₂、浓 H₂SO₄、HNO₃、KMnO₄、K₂Cr₂O₇、Fe³⁺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氧化剂：过氧化物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H₂O₂、Na₂O₂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还原剂：金属及部分非金属单质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Na、Al、Zn、Fe；H₂、C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还原剂：低价态物质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CO、SO₂、H₂S、HI、Fe²⁺、I⁻、SO₃²⁻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93776" y="5155184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文字_提示  同一物质在不同反应中作用可能不同，例如 "/>
          <p:cNvSpPr txBox="1"/>
          <p:nvPr/>
        </p:nvSpPr>
        <p:spPr>
          <a:xfrm>
            <a:off x="630936" y="5214620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同一物质在不同反应中作用可能不同，例如 H₂O₂、SO₂、Fe²⁺。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氧化性、还原性强弱的比较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氧化性、还原性强弱的比较</a:t>
            </a:r>
          </a:p>
        </p:txBody>
      </p:sp>
      <p:sp>
        <p:nvSpPr>
          <p:cNvPr id="5" name="文字_知识讲解 · P60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P60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由反应判断：氧化性，氧化剂 &gt; 氧化产物；还原性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由反应判断：氧化性，氧化剂 &gt; 氧化产物；还原性，还原剂 &gt; 还原产物。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由活动性判断：金属越易失电子，其单质还原性通常越"/>
          <p:cNvSpPr txBox="1"/>
          <p:nvPr/>
        </p:nvSpPr>
        <p:spPr>
          <a:xfrm>
            <a:off x="722376" y="235610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由活动性判断：金属越易失电子，其单质还原性通常越强。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02056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同类非金属可结合置换反应判断：Cl₂ &gt; Br₂"/>
          <p:cNvSpPr txBox="1"/>
          <p:nvPr/>
        </p:nvSpPr>
        <p:spPr>
          <a:xfrm>
            <a:off x="722376" y="2938272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同类非金属可结合置换反应判断：Cl₂ &gt; Br₂ &gt; I₂；相应离子还原性 I⁻ &gt; Br⁻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&gt; Cl⁻。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974592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条件可比时，反应越容易进行，可作为强弱比较的依据"/>
          <p:cNvSpPr txBox="1"/>
          <p:nvPr/>
        </p:nvSpPr>
        <p:spPr>
          <a:xfrm>
            <a:off x="722376" y="389229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条件可比时，反应越容易进行，可作为强弱比较的依据；必须说明反应条件。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55676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同一还原剂被氧化到更高价态，可辅助比较氧化剂的氧"/>
          <p:cNvSpPr txBox="1"/>
          <p:nvPr/>
        </p:nvSpPr>
        <p:spPr>
          <a:xfrm>
            <a:off x="722376" y="447446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同一还原剂被氧化到更高价态，可辅助比较氧化剂的氧化性。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555955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提示  强弱取决于得失电子的难易，与一次得失电子"/>
          <p:cNvSpPr txBox="1"/>
          <p:nvPr/>
        </p:nvSpPr>
        <p:spPr>
          <a:xfrm>
            <a:off x="630936" y="561898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强弱取决于得失电子的难易，与一次得失电子的多少不同。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价态规律、归中规律与反应顺序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价态规律、归中规律与反应顺序</a:t>
            </a:r>
          </a:p>
        </p:txBody>
      </p:sp>
      <p:sp>
        <p:nvSpPr>
          <p:cNvPr id="5" name="文字_知识讲解 · P60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P60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就某一种元素而言：最高价态只能降低，最低价态只能"/>
          <p:cNvSpPr txBox="1"/>
          <p:nvPr/>
        </p:nvSpPr>
        <p:spPr>
          <a:xfrm>
            <a:off x="722376" y="1773936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就某一种元素而言：最高价态只能降低，最低价态只能升高，中间价态可升也可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81025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归中反应：同一元素的高、低价态向中间价态靠近，电"/>
          <p:cNvSpPr txBox="1"/>
          <p:nvPr/>
        </p:nvSpPr>
        <p:spPr>
          <a:xfrm>
            <a:off x="722376" y="272796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归中反应：同一元素的高、低价态向中间价态靠近，电子转移不能交叉计算。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392424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歧化反应：同一元素的同一价态，一部分升高、一部分"/>
          <p:cNvSpPr txBox="1"/>
          <p:nvPr/>
        </p:nvSpPr>
        <p:spPr>
          <a:xfrm>
            <a:off x="722376" y="3310128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歧化反应：同一元素的同一价态，一部分升高、一部分降低。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974592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条件和浓度相近时，多种反应物竞争，应结合氧化性或"/>
          <p:cNvSpPr txBox="1"/>
          <p:nvPr/>
        </p:nvSpPr>
        <p:spPr>
          <a:xfrm>
            <a:off x="722376" y="3892296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条件和浓度相近时，多种反应物竞争，应结合氧化性或还原性强弱判断主要反应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顺序。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" y="555955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提示  讨论某元素的最高价态，不能直接断言整个化"/>
          <p:cNvSpPr txBox="1"/>
          <p:nvPr/>
        </p:nvSpPr>
        <p:spPr>
          <a:xfrm>
            <a:off x="630936" y="561898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讨论某元素的最高价态，不能直接断言整个化合物只有氧化性；还要检查其他元素。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电子数计算不能“价态交叉”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电子数计算不能“价态交叉”</a:t>
            </a:r>
          </a:p>
        </p:txBody>
      </p:sp>
      <p:sp>
        <p:nvSpPr>
          <p:cNvPr id="5" name="文字_知识讲解 · P60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P60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H₂S + H₂SO₄(浓) = S↓ + SO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H₂S + H₂SO₄(浓) = S↓ + SO₂↑ + 2H₂O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H₂S 中 S：−2 → 0，每个 S 失去 2"/>
          <p:cNvSpPr txBox="1"/>
          <p:nvPr/>
        </p:nvSpPr>
        <p:spPr>
          <a:xfrm>
            <a:off x="722376" y="235610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H₂S 中 S：−2 → 0，每个 S 失去 2e⁻。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02056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H₂SO₄ 中 S：+6 → +4，每个 S 得"/>
          <p:cNvSpPr txBox="1"/>
          <p:nvPr/>
        </p:nvSpPr>
        <p:spPr>
          <a:xfrm>
            <a:off x="722376" y="293827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H₂SO₄ 中 S：+6 → +4，每个 S 得到 2e⁻。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60273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该反应每进行 1 mol，转移 2 mol 电子"/>
          <p:cNvSpPr txBox="1"/>
          <p:nvPr/>
        </p:nvSpPr>
        <p:spPr>
          <a:xfrm>
            <a:off x="722376" y="352044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该反应每进行 1 mol，转移 2 mol 电子。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" y="555955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提示  不能把 −2 → +4、+6 → 0 作"/>
          <p:cNvSpPr txBox="1"/>
          <p:nvPr/>
        </p:nvSpPr>
        <p:spPr>
          <a:xfrm>
            <a:off x="630936" y="561898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不能把 −2 → +4、+6 → 0 作为本反应的电子转移路径。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基本规律 · 例题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氧化还原反应的基本规律 · 例题1</a:t>
            </a:r>
          </a:p>
        </p:txBody>
      </p:sp>
      <p:sp>
        <p:nvSpPr>
          <p:cNvPr id="5" name="文字_P6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P63</a:t>
            </a:r>
          </a:p>
        </p:txBody>
      </p:sp>
      <p:sp>
        <p:nvSpPr>
          <p:cNvPr id="6" name="文字_下列物质之间的转化，需要加入还原剂才能实现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下列物质之间的转化，需要加入还原剂才能实现的是</a:t>
            </a:r>
          </a:p>
        </p:txBody>
      </p:sp>
      <p:sp>
        <p:nvSpPr>
          <p:cNvPr id="7" name="文字_A. Cl₂ → NaCl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Cl₂ → NaCl</a:t>
            </a:r>
          </a:p>
        </p:txBody>
      </p:sp>
      <p:sp>
        <p:nvSpPr>
          <p:cNvPr id="8" name="文字_B. Al₂O₃ → Na [Al(OH)₄] 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Al₂O₃ → Na [Al(OH)₄] C. FeCl₃ → FeCl₂</a:t>
            </a:r>
          </a:p>
        </p:txBody>
      </p:sp>
      <p:sp>
        <p:nvSpPr>
          <p:cNvPr id="9" name="文字_D. CO → CO₂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CO → CO₂</a:t>
            </a:r>
          </a:p>
        </p:txBody>
      </p:sp>
      <p:sp>
        <p:nvSpPr>
          <p:cNvPr id="10" name="文字_单选题  ·  03-01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03-018</a:t>
            </a:r>
          </a:p>
        </p:txBody>
      </p:sp>
      <p:sp>
        <p:nvSpPr>
          <p:cNvPr id="11" name="文字_2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基本规律 · 例题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氧化还原反应的基本规律 · 例题2</a:t>
            </a:r>
          </a:p>
        </p:txBody>
      </p:sp>
      <p:sp>
        <p:nvSpPr>
          <p:cNvPr id="5" name="文字_P6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P63</a:t>
            </a:r>
          </a:p>
        </p:txBody>
      </p:sp>
      <p:sp>
        <p:nvSpPr>
          <p:cNvPr id="6" name="文字_下列变化过程中，加入氧化剂才能实现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下列变化过程中，加入氧化剂才能实现的是（）</a:t>
            </a:r>
          </a:p>
        </p:txBody>
      </p:sp>
      <p:sp>
        <p:nvSpPr>
          <p:cNvPr id="7" name="文字_A. NO₂→ NO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NO₂→ NO</a:t>
            </a:r>
          </a:p>
        </p:txBody>
      </p:sp>
      <p:sp>
        <p:nvSpPr>
          <p:cNvPr id="8" name="文字_B. SO₂→SO₄²⁻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SO₂→SO₄²⁻</a:t>
            </a:r>
          </a:p>
        </p:txBody>
      </p:sp>
      <p:sp>
        <p:nvSpPr>
          <p:cNvPr id="9" name="文字_C. HCO₃⁻→CO₃²⁻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HCO₃⁻→CO₃²⁻</a:t>
            </a:r>
          </a:p>
        </p:txBody>
      </p:sp>
      <p:sp>
        <p:nvSpPr>
          <p:cNvPr id="10" name="文字_D. Cu²⁺→Cu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Cu²⁺→Cu</a:t>
            </a:r>
          </a:p>
        </p:txBody>
      </p:sp>
      <p:sp>
        <p:nvSpPr>
          <p:cNvPr id="11" name="文字_单选题  ·  03-01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03-019</a:t>
            </a:r>
          </a:p>
        </p:txBody>
      </p:sp>
      <p:sp>
        <p:nvSpPr>
          <p:cNvPr id="12" name="文字_3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基本规律 · 例题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氧化还原反应的基本规律 · 例题3</a:t>
            </a:r>
          </a:p>
        </p:txBody>
      </p:sp>
      <p:sp>
        <p:nvSpPr>
          <p:cNvPr id="5" name="文字_P6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P63</a:t>
            </a:r>
          </a:p>
        </p:txBody>
      </p:sp>
      <p:sp>
        <p:nvSpPr>
          <p:cNvPr id="6" name="文字_大苏打(Na₂S₂O₃)在照相、电影、纺织、化纤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大苏打(Na₂S₂O₃)在照相、电影、纺织、化纤、造纸、皮革、农药等方面均有重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要作用。现欲制备大苏打，从氧化还原角度分析，下列所选用的制备试剂组合合理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的是(）</a:t>
            </a:r>
          </a:p>
        </p:txBody>
      </p:sp>
      <p:sp>
        <p:nvSpPr>
          <p:cNvPr id="7" name="文字_A. Na₂S + S"/>
          <p:cNvSpPr txBox="1"/>
          <p:nvPr/>
        </p:nvSpPr>
        <p:spPr>
          <a:xfrm>
            <a:off x="502920" y="22433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Na₂S + S</a:t>
            </a:r>
          </a:p>
        </p:txBody>
      </p:sp>
      <p:sp>
        <p:nvSpPr>
          <p:cNvPr id="8" name="文字_B. Na₂SO₃ + S"/>
          <p:cNvSpPr txBox="1"/>
          <p:nvPr/>
        </p:nvSpPr>
        <p:spPr>
          <a:xfrm>
            <a:off x="502920" y="26822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Na₂SO₃ + S</a:t>
            </a:r>
          </a:p>
        </p:txBody>
      </p:sp>
      <p:sp>
        <p:nvSpPr>
          <p:cNvPr id="9" name="文字_C. Na₂SO₃ + Na₂SO₄"/>
          <p:cNvSpPr txBox="1"/>
          <p:nvPr/>
        </p:nvSpPr>
        <p:spPr>
          <a:xfrm>
            <a:off x="502920" y="31211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Na₂SO₃ + Na₂SO₄</a:t>
            </a:r>
          </a:p>
        </p:txBody>
      </p:sp>
      <p:sp>
        <p:nvSpPr>
          <p:cNvPr id="10" name="文字_D. SO₂ + Na₂SO₃"/>
          <p:cNvSpPr txBox="1"/>
          <p:nvPr/>
        </p:nvSpPr>
        <p:spPr>
          <a:xfrm>
            <a:off x="502920" y="35600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SO₂ + Na₂SO₃</a:t>
            </a:r>
          </a:p>
        </p:txBody>
      </p:sp>
      <p:sp>
        <p:nvSpPr>
          <p:cNvPr id="11" name="文字_单选题  ·  03-02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03-020</a:t>
            </a:r>
          </a:p>
        </p:txBody>
      </p:sp>
      <p:sp>
        <p:nvSpPr>
          <p:cNvPr id="12" name="文字_3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基本规律 · 例题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氧化还原反应的基本规律 · 例题4</a:t>
            </a:r>
          </a:p>
        </p:txBody>
      </p:sp>
      <p:sp>
        <p:nvSpPr>
          <p:cNvPr id="5" name="文字_P6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P63</a:t>
            </a:r>
          </a:p>
        </p:txBody>
      </p:sp>
      <p:sp>
        <p:nvSpPr>
          <p:cNvPr id="6" name="文字_已知下列反应: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已知下列反应:</a:t>
            </a:r>
          </a:p>
        </p:txBody>
      </p:sp>
      <p:sp>
        <p:nvSpPr>
          <p:cNvPr id="7" name="文字_Co₂O₃ + 6 HCl(浓)=2 CoCl₂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Co₂O₃ + 6 HCl(浓)=2 CoCl₂ + Cl₂ ↑ + 3 H₂O</a:t>
            </a:r>
          </a:p>
        </p:txBody>
      </p:sp>
      <p:sp>
        <p:nvSpPr>
          <p:cNvPr id="8" name="文字_5 Cl₂ + I₂ + 6 H₂O=10 HC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5 Cl₂ + I₂ + 6 H₂O=10 HCl + 2 HIO₃ II</a:t>
            </a:r>
          </a:p>
        </p:txBody>
      </p:sp>
      <p:sp>
        <p:nvSpPr>
          <p:cNvPr id="9" name="文字_下列说法正确的是()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下列说法正确的是()</a:t>
            </a:r>
          </a:p>
        </p:txBody>
      </p:sp>
      <p:sp>
        <p:nvSpPr>
          <p:cNvPr id="10" name="文字_A. 还原性: CoCl₂ &gt; HCl &gt; I₂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还原性: CoCl₂ &gt; HCl &gt; I₂</a:t>
            </a:r>
          </a:p>
        </p:txBody>
      </p:sp>
      <p:sp>
        <p:nvSpPr>
          <p:cNvPr id="11" name="文字_B. 氧化性: Co₂O₃ &gt; Cl₂ &gt; HI"/>
          <p:cNvSpPr txBox="1"/>
          <p:nvPr/>
        </p:nvSpPr>
        <p:spPr>
          <a:xfrm>
            <a:off x="502920" y="32735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氧化性: Co₂O₃ &gt; Cl₂ &gt; HIO₃</a:t>
            </a:r>
          </a:p>
        </p:txBody>
      </p:sp>
      <p:sp>
        <p:nvSpPr>
          <p:cNvPr id="12" name="文字_C. 反应I中HCl是氧化剂"/>
          <p:cNvSpPr txBox="1"/>
          <p:nvPr/>
        </p:nvSpPr>
        <p:spPr>
          <a:xfrm>
            <a:off x="502920" y="37124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反应I中HCl是氧化剂</a:t>
            </a:r>
          </a:p>
        </p:txBody>
      </p:sp>
      <p:sp>
        <p:nvSpPr>
          <p:cNvPr id="13" name="文字_D. 反应Ⅱ中 Cl₂ 发生氧化反应"/>
          <p:cNvSpPr txBox="1"/>
          <p:nvPr/>
        </p:nvSpPr>
        <p:spPr>
          <a:xfrm>
            <a:off x="502920" y="41513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反应Ⅱ中 Cl₂ 发生氧化反应</a:t>
            </a:r>
          </a:p>
        </p:txBody>
      </p:sp>
      <p:sp>
        <p:nvSpPr>
          <p:cNvPr id="14" name="文字_单选题  ·  03-02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03-021</a:t>
            </a:r>
          </a:p>
        </p:txBody>
      </p:sp>
      <p:sp>
        <p:nvSpPr>
          <p:cNvPr id="15" name="文字_3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基本规律 · 例题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氧化还原反应的基本规律 · 例题5</a:t>
            </a:r>
          </a:p>
        </p:txBody>
      </p:sp>
      <p:sp>
        <p:nvSpPr>
          <p:cNvPr id="5" name="文字_P6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P63</a:t>
            </a:r>
          </a:p>
        </p:txBody>
      </p:sp>
      <p:sp>
        <p:nvSpPr>
          <p:cNvPr id="6" name="文字_已知KMnO₄ + HCl(浓)→ KCl + 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已知KMnO₄ + HCl(浓)→ KCl + Cl₂ ↑ +MnCl₂ + H₂O(未配平)。则下列说法中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正确的是</a:t>
            </a:r>
          </a:p>
        </p:txBody>
      </p:sp>
      <p:sp>
        <p:nvSpPr>
          <p:cNvPr id="7" name="文字_A. 氧化性: Cl₂ &gt; KMnO₄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氧化性: Cl₂ &gt; KMnO₄</a:t>
            </a:r>
          </a:p>
        </p:txBody>
      </p:sp>
      <p:sp>
        <p:nvSpPr>
          <p:cNvPr id="8" name="文字_B. 氧化剂与还原剂的物质的量之比为1:8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氧化剂与还原剂的物质的量之比为1:8</a:t>
            </a:r>
          </a:p>
        </p:txBody>
      </p:sp>
      <p:sp>
        <p:nvSpPr>
          <p:cNvPr id="9" name="文字_C. Cl₂为氧化产物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Cl₂为氧化产物</a:t>
            </a:r>
          </a:p>
        </p:txBody>
      </p:sp>
      <p:sp>
        <p:nvSpPr>
          <p:cNvPr id="10" name="文字_D. 该反应中盐酸体现了氧化性和酸性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该反应中盐酸体现了氧化性和酸性</a:t>
            </a:r>
          </a:p>
        </p:txBody>
      </p:sp>
      <p:sp>
        <p:nvSpPr>
          <p:cNvPr id="11" name="文字_单选题  ·  03-02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03-022</a:t>
            </a:r>
          </a:p>
        </p:txBody>
      </p:sp>
      <p:sp>
        <p:nvSpPr>
          <p:cNvPr id="12" name="文字_3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基本规律 · 例题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氧化还原反应的基本规律 · 例题6</a:t>
            </a:r>
          </a:p>
        </p:txBody>
      </p:sp>
      <p:sp>
        <p:nvSpPr>
          <p:cNvPr id="5" name="文字_P6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P64</a:t>
            </a:r>
          </a:p>
        </p:txBody>
      </p:sp>
      <p:sp>
        <p:nvSpPr>
          <p:cNvPr id="6" name="文字_5. (2024·六中期中）化学上常用标准电极电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5. (2024·六中期中）化学上常用标准电极电势E(氧化型/还原型)比较物质的氧化能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力。E值越高，氧化型物质的氧化能力越强，E值越低，还原型物质的还原能力越强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。E值与体系的pH有关。根据表格信息，判断下列说法错误的是（）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43328"/>
            <a:ext cx="11064240" cy="1271047"/>
          </a:xfrm>
          <a:prstGeom prst="rect">
            <a:avLst/>
          </a:prstGeom>
        </p:spPr>
      </p:pic>
      <p:sp>
        <p:nvSpPr>
          <p:cNvPr id="8" name="原题文字_64_6"/>
          <p:cNvSpPr txBox="1"/>
          <p:nvPr/>
        </p:nvSpPr>
        <p:spPr>
          <a:xfrm>
            <a:off x="610116" y="2275211"/>
            <a:ext cx="7750062" cy="537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1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氧化型/还原型物质PbO₂/PbSO₄MnO⁻/Mn₂ + Fe³⁺/Fe₂ + Cl₂/ClrVO+/VO₂ + BrO₃/Br-</a:t>
            </a:r>
          </a:p>
        </p:txBody>
      </p:sp>
      <p:sp>
        <p:nvSpPr>
          <p:cNvPr id="9" name="原题文字_64_7"/>
          <p:cNvSpPr txBox="1"/>
          <p:nvPr/>
        </p:nvSpPr>
        <p:spPr>
          <a:xfrm>
            <a:off x="617773" y="2765254"/>
            <a:ext cx="1479049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E(酸性条件中)</a:t>
            </a:r>
          </a:p>
        </p:txBody>
      </p:sp>
      <p:sp>
        <p:nvSpPr>
          <p:cNvPr id="10" name="原题文字_64_8"/>
          <p:cNvSpPr txBox="1"/>
          <p:nvPr/>
        </p:nvSpPr>
        <p:spPr>
          <a:xfrm>
            <a:off x="2424805" y="2772911"/>
            <a:ext cx="805241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1.685V</a:t>
            </a:r>
          </a:p>
        </p:txBody>
      </p:sp>
      <p:sp>
        <p:nvSpPr>
          <p:cNvPr id="11" name="原题文字_64_9"/>
          <p:cNvSpPr txBox="1"/>
          <p:nvPr/>
        </p:nvSpPr>
        <p:spPr>
          <a:xfrm>
            <a:off x="3580999" y="2772911"/>
            <a:ext cx="682730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1.51V</a:t>
            </a:r>
          </a:p>
        </p:txBody>
      </p:sp>
      <p:sp>
        <p:nvSpPr>
          <p:cNvPr id="12" name="原题文字_64_10"/>
          <p:cNvSpPr txBox="1"/>
          <p:nvPr/>
        </p:nvSpPr>
        <p:spPr>
          <a:xfrm>
            <a:off x="4767820" y="2772911"/>
            <a:ext cx="698044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0.77V</a:t>
            </a:r>
          </a:p>
        </p:txBody>
      </p:sp>
      <p:sp>
        <p:nvSpPr>
          <p:cNvPr id="13" name="原题文字_64_11"/>
          <p:cNvSpPr txBox="1"/>
          <p:nvPr/>
        </p:nvSpPr>
        <p:spPr>
          <a:xfrm>
            <a:off x="5648365" y="2772911"/>
            <a:ext cx="1433108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1.36V 0.991V</a:t>
            </a:r>
          </a:p>
        </p:txBody>
      </p:sp>
      <p:sp>
        <p:nvSpPr>
          <p:cNvPr id="14" name="原题文字_64_12"/>
          <p:cNvSpPr txBox="1"/>
          <p:nvPr/>
        </p:nvSpPr>
        <p:spPr>
          <a:xfrm>
            <a:off x="7325229" y="2749940"/>
            <a:ext cx="820555" cy="43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6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1.423V</a:t>
            </a:r>
          </a:p>
        </p:txBody>
      </p:sp>
      <p:sp>
        <p:nvSpPr>
          <p:cNvPr id="15" name="原题文字_64_13"/>
          <p:cNvSpPr txBox="1"/>
          <p:nvPr/>
        </p:nvSpPr>
        <p:spPr>
          <a:xfrm>
            <a:off x="571832" y="3178727"/>
            <a:ext cx="4120685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2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实验室可用KBrO₃与浓盐酸反应制备Cl₂</a:t>
            </a:r>
          </a:p>
        </p:txBody>
      </p:sp>
      <p:sp>
        <p:nvSpPr>
          <p:cNvPr id="16" name="文字_B. 酸性条件中，氧化性强弱顺序为MnO₄&gt;Cl"/>
          <p:cNvSpPr txBox="1"/>
          <p:nvPr/>
        </p:nvSpPr>
        <p:spPr>
          <a:xfrm>
            <a:off x="502920" y="3587527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酸性条件中，氧化性强弱顺序为MnO₄&gt;Cl₂&gt;VO&gt; Fe³⁺</a:t>
            </a:r>
          </a:p>
        </p:txBody>
      </p:sp>
      <p:sp>
        <p:nvSpPr>
          <p:cNvPr id="17" name="文字_C. 该反应能发生：BrO₃ + 3Pb²⁺+3"/>
          <p:cNvSpPr txBox="1"/>
          <p:nvPr/>
        </p:nvSpPr>
        <p:spPr>
          <a:xfrm>
            <a:off x="502920" y="4026439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该反应能发生：BrO₃ + 3Pb²⁺+3H₂O=3PbO₂↓+Br₂ + 6H+</a:t>
            </a:r>
          </a:p>
        </p:txBody>
      </p:sp>
      <p:sp>
        <p:nvSpPr>
          <p:cNvPr id="18" name="文字_D. 向硫酸酸化的FeSO₄溶液中加入(VO₂)"/>
          <p:cNvSpPr txBox="1"/>
          <p:nvPr/>
        </p:nvSpPr>
        <p:spPr>
          <a:xfrm>
            <a:off x="502920" y="4465351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向硫酸酸化的FeSO₄溶液中加入(VO₂)₂SO₄，充分反应后，可观察到溶液变黄</a:t>
            </a:r>
          </a:p>
        </p:txBody>
      </p:sp>
      <p:sp>
        <p:nvSpPr>
          <p:cNvPr id="19" name="文字_单选题  ·  03-02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03-023</a:t>
            </a:r>
          </a:p>
        </p:txBody>
      </p:sp>
      <p:sp>
        <p:nvSpPr>
          <p:cNvPr id="20" name="文字_3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基本规律 · 例题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氧化还原反应的基本规律 · 例题7</a:t>
            </a:r>
          </a:p>
        </p:txBody>
      </p:sp>
      <p:sp>
        <p:nvSpPr>
          <p:cNvPr id="5" name="文字_P6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P64</a:t>
            </a:r>
          </a:p>
        </p:txBody>
      </p:sp>
      <p:sp>
        <p:nvSpPr>
          <p:cNvPr id="6" name="文字_多种氧化剂和还原剂相遇时，存在“争先恐后，强者优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多种氧化剂和还原剂相遇时，存在“争先恐后，强者优先”的现象。请预测，在含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FeCl₂、MgCl₂和HCl的溶液中加入适量Zn粉，首先置换出来的是()</a:t>
            </a:r>
          </a:p>
        </p:txBody>
      </p:sp>
      <p:sp>
        <p:nvSpPr>
          <p:cNvPr id="7" name="文字_A. Fe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Fe</a:t>
            </a:r>
          </a:p>
        </p:txBody>
      </p:sp>
      <p:sp>
        <p:nvSpPr>
          <p:cNvPr id="8" name="文字_B. H₂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H₂</a:t>
            </a:r>
          </a:p>
        </p:txBody>
      </p:sp>
      <p:sp>
        <p:nvSpPr>
          <p:cNvPr id="9" name="文字_C. Mg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Mg</a:t>
            </a:r>
          </a:p>
        </p:txBody>
      </p:sp>
      <p:sp>
        <p:nvSpPr>
          <p:cNvPr id="10" name="文字_D. 不能确定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不能确定</a:t>
            </a:r>
          </a:p>
        </p:txBody>
      </p:sp>
      <p:sp>
        <p:nvSpPr>
          <p:cNvPr id="11" name="文字_单选题  ·  03-02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03-024</a:t>
            </a:r>
          </a:p>
        </p:txBody>
      </p:sp>
      <p:sp>
        <p:nvSpPr>
          <p:cNvPr id="12" name="文字_3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基本规律 · 例题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氧化还原反应的基本规律 · 例题8</a:t>
            </a:r>
          </a:p>
        </p:txBody>
      </p:sp>
      <p:sp>
        <p:nvSpPr>
          <p:cNvPr id="5" name="文字_P6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P64</a:t>
            </a:r>
          </a:p>
        </p:txBody>
      </p:sp>
      <p:sp>
        <p:nvSpPr>
          <p:cNvPr id="6" name="文字_常温下，发生下列反应：①Cl₂ + 2Fe²⁺=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常温下，发生下列反应：①Cl₂ + 2Fe²⁺=2Fe³⁺+2Cl-，②2Fe³⁺+2I=2Fe²⁺+I₂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，根据上述反应判断，下列结论错误的是</a:t>
            </a:r>
          </a:p>
        </p:txBody>
      </p:sp>
      <p:sp>
        <p:nvSpPr>
          <p:cNvPr id="7" name="文字_A. 氧化性: Cl₂&gt;Fe³⁺&gt;I₂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氧化性: Cl₂&gt;Fe³⁺&gt;I₂</a:t>
            </a:r>
          </a:p>
        </p:txBody>
      </p:sp>
      <p:sp>
        <p:nvSpPr>
          <p:cNvPr id="8" name="文字_B. 溶液中可以发生:Cl₂ + 2I—=2Cl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溶液中可以发生:Cl₂ + 2I—=2Cl + I₂</a:t>
            </a:r>
          </a:p>
        </p:txBody>
      </p:sp>
      <p:sp>
        <p:nvSpPr>
          <p:cNvPr id="9" name="文字_C. Fe²⁺在反应①中是还原剂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Fe²⁺在反应①中是还原剂</a:t>
            </a:r>
          </a:p>
        </p:txBody>
      </p:sp>
      <p:sp>
        <p:nvSpPr>
          <p:cNvPr id="10" name="文字_D. I₂是I⁻的还原产物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I₂是I⁻的还原产物</a:t>
            </a:r>
          </a:p>
        </p:txBody>
      </p:sp>
      <p:sp>
        <p:nvSpPr>
          <p:cNvPr id="11" name="文字_单选题  ·  03-02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03-025</a:t>
            </a:r>
          </a:p>
        </p:txBody>
      </p:sp>
      <p:sp>
        <p:nvSpPr>
          <p:cNvPr id="12" name="文字_3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基本规律 · 例题9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氧化还原反应的基本规律 · 例题9</a:t>
            </a:r>
          </a:p>
        </p:txBody>
      </p:sp>
      <p:sp>
        <p:nvSpPr>
          <p:cNvPr id="5" name="文字_P6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P64</a:t>
            </a:r>
          </a:p>
        </p:txBody>
      </p:sp>
      <p:sp>
        <p:nvSpPr>
          <p:cNvPr id="6" name="文字_已知还原性Cl− &lt; Fe²⁺ &lt; H₂O₂ &lt;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已知还原性Cl− &lt; Fe²⁺ &lt; H₂O₂ &lt; I⁻ &lt; SO₂， 下列反应不能发生的是</a:t>
            </a:r>
          </a:p>
        </p:txBody>
      </p:sp>
      <p:sp>
        <p:nvSpPr>
          <p:cNvPr id="7" name="文字_A. H₂O₂ + 2H+ + SO₂⁻ = S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H₂O₂ + 2H+ + SO₂⁻ = SO₂ ↑ +O₂ ↑ +2H₂O</a:t>
            </a:r>
          </a:p>
        </p:txBody>
      </p:sp>
      <p:sp>
        <p:nvSpPr>
          <p:cNvPr id="8" name="文字_B. I₂ + SO₂ + 2H₂O = H₂S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I₂ + SO₂ + 2H₂O = H₂SO₄ + 2HI</a:t>
            </a:r>
          </a:p>
        </p:txBody>
      </p:sp>
      <p:sp>
        <p:nvSpPr>
          <p:cNvPr id="9" name="文字_C. 2Fe³⁺ + 2I− = 2Fe²⁺ +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2Fe³⁺ + 2I− = 2Fe²⁺ + I₂</a:t>
            </a:r>
          </a:p>
        </p:txBody>
      </p:sp>
      <p:sp>
        <p:nvSpPr>
          <p:cNvPr id="10" name="文字_D. 2Fe³⁺ + SO₂ + 2H₂O = 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2Fe³⁺ + SO₂ + 2H₂O = SO₂⁻ + 4H+ + 2Fe²⁺</a:t>
            </a:r>
          </a:p>
        </p:txBody>
      </p:sp>
      <p:sp>
        <p:nvSpPr>
          <p:cNvPr id="11" name="文字_单选题  ·  03-02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03-026</a:t>
            </a:r>
          </a:p>
        </p:txBody>
      </p:sp>
      <p:sp>
        <p:nvSpPr>
          <p:cNvPr id="12" name="文字_3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基本规律 · 例题10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氧化还原反应的基本规律 · 例题10</a:t>
            </a:r>
          </a:p>
        </p:txBody>
      </p:sp>
      <p:sp>
        <p:nvSpPr>
          <p:cNvPr id="5" name="文字_P6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P64</a:t>
            </a:r>
          </a:p>
        </p:txBody>
      </p:sp>
      <p:sp>
        <p:nvSpPr>
          <p:cNvPr id="6" name="文字_已知反应: ①Cl₂ + 2KBr = 2KCl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已知反应: ①Cl₂ + 2KBr = 2KCl + Br₂， ②KClO₃ + 6HCl = 3Cl₂ ↑ +KCl +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3H₂O, ③2KBrO₃ + Cl₂= Br₂ + 2KClO₃。下列说法正确的是</a:t>
            </a:r>
          </a:p>
        </p:txBody>
      </p:sp>
      <p:sp>
        <p:nvSpPr>
          <p:cNvPr id="7" name="文字_A. 氧化性由强到弱的顺序为KBrO₃ &gt; KC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氧化性由强到弱的顺序为KBrO₃ &gt; KClO₃ &gt; Cl₂ &gt; Br₂</a:t>
            </a:r>
          </a:p>
        </p:txBody>
      </p:sp>
      <p:sp>
        <p:nvSpPr>
          <p:cNvPr id="8" name="文字_B. ①中KCl是氧化产物，KBr发生还原反应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①中KCl是氧化产物，KBr发生还原反应</a:t>
            </a:r>
          </a:p>
        </p:txBody>
      </p:sp>
      <p:sp>
        <p:nvSpPr>
          <p:cNvPr id="9" name="文字_C. ③中1份Cl₂参加反应得到2个电子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③中1份Cl₂参加反应得到2个电子</a:t>
            </a:r>
          </a:p>
        </p:txBody>
      </p:sp>
      <p:sp>
        <p:nvSpPr>
          <p:cNvPr id="10" name="文字_D. 反应②中氧化剂与还原剂的个数之比为1：6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反应②中氧化剂与还原剂的个数之比为1：6</a:t>
            </a:r>
          </a:p>
        </p:txBody>
      </p:sp>
      <p:sp>
        <p:nvSpPr>
          <p:cNvPr id="11" name="文字_单选题  ·  03-02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03-027</a:t>
            </a:r>
          </a:p>
        </p:txBody>
      </p:sp>
      <p:sp>
        <p:nvSpPr>
          <p:cNvPr id="12" name="文字_3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基本规律 · 变式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氧化还原反应的基本规律 · 变式1</a:t>
            </a:r>
          </a:p>
        </p:txBody>
      </p:sp>
      <p:sp>
        <p:nvSpPr>
          <p:cNvPr id="5" name="文字_P6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P65</a:t>
            </a:r>
          </a:p>
        </p:txBody>
      </p:sp>
      <p:sp>
        <p:nvSpPr>
          <p:cNvPr id="6" name="文字_氧化还原对立统一，同时存在。下列变化中，必须加入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氧化还原对立统一，同时存在。下列变化中，必须加入还原剂才能实现的是</a:t>
            </a:r>
          </a:p>
        </p:txBody>
      </p:sp>
      <p:sp>
        <p:nvSpPr>
          <p:cNvPr id="7" name="文字_A. Cu→Cu(NO₃)₂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Cu→Cu(NO₃)₂</a:t>
            </a:r>
          </a:p>
        </p:txBody>
      </p:sp>
      <p:sp>
        <p:nvSpPr>
          <p:cNvPr id="8" name="文字_B. KClO₃→KCl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KClO₃→KCl</a:t>
            </a:r>
          </a:p>
        </p:txBody>
      </p:sp>
      <p:sp>
        <p:nvSpPr>
          <p:cNvPr id="9" name="文字_C. CuO→Cu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CuO→Cu</a:t>
            </a:r>
          </a:p>
        </p:txBody>
      </p:sp>
      <p:sp>
        <p:nvSpPr>
          <p:cNvPr id="10" name="文字_D. Na→NaCl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Na→NaCl</a:t>
            </a:r>
          </a:p>
        </p:txBody>
      </p:sp>
      <p:sp>
        <p:nvSpPr>
          <p:cNvPr id="11" name="文字_单选题  ·  03-02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03-028</a:t>
            </a:r>
          </a:p>
        </p:txBody>
      </p:sp>
      <p:sp>
        <p:nvSpPr>
          <p:cNvPr id="12" name="文字_3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基本规律 · 变式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氧化还原反应的基本规律 · 变式2</a:t>
            </a:r>
          </a:p>
        </p:txBody>
      </p:sp>
      <p:sp>
        <p:nvSpPr>
          <p:cNvPr id="5" name="文字_P6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P65</a:t>
            </a:r>
          </a:p>
        </p:txBody>
      </p:sp>
      <p:sp>
        <p:nvSpPr>
          <p:cNvPr id="6" name="文字_下列变化必须加入氧化剂才能实现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下列变化必须加入氧化剂才能实现的是</a:t>
            </a:r>
          </a:p>
        </p:txBody>
      </p:sp>
      <p:sp>
        <p:nvSpPr>
          <p:cNvPr id="7" name="文字_A. Br¯→ Br₂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Br¯→ Br₂</a:t>
            </a:r>
          </a:p>
        </p:txBody>
      </p:sp>
      <p:sp>
        <p:nvSpPr>
          <p:cNvPr id="8" name="文字_B. H₂SO₄→SO₂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H₂SO₄→SO₂</a:t>
            </a:r>
          </a:p>
        </p:txBody>
      </p:sp>
      <p:sp>
        <p:nvSpPr>
          <p:cNvPr id="9" name="文字_C. Na₂CO₃→CO₂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Na₂CO₃→CO₂</a:t>
            </a:r>
          </a:p>
        </p:txBody>
      </p:sp>
      <p:sp>
        <p:nvSpPr>
          <p:cNvPr id="10" name="文字_D. Fe₂O₃→Fe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Fe₂O₃→Fe</a:t>
            </a:r>
          </a:p>
        </p:txBody>
      </p:sp>
      <p:sp>
        <p:nvSpPr>
          <p:cNvPr id="11" name="文字_单选题  ·  03-02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03-029</a:t>
            </a:r>
          </a:p>
        </p:txBody>
      </p:sp>
      <p:sp>
        <p:nvSpPr>
          <p:cNvPr id="12" name="文字_4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基本规律 · 变式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氧化还原反应的基本规律 · 变式3</a:t>
            </a:r>
          </a:p>
        </p:txBody>
      </p:sp>
      <p:sp>
        <p:nvSpPr>
          <p:cNvPr id="5" name="文字_P6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P65</a:t>
            </a:r>
          </a:p>
        </p:txBody>
      </p:sp>
      <p:sp>
        <p:nvSpPr>
          <p:cNvPr id="6" name="文字_下列粒子中，既具有氧化性，又有还原性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下列粒子中，既具有氧化性，又有还原性的是</a:t>
            </a:r>
          </a:p>
        </p:txBody>
      </p:sp>
      <p:sp>
        <p:nvSpPr>
          <p:cNvPr id="7" name="文字_A. HCl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HCl</a:t>
            </a:r>
          </a:p>
        </p:txBody>
      </p:sp>
      <p:sp>
        <p:nvSpPr>
          <p:cNvPr id="8" name="文字_B. Zn²⁺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Zn²⁺</a:t>
            </a:r>
          </a:p>
        </p:txBody>
      </p:sp>
      <p:sp>
        <p:nvSpPr>
          <p:cNvPr id="9" name="文字_C. Cl⁻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Cl⁻</a:t>
            </a:r>
          </a:p>
        </p:txBody>
      </p:sp>
      <p:sp>
        <p:nvSpPr>
          <p:cNvPr id="10" name="文字_D. Mg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Mg</a:t>
            </a:r>
          </a:p>
        </p:txBody>
      </p:sp>
      <p:sp>
        <p:nvSpPr>
          <p:cNvPr id="11" name="文字_单选题  ·  03-03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03-030</a:t>
            </a:r>
          </a:p>
        </p:txBody>
      </p:sp>
      <p:sp>
        <p:nvSpPr>
          <p:cNvPr id="12" name="文字_4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基本规律 · 变式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氧化还原反应的基本规律 · 变式4</a:t>
            </a:r>
          </a:p>
        </p:txBody>
      </p:sp>
      <p:sp>
        <p:nvSpPr>
          <p:cNvPr id="5" name="文字_P6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P65</a:t>
            </a:r>
          </a:p>
        </p:txBody>
      </p:sp>
      <p:sp>
        <p:nvSpPr>
          <p:cNvPr id="6" name="文字_常温下在溶液中可发生反应: 2Fe²⁺ + Br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常温下在溶液中可发生反应: 2Fe²⁺ + Br₂ = 2Fe³⁺ + 2Br−，下列说法错误的是</a:t>
            </a:r>
          </a:p>
        </p:txBody>
      </p:sp>
      <p:sp>
        <p:nvSpPr>
          <p:cNvPr id="7" name="文字_A. 氧化产物为Fe³⁺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氧化产物为Fe³⁺</a:t>
            </a:r>
          </a:p>
        </p:txBody>
      </p:sp>
      <p:sp>
        <p:nvSpPr>
          <p:cNvPr id="8" name="文字_B. 铁元素在反应中被还原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铁元素在反应中被还原</a:t>
            </a:r>
          </a:p>
        </p:txBody>
      </p:sp>
      <p:sp>
        <p:nvSpPr>
          <p:cNvPr id="9" name="文字_C. 还原性： Fe²⁺&gt;Br⁻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还原性： Fe²⁺&gt;Br⁻</a:t>
            </a:r>
          </a:p>
        </p:txBody>
      </p:sp>
      <p:sp>
        <p:nvSpPr>
          <p:cNvPr id="10" name="文字_D. 该反应属于氧化还原反应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该反应属于氧化还原反应</a:t>
            </a:r>
          </a:p>
        </p:txBody>
      </p:sp>
      <p:sp>
        <p:nvSpPr>
          <p:cNvPr id="11" name="文字_单选题  ·  03-03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03-031</a:t>
            </a:r>
          </a:p>
        </p:txBody>
      </p:sp>
      <p:sp>
        <p:nvSpPr>
          <p:cNvPr id="12" name="文字_4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基本规律 · 变式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氧化还原反应的基本规律 · 变式5</a:t>
            </a:r>
          </a:p>
        </p:txBody>
      </p:sp>
      <p:sp>
        <p:nvSpPr>
          <p:cNvPr id="5" name="文字_P6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P65</a:t>
            </a:r>
          </a:p>
        </p:txBody>
      </p:sp>
      <p:sp>
        <p:nvSpPr>
          <p:cNvPr id="6" name="文字_在含有 Cu(NO₃)₂、Mg(NO₃)₂和 A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在含有 Cu(NO₃)₂、Mg(NO₃)₂和 AgNO₃的溶液中加入适量锌粉，首先被置换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出来的是()</a:t>
            </a:r>
          </a:p>
        </p:txBody>
      </p:sp>
      <p:sp>
        <p:nvSpPr>
          <p:cNvPr id="7" name="文字_A. Mg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Mg</a:t>
            </a:r>
          </a:p>
        </p:txBody>
      </p:sp>
      <p:sp>
        <p:nvSpPr>
          <p:cNvPr id="8" name="文字_B. Cu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Cu</a:t>
            </a:r>
          </a:p>
        </p:txBody>
      </p:sp>
      <p:sp>
        <p:nvSpPr>
          <p:cNvPr id="9" name="文字_C. Ag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Ag</a:t>
            </a:r>
          </a:p>
        </p:txBody>
      </p:sp>
      <p:sp>
        <p:nvSpPr>
          <p:cNvPr id="10" name="文字_D. H₂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H₂</a:t>
            </a:r>
          </a:p>
        </p:txBody>
      </p:sp>
      <p:sp>
        <p:nvSpPr>
          <p:cNvPr id="11" name="文字_单选题  ·  03-03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03-032</a:t>
            </a:r>
          </a:p>
        </p:txBody>
      </p:sp>
      <p:sp>
        <p:nvSpPr>
          <p:cNvPr id="12" name="文字_4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基本规律 · 变式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氧化还原反应的基本规律 · 变式6</a:t>
            </a:r>
          </a:p>
        </p:txBody>
      </p:sp>
      <p:sp>
        <p:nvSpPr>
          <p:cNvPr id="5" name="文字_P6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P65</a:t>
            </a:r>
          </a:p>
        </p:txBody>
      </p:sp>
      <p:sp>
        <p:nvSpPr>
          <p:cNvPr id="6" name="文字_制备Cu₂O的一种方法为Zn + 2CuSO₄ 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制备Cu₂O的一种方法为Zn + 2CuSO₄ + 2NaOH = Cu₂O + ZnSO₄ +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Na₂SO₄ + H₂O。下列说法中正确的是</a:t>
            </a:r>
          </a:p>
        </p:txBody>
      </p:sp>
      <p:sp>
        <p:nvSpPr>
          <p:cNvPr id="7" name="文字_A. 该反应既是氧化还原反应，又是离子反应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该反应既是氧化还原反应，又是离子反应</a:t>
            </a:r>
          </a:p>
        </p:txBody>
      </p:sp>
      <p:sp>
        <p:nvSpPr>
          <p:cNvPr id="8" name="文字_B. Zn得到电子，发生还原反应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Zn得到电子，发生还原反应</a:t>
            </a:r>
          </a:p>
        </p:txBody>
      </p:sp>
      <p:sp>
        <p:nvSpPr>
          <p:cNvPr id="9" name="文字_C. NaOH是氧化剂，发生还原反应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NaOH是氧化剂，发生还原反应</a:t>
            </a:r>
          </a:p>
        </p:txBody>
      </p:sp>
      <p:sp>
        <p:nvSpPr>
          <p:cNvPr id="10" name="文字_D. 氧化性: Zn²⁺ &gt; Cu²⁺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氧化性: Zn²⁺ &gt; Cu²⁺</a:t>
            </a:r>
          </a:p>
        </p:txBody>
      </p:sp>
      <p:sp>
        <p:nvSpPr>
          <p:cNvPr id="11" name="文字_单选题  ·  03-03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03-033</a:t>
            </a:r>
          </a:p>
        </p:txBody>
      </p:sp>
      <p:sp>
        <p:nvSpPr>
          <p:cNvPr id="12" name="文字_4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基本规律 · 变式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氧化还原反应的基本规律 · 变式7</a:t>
            </a:r>
          </a:p>
        </p:txBody>
      </p:sp>
      <p:sp>
        <p:nvSpPr>
          <p:cNvPr id="5" name="文字_P6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P65</a:t>
            </a:r>
          </a:p>
        </p:txBody>
      </p:sp>
      <p:sp>
        <p:nvSpPr>
          <p:cNvPr id="6" name="文字_同一还原剂与多种氧化剂在一起，先与氧化性强的反应"/>
          <p:cNvSpPr txBox="1"/>
          <p:nvPr/>
        </p:nvSpPr>
        <p:spPr>
          <a:xfrm>
            <a:off x="502920" y="1078992"/>
            <a:ext cx="11064240" cy="1527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同一还原剂与多种氧化剂在一起，先与氧化性强的反应，待强的反应完后，再与氧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化性弱的反应，称为反应先后规律。同种元素不同价态间发生氧化还原反应，价态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只靠找不交叉，称为价态归中规律。已知氧化性Fe³⁺&gt;Cu²⁺，在Fe₂(SO₄)₃和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CuSO₄混合溶液中加入铁粉，下列不正确的是(</a:t>
            </a:r>
          </a:p>
        </p:txBody>
      </p:sp>
      <p:sp>
        <p:nvSpPr>
          <p:cNvPr id="7" name="文字_A. 若有铁粉剩余，则不溶物中有铁和铜单质"/>
          <p:cNvSpPr txBox="1"/>
          <p:nvPr/>
        </p:nvSpPr>
        <p:spPr>
          <a:xfrm>
            <a:off x="502920" y="2606039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若有铁粉剩余，则不溶物中有铁和铜单质</a:t>
            </a:r>
          </a:p>
        </p:txBody>
      </p:sp>
      <p:sp>
        <p:nvSpPr>
          <p:cNvPr id="8" name="文字_B. 若有铁粉剩余，则反应后的溶质为FeSO₄"/>
          <p:cNvSpPr txBox="1"/>
          <p:nvPr/>
        </p:nvSpPr>
        <p:spPr>
          <a:xfrm>
            <a:off x="502920" y="3044951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若有铁粉剩余，则反应后的溶质为FeSO₄</a:t>
            </a:r>
          </a:p>
        </p:txBody>
      </p:sp>
      <p:sp>
        <p:nvSpPr>
          <p:cNvPr id="9" name="文字_C. 若铁粉无剩余，且溶液中无 Cu²⁺，则溶液"/>
          <p:cNvSpPr txBox="1"/>
          <p:nvPr/>
        </p:nvSpPr>
        <p:spPr>
          <a:xfrm>
            <a:off x="502920" y="3483863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若铁粉无剩余，且溶液中无 Cu²⁺，则溶液中一定没有Fe³⁺</a:t>
            </a:r>
          </a:p>
        </p:txBody>
      </p:sp>
      <p:sp>
        <p:nvSpPr>
          <p:cNvPr id="10" name="文字_D. 若铁粉无剩余，且溶液中有 Cu²⁺，则溶液"/>
          <p:cNvSpPr txBox="1"/>
          <p:nvPr/>
        </p:nvSpPr>
        <p:spPr>
          <a:xfrm>
            <a:off x="502920" y="39227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若铁粉无剩余，且溶液中有 Cu²⁺，则溶液中一定没有 Fe³⁺</a:t>
            </a:r>
          </a:p>
        </p:txBody>
      </p:sp>
      <p:sp>
        <p:nvSpPr>
          <p:cNvPr id="11" name="文字_单选题  ·  03-03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03-034</a:t>
            </a:r>
          </a:p>
        </p:txBody>
      </p:sp>
      <p:sp>
        <p:nvSpPr>
          <p:cNvPr id="12" name="文字_4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基本规律 · 变式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氧化还原反应的基本规律 · 变式8</a:t>
            </a:r>
          </a:p>
        </p:txBody>
      </p:sp>
      <p:sp>
        <p:nvSpPr>
          <p:cNvPr id="5" name="文字_P6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P66</a:t>
            </a:r>
          </a:p>
        </p:txBody>
      </p:sp>
      <p:sp>
        <p:nvSpPr>
          <p:cNvPr id="6" name="文字_在一定条件下KClO₃与I₂按下式反应：2KCl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在一定条件下KClO₃与I₂按下式反应：2KClO₃ + 2=2KIO₃ + Cl₂，下列判断正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确的是</a:t>
            </a:r>
          </a:p>
        </p:txBody>
      </p:sp>
      <p:sp>
        <p:nvSpPr>
          <p:cNvPr id="7" name="文字_A. 氧化性：I₂&gt;KClO₃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氧化性：I₂&gt;KClO₃</a:t>
            </a:r>
          </a:p>
        </p:txBody>
      </p:sp>
      <p:sp>
        <p:nvSpPr>
          <p:cNvPr id="8" name="文字_B. 还原性： KClO₃&gt;I₂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还原性： KClO₃&gt;I₂</a:t>
            </a:r>
          </a:p>
        </p:txBody>
      </p:sp>
      <p:sp>
        <p:nvSpPr>
          <p:cNvPr id="9" name="文字_C. 该反应属于置换反应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该反应属于置换反应</a:t>
            </a:r>
          </a:p>
        </p:txBody>
      </p:sp>
      <p:sp>
        <p:nvSpPr>
          <p:cNvPr id="10" name="文字_D. 还原剂为KIO₃，氧化剂为I₂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还原剂为KIO₃，氧化剂为I₂</a:t>
            </a:r>
          </a:p>
        </p:txBody>
      </p:sp>
      <p:sp>
        <p:nvSpPr>
          <p:cNvPr id="11" name="文字_单选题  ·  03-03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03-035</a:t>
            </a:r>
          </a:p>
        </p:txBody>
      </p:sp>
      <p:sp>
        <p:nvSpPr>
          <p:cNvPr id="12" name="文字_4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基本规律 · 变式9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氧化还原反应的基本规律 · 变式9</a:t>
            </a:r>
          </a:p>
        </p:txBody>
      </p:sp>
      <p:sp>
        <p:nvSpPr>
          <p:cNvPr id="5" name="文字_P6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P66</a:t>
            </a:r>
          </a:p>
        </p:txBody>
      </p:sp>
      <p:sp>
        <p:nvSpPr>
          <p:cNvPr id="6" name="文字_已知Co₂O₃在酸性溶液中易被还原成Co²⁺，C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已知Co₂O₃在酸性溶液中易被还原成Co²⁺，Co₂O₃、Cl₂₂、FeCl₃、I₂氧化性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依次减弱．下列反应在水溶液中不可能发生的是</a:t>
            </a:r>
          </a:p>
        </p:txBody>
      </p:sp>
      <p:sp>
        <p:nvSpPr>
          <p:cNvPr id="7" name="文字_A. 2 Fe³⁺ + 2I− = 2 Fe²⁺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2 Fe³⁺ + 2I− = 2 Fe²⁺ + I₂</a:t>
            </a:r>
          </a:p>
        </p:txBody>
      </p:sp>
      <p:sp>
        <p:nvSpPr>
          <p:cNvPr id="8" name="文字_B. Cl₂ + FeI₂= FeCl₂ + I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Cl₂ + FeI₂= FeCl₂ + I₂</a:t>
            </a:r>
          </a:p>
        </p:txBody>
      </p:sp>
      <p:sp>
        <p:nvSpPr>
          <p:cNvPr id="9" name="文字_C. Co₂O₃ + 6 HCl= 2 CoCl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Co₂O₃ + 6 HCl= 2 CoCl₂ + Cl₂ + 3 H₂O</a:t>
            </a:r>
          </a:p>
        </p:txBody>
      </p:sp>
      <p:sp>
        <p:nvSpPr>
          <p:cNvPr id="10" name="文字_D. 3 Cl₂ + 6 FeI₂= 2 FeC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3 Cl₂ + 6 FeI₂= 2 FeCl₃ + 4 FeI₃</a:t>
            </a:r>
          </a:p>
        </p:txBody>
      </p:sp>
      <p:sp>
        <p:nvSpPr>
          <p:cNvPr id="11" name="文字_单选题  ·  03-03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03-036</a:t>
            </a:r>
          </a:p>
        </p:txBody>
      </p:sp>
      <p:sp>
        <p:nvSpPr>
          <p:cNvPr id="12" name="文字_4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基本规律 · 变式10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氧化还原反应的基本规律 · 变式10</a:t>
            </a:r>
          </a:p>
        </p:txBody>
      </p:sp>
      <p:sp>
        <p:nvSpPr>
          <p:cNvPr id="5" name="文字_P6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P66</a:t>
            </a:r>
          </a:p>
        </p:txBody>
      </p:sp>
      <p:sp>
        <p:nvSpPr>
          <p:cNvPr id="6" name="文字_已知如下反应: ①2BrO₃ + Cl₂ = B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已知如下反应: ①2BrO₃ + Cl₂ = Br₂ + 2ClO₃ ； ②ClO₃ + 5Cl− + 6H+ =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3Cl₂ + 3H₂O； ③</a:t>
            </a:r>
          </a:p>
        </p:txBody>
      </p:sp>
      <p:sp>
        <p:nvSpPr>
          <p:cNvPr id="7" name="文字_2FeCl₂ + Cl₂ = 2FeCl₃。根据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2FeCl₂ + Cl₂ = 2FeCl₃。根据上述反应，判断下列结论中正确的是</a:t>
            </a:r>
          </a:p>
        </p:txBody>
      </p:sp>
      <p:sp>
        <p:nvSpPr>
          <p:cNvPr id="8" name="文字_A. 氧化性强弱的顺序为： BrO₃ &gt; ClO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氧化性强弱的顺序为： BrO₃ &gt; ClO₃ &gt; Cl₂ &gt; Fe³⁺</a:t>
            </a:r>
          </a:p>
        </p:txBody>
      </p:sp>
      <p:sp>
        <p:nvSpPr>
          <p:cNvPr id="9" name="文字_B. 反应②中氧化产物与还原产物的质地比为1：5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反应②中氧化产物与还原产物的质地比为1：5</a:t>
            </a:r>
          </a:p>
        </p:txBody>
      </p:sp>
      <p:sp>
        <p:nvSpPr>
          <p:cNvPr id="10" name="文字_C. Cl₂在①、③反应中均作氧化剂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Cl₂在①、③反应中均作氧化剂</a:t>
            </a:r>
          </a:p>
        </p:txBody>
      </p:sp>
      <p:sp>
        <p:nvSpPr>
          <p:cNvPr id="11" name="文字_D. 溶液中不可能发生反应: ClO₃ + 6F"/>
          <p:cNvSpPr txBox="1"/>
          <p:nvPr/>
        </p:nvSpPr>
        <p:spPr>
          <a:xfrm>
            <a:off x="502920" y="36362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溶液中不可能发生反应: ClO₃ + 6Fe²⁺ + 6H+ = Cl− + 6Fe³⁺ + 3H₂O</a:t>
            </a:r>
          </a:p>
        </p:txBody>
      </p:sp>
      <p:sp>
        <p:nvSpPr>
          <p:cNvPr id="12" name="文字_单选题  ·  03-03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03-037</a:t>
            </a:r>
          </a:p>
        </p:txBody>
      </p:sp>
      <p:sp>
        <p:nvSpPr>
          <p:cNvPr id="13" name="文字_4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3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03</a:t>
            </a:r>
          </a:p>
        </p:txBody>
      </p:sp>
      <p:sp>
        <p:nvSpPr>
          <p:cNvPr id="4" name="文字_氧化还原方程式配平：五步法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氧化还原方程式配平：五步法</a:t>
            </a:r>
          </a:p>
        </p:txBody>
      </p:sp>
      <p:sp>
        <p:nvSpPr>
          <p:cNvPr id="5" name="文字_知识梳理 · 讲义 P67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P67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氧化还原方程式配平：五步法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氧化还原方程式配平：五步法</a:t>
            </a:r>
          </a:p>
        </p:txBody>
      </p:sp>
      <p:sp>
        <p:nvSpPr>
          <p:cNvPr id="5" name="文字_知识讲解 · P67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P67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① 标价态：找出化合价变化的元素。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 标价态：找出化合价变化的元素。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② 列变化：计算每个原子或每个整体的升价、降价数"/>
          <p:cNvSpPr txBox="1"/>
          <p:nvPr/>
        </p:nvSpPr>
        <p:spPr>
          <a:xfrm>
            <a:off x="722376" y="235610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 列变化：计算每个原子或每个整体的升价、降价数。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02056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③ 配系数：使失电子总数 = 得电子总数。"/>
          <p:cNvSpPr txBox="1"/>
          <p:nvPr/>
        </p:nvSpPr>
        <p:spPr>
          <a:xfrm>
            <a:off x="722376" y="293827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 配系数：使失电子总数 = 得电子总数。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60273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④ 配其余：利用元素守恒配平其他物质，必要时补 "/>
          <p:cNvSpPr txBox="1"/>
          <p:nvPr/>
        </p:nvSpPr>
        <p:spPr>
          <a:xfrm>
            <a:off x="722376" y="352044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④ 配其余：利用元素守恒配平其他物质，必要时补 H₂O、H⁺ 或 OH⁻。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184903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⑤ 查守恒：检查原子数、电子数；离子方程式还必须"/>
          <p:cNvSpPr txBox="1"/>
          <p:nvPr/>
        </p:nvSpPr>
        <p:spPr>
          <a:xfrm>
            <a:off x="722376" y="4102607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⑤ 查守恒：检查原子数、电子数；离子方程式还必须检查电荷。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555955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提示  最终系数化为最简整数比，反应条件、气体及"/>
          <p:cNvSpPr txBox="1"/>
          <p:nvPr/>
        </p:nvSpPr>
        <p:spPr>
          <a:xfrm>
            <a:off x="630936" y="561898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最终系数化为最简整数比，反应条件、气体及沉淀符号也要保留。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配平技巧①：全部变价与部分变价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配平技巧①：全部变价与部分变价</a:t>
            </a:r>
          </a:p>
        </p:txBody>
      </p:sp>
      <p:sp>
        <p:nvSpPr>
          <p:cNvPr id="5" name="文字_知识讲解 · P67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P67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全部变价：先配氧化剂、还原剂，再配其他物质。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全部变价：先配氧化剂、还原剂，再配其他物质。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C + 2H₂SO₄(浓) —加热→ CO₂↑ "/>
          <p:cNvSpPr txBox="1"/>
          <p:nvPr/>
        </p:nvSpPr>
        <p:spPr>
          <a:xfrm>
            <a:off x="722376" y="235610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 + 2H₂SO₄(浓) —加热→ CO₂↑ + 2SO₂↑ + 2H₂O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02056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2KMnO₄ + 3K₂SO₃ + H₂O = "/>
          <p:cNvSpPr txBox="1"/>
          <p:nvPr/>
        </p:nvSpPr>
        <p:spPr>
          <a:xfrm>
            <a:off x="722376" y="293827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2KMnO₄ + 3K₂SO₃ + H₂O = 2MnO₂↓ + 3K₂SO₄ + 2KOH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60273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部分变价：先找真正发生变价的部分；未变价部分另用"/>
          <p:cNvSpPr txBox="1"/>
          <p:nvPr/>
        </p:nvSpPr>
        <p:spPr>
          <a:xfrm>
            <a:off x="722376" y="352044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部分变价：先找真正发生变价的部分；未变价部分另用原子守恒补足。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184903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4Cu + 10HNO₃(很稀) = 4Cu(N"/>
          <p:cNvSpPr txBox="1"/>
          <p:nvPr/>
        </p:nvSpPr>
        <p:spPr>
          <a:xfrm>
            <a:off x="722376" y="4102607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4Cu + 10HNO₃(很稀) = 4Cu(NO₃)₂ + NH₄NO₃ + 3H₂O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4767072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K₂Cr₂O₇ + 14HCl(浓) = 2KC"/>
          <p:cNvSpPr txBox="1"/>
          <p:nvPr/>
        </p:nvSpPr>
        <p:spPr>
          <a:xfrm>
            <a:off x="722376" y="468477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K₂Cr₂O₇ + 14HCl(浓) = 2KCl + 2CrCl₃ + 3Cl₂↑ + 7H₂O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配平技巧②：歧化、分解与归中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配平技巧②：歧化、分解与归中</a:t>
            </a:r>
          </a:p>
        </p:txBody>
      </p:sp>
      <p:sp>
        <p:nvSpPr>
          <p:cNvPr id="5" name="文字_知识讲解 · P67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P67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歧化、分解：可先配右边氧化产物与还原产物。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歧化、分解：可先配右边氧化产物与还原产物。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3S + 6KOH —加热→ 2K₂S + K₂"/>
          <p:cNvSpPr txBox="1"/>
          <p:nvPr/>
        </p:nvSpPr>
        <p:spPr>
          <a:xfrm>
            <a:off x="722376" y="235610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3S + 6KOH —加热→ 2K₂S + K₂SO₃ + 3H₂O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02056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2KClO₃ —MnO₂、加热→ 2KCl + "/>
          <p:cNvSpPr txBox="1"/>
          <p:nvPr/>
        </p:nvSpPr>
        <p:spPr>
          <a:xfrm>
            <a:off x="722376" y="293827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2KClO₃ —MnO₂、加热→ 2KCl + 3O₂↑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60273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归中：可先配左边氧化剂与还原剂。"/>
          <p:cNvSpPr txBox="1"/>
          <p:nvPr/>
        </p:nvSpPr>
        <p:spPr>
          <a:xfrm>
            <a:off x="722376" y="352044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归中：可先配左边氧化剂与还原剂。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184903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5KI + KIO₃ + 3H₂SO₄ = 3I"/>
          <p:cNvSpPr txBox="1"/>
          <p:nvPr/>
        </p:nvSpPr>
        <p:spPr>
          <a:xfrm>
            <a:off x="722376" y="4102607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5KI + KIO₃ + 3H₂SO₄ = 3I₂ + 3K₂SO₄ + 3H₂O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4767072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4Fe(OH)₂ + O₂ + 2H₂O = 4"/>
          <p:cNvSpPr txBox="1"/>
          <p:nvPr/>
        </p:nvSpPr>
        <p:spPr>
          <a:xfrm>
            <a:off x="722376" y="468477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4Fe(OH)₂ + O₂ + 2H₂O = 4Fe(OH)₃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配平技巧③：整体分析与缺项配平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配平技巧③：整体分析与缺项配平</a:t>
            </a:r>
          </a:p>
        </p:txBody>
      </p:sp>
      <p:sp>
        <p:nvSpPr>
          <p:cNvPr id="5" name="文字_知识讲解 · P67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P67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整体分析：同一物质中多种元素变价时，合计每个化学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整体分析：同一物质中多种元素变价时，合计每个化学式单位的电子得失。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4FeS₂ + 11O₂ —高温→ 2Fe₂O₃"/>
          <p:cNvSpPr txBox="1"/>
          <p:nvPr/>
        </p:nvSpPr>
        <p:spPr>
          <a:xfrm>
            <a:off x="722376" y="235610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4FeS₂ + 11O₂ —高温→ 2Fe₂O₃ + 8SO₂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02056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3Cu₂S + 22HNO₃(稀) = 6Cu("/>
          <p:cNvSpPr txBox="1"/>
          <p:nvPr/>
        </p:nvSpPr>
        <p:spPr>
          <a:xfrm>
            <a:off x="722376" y="293827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3Cu₂S + 22HNO₃(稀) = 6Cu(NO₃)₂ + 10NO↑ + 3H₂SO₄ + 8H₂O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60273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缺项配平：先查缺少哪些元素，再结合酸碱环境补物质"/>
          <p:cNvSpPr txBox="1"/>
          <p:nvPr/>
        </p:nvSpPr>
        <p:spPr>
          <a:xfrm>
            <a:off x="722376" y="352044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缺项配平：先查缺少哪些元素，再结合酸碱环境补物质。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184903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2KMnO₄ + 5KNO₂ + 3H₂SO₄ "/>
          <p:cNvSpPr txBox="1"/>
          <p:nvPr/>
        </p:nvSpPr>
        <p:spPr>
          <a:xfrm>
            <a:off x="722376" y="4102607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2KMnO₄ + 5KNO₂ + 3H₂SO₄ = 2MnSO₄ + K₂SO₄ + 5KNO₃ + 3H₂O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4767072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3ClO⁻ + 2Fe(OH)₃ + 4OH⁻ "/>
          <p:cNvSpPr txBox="1"/>
          <p:nvPr/>
        </p:nvSpPr>
        <p:spPr>
          <a:xfrm>
            <a:off x="722376" y="468477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3ClO⁻ + 2Fe(OH)₃ + 4OH⁻ = 3Cl⁻ + 2FeO₄²⁻ + 5H₂O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配平 · 例题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氧化还原配平 · 例题1</a:t>
            </a:r>
          </a:p>
        </p:txBody>
      </p:sp>
      <p:sp>
        <p:nvSpPr>
          <p:cNvPr id="5" name="文字_P6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P68</a:t>
            </a:r>
          </a:p>
        </p:txBody>
      </p:sp>
      <p:sp>
        <p:nvSpPr>
          <p:cNvPr id="6" name="文字_请配平以下化学方程式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请配平以下化学方程式</a:t>
            </a:r>
          </a:p>
        </p:txBody>
      </p:sp>
      <p:sp>
        <p:nvSpPr>
          <p:cNvPr id="7" name="文字_(1）Al + NaNO₃ + NaOH=NaA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(1）Al + NaNO₃ + NaOH=NaAlO₂ + N₂↑+H₂O</a:t>
            </a:r>
          </a:p>
        </p:txBody>
      </p:sp>
      <p:sp>
        <p:nvSpPr>
          <p:cNvPr id="8" name="文字_(2)_H₂O₂⁺_H₂CrO₄=_O₂↑+_C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(2)_H₂O₂⁺_H₂CrO₄=_O₂↑+_Cr(OH)₃↓+_H₂O</a:t>
            </a:r>
          </a:p>
        </p:txBody>
      </p:sp>
      <p:sp>
        <p:nvSpPr>
          <p:cNvPr id="9" name="文字_(3）_NH₃⁺_Cl₂=_N²⁺_NH₄Cl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(3）_NH₃⁺_Cl₂=_N²⁺_NH₄Cl</a:t>
            </a:r>
          </a:p>
        </p:txBody>
      </p:sp>
      <p:sp>
        <p:nvSpPr>
          <p:cNvPr id="10" name="文字_(4)H₂S⁺__SO₂=_S↓+_H₂O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(4)H₂S⁺__SO₂=_S↓+_H₂O</a:t>
            </a:r>
          </a:p>
        </p:txBody>
      </p:sp>
      <p:sp>
        <p:nvSpPr>
          <p:cNvPr id="11" name="文字_(5）_Cl²⁺_KOH=_KCl + KClO"/>
          <p:cNvSpPr txBox="1"/>
          <p:nvPr/>
        </p:nvSpPr>
        <p:spPr>
          <a:xfrm>
            <a:off x="502920" y="32735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(5）_Cl²⁺_KOH=_KCl + KClO₃⁺_H₂O</a:t>
            </a:r>
          </a:p>
        </p:txBody>
      </p:sp>
      <p:sp>
        <p:nvSpPr>
          <p:cNvPr id="12" name="文字_(6)Ag + HNO₃(稀)=AgNO₃⁺_N"/>
          <p:cNvSpPr txBox="1"/>
          <p:nvPr/>
        </p:nvSpPr>
        <p:spPr>
          <a:xfrm>
            <a:off x="502920" y="37124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(6)Ag + HNO₃(稀)=AgNO₃⁺_NO+_H₂O</a:t>
            </a:r>
          </a:p>
        </p:txBody>
      </p:sp>
      <p:sp>
        <p:nvSpPr>
          <p:cNvPr id="13" name="文字_(7)Fe(NO₃)₃⁺ ______ _+_C"/>
          <p:cNvSpPr txBox="1"/>
          <p:nvPr/>
        </p:nvSpPr>
        <p:spPr>
          <a:xfrm>
            <a:off x="502920" y="41513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(7)Fe(NO₃)₃⁺ ______ _+_Cl₂=_Na₂FeO₄⁺_NaNO₃⁺_NaCl+_H₂O</a:t>
            </a:r>
          </a:p>
        </p:txBody>
      </p:sp>
      <p:sp>
        <p:nvSpPr>
          <p:cNvPr id="14" name="文字_(8) _FeS+_O₂=_Fe₂O₃⁺_SO₂"/>
          <p:cNvSpPr txBox="1"/>
          <p:nvPr/>
        </p:nvSpPr>
        <p:spPr>
          <a:xfrm>
            <a:off x="502920" y="45902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(8) _FeS+_O₂=_Fe₂O₃⁺_SO₂</a:t>
            </a:r>
          </a:p>
        </p:txBody>
      </p:sp>
      <p:sp>
        <p:nvSpPr>
          <p:cNvPr id="15" name="文字_填空题  ·  03-03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03-038</a:t>
            </a:r>
          </a:p>
        </p:txBody>
      </p:sp>
      <p:sp>
        <p:nvSpPr>
          <p:cNvPr id="16" name="文字_5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配平 · 例题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氧化还原配平 · 例题2</a:t>
            </a:r>
          </a:p>
        </p:txBody>
      </p:sp>
      <p:sp>
        <p:nvSpPr>
          <p:cNvPr id="5" name="文字_P68–6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P68–69</a:t>
            </a:r>
          </a:p>
        </p:txBody>
      </p:sp>
      <p:sp>
        <p:nvSpPr>
          <p:cNvPr id="6" name="文字_配平氧化还原方程式：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配平氧化还原方程式：</a:t>
            </a:r>
          </a:p>
        </p:txBody>
      </p:sp>
      <p:sp>
        <p:nvSpPr>
          <p:cNvPr id="7" name="文字_(1) ______ H₂S⁺ ______ H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 ______ H₂S⁺ ______ HNO₃= ______ _S↓+ NO↑+ ______ _H₂O</a:t>
            </a:r>
          </a:p>
        </p:txBody>
      </p:sp>
      <p:sp>
        <p:nvSpPr>
          <p:cNvPr id="8" name="文字_(2) ______ MnO−+ ______ "/>
          <p:cNvSpPr txBox="1"/>
          <p:nvPr/>
        </p:nvSpPr>
        <p:spPr>
          <a:xfrm>
            <a:off x="502920" y="1956816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 ______ MnO−+ ______ H++ ______ _Cl= ______ Mn²⁺+ ______ _Cl₂↑+ ______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 H₂O</a:t>
            </a:r>
          </a:p>
        </p:txBody>
      </p:sp>
      <p:sp>
        <p:nvSpPr>
          <p:cNvPr id="9" name="文字_(3) ______ _Cl²⁺_ ______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 ______ _Cl²⁺_ ______ KOH= ______ KCl+ ______ KClO₃⁺ ______ H₂O</a:t>
            </a:r>
          </a:p>
        </p:txBody>
      </p:sp>
      <p:sp>
        <p:nvSpPr>
          <p:cNvPr id="10" name="文字_(4) ______ _Cu+ ______ H"/>
          <p:cNvSpPr txBox="1"/>
          <p:nvPr/>
        </p:nvSpPr>
        <p:spPr>
          <a:xfrm>
            <a:off x="502920" y="319735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 ______ _Cu+ ______ HNO₃(浓)= ______ Cu(NO₃)₂⁺_ ______ NO₂↑+_ ______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H₂O</a:t>
            </a:r>
          </a:p>
        </p:txBody>
      </p:sp>
      <p:sp>
        <p:nvSpPr>
          <p:cNvPr id="11" name="文字_填空题  ·  03-03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03-039</a:t>
            </a:r>
          </a:p>
        </p:txBody>
      </p:sp>
      <p:sp>
        <p:nvSpPr>
          <p:cNvPr id="12" name="文字_5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配平 · 例题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氧化还原配平 · 例题3</a:t>
            </a:r>
          </a:p>
        </p:txBody>
      </p:sp>
      <p:sp>
        <p:nvSpPr>
          <p:cNvPr id="5" name="文字_P6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P69</a:t>
            </a:r>
          </a:p>
        </p:txBody>
      </p:sp>
      <p:sp>
        <p:nvSpPr>
          <p:cNvPr id="6" name="文字_在工业上次磷酸（H₃PO₂）常用于化学镀银，发生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在工业上次磷酸（H₃PO₂）常用于化学镀银，发生的反应如下： ______ Ag++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H₃PO₂ + H₂O →Ag ↓+H₃PO₄ + H+</a:t>
            </a:r>
          </a:p>
        </p:txBody>
      </p:sp>
      <p:sp>
        <p:nvSpPr>
          <p:cNvPr id="7" name="文字_请回答下列问题：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请回答下列问题：</a:t>
            </a:r>
          </a:p>
        </p:txBody>
      </p:sp>
      <p:sp>
        <p:nvSpPr>
          <p:cNvPr id="8" name="文字_(1) H₃PO₂中，P元素的化合价为；该反应中"/>
          <p:cNvSpPr txBox="1"/>
          <p:nvPr/>
        </p:nvSpPr>
        <p:spPr>
          <a:xfrm>
            <a:off x="502920" y="2319528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 H₃PO₂中，P元素的化合价为；该反应中，H₃PO₂被 ______ (填“氧化”或“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还原”);</a:t>
            </a:r>
          </a:p>
        </p:txBody>
      </p:sp>
      <p:sp>
        <p:nvSpPr>
          <p:cNvPr id="9" name="文字_(2)配平该离子方程式:"/>
          <p:cNvSpPr txBox="1"/>
          <p:nvPr/>
        </p:nvSpPr>
        <p:spPr>
          <a:xfrm>
            <a:off x="502920" y="31211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(2)配平该离子方程式:</a:t>
            </a:r>
          </a:p>
        </p:txBody>
      </p:sp>
      <p:sp>
        <p:nvSpPr>
          <p:cNvPr id="10" name="文字_Ag++H₃PO₂ + H₂O →  Ag ↓ "/>
          <p:cNvSpPr txBox="1"/>
          <p:nvPr/>
        </p:nvSpPr>
        <p:spPr>
          <a:xfrm>
            <a:off x="502920" y="35600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Ag++H₃PO₂ + H₂O →  Ag ↓ +− _H₃PO₄⁺ _H+;</a:t>
            </a:r>
          </a:p>
        </p:txBody>
      </p:sp>
      <p:sp>
        <p:nvSpPr>
          <p:cNvPr id="11" name="文字_(3) 该反应中氧化剂是；氧化产物是"/>
          <p:cNvSpPr txBox="1"/>
          <p:nvPr/>
        </p:nvSpPr>
        <p:spPr>
          <a:xfrm>
            <a:off x="502920" y="3998975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 该反应中氧化剂是；氧化产物是</a:t>
            </a:r>
          </a:p>
        </p:txBody>
      </p:sp>
      <p:sp>
        <p:nvSpPr>
          <p:cNvPr id="12" name="文字_(4) H₃PO₂是一元弱酸，写出其与足量NaO"/>
          <p:cNvSpPr txBox="1"/>
          <p:nvPr/>
        </p:nvSpPr>
        <p:spPr>
          <a:xfrm>
            <a:off x="502920" y="44378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 H₃PO₂是一元弱酸，写出其与足量NaOH溶液反应的离子方程式:</a:t>
            </a:r>
          </a:p>
        </p:txBody>
      </p:sp>
      <p:sp>
        <p:nvSpPr>
          <p:cNvPr id="13" name="文字_解答题  ·  03-04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解答题  ·  03-040</a:t>
            </a:r>
          </a:p>
        </p:txBody>
      </p:sp>
      <p:sp>
        <p:nvSpPr>
          <p:cNvPr id="14" name="文字_5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配平 · 例题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氧化还原配平 · 例题4</a:t>
            </a:r>
          </a:p>
        </p:txBody>
      </p:sp>
      <p:sp>
        <p:nvSpPr>
          <p:cNvPr id="5" name="文字_P6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P69</a:t>
            </a:r>
          </a:p>
        </p:txBody>
      </p:sp>
      <p:sp>
        <p:nvSpPr>
          <p:cNvPr id="6" name="文字_反应: Mn²⁺+BiO₃⁻ + H+→MnO₄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反应: Mn²⁺+BiO₃⁻ + H+→MnO₄⁻+Bi³⁺+H₂O，配平后，H+的化学计量数为</a:t>
            </a:r>
          </a:p>
        </p:txBody>
      </p:sp>
      <p:sp>
        <p:nvSpPr>
          <p:cNvPr id="7" name="文字_A. 8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8</a:t>
            </a:r>
          </a:p>
        </p:txBody>
      </p:sp>
      <p:sp>
        <p:nvSpPr>
          <p:cNvPr id="8" name="文字_B. 10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10</a:t>
            </a:r>
          </a:p>
        </p:txBody>
      </p:sp>
      <p:sp>
        <p:nvSpPr>
          <p:cNvPr id="9" name="文字_C. 14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14</a:t>
            </a:r>
          </a:p>
        </p:txBody>
      </p:sp>
      <p:sp>
        <p:nvSpPr>
          <p:cNvPr id="10" name="文字_D. 30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30</a:t>
            </a:r>
          </a:p>
        </p:txBody>
      </p:sp>
      <p:sp>
        <p:nvSpPr>
          <p:cNvPr id="11" name="文字_单选题  ·  03-04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03-041</a:t>
            </a:r>
          </a:p>
        </p:txBody>
      </p:sp>
      <p:sp>
        <p:nvSpPr>
          <p:cNvPr id="12" name="文字_5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配平 · 例题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氧化还原配平 · 例题5</a:t>
            </a:r>
          </a:p>
        </p:txBody>
      </p:sp>
      <p:sp>
        <p:nvSpPr>
          <p:cNvPr id="5" name="文字_P6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P69</a:t>
            </a:r>
          </a:p>
        </p:txBody>
      </p:sp>
      <p:sp>
        <p:nvSpPr>
          <p:cNvPr id="6" name="文字_请将下列5种物质：N₂O、FeSO₄、Fe(NO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请将下列5种物质：N₂O、FeSO₄、Fe(NO₃)₃、HNO₃和Fe₂(SO₄)₃分别填入下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面对应的横线上，组成一个化学方程式并配平。</a:t>
            </a:r>
          </a:p>
        </p:txBody>
      </p:sp>
      <p:sp>
        <p:nvSpPr>
          <p:cNvPr id="7" name="文字_24FeSO₄⁺_ ______ 十 _____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24FeSO₄⁺_ ______ 十 ______ + ______ + H₂O</a:t>
            </a:r>
          </a:p>
        </p:txBody>
      </p:sp>
      <p:sp>
        <p:nvSpPr>
          <p:cNvPr id="8" name="文字_解答题  ·  03-04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解答题  ·  03-042</a:t>
            </a:r>
          </a:p>
        </p:txBody>
      </p:sp>
      <p:sp>
        <p:nvSpPr>
          <p:cNvPr id="9" name="文字_5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配平 · 变式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氧化还原配平 · 变式1</a:t>
            </a:r>
          </a:p>
        </p:txBody>
      </p:sp>
      <p:sp>
        <p:nvSpPr>
          <p:cNvPr id="5" name="文字_P6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P69</a:t>
            </a:r>
          </a:p>
        </p:txBody>
      </p:sp>
      <p:sp>
        <p:nvSpPr>
          <p:cNvPr id="6" name="文字_请配平以下离子方程式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请配平以下离子方程式</a:t>
            </a:r>
          </a:p>
        </p:txBody>
      </p:sp>
      <p:sp>
        <p:nvSpPr>
          <p:cNvPr id="7" name="文字_(1) _ClO-3+__Fe²⁺+_H+=_C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 _ClO-3+__Fe²⁺+_H+=_Cl-+_Fe³⁺+_H₂O</a:t>
            </a:r>
          </a:p>
        </p:txBody>
      </p:sp>
      <p:sp>
        <p:nvSpPr>
          <p:cNvPr id="8" name="文字_(2)_MnO₄⁺_H₂O₂⁺_=_Mn²⁺+_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(2)_MnO₄⁺_H₂O₂⁺_=_Mn²⁺+_O₂↑+_H₂O</a:t>
            </a:r>
          </a:p>
        </p:txBody>
      </p:sp>
      <p:sp>
        <p:nvSpPr>
          <p:cNvPr id="9" name="文字_(3) _IO₃⁻ + _I+_H+=_I²⁺_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 _IO₃⁻ + _I+_H+=_I²⁺_H₂O</a:t>
            </a:r>
          </a:p>
        </p:txBody>
      </p:sp>
      <p:sp>
        <p:nvSpPr>
          <p:cNvPr id="10" name="文字_(4) _S+__OH=__S²⁻+__SO₂⁻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 _S+__OH=__S²⁻+__SO₂⁻3+_H₂O</a:t>
            </a:r>
          </a:p>
        </p:txBody>
      </p:sp>
      <p:sp>
        <p:nvSpPr>
          <p:cNvPr id="11" name="文字_(5) _Fe²⁺+__Cr₂O₇²⁻+_H+="/>
          <p:cNvSpPr txBox="1"/>
          <p:nvPr/>
        </p:nvSpPr>
        <p:spPr>
          <a:xfrm>
            <a:off x="502920" y="32735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(5) _Fe²⁺+__Cr₂O₇²⁻+_H+=_Fe³⁺+ ______ _Cr³⁺+</a:t>
            </a:r>
          </a:p>
        </p:txBody>
      </p:sp>
      <p:sp>
        <p:nvSpPr>
          <p:cNvPr id="12" name="文字_填空题  ·  03-04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03-043</a:t>
            </a:r>
          </a:p>
        </p:txBody>
      </p:sp>
      <p:sp>
        <p:nvSpPr>
          <p:cNvPr id="13" name="文字_5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配平 · 变式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氧化还原配平 · 变式2</a:t>
            </a:r>
          </a:p>
        </p:txBody>
      </p:sp>
      <p:sp>
        <p:nvSpPr>
          <p:cNvPr id="5" name="文字_P7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P70</a:t>
            </a:r>
          </a:p>
        </p:txBody>
      </p:sp>
      <p:sp>
        <p:nvSpPr>
          <p:cNvPr id="6" name="文字_请配平以下化学方程式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请配平以下化学方程式</a:t>
            </a:r>
          </a:p>
        </p:txBody>
      </p:sp>
      <p:sp>
        <p:nvSpPr>
          <p:cNvPr id="7" name="文字_（1）_Na₂SO₃⁺_KIO₃⁺_H₂SO₄=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（1）_Na₂SO₃⁺_KIO₃⁺_H₂SO₄=_Na₂SO₄⁺_K₂SO₄⁺_I²⁺_H₂O</a:t>
            </a:r>
          </a:p>
        </p:txBody>
      </p:sp>
      <p:sp>
        <p:nvSpPr>
          <p:cNvPr id="8" name="文字_(2)_K₂Cr₂O₇⁺_KI+_H₂SO₄=_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(2)_K₂Cr₂O₇⁺_KI+_H₂SO₄=_K₂SO₄⁺_Cr₂(SO₄)₃⁺_I²⁺_H₂O</a:t>
            </a:r>
          </a:p>
        </p:txBody>
      </p:sp>
      <p:sp>
        <p:nvSpPr>
          <p:cNvPr id="9" name="文字_(3）_CuO+_NH₄Cl=_Cu+_CuCl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(3）_CuO+_NH₄Cl=_Cu+_CuCl₂⁺_N₂↑+_H₂O</a:t>
            </a:r>
          </a:p>
        </p:txBody>
      </p:sp>
      <p:sp>
        <p:nvSpPr>
          <p:cNvPr id="10" name="文字_(4)_KClO₃⁺_HCl(浓)=_KCl+_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(4)_KClO₃⁺_HCl(浓)=_KCl+_Cl₂↑+_H₂O</a:t>
            </a:r>
          </a:p>
        </p:txBody>
      </p:sp>
      <p:sp>
        <p:nvSpPr>
          <p:cNvPr id="11" name="文字_(5)_P⁴⁺_KOH+_H₂O=_K₃PO₄⁺"/>
          <p:cNvSpPr txBox="1"/>
          <p:nvPr/>
        </p:nvSpPr>
        <p:spPr>
          <a:xfrm>
            <a:off x="502920" y="32735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(5)_P⁴⁺_KOH+_H₂O=_K₃PO₄⁺_PH₃↑</a:t>
            </a:r>
          </a:p>
        </p:txBody>
      </p:sp>
      <p:sp>
        <p:nvSpPr>
          <p:cNvPr id="12" name="文字_(6)_KMnO₄⁺_HCl(浓)=_KC₁⁺_"/>
          <p:cNvSpPr txBox="1"/>
          <p:nvPr/>
        </p:nvSpPr>
        <p:spPr>
          <a:xfrm>
            <a:off x="502920" y="37124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(6)_KMnO₄⁺_HCl(浓)=_KC₁⁺_MnC₁₂⁺_C₁₂↑+_H₂O</a:t>
            </a:r>
          </a:p>
        </p:txBody>
      </p:sp>
      <p:sp>
        <p:nvSpPr>
          <p:cNvPr id="13" name="文字_(7)_H₂C₂O₄⁺_KMnO₄⁺ _____"/>
          <p:cNvSpPr txBox="1"/>
          <p:nvPr/>
        </p:nvSpPr>
        <p:spPr>
          <a:xfrm>
            <a:off x="502920" y="41513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(7)_H₂C₂O₄⁺_KMnO₄⁺ ______ =_CO₂⁺_K₂SO₄⁺_MnSO₄⁺_H₂O</a:t>
            </a:r>
          </a:p>
        </p:txBody>
      </p:sp>
      <p:sp>
        <p:nvSpPr>
          <p:cNvPr id="14" name="文字_(8) _Fe₃C⁺_HNO₃=_CO₂↑+_F"/>
          <p:cNvSpPr txBox="1"/>
          <p:nvPr/>
        </p:nvSpPr>
        <p:spPr>
          <a:xfrm>
            <a:off x="502920" y="45902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(8) _Fe₃C⁺_HNO₃=_CO₂↑+_Fe(NO₃)₃⁺_NO₂↑ +H₂O</a:t>
            </a:r>
          </a:p>
        </p:txBody>
      </p:sp>
      <p:sp>
        <p:nvSpPr>
          <p:cNvPr id="15" name="文字_填空题  ·  03-04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03-044</a:t>
            </a:r>
          </a:p>
        </p:txBody>
      </p:sp>
      <p:sp>
        <p:nvSpPr>
          <p:cNvPr id="16" name="文字_6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配平 · 变式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氧化还原配平 · 变式3</a:t>
            </a:r>
          </a:p>
        </p:txBody>
      </p:sp>
      <p:sp>
        <p:nvSpPr>
          <p:cNvPr id="5" name="文字_P7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P70</a:t>
            </a:r>
          </a:p>
        </p:txBody>
      </p:sp>
      <p:sp>
        <p:nvSpPr>
          <p:cNvPr id="6" name="文字_Zn + NO₃ + OH⁻ + H₂O—→NH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Zn + NO₃ + OH⁻ + H₂O—→NH₃↑+Zn(OH)₂⁻配平后，离子方程式中H₂O的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化学计量数是(</a:t>
            </a:r>
          </a:p>
        </p:txBody>
      </p:sp>
      <p:sp>
        <p:nvSpPr>
          <p:cNvPr id="7" name="文字_A. 2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2</a:t>
            </a:r>
          </a:p>
        </p:txBody>
      </p:sp>
      <p:sp>
        <p:nvSpPr>
          <p:cNvPr id="8" name="文字_B. 4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4</a:t>
            </a:r>
          </a:p>
        </p:txBody>
      </p:sp>
      <p:sp>
        <p:nvSpPr>
          <p:cNvPr id="9" name="文字_C. 6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6</a:t>
            </a:r>
          </a:p>
        </p:txBody>
      </p:sp>
      <p:sp>
        <p:nvSpPr>
          <p:cNvPr id="10" name="文字_D. 8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8</a:t>
            </a:r>
          </a:p>
        </p:txBody>
      </p:sp>
      <p:sp>
        <p:nvSpPr>
          <p:cNvPr id="11" name="文字_单选题  ·  03-04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03-045</a:t>
            </a:r>
          </a:p>
        </p:txBody>
      </p:sp>
      <p:sp>
        <p:nvSpPr>
          <p:cNvPr id="12" name="文字_6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配平 · 变式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氧化还原配平 · 变式4</a:t>
            </a:r>
          </a:p>
        </p:txBody>
      </p:sp>
      <p:sp>
        <p:nvSpPr>
          <p:cNvPr id="5" name="文字_P7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P70</a:t>
            </a:r>
          </a:p>
        </p:txBody>
      </p:sp>
      <p:sp>
        <p:nvSpPr>
          <p:cNvPr id="6" name="文字_回答下列问题: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回答下列问题:</a:t>
            </a:r>
          </a:p>
        </p:txBody>
      </p:sp>
      <p:sp>
        <p:nvSpPr>
          <p:cNvPr id="7" name="文字_检验司机是否酒后驾车利用了下列反应: K₂Cr₂"/>
          <p:cNvSpPr txBox="1"/>
          <p:nvPr/>
        </p:nvSpPr>
        <p:spPr>
          <a:xfrm>
            <a:off x="502920" y="1517904"/>
            <a:ext cx="11064240" cy="1527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检验司机是否酒后驾车利用了下列反应: K₂Cr₂O₇ + C₂H₅OH + H₂SO₄→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K₂SO₄ +  Cr₂(SO₄)₃ + CH₃COOH +  H₂O（未配平）（已知：C₂H₅OH与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CH₃COOH中H元素为+1价，O元素为-2价：Cr₂O₇²⁻和Cr³⁺在溶液中的颜色分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别为橙色和绿色),</a:t>
            </a:r>
          </a:p>
        </p:txBody>
      </p:sp>
      <p:sp>
        <p:nvSpPr>
          <p:cNvPr id="8" name="文字_回答下列问题："/>
          <p:cNvSpPr txBox="1"/>
          <p:nvPr/>
        </p:nvSpPr>
        <p:spPr>
          <a:xfrm>
            <a:off x="502920" y="30449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回答下列问题：</a:t>
            </a:r>
          </a:p>
        </p:txBody>
      </p:sp>
      <p:sp>
        <p:nvSpPr>
          <p:cNvPr id="9" name="文字_①在该反应中，氧化剂是 ______ (填化学式"/>
          <p:cNvSpPr txBox="1"/>
          <p:nvPr/>
        </p:nvSpPr>
        <p:spPr>
          <a:xfrm>
            <a:off x="502920" y="34838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①在该反应中，氧化剂是 ______ (填化学式)，若司机醉酒驾车，检测器的现象是</a:t>
            </a:r>
          </a:p>
        </p:txBody>
      </p:sp>
      <p:sp>
        <p:nvSpPr>
          <p:cNvPr id="10" name="文字_②请配平上述方程式： ______ _K₂Cr₂"/>
          <p:cNvSpPr txBox="1"/>
          <p:nvPr/>
        </p:nvSpPr>
        <p:spPr>
          <a:xfrm>
            <a:off x="502920" y="3922776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②请配平上述方程式： ______ _K₂Cr₂O₇ + C₂H₅OH + H₂SO₄ = K₂SO₄₄ +_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Cr₂(SO₄)₃ + CH₃COOH⁺ H₂O</a:t>
            </a:r>
          </a:p>
        </p:txBody>
      </p:sp>
      <p:sp>
        <p:nvSpPr>
          <p:cNvPr id="11" name="文字_填空题  ·  03-04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03-046</a:t>
            </a:r>
          </a:p>
        </p:txBody>
      </p:sp>
      <p:sp>
        <p:nvSpPr>
          <p:cNvPr id="12" name="文字_6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4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04</a:t>
            </a:r>
          </a:p>
        </p:txBody>
      </p:sp>
      <p:sp>
        <p:nvSpPr>
          <p:cNvPr id="4" name="文字_氧化还原计算：抓住电子守恒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氧化还原计算：抓住电子守恒</a:t>
            </a:r>
          </a:p>
        </p:txBody>
      </p:sp>
      <p:sp>
        <p:nvSpPr>
          <p:cNvPr id="5" name="文字_知识梳理 · 讲义 P71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P71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氧化还原计算：抓住电子守恒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氧化还原计算：抓住电子守恒</a:t>
            </a:r>
          </a:p>
        </p:txBody>
      </p:sp>
      <p:sp>
        <p:nvSpPr>
          <p:cNvPr id="5" name="文字_知识讲解 · P71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P71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电子守恒：氧化剂得电子总数 = 还原剂失电子总数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电子守恒：氧化剂得电子总数 = 还原剂失电子总数。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计算式：物质的量 × 每个微粒变价原子数 × 化"/>
          <p:cNvSpPr txBox="1"/>
          <p:nvPr/>
        </p:nvSpPr>
        <p:spPr>
          <a:xfrm>
            <a:off x="722376" y="235610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计算式：物质的量 × 每个微粒变价原子数 × 化合价变化值。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02056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先明确反应前后的价态，再把氧化剂和还原剂两边的电"/>
          <p:cNvSpPr txBox="1"/>
          <p:nvPr/>
        </p:nvSpPr>
        <p:spPr>
          <a:xfrm>
            <a:off x="722376" y="293827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先明确反应前后的价态，再把氧化剂和还原剂两边的电子数列为等式。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60273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可与元素守恒、质量守恒、电荷守恒联用。"/>
          <p:cNvSpPr txBox="1"/>
          <p:nvPr/>
        </p:nvSpPr>
        <p:spPr>
          <a:xfrm>
            <a:off x="722376" y="352044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可与元素守恒、质量守恒、电荷守恒联用。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" y="555955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提示  有多个反应连续发生时，可直接建立初态与终"/>
          <p:cNvSpPr txBox="1"/>
          <p:nvPr/>
        </p:nvSpPr>
        <p:spPr>
          <a:xfrm>
            <a:off x="630936" y="561898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有多个反应连续发生时，可直接建立初态与终态的电子守恒关系。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常见计算题的解题顺序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常见计算题的解题顺序</a:t>
            </a:r>
          </a:p>
        </p:txBody>
      </p:sp>
      <p:sp>
        <p:nvSpPr>
          <p:cNvPr id="5" name="文字_知识讲解 · P71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P71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73936"/>
          <a:ext cx="11109960" cy="242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4980"/>
                <a:gridCol w="5554980"/>
              </a:tblGrid>
              <a:tr h="48564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问题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切入点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判断未知化合价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根据总电荷或升降价总数列式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求化学计量数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电子守恒确定变价物质比例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求氧化剂与还原剂比例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只统计真正参加氧化还原的部分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求电子转移数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先求参与反应的物质的量，再乘电子数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93776" y="4339336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文字_提示  酸既表现氧化性又表现酸性时，不能把消耗的"/>
          <p:cNvSpPr txBox="1"/>
          <p:nvPr/>
        </p:nvSpPr>
        <p:spPr>
          <a:xfrm>
            <a:off x="630936" y="4398772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酸既表现氧化性又表现酸性时，不能把消耗的酸全部当作氧化剂。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例题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例题1</a:t>
            </a:r>
          </a:p>
        </p:txBody>
      </p:sp>
      <p:sp>
        <p:nvSpPr>
          <p:cNvPr id="5" name="文字_P7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P71</a:t>
            </a:r>
          </a:p>
        </p:txBody>
      </p:sp>
      <p:sp>
        <p:nvSpPr>
          <p:cNvPr id="6" name="文字_在3NO₂ + H₂O=2HNO₃ + NO中，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在3NO₂ + H₂O=2HNO₃ + NO中，氧化剂与还原剂的分子个数比为</a:t>
            </a:r>
          </a:p>
        </p:txBody>
      </p:sp>
      <p:sp>
        <p:nvSpPr>
          <p:cNvPr id="7" name="文字_A. 2 : 1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2 : 1</a:t>
            </a:r>
          </a:p>
        </p:txBody>
      </p:sp>
      <p:sp>
        <p:nvSpPr>
          <p:cNvPr id="8" name="文字_B. 1 : 2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1 : 2</a:t>
            </a:r>
          </a:p>
        </p:txBody>
      </p:sp>
      <p:sp>
        <p:nvSpPr>
          <p:cNvPr id="9" name="文字_C. 3:1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3:1</a:t>
            </a:r>
          </a:p>
        </p:txBody>
      </p:sp>
      <p:sp>
        <p:nvSpPr>
          <p:cNvPr id="10" name="文字_D. 1 : 3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1 : 3</a:t>
            </a:r>
          </a:p>
        </p:txBody>
      </p:sp>
      <p:sp>
        <p:nvSpPr>
          <p:cNvPr id="11" name="文字_单选题  ·  03-04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03-047</a:t>
            </a:r>
          </a:p>
        </p:txBody>
      </p:sp>
      <p:sp>
        <p:nvSpPr>
          <p:cNvPr id="12" name="文字_6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例题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例题2</a:t>
            </a:r>
          </a:p>
        </p:txBody>
      </p:sp>
      <p:sp>
        <p:nvSpPr>
          <p:cNvPr id="5" name="文字_P7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P71</a:t>
            </a:r>
          </a:p>
        </p:txBody>
      </p:sp>
      <p:sp>
        <p:nvSpPr>
          <p:cNvPr id="6" name="文字_已知反应MnO₂ + 4HCl(浓)∆MnCl₂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已知反应MnO₂ + 4HCl(浓)∆MnCl₂ + Cl₂↑+2H₂O，还原剂与氧化剂的分子个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数之比为（）</a:t>
            </a:r>
          </a:p>
        </p:txBody>
      </p:sp>
      <p:sp>
        <p:nvSpPr>
          <p:cNvPr id="7" name="文字_A. 2 :1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2 :1</a:t>
            </a:r>
          </a:p>
        </p:txBody>
      </p:sp>
      <p:sp>
        <p:nvSpPr>
          <p:cNvPr id="8" name="文字_B. 4 :1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4 :1</a:t>
            </a:r>
          </a:p>
        </p:txBody>
      </p:sp>
      <p:sp>
        <p:nvSpPr>
          <p:cNvPr id="9" name="文字_C. 1 : 2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1 : 2</a:t>
            </a:r>
          </a:p>
        </p:txBody>
      </p:sp>
      <p:sp>
        <p:nvSpPr>
          <p:cNvPr id="10" name="文字_D. 1 : 4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1 : 4</a:t>
            </a:r>
          </a:p>
        </p:txBody>
      </p:sp>
      <p:sp>
        <p:nvSpPr>
          <p:cNvPr id="11" name="文字_单选题  ·  03-04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03-048</a:t>
            </a:r>
          </a:p>
        </p:txBody>
      </p:sp>
      <p:sp>
        <p:nvSpPr>
          <p:cNvPr id="12" name="文字_6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例题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例题3</a:t>
            </a:r>
          </a:p>
        </p:txBody>
      </p:sp>
      <p:sp>
        <p:nvSpPr>
          <p:cNvPr id="5" name="文字_P7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P71</a:t>
            </a:r>
          </a:p>
        </p:txBody>
      </p:sp>
      <p:sp>
        <p:nvSpPr>
          <p:cNvPr id="6" name="文字_某已经配平的氧化还原反应16H+ +10Z- +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某已经配平的氧化还原反应16H+ +10Z- + 2XO⁻ = 2X²⁺ + 5Z₂ + 8H₂O，有关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m和X元素的化合价取值合理的是</a:t>
            </a:r>
          </a:p>
        </p:txBody>
      </p:sp>
      <p:sp>
        <p:nvSpPr>
          <p:cNvPr id="7" name="文字_A. 7, +5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7, +5</a:t>
            </a:r>
          </a:p>
        </p:txBody>
      </p:sp>
      <p:sp>
        <p:nvSpPr>
          <p:cNvPr id="8" name="文字_B. 4, +7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4, +7</a:t>
            </a:r>
          </a:p>
        </p:txBody>
      </p:sp>
      <p:sp>
        <p:nvSpPr>
          <p:cNvPr id="9" name="文字_C. 4, +6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4, +6</a:t>
            </a:r>
          </a:p>
        </p:txBody>
      </p:sp>
      <p:sp>
        <p:nvSpPr>
          <p:cNvPr id="10" name="文字_D. 3, +5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3, +5</a:t>
            </a:r>
          </a:p>
        </p:txBody>
      </p:sp>
      <p:sp>
        <p:nvSpPr>
          <p:cNvPr id="11" name="文字_单选题  ·  03-04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03-049</a:t>
            </a:r>
          </a:p>
        </p:txBody>
      </p:sp>
      <p:sp>
        <p:nvSpPr>
          <p:cNvPr id="12" name="文字_6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例题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例题4</a:t>
            </a:r>
          </a:p>
        </p:txBody>
      </p:sp>
      <p:sp>
        <p:nvSpPr>
          <p:cNvPr id="5" name="文字_P7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P71</a:t>
            </a:r>
          </a:p>
        </p:txBody>
      </p:sp>
      <p:sp>
        <p:nvSpPr>
          <p:cNvPr id="6" name="文字_溶液中X₂O₇₂⁻与SO₃²⁻数目之比为1:3时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溶液中X₂O₇₂⁻与SO₃²⁻数目之比为1:3时正好完全发生反应，X在还原产物中的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化合价为（）</a:t>
            </a:r>
          </a:p>
        </p:txBody>
      </p:sp>
      <p:sp>
        <p:nvSpPr>
          <p:cNvPr id="7" name="文字_A. +1价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+1价</a:t>
            </a:r>
          </a:p>
        </p:txBody>
      </p:sp>
      <p:sp>
        <p:nvSpPr>
          <p:cNvPr id="8" name="文字_B. +2价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+2价</a:t>
            </a:r>
          </a:p>
        </p:txBody>
      </p:sp>
      <p:sp>
        <p:nvSpPr>
          <p:cNvPr id="9" name="文字_C. +3 价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+3 价</a:t>
            </a:r>
          </a:p>
        </p:txBody>
      </p:sp>
      <p:sp>
        <p:nvSpPr>
          <p:cNvPr id="10" name="文字_D. +4 价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+4 价</a:t>
            </a:r>
          </a:p>
        </p:txBody>
      </p:sp>
      <p:sp>
        <p:nvSpPr>
          <p:cNvPr id="11" name="文字_单选题  ·  03-05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03-050</a:t>
            </a:r>
          </a:p>
        </p:txBody>
      </p:sp>
      <p:sp>
        <p:nvSpPr>
          <p:cNvPr id="12" name="文字_6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例题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例题5</a:t>
            </a:r>
          </a:p>
        </p:txBody>
      </p:sp>
      <p:sp>
        <p:nvSpPr>
          <p:cNvPr id="5" name="文字_P7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P72</a:t>
            </a:r>
          </a:p>
        </p:txBody>
      </p:sp>
      <p:sp>
        <p:nvSpPr>
          <p:cNvPr id="6" name="文字_氮氧化物是大气污染物之一，如图为科研人员探究消除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氮氧化物是大气污染物之一，如图为科研人员探究消除氮氧化物的反应机理，下列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说法不正确的是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80616"/>
            <a:ext cx="11064240" cy="2641635"/>
          </a:xfrm>
          <a:prstGeom prst="rect">
            <a:avLst/>
          </a:prstGeom>
        </p:spPr>
      </p:pic>
      <p:sp>
        <p:nvSpPr>
          <p:cNvPr id="8" name="原题文字_72_4"/>
          <p:cNvSpPr txBox="1"/>
          <p:nvPr/>
        </p:nvSpPr>
        <p:spPr>
          <a:xfrm>
            <a:off x="10747870" y="1912499"/>
            <a:ext cx="468337" cy="4777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1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O₂</a:t>
            </a:r>
          </a:p>
        </p:txBody>
      </p:sp>
      <p:sp>
        <p:nvSpPr>
          <p:cNvPr id="9" name="原题文字_72_5"/>
          <p:cNvSpPr txBox="1"/>
          <p:nvPr/>
        </p:nvSpPr>
        <p:spPr>
          <a:xfrm>
            <a:off x="587146" y="2019696"/>
            <a:ext cx="3592358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过程I中NO既作氧化剂又作还原剂</a:t>
            </a:r>
          </a:p>
        </p:txBody>
      </p:sp>
      <p:sp>
        <p:nvSpPr>
          <p:cNvPr id="10" name="原题文字_72_6"/>
          <p:cNvSpPr txBox="1"/>
          <p:nvPr/>
        </p:nvSpPr>
        <p:spPr>
          <a:xfrm>
            <a:off x="8358913" y="2035010"/>
            <a:ext cx="475994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NO</a:t>
            </a:r>
          </a:p>
        </p:txBody>
      </p:sp>
      <p:sp>
        <p:nvSpPr>
          <p:cNvPr id="11" name="原题文字_72_7"/>
          <p:cNvSpPr txBox="1"/>
          <p:nvPr/>
        </p:nvSpPr>
        <p:spPr>
          <a:xfrm>
            <a:off x="9469165" y="2103922"/>
            <a:ext cx="598504" cy="4578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2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Ni²⁺</a:t>
            </a:r>
          </a:p>
        </p:txBody>
      </p:sp>
      <p:sp>
        <p:nvSpPr>
          <p:cNvPr id="12" name="原题文字_72_8"/>
          <p:cNvSpPr txBox="1"/>
          <p:nvPr/>
        </p:nvSpPr>
        <p:spPr>
          <a:xfrm>
            <a:off x="571832" y="2394885"/>
            <a:ext cx="4863405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过程ⅡI中每生成1个O₂时，转移电子的数目为4个</a:t>
            </a:r>
          </a:p>
        </p:txBody>
      </p:sp>
      <p:sp>
        <p:nvSpPr>
          <p:cNvPr id="13" name="原题文字_72_9"/>
          <p:cNvSpPr txBox="1"/>
          <p:nvPr/>
        </p:nvSpPr>
        <p:spPr>
          <a:xfrm>
            <a:off x="594802" y="2793044"/>
            <a:ext cx="3845036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过程中涉及的反应均为氧化还原反应</a:t>
            </a:r>
          </a:p>
        </p:txBody>
      </p:sp>
      <p:sp>
        <p:nvSpPr>
          <p:cNvPr id="14" name="原题文字_72_10"/>
          <p:cNvSpPr txBox="1"/>
          <p:nvPr/>
        </p:nvSpPr>
        <p:spPr>
          <a:xfrm>
            <a:off x="587146" y="3175890"/>
            <a:ext cx="2727126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整个过程中Ni²⁺作催化剂</a:t>
            </a:r>
          </a:p>
        </p:txBody>
      </p:sp>
      <p:sp>
        <p:nvSpPr>
          <p:cNvPr id="15" name="原题文字_72_11"/>
          <p:cNvSpPr txBox="1"/>
          <p:nvPr/>
        </p:nvSpPr>
        <p:spPr>
          <a:xfrm>
            <a:off x="8182804" y="3122292"/>
            <a:ext cx="215659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I</a:t>
            </a:r>
          </a:p>
        </p:txBody>
      </p:sp>
      <p:sp>
        <p:nvSpPr>
          <p:cNvPr id="16" name="原题文字_72_12"/>
          <p:cNvSpPr txBox="1"/>
          <p:nvPr/>
        </p:nvSpPr>
        <p:spPr>
          <a:xfrm>
            <a:off x="11084774" y="3306058"/>
            <a:ext cx="261600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Ⅱ</a:t>
            </a:r>
          </a:p>
        </p:txBody>
      </p:sp>
      <p:sp>
        <p:nvSpPr>
          <p:cNvPr id="17" name="原题文字_72_13"/>
          <p:cNvSpPr txBox="1"/>
          <p:nvPr/>
        </p:nvSpPr>
        <p:spPr>
          <a:xfrm>
            <a:off x="9522764" y="3574049"/>
            <a:ext cx="590847" cy="4479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3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Ni³⁺</a:t>
            </a:r>
          </a:p>
        </p:txBody>
      </p:sp>
      <p:sp>
        <p:nvSpPr>
          <p:cNvPr id="18" name="原题文字_72_14"/>
          <p:cNvSpPr txBox="1"/>
          <p:nvPr/>
        </p:nvSpPr>
        <p:spPr>
          <a:xfrm>
            <a:off x="7792301" y="4064092"/>
            <a:ext cx="430052" cy="428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7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N₂</a:t>
            </a:r>
          </a:p>
        </p:txBody>
      </p:sp>
      <p:sp>
        <p:nvSpPr>
          <p:cNvPr id="19" name="文字_单选题  ·  03-05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03-051</a:t>
            </a:r>
          </a:p>
        </p:txBody>
      </p:sp>
      <p:sp>
        <p:nvSpPr>
          <p:cNvPr id="20" name="文字_7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例题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例题6</a:t>
            </a:r>
          </a:p>
        </p:txBody>
      </p:sp>
      <p:sp>
        <p:nvSpPr>
          <p:cNvPr id="5" name="文字_P7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P72</a:t>
            </a:r>
          </a:p>
        </p:txBody>
      </p:sp>
      <p:sp>
        <p:nvSpPr>
          <p:cNvPr id="6" name="文字_已知离子方程式：aSO₂⁻+bXO₃ + cH+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已知离子方程式：aSO₂⁻+bXO₃ + cH+=dSO₂ + eXO↑+fH₂O(已配平)，则a与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e的比值为</a:t>
            </a:r>
          </a:p>
        </p:txBody>
      </p:sp>
      <p:sp>
        <p:nvSpPr>
          <p:cNvPr id="7" name="文字_A. 1 : 1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1 : 1</a:t>
            </a:r>
          </a:p>
        </p:txBody>
      </p:sp>
      <p:sp>
        <p:nvSpPr>
          <p:cNvPr id="8" name="文字_B. 2: 3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2: 3</a:t>
            </a:r>
          </a:p>
        </p:txBody>
      </p:sp>
      <p:sp>
        <p:nvSpPr>
          <p:cNvPr id="9" name="文字_C. 3:2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3:2</a:t>
            </a:r>
          </a:p>
        </p:txBody>
      </p:sp>
      <p:sp>
        <p:nvSpPr>
          <p:cNvPr id="10" name="文字_D. 1 : 2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1 : 2</a:t>
            </a:r>
          </a:p>
        </p:txBody>
      </p:sp>
      <p:sp>
        <p:nvSpPr>
          <p:cNvPr id="11" name="文字_单选题  ·  03-05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03-052</a:t>
            </a:r>
          </a:p>
        </p:txBody>
      </p:sp>
      <p:sp>
        <p:nvSpPr>
          <p:cNvPr id="12" name="文字_7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例题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例题7</a:t>
            </a:r>
          </a:p>
        </p:txBody>
      </p:sp>
      <p:sp>
        <p:nvSpPr>
          <p:cNvPr id="5" name="文字_P7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P72</a:t>
            </a:r>
          </a:p>
        </p:txBody>
      </p:sp>
      <p:sp>
        <p:nvSpPr>
          <p:cNvPr id="6" name="文字_ClO₂是一种消毒杀菌效率高，二次污染小的水处理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ClO₂是一种消毒杀菌效率高，二次污染小的水处理剂。实验室可通过以下反应制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得ClO₂：2KClO₃ + H₂C₂O₄⁺H₂SO₄=2ClO₂↑+K₂SO₄ + 2CO₂↑+2H₂O,下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列说法正确的是</a:t>
            </a:r>
          </a:p>
        </p:txBody>
      </p:sp>
      <p:sp>
        <p:nvSpPr>
          <p:cNvPr id="7" name="文字_A. 1个 KClO₃参加反应有2个电子转移"/>
          <p:cNvSpPr txBox="1"/>
          <p:nvPr/>
        </p:nvSpPr>
        <p:spPr>
          <a:xfrm>
            <a:off x="502920" y="22433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1个 KClO₃参加反应有2个电子转移</a:t>
            </a:r>
          </a:p>
        </p:txBody>
      </p:sp>
      <p:sp>
        <p:nvSpPr>
          <p:cNvPr id="8" name="文字_B. H₂C₂O₄在反应中被还原"/>
          <p:cNvSpPr txBox="1"/>
          <p:nvPr/>
        </p:nvSpPr>
        <p:spPr>
          <a:xfrm>
            <a:off x="502920" y="26822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H₂C₂O₄在反应中被还原</a:t>
            </a:r>
          </a:p>
        </p:txBody>
      </p:sp>
      <p:sp>
        <p:nvSpPr>
          <p:cNvPr id="9" name="文字_C. 还原性: H₂C₂O₄&gt; ClO₂"/>
          <p:cNvSpPr txBox="1"/>
          <p:nvPr/>
        </p:nvSpPr>
        <p:spPr>
          <a:xfrm>
            <a:off x="502920" y="31211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还原性: H₂C₂O₄&gt; ClO₂</a:t>
            </a:r>
          </a:p>
        </p:txBody>
      </p:sp>
      <p:sp>
        <p:nvSpPr>
          <p:cNvPr id="10" name="文字_D. ClO₂是氧化产物"/>
          <p:cNvSpPr txBox="1"/>
          <p:nvPr/>
        </p:nvSpPr>
        <p:spPr>
          <a:xfrm>
            <a:off x="502920" y="35600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ClO₂是氧化产物</a:t>
            </a:r>
          </a:p>
        </p:txBody>
      </p:sp>
      <p:sp>
        <p:nvSpPr>
          <p:cNvPr id="11" name="文字_单选题  ·  03-05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03-053</a:t>
            </a:r>
          </a:p>
        </p:txBody>
      </p:sp>
      <p:sp>
        <p:nvSpPr>
          <p:cNvPr id="12" name="文字_7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例题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例题8</a:t>
            </a:r>
          </a:p>
        </p:txBody>
      </p:sp>
      <p:sp>
        <p:nvSpPr>
          <p:cNvPr id="5" name="文字_P7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P72</a:t>
            </a:r>
          </a:p>
        </p:txBody>
      </p:sp>
      <p:sp>
        <p:nvSpPr>
          <p:cNvPr id="6" name="文字_完成下列问题。"/>
          <p:cNvSpPr txBox="1"/>
          <p:nvPr/>
        </p:nvSpPr>
        <p:spPr>
          <a:xfrm>
            <a:off x="502920" y="1078992"/>
            <a:ext cx="1106424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完成下列问题。</a:t>
            </a:r>
          </a:p>
        </p:txBody>
      </p:sp>
      <p:sp>
        <p:nvSpPr>
          <p:cNvPr id="7" name="文字_(1)铜能与浓硝酸反应，化学方程式为：Cu + "/>
          <p:cNvSpPr txBox="1"/>
          <p:nvPr/>
        </p:nvSpPr>
        <p:spPr>
          <a:xfrm>
            <a:off x="502920" y="1490472"/>
            <a:ext cx="11064240" cy="7515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(1)铜能与浓硝酸反应，化学方程式为：Cu + 4HNO₃ = Cu(NO₃)₂ + 2NO₂ ↑ +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2H₂O。</a:t>
            </a:r>
          </a:p>
        </p:txBody>
      </p:sp>
      <p:sp>
        <p:nvSpPr>
          <p:cNvPr id="8" name="文字_①用单线桥标出电子转移的方向和数目 ______"/>
          <p:cNvSpPr txBox="1"/>
          <p:nvPr/>
        </p:nvSpPr>
        <p:spPr>
          <a:xfrm>
            <a:off x="502920" y="2241994"/>
            <a:ext cx="11064240" cy="7515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①用单线桥标出电子转移的方向和数目 ______ , Cu + 4HNO₃ = Cu(NO₃)₂ + 2NO₂ ↑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+2H₂O。</a:t>
            </a:r>
          </a:p>
        </p:txBody>
      </p:sp>
      <p:sp>
        <p:nvSpPr>
          <p:cNvPr id="9" name="文字_②上述反应中氧化剂是 ______ (用化学式表"/>
          <p:cNvSpPr txBox="1"/>
          <p:nvPr/>
        </p:nvSpPr>
        <p:spPr>
          <a:xfrm>
            <a:off x="502920" y="2993516"/>
            <a:ext cx="1106424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②上述反应中氧化剂是 ______ (用化学式表示，下同)，还原产物是</a:t>
            </a:r>
          </a:p>
        </p:txBody>
      </p:sp>
      <p:sp>
        <p:nvSpPr>
          <p:cNvPr id="10" name="文字_③还原剂与氧化剂的数目比是 ______ ，每生"/>
          <p:cNvSpPr txBox="1"/>
          <p:nvPr/>
        </p:nvSpPr>
        <p:spPr>
          <a:xfrm>
            <a:off x="502920" y="3404997"/>
            <a:ext cx="1106424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③还原剂与氧化剂的数目比是 ______ ，每生成一个NO₂转移 ______ 个e⁻。</a:t>
            </a:r>
          </a:p>
        </p:txBody>
      </p:sp>
      <p:sp>
        <p:nvSpPr>
          <p:cNvPr id="11" name="文字_(2)实验室用下列方法均可制取氯气"/>
          <p:cNvSpPr txBox="1"/>
          <p:nvPr/>
        </p:nvSpPr>
        <p:spPr>
          <a:xfrm>
            <a:off x="502920" y="3816477"/>
            <a:ext cx="1106424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(2)实验室用下列方法均可制取氯气</a:t>
            </a:r>
          </a:p>
        </p:txBody>
      </p:sp>
      <p:sp>
        <p:nvSpPr>
          <p:cNvPr id="12" name="文字_①MnO₂ + 4HCl(浓)= MnCl₂ +"/>
          <p:cNvSpPr txBox="1"/>
          <p:nvPr/>
        </p:nvSpPr>
        <p:spPr>
          <a:xfrm>
            <a:off x="502920" y="4227957"/>
            <a:ext cx="1106424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①MnO₂ + 4HCl(浓)= MnCl₂ + Cl₂ ↑ +2H₂O</a:t>
            </a:r>
          </a:p>
        </p:txBody>
      </p:sp>
      <p:sp>
        <p:nvSpPr>
          <p:cNvPr id="13" name="文字_②NaClO + 2HCl = NaCl + C"/>
          <p:cNvSpPr txBox="1"/>
          <p:nvPr/>
        </p:nvSpPr>
        <p:spPr>
          <a:xfrm>
            <a:off x="502920" y="4639437"/>
            <a:ext cx="1106424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②NaClO + 2HCl = NaCl + Cl₂ ↑ +H₂O</a:t>
            </a:r>
          </a:p>
        </p:txBody>
      </p:sp>
      <p:sp>
        <p:nvSpPr>
          <p:cNvPr id="14" name="文字_③2KMnO₄ + 16HCl(浓)= 2KCl"/>
          <p:cNvSpPr txBox="1"/>
          <p:nvPr/>
        </p:nvSpPr>
        <p:spPr>
          <a:xfrm>
            <a:off x="502920" y="5050917"/>
            <a:ext cx="1106424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③2KMnO₄ + 16HCl(浓)= 2KCl + 2MnCl₂ + 5Cl₂ ↑ +8H₂O</a:t>
            </a:r>
          </a:p>
        </p:txBody>
      </p:sp>
      <p:sp>
        <p:nvSpPr>
          <p:cNvPr id="15" name="文字_④KClO₃ + 6HCl = KCl + 3C"/>
          <p:cNvSpPr txBox="1"/>
          <p:nvPr/>
        </p:nvSpPr>
        <p:spPr>
          <a:xfrm>
            <a:off x="502920" y="5462397"/>
            <a:ext cx="1106424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④KClO₃ + 6HCl = KCl + 3Cl₂ ↑ +3H₂O</a:t>
            </a:r>
          </a:p>
        </p:txBody>
      </p:sp>
      <p:sp>
        <p:nvSpPr>
          <p:cNvPr id="16" name="文字_若各反应转移的电子数相同，①②③④生成的氯气质量"/>
          <p:cNvSpPr txBox="1"/>
          <p:nvPr/>
        </p:nvSpPr>
        <p:spPr>
          <a:xfrm>
            <a:off x="502920" y="5873877"/>
            <a:ext cx="1106424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若各反应转移的电子数相同，①②③④生成的氯气质量比为</a:t>
            </a:r>
          </a:p>
        </p:txBody>
      </p:sp>
      <p:sp>
        <p:nvSpPr>
          <p:cNvPr id="17" name="文字_填空题  ·  03-05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03-054</a:t>
            </a:r>
          </a:p>
        </p:txBody>
      </p:sp>
      <p:sp>
        <p:nvSpPr>
          <p:cNvPr id="18" name="文字_7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例题9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例题9</a:t>
            </a:r>
          </a:p>
        </p:txBody>
      </p:sp>
      <p:sp>
        <p:nvSpPr>
          <p:cNvPr id="5" name="文字_P7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P73</a:t>
            </a:r>
          </a:p>
        </p:txBody>
      </p:sp>
      <p:sp>
        <p:nvSpPr>
          <p:cNvPr id="6" name="文字_利用CH₃OH可将废水中的NO₅转化为对环境无害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利用CH₃OH可将废水中的NO₅转化为对环境无害的物质后排放。反应原理为：</a:t>
            </a:r>
          </a:p>
        </p:txBody>
      </p:sp>
      <p:sp>
        <p:nvSpPr>
          <p:cNvPr id="7" name="文字_H+ + CH₃OH + NO₃ → N₂ + 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H+ + CH₃OH + NO₃ → N₂ + CO₂ + H₂O(未配平)下列说法正确的是</a:t>
            </a:r>
          </a:p>
        </p:txBody>
      </p:sp>
      <p:sp>
        <p:nvSpPr>
          <p:cNvPr id="8" name="文字_A. N₂是氧化产物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N₂是氧化产物</a:t>
            </a:r>
          </a:p>
        </p:txBody>
      </p:sp>
      <p:sp>
        <p:nvSpPr>
          <p:cNvPr id="9" name="文字_B. 可用O₃替换CH₃OH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可用O₃替换CH₃OH</a:t>
            </a:r>
          </a:p>
        </p:txBody>
      </p:sp>
      <p:sp>
        <p:nvSpPr>
          <p:cNvPr id="10" name="文字_C. 氧化剂与还原剂的化学计量数之比为6:5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氧化剂与还原剂的化学计量数之比为6:5</a:t>
            </a:r>
          </a:p>
        </p:txBody>
      </p:sp>
      <p:sp>
        <p:nvSpPr>
          <p:cNvPr id="11" name="文字_D. 若生成84gN₂，则理论上消耗80gCH₃"/>
          <p:cNvSpPr txBox="1"/>
          <p:nvPr/>
        </p:nvSpPr>
        <p:spPr>
          <a:xfrm>
            <a:off x="502920" y="32735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若生成84gN₂，则理论上消耗80gCH₃OH</a:t>
            </a:r>
          </a:p>
        </p:txBody>
      </p:sp>
      <p:sp>
        <p:nvSpPr>
          <p:cNvPr id="12" name="文字_单选题  ·  03-05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03-055</a:t>
            </a:r>
          </a:p>
        </p:txBody>
      </p:sp>
      <p:sp>
        <p:nvSpPr>
          <p:cNvPr id="13" name="文字_7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例题10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例题10</a:t>
            </a:r>
          </a:p>
        </p:txBody>
      </p:sp>
      <p:sp>
        <p:nvSpPr>
          <p:cNvPr id="5" name="文字_P7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P73</a:t>
            </a:r>
          </a:p>
        </p:txBody>
      </p:sp>
      <p:sp>
        <p:nvSpPr>
          <p:cNvPr id="6" name="文字_在Pt-BaO催化下，NO的“储存-还原”过程如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在Pt-BaO催化下，NO的“储存-还原”过程如图1所示。其中“还原”过程依次发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生反应I和反应Ⅱ，各气体的物质的量变化如图2所示。下列说法错误的是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80616"/>
            <a:ext cx="11064240" cy="2396613"/>
          </a:xfrm>
          <a:prstGeom prst="rect">
            <a:avLst/>
          </a:prstGeom>
        </p:spPr>
      </p:pic>
      <p:sp>
        <p:nvSpPr>
          <p:cNvPr id="8" name="原题文字_73_14"/>
          <p:cNvSpPr txBox="1"/>
          <p:nvPr/>
        </p:nvSpPr>
        <p:spPr>
          <a:xfrm>
            <a:off x="3734137" y="1912499"/>
            <a:ext cx="521935" cy="248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1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n/mol ↑</a:t>
            </a:r>
          </a:p>
        </p:txBody>
      </p:sp>
      <p:sp>
        <p:nvSpPr>
          <p:cNvPr id="9" name="原题文字_73_15"/>
          <p:cNvSpPr txBox="1"/>
          <p:nvPr/>
        </p:nvSpPr>
        <p:spPr>
          <a:xfrm>
            <a:off x="4009786" y="2088608"/>
            <a:ext cx="16206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</a:t>
            </a:r>
          </a:p>
        </p:txBody>
      </p:sp>
      <p:sp>
        <p:nvSpPr>
          <p:cNvPr id="10" name="原题文字_73_16"/>
          <p:cNvSpPr txBox="1"/>
          <p:nvPr/>
        </p:nvSpPr>
        <p:spPr>
          <a:xfrm>
            <a:off x="4453887" y="2195805"/>
            <a:ext cx="475994" cy="248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反应Ⅰ</a:t>
            </a:r>
          </a:p>
        </p:txBody>
      </p:sp>
      <p:sp>
        <p:nvSpPr>
          <p:cNvPr id="11" name="原题文字_73_17"/>
          <p:cNvSpPr txBox="1"/>
          <p:nvPr/>
        </p:nvSpPr>
        <p:spPr>
          <a:xfrm>
            <a:off x="5349746" y="2195805"/>
            <a:ext cx="475994" cy="2588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2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反应Ⅱ</a:t>
            </a:r>
          </a:p>
        </p:txBody>
      </p:sp>
      <p:sp>
        <p:nvSpPr>
          <p:cNvPr id="12" name="原题文字_73_18"/>
          <p:cNvSpPr txBox="1"/>
          <p:nvPr/>
        </p:nvSpPr>
        <p:spPr>
          <a:xfrm>
            <a:off x="4446230" y="2387228"/>
            <a:ext cx="315199" cy="2787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</a:t>
            </a:r>
          </a:p>
        </p:txBody>
      </p:sp>
      <p:sp>
        <p:nvSpPr>
          <p:cNvPr id="13" name="原题文字_73_19"/>
          <p:cNvSpPr txBox="1"/>
          <p:nvPr/>
        </p:nvSpPr>
        <p:spPr>
          <a:xfrm>
            <a:off x="717313" y="2509739"/>
            <a:ext cx="284571" cy="2289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NO</a:t>
            </a:r>
          </a:p>
        </p:txBody>
      </p:sp>
      <p:sp>
        <p:nvSpPr>
          <p:cNvPr id="14" name="原题文字_73_20"/>
          <p:cNvSpPr txBox="1"/>
          <p:nvPr/>
        </p:nvSpPr>
        <p:spPr>
          <a:xfrm>
            <a:off x="2424805" y="2525052"/>
            <a:ext cx="253943" cy="2289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</a:t>
            </a:r>
          </a:p>
        </p:txBody>
      </p:sp>
      <p:sp>
        <p:nvSpPr>
          <p:cNvPr id="15" name="原题文字_73_21"/>
          <p:cNvSpPr txBox="1"/>
          <p:nvPr/>
        </p:nvSpPr>
        <p:spPr>
          <a:xfrm>
            <a:off x="2845935" y="2486768"/>
            <a:ext cx="238629" cy="1990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6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N₂</a:t>
            </a:r>
          </a:p>
        </p:txBody>
      </p:sp>
      <p:sp>
        <p:nvSpPr>
          <p:cNvPr id="16" name="原题文字_73_22"/>
          <p:cNvSpPr txBox="1"/>
          <p:nvPr/>
        </p:nvSpPr>
        <p:spPr>
          <a:xfrm>
            <a:off x="755598" y="2678191"/>
            <a:ext cx="230973" cy="1791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6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O₂</a:t>
            </a:r>
          </a:p>
        </p:txBody>
      </p:sp>
      <p:sp>
        <p:nvSpPr>
          <p:cNvPr id="17" name="原题文字_73_23"/>
          <p:cNvSpPr txBox="1"/>
          <p:nvPr/>
        </p:nvSpPr>
        <p:spPr>
          <a:xfrm>
            <a:off x="2777023" y="2624592"/>
            <a:ext cx="391768" cy="2189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6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H₂O</a:t>
            </a:r>
          </a:p>
        </p:txBody>
      </p:sp>
      <p:sp>
        <p:nvSpPr>
          <p:cNvPr id="18" name="原题文字_73_24"/>
          <p:cNvSpPr txBox="1"/>
          <p:nvPr/>
        </p:nvSpPr>
        <p:spPr>
          <a:xfrm>
            <a:off x="1153757" y="2838986"/>
            <a:ext cx="353483" cy="268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7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NO₂</a:t>
            </a:r>
          </a:p>
        </p:txBody>
      </p:sp>
      <p:sp>
        <p:nvSpPr>
          <p:cNvPr id="19" name="原题文字_73_25"/>
          <p:cNvSpPr txBox="1"/>
          <p:nvPr/>
        </p:nvSpPr>
        <p:spPr>
          <a:xfrm>
            <a:off x="3803049" y="3030409"/>
            <a:ext cx="368797" cy="1692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0.25a</a:t>
            </a:r>
          </a:p>
        </p:txBody>
      </p:sp>
      <p:sp>
        <p:nvSpPr>
          <p:cNvPr id="20" name="原题文字_73_26"/>
          <p:cNvSpPr txBox="1"/>
          <p:nvPr/>
        </p:nvSpPr>
        <p:spPr>
          <a:xfrm>
            <a:off x="947020" y="3145262"/>
            <a:ext cx="230973" cy="2090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1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Pt</a:t>
            </a:r>
          </a:p>
        </p:txBody>
      </p:sp>
      <p:sp>
        <p:nvSpPr>
          <p:cNvPr id="21" name="原题文字_73_27"/>
          <p:cNvSpPr txBox="1"/>
          <p:nvPr/>
        </p:nvSpPr>
        <p:spPr>
          <a:xfrm>
            <a:off x="1337523" y="3129949"/>
            <a:ext cx="361140" cy="248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BaO</a:t>
            </a:r>
          </a:p>
        </p:txBody>
      </p:sp>
      <p:sp>
        <p:nvSpPr>
          <p:cNvPr id="22" name="原题文字_73_28"/>
          <p:cNvSpPr txBox="1"/>
          <p:nvPr/>
        </p:nvSpPr>
        <p:spPr>
          <a:xfrm>
            <a:off x="2202754" y="3137605"/>
            <a:ext cx="544906" cy="2090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7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Ba(NO₃)₂</a:t>
            </a:r>
          </a:p>
        </p:txBody>
      </p:sp>
      <p:sp>
        <p:nvSpPr>
          <p:cNvPr id="23" name="原题文字_73_29"/>
          <p:cNvSpPr txBox="1"/>
          <p:nvPr/>
        </p:nvSpPr>
        <p:spPr>
          <a:xfrm>
            <a:off x="2868906" y="3145262"/>
            <a:ext cx="230973" cy="1990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6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Pt</a:t>
            </a:r>
          </a:p>
        </p:txBody>
      </p:sp>
      <p:sp>
        <p:nvSpPr>
          <p:cNvPr id="24" name="原题文字_73_30"/>
          <p:cNvSpPr txBox="1"/>
          <p:nvPr/>
        </p:nvSpPr>
        <p:spPr>
          <a:xfrm>
            <a:off x="1130786" y="3466853"/>
            <a:ext cx="361140" cy="2588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5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储存</a:t>
            </a:r>
          </a:p>
        </p:txBody>
      </p:sp>
      <p:sp>
        <p:nvSpPr>
          <p:cNvPr id="25" name="原题文字_73_31"/>
          <p:cNvSpPr txBox="1"/>
          <p:nvPr/>
        </p:nvSpPr>
        <p:spPr>
          <a:xfrm>
            <a:off x="2562629" y="3474510"/>
            <a:ext cx="368797" cy="248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还原</a:t>
            </a:r>
          </a:p>
        </p:txBody>
      </p:sp>
      <p:sp>
        <p:nvSpPr>
          <p:cNvPr id="26" name="原题文字_73_32"/>
          <p:cNvSpPr txBox="1"/>
          <p:nvPr/>
        </p:nvSpPr>
        <p:spPr>
          <a:xfrm>
            <a:off x="6237948" y="3604677"/>
            <a:ext cx="269257" cy="248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t/s</a:t>
            </a:r>
          </a:p>
        </p:txBody>
      </p:sp>
      <p:sp>
        <p:nvSpPr>
          <p:cNvPr id="27" name="原题文字_73_33"/>
          <p:cNvSpPr txBox="1"/>
          <p:nvPr/>
        </p:nvSpPr>
        <p:spPr>
          <a:xfrm>
            <a:off x="1858193" y="3696560"/>
            <a:ext cx="322855" cy="2787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图1</a:t>
            </a:r>
          </a:p>
        </p:txBody>
      </p:sp>
      <p:sp>
        <p:nvSpPr>
          <p:cNvPr id="28" name="原题文字_73_34"/>
          <p:cNvSpPr txBox="1"/>
          <p:nvPr/>
        </p:nvSpPr>
        <p:spPr>
          <a:xfrm>
            <a:off x="5051126" y="3696560"/>
            <a:ext cx="322855" cy="268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图2</a:t>
            </a:r>
          </a:p>
        </p:txBody>
      </p:sp>
      <p:sp>
        <p:nvSpPr>
          <p:cNvPr id="29" name="原题文字_73_35"/>
          <p:cNvSpPr txBox="1"/>
          <p:nvPr/>
        </p:nvSpPr>
        <p:spPr>
          <a:xfrm>
            <a:off x="564175" y="3903297"/>
            <a:ext cx="4733238" cy="428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“储存”的总反应为4NO + 3O₂ + 2BaO=2Ba(NO₃)₂</a:t>
            </a:r>
          </a:p>
        </p:txBody>
      </p:sp>
      <p:sp>
        <p:nvSpPr>
          <p:cNvPr id="30" name="文字_B. 反应I为Ba(NO₃)₂ + 8H₂=Ba"/>
          <p:cNvSpPr txBox="1"/>
          <p:nvPr/>
        </p:nvSpPr>
        <p:spPr>
          <a:xfrm>
            <a:off x="502920" y="4350381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反应I为Ba(NO₃)₂ + 8H₂=BaO + 2NH₃ + 5H₂O</a:t>
            </a:r>
          </a:p>
        </p:txBody>
      </p:sp>
      <p:sp>
        <p:nvSpPr>
          <p:cNvPr id="31" name="文字_C. 反应ⅡI中氧化剂与还原剂的物质的量之比为1"/>
          <p:cNvSpPr txBox="1"/>
          <p:nvPr/>
        </p:nvSpPr>
        <p:spPr>
          <a:xfrm>
            <a:off x="502920" y="4789293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反应ⅡI中氧化剂与还原剂的物质的量之比为10：3</a:t>
            </a:r>
          </a:p>
        </p:txBody>
      </p:sp>
      <p:sp>
        <p:nvSpPr>
          <p:cNvPr id="32" name="文字_D. 生成N₂最大物质的量为0.2a mol"/>
          <p:cNvSpPr txBox="1"/>
          <p:nvPr/>
        </p:nvSpPr>
        <p:spPr>
          <a:xfrm>
            <a:off x="502920" y="5228205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生成N₂最大物质的量为0.2a mol</a:t>
            </a:r>
          </a:p>
        </p:txBody>
      </p:sp>
      <p:sp>
        <p:nvSpPr>
          <p:cNvPr id="33" name="文字_单选题  ·  03-05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03-056</a:t>
            </a:r>
          </a:p>
        </p:txBody>
      </p:sp>
      <p:sp>
        <p:nvSpPr>
          <p:cNvPr id="34" name="文字_7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变式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变式1</a:t>
            </a:r>
          </a:p>
        </p:txBody>
      </p:sp>
      <p:sp>
        <p:nvSpPr>
          <p:cNvPr id="5" name="文字_P7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P73</a:t>
            </a:r>
          </a:p>
        </p:txBody>
      </p:sp>
      <p:sp>
        <p:nvSpPr>
          <p:cNvPr id="6" name="文字_反应8NH₃ + 3Cl₂=N₂ + 6NH₄C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反应8NH₃ + 3Cl₂=N₂ + 6NH₄Cl，还原剂与氧化剂的分子个数之比为（</a:t>
            </a:r>
          </a:p>
        </p:txBody>
      </p:sp>
      <p:sp>
        <p:nvSpPr>
          <p:cNvPr id="7" name="文字_A. 2:3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2:3</a:t>
            </a:r>
          </a:p>
        </p:txBody>
      </p:sp>
      <p:sp>
        <p:nvSpPr>
          <p:cNvPr id="8" name="文字_B. 8:3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8:3</a:t>
            </a:r>
          </a:p>
        </p:txBody>
      </p:sp>
      <p:sp>
        <p:nvSpPr>
          <p:cNvPr id="9" name="文字_C. 6:3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6:3</a:t>
            </a:r>
          </a:p>
        </p:txBody>
      </p:sp>
      <p:sp>
        <p:nvSpPr>
          <p:cNvPr id="10" name="文字_D. 3 : 2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3 : 2</a:t>
            </a:r>
          </a:p>
        </p:txBody>
      </p:sp>
      <p:sp>
        <p:nvSpPr>
          <p:cNvPr id="11" name="文字_单选题  ·  03-05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03-057</a:t>
            </a:r>
          </a:p>
        </p:txBody>
      </p:sp>
      <p:sp>
        <p:nvSpPr>
          <p:cNvPr id="12" name="文字_7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变式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变式2</a:t>
            </a:r>
          </a:p>
        </p:txBody>
      </p:sp>
      <p:sp>
        <p:nvSpPr>
          <p:cNvPr id="5" name="文字_P7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P73</a:t>
            </a:r>
          </a:p>
        </p:txBody>
      </p:sp>
      <p:sp>
        <p:nvSpPr>
          <p:cNvPr id="6" name="文字_反应2Na₂O₂ + 2H₂O=4NaOH + 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反应2Na₂O₂ + 2H₂O=4NaOH + O₂↑，还原产物与氧化产物的分子个数之比为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（）</a:t>
            </a:r>
          </a:p>
        </p:txBody>
      </p:sp>
      <p:sp>
        <p:nvSpPr>
          <p:cNvPr id="7" name="文字_A. 1: 2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1: 2</a:t>
            </a:r>
          </a:p>
        </p:txBody>
      </p:sp>
      <p:sp>
        <p:nvSpPr>
          <p:cNvPr id="8" name="文字_B. 2: 1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2: 1</a:t>
            </a:r>
          </a:p>
        </p:txBody>
      </p:sp>
      <p:sp>
        <p:nvSpPr>
          <p:cNvPr id="9" name="文字_C. 1: 1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1: 1</a:t>
            </a:r>
          </a:p>
        </p:txBody>
      </p:sp>
      <p:sp>
        <p:nvSpPr>
          <p:cNvPr id="10" name="文字_D. 4: 1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4: 1</a:t>
            </a:r>
          </a:p>
        </p:txBody>
      </p:sp>
      <p:sp>
        <p:nvSpPr>
          <p:cNvPr id="11" name="文字_单选题  ·  03-05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03-058</a:t>
            </a:r>
          </a:p>
        </p:txBody>
      </p:sp>
      <p:sp>
        <p:nvSpPr>
          <p:cNvPr id="12" name="文字_7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变式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变式3</a:t>
            </a:r>
          </a:p>
        </p:txBody>
      </p:sp>
      <p:sp>
        <p:nvSpPr>
          <p:cNvPr id="5" name="文字_P7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P73</a:t>
            </a:r>
          </a:p>
        </p:txBody>
      </p:sp>
      <p:sp>
        <p:nvSpPr>
          <p:cNvPr id="6" name="文字_已知下列变化过程中，RxO₂⁻ + MnO₄ +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已知下列变化过程中，RxO₂⁻ + MnO₄ + H+ → RO₂ + Mn²⁺ + H₂O,2个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RxO₂⁻参加反应时，共转移4个电子。则x的值为</a:t>
            </a:r>
          </a:p>
        </p:txBody>
      </p:sp>
      <p:sp>
        <p:nvSpPr>
          <p:cNvPr id="7" name="文字_A. 1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1</a:t>
            </a:r>
          </a:p>
        </p:txBody>
      </p:sp>
      <p:sp>
        <p:nvSpPr>
          <p:cNvPr id="8" name="文字_B. 2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2</a:t>
            </a:r>
          </a:p>
        </p:txBody>
      </p:sp>
      <p:sp>
        <p:nvSpPr>
          <p:cNvPr id="9" name="文字_C. 3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3</a:t>
            </a:r>
          </a:p>
        </p:txBody>
      </p:sp>
      <p:sp>
        <p:nvSpPr>
          <p:cNvPr id="10" name="文字_D. 4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4</a:t>
            </a:r>
          </a:p>
        </p:txBody>
      </p:sp>
      <p:sp>
        <p:nvSpPr>
          <p:cNvPr id="11" name="文字_单选题  ·  03-05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03-059</a:t>
            </a:r>
          </a:p>
        </p:txBody>
      </p:sp>
      <p:sp>
        <p:nvSpPr>
          <p:cNvPr id="12" name="文字_7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变式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变式4</a:t>
            </a:r>
          </a:p>
        </p:txBody>
      </p:sp>
      <p:sp>
        <p:nvSpPr>
          <p:cNvPr id="5" name="文字_P7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P74</a:t>
            </a:r>
          </a:p>
        </p:txBody>
      </p:sp>
      <p:sp>
        <p:nvSpPr>
          <p:cNvPr id="6" name="文字_钾溶液在一定条件下发生如下反应：Cl₂ + KO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钾溶液在一定条件下发生如下反应：Cl₂ + KOH→KX + KY(未配平)，KX在一定条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件下能自身反应：KX→KY+KZ(未配平，KY与KZ关系比为1：3)，以上KX、KY、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KZ均是一元酸的钾盐，由以上条件推知在KX中氯的化合价是（）</a:t>
            </a:r>
          </a:p>
        </p:txBody>
      </p:sp>
      <p:sp>
        <p:nvSpPr>
          <p:cNvPr id="7" name="文字_A. +1"/>
          <p:cNvSpPr txBox="1"/>
          <p:nvPr/>
        </p:nvSpPr>
        <p:spPr>
          <a:xfrm>
            <a:off x="502920" y="22433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+1</a:t>
            </a:r>
          </a:p>
        </p:txBody>
      </p:sp>
      <p:sp>
        <p:nvSpPr>
          <p:cNvPr id="8" name="文字_B. +3"/>
          <p:cNvSpPr txBox="1"/>
          <p:nvPr/>
        </p:nvSpPr>
        <p:spPr>
          <a:xfrm>
            <a:off x="502920" y="26822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+3</a:t>
            </a:r>
          </a:p>
        </p:txBody>
      </p:sp>
      <p:sp>
        <p:nvSpPr>
          <p:cNvPr id="9" name="文字_C. +5"/>
          <p:cNvSpPr txBox="1"/>
          <p:nvPr/>
        </p:nvSpPr>
        <p:spPr>
          <a:xfrm>
            <a:off x="502920" y="31211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+5</a:t>
            </a:r>
          </a:p>
        </p:txBody>
      </p:sp>
      <p:sp>
        <p:nvSpPr>
          <p:cNvPr id="10" name="文字_D. +7"/>
          <p:cNvSpPr txBox="1"/>
          <p:nvPr/>
        </p:nvSpPr>
        <p:spPr>
          <a:xfrm>
            <a:off x="502920" y="35600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+7</a:t>
            </a:r>
          </a:p>
        </p:txBody>
      </p:sp>
      <p:sp>
        <p:nvSpPr>
          <p:cNvPr id="11" name="文字_单选题  ·  03-06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03-060</a:t>
            </a:r>
          </a:p>
        </p:txBody>
      </p:sp>
      <p:sp>
        <p:nvSpPr>
          <p:cNvPr id="12" name="文字_7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变式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变式5</a:t>
            </a:r>
          </a:p>
        </p:txBody>
      </p:sp>
      <p:sp>
        <p:nvSpPr>
          <p:cNvPr id="5" name="文字_P7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P74</a:t>
            </a:r>
          </a:p>
        </p:txBody>
      </p:sp>
      <p:sp>
        <p:nvSpPr>
          <p:cNvPr id="6" name="文字_已知：MnO₄ + H++Cl→Mn²⁺+Cl₂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已知：MnO₄ + H++Cl→Mn²⁺+Cl₂ + H₂O（未配平）</a:t>
            </a:r>
          </a:p>
        </p:txBody>
      </p:sp>
      <p:sp>
        <p:nvSpPr>
          <p:cNvPr id="7" name="文字_ClO₃⁻ + H++Cl→Cl₂ + H₂O 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ClO₃⁻ + H++Cl→Cl₂ + H₂O （未配平）</a:t>
            </a:r>
          </a:p>
        </p:txBody>
      </p:sp>
      <p:sp>
        <p:nvSpPr>
          <p:cNvPr id="8" name="文字_ClO⁻ + H++Cl→Cl₂ + H₂O（未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ClO⁻ + H++Cl→Cl₂ + H₂O（未配平）</a:t>
            </a:r>
          </a:p>
        </p:txBody>
      </p:sp>
      <p:sp>
        <p:nvSpPr>
          <p:cNvPr id="9" name="文字_加入以下物质，若上述反应转移相同的电子数目，得到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加入以下物质，若上述反应转移相同的电子数目，得到C₁₂的量最少的是（）</a:t>
            </a:r>
          </a:p>
        </p:txBody>
      </p:sp>
      <p:sp>
        <p:nvSpPr>
          <p:cNvPr id="10" name="文字_A. KClO₃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KClO₃</a:t>
            </a:r>
          </a:p>
        </p:txBody>
      </p:sp>
      <p:sp>
        <p:nvSpPr>
          <p:cNvPr id="11" name="文字_B. KMnO₄"/>
          <p:cNvSpPr txBox="1"/>
          <p:nvPr/>
        </p:nvSpPr>
        <p:spPr>
          <a:xfrm>
            <a:off x="502920" y="32735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KMnO₄</a:t>
            </a:r>
          </a:p>
        </p:txBody>
      </p:sp>
      <p:sp>
        <p:nvSpPr>
          <p:cNvPr id="12" name="文字_C. NaClO"/>
          <p:cNvSpPr txBox="1"/>
          <p:nvPr/>
        </p:nvSpPr>
        <p:spPr>
          <a:xfrm>
            <a:off x="502920" y="37124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NaClO</a:t>
            </a:r>
          </a:p>
        </p:txBody>
      </p:sp>
      <p:sp>
        <p:nvSpPr>
          <p:cNvPr id="13" name="文字_D. Ca(ClO)₂"/>
          <p:cNvSpPr txBox="1"/>
          <p:nvPr/>
        </p:nvSpPr>
        <p:spPr>
          <a:xfrm>
            <a:off x="502920" y="41513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Ca(ClO)₂</a:t>
            </a:r>
          </a:p>
        </p:txBody>
      </p:sp>
      <p:sp>
        <p:nvSpPr>
          <p:cNvPr id="14" name="文字_单选题  ·  03-06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03-061</a:t>
            </a:r>
          </a:p>
        </p:txBody>
      </p:sp>
      <p:sp>
        <p:nvSpPr>
          <p:cNvPr id="15" name="文字_8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变式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变式6</a:t>
            </a:r>
          </a:p>
        </p:txBody>
      </p:sp>
      <p:sp>
        <p:nvSpPr>
          <p:cNvPr id="5" name="文字_P7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P74</a:t>
            </a:r>
          </a:p>
        </p:txBody>
      </p:sp>
      <p:sp>
        <p:nvSpPr>
          <p:cNvPr id="6" name="文字_在离子反应xR+ + yH+ + O₂ = mR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在离子反应xR+ + yH+ + O₂ = mR³⁺ + nH₂O中， x和y分别为</a:t>
            </a:r>
          </a:p>
        </p:txBody>
      </p:sp>
      <p:sp>
        <p:nvSpPr>
          <p:cNvPr id="7" name="文字_A. 2、2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2、2</a:t>
            </a:r>
          </a:p>
        </p:txBody>
      </p:sp>
      <p:sp>
        <p:nvSpPr>
          <p:cNvPr id="8" name="文字_B. 2、3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2、3</a:t>
            </a:r>
          </a:p>
        </p:txBody>
      </p:sp>
      <p:sp>
        <p:nvSpPr>
          <p:cNvPr id="9" name="文字_C. 3、3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3、3</a:t>
            </a:r>
          </a:p>
        </p:txBody>
      </p:sp>
      <p:sp>
        <p:nvSpPr>
          <p:cNvPr id="10" name="文字_D. 2、4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2、4</a:t>
            </a:r>
          </a:p>
        </p:txBody>
      </p:sp>
      <p:sp>
        <p:nvSpPr>
          <p:cNvPr id="11" name="文字_单选题  ·  03-06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03-062</a:t>
            </a:r>
          </a:p>
        </p:txBody>
      </p:sp>
      <p:sp>
        <p:nvSpPr>
          <p:cNvPr id="12" name="文字_8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变式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变式7</a:t>
            </a:r>
          </a:p>
        </p:txBody>
      </p:sp>
      <p:sp>
        <p:nvSpPr>
          <p:cNvPr id="5" name="文字_P7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P74</a:t>
            </a:r>
          </a:p>
        </p:txBody>
      </p:sp>
      <p:sp>
        <p:nvSpPr>
          <p:cNvPr id="6" name="文字_有如下反应(未配平)：BrF₃ + H₂O→Br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有如下反应(未配平)：BrF₃ + H₂O→Br₂ + O₂ + HBrO₃ + HF，反应后测得生成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Br₂与O₂各1mol。下列判断错误的是</a:t>
            </a:r>
          </a:p>
        </p:txBody>
      </p:sp>
      <p:sp>
        <p:nvSpPr>
          <p:cNvPr id="7" name="文字_A. 反应共转移6 份电子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反应共转移6 份电子</a:t>
            </a:r>
          </a:p>
        </p:txBody>
      </p:sp>
      <p:sp>
        <p:nvSpPr>
          <p:cNvPr id="8" name="文字_B. 氧化剂为BrF₃，还原产物为Br₂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氧化剂为BrF₃，还原产物为Br₂</a:t>
            </a:r>
          </a:p>
        </p:txBody>
      </p:sp>
      <p:sp>
        <p:nvSpPr>
          <p:cNvPr id="9" name="文字_C. 配平后H₂O与HF的物质的量之比为5：9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配平后H₂O与HF的物质的量之比为5：9</a:t>
            </a:r>
          </a:p>
        </p:txBody>
      </p:sp>
      <p:sp>
        <p:nvSpPr>
          <p:cNvPr id="10" name="文字_D. 被水还原的BrF₃与被自身还原的BrF₃的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被水还原的BrF₃与被自身还原的BrF₃的物质的量之比是1：2</a:t>
            </a:r>
          </a:p>
        </p:txBody>
      </p:sp>
      <p:sp>
        <p:nvSpPr>
          <p:cNvPr id="11" name="文字_单选题  ·  03-06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03-063</a:t>
            </a:r>
          </a:p>
        </p:txBody>
      </p:sp>
      <p:sp>
        <p:nvSpPr>
          <p:cNvPr id="12" name="文字_8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变式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变式8</a:t>
            </a:r>
          </a:p>
        </p:txBody>
      </p:sp>
      <p:sp>
        <p:nvSpPr>
          <p:cNvPr id="5" name="文字_P7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P74</a:t>
            </a:r>
          </a:p>
        </p:txBody>
      </p:sp>
      <p:sp>
        <p:nvSpPr>
          <p:cNvPr id="6" name="文字_工业废水中含有重铬酸根离子（Cr₂O₂⁻）有毒，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工业废水中含有重铬酸根离子（Cr₂O₂⁻）有毒，必须处理达标后才能排放。工业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上常用绿矾（FeSO₄·7H₂O）做处理剂，反应离子方程式为：Fe²⁺ + Cr₂O₂⁻ +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H+ → Fe³⁺ + Cr³⁺ + H₂O（方程式未配平)，下列说法正确的是</a:t>
            </a:r>
          </a:p>
        </p:txBody>
      </p:sp>
      <p:sp>
        <p:nvSpPr>
          <p:cNvPr id="7" name="文字_A. Cr₂O₂⁻是氧化剂，发生氧化反应"/>
          <p:cNvSpPr txBox="1"/>
          <p:nvPr/>
        </p:nvSpPr>
        <p:spPr>
          <a:xfrm>
            <a:off x="502920" y="22433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Cr₂O₂⁻是氧化剂，发生氧化反应</a:t>
            </a:r>
          </a:p>
        </p:txBody>
      </p:sp>
      <p:sp>
        <p:nvSpPr>
          <p:cNvPr id="8" name="文字_B. 生成1molCr³⁺时，消耗H + 7mo"/>
          <p:cNvSpPr txBox="1"/>
          <p:nvPr/>
        </p:nvSpPr>
        <p:spPr>
          <a:xfrm>
            <a:off x="502920" y="26822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生成1molCr³⁺时，消耗H + 7mol</a:t>
            </a:r>
          </a:p>
        </p:txBody>
      </p:sp>
      <p:sp>
        <p:nvSpPr>
          <p:cNvPr id="9" name="文字_C. 氧化产物与还原产物的物质的量之比为3:2"/>
          <p:cNvSpPr txBox="1"/>
          <p:nvPr/>
        </p:nvSpPr>
        <p:spPr>
          <a:xfrm>
            <a:off x="502920" y="31211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氧化产物与还原产物的物质的量之比为3:2</a:t>
            </a:r>
          </a:p>
        </p:txBody>
      </p:sp>
      <p:sp>
        <p:nvSpPr>
          <p:cNvPr id="10" name="文字_D. 在酸性条件下，还原能力Fe³⁺ &gt; Fe²"/>
          <p:cNvSpPr txBox="1"/>
          <p:nvPr/>
        </p:nvSpPr>
        <p:spPr>
          <a:xfrm>
            <a:off x="502920" y="35600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在酸性条件下，还原能力Fe³⁺ &gt; Fe²⁺</a:t>
            </a:r>
          </a:p>
        </p:txBody>
      </p:sp>
      <p:sp>
        <p:nvSpPr>
          <p:cNvPr id="11" name="文字_单选题  ·  03-06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03-064</a:t>
            </a:r>
          </a:p>
        </p:txBody>
      </p:sp>
      <p:sp>
        <p:nvSpPr>
          <p:cNvPr id="12" name="文字_8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变式9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变式9</a:t>
            </a:r>
          </a:p>
        </p:txBody>
      </p:sp>
      <p:sp>
        <p:nvSpPr>
          <p:cNvPr id="5" name="文字_P7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P75</a:t>
            </a:r>
          </a:p>
        </p:txBody>
      </p:sp>
      <p:sp>
        <p:nvSpPr>
          <p:cNvPr id="6" name="文字_做实验时不小心粘了一些高锰酸钾，皮肤上的斑很久才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做实验时不小心粘了一些高锰酸钾，皮肤上的斑很久才能消除，在酸性条件下可以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用Na₂C₂O₄的稀溶液洗涤，马上可以复原。其离子方程式（未配平）为：MnO₄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 + C₂O₂⁻→ H+ + CO₂↑ +Mn²⁺ +，关于此反应的叙述正确的是</a:t>
            </a:r>
          </a:p>
        </p:txBody>
      </p:sp>
      <p:sp>
        <p:nvSpPr>
          <p:cNvPr id="7" name="文字_A. 该反应右边方框内的产物是OH⁻"/>
          <p:cNvSpPr txBox="1"/>
          <p:nvPr/>
        </p:nvSpPr>
        <p:spPr>
          <a:xfrm>
            <a:off x="502920" y="22433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该反应右边方框内的产物是OH⁻</a:t>
            </a:r>
          </a:p>
        </p:txBody>
      </p:sp>
      <p:sp>
        <p:nvSpPr>
          <p:cNvPr id="8" name="文字_B. 该反应的氧化剂是C₂O₂⁻"/>
          <p:cNvSpPr txBox="1"/>
          <p:nvPr/>
        </p:nvSpPr>
        <p:spPr>
          <a:xfrm>
            <a:off x="502920" y="26822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该反应的氧化剂是C₂O₂⁻</a:t>
            </a:r>
          </a:p>
        </p:txBody>
      </p:sp>
      <p:sp>
        <p:nvSpPr>
          <p:cNvPr id="9" name="文字_C. 每生成1个CO₂转移1个电子"/>
          <p:cNvSpPr txBox="1"/>
          <p:nvPr/>
        </p:nvSpPr>
        <p:spPr>
          <a:xfrm>
            <a:off x="502920" y="31211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每生成1个CO₂转移1个电子</a:t>
            </a:r>
          </a:p>
        </p:txBody>
      </p:sp>
      <p:sp>
        <p:nvSpPr>
          <p:cNvPr id="10" name="文字_D. 配平该反应式后，H+的化学计量数是10"/>
          <p:cNvSpPr txBox="1"/>
          <p:nvPr/>
        </p:nvSpPr>
        <p:spPr>
          <a:xfrm>
            <a:off x="502920" y="35600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配平该反应式后，H+的化学计量数是10</a:t>
            </a:r>
          </a:p>
        </p:txBody>
      </p:sp>
      <p:sp>
        <p:nvSpPr>
          <p:cNvPr id="11" name="文字_单选题  ·  03-06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03-065</a:t>
            </a:r>
          </a:p>
        </p:txBody>
      </p:sp>
      <p:sp>
        <p:nvSpPr>
          <p:cNvPr id="12" name="文字_8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综合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综合1</a:t>
            </a:r>
          </a:p>
        </p:txBody>
      </p:sp>
      <p:sp>
        <p:nvSpPr>
          <p:cNvPr id="5" name="文字_P7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P75</a:t>
            </a:r>
          </a:p>
        </p:txBody>
      </p:sp>
      <p:sp>
        <p:nvSpPr>
          <p:cNvPr id="6" name="文字_反应2NH₃ + 3CuO∆3Cu + N₂ +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反应2NH₃ + 3CuO∆3Cu + N₂ + 3H₂O中，还原剂与氧化剂分子个数之比为（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）</a:t>
            </a:r>
          </a:p>
        </p:txBody>
      </p:sp>
      <p:sp>
        <p:nvSpPr>
          <p:cNvPr id="7" name="文字_A. 2: 3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2: 3</a:t>
            </a:r>
          </a:p>
        </p:txBody>
      </p:sp>
      <p:sp>
        <p:nvSpPr>
          <p:cNvPr id="8" name="文字_B. 1: 3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1: 3</a:t>
            </a:r>
          </a:p>
        </p:txBody>
      </p:sp>
      <p:sp>
        <p:nvSpPr>
          <p:cNvPr id="9" name="文字_C. 3: 1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3: 1</a:t>
            </a:r>
          </a:p>
        </p:txBody>
      </p:sp>
      <p:sp>
        <p:nvSpPr>
          <p:cNvPr id="10" name="文字_D. 3: 2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3: 2</a:t>
            </a:r>
          </a:p>
        </p:txBody>
      </p:sp>
      <p:sp>
        <p:nvSpPr>
          <p:cNvPr id="11" name="文字_单选题  ·  03-06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03-066</a:t>
            </a:r>
          </a:p>
        </p:txBody>
      </p:sp>
      <p:sp>
        <p:nvSpPr>
          <p:cNvPr id="12" name="文字_8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综合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综合2</a:t>
            </a:r>
          </a:p>
        </p:txBody>
      </p:sp>
      <p:sp>
        <p:nvSpPr>
          <p:cNvPr id="5" name="文字_P7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P75</a:t>
            </a:r>
          </a:p>
        </p:txBody>
      </p:sp>
      <p:sp>
        <p:nvSpPr>
          <p:cNvPr id="6" name="文字_稀土资源素有“工业维生素”“新材料之母”之称，我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稀土资源素有“工业维生素”“新材料之母”之称，我国稀土储量世界第一。已知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：金属铈（稀土元素）在空气中易氧化变暗，受热时燃烧，遇水很快反应（注：铈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常见的化合价为+3和+4，氧化性：Ce⁴⁺&gt;Fe³⁺&gt;I₂）。下列说法正确的是（）</a:t>
            </a:r>
          </a:p>
        </p:txBody>
      </p:sp>
      <p:sp>
        <p:nvSpPr>
          <p:cNvPr id="7" name="文字_A. 铈溶于氢碘酸的化学方程式可表示为：Ce +"/>
          <p:cNvSpPr txBox="1"/>
          <p:nvPr/>
        </p:nvSpPr>
        <p:spPr>
          <a:xfrm>
            <a:off x="502920" y="22433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铈溶于氢碘酸的化学方程式可表示为：Ce +4HI=CeI₄ + 2H₂↑</a:t>
            </a:r>
          </a:p>
        </p:txBody>
      </p:sp>
      <p:sp>
        <p:nvSpPr>
          <p:cNvPr id="8" name="文字_B. Ce₂(SO₄)₃溶液与硫酸铁溶液混合，其"/>
          <p:cNvSpPr txBox="1"/>
          <p:nvPr/>
        </p:nvSpPr>
        <p:spPr>
          <a:xfrm>
            <a:off x="502920" y="2682240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Ce₂(SO₄)₃溶液与硫酸铁溶液混合，其离子方程式为： Ce³⁺ + Fe³⁺=Ce⁴⁺ +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Fe²⁺</a:t>
            </a:r>
          </a:p>
        </p:txBody>
      </p:sp>
      <p:sp>
        <p:nvSpPr>
          <p:cNvPr id="9" name="文字_C. 铈元素如果要排在金属活动性顺序表中，其位置"/>
          <p:cNvSpPr txBox="1"/>
          <p:nvPr/>
        </p:nvSpPr>
        <p:spPr>
          <a:xfrm>
            <a:off x="502920" y="3483863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铈元素如果要排在金属活动性顺序表中，其位置应靠近Na元素</a:t>
            </a:r>
          </a:p>
        </p:txBody>
      </p:sp>
      <p:sp>
        <p:nvSpPr>
          <p:cNvPr id="10" name="文字_D. 金属Ce保存时可以用水封来隔绝空气，防止被"/>
          <p:cNvSpPr txBox="1"/>
          <p:nvPr/>
        </p:nvSpPr>
        <p:spPr>
          <a:xfrm>
            <a:off x="502920" y="39227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金属Ce保存时可以用水封来隔绝空气，防止被氧化</a:t>
            </a:r>
          </a:p>
        </p:txBody>
      </p:sp>
      <p:sp>
        <p:nvSpPr>
          <p:cNvPr id="11" name="文字_单选题  ·  03-06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03-067</a:t>
            </a:r>
          </a:p>
        </p:txBody>
      </p:sp>
      <p:sp>
        <p:nvSpPr>
          <p:cNvPr id="12" name="文字_8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综合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综合3</a:t>
            </a:r>
          </a:p>
        </p:txBody>
      </p:sp>
      <p:sp>
        <p:nvSpPr>
          <p:cNvPr id="5" name="文字_P7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P75</a:t>
            </a:r>
          </a:p>
        </p:txBody>
      </p:sp>
      <p:sp>
        <p:nvSpPr>
          <p:cNvPr id="6" name="文字_KI-淀粉试纸检验KIO₃的原理为KIO₃ + 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KI-淀粉试纸检验KIO₃的原理为KIO₃ + 5KI + 3H₂SO₄ = 3K₂SO₄ + 3I₂ +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3H₂O。下列说法正确的是</a:t>
            </a:r>
          </a:p>
        </p:txBody>
      </p:sp>
      <p:sp>
        <p:nvSpPr>
          <p:cNvPr id="7" name="文字_A. KIO₃中碘元素的化合价为+5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KIO₃中碘元素的化合价为+5</a:t>
            </a:r>
          </a:p>
        </p:txBody>
      </p:sp>
      <p:sp>
        <p:nvSpPr>
          <p:cNvPr id="8" name="文字_B. KI是氧化剂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KI是氧化剂</a:t>
            </a:r>
          </a:p>
        </p:txBody>
      </p:sp>
      <p:sp>
        <p:nvSpPr>
          <p:cNvPr id="9" name="文字_C. KIO₃发生氧化反应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KIO₃发生氧化反应</a:t>
            </a:r>
          </a:p>
        </p:txBody>
      </p:sp>
      <p:sp>
        <p:nvSpPr>
          <p:cNvPr id="10" name="文字_D. 每生成3mol2，转移10mol电子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每生成3mol2，转移10mol电子</a:t>
            </a:r>
          </a:p>
        </p:txBody>
      </p:sp>
      <p:sp>
        <p:nvSpPr>
          <p:cNvPr id="11" name="文字_单选题  ·  03-06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03-068</a:t>
            </a:r>
          </a:p>
        </p:txBody>
      </p:sp>
      <p:sp>
        <p:nvSpPr>
          <p:cNvPr id="12" name="文字_8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综合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综合4</a:t>
            </a:r>
          </a:p>
        </p:txBody>
      </p:sp>
      <p:sp>
        <p:nvSpPr>
          <p:cNvPr id="5" name="文字_P7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P75</a:t>
            </a:r>
          </a:p>
        </p:txBody>
      </p:sp>
      <p:sp>
        <p:nvSpPr>
          <p:cNvPr id="6" name="文字_Cl₂与NaOH反应的产物与温度有关，较低的温度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Cl₂与NaOH反应的产物与温度有关，较低的温度下，主要的氧化产物是NaClO，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而较高的温度下，主要的氧化产物则为NaClO₃。某温度下，Cl₂与NaOH反应生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成ClO和ClO₅的个数恰好相等，则被氧化的氯原子和被还原的氯原子的个数比为</a:t>
            </a:r>
          </a:p>
        </p:txBody>
      </p:sp>
      <p:sp>
        <p:nvSpPr>
          <p:cNvPr id="7" name="文字_A. 1:1"/>
          <p:cNvSpPr txBox="1"/>
          <p:nvPr/>
        </p:nvSpPr>
        <p:spPr>
          <a:xfrm>
            <a:off x="502920" y="22433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1:1</a:t>
            </a:r>
          </a:p>
        </p:txBody>
      </p:sp>
      <p:sp>
        <p:nvSpPr>
          <p:cNvPr id="8" name="文字_B. 1:2"/>
          <p:cNvSpPr txBox="1"/>
          <p:nvPr/>
        </p:nvSpPr>
        <p:spPr>
          <a:xfrm>
            <a:off x="502920" y="26822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1:2</a:t>
            </a:r>
          </a:p>
        </p:txBody>
      </p:sp>
      <p:sp>
        <p:nvSpPr>
          <p:cNvPr id="9" name="文字_C. 1:3"/>
          <p:cNvSpPr txBox="1"/>
          <p:nvPr/>
        </p:nvSpPr>
        <p:spPr>
          <a:xfrm>
            <a:off x="502920" y="31211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1:3</a:t>
            </a:r>
          </a:p>
        </p:txBody>
      </p:sp>
      <p:sp>
        <p:nvSpPr>
          <p:cNvPr id="10" name="文字_D. 1:4"/>
          <p:cNvSpPr txBox="1"/>
          <p:nvPr/>
        </p:nvSpPr>
        <p:spPr>
          <a:xfrm>
            <a:off x="502920" y="35600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1:4</a:t>
            </a:r>
          </a:p>
        </p:txBody>
      </p:sp>
      <p:sp>
        <p:nvSpPr>
          <p:cNvPr id="11" name="文字_单选题  ·  03-06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03-069</a:t>
            </a:r>
          </a:p>
        </p:txBody>
      </p:sp>
      <p:sp>
        <p:nvSpPr>
          <p:cNvPr id="12" name="文字_8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综合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综合5</a:t>
            </a:r>
          </a:p>
        </p:txBody>
      </p:sp>
      <p:sp>
        <p:nvSpPr>
          <p:cNvPr id="5" name="文字_P7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P76</a:t>
            </a:r>
          </a:p>
        </p:txBody>
      </p:sp>
      <p:sp>
        <p:nvSpPr>
          <p:cNvPr id="6" name="文字_反应①②分别是从海藻灰和某种矿石中提取碘的主要反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反应①②分别是从海藻灰和某种矿石中提取碘的主要反应：</a:t>
            </a:r>
          </a:p>
        </p:txBody>
      </p:sp>
      <p:sp>
        <p:nvSpPr>
          <p:cNvPr id="7" name="文字_①2NaI + MnO₂ + 3H₂SO₄=2N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①2NaI + MnO₂ + 3H₂SO₄=2NaHSO₄ + MnSO₄ + 2H₂O + I₂</a:t>
            </a:r>
          </a:p>
        </p:txBody>
      </p:sp>
      <p:sp>
        <p:nvSpPr>
          <p:cNvPr id="8" name="文字_②2NaIO₃ + 5NaHSO₃=2Na₂SO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②2NaIO₃ + 5NaHSO₃=2Na₂SO₄ + 3NaHSO₄ + H₂O + I₂</a:t>
            </a:r>
          </a:p>
        </p:txBody>
      </p:sp>
      <p:sp>
        <p:nvSpPr>
          <p:cNvPr id="9" name="文字_下列说法正确的是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下列说法正确的是</a:t>
            </a:r>
          </a:p>
        </p:txBody>
      </p:sp>
      <p:sp>
        <p:nvSpPr>
          <p:cNvPr id="10" name="文字_A. 两个反应中硫元素均被氧化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两个反应中硫元素均被氧化</a:t>
            </a:r>
          </a:p>
        </p:txBody>
      </p:sp>
      <p:sp>
        <p:nvSpPr>
          <p:cNvPr id="11" name="文字_B. 碘元素在反应①中被氧化、在反应②中被还原"/>
          <p:cNvSpPr txBox="1"/>
          <p:nvPr/>
        </p:nvSpPr>
        <p:spPr>
          <a:xfrm>
            <a:off x="502920" y="32735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碘元素在反应①中被氧化、在反应②中被还原</a:t>
            </a:r>
          </a:p>
        </p:txBody>
      </p:sp>
      <p:sp>
        <p:nvSpPr>
          <p:cNvPr id="12" name="文字_C. 由①②可得氧化性:IO₃&gt;MnO₂&gt;I₂"/>
          <p:cNvSpPr txBox="1"/>
          <p:nvPr/>
        </p:nvSpPr>
        <p:spPr>
          <a:xfrm>
            <a:off x="502920" y="37124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由①②可得氧化性:IO₃&gt;MnO₂&gt;I₂</a:t>
            </a:r>
          </a:p>
        </p:txBody>
      </p:sp>
      <p:sp>
        <p:nvSpPr>
          <p:cNvPr id="13" name="文字_D. 反应①②中生成等质量的I₂时，转移电子数之"/>
          <p:cNvSpPr txBox="1"/>
          <p:nvPr/>
        </p:nvSpPr>
        <p:spPr>
          <a:xfrm>
            <a:off x="502920" y="41513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反应①②中生成等质量的I₂时，转移电子数之比为2：5</a:t>
            </a:r>
          </a:p>
        </p:txBody>
      </p:sp>
      <p:sp>
        <p:nvSpPr>
          <p:cNvPr id="14" name="文字_单选题  ·  03-07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03-070</a:t>
            </a:r>
          </a:p>
        </p:txBody>
      </p:sp>
      <p:sp>
        <p:nvSpPr>
          <p:cNvPr id="15" name="文字_8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综合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综合6</a:t>
            </a:r>
          </a:p>
        </p:txBody>
      </p:sp>
      <p:sp>
        <p:nvSpPr>
          <p:cNvPr id="5" name="文字_P7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P76</a:t>
            </a:r>
          </a:p>
        </p:txBody>
      </p:sp>
      <p:sp>
        <p:nvSpPr>
          <p:cNvPr id="6" name="文字_关于反应5H₂C₂O₄ + 2KMnO₄ + 3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关于反应5H₂C₂O₄ + 2KMnO₄ + 3H₂SO₄ = 10CO₂ ↑ +K₂SO₄ +  2MnSO₄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+ 8H₂O，下列说法正确的是</a:t>
            </a:r>
          </a:p>
        </p:txBody>
      </p:sp>
      <p:sp>
        <p:nvSpPr>
          <p:cNvPr id="7" name="文字_A. H₂C₂O₄中C的化合价为+4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H₂C₂O₄中C的化合价为+4</a:t>
            </a:r>
          </a:p>
        </p:txBody>
      </p:sp>
      <p:sp>
        <p:nvSpPr>
          <p:cNvPr id="8" name="文字_B. 反应中KMnO₄和H₂SO₄表现氧化性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反应中KMnO₄和H₂SO₄表现氧化性</a:t>
            </a:r>
          </a:p>
        </p:txBody>
      </p:sp>
      <p:sp>
        <p:nvSpPr>
          <p:cNvPr id="9" name="文字_C. 氧化剂与还原剂的物质的量之为5：2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氧化剂与还原剂的物质的量之为5：2</a:t>
            </a:r>
          </a:p>
        </p:txBody>
      </p:sp>
      <p:sp>
        <p:nvSpPr>
          <p:cNvPr id="10" name="文字_D. 氧化产物与还原产物的物质的量之为5：1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氧化产物与还原产物的物质的量之为5：1</a:t>
            </a:r>
          </a:p>
        </p:txBody>
      </p:sp>
      <p:sp>
        <p:nvSpPr>
          <p:cNvPr id="11" name="文字_单选题  ·  03-07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03-071</a:t>
            </a:r>
          </a:p>
        </p:txBody>
      </p:sp>
      <p:sp>
        <p:nvSpPr>
          <p:cNvPr id="12" name="文字_9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综合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综合7</a:t>
            </a:r>
          </a:p>
        </p:txBody>
      </p:sp>
      <p:sp>
        <p:nvSpPr>
          <p:cNvPr id="5" name="文字_P7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P76</a:t>
            </a:r>
          </a:p>
        </p:txBody>
      </p:sp>
      <p:sp>
        <p:nvSpPr>
          <p:cNvPr id="6" name="文字_氯气具有很强的氧化性，工业上保存氯气通常使用干燥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氯气具有很强的氧化性，工业上保存氯气通常使用干燥的钢瓶。但如果瓶口位置发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生漏气，且漏气不明显时，我们可以使用浓氨水来检验(已知：8NH₃ + 3Cl₂=N₂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+ 6NH₄Cl)。下列有关说法不正确的是（）</a:t>
            </a:r>
          </a:p>
        </p:txBody>
      </p:sp>
      <p:sp>
        <p:nvSpPr>
          <p:cNvPr id="7" name="文字_A. 氯气与氨水反应，每有1份Cl₂参加反应，转"/>
          <p:cNvSpPr txBox="1"/>
          <p:nvPr/>
        </p:nvSpPr>
        <p:spPr>
          <a:xfrm>
            <a:off x="502920" y="22433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氯气与氨水反应，每有1份Cl₂参加反应，转移电子为2份</a:t>
            </a:r>
          </a:p>
        </p:txBody>
      </p:sp>
      <p:sp>
        <p:nvSpPr>
          <p:cNvPr id="8" name="文字_B. NH₄Cl仅为还原产物"/>
          <p:cNvSpPr txBox="1"/>
          <p:nvPr/>
        </p:nvSpPr>
        <p:spPr>
          <a:xfrm>
            <a:off x="502920" y="26822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NH₄Cl仅为还原产物</a:t>
            </a:r>
          </a:p>
        </p:txBody>
      </p:sp>
      <p:sp>
        <p:nvSpPr>
          <p:cNvPr id="9" name="文字_C. 被氧化的NH₃占其反应总量的25%"/>
          <p:cNvSpPr txBox="1"/>
          <p:nvPr/>
        </p:nvSpPr>
        <p:spPr>
          <a:xfrm>
            <a:off x="502920" y="31211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被氧化的NH₃占其反应总量的25%</a:t>
            </a:r>
          </a:p>
        </p:txBody>
      </p:sp>
      <p:sp>
        <p:nvSpPr>
          <p:cNvPr id="10" name="文字_D. 钢瓶盛装氯气前，如未能干燥氯气，则会有2F"/>
          <p:cNvSpPr txBox="1"/>
          <p:nvPr/>
        </p:nvSpPr>
        <p:spPr>
          <a:xfrm>
            <a:off x="502920" y="35600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钢瓶盛装氯气前，如未能干燥氯气，则会有2Fe + 3Cl₂=2FeCl₃反应发生</a:t>
            </a:r>
          </a:p>
        </p:txBody>
      </p:sp>
      <p:sp>
        <p:nvSpPr>
          <p:cNvPr id="11" name="文字_单选题  ·  03-07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03-072</a:t>
            </a:r>
          </a:p>
        </p:txBody>
      </p:sp>
      <p:sp>
        <p:nvSpPr>
          <p:cNvPr id="12" name="文字_9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综合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综合8</a:t>
            </a:r>
          </a:p>
        </p:txBody>
      </p:sp>
      <p:sp>
        <p:nvSpPr>
          <p:cNvPr id="5" name="文字_P7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P76</a:t>
            </a:r>
          </a:p>
        </p:txBody>
      </p:sp>
      <p:sp>
        <p:nvSpPr>
          <p:cNvPr id="6" name="文字_重铬酸钾(K₂Cr₂O₇)是一种无机化合物，室温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重铬酸钾(K₂Cr₂O₇)是一种无机化合物，室温下为橘红色结晶性粉末，溶于水，不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溶于乙醇，是一种有毒且致癌性很强的物质。常温下可以用硫酸亚铁处理工业废水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中的K₂Cr₂O₇，其反应的离子方程式为</a:t>
            </a:r>
          </a:p>
        </p:txBody>
      </p:sp>
      <p:sp>
        <p:nvSpPr>
          <p:cNvPr id="7" name="文字_Fe²⁺ + Cr₂O₂⁻ + H+ → Cr³"/>
          <p:cNvSpPr txBox="1"/>
          <p:nvPr/>
        </p:nvSpPr>
        <p:spPr>
          <a:xfrm>
            <a:off x="502920" y="22433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Fe²⁺ + Cr₂O₂⁻ + H+ → Cr³⁺ + Fe³⁺ + H₂O(未配平)。下列叙述正确的是</a:t>
            </a:r>
          </a:p>
        </p:txBody>
      </p:sp>
      <p:sp>
        <p:nvSpPr>
          <p:cNvPr id="8" name="文字_A. 反应物中Cr元素的化合价为+4"/>
          <p:cNvSpPr txBox="1"/>
          <p:nvPr/>
        </p:nvSpPr>
        <p:spPr>
          <a:xfrm>
            <a:off x="502920" y="26822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反应物中Cr元素的化合价为+4</a:t>
            </a:r>
          </a:p>
        </p:txBody>
      </p:sp>
      <p:sp>
        <p:nvSpPr>
          <p:cNvPr id="9" name="文字_B. 该反应离子方程式配平为6Fe²⁺ + Cr"/>
          <p:cNvSpPr txBox="1"/>
          <p:nvPr/>
        </p:nvSpPr>
        <p:spPr>
          <a:xfrm>
            <a:off x="502920" y="312115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该反应离子方程式配平为6Fe²⁺ + Cr₂O₂⁻ + 14H+ = 2Cr³⁺ + 6Fe³⁺ +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7H₂O</a:t>
            </a:r>
          </a:p>
        </p:txBody>
      </p:sp>
      <p:sp>
        <p:nvSpPr>
          <p:cNvPr id="10" name="文字_C. 该反应中氧化剂和还原剂的个数之比为6:1"/>
          <p:cNvSpPr txBox="1"/>
          <p:nvPr/>
        </p:nvSpPr>
        <p:spPr>
          <a:xfrm>
            <a:off x="502920" y="39227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该反应中氧化剂和还原剂的个数之比为6:1</a:t>
            </a:r>
          </a:p>
        </p:txBody>
      </p:sp>
      <p:sp>
        <p:nvSpPr>
          <p:cNvPr id="11" name="文字_D. 每生成2个Cr³⁺时，转移3个电子"/>
          <p:cNvSpPr txBox="1"/>
          <p:nvPr/>
        </p:nvSpPr>
        <p:spPr>
          <a:xfrm>
            <a:off x="502920" y="4361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每生成2个Cr³⁺时，转移3个电子</a:t>
            </a:r>
          </a:p>
        </p:txBody>
      </p:sp>
      <p:sp>
        <p:nvSpPr>
          <p:cNvPr id="12" name="文字_单选题  ·  03-07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03-073</a:t>
            </a:r>
          </a:p>
        </p:txBody>
      </p:sp>
      <p:sp>
        <p:nvSpPr>
          <p:cNvPr id="13" name="文字_9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综合9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综合9</a:t>
            </a:r>
          </a:p>
        </p:txBody>
      </p:sp>
      <p:sp>
        <p:nvSpPr>
          <p:cNvPr id="5" name="文字_P7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P77</a:t>
            </a:r>
          </a:p>
        </p:txBody>
      </p:sp>
      <p:sp>
        <p:nvSpPr>
          <p:cNvPr id="6" name="文字_已知：2Na₂S + Na₂SO₃ + 3H₂S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已知：2Na₂S + Na₂SO₃ + 3H₂SO₄=3S↓+3Na₂SO₄ + 3H₂O，下列说法不正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确的是</a:t>
            </a:r>
          </a:p>
        </p:txBody>
      </p:sp>
      <p:sp>
        <p:nvSpPr>
          <p:cNvPr id="7" name="文字_A. Na₂SO₃是氧化剂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Na₂SO₃是氧化剂</a:t>
            </a:r>
          </a:p>
        </p:txBody>
      </p:sp>
      <p:sp>
        <p:nvSpPr>
          <p:cNvPr id="8" name="文字_B. 被氧化与被还原的硫元素的质量比为5：1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被氧化与被还原的硫元素的质量比为5：1</a:t>
            </a:r>
          </a:p>
        </p:txBody>
      </p:sp>
      <p:sp>
        <p:nvSpPr>
          <p:cNvPr id="9" name="文字_C. H₂SO₄既不是氧化剂又不是还原剂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H₂SO₄既不是氧化剂又不是还原剂</a:t>
            </a:r>
          </a:p>
        </p:txBody>
      </p:sp>
      <p:sp>
        <p:nvSpPr>
          <p:cNvPr id="10" name="文字_D. 该反应的离子方程式为：2S²⁻+SO₃⁻+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该反应的离子方程式为：2S²⁻+SO₃⁻+6H+=3S↓+3H₂O</a:t>
            </a:r>
          </a:p>
        </p:txBody>
      </p:sp>
      <p:sp>
        <p:nvSpPr>
          <p:cNvPr id="11" name="文字_单选题  ·  03-07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03-074</a:t>
            </a:r>
          </a:p>
        </p:txBody>
      </p:sp>
      <p:sp>
        <p:nvSpPr>
          <p:cNvPr id="12" name="文字_9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综合10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综合10</a:t>
            </a:r>
          </a:p>
        </p:txBody>
      </p:sp>
      <p:sp>
        <p:nvSpPr>
          <p:cNvPr id="5" name="文字_P7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P77</a:t>
            </a:r>
          </a:p>
        </p:txBody>
      </p:sp>
      <p:sp>
        <p:nvSpPr>
          <p:cNvPr id="6" name="文字_目前新一代高效、无污染的消毒剂二氧化氯（C₁O₂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目前新一代高效、无污染的消毒剂二氧化氯（C₁O₂）已被许多国家广泛应用在饮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用水的处理上．已知工业上制备二氧化氯的方法之一是用甲醇在酸性介质中与氯酸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钠反应，其反应关系为</a:t>
            </a:r>
          </a:p>
        </p:txBody>
      </p:sp>
      <p:sp>
        <p:nvSpPr>
          <p:cNvPr id="7" name="文字_CH₃OH + 6NaClO₃ + 3H₂SO₄"/>
          <p:cNvSpPr txBox="1"/>
          <p:nvPr/>
        </p:nvSpPr>
        <p:spPr>
          <a:xfrm>
            <a:off x="502920" y="2243328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CH₃OH + 6NaClO₃ + 3H₂SO₄=6ClO₂ + CO₂ + 3Na₂SO₄ + 5H₂O，则下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列说法正确的是（）</a:t>
            </a:r>
          </a:p>
        </p:txBody>
      </p:sp>
      <p:sp>
        <p:nvSpPr>
          <p:cNvPr id="8" name="文字_A. 氧化剂是甲醇"/>
          <p:cNvSpPr txBox="1"/>
          <p:nvPr/>
        </p:nvSpPr>
        <p:spPr>
          <a:xfrm>
            <a:off x="502920" y="3044951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氧化剂是甲醇</a:t>
            </a:r>
          </a:p>
        </p:txBody>
      </p:sp>
      <p:sp>
        <p:nvSpPr>
          <p:cNvPr id="9" name="文字_B. 氧化剂与还原剂的物质的量之比为2：1"/>
          <p:cNvSpPr txBox="1"/>
          <p:nvPr/>
        </p:nvSpPr>
        <p:spPr>
          <a:xfrm>
            <a:off x="502920" y="3483863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氧化剂与还原剂的物质的量之比为2：1</a:t>
            </a:r>
          </a:p>
        </p:txBody>
      </p:sp>
      <p:sp>
        <p:nvSpPr>
          <p:cNvPr id="10" name="文字_C. 氧化产物是二氧化氯"/>
          <p:cNvSpPr txBox="1"/>
          <p:nvPr/>
        </p:nvSpPr>
        <p:spPr>
          <a:xfrm>
            <a:off x="502920" y="39227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氧化产物是二氧化氯</a:t>
            </a:r>
          </a:p>
        </p:txBody>
      </p:sp>
      <p:sp>
        <p:nvSpPr>
          <p:cNvPr id="11" name="文字_D. 氧化产物与还原产物的物质的量之比为1：6"/>
          <p:cNvSpPr txBox="1"/>
          <p:nvPr/>
        </p:nvSpPr>
        <p:spPr>
          <a:xfrm>
            <a:off x="502920" y="4361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氧化产物与还原产物的物质的量之比为1：6</a:t>
            </a:r>
          </a:p>
        </p:txBody>
      </p:sp>
      <p:sp>
        <p:nvSpPr>
          <p:cNvPr id="12" name="文字_单选题  ·  03-07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03-075</a:t>
            </a:r>
          </a:p>
        </p:txBody>
      </p:sp>
      <p:sp>
        <p:nvSpPr>
          <p:cNvPr id="13" name="文字_9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综合1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综合11</a:t>
            </a:r>
          </a:p>
        </p:txBody>
      </p:sp>
      <p:sp>
        <p:nvSpPr>
          <p:cNvPr id="5" name="文字_P7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P77</a:t>
            </a:r>
          </a:p>
        </p:txBody>
      </p:sp>
      <p:sp>
        <p:nvSpPr>
          <p:cNvPr id="6" name="文字_高铁酸钾（K₂FeO₄，极易溶于水）是常见的水处"/>
          <p:cNvSpPr txBox="1"/>
          <p:nvPr/>
        </p:nvSpPr>
        <p:spPr>
          <a:xfrm>
            <a:off x="502920" y="107899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高铁酸钾（K₂FeO₄，极易溶于水）是常见的水处理剂，制备高铁酸钾常用的反应原理为：</a:t>
            </a:r>
          </a:p>
        </p:txBody>
      </p:sp>
      <p:sp>
        <p:nvSpPr>
          <p:cNvPr id="7" name="文字_2Fe(OH)3 + 3KClO + 4KOH "/>
          <p:cNvSpPr txBox="1"/>
          <p:nvPr/>
        </p:nvSpPr>
        <p:spPr>
          <a:xfrm>
            <a:off x="502920" y="1426464"/>
            <a:ext cx="11064240" cy="634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2Fe(OH)3 + 3KClO + 4KOH = 2K₂FeO₄ + 3KCl + 5H₂O，K₂FeO₄处理水的原理如图。下列说法正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确的是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61083"/>
            <a:ext cx="11064240" cy="2450212"/>
          </a:xfrm>
          <a:prstGeom prst="rect">
            <a:avLst/>
          </a:prstGeom>
        </p:spPr>
      </p:pic>
      <p:sp>
        <p:nvSpPr>
          <p:cNvPr id="9" name="原题文字_77_23"/>
          <p:cNvSpPr txBox="1"/>
          <p:nvPr/>
        </p:nvSpPr>
        <p:spPr>
          <a:xfrm>
            <a:off x="617773" y="2092966"/>
            <a:ext cx="1517334" cy="4479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7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聚沉净化水</a:t>
            </a:r>
          </a:p>
        </p:txBody>
      </p:sp>
      <p:sp>
        <p:nvSpPr>
          <p:cNvPr id="10" name="原题文字_77_24"/>
          <p:cNvSpPr txBox="1"/>
          <p:nvPr/>
        </p:nvSpPr>
        <p:spPr>
          <a:xfrm>
            <a:off x="1911792" y="2161878"/>
            <a:ext cx="1241685" cy="43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2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K₂FeO₄</a:t>
            </a:r>
          </a:p>
        </p:txBody>
      </p:sp>
      <p:sp>
        <p:nvSpPr>
          <p:cNvPr id="11" name="原题文字_77_25"/>
          <p:cNvSpPr txBox="1"/>
          <p:nvPr/>
        </p:nvSpPr>
        <p:spPr>
          <a:xfrm>
            <a:off x="3420204" y="2292046"/>
            <a:ext cx="904781" cy="43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2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活细菌</a:t>
            </a:r>
          </a:p>
        </p:txBody>
      </p:sp>
      <p:sp>
        <p:nvSpPr>
          <p:cNvPr id="12" name="原题文字_77_26"/>
          <p:cNvSpPr txBox="1"/>
          <p:nvPr/>
        </p:nvSpPr>
        <p:spPr>
          <a:xfrm>
            <a:off x="824510" y="2682549"/>
            <a:ext cx="315199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</a:t>
            </a:r>
          </a:p>
        </p:txBody>
      </p:sp>
      <p:sp>
        <p:nvSpPr>
          <p:cNvPr id="13" name="原题文字_77_27"/>
          <p:cNvSpPr txBox="1"/>
          <p:nvPr/>
        </p:nvSpPr>
        <p:spPr>
          <a:xfrm>
            <a:off x="3014387" y="2958197"/>
            <a:ext cx="330512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</a:t>
            </a:r>
          </a:p>
        </p:txBody>
      </p:sp>
      <p:sp>
        <p:nvSpPr>
          <p:cNvPr id="14" name="原题文字_77_28"/>
          <p:cNvSpPr txBox="1"/>
          <p:nvPr/>
        </p:nvSpPr>
        <p:spPr>
          <a:xfrm>
            <a:off x="587146" y="3210876"/>
            <a:ext cx="1287627" cy="4777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1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胶体河水</a:t>
            </a:r>
          </a:p>
        </p:txBody>
      </p:sp>
      <p:sp>
        <p:nvSpPr>
          <p:cNvPr id="15" name="原题文字_77_29"/>
          <p:cNvSpPr txBox="1"/>
          <p:nvPr/>
        </p:nvSpPr>
        <p:spPr>
          <a:xfrm>
            <a:off x="1804595" y="3586064"/>
            <a:ext cx="682730" cy="597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5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Fe³⁺</a:t>
            </a:r>
          </a:p>
        </p:txBody>
      </p:sp>
      <p:sp>
        <p:nvSpPr>
          <p:cNvPr id="16" name="原题文字_77_30"/>
          <p:cNvSpPr txBox="1"/>
          <p:nvPr/>
        </p:nvSpPr>
        <p:spPr>
          <a:xfrm>
            <a:off x="3443174" y="3769830"/>
            <a:ext cx="1096204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灭活细菌</a:t>
            </a:r>
          </a:p>
        </p:txBody>
      </p:sp>
      <p:sp>
        <p:nvSpPr>
          <p:cNvPr id="17" name="原题文字_77_31"/>
          <p:cNvSpPr txBox="1"/>
          <p:nvPr/>
        </p:nvSpPr>
        <p:spPr>
          <a:xfrm>
            <a:off x="824510" y="3899998"/>
            <a:ext cx="345826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</a:t>
            </a:r>
          </a:p>
        </p:txBody>
      </p:sp>
      <p:sp>
        <p:nvSpPr>
          <p:cNvPr id="18" name="原题文字_77_32"/>
          <p:cNvSpPr txBox="1"/>
          <p:nvPr/>
        </p:nvSpPr>
        <p:spPr>
          <a:xfrm>
            <a:off x="694342" y="4213931"/>
            <a:ext cx="10697973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【查阅资料】向胶体中加入电解质后，胶体因失去稳定性而发生离子的聚集以至沉淀，称为电解质对胶体的聚沉作</a:t>
            </a:r>
          </a:p>
        </p:txBody>
      </p:sp>
      <p:sp>
        <p:nvSpPr>
          <p:cNvPr id="19" name="文字_用，简称胶体的聚沉。"/>
          <p:cNvSpPr txBox="1"/>
          <p:nvPr/>
        </p:nvSpPr>
        <p:spPr>
          <a:xfrm>
            <a:off x="502920" y="4584447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用，简称胶体的聚沉。</a:t>
            </a:r>
          </a:p>
        </p:txBody>
      </p:sp>
      <p:sp>
        <p:nvSpPr>
          <p:cNvPr id="20" name="文字_A. 用Fe(OH)₃制备1份K₂FeO₄，则转"/>
          <p:cNvSpPr txBox="1"/>
          <p:nvPr/>
        </p:nvSpPr>
        <p:spPr>
          <a:xfrm>
            <a:off x="502920" y="4931919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用Fe(OH)₃制备1份K₂FeO₄，则转移0.6份电子</a:t>
            </a:r>
          </a:p>
        </p:txBody>
      </p:sp>
      <p:sp>
        <p:nvSpPr>
          <p:cNvPr id="21" name="文字_B. 在碱性条件下，氧化性：ClO⁻ &lt; FeO"/>
          <p:cNvSpPr txBox="1"/>
          <p:nvPr/>
        </p:nvSpPr>
        <p:spPr>
          <a:xfrm>
            <a:off x="502920" y="5279391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在碱性条件下，氧化性：ClO⁻ &lt; FeO₂⁻</a:t>
            </a:r>
          </a:p>
        </p:txBody>
      </p:sp>
      <p:sp>
        <p:nvSpPr>
          <p:cNvPr id="22" name="文字_C. 过程①②③均发生了化学变化"/>
          <p:cNvSpPr txBox="1"/>
          <p:nvPr/>
        </p:nvSpPr>
        <p:spPr>
          <a:xfrm>
            <a:off x="502920" y="5626863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过程①②③均发生了化学变化</a:t>
            </a:r>
          </a:p>
        </p:txBody>
      </p:sp>
      <p:sp>
        <p:nvSpPr>
          <p:cNvPr id="23" name="文字_D. 作水处理剂时，K₂FeO₄的作用为消毒杀菌"/>
          <p:cNvSpPr txBox="1"/>
          <p:nvPr/>
        </p:nvSpPr>
        <p:spPr>
          <a:xfrm>
            <a:off x="502920" y="5974335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作水处理剂时，K₂FeO₄的作用为消毒杀菌、净水</a:t>
            </a:r>
          </a:p>
        </p:txBody>
      </p:sp>
      <p:sp>
        <p:nvSpPr>
          <p:cNvPr id="24" name="文字_单选题  ·  03-07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03-076</a:t>
            </a:r>
          </a:p>
        </p:txBody>
      </p:sp>
      <p:sp>
        <p:nvSpPr>
          <p:cNvPr id="25" name="文字_9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综合1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综合12</a:t>
            </a:r>
          </a:p>
        </p:txBody>
      </p:sp>
      <p:sp>
        <p:nvSpPr>
          <p:cNvPr id="5" name="文字_P7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P77</a:t>
            </a:r>
          </a:p>
        </p:txBody>
      </p:sp>
      <p:sp>
        <p:nvSpPr>
          <p:cNvPr id="6" name="文字_按要求回答下列问题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按要求回答下列问题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7904"/>
            <a:ext cx="11064240" cy="1133223"/>
          </a:xfrm>
          <a:prstGeom prst="rect">
            <a:avLst/>
          </a:prstGeom>
        </p:spPr>
      </p:pic>
      <p:sp>
        <p:nvSpPr>
          <p:cNvPr id="8" name="原题文字_77_42"/>
          <p:cNvSpPr txBox="1"/>
          <p:nvPr/>
        </p:nvSpPr>
        <p:spPr>
          <a:xfrm>
            <a:off x="7983724" y="1603386"/>
            <a:ext cx="782270" cy="418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催化剂</a:t>
            </a:r>
          </a:p>
        </p:txBody>
      </p:sp>
      <p:sp>
        <p:nvSpPr>
          <p:cNvPr id="9" name="原题文字_77_43"/>
          <p:cNvSpPr txBox="1"/>
          <p:nvPr/>
        </p:nvSpPr>
        <p:spPr>
          <a:xfrm>
            <a:off x="564175" y="1817779"/>
            <a:ext cx="7543325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用单线桥法标出下列氧化还原反应电子转移的方向和数目并填空：4NH₃ + 5O₂</a:t>
            </a:r>
          </a:p>
        </p:txBody>
      </p:sp>
      <p:sp>
        <p:nvSpPr>
          <p:cNvPr id="10" name="原题文字_77_44"/>
          <p:cNvSpPr txBox="1"/>
          <p:nvPr/>
        </p:nvSpPr>
        <p:spPr>
          <a:xfrm>
            <a:off x="8634562" y="1848407"/>
            <a:ext cx="1402480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4NO + 6H₂O,</a:t>
            </a:r>
          </a:p>
        </p:txBody>
      </p:sp>
      <p:sp>
        <p:nvSpPr>
          <p:cNvPr id="11" name="原题文字_77_45"/>
          <p:cNvSpPr txBox="1"/>
          <p:nvPr/>
        </p:nvSpPr>
        <p:spPr>
          <a:xfrm>
            <a:off x="10709585" y="1810122"/>
            <a:ext cx="613818" cy="418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；在</a:t>
            </a:r>
          </a:p>
        </p:txBody>
      </p:sp>
      <p:sp>
        <p:nvSpPr>
          <p:cNvPr id="12" name="原题文字_77_46"/>
          <p:cNvSpPr txBox="1"/>
          <p:nvPr/>
        </p:nvSpPr>
        <p:spPr>
          <a:xfrm>
            <a:off x="8228745" y="2055144"/>
            <a:ext cx="292228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Δ</a:t>
            </a:r>
          </a:p>
        </p:txBody>
      </p:sp>
      <p:sp>
        <p:nvSpPr>
          <p:cNvPr id="13" name="原题文字_77_47"/>
          <p:cNvSpPr txBox="1"/>
          <p:nvPr/>
        </p:nvSpPr>
        <p:spPr>
          <a:xfrm>
            <a:off x="610116" y="2361420"/>
            <a:ext cx="3913948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该反应中，还原剂与氧化剂的个数之比是</a:t>
            </a:r>
          </a:p>
        </p:txBody>
      </p:sp>
      <p:sp>
        <p:nvSpPr>
          <p:cNvPr id="14" name="原题文字_77_48"/>
          <p:cNvSpPr txBox="1"/>
          <p:nvPr/>
        </p:nvSpPr>
        <p:spPr>
          <a:xfrm>
            <a:off x="5112381" y="2483931"/>
            <a:ext cx="162060" cy="1592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7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o</a:t>
            </a:r>
          </a:p>
        </p:txBody>
      </p:sp>
      <p:sp>
        <p:nvSpPr>
          <p:cNvPr id="15" name="文字_填空题  ·  03-07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03-077</a:t>
            </a:r>
          </a:p>
        </p:txBody>
      </p:sp>
      <p:sp>
        <p:nvSpPr>
          <p:cNvPr id="16" name="文字_9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综合1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综合13</a:t>
            </a:r>
          </a:p>
        </p:txBody>
      </p:sp>
      <p:sp>
        <p:nvSpPr>
          <p:cNvPr id="5" name="文字_P7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P78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78992"/>
            <a:ext cx="8859344" cy="1919013"/>
          </a:xfrm>
          <a:prstGeom prst="rect">
            <a:avLst/>
          </a:prstGeom>
        </p:spPr>
      </p:pic>
      <p:sp>
        <p:nvSpPr>
          <p:cNvPr id="7" name="原题文字_78_3"/>
          <p:cNvSpPr txBox="1"/>
          <p:nvPr/>
        </p:nvSpPr>
        <p:spPr>
          <a:xfrm>
            <a:off x="570361" y="1084853"/>
            <a:ext cx="7338532" cy="27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如图为“一些物质与水”的分类图，利用化合价和物质类别预测物质的性质是化学研究的重要手段。</a:t>
            </a:r>
          </a:p>
        </p:txBody>
      </p:sp>
      <p:sp>
        <p:nvSpPr>
          <p:cNvPr id="8" name="原题文字_78_4"/>
          <p:cNvSpPr txBox="1"/>
          <p:nvPr/>
        </p:nvSpPr>
        <p:spPr>
          <a:xfrm>
            <a:off x="1398051" y="1409798"/>
            <a:ext cx="3132643" cy="3028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1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NH₃ Cl₂ Na Na₂O₂ Na₂O SO₂ CO₂ NO₂</a:t>
            </a:r>
          </a:p>
        </p:txBody>
      </p:sp>
      <p:sp>
        <p:nvSpPr>
          <p:cNvPr id="9" name="原题文字_78_5"/>
          <p:cNvSpPr txBox="1"/>
          <p:nvPr/>
        </p:nvSpPr>
        <p:spPr>
          <a:xfrm>
            <a:off x="613278" y="2078080"/>
            <a:ext cx="2010664" cy="3586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9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A组 NH₃ Na₂O SO₂ CO₂</a:t>
            </a:r>
          </a:p>
        </p:txBody>
      </p:sp>
      <p:sp>
        <p:nvSpPr>
          <p:cNvPr id="10" name="原题文字_78_6"/>
          <p:cNvSpPr txBox="1"/>
          <p:nvPr/>
        </p:nvSpPr>
        <p:spPr>
          <a:xfrm>
            <a:off x="3323195" y="2090342"/>
            <a:ext cx="1863519" cy="3347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3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B组 Cl₂Na Na₂O₂NO₂</a:t>
            </a:r>
          </a:p>
        </p:txBody>
      </p:sp>
      <p:sp>
        <p:nvSpPr>
          <p:cNvPr id="11" name="原题文字_78_7"/>
          <p:cNvSpPr txBox="1"/>
          <p:nvPr/>
        </p:nvSpPr>
        <p:spPr>
          <a:xfrm>
            <a:off x="3427423" y="2721839"/>
            <a:ext cx="447250" cy="3108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C组</a:t>
            </a:r>
          </a:p>
        </p:txBody>
      </p:sp>
      <p:sp>
        <p:nvSpPr>
          <p:cNvPr id="12" name="原题文字_78_8"/>
          <p:cNvSpPr txBox="1"/>
          <p:nvPr/>
        </p:nvSpPr>
        <p:spPr>
          <a:xfrm>
            <a:off x="4610713" y="2721839"/>
            <a:ext cx="459512" cy="3108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D组</a:t>
            </a:r>
          </a:p>
        </p:txBody>
      </p:sp>
      <p:sp>
        <p:nvSpPr>
          <p:cNvPr id="13" name="文字_已知：3NO₂ + H₂O = 2HNO₃ + "/>
          <p:cNvSpPr txBox="1"/>
          <p:nvPr/>
        </p:nvSpPr>
        <p:spPr>
          <a:xfrm>
            <a:off x="502920" y="3071157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已知：3NO₂ + H₂O = 2HNO₃ + NO</a:t>
            </a:r>
          </a:p>
        </p:txBody>
      </p:sp>
      <p:sp>
        <p:nvSpPr>
          <p:cNvPr id="14" name="文字_(1）从化学反应类型的角度可以将物质分类。将上述"/>
          <p:cNvSpPr txBox="1"/>
          <p:nvPr/>
        </p:nvSpPr>
        <p:spPr>
          <a:xfrm>
            <a:off x="502920" y="3327189"/>
            <a:ext cx="11064240" cy="4676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(1）从化学反应类型的角度可以将物质分类。将上述物质分为A、B两组的依据是 ______ ，C组物质与水反应时水既不是氧化剂又不是还原剂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，则D组物质为</a:t>
            </a:r>
          </a:p>
        </p:txBody>
      </p:sp>
      <p:sp>
        <p:nvSpPr>
          <p:cNvPr id="15" name="文字_(2) 从化合价的角度可以预测Na₂O₂的性质。"/>
          <p:cNvSpPr txBox="1"/>
          <p:nvPr/>
        </p:nvSpPr>
        <p:spPr>
          <a:xfrm>
            <a:off x="502920" y="3794803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 从化合价的角度可以预测Na₂O₂的性质。</a:t>
            </a:r>
          </a:p>
        </p:txBody>
      </p:sp>
      <p:sp>
        <p:nvSpPr>
          <p:cNvPr id="16" name="文字_①Na₂O₂的性质 ______ (填序号)。"/>
          <p:cNvSpPr txBox="1"/>
          <p:nvPr/>
        </p:nvSpPr>
        <p:spPr>
          <a:xfrm>
            <a:off x="502920" y="4050835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①Na₂O₂的性质 ______ (填序号)。</a:t>
            </a:r>
          </a:p>
        </p:txBody>
      </p:sp>
      <p:sp>
        <p:nvSpPr>
          <p:cNvPr id="17" name="文字_a.只有氧化性 ______ b.只有还原性 _"/>
          <p:cNvSpPr txBox="1"/>
          <p:nvPr/>
        </p:nvSpPr>
        <p:spPr>
          <a:xfrm>
            <a:off x="502920" y="4306867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a.只有氧化性 ______ b.只有还原性 ______ c.既有氧化性又有还原性</a:t>
            </a:r>
          </a:p>
        </p:txBody>
      </p:sp>
      <p:sp>
        <p:nvSpPr>
          <p:cNvPr id="18" name="文字_②Na₂O₂以氧化性为主，Na₂O₂加入含有SO"/>
          <p:cNvSpPr txBox="1"/>
          <p:nvPr/>
        </p:nvSpPr>
        <p:spPr>
          <a:xfrm>
            <a:off x="502920" y="4562899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②Na₂O₂以氧化性为主，Na₂O₂加入含有SO₂的溶液中反应结束后，硫元素存在形式合理的是 ______ (填序号)。</a:t>
            </a:r>
          </a:p>
        </p:txBody>
      </p:sp>
      <p:sp>
        <p:nvSpPr>
          <p:cNvPr id="19" name="文字_a.S²⁻ b.S C. SO₂ d.SO₂⁻"/>
          <p:cNvSpPr txBox="1"/>
          <p:nvPr/>
        </p:nvSpPr>
        <p:spPr>
          <a:xfrm>
            <a:off x="502920" y="4818931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a.S²⁻ b.S C. SO₂ d.SO₂⁻</a:t>
            </a:r>
          </a:p>
        </p:txBody>
      </p:sp>
      <p:sp>
        <p:nvSpPr>
          <p:cNvPr id="20" name="文字_(3）从物质分类的角度可以推测物质的性质。化工生"/>
          <p:cNvSpPr txBox="1"/>
          <p:nvPr/>
        </p:nvSpPr>
        <p:spPr>
          <a:xfrm>
            <a:off x="502920" y="5074963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(3）从物质分类的角度可以推测物质的性质。化工生产中常常用到"三酸两碱”、“三酸“指硝酸、硫酸和盐酸，“两碱“指烧碱和纯碱。</a:t>
            </a:r>
          </a:p>
        </p:txBody>
      </p:sp>
      <p:sp>
        <p:nvSpPr>
          <p:cNvPr id="21" name="文字_①从物质分类角度看，不恰当的一种物质是 ____"/>
          <p:cNvSpPr txBox="1"/>
          <p:nvPr/>
        </p:nvSpPr>
        <p:spPr>
          <a:xfrm>
            <a:off x="502920" y="5330995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①从物质分类角度看，不恰当的一种物质是 ______ (填化学式)。</a:t>
            </a:r>
          </a:p>
        </p:txBody>
      </p:sp>
      <p:sp>
        <p:nvSpPr>
          <p:cNvPr id="22" name="文字_②“三酸”中一种酸的浓溶液与“84消毒液”混合会"/>
          <p:cNvSpPr txBox="1"/>
          <p:nvPr/>
        </p:nvSpPr>
        <p:spPr>
          <a:xfrm>
            <a:off x="502920" y="5587027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②“三酸”中一种酸的浓溶液与“84消毒液”混合会生成一种黄绿色气体，该反应的离子方程式为 ______ (并用单线桥标出电子转移情况)。</a:t>
            </a:r>
          </a:p>
        </p:txBody>
      </p:sp>
      <p:sp>
        <p:nvSpPr>
          <p:cNvPr id="23" name="文字_填空题  ·  03-07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03-078</a:t>
            </a:r>
          </a:p>
        </p:txBody>
      </p:sp>
      <p:sp>
        <p:nvSpPr>
          <p:cNvPr id="24" name="文字_9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氧化还原反应的计算 · 综合1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氧化还原反应的计算 · 综合14</a:t>
            </a:r>
          </a:p>
        </p:txBody>
      </p:sp>
      <p:sp>
        <p:nvSpPr>
          <p:cNvPr id="5" name="文字_P7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P78</a:t>
            </a:r>
          </a:p>
        </p:txBody>
      </p:sp>
      <p:sp>
        <p:nvSpPr>
          <p:cNvPr id="6" name="文字_回答下列问题"/>
          <p:cNvSpPr txBox="1"/>
          <p:nvPr/>
        </p:nvSpPr>
        <p:spPr>
          <a:xfrm>
            <a:off x="502920" y="1078992"/>
            <a:ext cx="11064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回答下列问题</a:t>
            </a:r>
          </a:p>
        </p:txBody>
      </p:sp>
      <p:sp>
        <p:nvSpPr>
          <p:cNvPr id="7" name="文字_(1)工业废水中含有重铬酸根离子(Cr₂O₂)有"/>
          <p:cNvSpPr txBox="1"/>
          <p:nvPr/>
        </p:nvSpPr>
        <p:spPr>
          <a:xfrm>
            <a:off x="502920" y="1481328"/>
            <a:ext cx="11064240" cy="7348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(1)工业废水中含有重铬酸根离子(Cr₂O₂)有毒，必须处理达标后才能排放。工业上常用绿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矾(FeSO₄·7H₂O)做处理剂，有关离子反应: Fe²⁺ + Cr₂O₂⁻ + H+ → Fe³⁺ + Cr³⁺ + </a:t>
            </a:r>
          </a:p>
        </p:txBody>
      </p:sp>
      <p:sp>
        <p:nvSpPr>
          <p:cNvPr id="8" name="文字_该反应未配平且残缺一种常见物质，该反应中还原剂是"/>
          <p:cNvSpPr txBox="1"/>
          <p:nvPr/>
        </p:nvSpPr>
        <p:spPr>
          <a:xfrm>
            <a:off x="502920" y="2216149"/>
            <a:ext cx="11064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该反应未配平且残缺一种常见物质，该反应中还原剂是 ______ ，被还原的元素是</a:t>
            </a:r>
          </a:p>
        </p:txBody>
      </p:sp>
      <p:sp>
        <p:nvSpPr>
          <p:cNvPr id="9" name="文字_试补充完整并配平离子反应方程式，用单线桥法标明电"/>
          <p:cNvSpPr txBox="1"/>
          <p:nvPr/>
        </p:nvSpPr>
        <p:spPr>
          <a:xfrm>
            <a:off x="502920" y="2618485"/>
            <a:ext cx="11064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试补充完整并配平离子反应方程式，用单线桥法标明电子转移的方向和数目：</a:t>
            </a:r>
          </a:p>
        </p:txBody>
      </p:sp>
      <p:sp>
        <p:nvSpPr>
          <p:cNvPr id="10" name="文字_Fe²⁺ + Cr₂O₂⁻ + H+ → Fe³"/>
          <p:cNvSpPr txBox="1"/>
          <p:nvPr/>
        </p:nvSpPr>
        <p:spPr>
          <a:xfrm>
            <a:off x="502920" y="3020821"/>
            <a:ext cx="11064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Fe²⁺ + Cr₂O₂⁻ + H+ → Fe³⁺ + Cr³⁺ + -</a:t>
            </a:r>
          </a:p>
        </p:txBody>
      </p:sp>
      <p:sp>
        <p:nvSpPr>
          <p:cNvPr id="11" name="文字_(2)在反应2KMnO₄ +  16HCl(浓)"/>
          <p:cNvSpPr txBox="1"/>
          <p:nvPr/>
        </p:nvSpPr>
        <p:spPr>
          <a:xfrm>
            <a:off x="502920" y="3423157"/>
            <a:ext cx="11064240" cy="7348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(2)在反应2KMnO₄ +  16HCl(浓) = 2KCl +  2MnCl₂ + 5Cl₂ ↑+8H₂O中，氧化剂与还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原剂个数之比为浓HCl表现出的性质是</a:t>
            </a:r>
          </a:p>
        </p:txBody>
      </p:sp>
      <p:sp>
        <p:nvSpPr>
          <p:cNvPr id="12" name="文字_(3) ______ 利用如下反应制氧气："/>
          <p:cNvSpPr txBox="1"/>
          <p:nvPr/>
        </p:nvSpPr>
        <p:spPr>
          <a:xfrm>
            <a:off x="502920" y="4157979"/>
            <a:ext cx="11064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 ______ 利用如下反应制氧气：</a:t>
            </a:r>
          </a:p>
        </p:txBody>
      </p:sp>
      <p:sp>
        <p:nvSpPr>
          <p:cNvPr id="13" name="文字_2KC₁O₃=2KCl + O₂↑;"/>
          <p:cNvSpPr txBox="1"/>
          <p:nvPr/>
        </p:nvSpPr>
        <p:spPr>
          <a:xfrm>
            <a:off x="502920" y="4560316"/>
            <a:ext cx="11064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2KC₁O₃=2KCl + O₂↑;</a:t>
            </a:r>
          </a:p>
        </p:txBody>
      </p:sp>
      <p:sp>
        <p:nvSpPr>
          <p:cNvPr id="14" name="文字_2Na₂O₂ + 2H₂O= 4NaOH +  "/>
          <p:cNvSpPr txBox="1"/>
          <p:nvPr/>
        </p:nvSpPr>
        <p:spPr>
          <a:xfrm>
            <a:off x="502920" y="4962652"/>
            <a:ext cx="11064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2Na₂O₂ + 2H₂O= 4NaOH +  O₂↑</a:t>
            </a:r>
          </a:p>
        </p:txBody>
      </p:sp>
      <p:sp>
        <p:nvSpPr>
          <p:cNvPr id="15" name="文字_2HgO= 2Hg +  O₂↑； 2KMnO₄"/>
          <p:cNvSpPr txBox="1"/>
          <p:nvPr/>
        </p:nvSpPr>
        <p:spPr>
          <a:xfrm>
            <a:off x="502920" y="5364988"/>
            <a:ext cx="11064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2HgO= 2Hg +  O₂↑； 2KMnO₄= K₂MnO₄ +  MnO₂ +  O₂↑</a:t>
            </a:r>
          </a:p>
        </p:txBody>
      </p:sp>
      <p:sp>
        <p:nvSpPr>
          <p:cNvPr id="16" name="文字_若要制得相同质量的氧气，反应中电子转移的数目之比"/>
          <p:cNvSpPr txBox="1"/>
          <p:nvPr/>
        </p:nvSpPr>
        <p:spPr>
          <a:xfrm>
            <a:off x="502920" y="5767324"/>
            <a:ext cx="11064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若要制得相同质量的氧气，反应中电子转移的数目之比为 ______ (按照①②③④顺序)。</a:t>
            </a:r>
          </a:p>
        </p:txBody>
      </p:sp>
      <p:sp>
        <p:nvSpPr>
          <p:cNvPr id="17" name="文字_填空题  ·  03-07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03-079</a:t>
            </a:r>
          </a:p>
        </p:txBody>
      </p:sp>
      <p:sp>
        <p:nvSpPr>
          <p:cNvPr id="18" name="文字_9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98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氧化还原反应</dc:title>
  <dc:subject>高一化学课堂课件：知识讲解与原题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zh-CN</dc:language>
</cp:coreProperties>
</file>
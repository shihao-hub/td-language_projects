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P141；PDF 文件第 143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P141；PDF 文件第 143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1 / 单选题</a:t>
            </a:r>
          </a:p>
          <a:p>
            <a:r>
              <a:t>讲义印刷页：P142</a:t>
            </a:r>
          </a:p>
          <a:p>
            <a:r>
              <a:t>PDF 文件页：144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2 / 单选题</a:t>
            </a:r>
          </a:p>
          <a:p>
            <a:r>
              <a:t>讲义印刷页：P142</a:t>
            </a:r>
          </a:p>
          <a:p>
            <a:r>
              <a:t>PDF 文件页：144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3 / 单选题</a:t>
            </a:r>
          </a:p>
          <a:p>
            <a:r>
              <a:t>讲义印刷页：P142</a:t>
            </a:r>
          </a:p>
          <a:p>
            <a:r>
              <a:t>PDF 文件页：144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4 / 单选题</a:t>
            </a:r>
          </a:p>
          <a:p>
            <a:r>
              <a:t>讲义印刷页：P142</a:t>
            </a:r>
          </a:p>
          <a:p>
            <a:r>
              <a:t>PDF 文件页：144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P142：b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5 / 单选题</a:t>
            </a:r>
          </a:p>
          <a:p>
            <a:r>
              <a:t>讲义印刷页：P142</a:t>
            </a:r>
          </a:p>
          <a:p>
            <a:r>
              <a:t>PDF 文件页：144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6 / 单选题</a:t>
            </a:r>
          </a:p>
          <a:p>
            <a:r>
              <a:t>讲义印刷页：P143</a:t>
            </a:r>
          </a:p>
          <a:p>
            <a:r>
              <a:t>PDF 文件页：145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7 / 单选题</a:t>
            </a:r>
          </a:p>
          <a:p>
            <a:r>
              <a:t>讲义印刷页：P143</a:t>
            </a:r>
          </a:p>
          <a:p>
            <a:r>
              <a:t>PDF 文件页：145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8 / 单选题</a:t>
            </a:r>
          </a:p>
          <a:p>
            <a:r>
              <a:t>讲义印刷页：P143</a:t>
            </a:r>
          </a:p>
          <a:p>
            <a:r>
              <a:t>PDF 文件页：145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9 / 解答题</a:t>
            </a:r>
          </a:p>
          <a:p>
            <a:r>
              <a:t>讲义印刷页：P143</a:t>
            </a:r>
          </a:p>
          <a:p>
            <a:r>
              <a:t>PDF 文件页：145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10 / 填空题</a:t>
            </a:r>
          </a:p>
          <a:p>
            <a:r>
              <a:t>讲义印刷页：P143</a:t>
            </a:r>
          </a:p>
          <a:p>
            <a:r>
              <a:t>PDF 文件页：145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P143：o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例题 11 / 填空题</a:t>
            </a:r>
          </a:p>
          <a:p>
            <a:r>
              <a:t>讲义印刷页：P144</a:t>
            </a:r>
          </a:p>
          <a:p>
            <a:r>
              <a:t>PDF 文件页：146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1 / 单选题</a:t>
            </a:r>
          </a:p>
          <a:p>
            <a:r>
              <a:t>讲义印刷页：P144</a:t>
            </a:r>
          </a:p>
          <a:p>
            <a:r>
              <a:t>PDF 文件页：146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2 / 单选题</a:t>
            </a:r>
          </a:p>
          <a:p>
            <a:r>
              <a:t>讲义印刷页：P144</a:t>
            </a:r>
          </a:p>
          <a:p>
            <a:r>
              <a:t>PDF 文件页：146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3 / 单选题</a:t>
            </a:r>
          </a:p>
          <a:p>
            <a:r>
              <a:t>讲义印刷页：P144</a:t>
            </a:r>
          </a:p>
          <a:p>
            <a:r>
              <a:t>PDF 文件页：146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4 / 单选题</a:t>
            </a:r>
          </a:p>
          <a:p>
            <a:r>
              <a:t>讲义印刷页：P144</a:t>
            </a:r>
          </a:p>
          <a:p>
            <a:r>
              <a:t>PDF 文件页：146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5 / 单选题</a:t>
            </a:r>
          </a:p>
          <a:p>
            <a:r>
              <a:t>讲义印刷页：P145</a:t>
            </a:r>
          </a:p>
          <a:p>
            <a:r>
              <a:t>PDF 文件页：147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6 / 单选题</a:t>
            </a:r>
          </a:p>
          <a:p>
            <a:r>
              <a:t>讲义印刷页：P145</a:t>
            </a:r>
          </a:p>
          <a:p>
            <a:r>
              <a:t>PDF 文件页：147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7 / 填空题</a:t>
            </a:r>
          </a:p>
          <a:p>
            <a:r>
              <a:t>讲义印刷页：P145</a:t>
            </a:r>
          </a:p>
          <a:p>
            <a:r>
              <a:t>PDF 文件页：147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P146；PDF 文件第 148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知识讲解；讲义印刷页 P146；PDF 文件第 148 页。知识点已补全，例题答案另由教师讲解。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8 / 填空题</a:t>
            </a:r>
          </a:p>
          <a:p>
            <a:r>
              <a:t>讲义印刷页：P146</a:t>
            </a:r>
          </a:p>
          <a:p>
            <a:r>
              <a:t>PDF 文件页：148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P146：O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原题定位：知识点1气体摩尔体积 / 变式 9 / 解答题</a:t>
            </a:r>
          </a:p>
          <a:p>
            <a:r>
              <a:t>讲义印刷页：P146</a:t>
            </a:r>
          </a:p>
          <a:p>
            <a:r>
              <a:t>PDF 文件页：148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P146：o</a:t>
            </a:r>
          </a:p>
          <a:p>
            <a:r>
              <a:t>P146：O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1 / 单选题</a:t>
            </a:r>
          </a:p>
          <a:p>
            <a:r>
              <a:t>讲义印刷页：P147</a:t>
            </a:r>
          </a:p>
          <a:p>
            <a:r>
              <a:t>PDF 文件页：149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2 / 单选题</a:t>
            </a:r>
          </a:p>
          <a:p>
            <a:r>
              <a:t>讲义印刷页：P147</a:t>
            </a:r>
          </a:p>
          <a:p>
            <a:r>
              <a:t>PDF 文件页：149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3 / 单选题</a:t>
            </a:r>
          </a:p>
          <a:p>
            <a:r>
              <a:t>讲义印刷页：P147</a:t>
            </a:r>
          </a:p>
          <a:p>
            <a:r>
              <a:t>PDF 文件页：149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4 / 单选题</a:t>
            </a:r>
          </a:p>
          <a:p>
            <a:r>
              <a:t>讲义印刷页：P147</a:t>
            </a:r>
          </a:p>
          <a:p>
            <a:r>
              <a:t>PDF 文件页：149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P147：H₂S</a:t>
            </a:r>
          </a:p>
          <a:p>
            <a:r>
              <a:t>P147：Cl₂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5 / 单选题</a:t>
            </a:r>
          </a:p>
          <a:p>
            <a:r>
              <a:t>讲义印刷页：P147</a:t>
            </a:r>
          </a:p>
          <a:p>
            <a:r>
              <a:t>PDF 文件页：149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6 / 单选题</a:t>
            </a:r>
          </a:p>
          <a:p>
            <a:r>
              <a:t>讲义印刷页：P148</a:t>
            </a:r>
          </a:p>
          <a:p>
            <a:r>
              <a:t>PDF 文件页：150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7 / 单选题</a:t>
            </a:r>
          </a:p>
          <a:p>
            <a:r>
              <a:t>讲义印刷页：P148</a:t>
            </a:r>
          </a:p>
          <a:p>
            <a:r>
              <a:t>PDF 文件页：150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8 / 单选题</a:t>
            </a:r>
          </a:p>
          <a:p>
            <a:r>
              <a:t>讲义印刷页：P148</a:t>
            </a:r>
          </a:p>
          <a:p>
            <a:r>
              <a:t>PDF 文件页：150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例题 9 / 解答题</a:t>
            </a:r>
          </a:p>
          <a:p>
            <a:r>
              <a:t>讲义印刷页：P148</a:t>
            </a:r>
          </a:p>
          <a:p>
            <a:r>
              <a:t>PDF 文件页：150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P148：o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1 / 单选题</a:t>
            </a:r>
          </a:p>
          <a:p>
            <a:r>
              <a:t>讲义印刷页：P149</a:t>
            </a:r>
          </a:p>
          <a:p>
            <a:r>
              <a:t>PDF 文件页：151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2 / 单选题</a:t>
            </a:r>
          </a:p>
          <a:p>
            <a:r>
              <a:t>讲义印刷页：P149</a:t>
            </a:r>
          </a:p>
          <a:p>
            <a:r>
              <a:t>PDF 文件页：151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3 / 多选题</a:t>
            </a:r>
          </a:p>
          <a:p>
            <a:r>
              <a:t>讲义印刷页：P149</a:t>
            </a:r>
          </a:p>
          <a:p>
            <a:r>
              <a:t>PDF 文件页：151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4 / 单选题</a:t>
            </a:r>
          </a:p>
          <a:p>
            <a:r>
              <a:t>讲义印刷页：P149</a:t>
            </a:r>
          </a:p>
          <a:p>
            <a:r>
              <a:t>PDF 文件页：151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5 / 单选题</a:t>
            </a:r>
          </a:p>
          <a:p>
            <a:r>
              <a:t>讲义印刷页：P149</a:t>
            </a:r>
          </a:p>
          <a:p>
            <a:r>
              <a:t>PDF 文件页：151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6 / 单选题</a:t>
            </a:r>
          </a:p>
          <a:p>
            <a:r>
              <a:t>讲义印刷页：P150</a:t>
            </a:r>
          </a:p>
          <a:p>
            <a:r>
              <a:t>PDF 文件页：152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7 / 单选题</a:t>
            </a:r>
          </a:p>
          <a:p>
            <a:r>
              <a:t>讲义印刷页：P150</a:t>
            </a:r>
          </a:p>
          <a:p>
            <a:r>
              <a:t>PDF 文件页：152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8 / 单选题</a:t>
            </a:r>
          </a:p>
          <a:p>
            <a:r>
              <a:t>讲义印刷页：P150</a:t>
            </a:r>
          </a:p>
          <a:p>
            <a:r>
              <a:t>PDF 文件页：152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9 / 单选题</a:t>
            </a:r>
          </a:p>
          <a:p>
            <a:r>
              <a:t>讲义印刷页：P151</a:t>
            </a:r>
          </a:p>
          <a:p>
            <a:r>
              <a:t>PDF 文件页：153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10 / 填空题</a:t>
            </a:r>
          </a:p>
          <a:p>
            <a:r>
              <a:t>讲义印刷页：P151</a:t>
            </a:r>
          </a:p>
          <a:p>
            <a:r>
              <a:t>PDF 文件页：153</a:t>
            </a:r>
          </a:p>
          <a:p>
            <a:r>
              <a:t>题目保留原题空白；未补充答案。文字为可编辑内容，图形保留原图线条。</a:t>
            </a:r>
          </a:p>
          <a:p>
            <a:r>
              <a:t>OCR 重点复核位置（请对照原讲义检查公式、上下标和字符）：</a:t>
            </a:r>
          </a:p>
          <a:p>
            <a:r>
              <a:t>P151：O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11 / 填空题</a:t>
            </a:r>
          </a:p>
          <a:p>
            <a:r>
              <a:t>讲义印刷页：P151</a:t>
            </a:r>
          </a:p>
          <a:p>
            <a:r>
              <a:t>PDF 文件页：153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原题定位：知识点2阿伏加德罗定律及其推论应用 / 变式 12 / 填空题</a:t>
            </a:r>
          </a:p>
          <a:p>
            <a:r>
              <a:t>讲义印刷页：P151</a:t>
            </a:r>
          </a:p>
          <a:p>
            <a:r>
              <a:t>PDF 文件页：153</a:t>
            </a:r>
          </a:p>
          <a:p>
            <a:r>
              <a:t>题目保留原题空白；未补充答案。文字为可编辑内容，图形保留原图线条。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气体摩尔体积"/>
          <p:cNvSpPr txBox="1"/>
          <p:nvPr/>
        </p:nvSpPr>
        <p:spPr>
          <a:xfrm>
            <a:off x="713232" y="2103120"/>
            <a:ext cx="10744200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</a:t>
            </a:r>
          </a:p>
        </p:txBody>
      </p:sp>
      <p:sp>
        <p:nvSpPr>
          <p:cNvPr id="4" name="文字_第 07 章  ·  高一化学"/>
          <p:cNvSpPr txBox="1"/>
          <p:nvPr/>
        </p:nvSpPr>
        <p:spPr>
          <a:xfrm>
            <a:off x="777240" y="1517904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第 07 章  ·  高一化学</a:t>
            </a:r>
          </a:p>
        </p:txBody>
      </p:sp>
      <p:sp>
        <p:nvSpPr>
          <p:cNvPr id="5" name="文字_知识讲解  ·  例题与变式  ·  综合练习"/>
          <p:cNvSpPr txBox="1"/>
          <p:nvPr/>
        </p:nvSpPr>
        <p:spPr>
          <a:xfrm>
            <a:off x="777240" y="3474720"/>
            <a:ext cx="10607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知识讲解  ·  例题与变式  ·  综合练习</a:t>
            </a:r>
          </a:p>
        </p:txBody>
      </p:sp>
      <p:sp>
        <p:nvSpPr>
          <p:cNvPr id="6" name="文字_讲义 P141–151"/>
          <p:cNvSpPr txBox="1"/>
          <p:nvPr/>
        </p:nvSpPr>
        <p:spPr>
          <a:xfrm>
            <a:off x="804672" y="48920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讲义 P141–151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1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01</a:t>
            </a:r>
          </a:p>
        </p:txBody>
      </p:sp>
      <p:sp>
        <p:nvSpPr>
          <p:cNvPr id="4" name="文字_气体摩尔体积：条件先行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气体摩尔体积：条件先行</a:t>
            </a:r>
          </a:p>
        </p:txBody>
      </p:sp>
      <p:sp>
        <p:nvSpPr>
          <p:cNvPr id="5" name="文字_知识梳理 · 讲义 P141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P141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气体摩尔体积：条件先行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气体摩尔体积：条件先行</a:t>
            </a:r>
          </a:p>
        </p:txBody>
      </p:sp>
      <p:sp>
        <p:nvSpPr>
          <p:cNvPr id="5" name="文字_知识讲解 · P141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P141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气体摩尔体积 Vₘ = V／n，常用单位 L·m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Vₘ = V／n，常用单位 L·mol⁻¹。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气体体积主要受粒子数、温度和压强影响；同温同压下"/>
          <p:cNvSpPr txBox="1"/>
          <p:nvPr/>
        </p:nvSpPr>
        <p:spPr>
          <a:xfrm>
            <a:off x="722376" y="2356104"/>
            <a:ext cx="10908792" cy="835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气体体积主要受粒子数、温度和压强影响；同温同压下，同物质的量气体体积近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似相同。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392424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标准状况（0 ℃、约 101 kPa）下，Vₘ "/>
          <p:cNvSpPr txBox="1"/>
          <p:nvPr/>
        </p:nvSpPr>
        <p:spPr>
          <a:xfrm>
            <a:off x="722376" y="3310128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标准状况（0 ℃、约 101 kPa）下，Vₘ ≈ 22.4 L·mol⁻¹。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974592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22.4 L·mol⁻¹ 可用于标准状况下的单一"/>
          <p:cNvSpPr txBox="1"/>
          <p:nvPr/>
        </p:nvSpPr>
        <p:spPr>
          <a:xfrm>
            <a:off x="722376" y="389229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22.4 L·mol⁻¹ 可用于标准状况下的单一气体及不反应的混合气体。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" y="5559552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提示  使用 22.4 前检查“两条件”：标准状"/>
          <p:cNvSpPr txBox="1"/>
          <p:nvPr/>
        </p:nvSpPr>
        <p:spPr>
          <a:xfrm>
            <a:off x="630936" y="5618988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使用 22.4 前检查“两条件”：标准状况、气态物质。水、乙醇、SO₃ 等不能直接套用。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气体体积与其他物理量的换算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气体体积与其他物理量的换算</a:t>
            </a:r>
          </a:p>
        </p:txBody>
      </p:sp>
      <p:sp>
        <p:nvSpPr>
          <p:cNvPr id="5" name="文字_知识讲解 · P141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P141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换算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关系式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体积与物质的量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 = V／Vₘ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体积与质量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m = (V／Vₘ)M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体积与分子数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N = (V／Vₘ)Nₐ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密度与摩尔质量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ρ = M／Vₘ，故 M = ρVₘ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4339336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只根据质量计算粒子数时，通常无需给出温度"/>
          <p:cNvSpPr txBox="1"/>
          <p:nvPr/>
        </p:nvSpPr>
        <p:spPr>
          <a:xfrm>
            <a:off x="630936" y="4398772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只根据质量计算粒子数时，通常无需给出温度、压强。单位必须统一。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例题1</a:t>
            </a:r>
          </a:p>
        </p:txBody>
      </p:sp>
      <p:sp>
        <p:nvSpPr>
          <p:cNvPr id="5" name="文字_P14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P142</a:t>
            </a:r>
          </a:p>
        </p:txBody>
      </p:sp>
      <p:sp>
        <p:nvSpPr>
          <p:cNvPr id="6" name="文字_下列有关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下列有关说法不正确的是</a:t>
            </a:r>
          </a:p>
        </p:txBody>
      </p:sp>
      <p:sp>
        <p:nvSpPr>
          <p:cNvPr id="7" name="文字_A. 1mol固态物质或液态物质的体积主要取决于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1mol固态物质或液态物质的体积主要取决于粒子的大小</a:t>
            </a:r>
          </a:p>
        </p:txBody>
      </p:sp>
      <p:sp>
        <p:nvSpPr>
          <p:cNvPr id="8" name="文字_B. 液体气化后体积膨胀主要原因是粒子之间的距离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液体气化后体积膨胀主要原因是粒子之间的距离增大</a:t>
            </a:r>
          </a:p>
        </p:txBody>
      </p:sp>
      <p:sp>
        <p:nvSpPr>
          <p:cNvPr id="9" name="文字_C. 粒子数相同的任何气体都具有相同的体积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粒子数相同的任何气体都具有相同的体积</a:t>
            </a:r>
          </a:p>
        </p:txBody>
      </p:sp>
      <p:sp>
        <p:nvSpPr>
          <p:cNvPr id="10" name="文字_D. 25℃和101kPa的条件下，气体摩尔体积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25℃和101kPa的条件下，气体摩尔体积大于22.4L/mol</a:t>
            </a:r>
          </a:p>
        </p:txBody>
      </p:sp>
      <p:sp>
        <p:nvSpPr>
          <p:cNvPr id="11" name="文字_单选题  ·  07-00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07-001</a:t>
            </a:r>
          </a:p>
        </p:txBody>
      </p:sp>
      <p:sp>
        <p:nvSpPr>
          <p:cNvPr id="12" name="文字_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例题2</a:t>
            </a:r>
          </a:p>
        </p:txBody>
      </p:sp>
      <p:sp>
        <p:nvSpPr>
          <p:cNvPr id="5" name="文字_P14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P142</a:t>
            </a:r>
          </a:p>
        </p:txBody>
      </p:sp>
      <p:sp>
        <p:nvSpPr>
          <p:cNvPr id="6" name="文字_关于2mol二氧化碳的叙述中，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关于2mol二氧化碳的叙述中，正确的是（）</a:t>
            </a:r>
          </a:p>
        </p:txBody>
      </p:sp>
      <p:sp>
        <p:nvSpPr>
          <p:cNvPr id="7" name="文字_A. 体积为 44.8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体积为 44.8L</a:t>
            </a:r>
          </a:p>
        </p:txBody>
      </p:sp>
      <p:sp>
        <p:nvSpPr>
          <p:cNvPr id="8" name="文字_B. 分子数为 6.02 × 1023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分子数为 6.02 × 1023</a:t>
            </a:r>
          </a:p>
        </p:txBody>
      </p:sp>
      <p:sp>
        <p:nvSpPr>
          <p:cNvPr id="9" name="文字_C. 含有 4mol 原子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含有 4mol 原子</a:t>
            </a:r>
          </a:p>
        </p:txBody>
      </p:sp>
      <p:sp>
        <p:nvSpPr>
          <p:cNvPr id="10" name="文字_D. 质量为 88g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质量为 88g</a:t>
            </a:r>
          </a:p>
        </p:txBody>
      </p:sp>
      <p:sp>
        <p:nvSpPr>
          <p:cNvPr id="11" name="文字_单选题  ·  07-00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07-002</a:t>
            </a:r>
          </a:p>
        </p:txBody>
      </p:sp>
      <p:sp>
        <p:nvSpPr>
          <p:cNvPr id="12" name="文字_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例题3</a:t>
            </a:r>
          </a:p>
        </p:txBody>
      </p:sp>
      <p:sp>
        <p:nvSpPr>
          <p:cNvPr id="5" name="文字_P14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P142</a:t>
            </a:r>
          </a:p>
        </p:txBody>
      </p:sp>
      <p:sp>
        <p:nvSpPr>
          <p:cNvPr id="6" name="文字_下列叙述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下列叙述正确的是（）</a:t>
            </a:r>
          </a:p>
        </p:txBody>
      </p:sp>
      <p:sp>
        <p:nvSpPr>
          <p:cNvPr id="7" name="文字_①标准状况下，0.2mol任何物质的体积均为4.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①标准状况下，0.2mol任何物质的体积均为4.48L</a:t>
            </a:r>
          </a:p>
        </p:txBody>
      </p:sp>
      <p:sp>
        <p:nvSpPr>
          <p:cNvPr id="8" name="文字_②若1mol气体的体积为22.4L，则它一定处于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②若1mol气体的体积为22.4L，则它一定处于标准状况下</a:t>
            </a:r>
          </a:p>
        </p:txBody>
      </p:sp>
      <p:sp>
        <p:nvSpPr>
          <p:cNvPr id="9" name="文字_③标准状况下，1LHCl和1LH₂O的物质的量相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③标准状况下，1LHCl和1LH₂O的物质的量相同</a:t>
            </a:r>
          </a:p>
        </p:txBody>
      </p:sp>
      <p:sp>
        <p:nvSpPr>
          <p:cNvPr id="10" name="文字_④标准状况下，1gH₂和14gN₂的体积相同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④标准状况下，1gH₂和14gN₂的体积相同</a:t>
            </a:r>
          </a:p>
        </p:txBody>
      </p:sp>
      <p:sp>
        <p:nvSpPr>
          <p:cNvPr id="11" name="文字_⑤28gCO的体积为22.4L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⑤28gCO的体积为22.4L</a:t>
            </a:r>
          </a:p>
        </p:txBody>
      </p:sp>
      <p:sp>
        <p:nvSpPr>
          <p:cNvPr id="12" name="文字_⑥两种物质的物质的量相同，则它们在标准状况下的体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⑥两种物质的物质的量相同，则它们在标准状况下的体积也相同</a:t>
            </a:r>
          </a:p>
        </p:txBody>
      </p:sp>
      <p:sp>
        <p:nvSpPr>
          <p:cNvPr id="13" name="文字_⑦在同温同体积时，气体物质的物质的量越大，则压强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⑦在同温同体积时，气体物质的物质的量越大，则压强越大</a:t>
            </a:r>
          </a:p>
        </p:txBody>
      </p:sp>
      <p:sp>
        <p:nvSpPr>
          <p:cNvPr id="14" name="文字_A. ①④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①④</a:t>
            </a:r>
          </a:p>
        </p:txBody>
      </p:sp>
      <p:sp>
        <p:nvSpPr>
          <p:cNvPr id="15" name="文字_B. ⑥⑦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⑥⑦</a:t>
            </a:r>
          </a:p>
        </p:txBody>
      </p:sp>
      <p:sp>
        <p:nvSpPr>
          <p:cNvPr id="16" name="文字_C. ②③"/>
          <p:cNvSpPr txBox="1"/>
          <p:nvPr/>
        </p:nvSpPr>
        <p:spPr>
          <a:xfrm>
            <a:off x="502920" y="54681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②③</a:t>
            </a:r>
          </a:p>
        </p:txBody>
      </p:sp>
      <p:sp>
        <p:nvSpPr>
          <p:cNvPr id="17" name="文字_D. ④⑦"/>
          <p:cNvSpPr txBox="1"/>
          <p:nvPr/>
        </p:nvSpPr>
        <p:spPr>
          <a:xfrm>
            <a:off x="502920" y="590702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④⑦</a:t>
            </a:r>
          </a:p>
        </p:txBody>
      </p:sp>
      <p:sp>
        <p:nvSpPr>
          <p:cNvPr id="18" name="文字_单选题  ·  07-00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07-003</a:t>
            </a:r>
          </a:p>
        </p:txBody>
      </p:sp>
      <p:sp>
        <p:nvSpPr>
          <p:cNvPr id="19" name="文字_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例题4</a:t>
            </a:r>
          </a:p>
        </p:txBody>
      </p:sp>
      <p:sp>
        <p:nvSpPr>
          <p:cNvPr id="5" name="文字_P14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P142</a:t>
            </a:r>
          </a:p>
        </p:txBody>
      </p:sp>
      <p:sp>
        <p:nvSpPr>
          <p:cNvPr id="6" name="文字_已知ag气体XY₃含有b个原子，设阿伏加德罗常数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已知ag气体XY₃含有b个原子，设阿伏加德罗常数的值为 NA，气体摩尔体积为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Vm，则该条件下11.2L该气体的质量为</a:t>
            </a:r>
          </a:p>
        </p:txBody>
      </p:sp>
      <p:sp>
        <p:nvSpPr>
          <p:cNvPr id="7" name="文字_44.8aNA ______ 11.2aNA _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44.8aNA ______ 11.2aNA ______ 2aNA ______ aNA</a:t>
            </a:r>
          </a:p>
        </p:txBody>
      </p:sp>
      <p:sp>
        <p:nvSpPr>
          <p:cNvPr id="8" name="文字_A.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</a:t>
            </a:r>
          </a:p>
        </p:txBody>
      </p:sp>
      <p:sp>
        <p:nvSpPr>
          <p:cNvPr id="9" name="文字_B.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</a:t>
            </a:r>
          </a:p>
        </p:txBody>
      </p:sp>
      <p:sp>
        <p:nvSpPr>
          <p:cNvPr id="10" name="文字_C.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</a:t>
            </a:r>
          </a:p>
        </p:txBody>
      </p:sp>
      <p:sp>
        <p:nvSpPr>
          <p:cNvPr id="11" name="文字_D.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</a:t>
            </a:r>
          </a:p>
        </p:txBody>
      </p:sp>
      <p:sp>
        <p:nvSpPr>
          <p:cNvPr id="12" name="文字_Vmb ______ Vmb ______ b "/>
          <p:cNvSpPr txBox="1"/>
          <p:nvPr/>
        </p:nvSpPr>
        <p:spPr>
          <a:xfrm>
            <a:off x="502920" y="40751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Vmb ______ Vmb ______ b ______ 2b</a:t>
            </a:r>
          </a:p>
        </p:txBody>
      </p:sp>
      <p:sp>
        <p:nvSpPr>
          <p:cNvPr id="13" name="文字_单选题  ·  07-00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07-004</a:t>
            </a:r>
          </a:p>
        </p:txBody>
      </p:sp>
      <p:sp>
        <p:nvSpPr>
          <p:cNvPr id="14" name="文字_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例题5</a:t>
            </a:r>
          </a:p>
        </p:txBody>
      </p:sp>
      <p:sp>
        <p:nvSpPr>
          <p:cNvPr id="5" name="文字_P142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P142</a:t>
            </a:r>
          </a:p>
        </p:txBody>
      </p:sp>
      <p:sp>
        <p:nvSpPr>
          <p:cNvPr id="6" name="文字_设NA为阿伏加德罗常数的值，下列说法不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设NA为阿伏加德罗常数的值，下列说法不正确的是</a:t>
            </a:r>
          </a:p>
        </p:txBody>
      </p:sp>
      <p:sp>
        <p:nvSpPr>
          <p:cNvPr id="7" name="文字_A. 标准状况，3.9 g Na₂O₂ 与足量水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标准状况，3.9 g Na₂O₂ 与足量水反应，生成 O₂的体积为 0.56 L</a:t>
            </a:r>
          </a:p>
        </p:txBody>
      </p:sp>
      <p:sp>
        <p:nvSpPr>
          <p:cNvPr id="8" name="文字_B. 50 mL₁₂ mol· L−1浓盐酸与足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50 mL₁₂ mol· L−1浓盐酸与足量 MnO₂ 共热，转移电子数目为 0.3NA</a:t>
            </a:r>
          </a:p>
        </p:txBody>
      </p:sp>
      <p:sp>
        <p:nvSpPr>
          <p:cNvPr id="9" name="文字_C. 标准状况下，2.24L Cl₂ 通入足量N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标准状况下，2.24L Cl₂ 通入足量NaOH 溶液中，转移电子数目为 0.1NA</a:t>
            </a:r>
          </a:p>
        </p:txBody>
      </p:sp>
      <p:sp>
        <p:nvSpPr>
          <p:cNvPr id="10" name="文字_D. 常温常压下，46 gNO₂与N₂O₄的混合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常温常压下，46 gNO₂与N₂O₄的混合气体中，含有的氮原子数目为 NA</a:t>
            </a:r>
          </a:p>
        </p:txBody>
      </p:sp>
      <p:sp>
        <p:nvSpPr>
          <p:cNvPr id="11" name="文字_单选题  ·  07-00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07-005</a:t>
            </a:r>
          </a:p>
        </p:txBody>
      </p:sp>
      <p:sp>
        <p:nvSpPr>
          <p:cNvPr id="12" name="文字_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例题6</a:t>
            </a:r>
          </a:p>
        </p:txBody>
      </p:sp>
      <p:sp>
        <p:nvSpPr>
          <p:cNvPr id="5" name="文字_P14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P143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A. 0.5molH₂所占的体积为11.2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0.5molH₂所占的体积为11.2L</a:t>
            </a:r>
          </a:p>
        </p:txBody>
      </p:sp>
      <p:sp>
        <p:nvSpPr>
          <p:cNvPr id="8" name="文字_B. 标准状况下，6.02×1023个分子所占的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标准状况下，6.02×1023个分子所占的体积约是22.4L</a:t>
            </a:r>
          </a:p>
        </p:txBody>
      </p:sp>
      <p:sp>
        <p:nvSpPr>
          <p:cNvPr id="9" name="文字_C. 标准状况下，1mol酒精的体积约为22.4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标准状况下，1mol酒精的体积约为22.4L</a:t>
            </a:r>
          </a:p>
        </p:txBody>
      </p:sp>
      <p:sp>
        <p:nvSpPr>
          <p:cNvPr id="10" name="文字_D. 标准状况下，28gN₂体积约是22.4L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标准状况下，28gN₂体积约是22.4L</a:t>
            </a:r>
          </a:p>
        </p:txBody>
      </p:sp>
      <p:sp>
        <p:nvSpPr>
          <p:cNvPr id="11" name="文字_单选题  ·  07-00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07-006</a:t>
            </a:r>
          </a:p>
        </p:txBody>
      </p:sp>
      <p:sp>
        <p:nvSpPr>
          <p:cNvPr id="12" name="文字_1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例题7</a:t>
            </a:r>
          </a:p>
        </p:txBody>
      </p:sp>
      <p:sp>
        <p:nvSpPr>
          <p:cNvPr id="5" name="文字_P14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P143</a:t>
            </a:r>
          </a:p>
        </p:txBody>
      </p:sp>
      <p:sp>
        <p:nvSpPr>
          <p:cNvPr id="6" name="文字_下列关于气体摩尔体积的说法中，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下列关于气体摩尔体积的说法中，正确的是</a:t>
            </a:r>
          </a:p>
        </p:txBody>
      </p:sp>
      <p:sp>
        <p:nvSpPr>
          <p:cNvPr id="7" name="文字_A. 1mol由H₂、N₂组成的混合气体的体积约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1mol由H₂、N₂组成的混合气体的体积约为22.4L</a:t>
            </a:r>
          </a:p>
        </p:txBody>
      </p:sp>
      <p:sp>
        <p:nvSpPr>
          <p:cNvPr id="8" name="文字_B. 若气体摩尔体积为22.4L·mol⁻1，则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若气体摩尔体积为22.4L·mol⁻1，则该气体一定处于标准状况</a:t>
            </a:r>
          </a:p>
        </p:txBody>
      </p:sp>
      <p:sp>
        <p:nvSpPr>
          <p:cNvPr id="9" name="文字_C. 常温常压下，32gO₂所占的体积约为22.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常温常压下，32gO₂所占的体积约为22.4L</a:t>
            </a:r>
          </a:p>
        </p:txBody>
      </p:sp>
      <p:sp>
        <p:nvSpPr>
          <p:cNvPr id="10" name="文字_D. 在标准状况下，11.2LN₂中含有1mol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在标准状况下，11.2LN₂中含有1mol氮原子</a:t>
            </a:r>
          </a:p>
        </p:txBody>
      </p:sp>
      <p:sp>
        <p:nvSpPr>
          <p:cNvPr id="11" name="文字_单选题  ·  07-00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07-007</a:t>
            </a:r>
          </a:p>
        </p:txBody>
      </p:sp>
      <p:sp>
        <p:nvSpPr>
          <p:cNvPr id="12" name="文字_1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例题8</a:t>
            </a:r>
          </a:p>
        </p:txBody>
      </p:sp>
      <p:sp>
        <p:nvSpPr>
          <p:cNvPr id="5" name="文字_P14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P143</a:t>
            </a:r>
          </a:p>
        </p:txBody>
      </p:sp>
      <p:sp>
        <p:nvSpPr>
          <p:cNvPr id="6" name="文字_汽车碰撞时，安全气囊中发生反应 10NaN₃ +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汽车碰撞时，安全气囊中发生反应 10NaN₃ + 2KNO₃ = K₂O + 5Na₂O + 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16N₂ ↑。 设 NA 为阿伏加德罗常数的值，下列说法正确的是</a:t>
            </a:r>
          </a:p>
        </p:txBody>
      </p:sp>
      <p:sp>
        <p:nvSpPr>
          <p:cNvPr id="7" name="文字_A. 1 mol Na₂O 晶体中含有的离子数目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 mol Na₂O 晶体中含有的离子数目为 2NA</a:t>
            </a:r>
          </a:p>
        </p:txBody>
      </p:sp>
      <p:sp>
        <p:nvSpPr>
          <p:cNvPr id="8" name="文字_B. 标准状况下，11.2 L N₂ 中含有的电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标准状况下，11.2 L N₂ 中含有的电子数目为 7NA</a:t>
            </a:r>
          </a:p>
        </p:txBody>
      </p:sp>
      <p:sp>
        <p:nvSpPr>
          <p:cNvPr id="9" name="文字_C. 反应中生成 16 mol N₂，转移电子数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反应中生成 16 mol N₂，转移电子数目为 5NA</a:t>
            </a:r>
          </a:p>
        </p:txBody>
      </p:sp>
      <p:sp>
        <p:nvSpPr>
          <p:cNvPr id="10" name="文字_D. 1 mol · L−1 KNO₃ 溶液中 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 mol · L−1 KNO₃ 溶液中 NO₃ 数目为 NA</a:t>
            </a:r>
          </a:p>
        </p:txBody>
      </p:sp>
      <p:sp>
        <p:nvSpPr>
          <p:cNvPr id="11" name="文字_单选题  ·  07-00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07-008</a:t>
            </a:r>
          </a:p>
        </p:txBody>
      </p:sp>
      <p:sp>
        <p:nvSpPr>
          <p:cNvPr id="12" name="文字_1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例题9</a:t>
            </a:r>
          </a:p>
        </p:txBody>
      </p:sp>
      <p:sp>
        <p:nvSpPr>
          <p:cNvPr id="5" name="文字_P14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P143</a:t>
            </a:r>
          </a:p>
        </p:txBody>
      </p:sp>
      <p:sp>
        <p:nvSpPr>
          <p:cNvPr id="6" name="文字_判断下列说法是否正确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判断下列说法是否正确</a:t>
            </a:r>
          </a:p>
        </p:txBody>
      </p:sp>
      <p:sp>
        <p:nvSpPr>
          <p:cNvPr id="7" name="文字_（1）物质的量相同的两种不同气体只有在标准状况下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（1）物质的量相同的两种不同气体只有在标准状况下体积才相等</a:t>
            </a:r>
          </a:p>
        </p:txBody>
      </p:sp>
      <p:sp>
        <p:nvSpPr>
          <p:cNvPr id="8" name="文字_(2) Vm在非标准状况下不可能为22.4L/m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Vm在非标准状况下不可能为22.4L/mol</a:t>
            </a:r>
          </a:p>
        </p:txBody>
      </p:sp>
      <p:sp>
        <p:nvSpPr>
          <p:cNvPr id="9" name="文字_(3) 在标准状况下，0.5mol任何气体的体积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在标准状况下，0.5mol任何气体的体积都约为11.2L</a:t>
            </a:r>
          </a:p>
        </p:txBody>
      </p:sp>
      <p:sp>
        <p:nvSpPr>
          <p:cNvPr id="10" name="文字_(4) 28gCO在标准状况下的体积约为22.4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28gCO在标准状况下的体积约为22.4L</a:t>
            </a:r>
          </a:p>
        </p:txBody>
      </p:sp>
      <p:sp>
        <p:nvSpPr>
          <p:cNvPr id="11" name="文字_(5) 相同标准状况下，2gH₂与16gO₂混合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 相同标准状况下，2gH₂与16gO₂混合后，其体积为33.6L</a:t>
            </a:r>
          </a:p>
        </p:txBody>
      </p:sp>
      <p:sp>
        <p:nvSpPr>
          <p:cNvPr id="12" name="文字_解答题  ·  07-00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07-009</a:t>
            </a:r>
          </a:p>
        </p:txBody>
      </p:sp>
      <p:sp>
        <p:nvSpPr>
          <p:cNvPr id="13" name="文字_1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例题10</a:t>
            </a:r>
          </a:p>
        </p:txBody>
      </p:sp>
      <p:sp>
        <p:nvSpPr>
          <p:cNvPr id="5" name="文字_P143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P143</a:t>
            </a:r>
          </a:p>
        </p:txBody>
      </p:sp>
      <p:sp>
        <p:nvSpPr>
          <p:cNvPr id="6" name="文字_同温同压下，同体积的H₂和CO₂物质的量之比为 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同温同压下，同体积的H₂和CO₂物质的量之比为 ______ ，质量比为 ______ ，若两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者所含原子个数相等，它们的物质的量比是</a:t>
            </a:r>
          </a:p>
        </p:txBody>
      </p:sp>
      <p:sp>
        <p:nvSpPr>
          <p:cNvPr id="7" name="文字_(2) 标准状况下体积约为11.2L的NH₃质量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标准状况下体积约为11.2L的NH₃质量是 ______ g，约含有 ______ mol电子。</a:t>
            </a:r>
          </a:p>
        </p:txBody>
      </p:sp>
      <p:sp>
        <p:nvSpPr>
          <p:cNvPr id="8" name="文字_(3)在标准状况下，测得1.32g某气体的体积为"/>
          <p:cNvSpPr txBox="1"/>
          <p:nvPr/>
        </p:nvSpPr>
        <p:spPr>
          <a:xfrm>
            <a:off x="502920" y="23195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(3)在标准状况下，测得1.32g某气体的体积为0.672L。则此气体的摩尔质量为 ____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__ 。等质量CO、CO₂两种气体同温同压下的体积比为 ______ o</a:t>
            </a:r>
          </a:p>
        </p:txBody>
      </p:sp>
      <p:sp>
        <p:nvSpPr>
          <p:cNvPr id="9" name="文字_(4) 标准状况下，1.92g气体A的体积为67"/>
          <p:cNvSpPr txBox="1"/>
          <p:nvPr/>
        </p:nvSpPr>
        <p:spPr>
          <a:xfrm>
            <a:off x="502920" y="31211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标准状况下，1.92g气体A的体积为672mL，则此气体的相对分子质量为</a:t>
            </a:r>
          </a:p>
        </p:txBody>
      </p:sp>
      <p:sp>
        <p:nvSpPr>
          <p:cNvPr id="10" name="文字_填空题  ·  07-01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07-010</a:t>
            </a:r>
          </a:p>
        </p:txBody>
      </p:sp>
      <p:sp>
        <p:nvSpPr>
          <p:cNvPr id="11" name="文字_1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例题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例题11</a:t>
            </a:r>
          </a:p>
        </p:txBody>
      </p:sp>
      <p:sp>
        <p:nvSpPr>
          <p:cNvPr id="5" name="文字_P14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P144</a:t>
            </a:r>
          </a:p>
        </p:txBody>
      </p:sp>
      <p:sp>
        <p:nvSpPr>
          <p:cNvPr id="6" name="文字_设NA表示阿伏加德罗常数的值，回答下列问题：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设NA表示阿伏加德罗常数的值，回答下列问题：</a:t>
            </a:r>
          </a:p>
        </p:txBody>
      </p:sp>
      <p:sp>
        <p:nvSpPr>
          <p:cNvPr id="7" name="文字_(1) 3.9gNa₂O₂中的Na+数目为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3.9gNa₂O₂中的Na+数目为</a:t>
            </a:r>
          </a:p>
        </p:txBody>
      </p:sp>
      <p:sp>
        <p:nvSpPr>
          <p:cNvPr id="8" name="文字_(2) 7.8gNa₂X中含有Na + 0.2m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7.8gNa₂X中含有Na + 0.2mol，则Na₂X的摩尔质量为</a:t>
            </a:r>
          </a:p>
        </p:txBody>
      </p:sp>
      <p:sp>
        <p:nvSpPr>
          <p:cNvPr id="9" name="文字_(3) 3.65g氯化氢在标况下的体积为 ___"/>
          <p:cNvSpPr txBox="1"/>
          <p:nvPr/>
        </p:nvSpPr>
        <p:spPr>
          <a:xfrm>
            <a:off x="502920" y="23957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3.65g氯化氢在标况下的体积为 ______ ，溶于水配成500mL溶液，其溶质的物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质的量浓度为</a:t>
            </a:r>
          </a:p>
        </p:txBody>
      </p:sp>
      <p:sp>
        <p:nvSpPr>
          <p:cNvPr id="10" name="文字_(4) 13gZn与足量稀硫酸反应，最多可收集到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13gZn与足量稀硫酸反应，最多可收集到H₂的体积为（标准状况下)</a:t>
            </a:r>
          </a:p>
        </p:txBody>
      </p:sp>
      <p:sp>
        <p:nvSpPr>
          <p:cNvPr id="11" name="文字_填空题  ·  07-01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07-011</a:t>
            </a:r>
          </a:p>
        </p:txBody>
      </p:sp>
      <p:sp>
        <p:nvSpPr>
          <p:cNvPr id="12" name="文字_1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变式1</a:t>
            </a:r>
          </a:p>
        </p:txBody>
      </p:sp>
      <p:sp>
        <p:nvSpPr>
          <p:cNvPr id="5" name="文字_P14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P144</a:t>
            </a:r>
          </a:p>
        </p:txBody>
      </p:sp>
      <p:sp>
        <p:nvSpPr>
          <p:cNvPr id="6" name="文字_关于气体摩尔体积的下列说法中，不正确的是()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关于气体摩尔体积的下列说法中，不正确的是()</a:t>
            </a:r>
          </a:p>
        </p:txBody>
      </p:sp>
      <p:sp>
        <p:nvSpPr>
          <p:cNvPr id="7" name="文字_A. 某温度压强下，1 mol某气体的体积为30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某温度压强下，1 mol某气体的体积为30L，此条件下该气体的摩尔体积为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30L·mol-1</a:t>
            </a:r>
          </a:p>
        </p:txBody>
      </p:sp>
      <p:sp>
        <p:nvSpPr>
          <p:cNvPr id="8" name="文字_B. 标准状况下，0.5 mol氢气和0.5 m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标准状况下，0.5 mol氢气和0.5 mol氧气组成的混合气体的体积约为22.4L</a:t>
            </a:r>
          </a:p>
        </p:txBody>
      </p:sp>
      <p:sp>
        <p:nvSpPr>
          <p:cNvPr id="9" name="文字_C. 在同温同压下，22.4L的任何气体的物质的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在同温同压下，22.4L的任何气体的物质的量都是1 mol</a:t>
            </a:r>
          </a:p>
        </p:txBody>
      </p:sp>
      <p:sp>
        <p:nvSpPr>
          <p:cNvPr id="10" name="文字_D. 标准状况下，1 mol氢气所占的体积是0.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标准状况下，1 mol氢气所占的体积是0.5 mol氧气所占的2倍</a:t>
            </a:r>
          </a:p>
        </p:txBody>
      </p:sp>
      <p:sp>
        <p:nvSpPr>
          <p:cNvPr id="11" name="文字_单选题  ·  07-01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07-012</a:t>
            </a:r>
          </a:p>
        </p:txBody>
      </p:sp>
      <p:sp>
        <p:nvSpPr>
          <p:cNvPr id="12" name="文字_1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变式2</a:t>
            </a:r>
          </a:p>
        </p:txBody>
      </p:sp>
      <p:sp>
        <p:nvSpPr>
          <p:cNvPr id="5" name="文字_P14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P144</a:t>
            </a:r>
          </a:p>
        </p:txBody>
      </p:sp>
      <p:sp>
        <p:nvSpPr>
          <p:cNvPr id="6" name="文字_下列是某同学整理的课堂笔记，其中正确的一项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下列是某同学整理的课堂笔记，其中正确的一项是</a:t>
            </a:r>
          </a:p>
        </p:txBody>
      </p:sp>
      <p:sp>
        <p:nvSpPr>
          <p:cNvPr id="7" name="文字_A. 1 mol固体或液体的体积主要由微粒间距离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 mol固体或液体的体积主要由微粒间距离决定</a:t>
            </a:r>
          </a:p>
        </p:txBody>
      </p:sp>
      <p:sp>
        <p:nvSpPr>
          <p:cNvPr id="8" name="文字_B. 1 mol气体的体积主要由微粒的大小决定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1 mol气体的体积主要由微粒的大小决定</a:t>
            </a:r>
          </a:p>
        </p:txBody>
      </p:sp>
      <p:sp>
        <p:nvSpPr>
          <p:cNvPr id="9" name="文字_C. 同温同压下，原子数相同的两种气体的体积相同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同温同压下，原子数相同的两种气体的体积相同</a:t>
            </a:r>
          </a:p>
        </p:txBody>
      </p:sp>
      <p:sp>
        <p:nvSpPr>
          <p:cNvPr id="10" name="文字_D. 气体微粒间的距离受温度、压强影响大，固体或"/>
          <p:cNvSpPr txBox="1"/>
          <p:nvPr/>
        </p:nvSpPr>
        <p:spPr>
          <a:xfrm>
            <a:off x="502920" y="283464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气体微粒间的距离受温度、压强影响大，固体或液体微粒间距受温度、压强影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响小</a:t>
            </a:r>
          </a:p>
        </p:txBody>
      </p:sp>
      <p:sp>
        <p:nvSpPr>
          <p:cNvPr id="11" name="文字_单选题  ·  07-01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07-013</a:t>
            </a:r>
          </a:p>
        </p:txBody>
      </p:sp>
      <p:sp>
        <p:nvSpPr>
          <p:cNvPr id="12" name="文字_1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变式3</a:t>
            </a:r>
          </a:p>
        </p:txBody>
      </p:sp>
      <p:sp>
        <p:nvSpPr>
          <p:cNvPr id="5" name="文字_P14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P144</a:t>
            </a:r>
          </a:p>
        </p:txBody>
      </p:sp>
      <p:sp>
        <p:nvSpPr>
          <p:cNvPr id="6" name="文字_用NA表示间伏加德罗常数的值，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用NA表示间伏加德罗常数的值，下列说法正确的是</a:t>
            </a:r>
          </a:p>
        </p:txBody>
      </p:sp>
      <p:sp>
        <p:nvSpPr>
          <p:cNvPr id="7" name="文字_A. 14 g的丙烯和乙烯的混合气体，其原子数为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14 g的丙烯和乙烯的混合气体，其原子数为 3NA</a:t>
            </a:r>
          </a:p>
        </p:txBody>
      </p:sp>
      <p:sp>
        <p:nvSpPr>
          <p:cNvPr id="8" name="文字_B. 将足量的 CO₂ 通入 7.8gNa₂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将足量的 CO₂ 通入 7.8gNa₂O₂ 中，充分反应后转移的电子数为 0.2 NA</a:t>
            </a:r>
          </a:p>
        </p:txBody>
      </p:sp>
      <p:sp>
        <p:nvSpPr>
          <p:cNvPr id="9" name="文字_C. 标准状况下，33.6LCH₂Cl₂的分子数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标准状况下，33.6LCH₂Cl₂的分子数为1.5 NA</a:t>
            </a:r>
          </a:p>
        </p:txBody>
      </p:sp>
      <p:sp>
        <p:nvSpPr>
          <p:cNvPr id="10" name="文字_D. 熔融状态下，8.4gNaHCO₃ 中所含离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熔融状态下，8.4gNaHCO₃ 中所含离子总数为 0.2 NA</a:t>
            </a:r>
          </a:p>
        </p:txBody>
      </p:sp>
      <p:sp>
        <p:nvSpPr>
          <p:cNvPr id="11" name="文字_单选题  ·  07-01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07-014</a:t>
            </a:r>
          </a:p>
        </p:txBody>
      </p:sp>
      <p:sp>
        <p:nvSpPr>
          <p:cNvPr id="12" name="文字_1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变式4</a:t>
            </a:r>
          </a:p>
        </p:txBody>
      </p:sp>
      <p:sp>
        <p:nvSpPr>
          <p:cNvPr id="5" name="文字_P144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P144</a:t>
            </a:r>
          </a:p>
        </p:txBody>
      </p:sp>
      <p:sp>
        <p:nvSpPr>
          <p:cNvPr id="6" name="文字_标准状况下，将11.2 L O₂、11 g CO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标准状况下，将11.2 L O₂、11 g CO₂、0.25 mol N₂混合，该混合气体的体积为</a:t>
            </a:r>
          </a:p>
        </p:txBody>
      </p:sp>
      <p:sp>
        <p:nvSpPr>
          <p:cNvPr id="7" name="文字_A. 22.4 L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22.4 L</a:t>
            </a:r>
          </a:p>
        </p:txBody>
      </p:sp>
      <p:sp>
        <p:nvSpPr>
          <p:cNvPr id="8" name="文字_B. 2.24 L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2.24 L</a:t>
            </a:r>
          </a:p>
        </p:txBody>
      </p:sp>
      <p:sp>
        <p:nvSpPr>
          <p:cNvPr id="9" name="文字_C. 44.8 L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44.8 L</a:t>
            </a:r>
          </a:p>
        </p:txBody>
      </p:sp>
      <p:sp>
        <p:nvSpPr>
          <p:cNvPr id="10" name="文字_D. 22.45 L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22.45 L</a:t>
            </a:r>
          </a:p>
        </p:txBody>
      </p:sp>
      <p:sp>
        <p:nvSpPr>
          <p:cNvPr id="11" name="文字_单选题  ·  07-01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07-015</a:t>
            </a:r>
          </a:p>
        </p:txBody>
      </p:sp>
      <p:sp>
        <p:nvSpPr>
          <p:cNvPr id="12" name="文字_1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变式5</a:t>
            </a:r>
          </a:p>
        </p:txBody>
      </p:sp>
      <p:sp>
        <p:nvSpPr>
          <p:cNvPr id="5" name="文字_P14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P145</a:t>
            </a:r>
          </a:p>
        </p:txBody>
      </p:sp>
      <p:sp>
        <p:nvSpPr>
          <p:cNvPr id="6" name="文字_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下列说法正确的是</a:t>
            </a:r>
          </a:p>
        </p:txBody>
      </p:sp>
      <p:sp>
        <p:nvSpPr>
          <p:cNvPr id="7" name="文字_①标准状况下，6.02×1023个气体分子所占的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①标准状况下，6.02×1023个气体分子所占的体积约为22.4L</a:t>
            </a:r>
          </a:p>
        </p:txBody>
      </p:sp>
      <p:sp>
        <p:nvSpPr>
          <p:cNvPr id="8" name="文字_②0.5molN₂的体积为11.2L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②0.5molN₂的体积为11.2L</a:t>
            </a:r>
          </a:p>
        </p:txBody>
      </p:sp>
      <p:sp>
        <p:nvSpPr>
          <p:cNvPr id="9" name="文字_③标准状况下，1 mol H₂O的体积为22.4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③标准状况下，1 mol H₂O的体积为22.4L</a:t>
            </a:r>
          </a:p>
        </p:txBody>
      </p:sp>
      <p:sp>
        <p:nvSpPr>
          <p:cNvPr id="10" name="文字_④常温常压下，28g CO与N₂的混合气体所含原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④常温常压下，28g CO与N₂的混合气体所含原子数为2NA</a:t>
            </a:r>
          </a:p>
        </p:txBody>
      </p:sp>
      <p:sp>
        <p:nvSpPr>
          <p:cNvPr id="11" name="文字_⑤任何气体的气体摩尔体积都约为22.4L·mol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⑤任何气体的气体摩尔体积都约为22.4L·mol-1</a:t>
            </a:r>
          </a:p>
        </p:txBody>
      </p:sp>
      <p:sp>
        <p:nvSpPr>
          <p:cNvPr id="12" name="文字_⑥标准状况下，体积相同的两种气体的分子数一定相同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⑥标准状况下，体积相同的两种气体的分子数一定相同</a:t>
            </a:r>
          </a:p>
        </p:txBody>
      </p:sp>
      <p:sp>
        <p:nvSpPr>
          <p:cNvPr id="13" name="文字_A. ①③⑤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①③⑤</a:t>
            </a:r>
          </a:p>
        </p:txBody>
      </p:sp>
      <p:sp>
        <p:nvSpPr>
          <p:cNvPr id="14" name="文字_B. ④⑥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④⑥</a:t>
            </a:r>
          </a:p>
        </p:txBody>
      </p:sp>
      <p:sp>
        <p:nvSpPr>
          <p:cNvPr id="15" name="文字_C. ③④⑥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③④⑥</a:t>
            </a:r>
          </a:p>
        </p:txBody>
      </p:sp>
      <p:sp>
        <p:nvSpPr>
          <p:cNvPr id="16" name="文字_D. ①④⑥"/>
          <p:cNvSpPr txBox="1"/>
          <p:nvPr/>
        </p:nvSpPr>
        <p:spPr>
          <a:xfrm>
            <a:off x="502920" y="54681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①④⑥</a:t>
            </a:r>
          </a:p>
        </p:txBody>
      </p:sp>
      <p:sp>
        <p:nvSpPr>
          <p:cNvPr id="17" name="文字_单选题  ·  07-01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07-016</a:t>
            </a:r>
          </a:p>
        </p:txBody>
      </p:sp>
      <p:sp>
        <p:nvSpPr>
          <p:cNvPr id="18" name="文字_2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变式6</a:t>
            </a:r>
          </a:p>
        </p:txBody>
      </p:sp>
      <p:sp>
        <p:nvSpPr>
          <p:cNvPr id="5" name="文字_P14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P145</a:t>
            </a:r>
          </a:p>
        </p:txBody>
      </p:sp>
      <p:sp>
        <p:nvSpPr>
          <p:cNvPr id="6" name="文字_下列各组物质中，所含分子数相同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下列各组物质中，所含分子数相同的是（）</a:t>
            </a:r>
          </a:p>
        </p:txBody>
      </p:sp>
      <p:sp>
        <p:nvSpPr>
          <p:cNvPr id="7" name="文字_A. 10g H₂和10g O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10g H₂和10g O₂</a:t>
            </a:r>
          </a:p>
        </p:txBody>
      </p:sp>
      <p:sp>
        <p:nvSpPr>
          <p:cNvPr id="8" name="文字_B. 标况下5.6L N₂和11g C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标况下5.6L N₂和11g CO₂</a:t>
            </a:r>
          </a:p>
        </p:txBody>
      </p:sp>
      <p:sp>
        <p:nvSpPr>
          <p:cNvPr id="9" name="文字_C. 10g H₂和10g O₂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10g H₂和10g O₂</a:t>
            </a:r>
          </a:p>
        </p:txBody>
      </p:sp>
      <p:sp>
        <p:nvSpPr>
          <p:cNvPr id="10" name="文字_D. 标况下224mL N₂和0.1mol N₂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标况下224mL N₂和0.1mol N₂</a:t>
            </a:r>
          </a:p>
        </p:txBody>
      </p:sp>
      <p:sp>
        <p:nvSpPr>
          <p:cNvPr id="11" name="文字_单选题  ·  07-01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07-017</a:t>
            </a:r>
          </a:p>
        </p:txBody>
      </p:sp>
      <p:sp>
        <p:nvSpPr>
          <p:cNvPr id="12" name="文字_2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变式7</a:t>
            </a:r>
          </a:p>
        </p:txBody>
      </p:sp>
      <p:sp>
        <p:nvSpPr>
          <p:cNvPr id="5" name="文字_P145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P145</a:t>
            </a:r>
          </a:p>
        </p:txBody>
      </p:sp>
      <p:sp>
        <p:nvSpPr>
          <p:cNvPr id="6" name="文字_设NA代表阿伏加德罗常数的数值，判定下列说法是否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设NA代表阿伏加德罗常数的数值，判定下列说法是否正确</a:t>
            </a:r>
          </a:p>
        </p:txBody>
      </p:sp>
      <p:sp>
        <p:nvSpPr>
          <p:cNvPr id="7" name="文字_(1） 22.4L（标准状况）氩气含有的质子数为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(1） 22.4L（标准状况）氩气含有的质子数为18NA</a:t>
            </a:r>
          </a:p>
        </p:txBody>
      </p:sp>
      <p:sp>
        <p:nvSpPr>
          <p:cNvPr id="8" name="文字_(2)标准状况下，11.2LCH₄和C₂H₄混合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(2)标准状况下，11.2LCH₄和C₂H₄混合物中含氢原子数目为2NA</a:t>
            </a:r>
          </a:p>
        </p:txBody>
      </p:sp>
      <p:sp>
        <p:nvSpPr>
          <p:cNvPr id="9" name="文字_(3)标准状况下，2.24LN₂和O₂的混合气体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(3)标准状况下，2.24LN₂和O₂的混合气体中分子数为0.2NA</a:t>
            </a:r>
          </a:p>
        </p:txBody>
      </p:sp>
      <p:sp>
        <p:nvSpPr>
          <p:cNvPr id="10" name="文字_(4)1mol的CO和N₂混合气体中含有的质子数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(4)1mol的CO和N₂混合气体中含有的质子数为14NA</a:t>
            </a:r>
          </a:p>
        </p:txBody>
      </p:sp>
      <p:sp>
        <p:nvSpPr>
          <p:cNvPr id="11" name="文字_(5)标准状况下，5.6LCO₂气体中含有的氧原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(5)标准状况下，5.6LCO₂气体中含有的氧原子数目为0.5NA</a:t>
            </a:r>
          </a:p>
        </p:txBody>
      </p:sp>
      <p:sp>
        <p:nvSpPr>
          <p:cNvPr id="12" name="文字_(6)1.6g由O₂和O₃组成的混合物中含有的O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(6)1.6g由O₂和O₃组成的混合物中含有的O原子数目为0.1NA</a:t>
            </a:r>
          </a:p>
        </p:txBody>
      </p:sp>
      <p:sp>
        <p:nvSpPr>
          <p:cNvPr id="13" name="文字_(7)常温常压下，8gO₂含有的电子数为4NA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(7)常温常压下，8gO₂含有的电子数为4NA</a:t>
            </a:r>
          </a:p>
        </p:txBody>
      </p:sp>
      <p:sp>
        <p:nvSpPr>
          <p:cNvPr id="14" name="文字_(8)常温常压下，22.4LNO₂和CO₂的混合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(8)常温常压下，22.4LNO₂和CO₂的混合气体中O原子数目为2NA</a:t>
            </a:r>
          </a:p>
        </p:txBody>
      </p:sp>
      <p:sp>
        <p:nvSpPr>
          <p:cNvPr id="15" name="文字_(9)标准状况下，22.4LCCl₄中含有的CC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(9)标准状况下，22.4LCCl₄中含有的CCl₄分子数为NA</a:t>
            </a:r>
          </a:p>
        </p:txBody>
      </p:sp>
      <p:sp>
        <p:nvSpPr>
          <p:cNvPr id="16" name="文字_(10) 常温常压下，18 gH₂O中含有的原子"/>
          <p:cNvSpPr txBox="1"/>
          <p:nvPr/>
        </p:nvSpPr>
        <p:spPr>
          <a:xfrm>
            <a:off x="502920" y="54681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(10) 常温常压下，18 gH₂O中含有的原子总数为3NA</a:t>
            </a:r>
          </a:p>
        </p:txBody>
      </p:sp>
      <p:sp>
        <p:nvSpPr>
          <p:cNvPr id="17" name="文字_(11) 常温常压下，2.24L CO和CO₂混"/>
          <p:cNvSpPr txBox="1"/>
          <p:nvPr/>
        </p:nvSpPr>
        <p:spPr>
          <a:xfrm>
            <a:off x="502920" y="590702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(11) 常温常压下，2.24L CO和CO₂混合气体中含有的碳原子数目为0.1NA</a:t>
            </a:r>
          </a:p>
        </p:txBody>
      </p:sp>
      <p:sp>
        <p:nvSpPr>
          <p:cNvPr id="18" name="文字_填空题  ·  07-01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07-018</a:t>
            </a:r>
          </a:p>
        </p:txBody>
      </p:sp>
      <p:sp>
        <p:nvSpPr>
          <p:cNvPr id="19" name="文字_2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文字_02"/>
          <p:cNvSpPr txBox="1"/>
          <p:nvPr/>
        </p:nvSpPr>
        <p:spPr>
          <a:xfrm>
            <a:off x="704088" y="1143000"/>
            <a:ext cx="2743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80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02</a:t>
            </a:r>
          </a:p>
        </p:txBody>
      </p:sp>
      <p:sp>
        <p:nvSpPr>
          <p:cNvPr id="4" name="文字_阿伏伽德罗定律及推论"/>
          <p:cNvSpPr txBox="1"/>
          <p:nvPr/>
        </p:nvSpPr>
        <p:spPr>
          <a:xfrm>
            <a:off x="758952" y="2770632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阿伏伽德罗定律及推论</a:t>
            </a:r>
          </a:p>
        </p:txBody>
      </p:sp>
      <p:sp>
        <p:nvSpPr>
          <p:cNvPr id="5" name="文字_知识梳理 · 讲义 P146"/>
          <p:cNvSpPr txBox="1"/>
          <p:nvPr/>
        </p:nvSpPr>
        <p:spPr>
          <a:xfrm>
            <a:off x="822960" y="4242816"/>
            <a:ext cx="104698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知识梳理 · 讲义 P146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阿伏伽德罗定律及推论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阿伏伽德罗定律及推论</a:t>
            </a:r>
          </a:p>
        </p:txBody>
      </p:sp>
      <p:sp>
        <p:nvSpPr>
          <p:cNvPr id="5" name="文字_知识讲解 · P146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P146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773936"/>
          <a:ext cx="11109960" cy="2428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980"/>
                <a:gridCol w="5554980"/>
              </a:tblGrid>
              <a:tr h="485648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相同条件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比例关系</a:t>
                      </a:r>
                    </a:p>
                  </a:txBody>
                  <a:tcPr marL="91440" marR="91440" marT="45720" marB="45720" anchor="ctr">
                    <a:solidFill>
                      <a:srgbClr val="F1922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同温、同压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V₁／V₂ = n₁／n₂ = N₁／N₂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同温、同体积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p₁／p₂ = n₁／n₂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同温、同压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ρ₁／ρ₂ = M₁／M₂</a:t>
                      </a:r>
                    </a:p>
                  </a:txBody>
                  <a:tcPr marL="91440" marR="91440" marT="45720" marB="45720" anchor="ctr">
                    <a:solidFill>
                      <a:srgbClr val="FDF2E3"/>
                    </a:solidFill>
                  </a:tcPr>
                </a:tc>
              </a:tr>
              <a:tr h="485648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同温、同压、同质量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333333"/>
                          </a:solidFill>
                          <a:latin typeface="微软雅黑"/>
                        </a:defRPr>
                      </a:pPr>
                      <a:r>
                        <a:t>V₁／V₂ = M₂／M₁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93776" y="4339336"/>
            <a:ext cx="11119104" cy="493776"/>
          </a:xfrm>
          <a:prstGeom prst="rect">
            <a:avLst/>
          </a:prstGeom>
          <a:solidFill>
            <a:srgbClr val="FDF2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文字_提示  推论可由 pV = nRT 推导。相对密"/>
          <p:cNvSpPr txBox="1"/>
          <p:nvPr/>
        </p:nvSpPr>
        <p:spPr>
          <a:xfrm>
            <a:off x="630936" y="4398772"/>
            <a:ext cx="108630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提示  推论可由 pV = nRT 推导。相对密度 D = ρ₁／ρ₂ = M₁／M₂，必须同温同压。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_pic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slide3_pic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109728"/>
            <a:ext cx="3657600" cy="1051560"/>
          </a:xfrm>
          <a:prstGeom prst="rect">
            <a:avLst/>
          </a:prstGeom>
        </p:spPr>
      </p:pic>
      <p:sp>
        <p:nvSpPr>
          <p:cNvPr id="4" name="文字_混合气体与反应气体的计算"/>
          <p:cNvSpPr txBox="1"/>
          <p:nvPr/>
        </p:nvSpPr>
        <p:spPr>
          <a:xfrm>
            <a:off x="3913632" y="347472"/>
            <a:ext cx="78181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混合气体与反应气体的计算</a:t>
            </a:r>
          </a:p>
        </p:txBody>
      </p:sp>
      <p:sp>
        <p:nvSpPr>
          <p:cNvPr id="5" name="文字_知识讲解 · P146"/>
          <p:cNvSpPr txBox="1"/>
          <p:nvPr/>
        </p:nvSpPr>
        <p:spPr>
          <a:xfrm>
            <a:off x="457200" y="12435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1922F"/>
                </a:solidFill>
                <a:latin typeface="微软雅黑"/>
              </a:defRPr>
            </a:pPr>
            <a:r>
              <a:rPr>
                <a:ea typeface="微软雅黑"/>
              </a:rPr>
              <a:t>知识讲解 · P146</a:t>
            </a:r>
          </a:p>
        </p:txBody>
      </p:sp>
      <p:sp>
        <p:nvSpPr>
          <p:cNvPr id="6" name="Rectangle 5"/>
          <p:cNvSpPr/>
          <p:nvPr/>
        </p:nvSpPr>
        <p:spPr>
          <a:xfrm>
            <a:off x="512064" y="1856231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文字_混合气体的平均摩尔质量：M̄ = m总／n总。"/>
          <p:cNvSpPr txBox="1"/>
          <p:nvPr/>
        </p:nvSpPr>
        <p:spPr>
          <a:xfrm>
            <a:off x="722376" y="1773936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混合气体的平均摩尔质量：M̄ = m总／n总。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" y="2438400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文字_同温同压下，各组分的体积分数 = 物质的量分数。"/>
          <p:cNvSpPr txBox="1"/>
          <p:nvPr/>
        </p:nvSpPr>
        <p:spPr>
          <a:xfrm>
            <a:off x="722376" y="2356104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同温同压下，各组分的体积分数 = 物质的量分数。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2064" y="3020568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文字_混合物中已知各组分的物质的量分数 xᵢ 时，M̄"/>
          <p:cNvSpPr txBox="1"/>
          <p:nvPr/>
        </p:nvSpPr>
        <p:spPr>
          <a:xfrm>
            <a:off x="722376" y="2938272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混合物中已知各组分的物质的量分数 xᵢ 时，M̄ = ΣxᵢMᵢ。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" y="3602736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文字_气体反应题：先写方程式，找限制反应物，再计算剩余"/>
          <p:cNvSpPr txBox="1"/>
          <p:nvPr/>
        </p:nvSpPr>
        <p:spPr>
          <a:xfrm>
            <a:off x="722376" y="3520440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气体反应题：先写方程式，找限制反应物，再计算剩余气体与生成气体。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" y="4184903"/>
            <a:ext cx="50292" cy="210312"/>
          </a:xfrm>
          <a:prstGeom prst="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文字_涉及水时，区分水蒸气与冷却后液态水；不能把液态水"/>
          <p:cNvSpPr txBox="1"/>
          <p:nvPr/>
        </p:nvSpPr>
        <p:spPr>
          <a:xfrm>
            <a:off x="722376" y="4102607"/>
            <a:ext cx="10908792" cy="463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涉及水时，区分水蒸气与冷却后液态水；不能把液态水计入气体总体积。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变式8</a:t>
            </a:r>
          </a:p>
        </p:txBody>
      </p:sp>
      <p:sp>
        <p:nvSpPr>
          <p:cNvPr id="5" name="文字_P14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P146</a:t>
            </a:r>
          </a:p>
        </p:txBody>
      </p:sp>
      <p:sp>
        <p:nvSpPr>
          <p:cNvPr id="6" name="文字_完成下列填空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完成下列填空</a:t>
            </a:r>
          </a:p>
        </p:txBody>
      </p:sp>
      <p:sp>
        <p:nvSpPr>
          <p:cNvPr id="7" name="文字_(1)NH₃的摩尔质量为 ______ ，3.4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(1)NH₃的摩尔质量为 ______ ，3.4g NH₃的物质的量为 ______ 该气体在标准状况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下的体积为 ______ O</a:t>
            </a:r>
          </a:p>
        </p:txBody>
      </p:sp>
      <p:sp>
        <p:nvSpPr>
          <p:cNvPr id="8" name="文字_(2)6.02×1023个CO₂与 ______"/>
          <p:cNvSpPr txBox="1"/>
          <p:nvPr/>
        </p:nvSpPr>
        <p:spPr>
          <a:xfrm>
            <a:off x="502920" y="23195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(2)6.02×1023个CO₂与 ______ mol H₂ 质量相等，与 ______ g SO₂ 含有的氧原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子数相等。</a:t>
            </a:r>
          </a:p>
        </p:txBody>
      </p:sp>
      <p:sp>
        <p:nvSpPr>
          <p:cNvPr id="9" name="文字_(3) 含 0.4 mol Cl⁻的氯化镁是 _"/>
          <p:cNvSpPr txBox="1"/>
          <p:nvPr/>
        </p:nvSpPr>
        <p:spPr>
          <a:xfrm>
            <a:off x="502920" y="312115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含 0.4 mol Cl⁻的氯化镁是 ______ mol，质量是 ______ g,它跟 ______ g 氯化钠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含有相同数目的 Cl⁻。</a:t>
            </a:r>
          </a:p>
        </p:txBody>
      </p:sp>
      <p:sp>
        <p:nvSpPr>
          <p:cNvPr id="10" name="文字_(4) 在标准状况下，46g乙醇与同条件下 __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在标准状况下，46g乙醇与同条件下 ______ mol H₂S 含有相同的氢原子数。</a:t>
            </a:r>
          </a:p>
        </p:txBody>
      </p:sp>
      <p:sp>
        <p:nvSpPr>
          <p:cNvPr id="11" name="文字_(5) 0.1mol NH₃中所含质子数与 __"/>
          <p:cNvSpPr txBox="1"/>
          <p:nvPr/>
        </p:nvSpPr>
        <p:spPr>
          <a:xfrm>
            <a:off x="502920" y="43616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 0.1mol NH₃中所含质子数与 ______ g水中所含电子数相等</a:t>
            </a:r>
          </a:p>
        </p:txBody>
      </p:sp>
      <p:sp>
        <p:nvSpPr>
          <p:cNvPr id="12" name="文字_(6) 某汽车安全气囊的气体发生剂为叠氮化钠（N"/>
          <p:cNvSpPr txBox="1"/>
          <p:nvPr/>
        </p:nvSpPr>
        <p:spPr>
          <a:xfrm>
            <a:off x="502920" y="480060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(6) 某汽车安全气囊的气体发生剂为叠氮化钠（NaN₃)，在受到撞击时分解生成Na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和N₂，130gNaN₃分解产生的N₂在标准状况下的体积为 ______ L</a:t>
            </a:r>
          </a:p>
        </p:txBody>
      </p:sp>
      <p:sp>
        <p:nvSpPr>
          <p:cNvPr id="13" name="文字_(7) 标准状况下，aL CH₄含b个氢原子，则"/>
          <p:cNvSpPr txBox="1"/>
          <p:nvPr/>
        </p:nvSpPr>
        <p:spPr>
          <a:xfrm>
            <a:off x="502920" y="560222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(7) 标准状况下，aL CH₄含b个氢原子，则阿伏加德罗常数可以表示为</a:t>
            </a:r>
          </a:p>
        </p:txBody>
      </p:sp>
      <p:sp>
        <p:nvSpPr>
          <p:cNvPr id="14" name="文字_填空题  ·  07-01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07-019</a:t>
            </a:r>
          </a:p>
        </p:txBody>
      </p:sp>
      <p:sp>
        <p:nvSpPr>
          <p:cNvPr id="15" name="文字_2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气体摩尔体积 · 变式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气体摩尔体积 · 变式9</a:t>
            </a:r>
          </a:p>
        </p:txBody>
      </p:sp>
      <p:sp>
        <p:nvSpPr>
          <p:cNvPr id="5" name="文字_P146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P146</a:t>
            </a:r>
          </a:p>
        </p:txBody>
      </p:sp>
      <p:sp>
        <p:nvSpPr>
          <p:cNvPr id="6" name="文字_用物质的量进行相关计算是高中化学的重要知识，请回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用物质的量进行相关计算是高中化学的重要知识，请回答下列问题：</a:t>
            </a:r>
          </a:p>
        </p:txBody>
      </p:sp>
      <p:sp>
        <p:nvSpPr>
          <p:cNvPr id="7" name="文字_(1) ______ mol CO₂ 中含有的氧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 ______ mol CO₂ 中含有的氧原子数与1.5 mol H₂O 分子含有的氧原子数相同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。</a:t>
            </a:r>
          </a:p>
        </p:txBody>
      </p:sp>
      <p:sp>
        <p:nvSpPr>
          <p:cNvPr id="8" name="文字_(2) 等物质的量的O₂和臭氧（O₃)，其质量之"/>
          <p:cNvSpPr txBox="1"/>
          <p:nvPr/>
        </p:nvSpPr>
        <p:spPr>
          <a:xfrm>
            <a:off x="502920" y="23195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 等物质的量的O₂和臭氧（O₃)，其质量之比为 ______ 。若O₂和O₃质量相等，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则其原子数之比为o</a:t>
            </a:r>
          </a:p>
        </p:txBody>
      </p:sp>
      <p:sp>
        <p:nvSpPr>
          <p:cNvPr id="9" name="文字_(3)已知某气态氧化物化学式为RO₂，在标准状况"/>
          <p:cNvSpPr txBox="1"/>
          <p:nvPr/>
        </p:nvSpPr>
        <p:spPr>
          <a:xfrm>
            <a:off x="502920" y="312115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(3)已知某气态氧化物化学式为RO₂，在标准状况下，1.28g该氧化物的体积是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448mL，则R的摩尔质量为</a:t>
            </a:r>
          </a:p>
        </p:txBody>
      </p:sp>
      <p:sp>
        <p:nvSpPr>
          <p:cNvPr id="10" name="文字_含有的氧原子的物质的量为 ______ O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含有的氧原子的物质的量为 ______ O</a:t>
            </a:r>
          </a:p>
        </p:txBody>
      </p:sp>
      <p:sp>
        <p:nvSpPr>
          <p:cNvPr id="11" name="文字_解答题  ·  07-02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07-020</a:t>
            </a:r>
          </a:p>
        </p:txBody>
      </p:sp>
      <p:sp>
        <p:nvSpPr>
          <p:cNvPr id="12" name="文字_2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例题1</a:t>
            </a:r>
          </a:p>
        </p:txBody>
      </p:sp>
      <p:sp>
        <p:nvSpPr>
          <p:cNvPr id="5" name="文字_P14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P147</a:t>
            </a:r>
          </a:p>
        </p:txBody>
      </p:sp>
      <p:sp>
        <p:nvSpPr>
          <p:cNvPr id="6" name="文字_两个体积相等的集气瓶中分别装有CO和O₂，同温同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两个体积相等的集气瓶中分别装有CO和O₂，同温同压时，则两气体不相等的是</a:t>
            </a:r>
          </a:p>
        </p:txBody>
      </p:sp>
      <p:sp>
        <p:nvSpPr>
          <p:cNvPr id="7" name="文字_A. 物质的量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物质的量</a:t>
            </a:r>
          </a:p>
        </p:txBody>
      </p:sp>
      <p:sp>
        <p:nvSpPr>
          <p:cNvPr id="8" name="文字_B. 分子数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分子数</a:t>
            </a:r>
          </a:p>
        </p:txBody>
      </p:sp>
      <p:sp>
        <p:nvSpPr>
          <p:cNvPr id="9" name="文字_C. 密度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密度</a:t>
            </a:r>
          </a:p>
        </p:txBody>
      </p:sp>
      <p:sp>
        <p:nvSpPr>
          <p:cNvPr id="10" name="文字_D. 原子总数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原子总数</a:t>
            </a:r>
          </a:p>
        </p:txBody>
      </p:sp>
      <p:sp>
        <p:nvSpPr>
          <p:cNvPr id="11" name="文字_单选题  ·  07-02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07-021</a:t>
            </a:r>
          </a:p>
        </p:txBody>
      </p:sp>
      <p:sp>
        <p:nvSpPr>
          <p:cNvPr id="12" name="文字_2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例题2</a:t>
            </a:r>
          </a:p>
        </p:txBody>
      </p:sp>
      <p:sp>
        <p:nvSpPr>
          <p:cNvPr id="5" name="文字_P14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P147</a:t>
            </a:r>
          </a:p>
        </p:txBody>
      </p:sp>
      <p:sp>
        <p:nvSpPr>
          <p:cNvPr id="6" name="文字_同温同压下等体积的SO₂气体和CO₂气体，下列叙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同温同压下等体积的SO₂气体和CO₂气体，下列叙述中，正确的是</a:t>
            </a:r>
          </a:p>
        </p:txBody>
      </p:sp>
      <p:sp>
        <p:nvSpPr>
          <p:cNvPr id="7" name="文字_①分子数之比为11：16②质量之比为16：11③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①分子数之比为11：16②质量之比为16：11③密度之比为11：16④物质的量之比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为1：1</a:t>
            </a:r>
          </a:p>
        </p:txBody>
      </p:sp>
      <p:sp>
        <p:nvSpPr>
          <p:cNvPr id="8" name="文字_A. ①③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①③</a:t>
            </a:r>
          </a:p>
        </p:txBody>
      </p:sp>
      <p:sp>
        <p:nvSpPr>
          <p:cNvPr id="9" name="文字_B. ②④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②④</a:t>
            </a:r>
          </a:p>
        </p:txBody>
      </p:sp>
      <p:sp>
        <p:nvSpPr>
          <p:cNvPr id="10" name="文字_C. ②③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②③</a:t>
            </a:r>
          </a:p>
        </p:txBody>
      </p:sp>
      <p:sp>
        <p:nvSpPr>
          <p:cNvPr id="11" name="文字_D. ①④"/>
          <p:cNvSpPr txBox="1"/>
          <p:nvPr/>
        </p:nvSpPr>
        <p:spPr>
          <a:xfrm>
            <a:off x="502920" y="36362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①④</a:t>
            </a:r>
          </a:p>
        </p:txBody>
      </p:sp>
      <p:sp>
        <p:nvSpPr>
          <p:cNvPr id="12" name="文字_单选题  ·  07-02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07-022</a:t>
            </a:r>
          </a:p>
        </p:txBody>
      </p:sp>
      <p:sp>
        <p:nvSpPr>
          <p:cNvPr id="13" name="文字_2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例题3</a:t>
            </a:r>
          </a:p>
        </p:txBody>
      </p:sp>
      <p:sp>
        <p:nvSpPr>
          <p:cNvPr id="5" name="文字_P14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P147</a:t>
            </a:r>
          </a:p>
        </p:txBody>
      </p:sp>
      <p:sp>
        <p:nvSpPr>
          <p:cNvPr id="6" name="文字_同温同压下，在体积相同的两个密闭容器中分别装入甲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同温同压下，在体积相同的两个密闭容器中分别装入甲气体和乙气体，甲、乙的质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量之比为2：3。下列说法不正确的是</a:t>
            </a:r>
          </a:p>
        </p:txBody>
      </p:sp>
      <p:sp>
        <p:nvSpPr>
          <p:cNvPr id="7" name="文字_A. 甲和乙的摩尔质量之比为2：3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甲和乙的摩尔质量之比为2：3</a:t>
            </a:r>
          </a:p>
        </p:txBody>
      </p:sp>
      <p:sp>
        <p:nvSpPr>
          <p:cNvPr id="8" name="文字_B. 同温同压下甲和乙的密度之比为2：3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同温同压下甲和乙的密度之比为2：3</a:t>
            </a:r>
          </a:p>
        </p:txBody>
      </p:sp>
      <p:sp>
        <p:nvSpPr>
          <p:cNvPr id="9" name="文字_C. 等质量的甲和乙的分子数之比为3：2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等质量的甲和乙的分子数之比为3：2</a:t>
            </a:r>
          </a:p>
        </p:txBody>
      </p:sp>
      <p:sp>
        <p:nvSpPr>
          <p:cNvPr id="10" name="文字_D. 同温等体积等质量的甲和乙的压强之比为2：3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同温等体积等质量的甲和乙的压强之比为2：3</a:t>
            </a:r>
          </a:p>
        </p:txBody>
      </p:sp>
      <p:sp>
        <p:nvSpPr>
          <p:cNvPr id="11" name="文字_单选题  ·  07-02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07-023</a:t>
            </a:r>
          </a:p>
        </p:txBody>
      </p:sp>
      <p:sp>
        <p:nvSpPr>
          <p:cNvPr id="12" name="文字_3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例题4</a:t>
            </a:r>
          </a:p>
        </p:txBody>
      </p:sp>
      <p:sp>
        <p:nvSpPr>
          <p:cNvPr id="5" name="文字_P14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P147</a:t>
            </a:r>
          </a:p>
        </p:txBody>
      </p:sp>
      <p:sp>
        <p:nvSpPr>
          <p:cNvPr id="6" name="文字_常温时，向两个均为VL的恒容密闭容器中分别充入无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常温时，向两个均为VL的恒容密闭容器中分别充入无色H₂S气体和黄绿色Cl₂气体(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如图所示)，使得两容器内压强均为p。已知：H₂S + Cl₂ = 2HCl + S，下列说法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3328"/>
            <a:ext cx="11064240" cy="1385901"/>
          </a:xfrm>
          <a:prstGeom prst="rect">
            <a:avLst/>
          </a:prstGeom>
        </p:spPr>
      </p:pic>
      <p:sp>
        <p:nvSpPr>
          <p:cNvPr id="8" name="原题文字_147_36"/>
          <p:cNvSpPr txBox="1"/>
          <p:nvPr/>
        </p:nvSpPr>
        <p:spPr>
          <a:xfrm>
            <a:off x="1551917" y="2313496"/>
            <a:ext cx="322855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K</a:t>
            </a:r>
          </a:p>
        </p:txBody>
      </p:sp>
      <p:sp>
        <p:nvSpPr>
          <p:cNvPr id="9" name="原题文字_147_37"/>
          <p:cNvSpPr txBox="1"/>
          <p:nvPr/>
        </p:nvSpPr>
        <p:spPr>
          <a:xfrm>
            <a:off x="763255" y="2581488"/>
            <a:ext cx="598504" cy="50765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8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H₂S</a:t>
            </a:r>
          </a:p>
        </p:txBody>
      </p:sp>
      <p:sp>
        <p:nvSpPr>
          <p:cNvPr id="10" name="原题文字_147_38"/>
          <p:cNvSpPr txBox="1"/>
          <p:nvPr/>
        </p:nvSpPr>
        <p:spPr>
          <a:xfrm>
            <a:off x="2049616" y="2566174"/>
            <a:ext cx="506621" cy="55742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Cl₂</a:t>
            </a:r>
          </a:p>
        </p:txBody>
      </p:sp>
      <p:sp>
        <p:nvSpPr>
          <p:cNvPr id="11" name="原题文字_147_39"/>
          <p:cNvSpPr txBox="1"/>
          <p:nvPr/>
        </p:nvSpPr>
        <p:spPr>
          <a:xfrm>
            <a:off x="579489" y="3301238"/>
            <a:ext cx="4618384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7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充入两种气体的物质的量: n (H₂S) &gt; n (Cl₂)</a:t>
            </a:r>
          </a:p>
        </p:txBody>
      </p:sp>
      <p:sp>
        <p:nvSpPr>
          <p:cNvPr id="12" name="文字_B. 充入两种气体的质量: m (H₂S) = "/>
          <p:cNvSpPr txBox="1"/>
          <p:nvPr/>
        </p:nvSpPr>
        <p:spPr>
          <a:xfrm>
            <a:off x="502920" y="3702381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充入两种气体的质量: m (H₂S) = m (Cl₂)</a:t>
            </a:r>
          </a:p>
        </p:txBody>
      </p:sp>
      <p:sp>
        <p:nvSpPr>
          <p:cNvPr id="13" name="文字_C. 打开K，充分反应后恢复至室温，最终容器内压"/>
          <p:cNvSpPr txBox="1"/>
          <p:nvPr/>
        </p:nvSpPr>
        <p:spPr>
          <a:xfrm>
            <a:off x="502920" y="4141293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打开K，充分反应后恢复至室温，最终容器内压强仍为p</a:t>
            </a:r>
          </a:p>
        </p:txBody>
      </p:sp>
      <p:sp>
        <p:nvSpPr>
          <p:cNvPr id="14" name="文字_D. 打开K，充分反应后，最终容器内气体颜色加深"/>
          <p:cNvSpPr txBox="1"/>
          <p:nvPr/>
        </p:nvSpPr>
        <p:spPr>
          <a:xfrm>
            <a:off x="502920" y="4580205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打开K，充分反应后，最终容器内气体颜色加深</a:t>
            </a:r>
          </a:p>
        </p:txBody>
      </p:sp>
      <p:sp>
        <p:nvSpPr>
          <p:cNvPr id="15" name="文字_单选题  ·  07-02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07-024</a:t>
            </a:r>
          </a:p>
        </p:txBody>
      </p:sp>
      <p:sp>
        <p:nvSpPr>
          <p:cNvPr id="16" name="文字_3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例题5</a:t>
            </a:r>
          </a:p>
        </p:txBody>
      </p:sp>
      <p:sp>
        <p:nvSpPr>
          <p:cNvPr id="5" name="文字_P147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P147</a:t>
            </a:r>
          </a:p>
        </p:txBody>
      </p:sp>
      <p:sp>
        <p:nvSpPr>
          <p:cNvPr id="6" name="文字_标况下，等质量的甲烷(CH₄)和乙烯(C₂H₄)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标况下，等质量的甲烷(CH₄)和乙烯(C₂H₄)相比较：①摩尔质量比4：7②密度比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为4：7③体积比为4：7④氢原子个数比7：4上述有关叙述中正确的是</a:t>
            </a:r>
          </a:p>
        </p:txBody>
      </p:sp>
      <p:sp>
        <p:nvSpPr>
          <p:cNvPr id="7" name="文字_A. ①③④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①③④</a:t>
            </a:r>
          </a:p>
        </p:txBody>
      </p:sp>
      <p:sp>
        <p:nvSpPr>
          <p:cNvPr id="8" name="文字_B. ①②④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①②④</a:t>
            </a:r>
          </a:p>
        </p:txBody>
      </p:sp>
      <p:sp>
        <p:nvSpPr>
          <p:cNvPr id="9" name="文字_C. ①②③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①②③</a:t>
            </a:r>
          </a:p>
        </p:txBody>
      </p:sp>
      <p:sp>
        <p:nvSpPr>
          <p:cNvPr id="10" name="文字_D. ②③④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②③④</a:t>
            </a:r>
          </a:p>
        </p:txBody>
      </p:sp>
      <p:sp>
        <p:nvSpPr>
          <p:cNvPr id="11" name="文字_单选题  ·  07-02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07-025</a:t>
            </a:r>
          </a:p>
        </p:txBody>
      </p:sp>
      <p:sp>
        <p:nvSpPr>
          <p:cNvPr id="12" name="文字_3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例题6</a:t>
            </a:r>
          </a:p>
        </p:txBody>
      </p:sp>
      <p:sp>
        <p:nvSpPr>
          <p:cNvPr id="5" name="文字_P14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P148</a:t>
            </a:r>
          </a:p>
        </p:txBody>
      </p:sp>
      <p:sp>
        <p:nvSpPr>
          <p:cNvPr id="6" name="文字_标况下，某容积固定的密闭容器由可移动的活塞隔成甲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标况下，某容积固定的密闭容器由可移动的活塞隔成甲、乙两室，向甲中充入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8.5gH₂和O₂的混合气体，向乙中充入5.6LN₂，此时活塞的位置如图所示。下列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有关说法不正确的是(忽略产物液态水的体积)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3328"/>
            <a:ext cx="11064240" cy="2067366"/>
          </a:xfrm>
          <a:prstGeom prst="rect">
            <a:avLst/>
          </a:prstGeom>
        </p:spPr>
      </p:pic>
      <p:sp>
        <p:nvSpPr>
          <p:cNvPr id="8" name="原题文字_148_5"/>
          <p:cNvSpPr txBox="1"/>
          <p:nvPr/>
        </p:nvSpPr>
        <p:spPr>
          <a:xfrm>
            <a:off x="1643800" y="2581488"/>
            <a:ext cx="414738" cy="477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31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甲</a:t>
            </a:r>
          </a:p>
        </p:txBody>
      </p:sp>
      <p:sp>
        <p:nvSpPr>
          <p:cNvPr id="9" name="原题文字_148_6"/>
          <p:cNvSpPr txBox="1"/>
          <p:nvPr/>
        </p:nvSpPr>
        <p:spPr>
          <a:xfrm>
            <a:off x="3489116" y="2589145"/>
            <a:ext cx="414738" cy="46783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26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乙</a:t>
            </a:r>
          </a:p>
        </p:txBody>
      </p:sp>
      <p:sp>
        <p:nvSpPr>
          <p:cNvPr id="10" name="原题文字_148_7"/>
          <p:cNvSpPr txBox="1"/>
          <p:nvPr/>
        </p:nvSpPr>
        <p:spPr>
          <a:xfrm>
            <a:off x="1153757" y="3301238"/>
            <a:ext cx="269257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</a:t>
            </a:r>
          </a:p>
        </p:txBody>
      </p:sp>
      <p:sp>
        <p:nvSpPr>
          <p:cNvPr id="11" name="原题文字_148_8"/>
          <p:cNvSpPr txBox="1"/>
          <p:nvPr/>
        </p:nvSpPr>
        <p:spPr>
          <a:xfrm>
            <a:off x="1705055" y="3293581"/>
            <a:ext cx="430052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8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2" name="原题文字_148_9"/>
          <p:cNvSpPr txBox="1"/>
          <p:nvPr/>
        </p:nvSpPr>
        <p:spPr>
          <a:xfrm>
            <a:off x="2286980" y="3293581"/>
            <a:ext cx="391768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</a:t>
            </a:r>
          </a:p>
        </p:txBody>
      </p:sp>
      <p:sp>
        <p:nvSpPr>
          <p:cNvPr id="13" name="原题文字_148_10"/>
          <p:cNvSpPr txBox="1"/>
          <p:nvPr/>
        </p:nvSpPr>
        <p:spPr>
          <a:xfrm>
            <a:off x="2983759" y="3308895"/>
            <a:ext cx="338169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</a:t>
            </a:r>
          </a:p>
        </p:txBody>
      </p:sp>
      <p:sp>
        <p:nvSpPr>
          <p:cNvPr id="14" name="原题文字_148_11"/>
          <p:cNvSpPr txBox="1"/>
          <p:nvPr/>
        </p:nvSpPr>
        <p:spPr>
          <a:xfrm>
            <a:off x="3542714" y="3293581"/>
            <a:ext cx="376454" cy="37825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83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  <p:sp>
        <p:nvSpPr>
          <p:cNvPr id="15" name="原题文字_148_12"/>
          <p:cNvSpPr txBox="1"/>
          <p:nvPr/>
        </p:nvSpPr>
        <p:spPr>
          <a:xfrm>
            <a:off x="4247150" y="3324208"/>
            <a:ext cx="269257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6</a:t>
            </a:r>
          </a:p>
        </p:txBody>
      </p:sp>
      <p:sp>
        <p:nvSpPr>
          <p:cNvPr id="16" name="原题文字_148_13"/>
          <p:cNvSpPr txBox="1"/>
          <p:nvPr/>
        </p:nvSpPr>
        <p:spPr>
          <a:xfrm>
            <a:off x="579489" y="3607514"/>
            <a:ext cx="4243195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5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甲室混合气体的原子总数约为6.02×1023</a:t>
            </a:r>
          </a:p>
        </p:txBody>
      </p:sp>
      <p:sp>
        <p:nvSpPr>
          <p:cNvPr id="17" name="原题文字_148_14"/>
          <p:cNvSpPr txBox="1"/>
          <p:nvPr/>
        </p:nvSpPr>
        <p:spPr>
          <a:xfrm>
            <a:off x="571832" y="4005674"/>
            <a:ext cx="3071687" cy="33843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3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甲室H₂和O₂的体积比为1：1</a:t>
            </a:r>
          </a:p>
        </p:txBody>
      </p:sp>
      <p:sp>
        <p:nvSpPr>
          <p:cNvPr id="18" name="文字_C. 甲室混合气体的密度是同温同压时H₂密度的1"/>
          <p:cNvSpPr txBox="1"/>
          <p:nvPr/>
        </p:nvSpPr>
        <p:spPr>
          <a:xfrm>
            <a:off x="502920" y="438384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甲室混合气体的密度是同温同压时H₂密度的17倍</a:t>
            </a:r>
          </a:p>
        </p:txBody>
      </p:sp>
      <p:sp>
        <p:nvSpPr>
          <p:cNvPr id="19" name="文字_D. 若将甲室H₂和O₂的混合气体点燃引爆，恢复"/>
          <p:cNvSpPr txBox="1"/>
          <p:nvPr/>
        </p:nvSpPr>
        <p:spPr>
          <a:xfrm>
            <a:off x="502920" y="482275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若将甲室H₂和O₂的混合气体点燃引爆，恢复标况后，最终活塞停留在刻度2处</a:t>
            </a:r>
          </a:p>
        </p:txBody>
      </p:sp>
      <p:sp>
        <p:nvSpPr>
          <p:cNvPr id="20" name="文字_单选题  ·  07-02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07-026</a:t>
            </a:r>
          </a:p>
        </p:txBody>
      </p:sp>
      <p:sp>
        <p:nvSpPr>
          <p:cNvPr id="21" name="文字_3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例题7</a:t>
            </a:r>
          </a:p>
        </p:txBody>
      </p:sp>
      <p:sp>
        <p:nvSpPr>
          <p:cNvPr id="5" name="文字_P14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P148</a:t>
            </a:r>
          </a:p>
        </p:txBody>
      </p:sp>
      <p:sp>
        <p:nvSpPr>
          <p:cNvPr id="6" name="文字_同温同压下，将V(H₂):V(CO₂) = 3: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同温同压下，将V(H₂):V(CO₂) = 3:1的气体均匀混合，下列关于该混合气体的说法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错误的是</a:t>
            </a:r>
          </a:p>
        </p:txBody>
      </p:sp>
      <p:sp>
        <p:nvSpPr>
          <p:cNvPr id="7" name="文字_A. H₂与CO₂的分子数目之比为3:1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H₂与CO₂的分子数目之比为3:1</a:t>
            </a:r>
          </a:p>
        </p:txBody>
      </p:sp>
      <p:sp>
        <p:nvSpPr>
          <p:cNvPr id="8" name="文字_B. H₂与CO₂的质量之比为3:22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H₂与CO₂的质量之比为3:22</a:t>
            </a:r>
          </a:p>
        </p:txBody>
      </p:sp>
      <p:sp>
        <p:nvSpPr>
          <p:cNvPr id="9" name="文字_C. 该混合气体与O₂的密度之比为25:64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该混合气体与O₂的密度之比为25:64</a:t>
            </a:r>
          </a:p>
        </p:txBody>
      </p:sp>
      <p:sp>
        <p:nvSpPr>
          <p:cNvPr id="10" name="文字_D. 混合气体的平均摩尔质量为25g·mol−¹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混合气体的平均摩尔质量为25g·mol−¹</a:t>
            </a:r>
          </a:p>
        </p:txBody>
      </p:sp>
      <p:sp>
        <p:nvSpPr>
          <p:cNvPr id="11" name="文字_单选题  ·  07-02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07-027</a:t>
            </a:r>
          </a:p>
        </p:txBody>
      </p:sp>
      <p:sp>
        <p:nvSpPr>
          <p:cNvPr id="12" name="文字_3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例题8</a:t>
            </a:r>
          </a:p>
        </p:txBody>
      </p:sp>
      <p:sp>
        <p:nvSpPr>
          <p:cNvPr id="5" name="文字_P14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P148</a:t>
            </a:r>
          </a:p>
        </p:txBody>
      </p:sp>
      <p:sp>
        <p:nvSpPr>
          <p:cNvPr id="6" name="文字_某温度下，向图中所示a、b中分别通入等质量的CH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某温度下，向图中所示a、b中分别通入等质量的CH₄和O₂(密封隔板I、Ⅱ可自由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滑动，且与容器内壁的摩擦忽略不计)。下列说法不正确的是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0616"/>
            <a:ext cx="11064240" cy="1562010"/>
          </a:xfrm>
          <a:prstGeom prst="rect">
            <a:avLst/>
          </a:prstGeom>
        </p:spPr>
      </p:pic>
      <p:sp>
        <p:nvSpPr>
          <p:cNvPr id="8" name="原题文字_148_30"/>
          <p:cNvSpPr txBox="1"/>
          <p:nvPr/>
        </p:nvSpPr>
        <p:spPr>
          <a:xfrm>
            <a:off x="587146" y="1958441"/>
            <a:ext cx="2260055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a中通入的气体是O₂</a:t>
            </a:r>
          </a:p>
        </p:txBody>
      </p:sp>
      <p:sp>
        <p:nvSpPr>
          <p:cNvPr id="9" name="原题文字_148_31"/>
          <p:cNvSpPr txBox="1"/>
          <p:nvPr/>
        </p:nvSpPr>
        <p:spPr>
          <a:xfrm>
            <a:off x="564175" y="2333630"/>
            <a:ext cx="3002775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a和b中原子个数之比为2：5</a:t>
            </a:r>
          </a:p>
        </p:txBody>
      </p:sp>
      <p:sp>
        <p:nvSpPr>
          <p:cNvPr id="10" name="原题文字_148_32"/>
          <p:cNvSpPr txBox="1"/>
          <p:nvPr/>
        </p:nvSpPr>
        <p:spPr>
          <a:xfrm>
            <a:off x="8297657" y="2402542"/>
            <a:ext cx="223316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1" name="原题文字_148_33"/>
          <p:cNvSpPr txBox="1"/>
          <p:nvPr/>
        </p:nvSpPr>
        <p:spPr>
          <a:xfrm>
            <a:off x="9675902" y="2440826"/>
            <a:ext cx="238629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2" name="原题文字_148_34"/>
          <p:cNvSpPr txBox="1"/>
          <p:nvPr/>
        </p:nvSpPr>
        <p:spPr>
          <a:xfrm>
            <a:off x="571832" y="2716475"/>
            <a:ext cx="2987461" cy="3483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88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a和b中气体密度之比是2：1</a:t>
            </a:r>
          </a:p>
        </p:txBody>
      </p:sp>
      <p:sp>
        <p:nvSpPr>
          <p:cNvPr id="13" name="原题文字_148_35"/>
          <p:cNvSpPr txBox="1"/>
          <p:nvPr/>
        </p:nvSpPr>
        <p:spPr>
          <a:xfrm>
            <a:off x="587146" y="3122292"/>
            <a:ext cx="2344281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a和b的体积比为1：2</a:t>
            </a:r>
          </a:p>
        </p:txBody>
      </p:sp>
      <p:sp>
        <p:nvSpPr>
          <p:cNvPr id="14" name="原题文字_148_36"/>
          <p:cNvSpPr txBox="1"/>
          <p:nvPr/>
        </p:nvSpPr>
        <p:spPr>
          <a:xfrm>
            <a:off x="8787700" y="3175890"/>
            <a:ext cx="230973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</a:t>
            </a:r>
          </a:p>
        </p:txBody>
      </p:sp>
      <p:sp>
        <p:nvSpPr>
          <p:cNvPr id="15" name="原题文字_148_37"/>
          <p:cNvSpPr txBox="1"/>
          <p:nvPr/>
        </p:nvSpPr>
        <p:spPr>
          <a:xfrm>
            <a:off x="10418622" y="3183547"/>
            <a:ext cx="284571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II</a:t>
            </a:r>
          </a:p>
        </p:txBody>
      </p:sp>
      <p:sp>
        <p:nvSpPr>
          <p:cNvPr id="16" name="文字_单选题  ·  07-02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07-028</a:t>
            </a:r>
          </a:p>
        </p:txBody>
      </p:sp>
      <p:sp>
        <p:nvSpPr>
          <p:cNvPr id="17" name="文字_3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例题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例题9</a:t>
            </a:r>
          </a:p>
        </p:txBody>
      </p:sp>
      <p:sp>
        <p:nvSpPr>
          <p:cNvPr id="5" name="文字_P148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P148</a:t>
            </a:r>
          </a:p>
        </p:txBody>
      </p:sp>
      <p:sp>
        <p:nvSpPr>
          <p:cNvPr id="6" name="文字_阿伏伽德罗定律及其推论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阿伏伽德罗定律及其推论</a:t>
            </a:r>
          </a:p>
        </p:txBody>
      </p:sp>
      <p:sp>
        <p:nvSpPr>
          <p:cNvPr id="7" name="文字_(1)在体积相同的两个密闭容器中分别充满以下两种"/>
          <p:cNvSpPr txBox="1"/>
          <p:nvPr/>
        </p:nvSpPr>
        <p:spPr>
          <a:xfrm>
            <a:off x="502920" y="1517904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(1)在体积相同的两个密闭容器中分别充满以下两种气体：①氧气②二氧化硫，并保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持两容器内气体的温度和密度均相等，则两气体的物质的量之比 ______ ，质量比 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_____ ，原子个数比 ______ ，两装置的压强比o</a:t>
            </a:r>
          </a:p>
        </p:txBody>
      </p:sp>
      <p:sp>
        <p:nvSpPr>
          <p:cNvPr id="8" name="文字_(2)同温、同压下，A容器中充满18O₂，B容器"/>
          <p:cNvSpPr txBox="1"/>
          <p:nvPr/>
        </p:nvSpPr>
        <p:spPr>
          <a:xfrm>
            <a:off x="502920" y="2682240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(2)同温、同压下，A容器中充满18O₂，B容器中充满O₃，两装置所含分子总数相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等，则A容器和B容器的容积之比是 ，密度之比为</a:t>
            </a:r>
          </a:p>
        </p:txBody>
      </p:sp>
      <p:sp>
        <p:nvSpPr>
          <p:cNvPr id="9" name="文字_(3)同温同压时，A容器中的NH₃和B容器中的C"/>
          <p:cNvSpPr txBox="1"/>
          <p:nvPr/>
        </p:nvSpPr>
        <p:spPr>
          <a:xfrm>
            <a:off x="502920" y="3483863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(3)同温同压时，A容器中的NH₃和B容器中的C₂H₄气所含的氢原子数相等，则A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、B两容器的体积比为</a:t>
            </a:r>
          </a:p>
        </p:txBody>
      </p:sp>
      <p:sp>
        <p:nvSpPr>
          <p:cNvPr id="10" name="文字_解答题  ·  07-02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解答题  ·  07-029</a:t>
            </a:r>
          </a:p>
        </p:txBody>
      </p:sp>
      <p:sp>
        <p:nvSpPr>
          <p:cNvPr id="11" name="文字_3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变式1</a:t>
            </a:r>
          </a:p>
        </p:txBody>
      </p:sp>
      <p:sp>
        <p:nvSpPr>
          <p:cNvPr id="5" name="文字_P14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P149</a:t>
            </a:r>
          </a:p>
        </p:txBody>
      </p:sp>
      <p:sp>
        <p:nvSpPr>
          <p:cNvPr id="6" name="文字_下列各组物质中，分子数相同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下列各组物质中，分子数相同的是</a:t>
            </a:r>
          </a:p>
        </p:txBody>
      </p:sp>
      <p:sp>
        <p:nvSpPr>
          <p:cNvPr id="7" name="文字_A. 同压、同体积的N₂和O₂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同压、同体积的N₂和O₂</a:t>
            </a:r>
          </a:p>
        </p:txBody>
      </p:sp>
      <p:sp>
        <p:nvSpPr>
          <p:cNvPr id="8" name="文字_B. 同温、同体积的CO与CO₂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同温、同体积的CO与CO₂</a:t>
            </a:r>
          </a:p>
        </p:txBody>
      </p:sp>
      <p:sp>
        <p:nvSpPr>
          <p:cNvPr id="9" name="文字_C. 常温常压下，相同体积的酒精(C₂H₆O)和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常温常压下，相同体积的酒精(C₂H₆O)和CH₄</a:t>
            </a:r>
          </a:p>
        </p:txBody>
      </p:sp>
      <p:sp>
        <p:nvSpPr>
          <p:cNvPr id="10" name="文字_D. 同体积、同密度的CO和N₂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同体积、同密度的CO和N₂</a:t>
            </a:r>
          </a:p>
        </p:txBody>
      </p:sp>
      <p:sp>
        <p:nvSpPr>
          <p:cNvPr id="11" name="文字_单选题  ·  07-03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07-030</a:t>
            </a:r>
          </a:p>
        </p:txBody>
      </p:sp>
      <p:sp>
        <p:nvSpPr>
          <p:cNvPr id="12" name="文字_3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变式2</a:t>
            </a:r>
          </a:p>
        </p:txBody>
      </p:sp>
      <p:sp>
        <p:nvSpPr>
          <p:cNvPr id="5" name="文字_P14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P149</a:t>
            </a:r>
          </a:p>
        </p:txBody>
      </p:sp>
      <p:sp>
        <p:nvSpPr>
          <p:cNvPr id="6" name="文字_设NA表示阿伏加德罗常数的值，下列叙述中正确的个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设NA表示阿伏加德罗常数的值，下列叙述中正确的个数是</a:t>
            </a:r>
          </a:p>
        </p:txBody>
      </p:sp>
      <p:sp>
        <p:nvSpPr>
          <p:cNvPr id="7" name="文字_①摩尔是基本的物理量之一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①摩尔是基本的物理量之一</a:t>
            </a:r>
          </a:p>
        </p:txBody>
      </p:sp>
      <p:sp>
        <p:nvSpPr>
          <p:cNvPr id="8" name="文字_W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W</a:t>
            </a:r>
          </a:p>
        </p:txBody>
      </p:sp>
      <p:sp>
        <p:nvSpPr>
          <p:cNvPr id="9" name="文字_②某原子的质量为ag，Wg该原子的物质的量为 m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②某原子的质量为ag，Wg该原子的物质的量为 mol</a:t>
            </a:r>
          </a:p>
        </p:txBody>
      </p:sp>
      <p:sp>
        <p:nvSpPr>
          <p:cNvPr id="10" name="文字_aNA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aNA</a:t>
            </a:r>
          </a:p>
        </p:txBody>
      </p:sp>
      <p:sp>
        <p:nvSpPr>
          <p:cNvPr id="11" name="文字_③同温同体积时，气体的物质的量越大，压强越大"/>
          <p:cNvSpPr txBox="1"/>
          <p:nvPr/>
        </p:nvSpPr>
        <p:spPr>
          <a:xfrm>
            <a:off x="502920" y="32735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③同温同体积时，气体的物质的量越大，压强越大</a:t>
            </a:r>
          </a:p>
        </p:txBody>
      </p:sp>
      <p:sp>
        <p:nvSpPr>
          <p:cNvPr id="12" name="文字_④同温同压时，气体的密度之比等于相对分子质量之比"/>
          <p:cNvSpPr txBox="1"/>
          <p:nvPr/>
        </p:nvSpPr>
        <p:spPr>
          <a:xfrm>
            <a:off x="502920" y="371246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④同温同压时，气体的密度之比等于相对分子质量之比</a:t>
            </a:r>
          </a:p>
        </p:txBody>
      </p:sp>
      <p:sp>
        <p:nvSpPr>
          <p:cNvPr id="13" name="文字_⑤同温同压时，等质量的CH₄和CO₂的体积之比为"/>
          <p:cNvSpPr txBox="1"/>
          <p:nvPr/>
        </p:nvSpPr>
        <p:spPr>
          <a:xfrm>
            <a:off x="502920" y="41513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⑤同温同压时，等质量的CH₄和CO₂的体积之比为11:4</a:t>
            </a:r>
          </a:p>
        </p:txBody>
      </p:sp>
      <p:sp>
        <p:nvSpPr>
          <p:cNvPr id="14" name="文字_A. 2个"/>
          <p:cNvSpPr txBox="1"/>
          <p:nvPr/>
        </p:nvSpPr>
        <p:spPr>
          <a:xfrm>
            <a:off x="502920" y="459028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2个</a:t>
            </a:r>
          </a:p>
        </p:txBody>
      </p:sp>
      <p:sp>
        <p:nvSpPr>
          <p:cNvPr id="15" name="文字_B. 3个"/>
          <p:cNvSpPr txBox="1"/>
          <p:nvPr/>
        </p:nvSpPr>
        <p:spPr>
          <a:xfrm>
            <a:off x="502920" y="502920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3个</a:t>
            </a:r>
          </a:p>
        </p:txBody>
      </p:sp>
      <p:sp>
        <p:nvSpPr>
          <p:cNvPr id="16" name="文字_C. 4个"/>
          <p:cNvSpPr txBox="1"/>
          <p:nvPr/>
        </p:nvSpPr>
        <p:spPr>
          <a:xfrm>
            <a:off x="502920" y="54681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4个</a:t>
            </a:r>
          </a:p>
        </p:txBody>
      </p:sp>
      <p:sp>
        <p:nvSpPr>
          <p:cNvPr id="17" name="文字_D. 5个"/>
          <p:cNvSpPr txBox="1"/>
          <p:nvPr/>
        </p:nvSpPr>
        <p:spPr>
          <a:xfrm>
            <a:off x="502920" y="590702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5个</a:t>
            </a:r>
          </a:p>
        </p:txBody>
      </p:sp>
      <p:sp>
        <p:nvSpPr>
          <p:cNvPr id="18" name="文字_单选题  ·  07-03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07-031</a:t>
            </a:r>
          </a:p>
        </p:txBody>
      </p:sp>
      <p:sp>
        <p:nvSpPr>
          <p:cNvPr id="19" name="文字_3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3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变式3</a:t>
            </a:r>
          </a:p>
        </p:txBody>
      </p:sp>
      <p:sp>
        <p:nvSpPr>
          <p:cNvPr id="5" name="文字_P14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P149</a:t>
            </a:r>
          </a:p>
        </p:txBody>
      </p:sp>
      <p:sp>
        <p:nvSpPr>
          <p:cNvPr id="6" name="文字_标准状况下，物质的量相同的CH₄和NH₃比较，下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标准状况下，物质的量相同的CH₄和NH₃比较，下列结论正确的是</a:t>
            </a:r>
          </a:p>
        </p:txBody>
      </p:sp>
      <p:sp>
        <p:nvSpPr>
          <p:cNvPr id="7" name="文字_A. 两种气体的体积之比是1：1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两种气体的体积之比是1：1</a:t>
            </a:r>
          </a:p>
        </p:txBody>
      </p:sp>
      <p:sp>
        <p:nvSpPr>
          <p:cNvPr id="8" name="文字_B. 质量之比为17：16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质量之比为17：16</a:t>
            </a:r>
          </a:p>
        </p:txBody>
      </p:sp>
      <p:sp>
        <p:nvSpPr>
          <p:cNvPr id="9" name="文字_C. 电子个数之比为1：1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电子个数之比为1：1</a:t>
            </a:r>
          </a:p>
        </p:txBody>
      </p:sp>
      <p:sp>
        <p:nvSpPr>
          <p:cNvPr id="10" name="文字_D. 氢原子个数之比为4：3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氢原子个数之比为4：3</a:t>
            </a:r>
          </a:p>
        </p:txBody>
      </p:sp>
      <p:sp>
        <p:nvSpPr>
          <p:cNvPr id="11" name="文字_多选题  ·  07-032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多选题  ·  07-032</a:t>
            </a:r>
          </a:p>
        </p:txBody>
      </p:sp>
      <p:sp>
        <p:nvSpPr>
          <p:cNvPr id="12" name="文字_39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4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变式4</a:t>
            </a:r>
          </a:p>
        </p:txBody>
      </p:sp>
      <p:sp>
        <p:nvSpPr>
          <p:cNvPr id="5" name="文字_P14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P149</a:t>
            </a:r>
          </a:p>
        </p:txBody>
      </p:sp>
      <p:sp>
        <p:nvSpPr>
          <p:cNvPr id="6" name="文字_两个密闭容器甲和乙，甲的体积是乙的1.5倍。在甲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两个密闭容器甲和乙，甲的体积是乙的1.5倍。在甲和乙的容器中分别充入CO、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O₃气体，当这两个容器内温度和气体密度相等时，下列说法正确的是</a:t>
            </a:r>
          </a:p>
        </p:txBody>
      </p:sp>
      <p:sp>
        <p:nvSpPr>
          <p:cNvPr id="7" name="文字_A. 气体所含氧原子数：甲&lt;乙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气体所含氧原子数：甲&lt;乙</a:t>
            </a:r>
          </a:p>
        </p:txBody>
      </p:sp>
      <p:sp>
        <p:nvSpPr>
          <p:cNvPr id="8" name="文字_B. 气体压强：甲&lt;乙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气体压强：甲&lt;乙</a:t>
            </a:r>
          </a:p>
        </p:txBody>
      </p:sp>
      <p:sp>
        <p:nvSpPr>
          <p:cNvPr id="9" name="文字_C. 气体分子数：甲&lt;乙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气体分子数：甲&lt;乙</a:t>
            </a:r>
          </a:p>
        </p:txBody>
      </p:sp>
      <p:sp>
        <p:nvSpPr>
          <p:cNvPr id="10" name="文字_D. 气体质量：甲&lt;乙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气体质量：甲&lt;乙</a:t>
            </a:r>
          </a:p>
        </p:txBody>
      </p:sp>
      <p:sp>
        <p:nvSpPr>
          <p:cNvPr id="11" name="文字_单选题  ·  07-033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07-033</a:t>
            </a:r>
          </a:p>
        </p:txBody>
      </p:sp>
      <p:sp>
        <p:nvSpPr>
          <p:cNvPr id="12" name="文字_40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5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变式5</a:t>
            </a:r>
          </a:p>
        </p:txBody>
      </p:sp>
      <p:sp>
        <p:nvSpPr>
          <p:cNvPr id="5" name="文字_P149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P149</a:t>
            </a:r>
          </a:p>
        </p:txBody>
      </p:sp>
      <p:sp>
        <p:nvSpPr>
          <p:cNvPr id="6" name="文字_设NA为阿伏加德罗常数的值，下列说法正确的是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设NA为阿伏加德罗常数的值，下列说法正确的是</a:t>
            </a:r>
          </a:p>
        </p:txBody>
      </p:sp>
      <p:sp>
        <p:nvSpPr>
          <p:cNvPr id="7" name="文字_A. 将1molCl₂通入H₂O中，生成NA个H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将1molCl₂通入H₂O中，生成NA个HClO分子</a:t>
            </a:r>
          </a:p>
        </p:txBody>
      </p:sp>
      <p:sp>
        <p:nvSpPr>
          <p:cNvPr id="8" name="文字_B. 标准状况下，22.4LH₂O含有的分子数约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标准状况下，22.4LH₂O含有的分子数约为NA</a:t>
            </a:r>
          </a:p>
        </p:txBody>
      </p:sp>
      <p:sp>
        <p:nvSpPr>
          <p:cNvPr id="9" name="文字_C. 2.4g镁变成Mg²⁺时，失去的电子数目为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2.4g镁变成Mg²⁺时，失去的电子数目为0.1NA</a:t>
            </a:r>
          </a:p>
        </p:txBody>
      </p:sp>
      <p:sp>
        <p:nvSpPr>
          <p:cNvPr id="10" name="文字_D. 足量Fe在1molCl₂中燃烧，反应转移的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足量Fe在1molCl₂中燃烧，反应转移的电子数为2NA</a:t>
            </a:r>
          </a:p>
        </p:txBody>
      </p:sp>
      <p:sp>
        <p:nvSpPr>
          <p:cNvPr id="11" name="文字_单选题  ·  07-034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07-034</a:t>
            </a:r>
          </a:p>
        </p:txBody>
      </p:sp>
      <p:sp>
        <p:nvSpPr>
          <p:cNvPr id="12" name="文字_41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6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变式6</a:t>
            </a:r>
          </a:p>
        </p:txBody>
      </p:sp>
      <p:sp>
        <p:nvSpPr>
          <p:cNvPr id="5" name="文字_P15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P150</a:t>
            </a:r>
          </a:p>
        </p:txBody>
      </p:sp>
      <p:sp>
        <p:nvSpPr>
          <p:cNvPr id="6" name="文字_设NA为阿伏加德罗常数的值，下列说法正确的是（）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设NA为阿伏加德罗常数的值，下列说法正确的是（）</a:t>
            </a:r>
          </a:p>
        </p:txBody>
      </p:sp>
      <p:sp>
        <p:nvSpPr>
          <p:cNvPr id="7" name="文字_A. 常温常压下，0.1mol H₂中含有的质子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常温常压下，0.1mol H₂中含有的质子数为0.1NA</a:t>
            </a:r>
          </a:p>
        </p:txBody>
      </p:sp>
      <p:sp>
        <p:nvSpPr>
          <p:cNvPr id="8" name="文字_B. 标准状况下，11.2LH₂O中所含的氢原子"/>
          <p:cNvSpPr txBox="1"/>
          <p:nvPr/>
        </p:nvSpPr>
        <p:spPr>
          <a:xfrm>
            <a:off x="502920" y="19568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标准状况下，11.2LH₂O中所含的氢原子数为NA</a:t>
            </a:r>
          </a:p>
        </p:txBody>
      </p:sp>
      <p:sp>
        <p:nvSpPr>
          <p:cNvPr id="9" name="文字_C. 2.3g金属钠与水完全反应失去的电子数为0"/>
          <p:cNvSpPr txBox="1"/>
          <p:nvPr/>
        </p:nvSpPr>
        <p:spPr>
          <a:xfrm>
            <a:off x="502920" y="23957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2.3g金属钠与水完全反应失去的电子数为0.1NA</a:t>
            </a:r>
          </a:p>
        </p:txBody>
      </p:sp>
      <p:sp>
        <p:nvSpPr>
          <p:cNvPr id="10" name="文字_D. 1mol NaHCO₃完全分解，得到CO₂"/>
          <p:cNvSpPr txBox="1"/>
          <p:nvPr/>
        </p:nvSpPr>
        <p:spPr>
          <a:xfrm>
            <a:off x="502920" y="28346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1mol NaHCO₃完全分解，得到CO₂的分子个数为NA</a:t>
            </a:r>
          </a:p>
        </p:txBody>
      </p:sp>
      <p:sp>
        <p:nvSpPr>
          <p:cNvPr id="11" name="文字_单选题  ·  07-035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07-035</a:t>
            </a:r>
          </a:p>
        </p:txBody>
      </p:sp>
      <p:sp>
        <p:nvSpPr>
          <p:cNvPr id="12" name="文字_42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7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变式7</a:t>
            </a:r>
          </a:p>
        </p:txBody>
      </p:sp>
      <p:sp>
        <p:nvSpPr>
          <p:cNvPr id="5" name="文字_P15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P150</a:t>
            </a:r>
          </a:p>
        </p:txBody>
      </p:sp>
      <p:sp>
        <p:nvSpPr>
          <p:cNvPr id="6" name="文字_在甲、乙两个体积不同的密闭容器中，分别充入质量相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在甲、乙两个体积不同的密闭容器中，分别充入质量相等的CO、CO₂气体时，两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容器的温度和压强均相同，则下列说法正确的是</a:t>
            </a:r>
          </a:p>
        </p:txBody>
      </p:sp>
      <p:sp>
        <p:nvSpPr>
          <p:cNvPr id="7" name="文字_A. 充入的CO分子数比CO₂分子数少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充入的CO分子数比CO₂分子数少</a:t>
            </a:r>
          </a:p>
        </p:txBody>
      </p:sp>
      <p:sp>
        <p:nvSpPr>
          <p:cNvPr id="8" name="文字_B. 甲容器的体积比乙容器的体积小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甲容器的体积比乙容器的体积小</a:t>
            </a:r>
          </a:p>
        </p:txBody>
      </p:sp>
      <p:sp>
        <p:nvSpPr>
          <p:cNvPr id="9" name="文字_C. CO的摩尔体积比CO₂的摩尔体积小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CO的摩尔体积比CO₂的摩尔体积小</a:t>
            </a:r>
          </a:p>
        </p:txBody>
      </p:sp>
      <p:sp>
        <p:nvSpPr>
          <p:cNvPr id="10" name="文字_D. 若将压强相同改为体积相同，则甲容器中的压强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若将压强相同改为体积相同，则甲容器中的压强比乙容器的压强大</a:t>
            </a:r>
          </a:p>
        </p:txBody>
      </p:sp>
      <p:sp>
        <p:nvSpPr>
          <p:cNvPr id="11" name="文字_单选题  ·  07-036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07-036</a:t>
            </a:r>
          </a:p>
        </p:txBody>
      </p:sp>
      <p:sp>
        <p:nvSpPr>
          <p:cNvPr id="12" name="文字_43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8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变式8</a:t>
            </a:r>
          </a:p>
        </p:txBody>
      </p:sp>
      <p:sp>
        <p:nvSpPr>
          <p:cNvPr id="5" name="文字_P150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P150</a:t>
            </a:r>
          </a:p>
        </p:txBody>
      </p:sp>
      <p:sp>
        <p:nvSpPr>
          <p:cNvPr id="6" name="文字_同温同压下，ag甲气体和2ag乙气体所占的体积之"/>
          <p:cNvSpPr txBox="1"/>
          <p:nvPr/>
        </p:nvSpPr>
        <p:spPr>
          <a:xfrm>
            <a:off x="502920" y="107899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同温同压下，ag甲气体和2ag乙气体所占的体积之比为1：2，根据阿伏加德罗定律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判断，下列叙述不正确的是</a:t>
            </a:r>
          </a:p>
        </p:txBody>
      </p:sp>
      <p:sp>
        <p:nvSpPr>
          <p:cNvPr id="7" name="文字_A. 同温同压下甲和乙的密度之比为1：1"/>
          <p:cNvSpPr txBox="1"/>
          <p:nvPr/>
        </p:nvSpPr>
        <p:spPr>
          <a:xfrm>
            <a:off x="502920" y="188061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同温同压下甲和乙的密度之比为1：1</a:t>
            </a:r>
          </a:p>
        </p:txBody>
      </p:sp>
      <p:sp>
        <p:nvSpPr>
          <p:cNvPr id="8" name="文字_B. 甲与乙的摩尔质量之比为1：1"/>
          <p:cNvSpPr txBox="1"/>
          <p:nvPr/>
        </p:nvSpPr>
        <p:spPr>
          <a:xfrm>
            <a:off x="502920" y="2319528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甲与乙的摩尔质量之比为1：1</a:t>
            </a:r>
          </a:p>
        </p:txBody>
      </p:sp>
      <p:sp>
        <p:nvSpPr>
          <p:cNvPr id="9" name="文字_C. 等质量的甲和乙的分子数之比为1：2"/>
          <p:cNvSpPr txBox="1"/>
          <p:nvPr/>
        </p:nvSpPr>
        <p:spPr>
          <a:xfrm>
            <a:off x="502920" y="2758440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等质量的甲和乙的分子数之比为1：2</a:t>
            </a:r>
          </a:p>
        </p:txBody>
      </p:sp>
      <p:sp>
        <p:nvSpPr>
          <p:cNvPr id="10" name="文字_D. 同温同体积下等质量的甲和乙的压强之比为1："/>
          <p:cNvSpPr txBox="1"/>
          <p:nvPr/>
        </p:nvSpPr>
        <p:spPr>
          <a:xfrm>
            <a:off x="502920" y="319735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同温同体积下等质量的甲和乙的压强之比为1：1</a:t>
            </a:r>
          </a:p>
        </p:txBody>
      </p:sp>
      <p:sp>
        <p:nvSpPr>
          <p:cNvPr id="11" name="文字_单选题  ·  07-037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07-037</a:t>
            </a:r>
          </a:p>
        </p:txBody>
      </p:sp>
      <p:sp>
        <p:nvSpPr>
          <p:cNvPr id="12" name="文字_44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9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变式9</a:t>
            </a:r>
          </a:p>
        </p:txBody>
      </p:sp>
      <p:sp>
        <p:nvSpPr>
          <p:cNvPr id="5" name="文字_P15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P151</a:t>
            </a:r>
          </a:p>
        </p:txBody>
      </p:sp>
      <p:sp>
        <p:nvSpPr>
          <p:cNvPr id="6" name="文字_如图，在一个容积固定的恒温容器中，有两个可左右滑"/>
          <p:cNvSpPr txBox="1"/>
          <p:nvPr/>
        </p:nvSpPr>
        <p:spPr>
          <a:xfrm>
            <a:off x="502920" y="1078992"/>
            <a:ext cx="11064240" cy="1164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如图，在一个容积固定的恒温容器中，有两个可左右滑动的密封隔板，在A、B、C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内分别充入等质量的X、H₂、Y三种气体，当隔板静止时，A中气体密度比C中气体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密度大。下列说法不正确的是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43328"/>
            <a:ext cx="11064240" cy="1630922"/>
          </a:xfrm>
          <a:prstGeom prst="rect">
            <a:avLst/>
          </a:prstGeom>
        </p:spPr>
      </p:pic>
      <p:sp>
        <p:nvSpPr>
          <p:cNvPr id="8" name="原题文字_151_5"/>
          <p:cNvSpPr txBox="1"/>
          <p:nvPr/>
        </p:nvSpPr>
        <p:spPr>
          <a:xfrm>
            <a:off x="1268611" y="2275211"/>
            <a:ext cx="1884866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可移动无阻力隔板</a:t>
            </a:r>
          </a:p>
        </p:txBody>
      </p:sp>
      <p:sp>
        <p:nvSpPr>
          <p:cNvPr id="9" name="原题文字_151_6"/>
          <p:cNvSpPr txBox="1"/>
          <p:nvPr/>
        </p:nvSpPr>
        <p:spPr>
          <a:xfrm>
            <a:off x="1054217" y="2903078"/>
            <a:ext cx="322855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X</a:t>
            </a:r>
          </a:p>
        </p:txBody>
      </p:sp>
      <p:sp>
        <p:nvSpPr>
          <p:cNvPr id="10" name="原题文字_151_7"/>
          <p:cNvSpPr txBox="1"/>
          <p:nvPr/>
        </p:nvSpPr>
        <p:spPr>
          <a:xfrm>
            <a:off x="2003675" y="2895421"/>
            <a:ext cx="422395" cy="43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12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H₂</a:t>
            </a:r>
          </a:p>
        </p:txBody>
      </p:sp>
      <p:sp>
        <p:nvSpPr>
          <p:cNvPr id="11" name="原题文字_151_8"/>
          <p:cNvSpPr txBox="1"/>
          <p:nvPr/>
        </p:nvSpPr>
        <p:spPr>
          <a:xfrm>
            <a:off x="3037358" y="2918392"/>
            <a:ext cx="284571" cy="3284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9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Y</a:t>
            </a:r>
          </a:p>
        </p:txBody>
      </p:sp>
      <p:sp>
        <p:nvSpPr>
          <p:cNvPr id="12" name="原题文字_151_9"/>
          <p:cNvSpPr txBox="1"/>
          <p:nvPr/>
        </p:nvSpPr>
        <p:spPr>
          <a:xfrm>
            <a:off x="1077188" y="3285924"/>
            <a:ext cx="299885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3" name="原题文字_151_10"/>
          <p:cNvSpPr txBox="1"/>
          <p:nvPr/>
        </p:nvSpPr>
        <p:spPr>
          <a:xfrm>
            <a:off x="2064930" y="3285924"/>
            <a:ext cx="292228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4" name="原题文字_151_11"/>
          <p:cNvSpPr txBox="1"/>
          <p:nvPr/>
        </p:nvSpPr>
        <p:spPr>
          <a:xfrm>
            <a:off x="3037358" y="3285924"/>
            <a:ext cx="284571" cy="31852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543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</a:t>
            </a:r>
          </a:p>
        </p:txBody>
      </p:sp>
      <p:sp>
        <p:nvSpPr>
          <p:cNvPr id="15" name="原题文字_151_12"/>
          <p:cNvSpPr txBox="1"/>
          <p:nvPr/>
        </p:nvSpPr>
        <p:spPr>
          <a:xfrm>
            <a:off x="587146" y="3553916"/>
            <a:ext cx="3087001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3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A. 压强: p(X) = p (H₂) = p(Y)</a:t>
            </a:r>
          </a:p>
        </p:txBody>
      </p:sp>
      <p:sp>
        <p:nvSpPr>
          <p:cNvPr id="16" name="文字_B. 气体的体积: V(X) &lt; V(Y)"/>
          <p:cNvSpPr txBox="1"/>
          <p:nvPr/>
        </p:nvSpPr>
        <p:spPr>
          <a:xfrm>
            <a:off x="502920" y="394740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B. 气体的体积: V(X) &lt; V(Y)</a:t>
            </a:r>
          </a:p>
        </p:txBody>
      </p:sp>
      <p:sp>
        <p:nvSpPr>
          <p:cNvPr id="17" name="文字_C. 摩尔质量: M(X) &lt; M(Y)"/>
          <p:cNvSpPr txBox="1"/>
          <p:nvPr/>
        </p:nvSpPr>
        <p:spPr>
          <a:xfrm>
            <a:off x="502920" y="438631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C. 摩尔质量: M(X) &lt; M(Y)</a:t>
            </a:r>
          </a:p>
        </p:txBody>
      </p:sp>
      <p:sp>
        <p:nvSpPr>
          <p:cNvPr id="18" name="文字_D. 物质的量: n(X) &lt; n(Y)"/>
          <p:cNvSpPr txBox="1"/>
          <p:nvPr/>
        </p:nvSpPr>
        <p:spPr>
          <a:xfrm>
            <a:off x="502920" y="482522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D. 物质的量: n(X) &lt; n(Y)</a:t>
            </a:r>
          </a:p>
        </p:txBody>
      </p:sp>
      <p:sp>
        <p:nvSpPr>
          <p:cNvPr id="19" name="文字_单选题  ·  07-038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单选题  ·  07-038</a:t>
            </a:r>
          </a:p>
        </p:txBody>
      </p:sp>
      <p:sp>
        <p:nvSpPr>
          <p:cNvPr id="20" name="文字_45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10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变式10</a:t>
            </a:r>
          </a:p>
        </p:txBody>
      </p:sp>
      <p:sp>
        <p:nvSpPr>
          <p:cNvPr id="5" name="文字_P15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P151</a:t>
            </a:r>
          </a:p>
        </p:txBody>
      </p:sp>
      <p:sp>
        <p:nvSpPr>
          <p:cNvPr id="6" name="文字_O₂和O₃是氧元素的两种单质，根据其分子式完成下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O₂和O₃是氧元素的两种单质，根据其分子式完成下列各题。</a:t>
            </a:r>
          </a:p>
        </p:txBody>
      </p:sp>
      <p:sp>
        <p:nvSpPr>
          <p:cNvPr id="7" name="文字_(1)等质量的O₂和O₃所含分子个数比为 ___"/>
          <p:cNvSpPr txBox="1"/>
          <p:nvPr/>
        </p:nvSpPr>
        <p:spPr>
          <a:xfrm>
            <a:off x="502920" y="1517904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(1)等质量的O₂和O₃所含分子个数比为 ______ ，原子个数比为 ______ ，分子的物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质的量之比为</a:t>
            </a:r>
          </a:p>
        </p:txBody>
      </p:sp>
      <p:sp>
        <p:nvSpPr>
          <p:cNvPr id="8" name="文字_(2)等温等压下，等体积的O₂和O₃所含分子个数"/>
          <p:cNvSpPr txBox="1"/>
          <p:nvPr/>
        </p:nvSpPr>
        <p:spPr>
          <a:xfrm>
            <a:off x="502920" y="231952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(2)等温等压下，等体积的O₂和O₃所含分子个数比为 ______ ，原子个数比为 _____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_ 。质量之比为 ______ O</a:t>
            </a:r>
          </a:p>
        </p:txBody>
      </p:sp>
      <p:sp>
        <p:nvSpPr>
          <p:cNvPr id="9" name="文字_(3) 设NA为阿伏加德罗常数的数值，如果ag氧"/>
          <p:cNvSpPr txBox="1"/>
          <p:nvPr/>
        </p:nvSpPr>
        <p:spPr>
          <a:xfrm>
            <a:off x="502920" y="3121152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(3) 设NA为阿伏加德罗常数的数值，如果ag氧气中含有的分子数为b，那么cg氧气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在标准状况下的体积约是</a:t>
            </a:r>
          </a:p>
        </p:txBody>
      </p:sp>
      <p:sp>
        <p:nvSpPr>
          <p:cNvPr id="10" name="文字_(用含NA的式子表示)。"/>
          <p:cNvSpPr txBox="1"/>
          <p:nvPr/>
        </p:nvSpPr>
        <p:spPr>
          <a:xfrm>
            <a:off x="502920" y="3922776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(用含NA的式子表示)。</a:t>
            </a:r>
          </a:p>
        </p:txBody>
      </p:sp>
      <p:sp>
        <p:nvSpPr>
          <p:cNvPr id="11" name="文字_(4) ______ 将8gSO₃加入Xg水中，"/>
          <p:cNvSpPr txBox="1"/>
          <p:nvPr/>
        </p:nvSpPr>
        <p:spPr>
          <a:xfrm>
            <a:off x="502920" y="4361688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(4) ______ 将8gSO₃加入Xg水中，所形成的溶液里SO₄²⁻和水分子个数之比为1：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5，则X等于</a:t>
            </a:r>
          </a:p>
        </p:txBody>
      </p:sp>
      <p:sp>
        <p:nvSpPr>
          <p:cNvPr id="12" name="文字_(5) ______ 常温常压下，14g由N₂和"/>
          <p:cNvSpPr txBox="1"/>
          <p:nvPr/>
        </p:nvSpPr>
        <p:spPr>
          <a:xfrm>
            <a:off x="502920" y="516331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(5) ______ 常温常压下，14g由N₂和CO组成的混合气体中含有的原子数目为</a:t>
            </a:r>
          </a:p>
        </p:txBody>
      </p:sp>
      <p:sp>
        <p:nvSpPr>
          <p:cNvPr id="13" name="文字_填空题  ·  07-039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07-039</a:t>
            </a:r>
          </a:p>
        </p:txBody>
      </p:sp>
      <p:sp>
        <p:nvSpPr>
          <p:cNvPr id="14" name="文字_46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11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变式11</a:t>
            </a:r>
          </a:p>
        </p:txBody>
      </p:sp>
      <p:sp>
        <p:nvSpPr>
          <p:cNvPr id="5" name="文字_P15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P151</a:t>
            </a:r>
          </a:p>
        </p:txBody>
      </p:sp>
      <p:sp>
        <p:nvSpPr>
          <p:cNvPr id="6" name="文字_现有下列物质。"/>
          <p:cNvSpPr txBox="1"/>
          <p:nvPr/>
        </p:nvSpPr>
        <p:spPr>
          <a:xfrm>
            <a:off x="502920" y="1078992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现有下列物质。</a:t>
            </a:r>
          </a:p>
        </p:txBody>
      </p:sp>
      <p:sp>
        <p:nvSpPr>
          <p:cNvPr id="7" name="文字_①酒精 ②HI ③氨气 ④Ba(OH)₂溶液 ⑤"/>
          <p:cNvSpPr txBox="1"/>
          <p:nvPr/>
        </p:nvSpPr>
        <p:spPr>
          <a:xfrm>
            <a:off x="502920" y="1517904"/>
            <a:ext cx="11064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①酒精 ②HI ③氨气 ④Ba(OH)₂溶液 ⑤铁 ⑥小苏打 ⑦Fe(OH)₃胶体 ⑧硫酸</a:t>
            </a:r>
          </a:p>
        </p:txBody>
      </p:sp>
      <p:sp>
        <p:nvSpPr>
          <p:cNvPr id="8" name="文字_室温下，某容积固定的密闭容器由可移动的活塞隔成A"/>
          <p:cNvSpPr txBox="1"/>
          <p:nvPr/>
        </p:nvSpPr>
        <p:spPr>
          <a:xfrm>
            <a:off x="502920" y="1956816"/>
            <a:ext cx="11064240" cy="801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室温下，某容积固定的密闭容器由可移动的活塞隔成A、B两室，向A室充H₂、O₂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混合气体，向B室充入1mol空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58440"/>
            <a:ext cx="11064240" cy="1768747"/>
          </a:xfrm>
          <a:prstGeom prst="rect">
            <a:avLst/>
          </a:prstGeom>
        </p:spPr>
      </p:pic>
      <p:sp>
        <p:nvSpPr>
          <p:cNvPr id="10" name="原题文字_151_41"/>
          <p:cNvSpPr txBox="1"/>
          <p:nvPr/>
        </p:nvSpPr>
        <p:spPr>
          <a:xfrm>
            <a:off x="610116" y="2790323"/>
            <a:ext cx="2926206" cy="2986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4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气，此时活塞的位置如图所示。</a:t>
            </a:r>
          </a:p>
        </p:txBody>
      </p:sp>
      <p:sp>
        <p:nvSpPr>
          <p:cNvPr id="11" name="原题文字_151_42"/>
          <p:cNvSpPr txBox="1"/>
          <p:nvPr/>
        </p:nvSpPr>
        <p:spPr>
          <a:xfrm>
            <a:off x="1467691" y="3249738"/>
            <a:ext cx="246286" cy="25880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5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A</a:t>
            </a:r>
          </a:p>
        </p:txBody>
      </p:sp>
      <p:sp>
        <p:nvSpPr>
          <p:cNvPr id="12" name="原题文字_151_43"/>
          <p:cNvSpPr txBox="1"/>
          <p:nvPr/>
        </p:nvSpPr>
        <p:spPr>
          <a:xfrm>
            <a:off x="2983759" y="3242081"/>
            <a:ext cx="238629" cy="26875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302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B</a:t>
            </a:r>
          </a:p>
        </p:txBody>
      </p:sp>
      <p:sp>
        <p:nvSpPr>
          <p:cNvPr id="13" name="原题文字_151_44"/>
          <p:cNvSpPr txBox="1"/>
          <p:nvPr/>
        </p:nvSpPr>
        <p:spPr>
          <a:xfrm>
            <a:off x="1038903" y="3670868"/>
            <a:ext cx="154403" cy="199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1</a:t>
            </a:r>
          </a:p>
        </p:txBody>
      </p:sp>
      <p:sp>
        <p:nvSpPr>
          <p:cNvPr id="14" name="原题文字_151_45"/>
          <p:cNvSpPr txBox="1"/>
          <p:nvPr/>
        </p:nvSpPr>
        <p:spPr>
          <a:xfrm>
            <a:off x="1498318" y="3655554"/>
            <a:ext cx="200345" cy="23889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57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2</a:t>
            </a:r>
          </a:p>
        </p:txBody>
      </p:sp>
      <p:sp>
        <p:nvSpPr>
          <p:cNvPr id="15" name="原题文字_151_46"/>
          <p:cNvSpPr txBox="1"/>
          <p:nvPr/>
        </p:nvSpPr>
        <p:spPr>
          <a:xfrm>
            <a:off x="2041959" y="3663211"/>
            <a:ext cx="192688" cy="22894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9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3</a:t>
            </a:r>
          </a:p>
        </p:txBody>
      </p:sp>
      <p:sp>
        <p:nvSpPr>
          <p:cNvPr id="16" name="原题文字_151_47"/>
          <p:cNvSpPr txBox="1"/>
          <p:nvPr/>
        </p:nvSpPr>
        <p:spPr>
          <a:xfrm>
            <a:off x="2524345" y="3663211"/>
            <a:ext cx="192688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4</a:t>
            </a:r>
          </a:p>
        </p:txBody>
      </p:sp>
      <p:sp>
        <p:nvSpPr>
          <p:cNvPr id="17" name="原题文字_151_48"/>
          <p:cNvSpPr txBox="1"/>
          <p:nvPr/>
        </p:nvSpPr>
        <p:spPr>
          <a:xfrm>
            <a:off x="3014387" y="3670868"/>
            <a:ext cx="169717" cy="1990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64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5</a:t>
            </a:r>
          </a:p>
        </p:txBody>
      </p:sp>
      <p:sp>
        <p:nvSpPr>
          <p:cNvPr id="18" name="原题文字_151_49"/>
          <p:cNvSpPr txBox="1"/>
          <p:nvPr/>
        </p:nvSpPr>
        <p:spPr>
          <a:xfrm>
            <a:off x="3473802" y="3663211"/>
            <a:ext cx="192688" cy="2189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061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6</a:t>
            </a:r>
          </a:p>
        </p:txBody>
      </p:sp>
      <p:sp>
        <p:nvSpPr>
          <p:cNvPr id="19" name="原题文字_151_50"/>
          <p:cNvSpPr txBox="1"/>
          <p:nvPr/>
        </p:nvSpPr>
        <p:spPr>
          <a:xfrm>
            <a:off x="587146" y="3831664"/>
            <a:ext cx="10805170" cy="3583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6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实验测得A室混合气体的质量为34g，若将A室H₂、O₂的混合气体点燃，恢复原温度后，(非气体体积忽略不计)最终</a:t>
            </a:r>
          </a:p>
        </p:txBody>
      </p:sp>
      <p:sp>
        <p:nvSpPr>
          <p:cNvPr id="20" name="原题文字_151_51"/>
          <p:cNvSpPr txBox="1"/>
          <p:nvPr/>
        </p:nvSpPr>
        <p:spPr>
          <a:xfrm>
            <a:off x="594802" y="4222166"/>
            <a:ext cx="1800640" cy="3085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495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活塞停留的位置在</a:t>
            </a:r>
          </a:p>
        </p:txBody>
      </p:sp>
      <p:sp>
        <p:nvSpPr>
          <p:cNvPr id="21" name="原题文字_151_52"/>
          <p:cNvSpPr txBox="1"/>
          <p:nvPr/>
        </p:nvSpPr>
        <p:spPr>
          <a:xfrm>
            <a:off x="2945475" y="4199195"/>
            <a:ext cx="851183" cy="36829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9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刻度处。</a:t>
            </a:r>
          </a:p>
        </p:txBody>
      </p:sp>
      <p:sp>
        <p:nvSpPr>
          <p:cNvPr id="22" name="文字_填空题  ·  07-040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07-040</a:t>
            </a:r>
          </a:p>
        </p:txBody>
      </p:sp>
      <p:sp>
        <p:nvSpPr>
          <p:cNvPr id="23" name="文字_47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7_pi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54864"/>
            <a:ext cx="3337560" cy="96012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630168" y="356616"/>
            <a:ext cx="6903720" cy="393192"/>
          </a:xfrm>
          <a:prstGeom prst="roundRect">
            <a:avLst/>
          </a:prstGeom>
          <a:solidFill>
            <a:srgbClr val="F192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文字_阿伏加德罗定律及其推论应用 · 变式12"/>
          <p:cNvSpPr txBox="1"/>
          <p:nvPr/>
        </p:nvSpPr>
        <p:spPr>
          <a:xfrm>
            <a:off x="3767328" y="402336"/>
            <a:ext cx="66294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rPr>
                <a:ea typeface="微软雅黑"/>
              </a:rPr>
              <a:t>阿伏加德罗定律及其推论应用 · 变式12</a:t>
            </a:r>
          </a:p>
        </p:txBody>
      </p:sp>
      <p:sp>
        <p:nvSpPr>
          <p:cNvPr id="5" name="文字_P151"/>
          <p:cNvSpPr txBox="1"/>
          <p:nvPr/>
        </p:nvSpPr>
        <p:spPr>
          <a:xfrm>
            <a:off x="10607040" y="36576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E75B67"/>
                </a:solidFill>
                <a:latin typeface="微软雅黑"/>
              </a:defRPr>
            </a:pPr>
            <a:r>
              <a:rPr>
                <a:ea typeface="微软雅黑"/>
              </a:rPr>
              <a:t>P151</a:t>
            </a:r>
          </a:p>
        </p:txBody>
      </p:sp>
      <p:sp>
        <p:nvSpPr>
          <p:cNvPr id="6" name="文字_同温同压下，NH₃和H₂S气体的密度比是 ___"/>
          <p:cNvSpPr txBox="1"/>
          <p:nvPr/>
        </p:nvSpPr>
        <p:spPr>
          <a:xfrm>
            <a:off x="502920" y="1078992"/>
            <a:ext cx="11064240" cy="1527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同温同压下，NH₃和H₂S气体的密度比是 ______ ；同质量的NH₃和H₂S气体的体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积比是 ______ ；同温同密度同体积的NH₃和H₂S气体中所含H个数比是 ______ ；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若两者所含H个数相等，它们的物质的量之比是 ______ ；同温同体积下，同质量的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333333"/>
                </a:solidFill>
                <a:latin typeface="微软雅黑"/>
              </a:defRPr>
            </a:pPr>
            <a:r>
              <a:rPr>
                <a:ea typeface="微软雅黑"/>
              </a:rPr>
              <a:t>NH₃和H₂S气体的压强之比是</a:t>
            </a:r>
          </a:p>
        </p:txBody>
      </p:sp>
      <p:sp>
        <p:nvSpPr>
          <p:cNvPr id="7" name="文字_填空题  ·  07-041"/>
          <p:cNvSpPr txBox="1"/>
          <p:nvPr/>
        </p:nvSpPr>
        <p:spPr>
          <a:xfrm>
            <a:off x="548640" y="6519672"/>
            <a:ext cx="7315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填空题  ·  07-041</a:t>
            </a:r>
          </a:p>
        </p:txBody>
      </p:sp>
      <p:sp>
        <p:nvSpPr>
          <p:cNvPr id="8" name="文字_48"/>
          <p:cNvSpPr txBox="1"/>
          <p:nvPr/>
        </p:nvSpPr>
        <p:spPr>
          <a:xfrm>
            <a:off x="11173968" y="6492240"/>
            <a:ext cx="365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777777"/>
                </a:solidFill>
                <a:latin typeface="微软雅黑"/>
              </a:defRPr>
            </a:pPr>
            <a:r>
              <a:rPr>
                <a:ea typeface="微软雅黑"/>
              </a:rP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气体摩尔体积</dc:title>
  <dc:subject>高一化学课堂课件：知识讲解与原题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zh-CN</dc:language>
</cp:coreProperties>
</file>
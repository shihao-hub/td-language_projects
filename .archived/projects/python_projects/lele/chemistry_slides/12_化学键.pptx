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P254；PDF 文件第 256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P254；PDF 文件第 256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P255；PDF 文件第 257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P256；PDF 文件第 258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例题 1 / 单选题</a:t>
            </a:r>
          </a:p>
          <a:p>
            <a:r>
              <a:t>讲义印刷页：P256</a:t>
            </a:r>
          </a:p>
          <a:p>
            <a:r>
              <a:t>PDF 文件页：258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例题 2 / 单选题</a:t>
            </a:r>
          </a:p>
          <a:p>
            <a:r>
              <a:t>讲义印刷页：P256</a:t>
            </a:r>
          </a:p>
          <a:p>
            <a:r>
              <a:t>PDF 文件页：258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例题 3 / 单选题</a:t>
            </a:r>
          </a:p>
          <a:p>
            <a:r>
              <a:t>讲义印刷页：P256</a:t>
            </a:r>
          </a:p>
          <a:p>
            <a:r>
              <a:t>PDF 文件页：258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例题 4 / 单选题</a:t>
            </a:r>
          </a:p>
          <a:p>
            <a:r>
              <a:t>讲义印刷页：P257</a:t>
            </a:r>
          </a:p>
          <a:p>
            <a:r>
              <a:t>PDF 文件页：259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例题 5 / 解答题</a:t>
            </a:r>
          </a:p>
          <a:p>
            <a:r>
              <a:t>讲义印刷页：P257</a:t>
            </a:r>
          </a:p>
          <a:p>
            <a:r>
              <a:t>PDF 文件页：259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P257：H₂</a:t>
            </a:r>
          </a:p>
          <a:p>
            <a:r>
              <a:t>P257：02-</a:t>
            </a:r>
          </a:p>
          <a:p>
            <a:r>
              <a:t>P257：NH₄⁺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例题 6 / 单选题</a:t>
            </a:r>
          </a:p>
          <a:p>
            <a:r>
              <a:t>讲义印刷页：P257</a:t>
            </a:r>
          </a:p>
          <a:p>
            <a:r>
              <a:t>PDF 文件页：259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例题 7 / 单选题</a:t>
            </a:r>
          </a:p>
          <a:p>
            <a:r>
              <a:t>讲义印刷页：P257</a:t>
            </a:r>
          </a:p>
          <a:p>
            <a:r>
              <a:t>PDF 文件页：259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例题 8 / 单选题</a:t>
            </a:r>
          </a:p>
          <a:p>
            <a:r>
              <a:t>讲义印刷页：P257</a:t>
            </a:r>
          </a:p>
          <a:p>
            <a:r>
              <a:t>PDF 文件页：259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例题 9 / 单选题</a:t>
            </a:r>
          </a:p>
          <a:p>
            <a:r>
              <a:t>讲义印刷页：P258</a:t>
            </a:r>
          </a:p>
          <a:p>
            <a:r>
              <a:t>PDF 文件页：260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P258：17Cl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例题 10 / 单选题</a:t>
            </a:r>
          </a:p>
          <a:p>
            <a:r>
              <a:t>讲义印刷页：P258</a:t>
            </a:r>
          </a:p>
          <a:p>
            <a:r>
              <a:t>PDF 文件页：260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例题 11 / 单选题</a:t>
            </a:r>
          </a:p>
          <a:p>
            <a:r>
              <a:t>讲义印刷页：P258</a:t>
            </a:r>
          </a:p>
          <a:p>
            <a:r>
              <a:t>PDF 文件页：260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例题 12 / 单选题</a:t>
            </a:r>
          </a:p>
          <a:p>
            <a:r>
              <a:t>讲义印刷页：P258</a:t>
            </a:r>
          </a:p>
          <a:p>
            <a:r>
              <a:t>PDF 文件页：260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例题 13 / 单选题</a:t>
            </a:r>
          </a:p>
          <a:p>
            <a:r>
              <a:t>讲义印刷页：P258</a:t>
            </a:r>
          </a:p>
          <a:p>
            <a:r>
              <a:t>PDF 文件页：260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例题 14 / 填空题</a:t>
            </a:r>
          </a:p>
          <a:p>
            <a:r>
              <a:t>讲义印刷页：P259</a:t>
            </a:r>
          </a:p>
          <a:p>
            <a:r>
              <a:t>PDF 文件页：261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变式 1 / 单选题</a:t>
            </a:r>
          </a:p>
          <a:p>
            <a:r>
              <a:t>讲义印刷页：P259</a:t>
            </a:r>
          </a:p>
          <a:p>
            <a:r>
              <a:t>PDF 文件页：261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变式 2 / 单选题</a:t>
            </a:r>
          </a:p>
          <a:p>
            <a:r>
              <a:t>讲义印刷页：P259</a:t>
            </a:r>
          </a:p>
          <a:p>
            <a:r>
              <a:t>PDF 文件页：261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变式 3 / 单选题</a:t>
            </a:r>
          </a:p>
          <a:p>
            <a:r>
              <a:t>讲义印刷页：P259</a:t>
            </a:r>
          </a:p>
          <a:p>
            <a:r>
              <a:t>PDF 文件页：261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变式 4 / 单选题</a:t>
            </a:r>
          </a:p>
          <a:p>
            <a:r>
              <a:t>讲义印刷页：P259</a:t>
            </a:r>
          </a:p>
          <a:p>
            <a:r>
              <a:t>PDF 文件页：261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变式 5 / 填空题</a:t>
            </a:r>
          </a:p>
          <a:p>
            <a:r>
              <a:t>讲义印刷页：P260</a:t>
            </a:r>
          </a:p>
          <a:p>
            <a:r>
              <a:t>PDF 文件页：262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变式 6 / 单选题</a:t>
            </a:r>
          </a:p>
          <a:p>
            <a:r>
              <a:t>讲义印刷页：P260</a:t>
            </a:r>
          </a:p>
          <a:p>
            <a:r>
              <a:t>PDF 文件页：262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变式 7 / 单选题</a:t>
            </a:r>
          </a:p>
          <a:p>
            <a:r>
              <a:t>讲义印刷页：P260</a:t>
            </a:r>
          </a:p>
          <a:p>
            <a:r>
              <a:t>PDF 文件页：262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变式 8 / 单选题</a:t>
            </a:r>
          </a:p>
          <a:p>
            <a:r>
              <a:t>讲义印刷页：P260</a:t>
            </a:r>
          </a:p>
          <a:p>
            <a:r>
              <a:t>PDF 文件页：262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变式 9 / 单选题</a:t>
            </a:r>
          </a:p>
          <a:p>
            <a:r>
              <a:t>讲义印刷页：P260</a:t>
            </a:r>
          </a:p>
          <a:p>
            <a:r>
              <a:t>PDF 文件页：262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变式 10 / 单选题</a:t>
            </a:r>
          </a:p>
          <a:p>
            <a:r>
              <a:t>讲义印刷页：P261</a:t>
            </a:r>
          </a:p>
          <a:p>
            <a:r>
              <a:t>PDF 文件页：263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变式 11 / 单选题</a:t>
            </a:r>
          </a:p>
          <a:p>
            <a:r>
              <a:t>讲义印刷页：P261</a:t>
            </a:r>
          </a:p>
          <a:p>
            <a:r>
              <a:t>PDF 文件页：263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原题定位：知识点2常见物质的电子式、结构式、模型 / 变式 12 / 填空题</a:t>
            </a:r>
          </a:p>
          <a:p>
            <a:r>
              <a:t>讲义印刷页：P261</a:t>
            </a:r>
          </a:p>
          <a:p>
            <a:r>
              <a:t>PDF 文件页：263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P261：O</a:t>
            </a:r>
          </a:p>
          <a:p>
            <a:r>
              <a:t>P261：⑥Na₂O₂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P262；PDF 文件第 264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P262；PDF 文件第 264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例题 1 / 单选题</a:t>
            </a:r>
          </a:p>
          <a:p>
            <a:r>
              <a:t>讲义印刷页：P263</a:t>
            </a:r>
          </a:p>
          <a:p>
            <a:r>
              <a:t>PDF 文件页：265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例题 2 / 单选题</a:t>
            </a:r>
          </a:p>
          <a:p>
            <a:r>
              <a:t>讲义印刷页：P263</a:t>
            </a:r>
          </a:p>
          <a:p>
            <a:r>
              <a:t>PDF 文件页：265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例题 3 / 单选题</a:t>
            </a:r>
          </a:p>
          <a:p>
            <a:r>
              <a:t>讲义印刷页：P264</a:t>
            </a:r>
          </a:p>
          <a:p>
            <a:r>
              <a:t>PDF 文件页：266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例题 4 / 单选题</a:t>
            </a:r>
          </a:p>
          <a:p>
            <a:r>
              <a:t>讲义印刷页：P264</a:t>
            </a:r>
          </a:p>
          <a:p>
            <a:r>
              <a:t>PDF 文件页：266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例题 5 / 单选题</a:t>
            </a:r>
          </a:p>
          <a:p>
            <a:r>
              <a:t>讲义印刷页：P264</a:t>
            </a:r>
          </a:p>
          <a:p>
            <a:r>
              <a:t>PDF 文件页：266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例题 6 / 单选题</a:t>
            </a:r>
          </a:p>
          <a:p>
            <a:r>
              <a:t>讲义印刷页：P264</a:t>
            </a:r>
          </a:p>
          <a:p>
            <a:r>
              <a:t>PDF 文件页：266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例题 7 / 单选题</a:t>
            </a:r>
          </a:p>
          <a:p>
            <a:r>
              <a:t>讲义印刷页：P264</a:t>
            </a:r>
          </a:p>
          <a:p>
            <a:r>
              <a:t>PDF 文件页：266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例题 8 / 单选题</a:t>
            </a:r>
          </a:p>
          <a:p>
            <a:r>
              <a:t>讲义印刷页：P265</a:t>
            </a:r>
          </a:p>
          <a:p>
            <a:r>
              <a:t>PDF 文件页：267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例题 9 / 单选题</a:t>
            </a:r>
          </a:p>
          <a:p>
            <a:r>
              <a:t>讲义印刷页：P265</a:t>
            </a:r>
          </a:p>
          <a:p>
            <a:r>
              <a:t>PDF 文件页：267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P265：1@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例题 10 / 填空题</a:t>
            </a:r>
          </a:p>
          <a:p>
            <a:r>
              <a:t>讲义印刷页：P265</a:t>
            </a:r>
          </a:p>
          <a:p>
            <a:r>
              <a:t>PDF 文件页：267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P265：O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例题 11 / 填空题</a:t>
            </a:r>
          </a:p>
          <a:p>
            <a:r>
              <a:t>讲义印刷页：P266</a:t>
            </a:r>
          </a:p>
          <a:p>
            <a:r>
              <a:t>PDF 文件页：268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P266：I. 有下列物质：</a:t>
            </a:r>
          </a:p>
          <a:p>
            <a:r>
              <a:t>P266：④49K、</a:t>
            </a:r>
          </a:p>
          <a:p>
            <a:r>
              <a:t>P266：20Ca、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变式 1 / 单选题</a:t>
            </a:r>
          </a:p>
          <a:p>
            <a:r>
              <a:t>讲义印刷页：P266</a:t>
            </a:r>
          </a:p>
          <a:p>
            <a:r>
              <a:t>PDF 文件页：268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变式 2 / 单选题</a:t>
            </a:r>
          </a:p>
          <a:p>
            <a:r>
              <a:t>讲义印刷页：P266</a:t>
            </a:r>
          </a:p>
          <a:p>
            <a:r>
              <a:t>PDF 文件页：268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变式 3 / 单选题</a:t>
            </a:r>
          </a:p>
          <a:p>
            <a:r>
              <a:t>讲义印刷页：P267</a:t>
            </a:r>
          </a:p>
          <a:p>
            <a:r>
              <a:t>PDF 文件页：269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P267：N₂ + H₂O</a:t>
            </a:r>
          </a:p>
          <a:p>
            <a:r>
              <a:t>P267：HClO</a:t>
            </a:r>
          </a:p>
          <a:p>
            <a:r>
              <a:t>P267：H₂O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变式 4 / 单选题</a:t>
            </a:r>
          </a:p>
          <a:p>
            <a:r>
              <a:t>讲义印刷页：P267</a:t>
            </a:r>
          </a:p>
          <a:p>
            <a:r>
              <a:t>PDF 文件页：269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变式 5 / 单选题</a:t>
            </a:r>
          </a:p>
          <a:p>
            <a:r>
              <a:t>讲义印刷页：P267</a:t>
            </a:r>
          </a:p>
          <a:p>
            <a:r>
              <a:t>PDF 文件页：269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变式 6 / 单选题</a:t>
            </a:r>
          </a:p>
          <a:p>
            <a:r>
              <a:t>讲义印刷页：P267</a:t>
            </a:r>
          </a:p>
          <a:p>
            <a:r>
              <a:t>PDF 文件页：269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变式 7 / 单选题</a:t>
            </a:r>
          </a:p>
          <a:p>
            <a:r>
              <a:t>讲义印刷页：P267</a:t>
            </a:r>
          </a:p>
          <a:p>
            <a:r>
              <a:t>PDF 文件页：269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变式 8 / 单选题</a:t>
            </a:r>
          </a:p>
          <a:p>
            <a:r>
              <a:t>讲义印刷页：P268</a:t>
            </a:r>
          </a:p>
          <a:p>
            <a:r>
              <a:t>PDF 文件页：270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变式 9 / 单选题</a:t>
            </a:r>
          </a:p>
          <a:p>
            <a:r>
              <a:t>讲义印刷页：P268</a:t>
            </a:r>
          </a:p>
          <a:p>
            <a:r>
              <a:t>PDF 文件页：270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变式 10 / 单选题</a:t>
            </a:r>
          </a:p>
          <a:p>
            <a:r>
              <a:t>讲义印刷页：P268</a:t>
            </a:r>
          </a:p>
          <a:p>
            <a:r>
              <a:t>PDF 文件页：270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原题定位：知识点3分子间作用力与氢键 / 变式 11 / 填空题</a:t>
            </a:r>
          </a:p>
          <a:p>
            <a:r>
              <a:t>讲义印刷页：P268, P269</a:t>
            </a:r>
          </a:p>
          <a:p>
            <a:r>
              <a:t>PDF 文件页：270, 271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1 / 单选题</a:t>
            </a:r>
          </a:p>
          <a:p>
            <a:r>
              <a:t>讲义印刷页：P270</a:t>
            </a:r>
          </a:p>
          <a:p>
            <a:r>
              <a:t>PDF 文件页：272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2 / 单选题</a:t>
            </a:r>
          </a:p>
          <a:p>
            <a:r>
              <a:t>讲义印刷页：P270</a:t>
            </a:r>
          </a:p>
          <a:p>
            <a:r>
              <a:t>PDF 文件页：272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P270：D. HClO的结构式为H − Cl − 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3 / 单选题</a:t>
            </a:r>
          </a:p>
          <a:p>
            <a:r>
              <a:t>讲义印刷页：P270</a:t>
            </a:r>
          </a:p>
          <a:p>
            <a:r>
              <a:t>PDF 文件页：272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4 / 单选题</a:t>
            </a:r>
          </a:p>
          <a:p>
            <a:r>
              <a:t>讲义印刷页：P270</a:t>
            </a:r>
          </a:p>
          <a:p>
            <a:r>
              <a:t>PDF 文件页：272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5 / 单选题</a:t>
            </a:r>
          </a:p>
          <a:p>
            <a:r>
              <a:t>讲义印刷页：P270</a:t>
            </a:r>
          </a:p>
          <a:p>
            <a:r>
              <a:t>PDF 文件页：272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6 / 单选题</a:t>
            </a:r>
          </a:p>
          <a:p>
            <a:r>
              <a:t>讲义印刷页：P271</a:t>
            </a:r>
          </a:p>
          <a:p>
            <a:r>
              <a:t>PDF 文件页：273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P271：B. 用电子式表示H₂O₂的形成过程：H·+.Ö. +.Ö.+H [H:Ö:Ö:]²H+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7 / 单选题</a:t>
            </a:r>
          </a:p>
          <a:p>
            <a:r>
              <a:t>讲义印刷页：P271</a:t>
            </a:r>
          </a:p>
          <a:p>
            <a:r>
              <a:t>PDF 文件页：273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8 / 单选题</a:t>
            </a:r>
          </a:p>
          <a:p>
            <a:r>
              <a:t>讲义印刷页：P271</a:t>
            </a:r>
          </a:p>
          <a:p>
            <a:r>
              <a:t>PDF 文件页：273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9 / 单选题</a:t>
            </a:r>
          </a:p>
          <a:p>
            <a:r>
              <a:t>讲义印刷页：P271</a:t>
            </a:r>
          </a:p>
          <a:p>
            <a:r>
              <a:t>PDF 文件页：273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10 / 单选题</a:t>
            </a:r>
          </a:p>
          <a:p>
            <a:r>
              <a:t>讲义印刷页：P271</a:t>
            </a:r>
          </a:p>
          <a:p>
            <a:r>
              <a:t>PDF 文件页：273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11 / 单选题</a:t>
            </a:r>
          </a:p>
          <a:p>
            <a:r>
              <a:t>讲义印刷页：P272</a:t>
            </a:r>
          </a:p>
          <a:p>
            <a:r>
              <a:t>PDF 文件页：274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12 / 单选题</a:t>
            </a:r>
          </a:p>
          <a:p>
            <a:r>
              <a:t>讲义印刷页：P272</a:t>
            </a:r>
          </a:p>
          <a:p>
            <a:r>
              <a:t>PDF 文件页：274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13 / 单选题</a:t>
            </a:r>
          </a:p>
          <a:p>
            <a:r>
              <a:t>讲义印刷页：P272</a:t>
            </a:r>
          </a:p>
          <a:p>
            <a:r>
              <a:t>PDF 文件页：274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P272：X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14 / 单选题</a:t>
            </a:r>
          </a:p>
          <a:p>
            <a:r>
              <a:t>讲义印刷页：P272</a:t>
            </a:r>
          </a:p>
          <a:p>
            <a:r>
              <a:t>PDF 文件页：274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15 / 单选题</a:t>
            </a:r>
          </a:p>
          <a:p>
            <a:r>
              <a:t>讲义印刷页：P272</a:t>
            </a:r>
          </a:p>
          <a:p>
            <a:r>
              <a:t>PDF 文件页：274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16 / 单选题</a:t>
            </a:r>
          </a:p>
          <a:p>
            <a:r>
              <a:t>讲义印刷页：P273</a:t>
            </a:r>
          </a:p>
          <a:p>
            <a:r>
              <a:t>PDF 文件页：275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P273：I</a:t>
            </a:r>
          </a:p>
          <a:p>
            <a:r>
              <a:t>P273：I</a:t>
            </a:r>
          </a:p>
          <a:p>
            <a:r>
              <a:t>P273：I</a:t>
            </a:r>
          </a:p>
          <a:p>
            <a:r>
              <a:t>P273：I</a:t>
            </a:r>
          </a:p>
          <a:p>
            <a:r>
              <a:t>P273：I</a:t>
            </a:r>
          </a:p>
          <a:p>
            <a:r>
              <a:t>P273：I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17 / 单选题</a:t>
            </a:r>
          </a:p>
          <a:p>
            <a:r>
              <a:t>讲义印刷页：P273</a:t>
            </a:r>
          </a:p>
          <a:p>
            <a:r>
              <a:t>PDF 文件页：275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P273：/n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18 / 单选题</a:t>
            </a:r>
          </a:p>
          <a:p>
            <a:r>
              <a:t>讲义印刷页：P273</a:t>
            </a:r>
          </a:p>
          <a:p>
            <a:r>
              <a:t>PDF 文件页：275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19 / 填空题</a:t>
            </a:r>
          </a:p>
          <a:p>
            <a:r>
              <a:t>讲义印刷页：P273</a:t>
            </a:r>
          </a:p>
          <a:p>
            <a:r>
              <a:t>PDF 文件页：275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20 / 填空题</a:t>
            </a:r>
          </a:p>
          <a:p>
            <a:r>
              <a:t>讲义印刷页：P274</a:t>
            </a:r>
          </a:p>
          <a:p>
            <a:r>
              <a:t>PDF 文件页：276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P274：O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21 / 填空题</a:t>
            </a:r>
          </a:p>
          <a:p>
            <a:r>
              <a:t>讲义印刷页：P274</a:t>
            </a:r>
          </a:p>
          <a:p>
            <a:r>
              <a:t>PDF 文件页：276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排版提示：本题原文较长，按要求保持一题一页；可按教学需要自行调整字号与布局。</a:t>
            </a:r>
          </a:p>
          <a:p>
            <a:r>
              <a:t>OCR 重点复核位置（请对照原讲义检查公式、上下标和字符）：</a:t>
            </a:r>
          </a:p>
          <a:p>
            <a:r>
              <a:t>P274：53 I</a:t>
            </a:r>
          </a:p>
          <a:p>
            <a:r>
              <a:t>P274：0</a:t>
            </a:r>
          </a:p>
          <a:p>
            <a:r>
              <a:t>P274：o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原题定位：沙场点兵 / 检测题 22 / 推断题</a:t>
            </a:r>
          </a:p>
          <a:p>
            <a:r>
              <a:t>讲义印刷页：P275</a:t>
            </a:r>
          </a:p>
          <a:p>
            <a:r>
              <a:t>PDF 文件页：277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排版提示：本题原文较长，按要求保持一题一页；可按教学需要自行调整字号与布局。</a:t>
            </a:r>
          </a:p>
          <a:p>
            <a:r>
              <a:t>OCR 重点复核位置（请对照原讲义检查公式、上下标和字符）：</a:t>
            </a:r>
          </a:p>
          <a:p>
            <a:r>
              <a:t>P275：/</a:t>
            </a:r>
          </a:p>
          <a:p>
            <a:r>
              <a:t>P275：X</a:t>
            </a:r>
          </a:p>
          <a:p>
            <a:r>
              <a:t>P275：O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6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7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7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7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化学键"/>
          <p:cNvSpPr txBox="1"/>
          <p:nvPr/>
        </p:nvSpPr>
        <p:spPr>
          <a:xfrm>
            <a:off x="713232" y="2103120"/>
            <a:ext cx="10744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化学键</a:t>
            </a:r>
          </a:p>
        </p:txBody>
      </p:sp>
      <p:sp>
        <p:nvSpPr>
          <p:cNvPr id="4" name="文字_第 12 章  ·  高一化学"/>
          <p:cNvSpPr txBox="1"/>
          <p:nvPr/>
        </p:nvSpPr>
        <p:spPr>
          <a:xfrm>
            <a:off x="777240" y="151790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第 12 章  ·  高一化学</a:t>
            </a:r>
          </a:p>
        </p:txBody>
      </p:sp>
      <p:sp>
        <p:nvSpPr>
          <p:cNvPr id="5" name="文字_知识讲解  ·  例题与变式  ·  综合练习"/>
          <p:cNvSpPr txBox="1"/>
          <p:nvPr/>
        </p:nvSpPr>
        <p:spPr>
          <a:xfrm>
            <a:off x="777240" y="34747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知识讲解  ·  例题与变式  ·  综合练习</a:t>
            </a:r>
          </a:p>
        </p:txBody>
      </p:sp>
      <p:sp>
        <p:nvSpPr>
          <p:cNvPr id="6" name="文字_讲义 P254–275"/>
          <p:cNvSpPr txBox="1"/>
          <p:nvPr/>
        </p:nvSpPr>
        <p:spPr>
          <a:xfrm>
            <a:off x="804672" y="4892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讲义 P254–275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1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01</a:t>
            </a:r>
          </a:p>
        </p:txBody>
      </p:sp>
      <p:sp>
        <p:nvSpPr>
          <p:cNvPr id="4" name="文字_离子键与共价键的比较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离子键与共价键的比较</a:t>
            </a:r>
          </a:p>
        </p:txBody>
      </p:sp>
      <p:sp>
        <p:nvSpPr>
          <p:cNvPr id="5" name="文字_知识梳理 · 讲义 P254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P254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离子键与共价键的比较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离子键与共价键的比较</a:t>
            </a:r>
          </a:p>
        </p:txBody>
      </p:sp>
      <p:sp>
        <p:nvSpPr>
          <p:cNvPr id="5" name="文字_知识讲解 · P254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73936"/>
          <a:ext cx="11109960" cy="2913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485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项目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离子键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共价键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成键微粒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阴、阳离子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原子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成键本质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静电作用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共用电子对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成键元素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活泼金属与活泼非金属之间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非金属元素之间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电子式示例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Na⁺[ :Cl: ]⁻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H:Cl: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存在物质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离子化合物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共价化合物、部分单质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93776" y="4824984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字_提示  AlCl₃ 中无离子键；NH₄Cl 中含"/>
          <p:cNvSpPr txBox="1"/>
          <p:nvPr/>
        </p:nvSpPr>
        <p:spPr>
          <a:xfrm>
            <a:off x="630936" y="4884420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AlCl₃ 中无离子键；NH₄Cl 中含离子键（NH₄⁺ 与 Cl⁻ 之间）。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离子化合物与共价化合物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离子化合物与共价化合物</a:t>
            </a:r>
          </a:p>
        </p:txBody>
      </p:sp>
      <p:sp>
        <p:nvSpPr>
          <p:cNvPr id="5" name="文字_知识讲解 · P254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P254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离子化合物：由离子键构成的化合物，如 NaCl、"/>
          <p:cNvSpPr txBox="1"/>
          <p:nvPr/>
        </p:nvSpPr>
        <p:spPr>
          <a:xfrm>
            <a:off x="722376" y="1773936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离子化合物：由离子键构成的化合物，如 NaCl、MgO、NaOH、Na₂O₂、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NH₄Cl。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81025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共价化合物：以共用电子对形成分子的化合物，如 H"/>
          <p:cNvSpPr txBox="1"/>
          <p:nvPr/>
        </p:nvSpPr>
        <p:spPr>
          <a:xfrm>
            <a:off x="722376" y="272796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共价化合物：以共用电子对形成分子的化合物，如 HCl、H₂O、CO₂、AlCl₃。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392424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含离子键的化合物一定是离子化合物；离子化合物中可"/>
          <p:cNvSpPr txBox="1"/>
          <p:nvPr/>
        </p:nvSpPr>
        <p:spPr>
          <a:xfrm>
            <a:off x="722376" y="3310128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含离子键的化合物一定是离子化合物；离子化合物中可以含共价键（如 NaOH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的 O—H）。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434644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共价化合物中一定不含离子键。"/>
          <p:cNvSpPr txBox="1"/>
          <p:nvPr/>
        </p:nvSpPr>
        <p:spPr>
          <a:xfrm>
            <a:off x="722376" y="426415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共价化合物中一定不含离子键。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92861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常见误区：只由共价键构成的不一定是共价化合物，还"/>
          <p:cNvSpPr txBox="1"/>
          <p:nvPr/>
        </p:nvSpPr>
        <p:spPr>
          <a:xfrm>
            <a:off x="722376" y="4846320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常见误区：只由共价键构成的不一定是共价化合物，还可能是单质（如 O₂、金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刚石）。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574243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提示  判断化合物类型先找离子键：有离子键即离子"/>
          <p:cNvSpPr txBox="1"/>
          <p:nvPr/>
        </p:nvSpPr>
        <p:spPr>
          <a:xfrm>
            <a:off x="630936" y="580186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判断化合物类型先找离子键：有离子键即离子化合物，无离子键才是共价化合物。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2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02</a:t>
            </a:r>
          </a:p>
        </p:txBody>
      </p:sp>
      <p:sp>
        <p:nvSpPr>
          <p:cNvPr id="4" name="文字_电子式的书写规则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电子式的书写规则</a:t>
            </a:r>
          </a:p>
        </p:txBody>
      </p:sp>
      <p:sp>
        <p:nvSpPr>
          <p:cNvPr id="5" name="文字_知识梳理 · 讲义 P255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P255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电子式的书写规则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电子式的书写规则</a:t>
            </a:r>
          </a:p>
        </p:txBody>
      </p:sp>
      <p:sp>
        <p:nvSpPr>
          <p:cNvPr id="5" name="文字_知识讲解 · P255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P255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原子：元素符号周围用 · 或 × 表示最外层电子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原子：元素符号周围用 · 或 × 表示最外层电子，如 ·Mg·。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阳离子：简单阳离子写离子符号加电荷，如 Na⁺；"/>
          <p:cNvSpPr txBox="1"/>
          <p:nvPr/>
        </p:nvSpPr>
        <p:spPr>
          <a:xfrm>
            <a:off x="722376" y="2356104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阳离子：简单阳离子写离子符号加电荷，如 Na⁺；NH₄⁺ 需画出电子式并加 [ ]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 和电荷。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392424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阴离子：画出最外层电子并用 [ ] 括起，右上角"/>
          <p:cNvSpPr txBox="1"/>
          <p:nvPr/>
        </p:nvSpPr>
        <p:spPr>
          <a:xfrm>
            <a:off x="722376" y="3310128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阴离子：画出最外层电子并用 [ ] 括起，右上角标电荷，如 [ :Cl: ]⁻、[ :S: ]²⁻。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97459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离子化合物：阴、阳离子电子式组合，相同离子不能合"/>
          <p:cNvSpPr txBox="1"/>
          <p:nvPr/>
        </p:nvSpPr>
        <p:spPr>
          <a:xfrm>
            <a:off x="722376" y="389229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离子化合物：阴、阳离子电子式组合，相同离子不能合并。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55676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共价化合物：原子间共用电子对使各原子达稳定结构，"/>
          <p:cNvSpPr txBox="1"/>
          <p:nvPr/>
        </p:nvSpPr>
        <p:spPr>
          <a:xfrm>
            <a:off x="722376" y="447446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共价化合物：原子间共用电子对使各原子达稳定结构，如 H:H。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513892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形成过程：左边写原子（或离子）电子式，右边写产物"/>
          <p:cNvSpPr txBox="1"/>
          <p:nvPr/>
        </p:nvSpPr>
        <p:spPr>
          <a:xfrm>
            <a:off x="722376" y="5056632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形成过程：左边写原子（或离子）电子式，右边写产物电子式，中间用 —→ 连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" y="574243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文字_提示  阴离子必须加中括号和电荷；离子化合物中相"/>
          <p:cNvSpPr txBox="1"/>
          <p:nvPr/>
        </p:nvSpPr>
        <p:spPr>
          <a:xfrm>
            <a:off x="630936" y="580186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阴离子必须加中括号和电荷；离子化合物中相同离子要分开写，不能合并。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3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03</a:t>
            </a:r>
          </a:p>
        </p:txBody>
      </p:sp>
      <p:sp>
        <p:nvSpPr>
          <p:cNvPr id="4" name="文字_常见分子的电子式与空间构型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常见分子的电子式与空间构型</a:t>
            </a:r>
          </a:p>
        </p:txBody>
      </p:sp>
      <p:sp>
        <p:nvSpPr>
          <p:cNvPr id="5" name="文字_知识梳理 · 讲义 P256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P256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常见分子的电子式与空间构型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常见分子的电子式与空间构型</a:t>
            </a:r>
          </a:p>
        </p:txBody>
      </p:sp>
      <p:sp>
        <p:nvSpPr>
          <p:cNvPr id="5" name="文字_知识讲解 · P256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P256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73936"/>
          <a:ext cx="11109960" cy="357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490"/>
                <a:gridCol w="2777490"/>
                <a:gridCol w="2777490"/>
                <a:gridCol w="2777490"/>
              </a:tblGrid>
              <a:tr h="485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分子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结构式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空间构型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易错点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H₂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H—H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直线型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电子式 H:H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8158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HCl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H—Cl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直线型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共价化合物不加 [ ] 和电荷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CO₂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O=C=O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直线型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电子式 O::C::O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H₂O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H—O—H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V 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不是直线型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58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CH₄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 与 4 个 H 各共用一对电子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正四面体，键角 109°28′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五个原子不在同一平面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93776" y="5485384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字_提示  CO₂ 直线型、H₂O 的 V 型、CH"/>
          <p:cNvSpPr txBox="1"/>
          <p:nvPr/>
        </p:nvSpPr>
        <p:spPr>
          <a:xfrm>
            <a:off x="630936" y="5544820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CO₂ 直线型、H₂O 的 V 型、CH₄ 正四面体，三种构型是判断题常客。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例题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例题1</a:t>
            </a:r>
          </a:p>
        </p:txBody>
      </p:sp>
      <p:sp>
        <p:nvSpPr>
          <p:cNvPr id="5" name="文字_P25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P256</a:t>
            </a:r>
          </a:p>
        </p:txBody>
      </p:sp>
      <p:sp>
        <p:nvSpPr>
          <p:cNvPr id="6" name="文字_下列关于化学键的说法中不正确的是（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下列关于化学键的说法中不正确的是（</a:t>
            </a:r>
          </a:p>
        </p:txBody>
      </p:sp>
      <p:sp>
        <p:nvSpPr>
          <p:cNvPr id="7" name="文字_A. 化学键是一种作用力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化学键是一种作用力</a:t>
            </a:r>
          </a:p>
        </p:txBody>
      </p:sp>
      <p:sp>
        <p:nvSpPr>
          <p:cNvPr id="8" name="文字_B. 化学键可以使离子相结合，也可以使原子相结合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化学键可以使离子相结合，也可以使原子相结合</a:t>
            </a:r>
          </a:p>
        </p:txBody>
      </p:sp>
      <p:sp>
        <p:nvSpPr>
          <p:cNvPr id="9" name="文字_C. 化学反应过程中，反应物的化学键断裂，生成物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化学反应过程中，反应物的化学键断裂，生成物的化学键形成</a:t>
            </a:r>
          </a:p>
        </p:txBody>
      </p:sp>
      <p:sp>
        <p:nvSpPr>
          <p:cNvPr id="10" name="文字_D. 非极性键不是化学键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非极性键不是化学键</a:t>
            </a:r>
          </a:p>
        </p:txBody>
      </p:sp>
      <p:sp>
        <p:nvSpPr>
          <p:cNvPr id="11" name="文字_单选题  ·  12-00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12-001</a:t>
            </a:r>
          </a:p>
        </p:txBody>
      </p:sp>
      <p:sp>
        <p:nvSpPr>
          <p:cNvPr id="12" name="文字_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例题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例题2</a:t>
            </a:r>
          </a:p>
        </p:txBody>
      </p:sp>
      <p:sp>
        <p:nvSpPr>
          <p:cNvPr id="5" name="文字_P25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P256</a:t>
            </a:r>
          </a:p>
        </p:txBody>
      </p:sp>
      <p:sp>
        <p:nvSpPr>
          <p:cNvPr id="6" name="文字_下列关于离子键的说法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下列关于离子键的说法正确的是（）</a:t>
            </a:r>
          </a:p>
        </p:txBody>
      </p:sp>
      <p:sp>
        <p:nvSpPr>
          <p:cNvPr id="7" name="文字_A. 离子键就是阴、阳离子间的静电引力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离子键就是阴、阳离子间的静电引力</a:t>
            </a:r>
          </a:p>
        </p:txBody>
      </p:sp>
      <p:sp>
        <p:nvSpPr>
          <p:cNvPr id="8" name="文字_B. 所有金属元素与所有非金属元素间都能形成离子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所有金属元素与所有非金属元素间都能形成离子键</a:t>
            </a:r>
          </a:p>
        </p:txBody>
      </p:sp>
      <p:sp>
        <p:nvSpPr>
          <p:cNvPr id="9" name="文字_C. 钠离子与氯离子可以形成离子键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钠离子与氯离子可以形成离子键</a:t>
            </a:r>
          </a:p>
        </p:txBody>
      </p:sp>
      <p:sp>
        <p:nvSpPr>
          <p:cNvPr id="10" name="文字_D. 在离子化合物CaCl₂中，两个氯离子间也存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在离子化合物CaCl₂中，两个氯离子间也存在离子键</a:t>
            </a:r>
          </a:p>
        </p:txBody>
      </p:sp>
      <p:sp>
        <p:nvSpPr>
          <p:cNvPr id="11" name="文字_单选题  ·  12-00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12-002</a:t>
            </a:r>
          </a:p>
        </p:txBody>
      </p:sp>
      <p:sp>
        <p:nvSpPr>
          <p:cNvPr id="12" name="文字_1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例题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例题3</a:t>
            </a:r>
          </a:p>
        </p:txBody>
      </p:sp>
      <p:sp>
        <p:nvSpPr>
          <p:cNvPr id="5" name="文字_P25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P256</a:t>
            </a:r>
          </a:p>
        </p:txBody>
      </p:sp>
      <p:sp>
        <p:nvSpPr>
          <p:cNvPr id="6" name="文字_下列物质中，既存在离子键又存在共价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下列物质中，既存在离子键又存在共价键的是</a:t>
            </a:r>
          </a:p>
        </p:txBody>
      </p:sp>
      <p:sp>
        <p:nvSpPr>
          <p:cNvPr id="7" name="文字_A. MgCl₂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MgCl₂</a:t>
            </a:r>
          </a:p>
        </p:txBody>
      </p:sp>
      <p:sp>
        <p:nvSpPr>
          <p:cNvPr id="8" name="文字_B. CO₂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CO₂</a:t>
            </a:r>
          </a:p>
        </p:txBody>
      </p:sp>
      <p:sp>
        <p:nvSpPr>
          <p:cNvPr id="9" name="文字_C. Na₂O₂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Na₂O₂</a:t>
            </a:r>
          </a:p>
        </p:txBody>
      </p:sp>
      <p:sp>
        <p:nvSpPr>
          <p:cNvPr id="10" name="文字_D. Na₂O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Na₂O</a:t>
            </a:r>
          </a:p>
        </p:txBody>
      </p:sp>
      <p:sp>
        <p:nvSpPr>
          <p:cNvPr id="11" name="文字_单选题  ·  12-00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12-003</a:t>
            </a:r>
          </a:p>
        </p:txBody>
      </p:sp>
      <p:sp>
        <p:nvSpPr>
          <p:cNvPr id="12" name="文字_1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例题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例题4</a:t>
            </a:r>
          </a:p>
        </p:txBody>
      </p:sp>
      <p:sp>
        <p:nvSpPr>
          <p:cNvPr id="5" name="文字_P25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P257</a:t>
            </a:r>
          </a:p>
        </p:txBody>
      </p:sp>
      <p:sp>
        <p:nvSpPr>
          <p:cNvPr id="6" name="文字_生石灰遇水生成熟石灰，下列对此反应过程中化学键变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生石灰遇水生成熟石灰，下列对此反应过程中化学键变化的判断正确的是</a:t>
            </a:r>
          </a:p>
        </p:txBody>
      </p:sp>
      <p:sp>
        <p:nvSpPr>
          <p:cNvPr id="7" name="文字_A. 断裂离子键和共价键，形成离子键和共价键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断裂离子键和共价键，形成离子键和共价键</a:t>
            </a:r>
          </a:p>
        </p:txBody>
      </p:sp>
      <p:sp>
        <p:nvSpPr>
          <p:cNvPr id="8" name="文字_B. 只断裂离子键，形成离子键和共价键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只断裂离子键，形成离子键和共价键</a:t>
            </a:r>
          </a:p>
        </p:txBody>
      </p:sp>
      <p:sp>
        <p:nvSpPr>
          <p:cNvPr id="9" name="文字_C. 只断裂共价键，形成共价键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只断裂共价键，形成共价键</a:t>
            </a:r>
          </a:p>
        </p:txBody>
      </p:sp>
      <p:sp>
        <p:nvSpPr>
          <p:cNvPr id="10" name="文字_D. 离子键和共价键在反应前后没有变化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离子键和共价键在反应前后没有变化</a:t>
            </a:r>
          </a:p>
        </p:txBody>
      </p:sp>
      <p:sp>
        <p:nvSpPr>
          <p:cNvPr id="11" name="文字_单选题  ·  12-00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12-004</a:t>
            </a:r>
          </a:p>
        </p:txBody>
      </p:sp>
      <p:sp>
        <p:nvSpPr>
          <p:cNvPr id="12" name="文字_1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例题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例题5</a:t>
            </a:r>
          </a:p>
        </p:txBody>
      </p:sp>
      <p:sp>
        <p:nvSpPr>
          <p:cNvPr id="5" name="文字_P25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P257</a:t>
            </a:r>
          </a:p>
        </p:txBody>
      </p:sp>
      <p:sp>
        <p:nvSpPr>
          <p:cNvPr id="6" name="文字_写出下列粒子的电子式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写出下列粒子的电子式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7904"/>
            <a:ext cx="11064240" cy="2450212"/>
          </a:xfrm>
          <a:prstGeom prst="rect">
            <a:avLst/>
          </a:prstGeom>
        </p:spPr>
      </p:pic>
      <p:sp>
        <p:nvSpPr>
          <p:cNvPr id="8" name="原题文字_257_9"/>
          <p:cNvSpPr txBox="1"/>
          <p:nvPr/>
        </p:nvSpPr>
        <p:spPr>
          <a:xfrm>
            <a:off x="1169071" y="1649327"/>
            <a:ext cx="552563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原子</a:t>
            </a:r>
          </a:p>
        </p:txBody>
      </p:sp>
      <p:sp>
        <p:nvSpPr>
          <p:cNvPr id="9" name="原题文字_257_10"/>
          <p:cNvSpPr txBox="1"/>
          <p:nvPr/>
        </p:nvSpPr>
        <p:spPr>
          <a:xfrm>
            <a:off x="2279323" y="1672298"/>
            <a:ext cx="399425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</a:t>
            </a:r>
          </a:p>
        </p:txBody>
      </p:sp>
      <p:sp>
        <p:nvSpPr>
          <p:cNvPr id="10" name="原题文字_257_11"/>
          <p:cNvSpPr txBox="1"/>
          <p:nvPr/>
        </p:nvSpPr>
        <p:spPr>
          <a:xfrm>
            <a:off x="3427860" y="1656984"/>
            <a:ext cx="460680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7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Mg</a:t>
            </a:r>
          </a:p>
        </p:txBody>
      </p:sp>
      <p:sp>
        <p:nvSpPr>
          <p:cNvPr id="11" name="原题文字_257_12"/>
          <p:cNvSpPr txBox="1"/>
          <p:nvPr/>
        </p:nvSpPr>
        <p:spPr>
          <a:xfrm>
            <a:off x="4660624" y="1664641"/>
            <a:ext cx="353483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Al</a:t>
            </a:r>
          </a:p>
        </p:txBody>
      </p:sp>
      <p:sp>
        <p:nvSpPr>
          <p:cNvPr id="12" name="原题文字_257_13"/>
          <p:cNvSpPr txBox="1"/>
          <p:nvPr/>
        </p:nvSpPr>
        <p:spPr>
          <a:xfrm>
            <a:off x="5885730" y="1672298"/>
            <a:ext cx="276914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</a:t>
            </a:r>
          </a:p>
        </p:txBody>
      </p:sp>
      <p:sp>
        <p:nvSpPr>
          <p:cNvPr id="13" name="原题文字_257_14"/>
          <p:cNvSpPr txBox="1"/>
          <p:nvPr/>
        </p:nvSpPr>
        <p:spPr>
          <a:xfrm>
            <a:off x="7049581" y="1672298"/>
            <a:ext cx="299885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</a:t>
            </a:r>
          </a:p>
        </p:txBody>
      </p:sp>
      <p:sp>
        <p:nvSpPr>
          <p:cNvPr id="14" name="原题文字_257_15"/>
          <p:cNvSpPr txBox="1"/>
          <p:nvPr/>
        </p:nvSpPr>
        <p:spPr>
          <a:xfrm>
            <a:off x="8259373" y="1679955"/>
            <a:ext cx="269257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</a:t>
            </a:r>
          </a:p>
        </p:txBody>
      </p:sp>
      <p:sp>
        <p:nvSpPr>
          <p:cNvPr id="15" name="原题文字_257_16"/>
          <p:cNvSpPr txBox="1"/>
          <p:nvPr/>
        </p:nvSpPr>
        <p:spPr>
          <a:xfrm>
            <a:off x="9415567" y="1664641"/>
            <a:ext cx="330512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Cl</a:t>
            </a:r>
          </a:p>
        </p:txBody>
      </p:sp>
      <p:sp>
        <p:nvSpPr>
          <p:cNvPr id="16" name="原题文字_257_17"/>
          <p:cNvSpPr txBox="1"/>
          <p:nvPr/>
        </p:nvSpPr>
        <p:spPr>
          <a:xfrm>
            <a:off x="10571761" y="1672298"/>
            <a:ext cx="407082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Ne</a:t>
            </a:r>
          </a:p>
        </p:txBody>
      </p:sp>
      <p:sp>
        <p:nvSpPr>
          <p:cNvPr id="17" name="原题文字_257_18"/>
          <p:cNvSpPr txBox="1"/>
          <p:nvPr/>
        </p:nvSpPr>
        <p:spPr>
          <a:xfrm>
            <a:off x="1153757" y="2399705"/>
            <a:ext cx="583191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7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分子</a:t>
            </a:r>
          </a:p>
        </p:txBody>
      </p:sp>
      <p:sp>
        <p:nvSpPr>
          <p:cNvPr id="18" name="原题文字_257_19"/>
          <p:cNvSpPr txBox="1"/>
          <p:nvPr/>
        </p:nvSpPr>
        <p:spPr>
          <a:xfrm>
            <a:off x="2286980" y="2437989"/>
            <a:ext cx="384111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</a:t>
            </a:r>
          </a:p>
        </p:txBody>
      </p:sp>
      <p:sp>
        <p:nvSpPr>
          <p:cNvPr id="19" name="原题文字_257_20"/>
          <p:cNvSpPr txBox="1"/>
          <p:nvPr/>
        </p:nvSpPr>
        <p:spPr>
          <a:xfrm>
            <a:off x="3458488" y="2437989"/>
            <a:ext cx="399425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N₂</a:t>
            </a:r>
          </a:p>
        </p:txBody>
      </p:sp>
      <p:sp>
        <p:nvSpPr>
          <p:cNvPr id="20" name="原题文字_257_21"/>
          <p:cNvSpPr txBox="1"/>
          <p:nvPr/>
        </p:nvSpPr>
        <p:spPr>
          <a:xfrm>
            <a:off x="4637653" y="2437989"/>
            <a:ext cx="407082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Cl₂</a:t>
            </a:r>
          </a:p>
        </p:txBody>
      </p:sp>
      <p:sp>
        <p:nvSpPr>
          <p:cNvPr id="21" name="原题文字_257_22"/>
          <p:cNvSpPr txBox="1"/>
          <p:nvPr/>
        </p:nvSpPr>
        <p:spPr>
          <a:xfrm>
            <a:off x="5770876" y="2422675"/>
            <a:ext cx="483651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HCl</a:t>
            </a:r>
          </a:p>
        </p:txBody>
      </p:sp>
      <p:sp>
        <p:nvSpPr>
          <p:cNvPr id="22" name="原题文字_257_23"/>
          <p:cNvSpPr txBox="1"/>
          <p:nvPr/>
        </p:nvSpPr>
        <p:spPr>
          <a:xfrm>
            <a:off x="6942384" y="2422675"/>
            <a:ext cx="514278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6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H₂O</a:t>
            </a:r>
          </a:p>
        </p:txBody>
      </p:sp>
      <p:sp>
        <p:nvSpPr>
          <p:cNvPr id="23" name="原题文字_257_24"/>
          <p:cNvSpPr txBox="1"/>
          <p:nvPr/>
        </p:nvSpPr>
        <p:spPr>
          <a:xfrm>
            <a:off x="8121548" y="2422675"/>
            <a:ext cx="521935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9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NH₃</a:t>
            </a:r>
          </a:p>
        </p:txBody>
      </p:sp>
      <p:sp>
        <p:nvSpPr>
          <p:cNvPr id="24" name="原题文字_257_25"/>
          <p:cNvSpPr txBox="1"/>
          <p:nvPr/>
        </p:nvSpPr>
        <p:spPr>
          <a:xfrm>
            <a:off x="9338998" y="2422675"/>
            <a:ext cx="498964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CH₄</a:t>
            </a:r>
          </a:p>
        </p:txBody>
      </p:sp>
      <p:sp>
        <p:nvSpPr>
          <p:cNvPr id="25" name="原题文字_257_26"/>
          <p:cNvSpPr txBox="1"/>
          <p:nvPr/>
        </p:nvSpPr>
        <p:spPr>
          <a:xfrm>
            <a:off x="10518162" y="2415018"/>
            <a:ext cx="514278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5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CO₂</a:t>
            </a:r>
          </a:p>
        </p:txBody>
      </p:sp>
      <p:sp>
        <p:nvSpPr>
          <p:cNvPr id="26" name="原题文字_257_27"/>
          <p:cNvSpPr txBox="1"/>
          <p:nvPr/>
        </p:nvSpPr>
        <p:spPr>
          <a:xfrm>
            <a:off x="977648" y="3180710"/>
            <a:ext cx="935409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离子或化</a:t>
            </a:r>
          </a:p>
        </p:txBody>
      </p:sp>
      <p:sp>
        <p:nvSpPr>
          <p:cNvPr id="27" name="原题文字_257_28"/>
          <p:cNvSpPr txBox="1"/>
          <p:nvPr/>
        </p:nvSpPr>
        <p:spPr>
          <a:xfrm>
            <a:off x="2241039" y="3203681"/>
            <a:ext cx="414738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Cl⁻</a:t>
            </a:r>
          </a:p>
        </p:txBody>
      </p:sp>
      <p:sp>
        <p:nvSpPr>
          <p:cNvPr id="28" name="原题文字_257_29"/>
          <p:cNvSpPr txBox="1"/>
          <p:nvPr/>
        </p:nvSpPr>
        <p:spPr>
          <a:xfrm>
            <a:off x="3397233" y="3127111"/>
            <a:ext cx="491308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7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02-</a:t>
            </a:r>
          </a:p>
        </p:txBody>
      </p:sp>
      <p:sp>
        <p:nvSpPr>
          <p:cNvPr id="29" name="原题文字_257_30"/>
          <p:cNvSpPr txBox="1"/>
          <p:nvPr/>
        </p:nvSpPr>
        <p:spPr>
          <a:xfrm>
            <a:off x="4545770" y="3203681"/>
            <a:ext cx="514278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OH⁻</a:t>
            </a:r>
          </a:p>
        </p:txBody>
      </p:sp>
      <p:sp>
        <p:nvSpPr>
          <p:cNvPr id="30" name="原题文字_257_31"/>
          <p:cNvSpPr txBox="1"/>
          <p:nvPr/>
        </p:nvSpPr>
        <p:spPr>
          <a:xfrm>
            <a:off x="5709621" y="3188367"/>
            <a:ext cx="544906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NH₄⁺</a:t>
            </a:r>
          </a:p>
        </p:txBody>
      </p:sp>
      <p:sp>
        <p:nvSpPr>
          <p:cNvPr id="31" name="原题文字_257_32"/>
          <p:cNvSpPr txBox="1"/>
          <p:nvPr/>
        </p:nvSpPr>
        <p:spPr>
          <a:xfrm>
            <a:off x="6911756" y="3203681"/>
            <a:ext cx="575534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NaCl</a:t>
            </a:r>
          </a:p>
        </p:txBody>
      </p:sp>
      <p:sp>
        <p:nvSpPr>
          <p:cNvPr id="32" name="原题文字_257_33"/>
          <p:cNvSpPr txBox="1"/>
          <p:nvPr/>
        </p:nvSpPr>
        <p:spPr>
          <a:xfrm>
            <a:off x="8121548" y="3196024"/>
            <a:ext cx="529592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K₂O</a:t>
            </a:r>
          </a:p>
        </p:txBody>
      </p:sp>
      <p:sp>
        <p:nvSpPr>
          <p:cNvPr id="33" name="原题文字_257_34"/>
          <p:cNvSpPr txBox="1"/>
          <p:nvPr/>
        </p:nvSpPr>
        <p:spPr>
          <a:xfrm>
            <a:off x="9239458" y="3203681"/>
            <a:ext cx="675073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NaOH</a:t>
            </a:r>
          </a:p>
        </p:txBody>
      </p:sp>
      <p:sp>
        <p:nvSpPr>
          <p:cNvPr id="34" name="原题文字_257_35"/>
          <p:cNvSpPr txBox="1"/>
          <p:nvPr/>
        </p:nvSpPr>
        <p:spPr>
          <a:xfrm>
            <a:off x="10410966" y="3173053"/>
            <a:ext cx="713358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6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Na₂O₂</a:t>
            </a:r>
          </a:p>
        </p:txBody>
      </p:sp>
      <p:sp>
        <p:nvSpPr>
          <p:cNvPr id="35" name="原题文字_257_36"/>
          <p:cNvSpPr txBox="1"/>
          <p:nvPr/>
        </p:nvSpPr>
        <p:spPr>
          <a:xfrm>
            <a:off x="1169071" y="3494643"/>
            <a:ext cx="567877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2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合物</a:t>
            </a:r>
          </a:p>
        </p:txBody>
      </p:sp>
      <p:sp>
        <p:nvSpPr>
          <p:cNvPr id="36" name="文字_解答题  ·  12-00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12-005</a:t>
            </a:r>
          </a:p>
        </p:txBody>
      </p:sp>
      <p:sp>
        <p:nvSpPr>
          <p:cNvPr id="37" name="文字_1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例题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例题6</a:t>
            </a:r>
          </a:p>
        </p:txBody>
      </p:sp>
      <p:sp>
        <p:nvSpPr>
          <p:cNvPr id="5" name="文字_P25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P257</a:t>
            </a:r>
          </a:p>
        </p:txBody>
      </p:sp>
      <p:sp>
        <p:nvSpPr>
          <p:cNvPr id="6" name="文字_侯氏制碱法的原理NaCl + NH₃ + CO₂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侯氏制碱法的原理NaCl + NH₃ + CO₂ + H₂O = NaHCO₃ ↓ +NH₄Cl。下列说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法正确的是</a:t>
            </a:r>
          </a:p>
        </p:txBody>
      </p:sp>
      <p:sp>
        <p:nvSpPr>
          <p:cNvPr id="7" name="文字_A. 中子数为12的钠原子：2Na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中子数为12的钠原子：2Na</a:t>
            </a:r>
          </a:p>
        </p:txBody>
      </p:sp>
      <p:sp>
        <p:nvSpPr>
          <p:cNvPr id="8" name="文字_B. H₂O的电子式：H：O：H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H₂O的电子式：H：O：H</a:t>
            </a:r>
          </a:p>
        </p:txBody>
      </p:sp>
      <p:sp>
        <p:nvSpPr>
          <p:cNvPr id="9" name="文字_C. NH₄Cl中的化学键只含离子键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NH₄Cl中的化学键只含离子键</a:t>
            </a:r>
          </a:p>
        </p:txBody>
      </p:sp>
      <p:sp>
        <p:nvSpPr>
          <p:cNvPr id="10" name="文字_D. NaHCO₃属于电解质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NaHCO₃属于电解质</a:t>
            </a:r>
          </a:p>
        </p:txBody>
      </p:sp>
      <p:sp>
        <p:nvSpPr>
          <p:cNvPr id="11" name="文字_单选题  ·  12-00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12-006</a:t>
            </a:r>
          </a:p>
        </p:txBody>
      </p:sp>
      <p:sp>
        <p:nvSpPr>
          <p:cNvPr id="12" name="文字_1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例题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例题7</a:t>
            </a:r>
          </a:p>
        </p:txBody>
      </p:sp>
      <p:sp>
        <p:nvSpPr>
          <p:cNvPr id="5" name="文字_P25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P257</a:t>
            </a:r>
          </a:p>
        </p:txBody>
      </p:sp>
      <p:sp>
        <p:nvSpPr>
          <p:cNvPr id="6" name="文字_下列说法不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下列说法不正确的是</a:t>
            </a:r>
          </a:p>
        </p:txBody>
      </p:sp>
      <p:sp>
        <p:nvSpPr>
          <p:cNvPr id="7" name="文字_A. NaOH中含有极性键和离子键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NaOH中含有极性键和离子键</a:t>
            </a:r>
          </a:p>
        </p:txBody>
      </p:sp>
      <p:sp>
        <p:nvSpPr>
          <p:cNvPr id="8" name="文字_B. H₃O⁺与OH⁻具有相同的质子数和电子数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H₃O⁺与OH⁻具有相同的质子数和电子数</a:t>
            </a:r>
          </a:p>
        </p:txBody>
      </p:sp>
      <p:sp>
        <p:nvSpPr>
          <p:cNvPr id="9" name="文字_C. Na₂O₂的电子式为Na+:0:0:Na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Na₂O₂的电子式为Na+:0:0:Na</a:t>
            </a:r>
          </a:p>
        </p:txBody>
      </p:sp>
      <p:sp>
        <p:nvSpPr>
          <p:cNvPr id="10" name="文字_D. O₂和O₃是氧元素的同素异形体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O₂和O₃是氧元素的同素异形体</a:t>
            </a:r>
          </a:p>
        </p:txBody>
      </p:sp>
      <p:sp>
        <p:nvSpPr>
          <p:cNvPr id="11" name="文字_单选题  ·  12-00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12-007</a:t>
            </a:r>
          </a:p>
        </p:txBody>
      </p:sp>
      <p:sp>
        <p:nvSpPr>
          <p:cNvPr id="12" name="文字_1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例题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例题8</a:t>
            </a:r>
          </a:p>
        </p:txBody>
      </p:sp>
      <p:sp>
        <p:nvSpPr>
          <p:cNvPr id="5" name="文字_P25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P257</a:t>
            </a:r>
          </a:p>
        </p:txBody>
      </p:sp>
      <p:sp>
        <p:nvSpPr>
          <p:cNvPr id="6" name="文字_下列化学用语表示不正确的是（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下列化学用语表示不正确的是（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7904"/>
            <a:ext cx="11064240" cy="643180"/>
          </a:xfrm>
          <a:prstGeom prst="rect">
            <a:avLst/>
          </a:prstGeom>
        </p:spPr>
      </p:pic>
      <p:sp>
        <p:nvSpPr>
          <p:cNvPr id="8" name="原题文字_257_59"/>
          <p:cNvSpPr txBox="1"/>
          <p:nvPr/>
        </p:nvSpPr>
        <p:spPr>
          <a:xfrm>
            <a:off x="564175" y="1664641"/>
            <a:ext cx="2221770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H₂O分子结构模型：</a:t>
            </a:r>
          </a:p>
        </p:txBody>
      </p:sp>
      <p:sp>
        <p:nvSpPr>
          <p:cNvPr id="9" name="文字_B. H₂O₂电子式:H[:O:O:]H"/>
          <p:cNvSpPr txBox="1"/>
          <p:nvPr/>
        </p:nvSpPr>
        <p:spPr>
          <a:xfrm>
            <a:off x="502920" y="223423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H₂O₂电子式:H[:O:O:]H</a:t>
            </a:r>
          </a:p>
        </p:txBody>
      </p:sp>
      <p:sp>
        <p:nvSpPr>
          <p:cNvPr id="10" name="文字_C. 电子式表示KCl形成过程：K+·CI:→K"/>
          <p:cNvSpPr txBox="1"/>
          <p:nvPr/>
        </p:nvSpPr>
        <p:spPr>
          <a:xfrm>
            <a:off x="502920" y="267314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电子式表示KCl形成过程：K+·CI:→K[CI:]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12060"/>
            <a:ext cx="11064240" cy="704436"/>
          </a:xfrm>
          <a:prstGeom prst="rect">
            <a:avLst/>
          </a:prstGeom>
        </p:spPr>
      </p:pic>
      <p:sp>
        <p:nvSpPr>
          <p:cNvPr id="12" name="原题文字_257_62"/>
          <p:cNvSpPr txBox="1"/>
          <p:nvPr/>
        </p:nvSpPr>
        <p:spPr>
          <a:xfrm>
            <a:off x="564175" y="3159258"/>
            <a:ext cx="1999720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Al³⁺结构示意图：</a:t>
            </a:r>
          </a:p>
        </p:txBody>
      </p:sp>
      <p:sp>
        <p:nvSpPr>
          <p:cNvPr id="13" name="原题文字_257_63"/>
          <p:cNvSpPr txBox="1"/>
          <p:nvPr/>
        </p:nvSpPr>
        <p:spPr>
          <a:xfrm>
            <a:off x="2623885" y="3174572"/>
            <a:ext cx="475994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7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(+13)</a:t>
            </a:r>
          </a:p>
        </p:txBody>
      </p:sp>
      <p:sp>
        <p:nvSpPr>
          <p:cNvPr id="14" name="原题文字_257_64"/>
          <p:cNvSpPr txBox="1"/>
          <p:nvPr/>
        </p:nvSpPr>
        <p:spPr>
          <a:xfrm>
            <a:off x="3106270" y="3197542"/>
            <a:ext cx="238629" cy="2787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</a:t>
            </a:r>
          </a:p>
        </p:txBody>
      </p:sp>
      <p:sp>
        <p:nvSpPr>
          <p:cNvPr id="15" name="原题文字_257_65"/>
          <p:cNvSpPr txBox="1"/>
          <p:nvPr/>
        </p:nvSpPr>
        <p:spPr>
          <a:xfrm>
            <a:off x="3335977" y="3205199"/>
            <a:ext cx="215659" cy="268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8</a:t>
            </a:r>
          </a:p>
        </p:txBody>
      </p:sp>
      <p:sp>
        <p:nvSpPr>
          <p:cNvPr id="16" name="文字_单选题  ·  12-00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12-008</a:t>
            </a:r>
          </a:p>
        </p:txBody>
      </p:sp>
      <p:sp>
        <p:nvSpPr>
          <p:cNvPr id="17" name="文字_1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例题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例题9</a:t>
            </a:r>
          </a:p>
        </p:txBody>
      </p:sp>
      <p:sp>
        <p:nvSpPr>
          <p:cNvPr id="5" name="文字_P25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P258</a:t>
            </a:r>
          </a:p>
        </p:txBody>
      </p:sp>
      <p:sp>
        <p:nvSpPr>
          <p:cNvPr id="6" name="文字_反应8NH₃ +3Cl₂= 6NH₄Cl + N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反应8NH₃ +3Cl₂= 6NH₄Cl + N₂可用于氯气管道的检测，下列表示反应中相关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微粒的化学用语正确的是</a:t>
            </a:r>
          </a:p>
        </p:txBody>
      </p:sp>
      <p:sp>
        <p:nvSpPr>
          <p:cNvPr id="7" name="文字_A. 中子数为18的氯原子：17Cl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中子数为18的氯原子：17Cl</a:t>
            </a:r>
          </a:p>
        </p:txBody>
      </p:sp>
      <p:sp>
        <p:nvSpPr>
          <p:cNvPr id="8" name="文字_B. N₂分子的结构式：N = N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N₂分子的结构式：N = N</a:t>
            </a:r>
          </a:p>
        </p:txBody>
      </p:sp>
      <p:sp>
        <p:nvSpPr>
          <p:cNvPr id="9" name="文字_H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97352"/>
            <a:ext cx="11064240" cy="918829"/>
          </a:xfrm>
          <a:prstGeom prst="rect">
            <a:avLst/>
          </a:prstGeom>
        </p:spPr>
      </p:pic>
      <p:sp>
        <p:nvSpPr>
          <p:cNvPr id="11" name="原题文字_258_8"/>
          <p:cNvSpPr txBox="1"/>
          <p:nvPr/>
        </p:nvSpPr>
        <p:spPr>
          <a:xfrm>
            <a:off x="571832" y="3229235"/>
            <a:ext cx="3975203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2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NH₄Cl的电子式：[H：N：H]†[:C₁:]</a:t>
            </a:r>
          </a:p>
        </p:txBody>
      </p:sp>
      <p:sp>
        <p:nvSpPr>
          <p:cNvPr id="12" name="原题文字_258_9"/>
          <p:cNvSpPr txBox="1"/>
          <p:nvPr/>
        </p:nvSpPr>
        <p:spPr>
          <a:xfrm>
            <a:off x="5954642" y="3374717"/>
            <a:ext cx="2152858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Cl⁻的结构示意图：</a:t>
            </a:r>
          </a:p>
        </p:txBody>
      </p:sp>
      <p:sp>
        <p:nvSpPr>
          <p:cNvPr id="13" name="原题文字_258_10"/>
          <p:cNvSpPr txBox="1"/>
          <p:nvPr/>
        </p:nvSpPr>
        <p:spPr>
          <a:xfrm>
            <a:off x="8175147" y="3374717"/>
            <a:ext cx="560220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(+17)</a:t>
            </a:r>
          </a:p>
        </p:txBody>
      </p:sp>
      <p:sp>
        <p:nvSpPr>
          <p:cNvPr id="14" name="原题文字_258_11"/>
          <p:cNvSpPr txBox="1"/>
          <p:nvPr/>
        </p:nvSpPr>
        <p:spPr>
          <a:xfrm>
            <a:off x="8741758" y="3413001"/>
            <a:ext cx="246286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</a:t>
            </a:r>
          </a:p>
        </p:txBody>
      </p:sp>
      <p:sp>
        <p:nvSpPr>
          <p:cNvPr id="15" name="原题文字_258_12"/>
          <p:cNvSpPr txBox="1"/>
          <p:nvPr/>
        </p:nvSpPr>
        <p:spPr>
          <a:xfrm>
            <a:off x="8986780" y="3413001"/>
            <a:ext cx="246286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8</a:t>
            </a:r>
          </a:p>
        </p:txBody>
      </p:sp>
      <p:sp>
        <p:nvSpPr>
          <p:cNvPr id="16" name="原题文字_258_13"/>
          <p:cNvSpPr txBox="1"/>
          <p:nvPr/>
        </p:nvSpPr>
        <p:spPr>
          <a:xfrm>
            <a:off x="9208830" y="3413001"/>
            <a:ext cx="230973" cy="2787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7</a:t>
            </a:r>
          </a:p>
        </p:txBody>
      </p:sp>
      <p:sp>
        <p:nvSpPr>
          <p:cNvPr id="17" name="原题文字_258_14"/>
          <p:cNvSpPr txBox="1"/>
          <p:nvPr/>
        </p:nvSpPr>
        <p:spPr>
          <a:xfrm>
            <a:off x="3075642" y="3589110"/>
            <a:ext cx="338169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</a:t>
            </a:r>
          </a:p>
        </p:txBody>
      </p:sp>
      <p:sp>
        <p:nvSpPr>
          <p:cNvPr id="18" name="文字_单选题  ·  12-00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12-009</a:t>
            </a:r>
          </a:p>
        </p:txBody>
      </p:sp>
      <p:sp>
        <p:nvSpPr>
          <p:cNvPr id="19" name="文字_1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例题10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例题10</a:t>
            </a:r>
          </a:p>
        </p:txBody>
      </p:sp>
      <p:sp>
        <p:nvSpPr>
          <p:cNvPr id="5" name="文字_P25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11064240" cy="1401215"/>
          </a:xfrm>
          <a:prstGeom prst="rect">
            <a:avLst/>
          </a:prstGeom>
        </p:spPr>
      </p:pic>
      <p:sp>
        <p:nvSpPr>
          <p:cNvPr id="7" name="原题文字_258_18"/>
          <p:cNvSpPr txBox="1"/>
          <p:nvPr/>
        </p:nvSpPr>
        <p:spPr>
          <a:xfrm>
            <a:off x="4928616" y="1126189"/>
            <a:ext cx="253943" cy="2588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5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</a:t>
            </a:r>
          </a:p>
        </p:txBody>
      </p:sp>
      <p:sp>
        <p:nvSpPr>
          <p:cNvPr id="8" name="原题文字_258_19"/>
          <p:cNvSpPr txBox="1"/>
          <p:nvPr/>
        </p:nvSpPr>
        <p:spPr>
          <a:xfrm>
            <a:off x="594802" y="1409495"/>
            <a:ext cx="3936919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固体A的化学式为NH₅，电子式如图所示，</a:t>
            </a:r>
          </a:p>
        </p:txBody>
      </p:sp>
      <p:sp>
        <p:nvSpPr>
          <p:cNvPr id="9" name="原题文字_258_20"/>
          <p:cNvSpPr txBox="1"/>
          <p:nvPr/>
        </p:nvSpPr>
        <p:spPr>
          <a:xfrm>
            <a:off x="4721879" y="1493721"/>
            <a:ext cx="675073" cy="2886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H:N:H</a:t>
            </a:r>
          </a:p>
        </p:txBody>
      </p:sp>
      <p:sp>
        <p:nvSpPr>
          <p:cNvPr id="10" name="原题文字_258_21"/>
          <p:cNvSpPr txBox="1"/>
          <p:nvPr/>
        </p:nvSpPr>
        <p:spPr>
          <a:xfrm>
            <a:off x="5441629" y="1417152"/>
            <a:ext cx="713358" cy="4678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6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[:H],</a:t>
            </a:r>
          </a:p>
        </p:txBody>
      </p:sp>
      <p:sp>
        <p:nvSpPr>
          <p:cNvPr id="11" name="原题文字_258_22"/>
          <p:cNvSpPr txBox="1"/>
          <p:nvPr/>
        </p:nvSpPr>
        <p:spPr>
          <a:xfrm>
            <a:off x="6046525" y="1386524"/>
            <a:ext cx="1884866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7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</a:t>
            </a:r>
          </a:p>
        </p:txBody>
      </p:sp>
      <p:sp>
        <p:nvSpPr>
          <p:cNvPr id="12" name="原题文字_258_23"/>
          <p:cNvSpPr txBox="1"/>
          <p:nvPr/>
        </p:nvSpPr>
        <p:spPr>
          <a:xfrm>
            <a:off x="4936272" y="1884224"/>
            <a:ext cx="253943" cy="268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</a:t>
            </a:r>
          </a:p>
        </p:txBody>
      </p:sp>
      <p:sp>
        <p:nvSpPr>
          <p:cNvPr id="13" name="原题文字_258_24"/>
          <p:cNvSpPr txBox="1"/>
          <p:nvPr/>
        </p:nvSpPr>
        <p:spPr>
          <a:xfrm>
            <a:off x="571832" y="2167529"/>
            <a:ext cx="2374908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NH₅属于离子化合物</a:t>
            </a:r>
          </a:p>
        </p:txBody>
      </p:sp>
      <p:sp>
        <p:nvSpPr>
          <p:cNvPr id="14" name="原题文字_258_25"/>
          <p:cNvSpPr txBox="1"/>
          <p:nvPr/>
        </p:nvSpPr>
        <p:spPr>
          <a:xfrm>
            <a:off x="3236438" y="2159872"/>
            <a:ext cx="2374908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NH₅属于共价化合物</a:t>
            </a:r>
          </a:p>
        </p:txBody>
      </p:sp>
      <p:sp>
        <p:nvSpPr>
          <p:cNvPr id="15" name="原题文字_258_26"/>
          <p:cNvSpPr txBox="1"/>
          <p:nvPr/>
        </p:nvSpPr>
        <p:spPr>
          <a:xfrm>
            <a:off x="5939328" y="2175186"/>
            <a:ext cx="2152858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NH₅只含有离子键</a:t>
            </a:r>
          </a:p>
        </p:txBody>
      </p:sp>
      <p:sp>
        <p:nvSpPr>
          <p:cNvPr id="16" name="原题文字_258_27"/>
          <p:cNvSpPr txBox="1"/>
          <p:nvPr/>
        </p:nvSpPr>
        <p:spPr>
          <a:xfrm>
            <a:off x="8634562" y="2175186"/>
            <a:ext cx="2137544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NH₅只含有共价键</a:t>
            </a:r>
          </a:p>
        </p:txBody>
      </p:sp>
      <p:sp>
        <p:nvSpPr>
          <p:cNvPr id="17" name="文字_单选题  ·  12-01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12-010</a:t>
            </a:r>
          </a:p>
        </p:txBody>
      </p:sp>
      <p:sp>
        <p:nvSpPr>
          <p:cNvPr id="18" name="文字_1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例题1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例题11</a:t>
            </a:r>
          </a:p>
        </p:txBody>
      </p:sp>
      <p:sp>
        <p:nvSpPr>
          <p:cNvPr id="5" name="文字_P25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P258</a:t>
            </a:r>
          </a:p>
        </p:txBody>
      </p:sp>
      <p:sp>
        <p:nvSpPr>
          <p:cNvPr id="6" name="文字_离子化合物是以离子键结合的化合物。下列关于离子化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离子化合物是以离子键结合的化合物。下列关于离子化合物的说法中，正确的是</a:t>
            </a:r>
          </a:p>
        </p:txBody>
      </p:sp>
      <p:sp>
        <p:nvSpPr>
          <p:cNvPr id="7" name="文字_A. 离子化合物的化学式代表其分子的组成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离子化合物的化学式代表其分子的组成</a:t>
            </a:r>
          </a:p>
        </p:txBody>
      </p:sp>
      <p:sp>
        <p:nvSpPr>
          <p:cNvPr id="8" name="文字_B. 离子化合物熔融时不破坏离子键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离子化合物熔融时不破坏离子键</a:t>
            </a:r>
          </a:p>
        </p:txBody>
      </p:sp>
      <p:sp>
        <p:nvSpPr>
          <p:cNvPr id="9" name="文字_C. 离子化合物在固态或水溶液中都能导电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离子化合物在固态或水溶液中都能导电</a:t>
            </a:r>
          </a:p>
        </p:txBody>
      </p:sp>
      <p:sp>
        <p:nvSpPr>
          <p:cNvPr id="10" name="文字_D. 离子化合物可能只含有非金属元素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离子化合物可能只含有非金属元素</a:t>
            </a:r>
          </a:p>
        </p:txBody>
      </p:sp>
      <p:sp>
        <p:nvSpPr>
          <p:cNvPr id="11" name="文字_单选题  ·  12-01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12-011</a:t>
            </a:r>
          </a:p>
        </p:txBody>
      </p:sp>
      <p:sp>
        <p:nvSpPr>
          <p:cNvPr id="12" name="文字_1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例题1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例题12</a:t>
            </a:r>
          </a:p>
        </p:txBody>
      </p:sp>
      <p:sp>
        <p:nvSpPr>
          <p:cNvPr id="5" name="文字_P25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P258</a:t>
            </a:r>
          </a:p>
        </p:txBody>
      </p:sp>
      <p:sp>
        <p:nvSpPr>
          <p:cNvPr id="6" name="文字_关于化学键的下列叙述中，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关于化学键的下列叙述中，正确的是</a:t>
            </a:r>
          </a:p>
        </p:txBody>
      </p:sp>
      <p:sp>
        <p:nvSpPr>
          <p:cNvPr id="7" name="文字_①离子化合物可以含共价键②共价化合物可能含离子键"/>
          <p:cNvSpPr txBox="1"/>
          <p:nvPr/>
        </p:nvSpPr>
        <p:spPr>
          <a:xfrm>
            <a:off x="502920" y="1517904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①离子化合物可以含共价键②共价化合物可能含离子键③离子化合物中只能含离子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键 ④共价化合物中不含离子键</a:t>
            </a:r>
          </a:p>
        </p:txBody>
      </p:sp>
      <p:sp>
        <p:nvSpPr>
          <p:cNvPr id="8" name="文字_⑤共价化合物只含共价键⑥共价化合物可能含极性键和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⑤共价化合物只含共价键⑥共价化合物可能含极性键和非极性键</a:t>
            </a:r>
          </a:p>
        </p:txBody>
      </p:sp>
      <p:sp>
        <p:nvSpPr>
          <p:cNvPr id="9" name="文字_A. ①④⑤⑥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①④⑤⑥</a:t>
            </a:r>
          </a:p>
        </p:txBody>
      </p:sp>
      <p:sp>
        <p:nvSpPr>
          <p:cNvPr id="10" name="文字_B. ①③⑥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①③⑥</a:t>
            </a:r>
          </a:p>
        </p:txBody>
      </p:sp>
      <p:sp>
        <p:nvSpPr>
          <p:cNvPr id="11" name="文字_C. ②③④⑥"/>
          <p:cNvSpPr txBox="1"/>
          <p:nvPr/>
        </p:nvSpPr>
        <p:spPr>
          <a:xfrm>
            <a:off x="502920" y="36362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②③④⑥</a:t>
            </a:r>
          </a:p>
        </p:txBody>
      </p:sp>
      <p:sp>
        <p:nvSpPr>
          <p:cNvPr id="12" name="文字_D. ②④⑥"/>
          <p:cNvSpPr txBox="1"/>
          <p:nvPr/>
        </p:nvSpPr>
        <p:spPr>
          <a:xfrm>
            <a:off x="502920" y="40751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②④⑥</a:t>
            </a:r>
          </a:p>
        </p:txBody>
      </p:sp>
      <p:sp>
        <p:nvSpPr>
          <p:cNvPr id="13" name="文字_单选题  ·  12-01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12-012</a:t>
            </a:r>
          </a:p>
        </p:txBody>
      </p:sp>
      <p:sp>
        <p:nvSpPr>
          <p:cNvPr id="14" name="文字_2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例题1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例题13</a:t>
            </a:r>
          </a:p>
        </p:txBody>
      </p:sp>
      <p:sp>
        <p:nvSpPr>
          <p:cNvPr id="5" name="文字_P25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P258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11064240" cy="4226616"/>
          </a:xfrm>
          <a:prstGeom prst="rect">
            <a:avLst/>
          </a:prstGeom>
        </p:spPr>
      </p:pic>
      <p:sp>
        <p:nvSpPr>
          <p:cNvPr id="7" name="原题文字_258_49"/>
          <p:cNvSpPr txBox="1"/>
          <p:nvPr/>
        </p:nvSpPr>
        <p:spPr>
          <a:xfrm>
            <a:off x="602459" y="1087905"/>
            <a:ext cx="4679639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下列关于化合物和化学键类型的叙述正确的是（</a:t>
            </a:r>
          </a:p>
        </p:txBody>
      </p:sp>
      <p:sp>
        <p:nvSpPr>
          <p:cNvPr id="8" name="原题文字_258_50"/>
          <p:cNvSpPr txBox="1"/>
          <p:nvPr/>
        </p:nvSpPr>
        <p:spPr>
          <a:xfrm>
            <a:off x="1322209" y="1516692"/>
            <a:ext cx="636789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HClO</a:t>
            </a:r>
          </a:p>
        </p:txBody>
      </p:sp>
      <p:sp>
        <p:nvSpPr>
          <p:cNvPr id="9" name="原题文字_258_51"/>
          <p:cNvSpPr txBox="1"/>
          <p:nvPr/>
        </p:nvSpPr>
        <p:spPr>
          <a:xfrm>
            <a:off x="3803049" y="1532006"/>
            <a:ext cx="713358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8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Na₂O₂</a:t>
            </a:r>
          </a:p>
        </p:txBody>
      </p:sp>
      <p:sp>
        <p:nvSpPr>
          <p:cNvPr id="10" name="原题文字_258_52"/>
          <p:cNvSpPr txBox="1"/>
          <p:nvPr/>
        </p:nvSpPr>
        <p:spPr>
          <a:xfrm>
            <a:off x="6268575" y="1501378"/>
            <a:ext cx="613818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NaCl</a:t>
            </a:r>
          </a:p>
        </p:txBody>
      </p:sp>
      <p:sp>
        <p:nvSpPr>
          <p:cNvPr id="11" name="原题文字_258_53"/>
          <p:cNvSpPr txBox="1"/>
          <p:nvPr/>
        </p:nvSpPr>
        <p:spPr>
          <a:xfrm>
            <a:off x="8764729" y="1516692"/>
            <a:ext cx="743986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NH₄Cl</a:t>
            </a:r>
          </a:p>
        </p:txBody>
      </p:sp>
      <p:sp>
        <p:nvSpPr>
          <p:cNvPr id="12" name="原题文字_258_54"/>
          <p:cNvSpPr txBox="1"/>
          <p:nvPr/>
        </p:nvSpPr>
        <p:spPr>
          <a:xfrm>
            <a:off x="1329866" y="1891880"/>
            <a:ext cx="1188087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共价化合物</a:t>
            </a:r>
          </a:p>
        </p:txBody>
      </p:sp>
      <p:sp>
        <p:nvSpPr>
          <p:cNvPr id="13" name="原题文字_258_55"/>
          <p:cNvSpPr txBox="1"/>
          <p:nvPr/>
        </p:nvSpPr>
        <p:spPr>
          <a:xfrm>
            <a:off x="3818363" y="1907194"/>
            <a:ext cx="1172773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</a:t>
            </a:r>
          </a:p>
        </p:txBody>
      </p:sp>
      <p:sp>
        <p:nvSpPr>
          <p:cNvPr id="14" name="原题文字_258_56"/>
          <p:cNvSpPr txBox="1"/>
          <p:nvPr/>
        </p:nvSpPr>
        <p:spPr>
          <a:xfrm>
            <a:off x="6306860" y="1907194"/>
            <a:ext cx="1172773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</a:t>
            </a:r>
          </a:p>
        </p:txBody>
      </p:sp>
      <p:sp>
        <p:nvSpPr>
          <p:cNvPr id="15" name="原题文字_258_57"/>
          <p:cNvSpPr txBox="1"/>
          <p:nvPr/>
        </p:nvSpPr>
        <p:spPr>
          <a:xfrm>
            <a:off x="8780043" y="1884224"/>
            <a:ext cx="1188087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共价化合物</a:t>
            </a:r>
          </a:p>
        </p:txBody>
      </p:sp>
      <p:sp>
        <p:nvSpPr>
          <p:cNvPr id="16" name="原题文字_258_58"/>
          <p:cNvSpPr txBox="1"/>
          <p:nvPr/>
        </p:nvSpPr>
        <p:spPr>
          <a:xfrm>
            <a:off x="625430" y="2121588"/>
            <a:ext cx="276914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7" name="原题文字_258_59"/>
          <p:cNvSpPr txBox="1"/>
          <p:nvPr/>
        </p:nvSpPr>
        <p:spPr>
          <a:xfrm>
            <a:off x="1322209" y="2251755"/>
            <a:ext cx="797584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共价键</a:t>
            </a:r>
          </a:p>
        </p:txBody>
      </p:sp>
      <p:sp>
        <p:nvSpPr>
          <p:cNvPr id="18" name="原题文字_258_60"/>
          <p:cNvSpPr txBox="1"/>
          <p:nvPr/>
        </p:nvSpPr>
        <p:spPr>
          <a:xfrm>
            <a:off x="3803049" y="2251755"/>
            <a:ext cx="789927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离子键</a:t>
            </a:r>
          </a:p>
        </p:txBody>
      </p:sp>
      <p:sp>
        <p:nvSpPr>
          <p:cNvPr id="19" name="原题文字_258_61"/>
          <p:cNvSpPr txBox="1"/>
          <p:nvPr/>
        </p:nvSpPr>
        <p:spPr>
          <a:xfrm>
            <a:off x="6299203" y="2251755"/>
            <a:ext cx="782270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离子键</a:t>
            </a:r>
          </a:p>
        </p:txBody>
      </p:sp>
      <p:sp>
        <p:nvSpPr>
          <p:cNvPr id="20" name="原题文字_258_62"/>
          <p:cNvSpPr txBox="1"/>
          <p:nvPr/>
        </p:nvSpPr>
        <p:spPr>
          <a:xfrm>
            <a:off x="8764729" y="2244098"/>
            <a:ext cx="789927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共价键</a:t>
            </a:r>
          </a:p>
        </p:txBody>
      </p:sp>
      <p:sp>
        <p:nvSpPr>
          <p:cNvPr id="21" name="原题文字_258_63"/>
          <p:cNvSpPr txBox="1"/>
          <p:nvPr/>
        </p:nvSpPr>
        <p:spPr>
          <a:xfrm>
            <a:off x="1329866" y="2672886"/>
            <a:ext cx="1188087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共价化合物</a:t>
            </a:r>
          </a:p>
        </p:txBody>
      </p:sp>
      <p:sp>
        <p:nvSpPr>
          <p:cNvPr id="22" name="原题文字_258_64"/>
          <p:cNvSpPr txBox="1"/>
          <p:nvPr/>
        </p:nvSpPr>
        <p:spPr>
          <a:xfrm>
            <a:off x="3826020" y="2688199"/>
            <a:ext cx="1165116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</a:t>
            </a:r>
          </a:p>
        </p:txBody>
      </p:sp>
      <p:sp>
        <p:nvSpPr>
          <p:cNvPr id="23" name="原题文字_258_65"/>
          <p:cNvSpPr txBox="1"/>
          <p:nvPr/>
        </p:nvSpPr>
        <p:spPr>
          <a:xfrm>
            <a:off x="6314517" y="2688199"/>
            <a:ext cx="1165116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</a:t>
            </a:r>
          </a:p>
        </p:txBody>
      </p:sp>
      <p:sp>
        <p:nvSpPr>
          <p:cNvPr id="24" name="原题文字_258_66"/>
          <p:cNvSpPr txBox="1"/>
          <p:nvPr/>
        </p:nvSpPr>
        <p:spPr>
          <a:xfrm>
            <a:off x="8787700" y="2680543"/>
            <a:ext cx="1172773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</a:t>
            </a:r>
          </a:p>
        </p:txBody>
      </p:sp>
      <p:sp>
        <p:nvSpPr>
          <p:cNvPr id="25" name="原题文字_258_67"/>
          <p:cNvSpPr txBox="1"/>
          <p:nvPr/>
        </p:nvSpPr>
        <p:spPr>
          <a:xfrm>
            <a:off x="625430" y="2917907"/>
            <a:ext cx="246286" cy="268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</a:t>
            </a:r>
          </a:p>
        </p:txBody>
      </p:sp>
      <p:sp>
        <p:nvSpPr>
          <p:cNvPr id="26" name="原题文字_258_68"/>
          <p:cNvSpPr txBox="1"/>
          <p:nvPr/>
        </p:nvSpPr>
        <p:spPr>
          <a:xfrm>
            <a:off x="1322209" y="3032761"/>
            <a:ext cx="797584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共价键</a:t>
            </a:r>
          </a:p>
        </p:txBody>
      </p:sp>
      <p:sp>
        <p:nvSpPr>
          <p:cNvPr id="27" name="原题文字_258_69"/>
          <p:cNvSpPr txBox="1"/>
          <p:nvPr/>
        </p:nvSpPr>
        <p:spPr>
          <a:xfrm>
            <a:off x="3803049" y="3032761"/>
            <a:ext cx="797584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共价键</a:t>
            </a:r>
          </a:p>
        </p:txBody>
      </p:sp>
      <p:sp>
        <p:nvSpPr>
          <p:cNvPr id="28" name="原题文字_258_70"/>
          <p:cNvSpPr txBox="1"/>
          <p:nvPr/>
        </p:nvSpPr>
        <p:spPr>
          <a:xfrm>
            <a:off x="6299203" y="3040417"/>
            <a:ext cx="782270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7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离子键</a:t>
            </a:r>
          </a:p>
        </p:txBody>
      </p:sp>
      <p:sp>
        <p:nvSpPr>
          <p:cNvPr id="29" name="原题文字_258_71"/>
          <p:cNvSpPr txBox="1"/>
          <p:nvPr/>
        </p:nvSpPr>
        <p:spPr>
          <a:xfrm>
            <a:off x="8772386" y="3032761"/>
            <a:ext cx="797584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共价键</a:t>
            </a:r>
          </a:p>
        </p:txBody>
      </p:sp>
      <p:sp>
        <p:nvSpPr>
          <p:cNvPr id="30" name="原题文字_258_72"/>
          <p:cNvSpPr txBox="1"/>
          <p:nvPr/>
        </p:nvSpPr>
        <p:spPr>
          <a:xfrm>
            <a:off x="1329866" y="3453891"/>
            <a:ext cx="1188087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共价化合物</a:t>
            </a:r>
          </a:p>
        </p:txBody>
      </p:sp>
      <p:sp>
        <p:nvSpPr>
          <p:cNvPr id="31" name="原题文字_258_73"/>
          <p:cNvSpPr txBox="1"/>
          <p:nvPr/>
        </p:nvSpPr>
        <p:spPr>
          <a:xfrm>
            <a:off x="3810706" y="3453891"/>
            <a:ext cx="1203401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</a:t>
            </a:r>
          </a:p>
        </p:txBody>
      </p:sp>
      <p:sp>
        <p:nvSpPr>
          <p:cNvPr id="32" name="原题文字_258_74"/>
          <p:cNvSpPr txBox="1"/>
          <p:nvPr/>
        </p:nvSpPr>
        <p:spPr>
          <a:xfrm>
            <a:off x="6299203" y="3469205"/>
            <a:ext cx="1172773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</a:t>
            </a:r>
          </a:p>
        </p:txBody>
      </p:sp>
      <p:sp>
        <p:nvSpPr>
          <p:cNvPr id="33" name="原题文字_258_75"/>
          <p:cNvSpPr txBox="1"/>
          <p:nvPr/>
        </p:nvSpPr>
        <p:spPr>
          <a:xfrm>
            <a:off x="8787700" y="3469205"/>
            <a:ext cx="1180430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</a:t>
            </a:r>
          </a:p>
        </p:txBody>
      </p:sp>
      <p:sp>
        <p:nvSpPr>
          <p:cNvPr id="34" name="原题文字_258_76"/>
          <p:cNvSpPr txBox="1"/>
          <p:nvPr/>
        </p:nvSpPr>
        <p:spPr>
          <a:xfrm>
            <a:off x="633087" y="3668284"/>
            <a:ext cx="246286" cy="2787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</a:t>
            </a:r>
          </a:p>
        </p:txBody>
      </p:sp>
      <p:sp>
        <p:nvSpPr>
          <p:cNvPr id="35" name="原题文字_258_77"/>
          <p:cNvSpPr txBox="1"/>
          <p:nvPr/>
        </p:nvSpPr>
        <p:spPr>
          <a:xfrm>
            <a:off x="1322209" y="3790795"/>
            <a:ext cx="782270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共价键</a:t>
            </a:r>
          </a:p>
        </p:txBody>
      </p:sp>
      <p:sp>
        <p:nvSpPr>
          <p:cNvPr id="36" name="原题文字_258_78"/>
          <p:cNvSpPr txBox="1"/>
          <p:nvPr/>
        </p:nvSpPr>
        <p:spPr>
          <a:xfrm>
            <a:off x="3818363" y="3813766"/>
            <a:ext cx="1616874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离子键、共价键</a:t>
            </a:r>
          </a:p>
        </p:txBody>
      </p:sp>
      <p:sp>
        <p:nvSpPr>
          <p:cNvPr id="37" name="原题文字_258_79"/>
          <p:cNvSpPr txBox="1"/>
          <p:nvPr/>
        </p:nvSpPr>
        <p:spPr>
          <a:xfrm>
            <a:off x="6283889" y="3806109"/>
            <a:ext cx="797584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离子键</a:t>
            </a:r>
          </a:p>
        </p:txBody>
      </p:sp>
      <p:sp>
        <p:nvSpPr>
          <p:cNvPr id="38" name="原题文字_258_80"/>
          <p:cNvSpPr txBox="1"/>
          <p:nvPr/>
        </p:nvSpPr>
        <p:spPr>
          <a:xfrm>
            <a:off x="8780043" y="3798452"/>
            <a:ext cx="1624531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4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离子键、共价键</a:t>
            </a:r>
          </a:p>
        </p:txBody>
      </p:sp>
      <p:sp>
        <p:nvSpPr>
          <p:cNvPr id="39" name="原题文字_258_81"/>
          <p:cNvSpPr txBox="1"/>
          <p:nvPr/>
        </p:nvSpPr>
        <p:spPr>
          <a:xfrm>
            <a:off x="1337523" y="4234896"/>
            <a:ext cx="1172773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共价化合物</a:t>
            </a:r>
          </a:p>
        </p:txBody>
      </p:sp>
      <p:sp>
        <p:nvSpPr>
          <p:cNvPr id="40" name="原题文字_258_82"/>
          <p:cNvSpPr txBox="1"/>
          <p:nvPr/>
        </p:nvSpPr>
        <p:spPr>
          <a:xfrm>
            <a:off x="3826020" y="4234896"/>
            <a:ext cx="1165116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</a:t>
            </a:r>
          </a:p>
        </p:txBody>
      </p:sp>
      <p:sp>
        <p:nvSpPr>
          <p:cNvPr id="41" name="原题文字_258_83"/>
          <p:cNvSpPr txBox="1"/>
          <p:nvPr/>
        </p:nvSpPr>
        <p:spPr>
          <a:xfrm>
            <a:off x="6306860" y="4234896"/>
            <a:ext cx="1165116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</a:t>
            </a:r>
          </a:p>
        </p:txBody>
      </p:sp>
      <p:sp>
        <p:nvSpPr>
          <p:cNvPr id="42" name="原题文字_258_84"/>
          <p:cNvSpPr txBox="1"/>
          <p:nvPr/>
        </p:nvSpPr>
        <p:spPr>
          <a:xfrm>
            <a:off x="8780043" y="4234896"/>
            <a:ext cx="1180430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</a:t>
            </a:r>
          </a:p>
        </p:txBody>
      </p:sp>
      <p:sp>
        <p:nvSpPr>
          <p:cNvPr id="43" name="原题文字_258_85"/>
          <p:cNvSpPr txBox="1"/>
          <p:nvPr/>
        </p:nvSpPr>
        <p:spPr>
          <a:xfrm>
            <a:off x="625430" y="4464603"/>
            <a:ext cx="253943" cy="268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44" name="原题文字_258_86"/>
          <p:cNvSpPr txBox="1"/>
          <p:nvPr/>
        </p:nvSpPr>
        <p:spPr>
          <a:xfrm>
            <a:off x="1322209" y="4579457"/>
            <a:ext cx="797584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离子键</a:t>
            </a:r>
          </a:p>
        </p:txBody>
      </p:sp>
      <p:sp>
        <p:nvSpPr>
          <p:cNvPr id="45" name="原题文字_258_87"/>
          <p:cNvSpPr txBox="1"/>
          <p:nvPr/>
        </p:nvSpPr>
        <p:spPr>
          <a:xfrm>
            <a:off x="3826020" y="4610085"/>
            <a:ext cx="1601560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离子键、共价键</a:t>
            </a:r>
          </a:p>
        </p:txBody>
      </p:sp>
      <p:sp>
        <p:nvSpPr>
          <p:cNvPr id="46" name="原题文字_258_88"/>
          <p:cNvSpPr txBox="1"/>
          <p:nvPr/>
        </p:nvSpPr>
        <p:spPr>
          <a:xfrm>
            <a:off x="6283889" y="4579457"/>
            <a:ext cx="797584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离子键</a:t>
            </a:r>
          </a:p>
        </p:txBody>
      </p:sp>
      <p:sp>
        <p:nvSpPr>
          <p:cNvPr id="47" name="原题文字_258_89"/>
          <p:cNvSpPr txBox="1"/>
          <p:nvPr/>
        </p:nvSpPr>
        <p:spPr>
          <a:xfrm>
            <a:off x="8787700" y="4602428"/>
            <a:ext cx="1616874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离子键、共价键</a:t>
            </a:r>
          </a:p>
        </p:txBody>
      </p:sp>
      <p:sp>
        <p:nvSpPr>
          <p:cNvPr id="48" name="原题文字_258_90"/>
          <p:cNvSpPr txBox="1"/>
          <p:nvPr/>
        </p:nvSpPr>
        <p:spPr>
          <a:xfrm>
            <a:off x="564175" y="5046529"/>
            <a:ext cx="621475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A</a:t>
            </a:r>
          </a:p>
        </p:txBody>
      </p:sp>
      <p:sp>
        <p:nvSpPr>
          <p:cNvPr id="49" name="原题文字_258_91"/>
          <p:cNvSpPr txBox="1"/>
          <p:nvPr/>
        </p:nvSpPr>
        <p:spPr>
          <a:xfrm>
            <a:off x="3236438" y="5046529"/>
            <a:ext cx="613818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B</a:t>
            </a:r>
          </a:p>
        </p:txBody>
      </p:sp>
      <p:sp>
        <p:nvSpPr>
          <p:cNvPr id="50" name="原题文字_258_92"/>
          <p:cNvSpPr txBox="1"/>
          <p:nvPr/>
        </p:nvSpPr>
        <p:spPr>
          <a:xfrm>
            <a:off x="5924014" y="5031215"/>
            <a:ext cx="644446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C</a:t>
            </a:r>
          </a:p>
        </p:txBody>
      </p:sp>
      <p:sp>
        <p:nvSpPr>
          <p:cNvPr id="51" name="原题文字_258_93"/>
          <p:cNvSpPr txBox="1"/>
          <p:nvPr/>
        </p:nvSpPr>
        <p:spPr>
          <a:xfrm>
            <a:off x="8619248" y="5046529"/>
            <a:ext cx="629132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D</a:t>
            </a:r>
          </a:p>
        </p:txBody>
      </p:sp>
      <p:sp>
        <p:nvSpPr>
          <p:cNvPr id="52" name="文字_单选题  ·  12-01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12-013</a:t>
            </a:r>
          </a:p>
        </p:txBody>
      </p:sp>
      <p:sp>
        <p:nvSpPr>
          <p:cNvPr id="53" name="文字_2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例题1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例题14</a:t>
            </a:r>
          </a:p>
        </p:txBody>
      </p:sp>
      <p:sp>
        <p:nvSpPr>
          <p:cNvPr id="5" name="文字_P25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P259</a:t>
            </a:r>
          </a:p>
        </p:txBody>
      </p:sp>
      <p:sp>
        <p:nvSpPr>
          <p:cNvPr id="6" name="文字_有下列几种物质：①Ne ②NH₄Cl ③NaOH"/>
          <p:cNvSpPr txBox="1"/>
          <p:nvPr/>
        </p:nvSpPr>
        <p:spPr>
          <a:xfrm>
            <a:off x="502920" y="1078992"/>
            <a:ext cx="11064240" cy="1527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有下列几种物质：①Ne ②NH₄Cl ③NaOH ④Cl₂ ⑤KNO₃₃⑥CO₂⑦H₂O₂ ⑧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Na₂O₂。属于共价化合物得是 ______ (填序号，下同)，只存在极性键的是 ______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，既存在极性键又存在非极性键的是 ______ ，既存在极性键又存在离子键的是 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既存在离子键又存在非极性键的是</a:t>
            </a:r>
          </a:p>
        </p:txBody>
      </p:sp>
      <p:sp>
        <p:nvSpPr>
          <p:cNvPr id="7" name="文字_填空题  ·  12-01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12-014</a:t>
            </a:r>
          </a:p>
        </p:txBody>
      </p:sp>
      <p:sp>
        <p:nvSpPr>
          <p:cNvPr id="8" name="文字_2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变式1</a:t>
            </a:r>
          </a:p>
        </p:txBody>
      </p:sp>
      <p:sp>
        <p:nvSpPr>
          <p:cNvPr id="5" name="文字_P25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P259</a:t>
            </a:r>
          </a:p>
        </p:txBody>
      </p:sp>
      <p:sp>
        <p:nvSpPr>
          <p:cNvPr id="6" name="文字_下列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</a:t>
            </a:r>
          </a:p>
        </p:txBody>
      </p:sp>
      <p:sp>
        <p:nvSpPr>
          <p:cNvPr id="7" name="文字_①共价化合物一定含共价键，也可能含离子键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①共价化合物一定含共价键，也可能含离子键</a:t>
            </a:r>
          </a:p>
        </p:txBody>
      </p:sp>
      <p:sp>
        <p:nvSpPr>
          <p:cNvPr id="8" name="文字_②离子化合物一定含离子键，也可能含极性键或非极性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②离子化合物一定含离子键，也可能含极性键或非极性键</a:t>
            </a:r>
          </a:p>
        </p:txBody>
      </p:sp>
      <p:sp>
        <p:nvSpPr>
          <p:cNvPr id="9" name="文字_③含金属元素的化合物不一定是离子化合物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③含金属元素的化合物不一定是离子化合物</a:t>
            </a:r>
          </a:p>
        </p:txBody>
      </p:sp>
      <p:sp>
        <p:nvSpPr>
          <p:cNvPr id="10" name="文字_④熔融状态下能导电的化合物一定是离子化合物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④熔融状态下能导电的化合物一定是离子化合物</a:t>
            </a:r>
          </a:p>
        </p:txBody>
      </p:sp>
      <p:sp>
        <p:nvSpPr>
          <p:cNvPr id="11" name="文字_⑤由分子构成的物质中一定存在共价键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⑤由分子构成的物质中一定存在共价键</a:t>
            </a:r>
          </a:p>
        </p:txBody>
      </p:sp>
      <p:sp>
        <p:nvSpPr>
          <p:cNvPr id="12" name="文字_⑥由非金属元素组成的化合物一定是共价化合物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⑥由非金属元素组成的化合物一定是共价化合物</a:t>
            </a:r>
          </a:p>
        </p:txBody>
      </p:sp>
      <p:sp>
        <p:nvSpPr>
          <p:cNvPr id="13" name="文字_A. ①③⑤"/>
          <p:cNvSpPr txBox="1"/>
          <p:nvPr/>
        </p:nvSpPr>
        <p:spPr>
          <a:xfrm>
            <a:off x="502920" y="41513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①③⑤</a:t>
            </a:r>
          </a:p>
        </p:txBody>
      </p:sp>
      <p:sp>
        <p:nvSpPr>
          <p:cNvPr id="14" name="文字_B. ②④⑥"/>
          <p:cNvSpPr txBox="1"/>
          <p:nvPr/>
        </p:nvSpPr>
        <p:spPr>
          <a:xfrm>
            <a:off x="502920" y="45902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②④⑥</a:t>
            </a:r>
          </a:p>
        </p:txBody>
      </p:sp>
      <p:sp>
        <p:nvSpPr>
          <p:cNvPr id="15" name="文字_C. ②③④"/>
          <p:cNvSpPr txBox="1"/>
          <p:nvPr/>
        </p:nvSpPr>
        <p:spPr>
          <a:xfrm>
            <a:off x="502920" y="502920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②③④</a:t>
            </a:r>
          </a:p>
        </p:txBody>
      </p:sp>
      <p:sp>
        <p:nvSpPr>
          <p:cNvPr id="16" name="文字_D. ①③⑥"/>
          <p:cNvSpPr txBox="1"/>
          <p:nvPr/>
        </p:nvSpPr>
        <p:spPr>
          <a:xfrm>
            <a:off x="502920" y="546811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①③⑥</a:t>
            </a:r>
          </a:p>
        </p:txBody>
      </p:sp>
      <p:sp>
        <p:nvSpPr>
          <p:cNvPr id="17" name="文字_单选题  ·  12-01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12-015</a:t>
            </a:r>
          </a:p>
        </p:txBody>
      </p:sp>
      <p:sp>
        <p:nvSpPr>
          <p:cNvPr id="18" name="文字_2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变式2</a:t>
            </a:r>
          </a:p>
        </p:txBody>
      </p:sp>
      <p:sp>
        <p:nvSpPr>
          <p:cNvPr id="5" name="文字_P25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P259</a:t>
            </a:r>
          </a:p>
        </p:txBody>
      </p:sp>
      <p:sp>
        <p:nvSpPr>
          <p:cNvPr id="6" name="文字_研究化学键有助于人们理解物质的某些性质。下列各组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研究化学键有助于人们理解物质的某些性质。下列各组物质中，化学键类型完全相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同的是</a:t>
            </a:r>
          </a:p>
        </p:txBody>
      </p:sp>
      <p:sp>
        <p:nvSpPr>
          <p:cNvPr id="7" name="文字_A. O₂和MgCl₂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O₂和MgCl₂</a:t>
            </a:r>
          </a:p>
        </p:txBody>
      </p:sp>
      <p:sp>
        <p:nvSpPr>
          <p:cNvPr id="8" name="文字_B. HCl和Na₂O₂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HCl和Na₂O₂</a:t>
            </a:r>
          </a:p>
        </p:txBody>
      </p:sp>
      <p:sp>
        <p:nvSpPr>
          <p:cNvPr id="9" name="文字_C. CH₄和NaOH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CH₄和NaOH</a:t>
            </a:r>
          </a:p>
        </p:txBody>
      </p:sp>
      <p:sp>
        <p:nvSpPr>
          <p:cNvPr id="10" name="文字_D. CO₂和H₂O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CO₂和H₂O</a:t>
            </a:r>
          </a:p>
        </p:txBody>
      </p:sp>
      <p:sp>
        <p:nvSpPr>
          <p:cNvPr id="11" name="文字_单选题  ·  12-01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12-016</a:t>
            </a:r>
          </a:p>
        </p:txBody>
      </p:sp>
      <p:sp>
        <p:nvSpPr>
          <p:cNvPr id="12" name="文字_2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变式3</a:t>
            </a:r>
          </a:p>
        </p:txBody>
      </p:sp>
      <p:sp>
        <p:nvSpPr>
          <p:cNvPr id="5" name="文字_P25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P259</a:t>
            </a:r>
          </a:p>
        </p:txBody>
      </p:sp>
      <p:sp>
        <p:nvSpPr>
          <p:cNvPr id="6" name="文字_下列物质中只含有共价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下列物质中只含有共价键的是</a:t>
            </a:r>
          </a:p>
        </p:txBody>
      </p:sp>
      <p:sp>
        <p:nvSpPr>
          <p:cNvPr id="7" name="文字_A. NaCl、HCl、H₂O、NaOH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NaCl、HCl、H₂O、NaOH</a:t>
            </a:r>
          </a:p>
        </p:txBody>
      </p:sp>
      <p:sp>
        <p:nvSpPr>
          <p:cNvPr id="8" name="文字_B. Cl₂、Na₂S、HCl、SO₂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Cl₂、Na₂S、HCl、SO₂</a:t>
            </a:r>
          </a:p>
        </p:txBody>
      </p:sp>
      <p:sp>
        <p:nvSpPr>
          <p:cNvPr id="9" name="文字_C. HBr、CO₂、H₂O、CS₂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HBr、CO₂、H₂O、CS₂</a:t>
            </a:r>
          </a:p>
        </p:txBody>
      </p:sp>
      <p:sp>
        <p:nvSpPr>
          <p:cNvPr id="10" name="文字_D. Na₂O₂、H₂O₂、H₂O、O₃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Na₂O₂、H₂O₂、H₂O、O₃</a:t>
            </a:r>
          </a:p>
        </p:txBody>
      </p:sp>
      <p:sp>
        <p:nvSpPr>
          <p:cNvPr id="11" name="文字_单选题  ·  12-01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12-017</a:t>
            </a:r>
          </a:p>
        </p:txBody>
      </p:sp>
      <p:sp>
        <p:nvSpPr>
          <p:cNvPr id="12" name="文字_2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变式4</a:t>
            </a:r>
          </a:p>
        </p:txBody>
      </p:sp>
      <p:sp>
        <p:nvSpPr>
          <p:cNvPr id="5" name="文字_P25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P259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11064240" cy="2725861"/>
          </a:xfrm>
          <a:prstGeom prst="rect">
            <a:avLst/>
          </a:prstGeom>
        </p:spPr>
      </p:pic>
      <p:sp>
        <p:nvSpPr>
          <p:cNvPr id="7" name="原题文字_259_43"/>
          <p:cNvSpPr txBox="1"/>
          <p:nvPr/>
        </p:nvSpPr>
        <p:spPr>
          <a:xfrm>
            <a:off x="602459" y="1095561"/>
            <a:ext cx="4794493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下列选项中物质类别和所含化学键类型均正确的是</a:t>
            </a:r>
          </a:p>
        </p:txBody>
      </p:sp>
      <p:sp>
        <p:nvSpPr>
          <p:cNvPr id="8" name="原题文字_259_44"/>
          <p:cNvSpPr txBox="1"/>
          <p:nvPr/>
        </p:nvSpPr>
        <p:spPr>
          <a:xfrm>
            <a:off x="2746395" y="1532006"/>
            <a:ext cx="292228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9" name="原题文字_259_45"/>
          <p:cNvSpPr txBox="1"/>
          <p:nvPr/>
        </p:nvSpPr>
        <p:spPr>
          <a:xfrm>
            <a:off x="4890331" y="1532006"/>
            <a:ext cx="269257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</a:t>
            </a:r>
          </a:p>
        </p:txBody>
      </p:sp>
      <p:sp>
        <p:nvSpPr>
          <p:cNvPr id="10" name="原题文字_259_46"/>
          <p:cNvSpPr txBox="1"/>
          <p:nvPr/>
        </p:nvSpPr>
        <p:spPr>
          <a:xfrm>
            <a:off x="7034267" y="1516692"/>
            <a:ext cx="284571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</a:t>
            </a:r>
          </a:p>
        </p:txBody>
      </p:sp>
      <p:sp>
        <p:nvSpPr>
          <p:cNvPr id="11" name="原题文字_259_47"/>
          <p:cNvSpPr txBox="1"/>
          <p:nvPr/>
        </p:nvSpPr>
        <p:spPr>
          <a:xfrm>
            <a:off x="9155232" y="1532006"/>
            <a:ext cx="299885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12" name="原题文字_259_48"/>
          <p:cNvSpPr txBox="1"/>
          <p:nvPr/>
        </p:nvSpPr>
        <p:spPr>
          <a:xfrm>
            <a:off x="633087" y="1914851"/>
            <a:ext cx="1188087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</a:t>
            </a:r>
          </a:p>
        </p:txBody>
      </p:sp>
      <p:sp>
        <p:nvSpPr>
          <p:cNvPr id="13" name="原题文字_259_49"/>
          <p:cNvSpPr txBox="1"/>
          <p:nvPr/>
        </p:nvSpPr>
        <p:spPr>
          <a:xfrm>
            <a:off x="2738738" y="1922508"/>
            <a:ext cx="682730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HNO₃</a:t>
            </a:r>
          </a:p>
        </p:txBody>
      </p:sp>
      <p:sp>
        <p:nvSpPr>
          <p:cNvPr id="14" name="原题文字_259_50"/>
          <p:cNvSpPr txBox="1"/>
          <p:nvPr/>
        </p:nvSpPr>
        <p:spPr>
          <a:xfrm>
            <a:off x="4890331" y="1930165"/>
            <a:ext cx="736329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NH₄Cl</a:t>
            </a:r>
          </a:p>
        </p:txBody>
      </p:sp>
      <p:sp>
        <p:nvSpPr>
          <p:cNvPr id="15" name="原题文字_259_51"/>
          <p:cNvSpPr txBox="1"/>
          <p:nvPr/>
        </p:nvSpPr>
        <p:spPr>
          <a:xfrm>
            <a:off x="7034267" y="1937822"/>
            <a:ext cx="698044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NaOH</a:t>
            </a:r>
          </a:p>
        </p:txBody>
      </p:sp>
      <p:sp>
        <p:nvSpPr>
          <p:cNvPr id="16" name="原题文字_259_52"/>
          <p:cNvSpPr txBox="1"/>
          <p:nvPr/>
        </p:nvSpPr>
        <p:spPr>
          <a:xfrm>
            <a:off x="9147575" y="1930165"/>
            <a:ext cx="728672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Na₂O₂</a:t>
            </a:r>
          </a:p>
        </p:txBody>
      </p:sp>
      <p:sp>
        <p:nvSpPr>
          <p:cNvPr id="17" name="原题文字_259_53"/>
          <p:cNvSpPr txBox="1"/>
          <p:nvPr/>
        </p:nvSpPr>
        <p:spPr>
          <a:xfrm>
            <a:off x="633087" y="2320668"/>
            <a:ext cx="1180430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共价化合物</a:t>
            </a:r>
          </a:p>
        </p:txBody>
      </p:sp>
      <p:sp>
        <p:nvSpPr>
          <p:cNvPr id="18" name="原题文字_259_54"/>
          <p:cNvSpPr txBox="1"/>
          <p:nvPr/>
        </p:nvSpPr>
        <p:spPr>
          <a:xfrm>
            <a:off x="2746395" y="2320668"/>
            <a:ext cx="529592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1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CO₂</a:t>
            </a:r>
          </a:p>
        </p:txBody>
      </p:sp>
      <p:sp>
        <p:nvSpPr>
          <p:cNvPr id="19" name="原题文字_259_55"/>
          <p:cNvSpPr txBox="1"/>
          <p:nvPr/>
        </p:nvSpPr>
        <p:spPr>
          <a:xfrm>
            <a:off x="4875017" y="2328325"/>
            <a:ext cx="743986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1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MgCl₂</a:t>
            </a:r>
          </a:p>
        </p:txBody>
      </p:sp>
      <p:sp>
        <p:nvSpPr>
          <p:cNvPr id="20" name="原题文字_259_56"/>
          <p:cNvSpPr txBox="1"/>
          <p:nvPr/>
        </p:nvSpPr>
        <p:spPr>
          <a:xfrm>
            <a:off x="7011296" y="2320668"/>
            <a:ext cx="552563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1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H₂O</a:t>
            </a:r>
          </a:p>
        </p:txBody>
      </p:sp>
      <p:sp>
        <p:nvSpPr>
          <p:cNvPr id="21" name="原题文字_259_57"/>
          <p:cNvSpPr txBox="1"/>
          <p:nvPr/>
        </p:nvSpPr>
        <p:spPr>
          <a:xfrm>
            <a:off x="9147575" y="2328325"/>
            <a:ext cx="552563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NH₃</a:t>
            </a:r>
          </a:p>
        </p:txBody>
      </p:sp>
      <p:sp>
        <p:nvSpPr>
          <p:cNvPr id="22" name="原题文字_259_58"/>
          <p:cNvSpPr txBox="1"/>
          <p:nvPr/>
        </p:nvSpPr>
        <p:spPr>
          <a:xfrm>
            <a:off x="2769366" y="2734141"/>
            <a:ext cx="1387166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前者有离子键</a:t>
            </a:r>
          </a:p>
        </p:txBody>
      </p:sp>
      <p:sp>
        <p:nvSpPr>
          <p:cNvPr id="23" name="原题文字_259_59"/>
          <p:cNvSpPr txBox="1"/>
          <p:nvPr/>
        </p:nvSpPr>
        <p:spPr>
          <a:xfrm>
            <a:off x="9201173" y="2734141"/>
            <a:ext cx="1601560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前者只有离子键</a:t>
            </a:r>
          </a:p>
        </p:txBody>
      </p:sp>
      <p:sp>
        <p:nvSpPr>
          <p:cNvPr id="24" name="原题文字_259_60"/>
          <p:cNvSpPr txBox="1"/>
          <p:nvPr/>
        </p:nvSpPr>
        <p:spPr>
          <a:xfrm>
            <a:off x="633087" y="2925564"/>
            <a:ext cx="1616874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所含化学键类型</a:t>
            </a:r>
          </a:p>
        </p:txBody>
      </p:sp>
      <p:sp>
        <p:nvSpPr>
          <p:cNvPr id="25" name="原题文字_259_61"/>
          <p:cNvSpPr txBox="1"/>
          <p:nvPr/>
        </p:nvSpPr>
        <p:spPr>
          <a:xfrm>
            <a:off x="4905645" y="2925564"/>
            <a:ext cx="1815954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两者均含有离子键</a:t>
            </a:r>
          </a:p>
        </p:txBody>
      </p:sp>
      <p:sp>
        <p:nvSpPr>
          <p:cNvPr id="26" name="原题文字_259_62"/>
          <p:cNvSpPr txBox="1"/>
          <p:nvPr/>
        </p:nvSpPr>
        <p:spPr>
          <a:xfrm>
            <a:off x="7041924" y="2933221"/>
            <a:ext cx="1815954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两者均含有共价键</a:t>
            </a:r>
          </a:p>
        </p:txBody>
      </p:sp>
      <p:sp>
        <p:nvSpPr>
          <p:cNvPr id="27" name="原题文字_259_63"/>
          <p:cNvSpPr txBox="1"/>
          <p:nvPr/>
        </p:nvSpPr>
        <p:spPr>
          <a:xfrm>
            <a:off x="2777023" y="3109330"/>
            <a:ext cx="1379510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后者有共价键</a:t>
            </a:r>
          </a:p>
        </p:txBody>
      </p:sp>
      <p:sp>
        <p:nvSpPr>
          <p:cNvPr id="28" name="原题文字_259_64"/>
          <p:cNvSpPr txBox="1"/>
          <p:nvPr/>
        </p:nvSpPr>
        <p:spPr>
          <a:xfrm>
            <a:off x="9201173" y="3109330"/>
            <a:ext cx="1601560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后者只有共价键</a:t>
            </a:r>
          </a:p>
        </p:txBody>
      </p:sp>
      <p:sp>
        <p:nvSpPr>
          <p:cNvPr id="29" name="原题文字_259_65"/>
          <p:cNvSpPr txBox="1"/>
          <p:nvPr/>
        </p:nvSpPr>
        <p:spPr>
          <a:xfrm>
            <a:off x="564175" y="3553431"/>
            <a:ext cx="621475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A</a:t>
            </a:r>
          </a:p>
        </p:txBody>
      </p:sp>
      <p:sp>
        <p:nvSpPr>
          <p:cNvPr id="30" name="原题文字_259_66"/>
          <p:cNvSpPr txBox="1"/>
          <p:nvPr/>
        </p:nvSpPr>
        <p:spPr>
          <a:xfrm>
            <a:off x="3244095" y="3553431"/>
            <a:ext cx="606161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B</a:t>
            </a:r>
          </a:p>
        </p:txBody>
      </p:sp>
      <p:sp>
        <p:nvSpPr>
          <p:cNvPr id="31" name="原题文字_259_67"/>
          <p:cNvSpPr txBox="1"/>
          <p:nvPr/>
        </p:nvSpPr>
        <p:spPr>
          <a:xfrm>
            <a:off x="5931671" y="3530460"/>
            <a:ext cx="636789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C</a:t>
            </a:r>
          </a:p>
        </p:txBody>
      </p:sp>
      <p:sp>
        <p:nvSpPr>
          <p:cNvPr id="32" name="原题文字_259_68"/>
          <p:cNvSpPr txBox="1"/>
          <p:nvPr/>
        </p:nvSpPr>
        <p:spPr>
          <a:xfrm>
            <a:off x="8619248" y="3553431"/>
            <a:ext cx="629132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D</a:t>
            </a:r>
          </a:p>
        </p:txBody>
      </p:sp>
      <p:sp>
        <p:nvSpPr>
          <p:cNvPr id="33" name="文字_单选题  ·  12-01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12-018</a:t>
            </a:r>
          </a:p>
        </p:txBody>
      </p:sp>
      <p:sp>
        <p:nvSpPr>
          <p:cNvPr id="34" name="文字_2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变式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变式5</a:t>
            </a:r>
          </a:p>
        </p:txBody>
      </p:sp>
      <p:sp>
        <p:nvSpPr>
          <p:cNvPr id="5" name="文字_P26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P260</a:t>
            </a:r>
          </a:p>
        </p:txBody>
      </p:sp>
      <p:sp>
        <p:nvSpPr>
          <p:cNvPr id="6" name="文字_写出下列物质的电子式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写出下列物质的电子式</a:t>
            </a:r>
          </a:p>
        </p:txBody>
      </p:sp>
      <p:sp>
        <p:nvSpPr>
          <p:cNvPr id="7" name="文字_H₂O ______ CaCl₂ ______ 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H₂O ______ CaCl₂ ______ Na₂O₂ ______ NaOH</a:t>
            </a:r>
          </a:p>
        </p:txBody>
      </p:sp>
      <p:sp>
        <p:nvSpPr>
          <p:cNvPr id="8" name="文字_用电子式表示Na₂S的形成过程：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用电子式表示Na₂S的形成过程：</a:t>
            </a:r>
          </a:p>
        </p:txBody>
      </p:sp>
      <p:sp>
        <p:nvSpPr>
          <p:cNvPr id="9" name="文字_用电子式表示MgCl₂的形成过程：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用电子式表示MgCl₂的形成过程：</a:t>
            </a:r>
          </a:p>
        </p:txBody>
      </p:sp>
      <p:sp>
        <p:nvSpPr>
          <p:cNvPr id="10" name="文字_用电子式表示CO₂的形成过程：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用电子式表示CO₂的形成过程：</a:t>
            </a:r>
          </a:p>
        </p:txBody>
      </p:sp>
      <p:sp>
        <p:nvSpPr>
          <p:cNvPr id="11" name="文字_填空题  ·  12-01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12-019</a:t>
            </a:r>
          </a:p>
        </p:txBody>
      </p:sp>
      <p:sp>
        <p:nvSpPr>
          <p:cNvPr id="12" name="文字_2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变式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变式6</a:t>
            </a:r>
          </a:p>
        </p:txBody>
      </p:sp>
      <p:sp>
        <p:nvSpPr>
          <p:cNvPr id="5" name="文字_P26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P260</a:t>
            </a:r>
          </a:p>
        </p:txBody>
      </p:sp>
      <p:sp>
        <p:nvSpPr>
          <p:cNvPr id="6" name="文字_下列有关离子键和离子化合物的说法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下列有关离子键和离子化合物的说法正确的是（）</a:t>
            </a:r>
          </a:p>
        </p:txBody>
      </p:sp>
      <p:sp>
        <p:nvSpPr>
          <p:cNvPr id="7" name="文字_A. 凡含离子键的化合物，一定含金属元素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凡含离子键的化合物，一定含金属元素</a:t>
            </a:r>
          </a:p>
        </p:txBody>
      </p:sp>
      <p:sp>
        <p:nvSpPr>
          <p:cNvPr id="8" name="文字_B. 在化合物MgCl₂中，两个氯离子之间也存在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在化合物MgCl₂中，两个氯离子之间也存在离子键</a:t>
            </a:r>
          </a:p>
        </p:txBody>
      </p:sp>
      <p:sp>
        <p:nvSpPr>
          <p:cNvPr id="9" name="文字_C. 离子化合物一定能导电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离子化合物一定能导电</a:t>
            </a:r>
          </a:p>
        </p:txBody>
      </p:sp>
      <p:sp>
        <p:nvSpPr>
          <p:cNvPr id="10" name="文字_D. 原子序数为11与9的元素能够形成离子化合物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原子序数为11与9的元素能够形成离子化合物，该化合物中存在离子键</a:t>
            </a:r>
          </a:p>
        </p:txBody>
      </p:sp>
      <p:sp>
        <p:nvSpPr>
          <p:cNvPr id="11" name="文字_单选题  ·  12-02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12-020</a:t>
            </a:r>
          </a:p>
        </p:txBody>
      </p:sp>
      <p:sp>
        <p:nvSpPr>
          <p:cNvPr id="12" name="文字_2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变式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变式7</a:t>
            </a:r>
          </a:p>
        </p:txBody>
      </p:sp>
      <p:sp>
        <p:nvSpPr>
          <p:cNvPr id="5" name="文字_P26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P260</a:t>
            </a:r>
          </a:p>
        </p:txBody>
      </p:sp>
      <p:sp>
        <p:nvSpPr>
          <p:cNvPr id="6" name="文字_下列说法不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下列说法不正确的是（）</a:t>
            </a:r>
          </a:p>
        </p:txBody>
      </p:sp>
      <p:sp>
        <p:nvSpPr>
          <p:cNvPr id="7" name="文字_A. H₂O₂分子中存在非极性键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H₂O₂分子中存在非极性键</a:t>
            </a:r>
          </a:p>
        </p:txBody>
      </p:sp>
      <p:sp>
        <p:nvSpPr>
          <p:cNvPr id="8" name="文字_B. H₂SO₄、NaOH都属于离子化合物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H₂SO₄、NaOH都属于离子化合物</a:t>
            </a:r>
          </a:p>
        </p:txBody>
      </p:sp>
      <p:sp>
        <p:nvSpPr>
          <p:cNvPr id="9" name="文字_C. 用电子式表示K₂S的形成过程为：K.+.S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用电子式表示K₂S的形成过程为：K.+.S: +·K K+[:$:]2⁻K+</a:t>
            </a:r>
          </a:p>
        </p:txBody>
      </p:sp>
      <p:sp>
        <p:nvSpPr>
          <p:cNvPr id="10" name="文字_D. CO₂和N₂分子中所有原子都满足最外层8电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CO₂和N₂分子中所有原子都满足最外层8电子稳定结构</a:t>
            </a:r>
          </a:p>
        </p:txBody>
      </p:sp>
      <p:sp>
        <p:nvSpPr>
          <p:cNvPr id="11" name="文字_单选题  ·  12-02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12-021</a:t>
            </a:r>
          </a:p>
        </p:txBody>
      </p:sp>
      <p:sp>
        <p:nvSpPr>
          <p:cNvPr id="12" name="文字_2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变式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变式8</a:t>
            </a:r>
          </a:p>
        </p:txBody>
      </p:sp>
      <p:sp>
        <p:nvSpPr>
          <p:cNvPr id="5" name="文字_P26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P260</a:t>
            </a:r>
          </a:p>
        </p:txBody>
      </p:sp>
      <p:sp>
        <p:nvSpPr>
          <p:cNvPr id="6" name="文字_火炬燃料一般使用丙烷（化学式为C₃Hg）。下列关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火炬燃料一般使用丙烷（化学式为C₃Hg）。下列关于丙烷的说法中，错误的是（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）</a:t>
            </a:r>
          </a:p>
        </p:txBody>
      </p:sp>
      <p:sp>
        <p:nvSpPr>
          <p:cNvPr id="7" name="文字_A. 丙烷是一种清洁燃料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丙烷是一种清洁燃料</a:t>
            </a:r>
          </a:p>
        </p:txBody>
      </p:sp>
      <p:sp>
        <p:nvSpPr>
          <p:cNvPr id="8" name="文字_B. 丙烷属于共价化合物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丙烷属于共价化合物</a:t>
            </a:r>
          </a:p>
        </p:txBody>
      </p:sp>
      <p:sp>
        <p:nvSpPr>
          <p:cNvPr id="9" name="文字_C. 丙烷分子的原子均达到8个电子稳定结构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丙烷分子的原子均达到8个电子稳定结构</a:t>
            </a:r>
          </a:p>
        </p:txBody>
      </p:sp>
      <p:sp>
        <p:nvSpPr>
          <p:cNvPr id="10" name="文字_D. 丙烷既含有极性共价键，也含有非极性共价键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丙烷既含有极性共价键，也含有非极性共价键</a:t>
            </a:r>
          </a:p>
        </p:txBody>
      </p:sp>
      <p:sp>
        <p:nvSpPr>
          <p:cNvPr id="11" name="文字_单选题  ·  12-02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12-022</a:t>
            </a:r>
          </a:p>
        </p:txBody>
      </p:sp>
      <p:sp>
        <p:nvSpPr>
          <p:cNvPr id="12" name="文字_3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变式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变式9</a:t>
            </a:r>
          </a:p>
        </p:txBody>
      </p:sp>
      <p:sp>
        <p:nvSpPr>
          <p:cNvPr id="5" name="文字_P26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P260</a:t>
            </a:r>
          </a:p>
        </p:txBody>
      </p:sp>
      <p:sp>
        <p:nvSpPr>
          <p:cNvPr id="6" name="文字_下列叙述正确的有个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下列叙述正确的有个</a:t>
            </a:r>
          </a:p>
        </p:txBody>
      </p:sp>
      <p:sp>
        <p:nvSpPr>
          <p:cNvPr id="7" name="文字_①第IA族元素都是金属元素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①第IA族元素都是金属元素</a:t>
            </a:r>
          </a:p>
        </p:txBody>
      </p:sp>
      <p:sp>
        <p:nvSpPr>
          <p:cNvPr id="8" name="文字_②两个不同种非金属元素的原子间形成的化学键都是极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②两个不同种非金属元素的原子间形成的化学键都是极性键</a:t>
            </a:r>
          </a:p>
        </p:txBody>
      </p:sp>
      <p:sp>
        <p:nvSpPr>
          <p:cNvPr id="9" name="文字_③第IA族元素原子和第VⅡA族元素原子形成的化学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③第IA族元素原子和第VⅡA族元素原子形成的化学键可能是离子键或共价键</a:t>
            </a:r>
          </a:p>
        </p:txBody>
      </p:sp>
      <p:sp>
        <p:nvSpPr>
          <p:cNvPr id="10" name="文字_④含有非极性键的化合物一定是共价化合物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④含有非极性键的化合物一定是共价化合物</a:t>
            </a:r>
          </a:p>
        </p:txBody>
      </p:sp>
      <p:sp>
        <p:nvSpPr>
          <p:cNvPr id="11" name="文字_⑤元素周期表中位于金属和非金属分界线附近的元素属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⑤元素周期表中位于金属和非金属分界线附近的元素属于过渡元素</a:t>
            </a:r>
          </a:p>
        </p:txBody>
      </p:sp>
      <p:sp>
        <p:nvSpPr>
          <p:cNvPr id="12" name="文字_⑥在水溶液中碳酸氢钠的电离方程式：NaHCO₃=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⑥在水溶液中碳酸氢钠的电离方程式：NaHCO₃=Na++H++CO₂⁻</a:t>
            </a:r>
          </a:p>
        </p:txBody>
      </p:sp>
      <p:sp>
        <p:nvSpPr>
          <p:cNvPr id="13" name="文字_⑦离子化合物中一定含有离子键"/>
          <p:cNvSpPr txBox="1"/>
          <p:nvPr/>
        </p:nvSpPr>
        <p:spPr>
          <a:xfrm>
            <a:off x="502920" y="41513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⑦离子化合物中一定含有离子键</a:t>
            </a:r>
          </a:p>
        </p:txBody>
      </p:sp>
      <p:sp>
        <p:nvSpPr>
          <p:cNvPr id="14" name="文字_A. 1"/>
          <p:cNvSpPr txBox="1"/>
          <p:nvPr/>
        </p:nvSpPr>
        <p:spPr>
          <a:xfrm>
            <a:off x="502920" y="45902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1</a:t>
            </a:r>
          </a:p>
        </p:txBody>
      </p:sp>
      <p:sp>
        <p:nvSpPr>
          <p:cNvPr id="15" name="文字_B. 2"/>
          <p:cNvSpPr txBox="1"/>
          <p:nvPr/>
        </p:nvSpPr>
        <p:spPr>
          <a:xfrm>
            <a:off x="502920" y="502920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2</a:t>
            </a:r>
          </a:p>
        </p:txBody>
      </p:sp>
      <p:sp>
        <p:nvSpPr>
          <p:cNvPr id="16" name="文字_C. 3"/>
          <p:cNvSpPr txBox="1"/>
          <p:nvPr/>
        </p:nvSpPr>
        <p:spPr>
          <a:xfrm>
            <a:off x="502920" y="546811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3</a:t>
            </a:r>
          </a:p>
        </p:txBody>
      </p:sp>
      <p:sp>
        <p:nvSpPr>
          <p:cNvPr id="17" name="文字_D. 4"/>
          <p:cNvSpPr txBox="1"/>
          <p:nvPr/>
        </p:nvSpPr>
        <p:spPr>
          <a:xfrm>
            <a:off x="502920" y="590702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4</a:t>
            </a:r>
          </a:p>
        </p:txBody>
      </p:sp>
      <p:sp>
        <p:nvSpPr>
          <p:cNvPr id="18" name="文字_单选题  ·  12-02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12-023</a:t>
            </a:r>
          </a:p>
        </p:txBody>
      </p:sp>
      <p:sp>
        <p:nvSpPr>
          <p:cNvPr id="19" name="文字_3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变式10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变式10</a:t>
            </a:r>
          </a:p>
        </p:txBody>
      </p:sp>
      <p:sp>
        <p:nvSpPr>
          <p:cNvPr id="5" name="文字_P26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P261</a:t>
            </a:r>
          </a:p>
        </p:txBody>
      </p:sp>
      <p:sp>
        <p:nvSpPr>
          <p:cNvPr id="6" name="文字_下列说法中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下列说法中正确的是</a:t>
            </a:r>
          </a:p>
        </p:txBody>
      </p:sp>
      <p:sp>
        <p:nvSpPr>
          <p:cNvPr id="7" name="文字_A. 任何离子键在形成的过程中必定有电子的得与失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任何离子键在形成的过程中必定有电子的得与失</a:t>
            </a:r>
          </a:p>
        </p:txBody>
      </p:sp>
      <p:sp>
        <p:nvSpPr>
          <p:cNvPr id="8" name="文字_B. C₆₀属于单质，其中存在非极性共价键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C₆₀属于单质，其中存在非极性共价键</a:t>
            </a:r>
          </a:p>
        </p:txBody>
      </p:sp>
      <p:sp>
        <p:nvSpPr>
          <p:cNvPr id="9" name="文字_C. MgCl₂中既含有离子键，又含有共价键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MgCl₂中既含有离子键，又含有共价键</a:t>
            </a:r>
          </a:p>
        </p:txBody>
      </p:sp>
      <p:sp>
        <p:nvSpPr>
          <p:cNvPr id="10" name="文字_D. NH₄Cl中含有共价键，又全部由非金属元素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NH₄Cl中含有共价键，又全部由非金属元素组成，属于共价化合物</a:t>
            </a:r>
          </a:p>
        </p:txBody>
      </p:sp>
      <p:sp>
        <p:nvSpPr>
          <p:cNvPr id="11" name="文字_单选题  ·  12-02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12-024</a:t>
            </a:r>
          </a:p>
        </p:txBody>
      </p:sp>
      <p:sp>
        <p:nvSpPr>
          <p:cNvPr id="12" name="文字_3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变式1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变式11</a:t>
            </a:r>
          </a:p>
        </p:txBody>
      </p:sp>
      <p:sp>
        <p:nvSpPr>
          <p:cNvPr id="5" name="文字_P26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P261</a:t>
            </a:r>
          </a:p>
        </p:txBody>
      </p:sp>
      <p:sp>
        <p:nvSpPr>
          <p:cNvPr id="6" name="文字_下列叙述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下列叙述正确的是（）</a:t>
            </a:r>
          </a:p>
        </p:txBody>
      </p:sp>
      <p:sp>
        <p:nvSpPr>
          <p:cNvPr id="7" name="文字_①两种原子构成的分子中的化学键都是极性键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①两种原子构成的分子中的化学键都是极性键</a:t>
            </a:r>
          </a:p>
        </p:txBody>
      </p:sp>
      <p:sp>
        <p:nvSpPr>
          <p:cNvPr id="8" name="文字_②两种不同非金属元素原子间形成的化学键都是极性键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②两种不同非金属元素原子间形成的化学键都是极性键</a:t>
            </a:r>
          </a:p>
        </p:txBody>
      </p:sp>
      <p:sp>
        <p:nvSpPr>
          <p:cNvPr id="9" name="文字_③含有共价键的化合物一定是共价化合物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③含有共价键的化合物一定是共价化合物</a:t>
            </a:r>
          </a:p>
        </p:txBody>
      </p:sp>
      <p:sp>
        <p:nvSpPr>
          <p:cNvPr id="10" name="文字_④只要是离子化合物，其熔点就比共价化合物的熔点高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④只要是离子化合物，其熔点就比共价化合物的熔点高</a:t>
            </a:r>
          </a:p>
        </p:txBody>
      </p:sp>
      <p:sp>
        <p:nvSpPr>
          <p:cNvPr id="11" name="文字_⑤难失去电子的原子，易形成阴离子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⑤难失去电子的原子，易形成阴离子</a:t>
            </a:r>
          </a:p>
        </p:txBody>
      </p:sp>
      <p:sp>
        <p:nvSpPr>
          <p:cNvPr id="12" name="文字_⑥单质分子中不存在化学键，化合物的分子中才存在化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⑥单质分子中不存在化学键，化合物的分子中才存在化学键</a:t>
            </a:r>
          </a:p>
        </p:txBody>
      </p:sp>
      <p:sp>
        <p:nvSpPr>
          <p:cNvPr id="13" name="文字_⑦离子化合物中一定含有离子键"/>
          <p:cNvSpPr txBox="1"/>
          <p:nvPr/>
        </p:nvSpPr>
        <p:spPr>
          <a:xfrm>
            <a:off x="502920" y="41513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⑦离子化合物中一定含有离子键</a:t>
            </a:r>
          </a:p>
        </p:txBody>
      </p:sp>
      <p:sp>
        <p:nvSpPr>
          <p:cNvPr id="14" name="文字_A. 只有①⑦"/>
          <p:cNvSpPr txBox="1"/>
          <p:nvPr/>
        </p:nvSpPr>
        <p:spPr>
          <a:xfrm>
            <a:off x="502920" y="45902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只有①⑦</a:t>
            </a:r>
          </a:p>
        </p:txBody>
      </p:sp>
      <p:sp>
        <p:nvSpPr>
          <p:cNvPr id="15" name="文字_B. 只有②⑦"/>
          <p:cNvSpPr txBox="1"/>
          <p:nvPr/>
        </p:nvSpPr>
        <p:spPr>
          <a:xfrm>
            <a:off x="502920" y="502920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只有②⑦</a:t>
            </a:r>
          </a:p>
        </p:txBody>
      </p:sp>
      <p:sp>
        <p:nvSpPr>
          <p:cNvPr id="16" name="文字_C. 只有⑦"/>
          <p:cNvSpPr txBox="1"/>
          <p:nvPr/>
        </p:nvSpPr>
        <p:spPr>
          <a:xfrm>
            <a:off x="502920" y="546811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只有⑦</a:t>
            </a:r>
          </a:p>
        </p:txBody>
      </p:sp>
      <p:sp>
        <p:nvSpPr>
          <p:cNvPr id="17" name="文字_D. 只有①⑤⑦"/>
          <p:cNvSpPr txBox="1"/>
          <p:nvPr/>
        </p:nvSpPr>
        <p:spPr>
          <a:xfrm>
            <a:off x="502920" y="590702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只有①⑤⑦</a:t>
            </a:r>
          </a:p>
        </p:txBody>
      </p:sp>
      <p:sp>
        <p:nvSpPr>
          <p:cNvPr id="18" name="文字_单选题  ·  12-02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12-025</a:t>
            </a:r>
          </a:p>
        </p:txBody>
      </p:sp>
      <p:sp>
        <p:nvSpPr>
          <p:cNvPr id="19" name="文字_3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常见物质的电子式、结构式、模型 · 变式1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常见物质的电子式、结构式、模型 · 变式12</a:t>
            </a:r>
          </a:p>
        </p:txBody>
      </p:sp>
      <p:sp>
        <p:nvSpPr>
          <p:cNvPr id="5" name="文字_P26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P261</a:t>
            </a:r>
          </a:p>
        </p:txBody>
      </p:sp>
      <p:sp>
        <p:nvSpPr>
          <p:cNvPr id="6" name="文字_下列物质中：只存在共价键的是 ______ (填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下列物质中：只存在共价键的是 ______ (填序号，下同)，只存在离子键的是 ______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 ，既存在离子键又存在极性共价键的是 ______ O</a:t>
            </a:r>
          </a:p>
        </p:txBody>
      </p:sp>
      <p:sp>
        <p:nvSpPr>
          <p:cNvPr id="7" name="文字_①Ar ______ ②NH₄Cl ______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①Ar ______ ②NH₄Cl ______ ③CO₂④KOH</a:t>
            </a:r>
          </a:p>
        </p:txBody>
      </p:sp>
      <p:sp>
        <p:nvSpPr>
          <p:cNvPr id="8" name="文字_⑤HNO₃ ______ ⑥Na₂O₂ ____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⑤HNO₃ ______ ⑥Na₂O₂ ______ ⑦CaO ______ ⑧CaCl₂</a:t>
            </a:r>
          </a:p>
        </p:txBody>
      </p:sp>
      <p:sp>
        <p:nvSpPr>
          <p:cNvPr id="9" name="文字_填空题  ·  12-02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12-026</a:t>
            </a:r>
          </a:p>
        </p:txBody>
      </p:sp>
      <p:sp>
        <p:nvSpPr>
          <p:cNvPr id="10" name="文字_3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4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04</a:t>
            </a:r>
          </a:p>
        </p:txBody>
      </p:sp>
      <p:sp>
        <p:nvSpPr>
          <p:cNvPr id="4" name="文字_分子间作用力与氢键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</a:t>
            </a:r>
          </a:p>
        </p:txBody>
      </p:sp>
      <p:sp>
        <p:nvSpPr>
          <p:cNvPr id="5" name="文字_知识梳理 · 讲义 P262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P262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分子间作用力与氢键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</a:t>
            </a:r>
          </a:p>
        </p:txBody>
      </p:sp>
      <p:sp>
        <p:nvSpPr>
          <p:cNvPr id="5" name="文字_知识讲解 · P262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P262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分子间作用力：把分子聚集在一起的作用力，比化学键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分子间作用力：把分子聚集在一起的作用力，比化学键弱得多。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范德华力：组成结构相似的分子，相对分子质量越大，"/>
          <p:cNvSpPr txBox="1"/>
          <p:nvPr/>
        </p:nvSpPr>
        <p:spPr>
          <a:xfrm>
            <a:off x="722376" y="2356104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范德华力：组成结构相似的分子，相对分子质量越大，范德华力越大，熔沸点越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392424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氢键：半径小、非金属性强的原子（N、O、F）与 "/>
          <p:cNvSpPr txBox="1"/>
          <p:nvPr/>
        </p:nvSpPr>
        <p:spPr>
          <a:xfrm>
            <a:off x="722376" y="3310128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氢键：半径小、非金属性强的原子（N、O、F）与 H 之间形成的较强作用。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97459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氢键不是化学键，比化学键弱、比范德华力强。"/>
          <p:cNvSpPr txBox="1"/>
          <p:nvPr/>
        </p:nvSpPr>
        <p:spPr>
          <a:xfrm>
            <a:off x="722376" y="389229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氢键不是化学键，比化学键弱、比范德华力强。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55676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氢键的影响：H₂O、HF、NH₃ 熔沸点反常高；"/>
          <p:cNvSpPr txBox="1"/>
          <p:nvPr/>
        </p:nvSpPr>
        <p:spPr>
          <a:xfrm>
            <a:off x="722376" y="4474464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氢键的影响：H₂O、HF、NH₃ 熔沸点反常高；冰的密度小于水；NH₃ 极易溶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于水。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提示  分子间作用力只存在于由分子构成的物质中；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分子间作用力只存在于由分子构成的物质中；克服分子间作用力不破坏化学键。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化学反应本质与变化中的化学键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化学反应本质与变化中的化学键</a:t>
            </a:r>
          </a:p>
        </p:txBody>
      </p:sp>
      <p:sp>
        <p:nvSpPr>
          <p:cNvPr id="5" name="文字_知识讲解 · P262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P262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化学反应的本质：旧键断裂、新键形成。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化学反应的本质：旧键断裂、新键形成。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有化学键断裂或生成的不一定是化学反应：如 NaC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有化学键断裂或生成的不一定是化学反应：如 NaCl 溶于水只破坏离子键。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离子化合物溶于水或熔化：破坏离子键，电离出阴、阳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离子化合物溶于水或熔化：破坏离子键，电离出阴、阳离子。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共价化合物溶于水：电解质（HCl、H₂SO₄）破"/>
          <p:cNvSpPr txBox="1"/>
          <p:nvPr/>
        </p:nvSpPr>
        <p:spPr>
          <a:xfrm>
            <a:off x="722376" y="3520440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共价化合物溶于水：电解质（HCl、H₂SO₄）破坏共价键电离；非电解质（乙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醇、蔗糖）共价键不破坏。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55676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分子晶体熔化：只破坏分子间作用力（冰破坏氢键，干"/>
          <p:cNvSpPr txBox="1"/>
          <p:nvPr/>
        </p:nvSpPr>
        <p:spPr>
          <a:xfrm>
            <a:off x="722376" y="447446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分子晶体熔化：只破坏分子间作用力（冰破坏氢键，干冰破坏范德华力）。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513892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原子晶体（SiO₂、金刚石）熔化：破坏共价键。"/>
          <p:cNvSpPr txBox="1"/>
          <p:nvPr/>
        </p:nvSpPr>
        <p:spPr>
          <a:xfrm>
            <a:off x="722376" y="505663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原子晶体（SiO₂、金刚石）熔化：破坏共价键。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" y="5684520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文字_提示  Na₂O₂ 溶于水时离子键和共价键都被破"/>
          <p:cNvSpPr txBox="1"/>
          <p:nvPr/>
        </p:nvSpPr>
        <p:spPr>
          <a:xfrm>
            <a:off x="630936" y="5743956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Na₂O₂ 溶于水时离子键和共价键都被破坏，因为它与水发生了化学反应。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例题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例题1</a:t>
            </a:r>
          </a:p>
        </p:txBody>
      </p:sp>
      <p:sp>
        <p:nvSpPr>
          <p:cNvPr id="5" name="文字_P26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P263</a:t>
            </a:r>
          </a:p>
        </p:txBody>
      </p:sp>
      <p:sp>
        <p:nvSpPr>
          <p:cNvPr id="6" name="文字_以下关于分子间作用力的叙述不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以下关于分子间作用力的叙述不正确的是（）</a:t>
            </a:r>
          </a:p>
        </p:txBody>
      </p:sp>
      <p:sp>
        <p:nvSpPr>
          <p:cNvPr id="7" name="文字_A. 分子间作用力是一种较弱的化学键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分子间作用力是一种较弱的化学键</a:t>
            </a:r>
          </a:p>
        </p:txBody>
      </p:sp>
      <p:sp>
        <p:nvSpPr>
          <p:cNvPr id="8" name="文字_B. 分子间作用力较弱，破坏它所需能量较少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分子间作用力较弱，破坏它所需能量较少</a:t>
            </a:r>
          </a:p>
        </p:txBody>
      </p:sp>
      <p:sp>
        <p:nvSpPr>
          <p:cNvPr id="9" name="文字_C. 分子间作用力对分子构成的物质的熔、沸点有影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分子间作用力对分子构成的物质的熔、沸点有影响</a:t>
            </a:r>
          </a:p>
        </p:txBody>
      </p:sp>
      <p:sp>
        <p:nvSpPr>
          <p:cNvPr id="10" name="文字_D. 稀有气体分子间存在分子间作用力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稀有气体分子间存在分子间作用力</a:t>
            </a:r>
          </a:p>
        </p:txBody>
      </p:sp>
      <p:sp>
        <p:nvSpPr>
          <p:cNvPr id="11" name="文字_单选题  ·  12-02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12-027</a:t>
            </a:r>
          </a:p>
        </p:txBody>
      </p:sp>
      <p:sp>
        <p:nvSpPr>
          <p:cNvPr id="12" name="文字_3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例题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例题2</a:t>
            </a:r>
          </a:p>
        </p:txBody>
      </p:sp>
      <p:sp>
        <p:nvSpPr>
          <p:cNvPr id="5" name="文字_P26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P263</a:t>
            </a:r>
          </a:p>
        </p:txBody>
      </p:sp>
      <p:sp>
        <p:nvSpPr>
          <p:cNvPr id="6" name="文字_下列变化中有共价键破坏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下列变化中有共价键破坏的是（）</a:t>
            </a:r>
          </a:p>
        </p:txBody>
      </p:sp>
      <p:sp>
        <p:nvSpPr>
          <p:cNvPr id="7" name="文字_A. 冰的熔化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冰的熔化</a:t>
            </a:r>
          </a:p>
        </p:txBody>
      </p:sp>
      <p:sp>
        <p:nvSpPr>
          <p:cNvPr id="8" name="文字_B. 硫酸溶解于水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硫酸溶解于水</a:t>
            </a:r>
          </a:p>
        </p:txBody>
      </p:sp>
      <p:sp>
        <p:nvSpPr>
          <p:cNvPr id="9" name="文字_C. 活性炭吸附污水中的有机物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活性炭吸附污水中的有机物</a:t>
            </a:r>
          </a:p>
        </p:txBody>
      </p:sp>
      <p:sp>
        <p:nvSpPr>
          <p:cNvPr id="10" name="文字_D. 氨气液化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氨气液化</a:t>
            </a:r>
          </a:p>
        </p:txBody>
      </p:sp>
      <p:sp>
        <p:nvSpPr>
          <p:cNvPr id="11" name="文字_单选题  ·  12-02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12-028</a:t>
            </a:r>
          </a:p>
        </p:txBody>
      </p:sp>
      <p:sp>
        <p:nvSpPr>
          <p:cNvPr id="12" name="文字_3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例题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例题3</a:t>
            </a:r>
          </a:p>
        </p:txBody>
      </p:sp>
      <p:sp>
        <p:nvSpPr>
          <p:cNvPr id="5" name="文字_P26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P264</a:t>
            </a:r>
          </a:p>
        </p:txBody>
      </p:sp>
      <p:sp>
        <p:nvSpPr>
          <p:cNvPr id="6" name="文字_下列关于化学键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下列关于化学键说法正确的是</a:t>
            </a:r>
          </a:p>
        </p:txBody>
      </p:sp>
      <p:sp>
        <p:nvSpPr>
          <p:cNvPr id="7" name="文字_A. CaCl₂既有离子键又有共价键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CaCl₂既有离子键又有共价键</a:t>
            </a:r>
          </a:p>
        </p:txBody>
      </p:sp>
      <p:sp>
        <p:nvSpPr>
          <p:cNvPr id="8" name="文字_B. 破坏化学键的过程，一定发生了化学变化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破坏化学键的过程，一定发生了化学变化</a:t>
            </a:r>
          </a:p>
        </p:txBody>
      </p:sp>
      <p:sp>
        <p:nvSpPr>
          <p:cNvPr id="9" name="文字_C. 含离子键的化合物一定是离子化合物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含离子键的化合物一定是离子化合物</a:t>
            </a:r>
          </a:p>
        </p:txBody>
      </p:sp>
      <p:sp>
        <p:nvSpPr>
          <p:cNvPr id="10" name="文字_D. 干冰升华过程中破坏了共价键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干冰升华过程中破坏了共价键</a:t>
            </a:r>
          </a:p>
        </p:txBody>
      </p:sp>
      <p:sp>
        <p:nvSpPr>
          <p:cNvPr id="11" name="文字_单选题  ·  12-02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12-029</a:t>
            </a:r>
          </a:p>
        </p:txBody>
      </p:sp>
      <p:sp>
        <p:nvSpPr>
          <p:cNvPr id="12" name="文字_4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例题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例题4</a:t>
            </a:r>
          </a:p>
        </p:txBody>
      </p:sp>
      <p:sp>
        <p:nvSpPr>
          <p:cNvPr id="5" name="文字_P26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P264</a:t>
            </a:r>
          </a:p>
        </p:txBody>
      </p:sp>
      <p:sp>
        <p:nvSpPr>
          <p:cNvPr id="6" name="文字_下列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</a:t>
            </a:r>
          </a:p>
        </p:txBody>
      </p:sp>
      <p:sp>
        <p:nvSpPr>
          <p:cNvPr id="7" name="文字_A. 冰醋酸晶体溶于水的过程中破坏了分子间作用力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冰醋酸晶体溶于水的过程中破坏了分子间作用力，但没有破坏分子内作用力</a:t>
            </a:r>
          </a:p>
        </p:txBody>
      </p:sp>
      <p:sp>
        <p:nvSpPr>
          <p:cNvPr id="8" name="文字_B. NH₃比PH₃稳定是因为NH₃分子间存在氢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NH₃比PH₃稳定是因为NH₃分子间存在氢键</a:t>
            </a:r>
          </a:p>
        </p:txBody>
      </p:sp>
      <p:sp>
        <p:nvSpPr>
          <p:cNvPr id="9" name="文字_C. NaHCO₃受热分解的过程中既破坏了离子键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NaHCO₃受热分解的过程中既破坏了离子键，也破坏了共价键</a:t>
            </a:r>
          </a:p>
        </p:txBody>
      </p:sp>
      <p:sp>
        <p:nvSpPr>
          <p:cNvPr id="10" name="文字_D. BF₃中的所有原子都满足8电子稳定结构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BF₃中的所有原子都满足8电子稳定结构</a:t>
            </a:r>
          </a:p>
        </p:txBody>
      </p:sp>
      <p:sp>
        <p:nvSpPr>
          <p:cNvPr id="11" name="文字_单选题  ·  12-03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12-030</a:t>
            </a:r>
          </a:p>
        </p:txBody>
      </p:sp>
      <p:sp>
        <p:nvSpPr>
          <p:cNvPr id="12" name="文字_4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例题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例题5</a:t>
            </a:r>
          </a:p>
        </p:txBody>
      </p:sp>
      <p:sp>
        <p:nvSpPr>
          <p:cNvPr id="5" name="文字_P26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P264</a:t>
            </a:r>
          </a:p>
        </p:txBody>
      </p:sp>
      <p:sp>
        <p:nvSpPr>
          <p:cNvPr id="6" name="文字_下列说法不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下列说法不正确的是（）</a:t>
            </a:r>
          </a:p>
        </p:txBody>
      </p:sp>
      <p:sp>
        <p:nvSpPr>
          <p:cNvPr id="7" name="文字_A. 氯化钠熔化时离子键被破坏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氯化钠熔化时离子键被破坏</a:t>
            </a:r>
          </a:p>
        </p:txBody>
      </p:sp>
      <p:sp>
        <p:nvSpPr>
          <p:cNvPr id="8" name="文字_B. HBr比HCl的热稳定性差，说明HBr的分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HBr比HCl的热稳定性差，说明HBr的分子间作用力比HCl的弱</a:t>
            </a:r>
          </a:p>
        </p:txBody>
      </p:sp>
      <p:sp>
        <p:nvSpPr>
          <p:cNvPr id="9" name="文字_C. H₂SO₄、CCl₄、NH₃均属于共价化合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H₂SO₄、CCl₄、NH₃均属于共价化合物</a:t>
            </a:r>
          </a:p>
        </p:txBody>
      </p:sp>
      <p:sp>
        <p:nvSpPr>
          <p:cNvPr id="10" name="文字_D. 石英熔化和干冰升华所破坏的作用力不相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石英熔化和干冰升华所破坏的作用力不相</a:t>
            </a:r>
          </a:p>
        </p:txBody>
      </p:sp>
      <p:sp>
        <p:nvSpPr>
          <p:cNvPr id="11" name="文字_单选题  ·  12-03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12-031</a:t>
            </a:r>
          </a:p>
        </p:txBody>
      </p:sp>
      <p:sp>
        <p:nvSpPr>
          <p:cNvPr id="12" name="文字_4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例题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例题6</a:t>
            </a:r>
          </a:p>
        </p:txBody>
      </p:sp>
      <p:sp>
        <p:nvSpPr>
          <p:cNvPr id="5" name="文字_P26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P264</a:t>
            </a:r>
          </a:p>
        </p:txBody>
      </p:sp>
      <p:sp>
        <p:nvSpPr>
          <p:cNvPr id="6" name="文字_下列说法不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下列说法不正确的是（）</a:t>
            </a:r>
          </a:p>
        </p:txBody>
      </p:sp>
      <p:sp>
        <p:nvSpPr>
          <p:cNvPr id="7" name="文字_A. 某化合物在熔融状态下能导电，则该物质属于离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某化合物在熔融状态下能导电，则该物质属于离子化合物</a:t>
            </a:r>
          </a:p>
        </p:txBody>
      </p:sp>
      <p:sp>
        <p:nvSpPr>
          <p:cNvPr id="8" name="文字_B. 金属钠与水反应过程中，既有共价键的断裂，也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金属钠与水反应过程中，既有共价键的断裂，也有共价键的形成</a:t>
            </a:r>
          </a:p>
        </p:txBody>
      </p:sp>
      <p:sp>
        <p:nvSpPr>
          <p:cNvPr id="9" name="文字_C. 硅单质与硫单质熔化时所克服微粒间作用力相同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硅单质与硫单质熔化时所克服微粒间作用力相同</a:t>
            </a:r>
          </a:p>
        </p:txBody>
      </p:sp>
      <p:sp>
        <p:nvSpPr>
          <p:cNvPr id="10" name="文字_D. CO₂和中NCl₃，每个原子的最外层都具有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CO₂和中NCl₃，每个原子的最外层都具有8e-电子稳定结构</a:t>
            </a:r>
          </a:p>
        </p:txBody>
      </p:sp>
      <p:sp>
        <p:nvSpPr>
          <p:cNvPr id="11" name="文字_单选题  ·  12-03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12-032</a:t>
            </a:r>
          </a:p>
        </p:txBody>
      </p:sp>
      <p:sp>
        <p:nvSpPr>
          <p:cNvPr id="12" name="文字_4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例题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例题7</a:t>
            </a:r>
          </a:p>
        </p:txBody>
      </p:sp>
      <p:sp>
        <p:nvSpPr>
          <p:cNvPr id="5" name="文字_P26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P264</a:t>
            </a:r>
          </a:p>
        </p:txBody>
      </p:sp>
      <p:sp>
        <p:nvSpPr>
          <p:cNvPr id="6" name="文字_下列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</a:t>
            </a:r>
          </a:p>
        </p:txBody>
      </p:sp>
      <p:sp>
        <p:nvSpPr>
          <p:cNvPr id="7" name="文字_A. Cl₂、Br₂、I₂沸点逐渐升高的主要原因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Cl₂、Br₂、I₂沸点逐渐升高的主要原因是分子间作用力逐渐增大</a:t>
            </a:r>
          </a:p>
        </p:txBody>
      </p:sp>
      <p:sp>
        <p:nvSpPr>
          <p:cNvPr id="8" name="文字_B. 氢键是一种较弱的化学键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氢键是一种较弱的化学键</a:t>
            </a:r>
          </a:p>
        </p:txBody>
      </p:sp>
      <p:sp>
        <p:nvSpPr>
          <p:cNvPr id="9" name="文字_C. NaF、Na₂O₂中所含化学键类型完全相同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NaF、Na₂O₂中所含化学键类型完全相同</a:t>
            </a:r>
          </a:p>
        </p:txBody>
      </p:sp>
      <p:sp>
        <p:nvSpPr>
          <p:cNvPr id="10" name="文字_D. 碘单质受热变成气体，此过程中化学键发生变化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碘单质受热变成气体，此过程中化学键发生变化</a:t>
            </a:r>
          </a:p>
        </p:txBody>
      </p:sp>
      <p:sp>
        <p:nvSpPr>
          <p:cNvPr id="11" name="文字_单选题  ·  12-03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12-033</a:t>
            </a:r>
          </a:p>
        </p:txBody>
      </p:sp>
      <p:sp>
        <p:nvSpPr>
          <p:cNvPr id="12" name="文字_4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例题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例题8</a:t>
            </a:r>
          </a:p>
        </p:txBody>
      </p:sp>
      <p:sp>
        <p:nvSpPr>
          <p:cNvPr id="5" name="文字_P26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P265</a:t>
            </a:r>
          </a:p>
        </p:txBody>
      </p:sp>
      <p:sp>
        <p:nvSpPr>
          <p:cNvPr id="6" name="文字_下列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</a:t>
            </a:r>
          </a:p>
        </p:txBody>
      </p:sp>
      <p:sp>
        <p:nvSpPr>
          <p:cNvPr id="7" name="文字_A. 碘晶体受热转变成碘蒸气，吸收的热量用于克服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碘晶体受热转变成碘蒸气，吸收的热量用于克服碘原子间的化学键</a:t>
            </a:r>
          </a:p>
        </p:txBody>
      </p:sp>
      <p:sp>
        <p:nvSpPr>
          <p:cNvPr id="8" name="文字_B. NaHSO₄固体溶于水，既破坏了离子键，也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NaHSO₄固体溶于水，既破坏了离子键，也破坏了共价键</a:t>
            </a:r>
          </a:p>
        </p:txBody>
      </p:sp>
      <p:sp>
        <p:nvSpPr>
          <p:cNvPr id="9" name="文字_C. 将某种化合物溶于水，若能导电说明这种化合物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将某种化合物溶于水，若能导电说明这种化合物是离子化合物</a:t>
            </a:r>
          </a:p>
        </p:txBody>
      </p:sp>
      <p:sp>
        <p:nvSpPr>
          <p:cNvPr id="10" name="文字_D. 只含有共价键的物质是共价化合物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只含有共价键的物质是共价化合物</a:t>
            </a:r>
          </a:p>
        </p:txBody>
      </p:sp>
      <p:sp>
        <p:nvSpPr>
          <p:cNvPr id="11" name="文字_单选题  ·  12-03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12-034</a:t>
            </a:r>
          </a:p>
        </p:txBody>
      </p:sp>
      <p:sp>
        <p:nvSpPr>
          <p:cNvPr id="12" name="文字_4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例题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例题9</a:t>
            </a:r>
          </a:p>
        </p:txBody>
      </p:sp>
      <p:sp>
        <p:nvSpPr>
          <p:cNvPr id="5" name="文字_P26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P265</a:t>
            </a:r>
          </a:p>
        </p:txBody>
      </p:sp>
      <p:sp>
        <p:nvSpPr>
          <p:cNvPr id="6" name="文字_用O₂将HCl转化为Cl₂的过程如图所示。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用O₂将HCl转化为Cl₂的过程如图所示。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7904"/>
            <a:ext cx="11064240" cy="1194478"/>
          </a:xfrm>
          <a:prstGeom prst="rect">
            <a:avLst/>
          </a:prstGeom>
        </p:spPr>
      </p:pic>
      <p:sp>
        <p:nvSpPr>
          <p:cNvPr id="8" name="原题文字_265_12"/>
          <p:cNvSpPr txBox="1"/>
          <p:nvPr/>
        </p:nvSpPr>
        <p:spPr>
          <a:xfrm>
            <a:off x="1666770" y="1572758"/>
            <a:ext cx="851183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7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HCl(g)</a:t>
            </a:r>
          </a:p>
        </p:txBody>
      </p:sp>
      <p:sp>
        <p:nvSpPr>
          <p:cNvPr id="9" name="原题文字_265_13"/>
          <p:cNvSpPr txBox="1"/>
          <p:nvPr/>
        </p:nvSpPr>
        <p:spPr>
          <a:xfrm>
            <a:off x="3205810" y="1580415"/>
            <a:ext cx="866496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7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CuO(s)</a:t>
            </a:r>
          </a:p>
        </p:txBody>
      </p:sp>
      <p:sp>
        <p:nvSpPr>
          <p:cNvPr id="10" name="原题文字_265_14"/>
          <p:cNvSpPr txBox="1"/>
          <p:nvPr/>
        </p:nvSpPr>
        <p:spPr>
          <a:xfrm>
            <a:off x="4002129" y="1618699"/>
            <a:ext cx="1019635" cy="1284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9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1@</a:t>
            </a:r>
          </a:p>
        </p:txBody>
      </p:sp>
      <p:sp>
        <p:nvSpPr>
          <p:cNvPr id="11" name="原题文字_265_15"/>
          <p:cNvSpPr txBox="1"/>
          <p:nvPr/>
        </p:nvSpPr>
        <p:spPr>
          <a:xfrm>
            <a:off x="4629996" y="1549787"/>
            <a:ext cx="774613" cy="4976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Cl₂(g)</a:t>
            </a:r>
          </a:p>
        </p:txBody>
      </p:sp>
      <p:sp>
        <p:nvSpPr>
          <p:cNvPr id="12" name="原题文字_265_16"/>
          <p:cNvSpPr txBox="1"/>
          <p:nvPr/>
        </p:nvSpPr>
        <p:spPr>
          <a:xfrm>
            <a:off x="1666770" y="2323136"/>
            <a:ext cx="874153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1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H₂O(g)</a:t>
            </a:r>
          </a:p>
        </p:txBody>
      </p:sp>
      <p:sp>
        <p:nvSpPr>
          <p:cNvPr id="13" name="原题文字_265_17"/>
          <p:cNvSpPr txBox="1"/>
          <p:nvPr/>
        </p:nvSpPr>
        <p:spPr>
          <a:xfrm>
            <a:off x="3182839" y="2338449"/>
            <a:ext cx="996664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CuCl₂(s)</a:t>
            </a:r>
          </a:p>
        </p:txBody>
      </p:sp>
      <p:sp>
        <p:nvSpPr>
          <p:cNvPr id="14" name="原题文字_265_18"/>
          <p:cNvSpPr txBox="1"/>
          <p:nvPr/>
        </p:nvSpPr>
        <p:spPr>
          <a:xfrm>
            <a:off x="4698908" y="2307822"/>
            <a:ext cx="682730" cy="4578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O₂(g)</a:t>
            </a:r>
          </a:p>
        </p:txBody>
      </p:sp>
      <p:sp>
        <p:nvSpPr>
          <p:cNvPr id="15" name="文字_下列有关叙述正确的是（）"/>
          <p:cNvSpPr txBox="1"/>
          <p:nvPr/>
        </p:nvSpPr>
        <p:spPr>
          <a:xfrm>
            <a:off x="502920" y="278553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下列有关叙述正确的是（）</a:t>
            </a:r>
          </a:p>
        </p:txBody>
      </p:sp>
      <p:sp>
        <p:nvSpPr>
          <p:cNvPr id="16" name="文字_A. HCl和H₂O所含的化学键类型不相同"/>
          <p:cNvSpPr txBox="1"/>
          <p:nvPr/>
        </p:nvSpPr>
        <p:spPr>
          <a:xfrm>
            <a:off x="502920" y="322444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HCl和H₂O所含的化学键类型不相同</a:t>
            </a:r>
          </a:p>
        </p:txBody>
      </p:sp>
      <p:sp>
        <p:nvSpPr>
          <p:cNvPr id="17" name="文字_B. H₂O沸腾时克服共价键"/>
          <p:cNvSpPr txBox="1"/>
          <p:nvPr/>
        </p:nvSpPr>
        <p:spPr>
          <a:xfrm>
            <a:off x="502920" y="366335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H₂O沸腾时克服共价键</a:t>
            </a:r>
          </a:p>
        </p:txBody>
      </p:sp>
      <p:sp>
        <p:nvSpPr>
          <p:cNvPr id="18" name="文字_C. 用电子式表示HCI的形成过程：H·+·Cl"/>
          <p:cNvSpPr txBox="1"/>
          <p:nvPr/>
        </p:nvSpPr>
        <p:spPr>
          <a:xfrm>
            <a:off x="502920" y="410227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用电子式表示HCI的形成过程：H·+·Cl：H：Cl：</a:t>
            </a:r>
          </a:p>
        </p:txBody>
      </p:sp>
      <p:sp>
        <p:nvSpPr>
          <p:cNvPr id="19" name="文字_D. 反应②只有共价键的断裂和形成"/>
          <p:cNvSpPr txBox="1"/>
          <p:nvPr/>
        </p:nvSpPr>
        <p:spPr>
          <a:xfrm>
            <a:off x="502920" y="454118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反应②只有共价键的断裂和形成</a:t>
            </a:r>
          </a:p>
        </p:txBody>
      </p:sp>
      <p:sp>
        <p:nvSpPr>
          <p:cNvPr id="20" name="文字_单选题  ·  12-03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12-035</a:t>
            </a:r>
          </a:p>
        </p:txBody>
      </p:sp>
      <p:sp>
        <p:nvSpPr>
          <p:cNvPr id="21" name="文字_4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例题10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例题10</a:t>
            </a:r>
          </a:p>
        </p:txBody>
      </p:sp>
      <p:sp>
        <p:nvSpPr>
          <p:cNvPr id="5" name="文字_P26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P265</a:t>
            </a:r>
          </a:p>
        </p:txBody>
      </p:sp>
      <p:sp>
        <p:nvSpPr>
          <p:cNvPr id="6" name="文字_在下列变化中：①I₂升华，②烧碱熔化，③二氧化硅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在下列变化中：①I₂升华，②烧碱熔化，③二氧化硅熔化，④NaCl溶于水，⑤HCl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溶于水，⑥晶体Ar熔化，</a:t>
            </a:r>
          </a:p>
        </p:txBody>
      </p:sp>
      <p:sp>
        <p:nvSpPr>
          <p:cNvPr id="7" name="文字_⑦Na₂O₂溶于水，⑧NaHSO₄溶于水。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⑦Na₂O₂溶于水，⑧NaHSO₄溶于水。</a:t>
            </a:r>
          </a:p>
        </p:txBody>
      </p:sp>
      <p:sp>
        <p:nvSpPr>
          <p:cNvPr id="8" name="文字_化学键未破坏的是 ______ ；只有共价键被破"/>
          <p:cNvSpPr txBox="1"/>
          <p:nvPr/>
        </p:nvSpPr>
        <p:spPr>
          <a:xfrm>
            <a:off x="502920" y="2319528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化学键未破坏的是 ______ ；只有共价键被破坏的是 ______ ；只有离子键被破坏的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是 ______ ；共价键和离子键同时被破坏的是 ______ O</a:t>
            </a:r>
          </a:p>
        </p:txBody>
      </p:sp>
      <p:sp>
        <p:nvSpPr>
          <p:cNvPr id="9" name="文字_填空题  ·  12-03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12-036</a:t>
            </a:r>
          </a:p>
        </p:txBody>
      </p:sp>
      <p:sp>
        <p:nvSpPr>
          <p:cNvPr id="10" name="文字_4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例题1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例题11</a:t>
            </a:r>
          </a:p>
        </p:txBody>
      </p:sp>
      <p:sp>
        <p:nvSpPr>
          <p:cNvPr id="5" name="文字_P26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P266</a:t>
            </a:r>
          </a:p>
        </p:txBody>
      </p:sp>
      <p:sp>
        <p:nvSpPr>
          <p:cNvPr id="6" name="文字_物质是由微观粒子构成的，人类对构成物质的微粒子间"/>
          <p:cNvSpPr txBox="1"/>
          <p:nvPr/>
        </p:nvSpPr>
        <p:spPr>
          <a:xfrm>
            <a:off x="502920" y="1078992"/>
            <a:ext cx="11064240" cy="7515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物质是由微观粒子构成的，人类对构成物质的微粒子间结合方式的认识源远流长。请按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下列要求填空。</a:t>
            </a:r>
          </a:p>
        </p:txBody>
      </p:sp>
      <p:sp>
        <p:nvSpPr>
          <p:cNvPr id="7" name="文字_I. 有下列物质："/>
          <p:cNvSpPr txBox="1"/>
          <p:nvPr/>
        </p:nvSpPr>
        <p:spPr>
          <a:xfrm>
            <a:off x="502920" y="1830514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I. 有下列物质：</a:t>
            </a:r>
          </a:p>
        </p:txBody>
      </p:sp>
      <p:sp>
        <p:nvSpPr>
          <p:cNvPr id="8" name="文字_①Cl₂ ②Na₂O₂ ③NaOH ④HCl ⑤"/>
          <p:cNvSpPr txBox="1"/>
          <p:nvPr/>
        </p:nvSpPr>
        <p:spPr>
          <a:xfrm>
            <a:off x="502920" y="2241994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①Cl₂ ②Na₂O₂ ③NaOH ④HCl ⑤H₂O₂ ⑥MgF₂ ⑦NH₄Cl</a:t>
            </a:r>
          </a:p>
        </p:txBody>
      </p:sp>
      <p:sp>
        <p:nvSpPr>
          <p:cNvPr id="9" name="文字_(1) 只含共价键的物质是 ______ (填序"/>
          <p:cNvSpPr txBox="1"/>
          <p:nvPr/>
        </p:nvSpPr>
        <p:spPr>
          <a:xfrm>
            <a:off x="502920" y="2653474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 只含共价键的物质是 ______ (填序号，下同)。</a:t>
            </a:r>
          </a:p>
        </p:txBody>
      </p:sp>
      <p:sp>
        <p:nvSpPr>
          <p:cNvPr id="10" name="文字_(2)由离子键和非极性键构成的物质是"/>
          <p:cNvSpPr txBox="1"/>
          <p:nvPr/>
        </p:nvSpPr>
        <p:spPr>
          <a:xfrm>
            <a:off x="502920" y="3064954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(2)由离子键和非极性键构成的物质是</a:t>
            </a:r>
          </a:p>
        </p:txBody>
      </p:sp>
      <p:sp>
        <p:nvSpPr>
          <p:cNvPr id="11" name="文字_Ⅱ.下列变化中：①蔗糖溶于水 ②硫酸氢钾熔化 ③"/>
          <p:cNvSpPr txBox="1"/>
          <p:nvPr/>
        </p:nvSpPr>
        <p:spPr>
          <a:xfrm>
            <a:off x="502920" y="3476434"/>
            <a:ext cx="11064240" cy="7515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Ⅱ.下列变化中：①蔗糖溶于水 ②硫酸氢钾熔化 ③氨气液化 ④NaCl溶于水 ⑤Na₂O₂溶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于水 ⑥HBr溶于水</a:t>
            </a:r>
          </a:p>
        </p:txBody>
      </p:sp>
      <p:sp>
        <p:nvSpPr>
          <p:cNvPr id="12" name="文字_(3) 只有离子键被破坏的是 ______ ，只"/>
          <p:cNvSpPr txBox="1"/>
          <p:nvPr/>
        </p:nvSpPr>
        <p:spPr>
          <a:xfrm>
            <a:off x="502920" y="4227957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 只有离子键被破坏的是 ______ ，只有共价键被破坏的是</a:t>
            </a:r>
          </a:p>
        </p:txBody>
      </p:sp>
      <p:sp>
        <p:nvSpPr>
          <p:cNvPr id="13" name="文字_(4) 既有离子键被破坏，又有共价键被破坏的是"/>
          <p:cNvSpPr txBox="1"/>
          <p:nvPr/>
        </p:nvSpPr>
        <p:spPr>
          <a:xfrm>
            <a:off x="502920" y="4639437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 既有离子键被破坏，又有共价键被破坏的是</a:t>
            </a:r>
          </a:p>
        </p:txBody>
      </p:sp>
      <p:sp>
        <p:nvSpPr>
          <p:cNvPr id="14" name="文字_Ⅲ.有下列微粒或物质："/>
          <p:cNvSpPr txBox="1"/>
          <p:nvPr/>
        </p:nvSpPr>
        <p:spPr>
          <a:xfrm>
            <a:off x="502920" y="5050917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Ⅲ.有下列微粒或物质：</a:t>
            </a:r>
          </a:p>
        </p:txBody>
      </p:sp>
      <p:sp>
        <p:nvSpPr>
          <p:cNvPr id="15" name="文字_180 ②石墨、金刚石 ③35Cl₂、37Cl₂"/>
          <p:cNvSpPr txBox="1"/>
          <p:nvPr/>
        </p:nvSpPr>
        <p:spPr>
          <a:xfrm>
            <a:off x="502920" y="5462397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180 ②石墨、金刚石 ③35Cl₂、37Cl₂④49K、20Ca、18Ar</a:t>
            </a:r>
          </a:p>
        </p:txBody>
      </p:sp>
      <p:sp>
        <p:nvSpPr>
          <p:cNvPr id="16" name="文字_(5)互为同位素的是 ______ ；互为同素异"/>
          <p:cNvSpPr txBox="1"/>
          <p:nvPr/>
        </p:nvSpPr>
        <p:spPr>
          <a:xfrm>
            <a:off x="502920" y="5873877"/>
            <a:ext cx="1106424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(5)互为同位素的是 ______ ；互为同素异形体的是</a:t>
            </a:r>
          </a:p>
        </p:txBody>
      </p:sp>
      <p:sp>
        <p:nvSpPr>
          <p:cNvPr id="17" name="文字_填空题  ·  12-03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12-037</a:t>
            </a:r>
          </a:p>
        </p:txBody>
      </p:sp>
      <p:sp>
        <p:nvSpPr>
          <p:cNvPr id="18" name="文字_4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变式1</a:t>
            </a:r>
          </a:p>
        </p:txBody>
      </p:sp>
      <p:sp>
        <p:nvSpPr>
          <p:cNvPr id="5" name="文字_P26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P266</a:t>
            </a:r>
          </a:p>
        </p:txBody>
      </p:sp>
      <p:sp>
        <p:nvSpPr>
          <p:cNvPr id="6" name="文字_下列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</a:t>
            </a:r>
          </a:p>
        </p:txBody>
      </p:sp>
      <p:sp>
        <p:nvSpPr>
          <p:cNvPr id="7" name="文字_A. 物质的化学性质主要由分子间作用力决定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物质的化学性质主要由分子间作用力决定</a:t>
            </a:r>
          </a:p>
        </p:txBody>
      </p:sp>
      <p:sp>
        <p:nvSpPr>
          <p:cNvPr id="8" name="文字_B. 硫酸水溶液能导电是因为溶液中存在自由移动的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硫酸水溶液能导电是因为溶液中存在自由移动的离子，所以硫酸是离子化合物</a:t>
            </a:r>
          </a:p>
        </p:txBody>
      </p:sp>
      <p:sp>
        <p:nvSpPr>
          <p:cNvPr id="9" name="文字_C. CO₂是直线型的共价化合物，含有非极性共价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CO₂是直线型的共价化合物，含有非极性共价键</a:t>
            </a:r>
          </a:p>
        </p:txBody>
      </p:sp>
      <p:sp>
        <p:nvSpPr>
          <p:cNvPr id="10" name="文字_D. 单质气体中可能不含化学键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单质气体中可能不含化学键</a:t>
            </a:r>
          </a:p>
        </p:txBody>
      </p:sp>
      <p:sp>
        <p:nvSpPr>
          <p:cNvPr id="11" name="文字_单选题  ·  12-03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12-038</a:t>
            </a:r>
          </a:p>
        </p:txBody>
      </p:sp>
      <p:sp>
        <p:nvSpPr>
          <p:cNvPr id="12" name="文字_4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变式2</a:t>
            </a:r>
          </a:p>
        </p:txBody>
      </p:sp>
      <p:sp>
        <p:nvSpPr>
          <p:cNvPr id="5" name="文字_P26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P266</a:t>
            </a:r>
          </a:p>
        </p:txBody>
      </p:sp>
      <p:sp>
        <p:nvSpPr>
          <p:cNvPr id="6" name="文字_实现下列变化，克服的作用力相同的一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实现下列变化，克服的作用力相同的一组是（）</a:t>
            </a:r>
          </a:p>
        </p:txBody>
      </p:sp>
      <p:sp>
        <p:nvSpPr>
          <p:cNvPr id="7" name="文字_A. 金刚石熔化、氯化钾熔化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金刚石熔化、氯化钾熔化</a:t>
            </a:r>
          </a:p>
        </p:txBody>
      </p:sp>
      <p:sp>
        <p:nvSpPr>
          <p:cNvPr id="8" name="文字_B. HCl溶于水、NaCl溶于水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HCl溶于水、NaCl溶于水</a:t>
            </a:r>
          </a:p>
        </p:txBody>
      </p:sp>
      <p:sp>
        <p:nvSpPr>
          <p:cNvPr id="9" name="文字_C. 二氧化碳、二氧化硅熔化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二氧化碳、二氧化硅熔化</a:t>
            </a:r>
          </a:p>
        </p:txBody>
      </p:sp>
      <p:sp>
        <p:nvSpPr>
          <p:cNvPr id="10" name="文字_D. 碘的升华、干冰升华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碘的升华、干冰升华</a:t>
            </a:r>
          </a:p>
        </p:txBody>
      </p:sp>
      <p:sp>
        <p:nvSpPr>
          <p:cNvPr id="11" name="文字_单选题  ·  12-03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12-039</a:t>
            </a:r>
          </a:p>
        </p:txBody>
      </p:sp>
      <p:sp>
        <p:nvSpPr>
          <p:cNvPr id="12" name="文字_5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变式3</a:t>
            </a:r>
          </a:p>
        </p:txBody>
      </p:sp>
      <p:sp>
        <p:nvSpPr>
          <p:cNvPr id="5" name="文字_P26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P267</a:t>
            </a:r>
          </a:p>
        </p:txBody>
      </p:sp>
      <p:sp>
        <p:nvSpPr>
          <p:cNvPr id="6" name="文字_用NaC₁O可除去水体中过量氨氮(以NH₃表示)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用NaC₁O可除去水体中过量氨氮(以NH₃表示)，以防止水体富营养化。其原理如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图所示，下列有关叙述正确的是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0616"/>
            <a:ext cx="11064240" cy="1898914"/>
          </a:xfrm>
          <a:prstGeom prst="rect">
            <a:avLst/>
          </a:prstGeom>
        </p:spPr>
      </p:pic>
      <p:sp>
        <p:nvSpPr>
          <p:cNvPr id="8" name="原题文字_267_4"/>
          <p:cNvSpPr txBox="1"/>
          <p:nvPr/>
        </p:nvSpPr>
        <p:spPr>
          <a:xfrm>
            <a:off x="8098578" y="1912499"/>
            <a:ext cx="575534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6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NH₃</a:t>
            </a:r>
          </a:p>
        </p:txBody>
      </p:sp>
      <p:sp>
        <p:nvSpPr>
          <p:cNvPr id="9" name="原题文字_267_5"/>
          <p:cNvSpPr txBox="1"/>
          <p:nvPr/>
        </p:nvSpPr>
        <p:spPr>
          <a:xfrm>
            <a:off x="9423224" y="1943127"/>
            <a:ext cx="920095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2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N₂ + H₂O</a:t>
            </a:r>
          </a:p>
        </p:txBody>
      </p:sp>
      <p:sp>
        <p:nvSpPr>
          <p:cNvPr id="10" name="原题文字_267_6"/>
          <p:cNvSpPr txBox="1"/>
          <p:nvPr/>
        </p:nvSpPr>
        <p:spPr>
          <a:xfrm>
            <a:off x="602459" y="2035010"/>
            <a:ext cx="5736293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原理中所涉及的元素的原子半径：Cl&gt; Na &gt; O &gt; N &gt; H</a:t>
            </a:r>
          </a:p>
        </p:txBody>
      </p:sp>
      <p:sp>
        <p:nvSpPr>
          <p:cNvPr id="11" name="原题文字_267_7"/>
          <p:cNvSpPr txBox="1"/>
          <p:nvPr/>
        </p:nvSpPr>
        <p:spPr>
          <a:xfrm>
            <a:off x="9017407" y="2180491"/>
            <a:ext cx="292228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</a:t>
            </a:r>
          </a:p>
        </p:txBody>
      </p:sp>
      <p:sp>
        <p:nvSpPr>
          <p:cNvPr id="12" name="原题文字_267_8"/>
          <p:cNvSpPr txBox="1"/>
          <p:nvPr/>
        </p:nvSpPr>
        <p:spPr>
          <a:xfrm>
            <a:off x="564175" y="2387228"/>
            <a:ext cx="4955288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2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NH₃、H₂O、OH⁻所含的质子数和电子数均相等</a:t>
            </a:r>
          </a:p>
        </p:txBody>
      </p:sp>
      <p:sp>
        <p:nvSpPr>
          <p:cNvPr id="13" name="原题文字_267_9"/>
          <p:cNvSpPr txBox="1"/>
          <p:nvPr/>
        </p:nvSpPr>
        <p:spPr>
          <a:xfrm>
            <a:off x="6819873" y="2708818"/>
            <a:ext cx="789927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NaClO</a:t>
            </a:r>
          </a:p>
        </p:txBody>
      </p:sp>
      <p:sp>
        <p:nvSpPr>
          <p:cNvPr id="14" name="原题文字_267_10"/>
          <p:cNvSpPr txBox="1"/>
          <p:nvPr/>
        </p:nvSpPr>
        <p:spPr>
          <a:xfrm>
            <a:off x="8205774" y="2716475"/>
            <a:ext cx="675073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HClO</a:t>
            </a:r>
          </a:p>
        </p:txBody>
      </p:sp>
      <p:sp>
        <p:nvSpPr>
          <p:cNvPr id="15" name="原题文字_267_11"/>
          <p:cNvSpPr txBox="1"/>
          <p:nvPr/>
        </p:nvSpPr>
        <p:spPr>
          <a:xfrm>
            <a:off x="9545734" y="2716475"/>
            <a:ext cx="537249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HCl</a:t>
            </a:r>
          </a:p>
        </p:txBody>
      </p:sp>
      <p:sp>
        <p:nvSpPr>
          <p:cNvPr id="16" name="原题文字_267_12"/>
          <p:cNvSpPr txBox="1"/>
          <p:nvPr/>
        </p:nvSpPr>
        <p:spPr>
          <a:xfrm>
            <a:off x="10778497" y="2708818"/>
            <a:ext cx="567877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H₂O</a:t>
            </a:r>
          </a:p>
        </p:txBody>
      </p:sp>
      <p:sp>
        <p:nvSpPr>
          <p:cNvPr id="17" name="原题文字_267_13"/>
          <p:cNvSpPr txBox="1"/>
          <p:nvPr/>
        </p:nvSpPr>
        <p:spPr>
          <a:xfrm>
            <a:off x="594802" y="2793044"/>
            <a:ext cx="3875663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NaC₁O和HClO所含的化学键类型相同</a:t>
            </a:r>
          </a:p>
        </p:txBody>
      </p:sp>
      <p:sp>
        <p:nvSpPr>
          <p:cNvPr id="18" name="原题文字_267_14"/>
          <p:cNvSpPr txBox="1"/>
          <p:nvPr/>
        </p:nvSpPr>
        <p:spPr>
          <a:xfrm>
            <a:off x="7715732" y="2915555"/>
            <a:ext cx="276914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</a:t>
            </a:r>
          </a:p>
        </p:txBody>
      </p:sp>
      <p:sp>
        <p:nvSpPr>
          <p:cNvPr id="19" name="原题文字_267_15"/>
          <p:cNvSpPr txBox="1"/>
          <p:nvPr/>
        </p:nvSpPr>
        <p:spPr>
          <a:xfrm>
            <a:off x="10250170" y="2946183"/>
            <a:ext cx="292228" cy="2886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</a:t>
            </a:r>
          </a:p>
        </p:txBody>
      </p:sp>
      <p:sp>
        <p:nvSpPr>
          <p:cNvPr id="20" name="原题文字_267_16"/>
          <p:cNvSpPr txBox="1"/>
          <p:nvPr/>
        </p:nvSpPr>
        <p:spPr>
          <a:xfrm>
            <a:off x="571832" y="3168233"/>
            <a:ext cx="4082400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反应③有离子键和共价键的断裂和形成</a:t>
            </a:r>
          </a:p>
        </p:txBody>
      </p:sp>
      <p:sp>
        <p:nvSpPr>
          <p:cNvPr id="21" name="原题文字_267_17"/>
          <p:cNvSpPr txBox="1"/>
          <p:nvPr/>
        </p:nvSpPr>
        <p:spPr>
          <a:xfrm>
            <a:off x="6911756" y="3474510"/>
            <a:ext cx="560220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H₂O</a:t>
            </a:r>
          </a:p>
        </p:txBody>
      </p:sp>
      <p:sp>
        <p:nvSpPr>
          <p:cNvPr id="22" name="原题文字_267_18"/>
          <p:cNvSpPr txBox="1"/>
          <p:nvPr/>
        </p:nvSpPr>
        <p:spPr>
          <a:xfrm>
            <a:off x="8535022" y="3482167"/>
            <a:ext cx="751643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NaOH</a:t>
            </a:r>
          </a:p>
        </p:txBody>
      </p:sp>
      <p:sp>
        <p:nvSpPr>
          <p:cNvPr id="23" name="原题文字_267_19"/>
          <p:cNvSpPr txBox="1"/>
          <p:nvPr/>
        </p:nvSpPr>
        <p:spPr>
          <a:xfrm>
            <a:off x="10732556" y="3474510"/>
            <a:ext cx="636789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NaCl</a:t>
            </a:r>
          </a:p>
        </p:txBody>
      </p:sp>
      <p:sp>
        <p:nvSpPr>
          <p:cNvPr id="24" name="文字_单选题  ·  12-04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12-040</a:t>
            </a:r>
          </a:p>
        </p:txBody>
      </p:sp>
      <p:sp>
        <p:nvSpPr>
          <p:cNvPr id="25" name="文字_5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变式4</a:t>
            </a:r>
          </a:p>
        </p:txBody>
      </p:sp>
      <p:sp>
        <p:nvSpPr>
          <p:cNvPr id="5" name="文字_P26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P267</a:t>
            </a:r>
          </a:p>
        </p:txBody>
      </p:sp>
      <p:sp>
        <p:nvSpPr>
          <p:cNvPr id="6" name="文字_关于氢键，下列说法不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关于氢键，下列说法不正确的是</a:t>
            </a:r>
          </a:p>
        </p:txBody>
      </p:sp>
      <p:sp>
        <p:nvSpPr>
          <p:cNvPr id="7" name="文字_A. HF的沸点比HCI的沸点高是由于HF分子间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HF的沸点比HCI的沸点高是由于HF分子间存在氢键所致</a:t>
            </a:r>
          </a:p>
        </p:txBody>
      </p:sp>
      <p:sp>
        <p:nvSpPr>
          <p:cNvPr id="8" name="文字_B. 水在结冰时体积膨胀，是由于水分子之间存在氢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水在结冰时体积膨胀，是由于水分子之间存在氢键</a:t>
            </a:r>
          </a:p>
        </p:txBody>
      </p:sp>
      <p:sp>
        <p:nvSpPr>
          <p:cNvPr id="9" name="文字_C. NH₃的稳定性很强，是因为其分子间能形成氢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NH₃的稳定性很强，是因为其分子间能形成氢键</a:t>
            </a:r>
          </a:p>
        </p:txBody>
      </p:sp>
      <p:sp>
        <p:nvSpPr>
          <p:cNvPr id="10" name="文字_D. 在氨水中水分子和氨分子之间也存在着氢键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在氨水中水分子和氨分子之间也存在着氢键</a:t>
            </a:r>
          </a:p>
        </p:txBody>
      </p:sp>
      <p:sp>
        <p:nvSpPr>
          <p:cNvPr id="11" name="文字_单选题  ·  12-04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12-041</a:t>
            </a:r>
          </a:p>
        </p:txBody>
      </p:sp>
      <p:sp>
        <p:nvSpPr>
          <p:cNvPr id="12" name="文字_5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变式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变式5</a:t>
            </a:r>
          </a:p>
        </p:txBody>
      </p:sp>
      <p:sp>
        <p:nvSpPr>
          <p:cNvPr id="5" name="文字_P26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P267</a:t>
            </a:r>
          </a:p>
        </p:txBody>
      </p:sp>
      <p:sp>
        <p:nvSpPr>
          <p:cNvPr id="6" name="文字_下列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</a:t>
            </a:r>
          </a:p>
        </p:txBody>
      </p:sp>
      <p:sp>
        <p:nvSpPr>
          <p:cNvPr id="7" name="文字_A. MgF₂中的两种离子核外排布相差一个电子层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MgF₂中的两种离子核外排布相差一个电子层</a:t>
            </a:r>
          </a:p>
        </p:txBody>
      </p:sp>
      <p:sp>
        <p:nvSpPr>
          <p:cNvPr id="8" name="文字_B. NaCl与 HCl的熔点与其所含化学键的键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NaCl与 HCl的熔点与其所含化学键的键能有关</a:t>
            </a:r>
          </a:p>
        </p:txBody>
      </p:sp>
      <p:sp>
        <p:nvSpPr>
          <p:cNvPr id="9" name="文字_C. 不发生化学变化时，物质中的化学键也可能断开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不发生化学变化时，物质中的化学键也可能断开</a:t>
            </a:r>
          </a:p>
        </p:txBody>
      </p:sp>
      <p:sp>
        <p:nvSpPr>
          <p:cNvPr id="10" name="文字_D. H₂O和H₂O₂两种物质微粒间作用力相同，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H₂O和H₂O₂两种物质微粒间作用力相同，稳定性也相同</a:t>
            </a:r>
          </a:p>
        </p:txBody>
      </p:sp>
      <p:sp>
        <p:nvSpPr>
          <p:cNvPr id="11" name="文字_单选题  ·  12-04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12-042</a:t>
            </a:r>
          </a:p>
        </p:txBody>
      </p:sp>
      <p:sp>
        <p:nvSpPr>
          <p:cNvPr id="12" name="文字_5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变式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变式6</a:t>
            </a:r>
          </a:p>
        </p:txBody>
      </p:sp>
      <p:sp>
        <p:nvSpPr>
          <p:cNvPr id="5" name="文字_P26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P267</a:t>
            </a:r>
          </a:p>
        </p:txBody>
      </p:sp>
      <p:sp>
        <p:nvSpPr>
          <p:cNvPr id="6" name="文字_下列说法不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下列说法不正确的是</a:t>
            </a:r>
          </a:p>
        </p:txBody>
      </p:sp>
      <p:sp>
        <p:nvSpPr>
          <p:cNvPr id="7" name="文字_A. 纯碱和烧碱熔化时克服的化学键类型相同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纯碱和烧碱熔化时克服的化学键类型相同</a:t>
            </a:r>
          </a:p>
        </p:txBody>
      </p:sp>
      <p:sp>
        <p:nvSpPr>
          <p:cNvPr id="8" name="文字_B. 加热蒸发氯化钾水溶液的过程中有分子间作用力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加热蒸发氯化钾水溶液的过程中有分子间作用力的破坏</a:t>
            </a:r>
          </a:p>
        </p:txBody>
      </p:sp>
      <p:sp>
        <p:nvSpPr>
          <p:cNvPr id="9" name="文字_C. CO₂溶于水和干冰升华都只有分子间作用力改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CO₂溶于水和干冰升华都只有分子间作用力改变</a:t>
            </a:r>
          </a:p>
        </p:txBody>
      </p:sp>
      <p:sp>
        <p:nvSpPr>
          <p:cNvPr id="10" name="文字_D. 石墨转化为金刚石既有共价键的断裂和生成，也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石墨转化为金刚石既有共价键的断裂和生成，也有分子间作用力的破坏</a:t>
            </a:r>
          </a:p>
        </p:txBody>
      </p:sp>
      <p:sp>
        <p:nvSpPr>
          <p:cNvPr id="11" name="文字_单选题  ·  12-04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12-043</a:t>
            </a:r>
          </a:p>
        </p:txBody>
      </p:sp>
      <p:sp>
        <p:nvSpPr>
          <p:cNvPr id="12" name="文字_5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变式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变式7</a:t>
            </a:r>
          </a:p>
        </p:txBody>
      </p:sp>
      <p:sp>
        <p:nvSpPr>
          <p:cNvPr id="5" name="文字_P26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P267</a:t>
            </a:r>
          </a:p>
        </p:txBody>
      </p:sp>
      <p:sp>
        <p:nvSpPr>
          <p:cNvPr id="6" name="文字_下列说法中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下列说法中正确的是</a:t>
            </a:r>
          </a:p>
        </p:txBody>
      </p:sp>
      <p:sp>
        <p:nvSpPr>
          <p:cNvPr id="7" name="文字_A. 冰融化的过程破坏了化学键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冰融化的过程破坏了化学键</a:t>
            </a:r>
          </a:p>
        </p:txBody>
      </p:sp>
      <p:sp>
        <p:nvSpPr>
          <p:cNvPr id="8" name="文字_B. 熔融状态下能导电的化合物一定含离子键；金属"/>
          <p:cNvSpPr txBox="1"/>
          <p:nvPr/>
        </p:nvSpPr>
        <p:spPr>
          <a:xfrm>
            <a:off x="502920" y="1956816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熔融状态下能导电的化合物一定含离子键；金属与非金属元素形成的化合物一定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是离子化合物</a:t>
            </a:r>
          </a:p>
        </p:txBody>
      </p:sp>
      <p:sp>
        <p:nvSpPr>
          <p:cNvPr id="9" name="文字_C. NCl₃分子中所有的原子均为8电子稳定结构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NCl₃分子中所有的原子均为8电子稳定结构</a:t>
            </a:r>
          </a:p>
        </p:txBody>
      </p:sp>
      <p:sp>
        <p:nvSpPr>
          <p:cNvPr id="10" name="文字_D. NaHSO₄溶于水时发生NaHSO₄=Na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NaHSO₄溶于水时发生NaHSO₄=Na++H++SO₂⁻，此时破坏的只有离子键</a:t>
            </a:r>
          </a:p>
        </p:txBody>
      </p:sp>
      <p:sp>
        <p:nvSpPr>
          <p:cNvPr id="11" name="文字_单选题  ·  12-04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12-044</a:t>
            </a:r>
          </a:p>
        </p:txBody>
      </p:sp>
      <p:sp>
        <p:nvSpPr>
          <p:cNvPr id="12" name="文字_5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变式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变式8</a:t>
            </a:r>
          </a:p>
        </p:txBody>
      </p:sp>
      <p:sp>
        <p:nvSpPr>
          <p:cNvPr id="5" name="文字_P26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P268</a:t>
            </a:r>
          </a:p>
        </p:txBody>
      </p:sp>
      <p:sp>
        <p:nvSpPr>
          <p:cNvPr id="6" name="文字_下列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</a:t>
            </a:r>
          </a:p>
        </p:txBody>
      </p:sp>
      <p:sp>
        <p:nvSpPr>
          <p:cNvPr id="7" name="文字_A. CH₄和CCl₄中，每个原子的最外层都达到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CH₄和CCl₄中，每个原子的最外层都达到8电子稳定结构</a:t>
            </a:r>
          </a:p>
        </p:txBody>
      </p:sp>
      <p:sp>
        <p:nvSpPr>
          <p:cNvPr id="8" name="文字_B. HF分子比HCl分子稳定是因为分子间作用力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HF分子比HCl分子稳定是因为分子间作用力前者强于后者</a:t>
            </a:r>
          </a:p>
        </p:txBody>
      </p:sp>
      <p:sp>
        <p:nvSpPr>
          <p:cNvPr id="9" name="文字_C. NaHSO₄固体溶于水时，离子键、共价键被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NaHSO₄固体溶于水时，离子键、共价键被破坏</a:t>
            </a:r>
          </a:p>
        </p:txBody>
      </p:sp>
      <p:sp>
        <p:nvSpPr>
          <p:cNvPr id="10" name="文字_D. MgCl₂和MgSO₄中化学键的类型完全相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MgCl₂和MgSO₄中化学键的类型完全相同，熔化时克服的作用力类型也相同</a:t>
            </a:r>
          </a:p>
        </p:txBody>
      </p:sp>
      <p:sp>
        <p:nvSpPr>
          <p:cNvPr id="11" name="文字_单选题  ·  12-04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12-045</a:t>
            </a:r>
          </a:p>
        </p:txBody>
      </p:sp>
      <p:sp>
        <p:nvSpPr>
          <p:cNvPr id="12" name="文字_5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变式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变式9</a:t>
            </a:r>
          </a:p>
        </p:txBody>
      </p:sp>
      <p:sp>
        <p:nvSpPr>
          <p:cNvPr id="5" name="文字_P26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P268</a:t>
            </a:r>
          </a:p>
        </p:txBody>
      </p:sp>
      <p:sp>
        <p:nvSpPr>
          <p:cNvPr id="6" name="文字_下列说法不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下列说法不正确的是（）</a:t>
            </a:r>
          </a:p>
        </p:txBody>
      </p:sp>
      <p:sp>
        <p:nvSpPr>
          <p:cNvPr id="7" name="文字_A. NaHSO₄加热融化时破坏了该物质中的离子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NaHSO₄加热融化时破坏了该物质中的离子键和共价键</a:t>
            </a:r>
          </a:p>
        </p:txBody>
      </p:sp>
      <p:sp>
        <p:nvSpPr>
          <p:cNvPr id="8" name="文字_B. 碘单质的分子间作用力比溴单质强，所以碘单质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碘单质的分子间作用力比溴单质强，所以碘单质沸点高于溴单质</a:t>
            </a:r>
          </a:p>
        </p:txBody>
      </p:sp>
      <p:sp>
        <p:nvSpPr>
          <p:cNvPr id="9" name="文字_C. CO₂、NCl₃中所有原子最外层都满足8电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CO₂、NCl₃中所有原子最外层都满足8电子稳定结构</a:t>
            </a:r>
          </a:p>
        </p:txBody>
      </p:sp>
      <p:sp>
        <p:nvSpPr>
          <p:cNvPr id="10" name="文字_D. 某化合物在熔融状态下能导电，该化合物一定含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某化合物在熔融状态下能导电，该化合物一定含离子键</a:t>
            </a:r>
          </a:p>
        </p:txBody>
      </p:sp>
      <p:sp>
        <p:nvSpPr>
          <p:cNvPr id="11" name="文字_单选题  ·  12-04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12-046</a:t>
            </a:r>
          </a:p>
        </p:txBody>
      </p:sp>
      <p:sp>
        <p:nvSpPr>
          <p:cNvPr id="12" name="文字_5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变式10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变式10</a:t>
            </a:r>
          </a:p>
        </p:txBody>
      </p:sp>
      <p:sp>
        <p:nvSpPr>
          <p:cNvPr id="5" name="文字_P26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P268</a:t>
            </a:r>
          </a:p>
        </p:txBody>
      </p:sp>
      <p:sp>
        <p:nvSpPr>
          <p:cNvPr id="6" name="文字_下列有关化学键与物质构成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下列有关化学键与物质构成说法正确的是</a:t>
            </a:r>
          </a:p>
        </p:txBody>
      </p:sp>
      <p:sp>
        <p:nvSpPr>
          <p:cNvPr id="7" name="文字_A. CO₂、N₂均为共价化合物，分子中各原子均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CO₂、N₂均为共价化合物，分子中各原子均满足8电子稳定结构</a:t>
            </a:r>
          </a:p>
        </p:txBody>
      </p:sp>
      <p:sp>
        <p:nvSpPr>
          <p:cNvPr id="8" name="文字_B. NH₄Cl属于离子化合物，该物质中只存在离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NH₄Cl属于离子化合物，该物质中只存在离子键</a:t>
            </a:r>
          </a:p>
        </p:txBody>
      </p:sp>
      <p:sp>
        <p:nvSpPr>
          <p:cNvPr id="9" name="文字_C. 在Na₂O₂和CaCl₂中，均存在共价键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在Na₂O₂和CaCl₂中，均存在共价键</a:t>
            </a:r>
          </a:p>
        </p:txBody>
      </p:sp>
      <p:sp>
        <p:nvSpPr>
          <p:cNvPr id="10" name="文字_D. Na₂O₂置于潮湿空气中既有旧离子键和共价"/>
          <p:cNvSpPr txBox="1"/>
          <p:nvPr/>
        </p:nvSpPr>
        <p:spPr>
          <a:xfrm>
            <a:off x="502920" y="2834640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Na₂O₂置于潮湿空气中既有旧离子键和共价键破坏，又有新离子键和共价键形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成</a:t>
            </a:r>
          </a:p>
        </p:txBody>
      </p:sp>
      <p:sp>
        <p:nvSpPr>
          <p:cNvPr id="11" name="文字_单选题  ·  12-04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12-047</a:t>
            </a:r>
          </a:p>
        </p:txBody>
      </p:sp>
      <p:sp>
        <p:nvSpPr>
          <p:cNvPr id="12" name="文字_5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分子间作用力与氢键 · 变式1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分子间作用力与氢键 · 变式11</a:t>
            </a:r>
          </a:p>
        </p:txBody>
      </p:sp>
      <p:sp>
        <p:nvSpPr>
          <p:cNvPr id="5" name="文字_P268–26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P268–269</a:t>
            </a:r>
          </a:p>
        </p:txBody>
      </p:sp>
      <p:sp>
        <p:nvSpPr>
          <p:cNvPr id="6" name="文字_物质世界丰富多彩，原子间通过化学键构成了各种各样"/>
          <p:cNvSpPr txBox="1"/>
          <p:nvPr/>
        </p:nvSpPr>
        <p:spPr>
          <a:xfrm>
            <a:off x="502920" y="1078992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物质世界丰富多彩，原子间通过化学键构成了各种各样的物质。请根据下列物质填空。</a:t>
            </a:r>
          </a:p>
        </p:txBody>
      </p:sp>
      <p:sp>
        <p:nvSpPr>
          <p:cNvPr id="7" name="文字_A. 干冰 B. 氧化镁C. 水 D. 纯碱"/>
          <p:cNvSpPr txBox="1"/>
          <p:nvPr/>
        </p:nvSpPr>
        <p:spPr>
          <a:xfrm>
            <a:off x="502920" y="1463039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干冰 B. 氧化镁C. 水 D. 纯碱</a:t>
            </a:r>
          </a:p>
        </p:txBody>
      </p:sp>
      <p:sp>
        <p:nvSpPr>
          <p:cNvPr id="8" name="文字_E. 二氧化硅F． 溴化钾G. 金刚石"/>
          <p:cNvSpPr txBox="1"/>
          <p:nvPr/>
        </p:nvSpPr>
        <p:spPr>
          <a:xfrm>
            <a:off x="502920" y="1847088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E. 二氧化硅F． 溴化钾G. 金刚石</a:t>
            </a:r>
          </a:p>
        </p:txBody>
      </p:sp>
      <p:sp>
        <p:nvSpPr>
          <p:cNvPr id="9" name="文字_(1) 熔化时，不需要破坏化学键的是 _____"/>
          <p:cNvSpPr txBox="1"/>
          <p:nvPr/>
        </p:nvSpPr>
        <p:spPr>
          <a:xfrm>
            <a:off x="502920" y="2231136"/>
            <a:ext cx="11064240" cy="7014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 熔化时，不需要破坏化学键的是 ______ (用字母标号填空，下同)熔点最高的是 ______ ，晶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体中既有离子键，又有共价键的是</a:t>
            </a:r>
          </a:p>
        </p:txBody>
      </p:sp>
      <p:sp>
        <p:nvSpPr>
          <p:cNvPr id="10" name="文字_(2)试比较熔沸点的高低：干冰 ______ 二"/>
          <p:cNvSpPr txBox="1"/>
          <p:nvPr/>
        </p:nvSpPr>
        <p:spPr>
          <a:xfrm>
            <a:off x="502920" y="2932557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(2)试比较熔沸点的高低：干冰 ______ 二氧化硅（&lt;，&gt;，=），试解释其原因：</a:t>
            </a:r>
          </a:p>
        </p:txBody>
      </p:sp>
      <p:sp>
        <p:nvSpPr>
          <p:cNvPr id="11" name="文字_(3) 干冰分子的电子式为 ______ ，11"/>
          <p:cNvSpPr txBox="1"/>
          <p:nvPr/>
        </p:nvSpPr>
        <p:spPr>
          <a:xfrm>
            <a:off x="502920" y="3316605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 干冰分子的电子式为 ______ ，11g二氧化碳中含有 ______ mol C = O键。</a:t>
            </a:r>
          </a:p>
        </p:txBody>
      </p:sp>
      <p:sp>
        <p:nvSpPr>
          <p:cNvPr id="12" name="文字_(4)氟在自然界中常以CaF₂的形式存在，下列关"/>
          <p:cNvSpPr txBox="1"/>
          <p:nvPr/>
        </p:nvSpPr>
        <p:spPr>
          <a:xfrm>
            <a:off x="502920" y="3700653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(4)氟在自然界中常以CaF₂的形式存在，下列关于CaF₂的表述正确的是</a:t>
            </a:r>
          </a:p>
        </p:txBody>
      </p:sp>
      <p:sp>
        <p:nvSpPr>
          <p:cNvPr id="13" name="文字_b. F 的离子半径小于Cl，则CaF₂的熔点高"/>
          <p:cNvSpPr txBox="1"/>
          <p:nvPr/>
        </p:nvSpPr>
        <p:spPr>
          <a:xfrm>
            <a:off x="502920" y="4084700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F 的离子半径小于Cl，则CaF₂的熔点高于CaCl₂</a:t>
            </a:r>
          </a:p>
        </p:txBody>
      </p:sp>
      <p:sp>
        <p:nvSpPr>
          <p:cNvPr id="14" name="文字_c. CaF₂中的化学键为离子键，因此CaF₂在"/>
          <p:cNvSpPr txBox="1"/>
          <p:nvPr/>
        </p:nvSpPr>
        <p:spPr>
          <a:xfrm>
            <a:off x="502920" y="4468749"/>
            <a:ext cx="11064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CaF₂中的化学键为离子键，因此CaF₂在熔融状态下能导电</a:t>
            </a:r>
          </a:p>
        </p:txBody>
      </p:sp>
      <p:sp>
        <p:nvSpPr>
          <p:cNvPr id="15" name="文字_(5)火箭推进器中盛有强还原剂液态肼（N₂H₄）"/>
          <p:cNvSpPr txBox="1"/>
          <p:nvPr/>
        </p:nvSpPr>
        <p:spPr>
          <a:xfrm>
            <a:off x="502920" y="4852797"/>
            <a:ext cx="11064240" cy="7014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(5)火箭推进器中盛有强还原剂液态肼（N₂H₄）和强氧化剂液态双氧水。当它们混合反应时，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即产生大量氮气和水蒸气，双氧水的结构式为 ______ ，该反应的化学方程式为</a:t>
            </a:r>
          </a:p>
        </p:txBody>
      </p:sp>
      <p:sp>
        <p:nvSpPr>
          <p:cNvPr id="16" name="文字_(6) 实验数据表明氯化铝的熔点为190℃，且在"/>
          <p:cNvSpPr txBox="1"/>
          <p:nvPr/>
        </p:nvSpPr>
        <p:spPr>
          <a:xfrm>
            <a:off x="502920" y="5554218"/>
            <a:ext cx="11064240" cy="7014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(6) 实验数据表明氯化铝的熔点为190℃，且在180℃时即开始升华，由此推测它应该是 ______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化合物；（填“离子”或“共价”），请设计实验证明你的结论</a:t>
            </a:r>
          </a:p>
        </p:txBody>
      </p:sp>
      <p:sp>
        <p:nvSpPr>
          <p:cNvPr id="17" name="文字_填空题  ·  12-04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12-048</a:t>
            </a:r>
          </a:p>
        </p:txBody>
      </p:sp>
      <p:sp>
        <p:nvSpPr>
          <p:cNvPr id="18" name="文字_5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5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05</a:t>
            </a:r>
          </a:p>
        </p:txBody>
      </p:sp>
      <p:sp>
        <p:nvSpPr>
          <p:cNvPr id="4" name="文字_沙场点兵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沙场点兵</a:t>
            </a:r>
          </a:p>
        </p:txBody>
      </p:sp>
      <p:sp>
        <p:nvSpPr>
          <p:cNvPr id="5" name="文字_每道原题一页 · 保留题目作答空白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每道原题一页 · 保留题目作答空白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检测题1</a:t>
            </a:r>
          </a:p>
        </p:txBody>
      </p:sp>
      <p:sp>
        <p:nvSpPr>
          <p:cNvPr id="5" name="文字_P27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P270</a:t>
            </a:r>
          </a:p>
        </p:txBody>
      </p:sp>
      <p:sp>
        <p:nvSpPr>
          <p:cNvPr id="6" name="文字_下列物质只含有离子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下列物质只含有离子键的是</a:t>
            </a:r>
          </a:p>
        </p:txBody>
      </p:sp>
      <p:sp>
        <p:nvSpPr>
          <p:cNvPr id="7" name="文字_A. NaCl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NaCl</a:t>
            </a:r>
          </a:p>
        </p:txBody>
      </p:sp>
      <p:sp>
        <p:nvSpPr>
          <p:cNvPr id="8" name="文字_B. Na₂O₂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Na₂O₂</a:t>
            </a:r>
          </a:p>
        </p:txBody>
      </p:sp>
      <p:sp>
        <p:nvSpPr>
          <p:cNvPr id="9" name="文字_C. NaOH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NaOH</a:t>
            </a:r>
          </a:p>
        </p:txBody>
      </p:sp>
      <p:sp>
        <p:nvSpPr>
          <p:cNvPr id="10" name="文字_D. NaHCO₃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NaHCO₃</a:t>
            </a:r>
          </a:p>
        </p:txBody>
      </p:sp>
      <p:sp>
        <p:nvSpPr>
          <p:cNvPr id="11" name="文字_单选题  ·  12-04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12-049</a:t>
            </a:r>
          </a:p>
        </p:txBody>
      </p:sp>
      <p:sp>
        <p:nvSpPr>
          <p:cNvPr id="12" name="文字_6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检测题2</a:t>
            </a:r>
          </a:p>
        </p:txBody>
      </p:sp>
      <p:sp>
        <p:nvSpPr>
          <p:cNvPr id="5" name="文字_P27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P270</a:t>
            </a:r>
          </a:p>
        </p:txBody>
      </p:sp>
      <p:sp>
        <p:nvSpPr>
          <p:cNvPr id="6" name="文字_下列化学用语表达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下列化学用语表达正确的是</a:t>
            </a:r>
          </a:p>
        </p:txBody>
      </p:sp>
      <p:sp>
        <p:nvSpPr>
          <p:cNvPr id="7" name="文字_A. 质量数为37的氯原子为37Cl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质量数为37的氯原子为37Cl</a:t>
            </a:r>
          </a:p>
        </p:txBody>
      </p:sp>
      <p:sp>
        <p:nvSpPr>
          <p:cNvPr id="8" name="文字_B. CO₂的电子式为：:O:C:O: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CO₂的电子式为：:O:C:O:</a:t>
            </a:r>
          </a:p>
        </p:txBody>
      </p:sp>
      <p:sp>
        <p:nvSpPr>
          <p:cNvPr id="9" name="文字_C. H₂、D₂、T₂互为同位素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H₂、D₂、T₂互为同位素</a:t>
            </a:r>
          </a:p>
        </p:txBody>
      </p:sp>
      <p:sp>
        <p:nvSpPr>
          <p:cNvPr id="10" name="文字_D. HClO的结构式为H − Cl − O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HClO的结构式为H − Cl − O</a:t>
            </a:r>
          </a:p>
        </p:txBody>
      </p:sp>
      <p:sp>
        <p:nvSpPr>
          <p:cNvPr id="11" name="文字_单选题  ·  12-05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12-050</a:t>
            </a:r>
          </a:p>
        </p:txBody>
      </p:sp>
      <p:sp>
        <p:nvSpPr>
          <p:cNvPr id="12" name="文字_6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检测题3</a:t>
            </a:r>
          </a:p>
        </p:txBody>
      </p:sp>
      <p:sp>
        <p:nvSpPr>
          <p:cNvPr id="5" name="文字_P27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P270</a:t>
            </a:r>
          </a:p>
        </p:txBody>
      </p:sp>
      <p:sp>
        <p:nvSpPr>
          <p:cNvPr id="6" name="文字_下列关于元素的叙述不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下列关于元素的叙述不正确的是</a:t>
            </a:r>
          </a:p>
        </p:txBody>
      </p:sp>
      <p:sp>
        <p:nvSpPr>
          <p:cNvPr id="7" name="文字_A. IA族元素与VIIA族元素不一定形成离子化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IA族元素与VIIA族元素不一定形成离子化合物</a:t>
            </a:r>
          </a:p>
        </p:txBody>
      </p:sp>
      <p:sp>
        <p:nvSpPr>
          <p:cNvPr id="8" name="文字_B. 最外层电子数相同的微粒化学性质一定相似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最外层电子数相同的微粒化学性质一定相似</a:t>
            </a:r>
          </a:p>
        </p:txBody>
      </p:sp>
      <p:sp>
        <p:nvSpPr>
          <p:cNvPr id="9" name="文字_C. 金属和非金属分界线附近可以寻找半导体材料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金属和非金属分界线附近可以寻找半导体材料</a:t>
            </a:r>
          </a:p>
        </p:txBody>
      </p:sp>
      <p:sp>
        <p:nvSpPr>
          <p:cNvPr id="10" name="文字_D. 用中文“镇”(mó)命名的第115号元素在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用中文“镇”(mó)命名的第115号元素在周期表中位于第七周期VA族</a:t>
            </a:r>
          </a:p>
        </p:txBody>
      </p:sp>
      <p:sp>
        <p:nvSpPr>
          <p:cNvPr id="11" name="文字_单选题  ·  12-05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12-051</a:t>
            </a:r>
          </a:p>
        </p:txBody>
      </p:sp>
      <p:sp>
        <p:nvSpPr>
          <p:cNvPr id="12" name="文字_6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检测题4</a:t>
            </a:r>
          </a:p>
        </p:txBody>
      </p:sp>
      <p:sp>
        <p:nvSpPr>
          <p:cNvPr id="5" name="文字_P27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P270</a:t>
            </a:r>
          </a:p>
        </p:txBody>
      </p:sp>
      <p:sp>
        <p:nvSpPr>
          <p:cNvPr id="6" name="文字_下列叙述错误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下列叙述错误的是</a:t>
            </a:r>
          </a:p>
        </p:txBody>
      </p:sp>
      <p:sp>
        <p:nvSpPr>
          <p:cNvPr id="7" name="文字_A. 元素周期表中每个周期都既有金属元素又有非金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元素周期表中每个周期都既有金属元素又有非金属元素</a:t>
            </a:r>
          </a:p>
        </p:txBody>
      </p:sp>
      <p:sp>
        <p:nvSpPr>
          <p:cNvPr id="8" name="文字_B. 某溶液中加入KSCN溶液后变为红色，证明溶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某溶液中加入KSCN溶液后变为红色，证明溶液中含Fe³⁺</a:t>
            </a:r>
          </a:p>
        </p:txBody>
      </p:sp>
      <p:sp>
        <p:nvSpPr>
          <p:cNvPr id="9" name="文字_C. 铁是人体必需的微量元素，人体缺铁时会发生贫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铁是人体必需的微量元素，人体缺铁时会发生贫血</a:t>
            </a:r>
          </a:p>
        </p:txBody>
      </p:sp>
      <p:sp>
        <p:nvSpPr>
          <p:cNvPr id="10" name="文字_D. 考古时利用14C可以测定一些文物的年代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考古时利用14C可以测定一些文物的年代</a:t>
            </a:r>
          </a:p>
        </p:txBody>
      </p:sp>
      <p:sp>
        <p:nvSpPr>
          <p:cNvPr id="11" name="文字_单选题  ·  12-05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12-052</a:t>
            </a:r>
          </a:p>
        </p:txBody>
      </p:sp>
      <p:sp>
        <p:nvSpPr>
          <p:cNvPr id="12" name="文字_6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检测题5</a:t>
            </a:r>
          </a:p>
        </p:txBody>
      </p:sp>
      <p:sp>
        <p:nvSpPr>
          <p:cNvPr id="5" name="文字_P27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P270</a:t>
            </a:r>
          </a:p>
        </p:txBody>
      </p:sp>
      <p:sp>
        <p:nvSpPr>
          <p:cNvPr id="6" name="文字_下列说法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下列说法正确的是（）</a:t>
            </a:r>
          </a:p>
        </p:txBody>
      </p:sp>
      <p:sp>
        <p:nvSpPr>
          <p:cNvPr id="7" name="文字_A. HCl溶于水能电离出H+、Cl,所以HCl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HCl溶于水能电离出H+、Cl,所以HCl是离子化合物</a:t>
            </a:r>
          </a:p>
        </p:txBody>
      </p:sp>
      <p:sp>
        <p:nvSpPr>
          <p:cNvPr id="8" name="文字_B. NaHCO₃受热分解生成Na₂CO₃、CO"/>
          <p:cNvSpPr txBox="1"/>
          <p:nvPr/>
        </p:nvSpPr>
        <p:spPr>
          <a:xfrm>
            <a:off x="502920" y="1956816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NaHCO₃受热分解生成Na₂CO₃、CO₂和H₂O,既破坏了离子键,也破坏了共价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键</a:t>
            </a:r>
          </a:p>
        </p:txBody>
      </p:sp>
      <p:sp>
        <p:nvSpPr>
          <p:cNvPr id="9" name="文字_C. He、CO₂和CH₄都是由分子构成,它们中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He、CO₂和CH₄都是由分子构成,它们中都存在共价键</a:t>
            </a:r>
          </a:p>
        </p:txBody>
      </p:sp>
      <p:sp>
        <p:nvSpPr>
          <p:cNvPr id="10" name="文字_D. 碘晶体受热转变成碘蒸气,吸收的热量用于克服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碘晶体受热转变成碘蒸气,吸收的热量用于克服碘原子间的作用力</a:t>
            </a:r>
          </a:p>
        </p:txBody>
      </p:sp>
      <p:sp>
        <p:nvSpPr>
          <p:cNvPr id="11" name="文字_单选题  ·  12-05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12-053</a:t>
            </a:r>
          </a:p>
        </p:txBody>
      </p:sp>
      <p:sp>
        <p:nvSpPr>
          <p:cNvPr id="12" name="文字_6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检测题6</a:t>
            </a:r>
          </a:p>
        </p:txBody>
      </p:sp>
      <p:sp>
        <p:nvSpPr>
          <p:cNvPr id="5" name="文字_P27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P271</a:t>
            </a:r>
          </a:p>
        </p:txBody>
      </p:sp>
      <p:sp>
        <p:nvSpPr>
          <p:cNvPr id="6" name="文字_下列化学用语表示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下列化学用语表示正确的是</a:t>
            </a:r>
          </a:p>
        </p:txBody>
      </p:sp>
      <p:sp>
        <p:nvSpPr>
          <p:cNvPr id="7" name="文字_A. 质量数为37的氯原子：17Cl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质量数为37的氯原子：17Cl</a:t>
            </a:r>
          </a:p>
        </p:txBody>
      </p:sp>
      <p:sp>
        <p:nvSpPr>
          <p:cNvPr id="8" name="文字_B. 用电子式表示H₂O₂的形成过程：H·+.Ö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用电子式表示H₂O₂的形成过程：H·+.Ö. +.Ö.+H [H:Ö:Ö:]²H+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95728"/>
            <a:ext cx="11064240" cy="1837659"/>
          </a:xfrm>
          <a:prstGeom prst="rect">
            <a:avLst/>
          </a:prstGeom>
        </p:spPr>
      </p:pic>
      <p:sp>
        <p:nvSpPr>
          <p:cNvPr id="10" name="原题文字_271_6"/>
          <p:cNvSpPr txBox="1"/>
          <p:nvPr/>
        </p:nvSpPr>
        <p:spPr>
          <a:xfrm>
            <a:off x="594802" y="2427611"/>
            <a:ext cx="2727126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Mg²⁺的离子结构示意图：</a:t>
            </a:r>
          </a:p>
        </p:txBody>
      </p:sp>
      <p:sp>
        <p:nvSpPr>
          <p:cNvPr id="11" name="原题文字_271_7"/>
          <p:cNvSpPr txBox="1"/>
          <p:nvPr/>
        </p:nvSpPr>
        <p:spPr>
          <a:xfrm>
            <a:off x="3450831" y="2488867"/>
            <a:ext cx="606161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+12</a:t>
            </a:r>
          </a:p>
        </p:txBody>
      </p:sp>
      <p:sp>
        <p:nvSpPr>
          <p:cNvPr id="12" name="原题文字_271_8"/>
          <p:cNvSpPr txBox="1"/>
          <p:nvPr/>
        </p:nvSpPr>
        <p:spPr>
          <a:xfrm>
            <a:off x="4078698" y="2519494"/>
            <a:ext cx="261600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</a:t>
            </a:r>
          </a:p>
        </p:txBody>
      </p:sp>
      <p:sp>
        <p:nvSpPr>
          <p:cNvPr id="13" name="原题文字_271_9"/>
          <p:cNvSpPr txBox="1"/>
          <p:nvPr/>
        </p:nvSpPr>
        <p:spPr>
          <a:xfrm>
            <a:off x="4339033" y="2519494"/>
            <a:ext cx="284571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8</a:t>
            </a:r>
          </a:p>
        </p:txBody>
      </p:sp>
      <p:sp>
        <p:nvSpPr>
          <p:cNvPr id="14" name="原题文字_271_10"/>
          <p:cNvSpPr txBox="1"/>
          <p:nvPr/>
        </p:nvSpPr>
        <p:spPr>
          <a:xfrm>
            <a:off x="571832" y="3599119"/>
            <a:ext cx="4197254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NaCl溶液中的水合氯离子、水合钠离子：</a:t>
            </a:r>
          </a:p>
        </p:txBody>
      </p:sp>
      <p:sp>
        <p:nvSpPr>
          <p:cNvPr id="15" name="文字_单选题  ·  12-05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12-054</a:t>
            </a:r>
          </a:p>
        </p:txBody>
      </p:sp>
      <p:sp>
        <p:nvSpPr>
          <p:cNvPr id="16" name="文字_6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检测题7</a:t>
            </a:r>
          </a:p>
        </p:txBody>
      </p:sp>
      <p:sp>
        <p:nvSpPr>
          <p:cNvPr id="5" name="文字_P27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P271</a:t>
            </a:r>
          </a:p>
        </p:txBody>
      </p:sp>
      <p:sp>
        <p:nvSpPr>
          <p:cNvPr id="6" name="文字_歼-35战斗机是我国自主研制的新一代航母隐身舰载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歼-35战斗机是我国自主研制的新一代航母隐身舰载机。一般战斗机使用高强度、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耐高温的钛、钨等合金材料。工业冶炼钛的反应为TiCl₄ + 2Mg高温Ti + 2MgCl₂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。下列有关说法正确的是（）</a:t>
            </a:r>
          </a:p>
        </p:txBody>
      </p:sp>
      <p:sp>
        <p:nvSpPr>
          <p:cNvPr id="7" name="文字_A. 合金的熔点一定比各成分金属的低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合金的熔点一定比各成分金属的低</a:t>
            </a:r>
          </a:p>
        </p:txBody>
      </p:sp>
      <p:sp>
        <p:nvSpPr>
          <p:cNvPr id="8" name="文字_B. Ti属于长周期元素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Ti属于长周期元素</a:t>
            </a:r>
          </a:p>
        </p:txBody>
      </p:sp>
      <p:sp>
        <p:nvSpPr>
          <p:cNvPr id="9" name="文字_C. Mg是同周期中金属性最强的元素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Mg是同周期中金属性最强的元素</a:t>
            </a:r>
          </a:p>
        </p:txBody>
      </p:sp>
      <p:sp>
        <p:nvSpPr>
          <p:cNvPr id="10" name="文字_D. 用电子式表示氯化镁的形成过程:Mg·+2·"/>
          <p:cNvSpPr txBox="1"/>
          <p:nvPr/>
        </p:nvSpPr>
        <p:spPr>
          <a:xfrm>
            <a:off x="502920" y="35600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用电子式表示氯化镁的形成过程:Mg·+2·C:→[:Ci:] Mg₂[:Ci:]</a:t>
            </a:r>
          </a:p>
        </p:txBody>
      </p:sp>
      <p:sp>
        <p:nvSpPr>
          <p:cNvPr id="11" name="文字_单选题  ·  12-05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12-055</a:t>
            </a:r>
          </a:p>
        </p:txBody>
      </p:sp>
      <p:sp>
        <p:nvSpPr>
          <p:cNvPr id="12" name="文字_6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检测题8</a:t>
            </a:r>
          </a:p>
        </p:txBody>
      </p:sp>
      <p:sp>
        <p:nvSpPr>
          <p:cNvPr id="5" name="文字_P27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P271</a:t>
            </a:r>
          </a:p>
        </p:txBody>
      </p:sp>
      <p:sp>
        <p:nvSpPr>
          <p:cNvPr id="6" name="文字_第33届夏季奥运会在法国巴黎圆满举办。下列有关说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第33届夏季奥运会在法国巴黎圆满举办。下列有关说法不正确的是</a:t>
            </a:r>
          </a:p>
        </p:txBody>
      </p:sp>
      <p:sp>
        <p:nvSpPr>
          <p:cNvPr id="7" name="文字_A. 热气球火炬台使用到的太阳能属于清洁能源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热气球火炬台使用到的太阳能属于清洁能源</a:t>
            </a:r>
          </a:p>
        </p:txBody>
      </p:sp>
      <p:sp>
        <p:nvSpPr>
          <p:cNvPr id="8" name="文字_B. 开幕式烟花中元素呈现焰色属于物理变化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开幕式烟花中元素呈现焰色属于物理变化</a:t>
            </a:r>
          </a:p>
        </p:txBody>
      </p:sp>
      <p:sp>
        <p:nvSpPr>
          <p:cNvPr id="9" name="文字_C. 体育运动场馆中使用到的有色玻璃属于胶体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体育运动场馆中使用到的有色玻璃属于胶体</a:t>
            </a:r>
          </a:p>
        </p:txBody>
      </p:sp>
      <p:sp>
        <p:nvSpPr>
          <p:cNvPr id="10" name="文字_D. 运动员使用到的“镁粉”MgCO₃属于共价化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运动员使用到的“镁粉”MgCO₃属于共价化合物</a:t>
            </a:r>
          </a:p>
        </p:txBody>
      </p:sp>
      <p:sp>
        <p:nvSpPr>
          <p:cNvPr id="11" name="文字_单选题  ·  12-05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12-056</a:t>
            </a:r>
          </a:p>
        </p:txBody>
      </p:sp>
      <p:sp>
        <p:nvSpPr>
          <p:cNvPr id="12" name="文字_6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检测题9</a:t>
            </a:r>
          </a:p>
        </p:txBody>
      </p:sp>
      <p:sp>
        <p:nvSpPr>
          <p:cNvPr id="5" name="文字_P27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P271</a:t>
            </a:r>
          </a:p>
        </p:txBody>
      </p:sp>
      <p:sp>
        <p:nvSpPr>
          <p:cNvPr id="6" name="文字_下列变化过程中，既有离子键被破坏又有共价键被破坏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下列变化过程中，既有离子键被破坏又有共价键被破坏的是（）</a:t>
            </a:r>
          </a:p>
        </p:txBody>
      </p:sp>
      <p:sp>
        <p:nvSpPr>
          <p:cNvPr id="7" name="文字_A. 将CO₂通入水中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将CO₂通入水中</a:t>
            </a:r>
          </a:p>
        </p:txBody>
      </p:sp>
      <p:sp>
        <p:nvSpPr>
          <p:cNvPr id="8" name="文字_B. KNO₃溶于水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KNO₃溶于水</a:t>
            </a:r>
          </a:p>
        </p:txBody>
      </p:sp>
      <p:sp>
        <p:nvSpPr>
          <p:cNvPr id="9" name="文字_C. 将HCl通入水中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将HCl通入水中</a:t>
            </a:r>
          </a:p>
        </p:txBody>
      </p:sp>
      <p:sp>
        <p:nvSpPr>
          <p:cNvPr id="10" name="文字_D. NaHCO₃分解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NaHCO₃分解</a:t>
            </a:r>
          </a:p>
        </p:txBody>
      </p:sp>
      <p:sp>
        <p:nvSpPr>
          <p:cNvPr id="11" name="文字_单选题  ·  12-05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12-057</a:t>
            </a:r>
          </a:p>
        </p:txBody>
      </p:sp>
      <p:sp>
        <p:nvSpPr>
          <p:cNvPr id="12" name="文字_6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10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检测题10</a:t>
            </a:r>
          </a:p>
        </p:txBody>
      </p:sp>
      <p:sp>
        <p:nvSpPr>
          <p:cNvPr id="5" name="文字_P27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P271</a:t>
            </a:r>
          </a:p>
        </p:txBody>
      </p:sp>
      <p:sp>
        <p:nvSpPr>
          <p:cNvPr id="6" name="文字_食盐加碘(KIO₃)是纠正人体碘缺乏、消除碘缺乏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食盐加碘(KIO₃)是纠正人体碘缺乏、消除碘缺乏危害行之有效的公共卫生措施。下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列说法错误的是</a:t>
            </a:r>
          </a:p>
        </p:txBody>
      </p:sp>
      <p:sp>
        <p:nvSpPr>
          <p:cNvPr id="7" name="文字_A. NaCl、KIO₃均是电解质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NaCl、KIO₃均是电解质</a:t>
            </a:r>
          </a:p>
        </p:txBody>
      </p:sp>
      <p:sp>
        <p:nvSpPr>
          <p:cNvPr id="8" name="文字_B. NaCl、KIO₃固体均能导电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NaCl、KIO₃固体均能导电</a:t>
            </a:r>
          </a:p>
        </p:txBody>
      </p:sp>
      <p:sp>
        <p:nvSpPr>
          <p:cNvPr id="9" name="文字_C. NaCl、KIO₃含有的化学键类型不完全相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NaCl、KIO₃含有的化学键类型不完全相同</a:t>
            </a:r>
          </a:p>
        </p:txBody>
      </p:sp>
      <p:sp>
        <p:nvSpPr>
          <p:cNvPr id="10" name="文字_D. 通过焰色试验可鉴别NaCl、KIO₃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通过焰色试验可鉴别NaCl、KIO₃</a:t>
            </a:r>
          </a:p>
        </p:txBody>
      </p:sp>
      <p:sp>
        <p:nvSpPr>
          <p:cNvPr id="11" name="文字_单选题  ·  12-05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12-058</a:t>
            </a:r>
          </a:p>
        </p:txBody>
      </p:sp>
      <p:sp>
        <p:nvSpPr>
          <p:cNvPr id="12" name="文字_7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1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检测题11</a:t>
            </a:r>
          </a:p>
        </p:txBody>
      </p:sp>
      <p:sp>
        <p:nvSpPr>
          <p:cNvPr id="5" name="文字_P27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P272</a:t>
            </a:r>
          </a:p>
        </p:txBody>
      </p:sp>
      <p:sp>
        <p:nvSpPr>
          <p:cNvPr id="6" name="文字_下列递变规律不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下列递变规律不正确的是</a:t>
            </a:r>
          </a:p>
        </p:txBody>
      </p:sp>
      <p:sp>
        <p:nvSpPr>
          <p:cNvPr id="7" name="文字_A. Na、Mg、Al还原性依次减弱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Na、Mg、Al还原性依次减弱</a:t>
            </a:r>
          </a:p>
        </p:txBody>
      </p:sp>
      <p:sp>
        <p:nvSpPr>
          <p:cNvPr id="8" name="文字_B. Cl₂、Br₂、I₂氧化性依次增强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Cl₂、Br₂、I₂氧化性依次增强</a:t>
            </a:r>
          </a:p>
        </p:txBody>
      </p:sp>
      <p:sp>
        <p:nvSpPr>
          <p:cNvPr id="9" name="文字_C. C、N、O原子半径依次减小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C、N、O原子半径依次减小</a:t>
            </a:r>
          </a:p>
        </p:txBody>
      </p:sp>
      <p:sp>
        <p:nvSpPr>
          <p:cNvPr id="10" name="文字_D. P、S、Cl最高正价依次升高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P、S、Cl最高正价依次升高</a:t>
            </a:r>
          </a:p>
        </p:txBody>
      </p:sp>
      <p:sp>
        <p:nvSpPr>
          <p:cNvPr id="11" name="文字_单选题  ·  12-05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12-059</a:t>
            </a:r>
          </a:p>
        </p:txBody>
      </p:sp>
      <p:sp>
        <p:nvSpPr>
          <p:cNvPr id="12" name="文字_7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1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检测题12</a:t>
            </a:r>
          </a:p>
        </p:txBody>
      </p:sp>
      <p:sp>
        <p:nvSpPr>
          <p:cNvPr id="5" name="文字_P27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P272</a:t>
            </a:r>
          </a:p>
        </p:txBody>
      </p:sp>
      <p:sp>
        <p:nvSpPr>
          <p:cNvPr id="6" name="文字_X、Y、Z、W是原子序数依次增大的短周期主族元素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X、Y、Z、W是原子序数依次增大的短周期主族元素，其中X元素的某种核素没有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中子，Z原子最外层电子数比内层电子总数少4，Y与W同主族。下列说法正确的是</a:t>
            </a:r>
          </a:p>
        </p:txBody>
      </p:sp>
      <p:sp>
        <p:nvSpPr>
          <p:cNvPr id="7" name="文字_A. 原子半径: W &gt; Z &gt; Y &gt; X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原子半径: W &gt; Z &gt; Y &gt; X</a:t>
            </a:r>
          </a:p>
        </p:txBody>
      </p:sp>
      <p:sp>
        <p:nvSpPr>
          <p:cNvPr id="8" name="文字_B. 最高价氧化物对应水化物的酸性：Z&gt; W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最高价氧化物对应水化物的酸性：Z&gt; W</a:t>
            </a:r>
          </a:p>
        </p:txBody>
      </p:sp>
      <p:sp>
        <p:nvSpPr>
          <p:cNvPr id="9" name="文字_C. 稳定性： XY &gt; XW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稳定性： XY &gt; XW</a:t>
            </a:r>
          </a:p>
        </p:txBody>
      </p:sp>
      <p:sp>
        <p:nvSpPr>
          <p:cNvPr id="10" name="文字_D. 单质沸点: Y &gt; W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单质沸点: Y &gt; W</a:t>
            </a:r>
          </a:p>
        </p:txBody>
      </p:sp>
      <p:sp>
        <p:nvSpPr>
          <p:cNvPr id="11" name="文字_单选题  ·  12-06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12-060</a:t>
            </a:r>
          </a:p>
        </p:txBody>
      </p:sp>
      <p:sp>
        <p:nvSpPr>
          <p:cNvPr id="12" name="文字_7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1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检测题13</a:t>
            </a:r>
          </a:p>
        </p:txBody>
      </p:sp>
      <p:sp>
        <p:nvSpPr>
          <p:cNvPr id="5" name="文字_P27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P272</a:t>
            </a:r>
          </a:p>
        </p:txBody>
      </p:sp>
      <p:sp>
        <p:nvSpPr>
          <p:cNvPr id="6" name="文字_X、Y、Z、W四种短周期元素在周期表中的位置如图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X、Y、Z、W四种短周期元素在周期表中的位置如图所示，下列说法正确的是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7904"/>
            <a:ext cx="11064240" cy="1500755"/>
          </a:xfrm>
          <a:prstGeom prst="rect">
            <a:avLst/>
          </a:prstGeom>
        </p:spPr>
      </p:pic>
      <p:sp>
        <p:nvSpPr>
          <p:cNvPr id="8" name="原题文字_272_21"/>
          <p:cNvSpPr txBox="1"/>
          <p:nvPr/>
        </p:nvSpPr>
        <p:spPr>
          <a:xfrm>
            <a:off x="587146" y="1595729"/>
            <a:ext cx="3730182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最简单氢化物的热稳定性：Z&gt;X&gt;Y</a:t>
            </a:r>
          </a:p>
        </p:txBody>
      </p:sp>
      <p:sp>
        <p:nvSpPr>
          <p:cNvPr id="9" name="原题文字_272_22"/>
          <p:cNvSpPr txBox="1"/>
          <p:nvPr/>
        </p:nvSpPr>
        <p:spPr>
          <a:xfrm>
            <a:off x="587146" y="1986231"/>
            <a:ext cx="2642900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简单离子半径： W&gt;Y&gt;Z</a:t>
            </a:r>
          </a:p>
        </p:txBody>
      </p:sp>
      <p:sp>
        <p:nvSpPr>
          <p:cNvPr id="10" name="原题文字_272_23"/>
          <p:cNvSpPr txBox="1"/>
          <p:nvPr/>
        </p:nvSpPr>
        <p:spPr>
          <a:xfrm>
            <a:off x="9844354" y="2016859"/>
            <a:ext cx="315199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X</a:t>
            </a:r>
          </a:p>
        </p:txBody>
      </p:sp>
      <p:sp>
        <p:nvSpPr>
          <p:cNvPr id="11" name="原题文字_272_24"/>
          <p:cNvSpPr txBox="1"/>
          <p:nvPr/>
        </p:nvSpPr>
        <p:spPr>
          <a:xfrm>
            <a:off x="10579418" y="2024516"/>
            <a:ext cx="276914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Y</a:t>
            </a:r>
          </a:p>
        </p:txBody>
      </p:sp>
      <p:sp>
        <p:nvSpPr>
          <p:cNvPr id="12" name="原题文字_272_25"/>
          <p:cNvSpPr txBox="1"/>
          <p:nvPr/>
        </p:nvSpPr>
        <p:spPr>
          <a:xfrm>
            <a:off x="587146" y="2353763"/>
            <a:ext cx="4610727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Z、W的最高价氧化物对应的水化物均为强酸</a:t>
            </a:r>
          </a:p>
        </p:txBody>
      </p:sp>
      <p:sp>
        <p:nvSpPr>
          <p:cNvPr id="13" name="原题文字_272_26"/>
          <p:cNvSpPr txBox="1"/>
          <p:nvPr/>
        </p:nvSpPr>
        <p:spPr>
          <a:xfrm>
            <a:off x="9852011" y="2415018"/>
            <a:ext cx="299885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Z</a:t>
            </a:r>
          </a:p>
        </p:txBody>
      </p:sp>
      <p:sp>
        <p:nvSpPr>
          <p:cNvPr id="14" name="原题文字_272_27"/>
          <p:cNvSpPr txBox="1"/>
          <p:nvPr/>
        </p:nvSpPr>
        <p:spPr>
          <a:xfrm>
            <a:off x="10158287" y="2407362"/>
            <a:ext cx="338169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W</a:t>
            </a:r>
          </a:p>
        </p:txBody>
      </p:sp>
      <p:sp>
        <p:nvSpPr>
          <p:cNvPr id="15" name="原题文字_272_28"/>
          <p:cNvSpPr txBox="1"/>
          <p:nvPr/>
        </p:nvSpPr>
        <p:spPr>
          <a:xfrm>
            <a:off x="587146" y="2751923"/>
            <a:ext cx="3584701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Y元素的单质能从水中置换出氧气</a:t>
            </a:r>
          </a:p>
        </p:txBody>
      </p:sp>
      <p:sp>
        <p:nvSpPr>
          <p:cNvPr id="16" name="文字_单选题  ·  12-06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12-061</a:t>
            </a:r>
          </a:p>
        </p:txBody>
      </p:sp>
      <p:sp>
        <p:nvSpPr>
          <p:cNvPr id="17" name="文字_7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1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检测题14</a:t>
            </a:r>
          </a:p>
        </p:txBody>
      </p:sp>
      <p:sp>
        <p:nvSpPr>
          <p:cNvPr id="5" name="文字_P27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P272</a:t>
            </a:r>
          </a:p>
        </p:txBody>
      </p:sp>
      <p:sp>
        <p:nvSpPr>
          <p:cNvPr id="6" name="文字_短周期主族元素A、B、C、D，其原子序数依次递增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短周期主族元素A、B、C、D，其原子序数依次递增，且B和D同一主族，A和C形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成的其中一种化合物可用于潜水艇中作供氧剂，下列说法正确的是</a:t>
            </a:r>
          </a:p>
        </p:txBody>
      </p:sp>
      <p:sp>
        <p:nvSpPr>
          <p:cNvPr id="7" name="文字_A. 气态氢化物的稳定性：A&gt;B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气态氢化物的稳定性：A&gt;B</a:t>
            </a:r>
          </a:p>
        </p:txBody>
      </p:sp>
      <p:sp>
        <p:nvSpPr>
          <p:cNvPr id="8" name="文字_B. B的最高价与最低价的绝对值之和等于8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B的最高价与最低价的绝对值之和等于8</a:t>
            </a:r>
          </a:p>
        </p:txBody>
      </p:sp>
      <p:sp>
        <p:nvSpPr>
          <p:cNvPr id="9" name="文字_C. 离子半径：B- &gt; C+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离子半径：B- &gt; C+</a:t>
            </a:r>
          </a:p>
        </p:txBody>
      </p:sp>
      <p:sp>
        <p:nvSpPr>
          <p:cNvPr id="10" name="文字_D. 含D元素的酸均为强酸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含D元素的酸均为强酸</a:t>
            </a:r>
          </a:p>
        </p:txBody>
      </p:sp>
      <p:sp>
        <p:nvSpPr>
          <p:cNvPr id="11" name="文字_单选题  ·  12-06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12-062</a:t>
            </a:r>
          </a:p>
        </p:txBody>
      </p:sp>
      <p:sp>
        <p:nvSpPr>
          <p:cNvPr id="12" name="文字_7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1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检测题15</a:t>
            </a:r>
          </a:p>
        </p:txBody>
      </p:sp>
      <p:sp>
        <p:nvSpPr>
          <p:cNvPr id="5" name="文字_P27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P272</a:t>
            </a:r>
          </a:p>
        </p:txBody>
      </p:sp>
      <p:sp>
        <p:nvSpPr>
          <p:cNvPr id="6" name="文字_短周期主族元素X、Y、Z、W的原子序数依次增大，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短周期主族元素X、Y、Z、W的原子序数依次增大，X是周期表中原子半径最小的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元素，Y²⁻与z²+具有相同的电子层结构，W元素的单质在常温下是黄绿色气体。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</a:t>
            </a:r>
          </a:p>
        </p:txBody>
      </p:sp>
      <p:sp>
        <p:nvSpPr>
          <p:cNvPr id="7" name="文字_A. Y元素处于第VIA族，最高化合价为+6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Y元素处于第VIA族，最高化合价为+6</a:t>
            </a:r>
          </a:p>
        </p:txBody>
      </p:sp>
      <p:sp>
        <p:nvSpPr>
          <p:cNvPr id="8" name="文字_B. X与Y只能形成一种共价化合物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X与Y只能形成一种共价化合物</a:t>
            </a:r>
          </a:p>
        </p:txBody>
      </p:sp>
      <p:sp>
        <p:nvSpPr>
          <p:cNvPr id="9" name="文字_C. Z与W形成的化合物中只有离子键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Z与W形成的化合物中只有离子键</a:t>
            </a:r>
          </a:p>
        </p:txBody>
      </p:sp>
      <p:sp>
        <p:nvSpPr>
          <p:cNvPr id="10" name="文字_D. W形成的氧化物对应的水化物一定是强酸"/>
          <p:cNvSpPr txBox="1"/>
          <p:nvPr/>
        </p:nvSpPr>
        <p:spPr>
          <a:xfrm>
            <a:off x="502920" y="35600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W形成的氧化物对应的水化物一定是强酸</a:t>
            </a:r>
          </a:p>
        </p:txBody>
      </p:sp>
      <p:sp>
        <p:nvSpPr>
          <p:cNvPr id="11" name="文字_单选题  ·  12-06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12-063</a:t>
            </a:r>
          </a:p>
        </p:txBody>
      </p:sp>
      <p:sp>
        <p:nvSpPr>
          <p:cNvPr id="12" name="文字_7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1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检测题16</a:t>
            </a:r>
          </a:p>
        </p:txBody>
      </p:sp>
      <p:sp>
        <p:nvSpPr>
          <p:cNvPr id="5" name="文字_P27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P273</a:t>
            </a:r>
          </a:p>
        </p:txBody>
      </p:sp>
      <p:sp>
        <p:nvSpPr>
          <p:cNvPr id="6" name="文字_一种麻醉剂的分子结构式如图所示。其中，X的原子核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一种麻醉剂的分子结构式如图所示。其中，X的原子核只有1个质子；Y、Z、W原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子序数依次增大，且均位于X的下一周期，元素E的原子比W原子多8个电子。下列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说法不正确的是</a:t>
            </a:r>
          </a:p>
        </p:txBody>
      </p:sp>
      <p:sp>
        <p:nvSpPr>
          <p:cNvPr id="7" name="文字_A. XEZ₄是一种强酸 ______ W __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XEZ₄是一种强酸 ______ W ______ EW</a:t>
            </a:r>
          </a:p>
        </p:txBody>
      </p:sp>
      <p:sp>
        <p:nvSpPr>
          <p:cNvPr id="8" name="文字_I ______ II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 ______ II</a:t>
            </a:r>
          </a:p>
        </p:txBody>
      </p:sp>
      <p:sp>
        <p:nvSpPr>
          <p:cNvPr id="9" name="文字_B. 非金属性: W &gt; Z &gt; Y _____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非金属性: W &gt; Z &gt; Y ______ W-Y-Z-Y-Y-W</a:t>
            </a:r>
          </a:p>
        </p:txBody>
      </p:sp>
      <p:sp>
        <p:nvSpPr>
          <p:cNvPr id="10" name="文字_C. 原子半径: Y &gt; W &gt; E _____"/>
          <p:cNvSpPr txBox="1"/>
          <p:nvPr/>
        </p:nvSpPr>
        <p:spPr>
          <a:xfrm>
            <a:off x="502920" y="35600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原子半径: Y &gt; W &gt; E ______ I ______ I I</a:t>
            </a:r>
          </a:p>
        </p:txBody>
      </p:sp>
      <p:sp>
        <p:nvSpPr>
          <p:cNvPr id="11" name="文字_X ______ X W"/>
          <p:cNvSpPr txBox="1"/>
          <p:nvPr/>
        </p:nvSpPr>
        <p:spPr>
          <a:xfrm>
            <a:off x="502920" y="3998975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X ______ X W</a:t>
            </a:r>
          </a:p>
        </p:txBody>
      </p:sp>
      <p:sp>
        <p:nvSpPr>
          <p:cNvPr id="12" name="文字_D. Z元素分别与X、Y、E元素均可形成至少两种"/>
          <p:cNvSpPr txBox="1"/>
          <p:nvPr/>
        </p:nvSpPr>
        <p:spPr>
          <a:xfrm>
            <a:off x="502920" y="44378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Z元素分别与X、Y、E元素均可形成至少两种二元化合物</a:t>
            </a:r>
          </a:p>
        </p:txBody>
      </p:sp>
      <p:sp>
        <p:nvSpPr>
          <p:cNvPr id="13" name="文字_单选题  ·  12-06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12-064</a:t>
            </a:r>
          </a:p>
        </p:txBody>
      </p:sp>
      <p:sp>
        <p:nvSpPr>
          <p:cNvPr id="14" name="文字_7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1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检测题17</a:t>
            </a:r>
          </a:p>
        </p:txBody>
      </p:sp>
      <p:sp>
        <p:nvSpPr>
          <p:cNvPr id="5" name="文字_P27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P273</a:t>
            </a:r>
          </a:p>
        </p:txBody>
      </p:sp>
      <p:sp>
        <p:nvSpPr>
          <p:cNvPr id="6" name="文字_X、Y、Z、R、M为原子序数依次增大的短周期元素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X、Y、Z、R、M为原子序数依次增大的短周期元素，其原子的最外层电子数与原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子半径的关系如图所示。</a:t>
            </a:r>
          </a:p>
        </p:txBody>
      </p:sp>
      <p:sp>
        <p:nvSpPr>
          <p:cNvPr id="7" name="文字_下列说法错误的是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下列说法错误的是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19528"/>
            <a:ext cx="11064240" cy="1891257"/>
          </a:xfrm>
          <a:prstGeom prst="rect">
            <a:avLst/>
          </a:prstGeom>
        </p:spPr>
      </p:pic>
      <p:sp>
        <p:nvSpPr>
          <p:cNvPr id="9" name="原题文字_273_26"/>
          <p:cNvSpPr txBox="1"/>
          <p:nvPr/>
        </p:nvSpPr>
        <p:spPr>
          <a:xfrm>
            <a:off x="564175" y="2382039"/>
            <a:ext cx="3845036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R与X、Z、M均可以形成离子化合物</a:t>
            </a:r>
          </a:p>
        </p:txBody>
      </p:sp>
      <p:sp>
        <p:nvSpPr>
          <p:cNvPr id="10" name="原题文字_273_27"/>
          <p:cNvSpPr txBox="1"/>
          <p:nvPr/>
        </p:nvSpPr>
        <p:spPr>
          <a:xfrm>
            <a:off x="7562594" y="2351411"/>
            <a:ext cx="307542" cy="2189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0.20</a:t>
            </a:r>
          </a:p>
        </p:txBody>
      </p:sp>
      <p:sp>
        <p:nvSpPr>
          <p:cNvPr id="11" name="原题文字_273_28"/>
          <p:cNvSpPr txBox="1"/>
          <p:nvPr/>
        </p:nvSpPr>
        <p:spPr>
          <a:xfrm>
            <a:off x="7562594" y="2496893"/>
            <a:ext cx="307542" cy="2189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0.18</a:t>
            </a:r>
          </a:p>
        </p:txBody>
      </p:sp>
      <p:sp>
        <p:nvSpPr>
          <p:cNvPr id="12" name="原题文字_273_29"/>
          <p:cNvSpPr txBox="1"/>
          <p:nvPr/>
        </p:nvSpPr>
        <p:spPr>
          <a:xfrm>
            <a:off x="564175" y="2749571"/>
            <a:ext cx="2711812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简单离子的半径： R&lt;M</a:t>
            </a:r>
          </a:p>
        </p:txBody>
      </p:sp>
      <p:sp>
        <p:nvSpPr>
          <p:cNvPr id="13" name="原题文字_273_30"/>
          <p:cNvSpPr txBox="1"/>
          <p:nvPr/>
        </p:nvSpPr>
        <p:spPr>
          <a:xfrm>
            <a:off x="7348200" y="2703629"/>
            <a:ext cx="246286" cy="925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6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/n</a:t>
            </a:r>
          </a:p>
        </p:txBody>
      </p:sp>
      <p:sp>
        <p:nvSpPr>
          <p:cNvPr id="14" name="原题文字_273_31"/>
          <p:cNvSpPr txBox="1"/>
          <p:nvPr/>
        </p:nvSpPr>
        <p:spPr>
          <a:xfrm>
            <a:off x="7562594" y="2772542"/>
            <a:ext cx="307542" cy="2189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0.14</a:t>
            </a:r>
          </a:p>
        </p:txBody>
      </p:sp>
      <p:sp>
        <p:nvSpPr>
          <p:cNvPr id="15" name="原题文字_273_32"/>
          <p:cNvSpPr txBox="1"/>
          <p:nvPr/>
        </p:nvSpPr>
        <p:spPr>
          <a:xfrm>
            <a:off x="7570251" y="2650031"/>
            <a:ext cx="284571" cy="1791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6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0.16</a:t>
            </a:r>
          </a:p>
        </p:txBody>
      </p:sp>
      <p:sp>
        <p:nvSpPr>
          <p:cNvPr id="16" name="原题文字_273_33"/>
          <p:cNvSpPr txBox="1"/>
          <p:nvPr/>
        </p:nvSpPr>
        <p:spPr>
          <a:xfrm>
            <a:off x="7562594" y="2910366"/>
            <a:ext cx="299885" cy="2189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0.12</a:t>
            </a:r>
          </a:p>
        </p:txBody>
      </p:sp>
      <p:sp>
        <p:nvSpPr>
          <p:cNvPr id="17" name="原题文字_273_34"/>
          <p:cNvSpPr txBox="1"/>
          <p:nvPr/>
        </p:nvSpPr>
        <p:spPr>
          <a:xfrm>
            <a:off x="7570251" y="3063504"/>
            <a:ext cx="284571" cy="1791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6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0.10</a:t>
            </a:r>
          </a:p>
        </p:txBody>
      </p:sp>
      <p:sp>
        <p:nvSpPr>
          <p:cNvPr id="18" name="原题文字_273_35"/>
          <p:cNvSpPr txBox="1"/>
          <p:nvPr/>
        </p:nvSpPr>
        <p:spPr>
          <a:xfrm>
            <a:off x="564175" y="3147730"/>
            <a:ext cx="4350392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X、Z、M形成的化合物一定是共价化合物</a:t>
            </a:r>
          </a:p>
        </p:txBody>
      </p:sp>
      <p:sp>
        <p:nvSpPr>
          <p:cNvPr id="19" name="原题文字_273_36"/>
          <p:cNvSpPr txBox="1"/>
          <p:nvPr/>
        </p:nvSpPr>
        <p:spPr>
          <a:xfrm>
            <a:off x="7562594" y="3186015"/>
            <a:ext cx="307542" cy="209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1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0.08</a:t>
            </a:r>
          </a:p>
        </p:txBody>
      </p:sp>
      <p:sp>
        <p:nvSpPr>
          <p:cNvPr id="20" name="原题文字_273_37"/>
          <p:cNvSpPr txBox="1"/>
          <p:nvPr/>
        </p:nvSpPr>
        <p:spPr>
          <a:xfrm>
            <a:off x="7585564" y="3339153"/>
            <a:ext cx="269257" cy="1791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6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0.06</a:t>
            </a:r>
          </a:p>
        </p:txBody>
      </p:sp>
      <p:sp>
        <p:nvSpPr>
          <p:cNvPr id="21" name="原题文字_273_38"/>
          <p:cNvSpPr txBox="1"/>
          <p:nvPr/>
        </p:nvSpPr>
        <p:spPr>
          <a:xfrm>
            <a:off x="571832" y="3538233"/>
            <a:ext cx="5498929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短周期元素中R的最高价氧化物对应水化物的碱性最强</a:t>
            </a:r>
          </a:p>
        </p:txBody>
      </p:sp>
      <p:sp>
        <p:nvSpPr>
          <p:cNvPr id="22" name="原题文字_273_39"/>
          <p:cNvSpPr txBox="1"/>
          <p:nvPr/>
        </p:nvSpPr>
        <p:spPr>
          <a:xfrm>
            <a:off x="7570251" y="3599488"/>
            <a:ext cx="299885" cy="2189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0.02</a:t>
            </a:r>
          </a:p>
        </p:txBody>
      </p:sp>
      <p:sp>
        <p:nvSpPr>
          <p:cNvPr id="23" name="原题文字_273_40"/>
          <p:cNvSpPr txBox="1"/>
          <p:nvPr/>
        </p:nvSpPr>
        <p:spPr>
          <a:xfrm>
            <a:off x="7585564" y="3469321"/>
            <a:ext cx="269257" cy="189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1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0.04</a:t>
            </a:r>
          </a:p>
        </p:txBody>
      </p:sp>
      <p:sp>
        <p:nvSpPr>
          <p:cNvPr id="24" name="原题文字_273_41"/>
          <p:cNvSpPr txBox="1"/>
          <p:nvPr/>
        </p:nvSpPr>
        <p:spPr>
          <a:xfrm>
            <a:off x="8963809" y="4020618"/>
            <a:ext cx="1011978" cy="2289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原子最外层电子数</a:t>
            </a:r>
          </a:p>
        </p:txBody>
      </p:sp>
      <p:sp>
        <p:nvSpPr>
          <p:cNvPr id="25" name="文字_单选题  ·  12-06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12-065</a:t>
            </a:r>
          </a:p>
        </p:txBody>
      </p:sp>
      <p:sp>
        <p:nvSpPr>
          <p:cNvPr id="26" name="文字_7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1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检测题18</a:t>
            </a:r>
          </a:p>
        </p:txBody>
      </p:sp>
      <p:sp>
        <p:nvSpPr>
          <p:cNvPr id="5" name="文字_P27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P273</a:t>
            </a:r>
          </a:p>
        </p:txBody>
      </p:sp>
      <p:sp>
        <p:nvSpPr>
          <p:cNvPr id="6" name="文字_下列结论正确的是()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下列结论正确的是()</a:t>
            </a:r>
          </a:p>
        </p:txBody>
      </p:sp>
      <p:sp>
        <p:nvSpPr>
          <p:cNvPr id="7" name="文字_①粒子半径: K+&gt;Al³⁺&gt;S²⁻&gt;Cl- _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①粒子半径: K+&gt;Al³⁺&gt;S²⁻&gt;Cl- ______ ②同主族元素从上到下颜色逐渐加深</a:t>
            </a:r>
          </a:p>
        </p:txBody>
      </p:sp>
      <p:sp>
        <p:nvSpPr>
          <p:cNvPr id="8" name="文字_③离子的还原性：S²⁻&gt;Cl-&gt;Br-&gt;I- ④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③离子的还原性：S²⁻&gt;Cl-&gt;Br-&gt;I- ④氧化性: Cl₂&gt;S&gt;Se&gt;Te</a:t>
            </a:r>
          </a:p>
        </p:txBody>
      </p:sp>
      <p:sp>
        <p:nvSpPr>
          <p:cNvPr id="9" name="文字_⑤酸性： H₂SO₄&gt;H₃PO₄&gt;H₂CO₃&gt;H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⑤酸性： H₂SO₄&gt;H₃PO₄&gt;H₂CO₃&gt;HClO ______ ⑥非金属性：O&gt;N&gt;P&gt;Si</a:t>
            </a:r>
          </a:p>
        </p:txBody>
      </p:sp>
      <p:sp>
        <p:nvSpPr>
          <p:cNvPr id="10" name="文字_⑦氢化物的稳定性：HF&gt;HCl&gt;H₂S&gt;PH₃&gt;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⑦氢化物的稳定性：HF&gt;HCl&gt;H₂S&gt;PH₃&gt;SiH₄</a:t>
            </a:r>
          </a:p>
        </p:txBody>
      </p:sp>
      <p:sp>
        <p:nvSpPr>
          <p:cNvPr id="11" name="文字_A. ①②⑤⑦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①②⑤⑦</a:t>
            </a:r>
          </a:p>
        </p:txBody>
      </p:sp>
      <p:sp>
        <p:nvSpPr>
          <p:cNvPr id="12" name="文字_B. ②⑥⑦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②⑥⑦</a:t>
            </a:r>
          </a:p>
        </p:txBody>
      </p:sp>
      <p:sp>
        <p:nvSpPr>
          <p:cNvPr id="13" name="文字_C. ④⑤⑥⑦"/>
          <p:cNvSpPr txBox="1"/>
          <p:nvPr/>
        </p:nvSpPr>
        <p:spPr>
          <a:xfrm>
            <a:off x="502920" y="41513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④⑤⑥⑦</a:t>
            </a:r>
          </a:p>
        </p:txBody>
      </p:sp>
      <p:sp>
        <p:nvSpPr>
          <p:cNvPr id="14" name="文字_D. ②④⑤⑦"/>
          <p:cNvSpPr txBox="1"/>
          <p:nvPr/>
        </p:nvSpPr>
        <p:spPr>
          <a:xfrm>
            <a:off x="502920" y="45902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②④⑤⑦</a:t>
            </a:r>
          </a:p>
        </p:txBody>
      </p:sp>
      <p:sp>
        <p:nvSpPr>
          <p:cNvPr id="15" name="文字_单选题  ·  12-06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12-066</a:t>
            </a:r>
          </a:p>
        </p:txBody>
      </p:sp>
      <p:sp>
        <p:nvSpPr>
          <p:cNvPr id="16" name="文字_7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1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检测题19</a:t>
            </a:r>
          </a:p>
        </p:txBody>
      </p:sp>
      <p:sp>
        <p:nvSpPr>
          <p:cNvPr id="5" name="文字_P27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P273</a:t>
            </a:r>
          </a:p>
        </p:txBody>
      </p:sp>
      <p:sp>
        <p:nvSpPr>
          <p:cNvPr id="6" name="文字_回答下列问题: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回答下列问题:</a:t>
            </a:r>
          </a:p>
        </p:txBody>
      </p:sp>
      <p:sp>
        <p:nvSpPr>
          <p:cNvPr id="7" name="文字_(1)下列变化：①I₂升华；②烧碱熔化；③NaC"/>
          <p:cNvSpPr txBox="1"/>
          <p:nvPr/>
        </p:nvSpPr>
        <p:spPr>
          <a:xfrm>
            <a:off x="502920" y="1517904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(1)下列变化：①I₂升华；②烧碱熔化；③NaCl溶于水；④HCl溶于水；⑤O₂溶于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水；⑥NH₄HCO₃受热分解。其中仅共价键被破坏的是 ______ ；(填序号，下同)仅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离子键被破坏的是</a:t>
            </a:r>
          </a:p>
        </p:txBody>
      </p:sp>
      <p:sp>
        <p:nvSpPr>
          <p:cNvPr id="8" name="文字_(2)在下列物质中：①HCl、②N₂、③NH₃、"/>
          <p:cNvSpPr txBox="1"/>
          <p:nvPr/>
        </p:nvSpPr>
        <p:spPr>
          <a:xfrm>
            <a:off x="502920" y="2682240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(2)在下列物质中：①HCl、②N₂、③NH₃、④Na₂O₂、⑤H₂O₂、⑥NH₄Cl、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⑦NaOH、⑧Ar、⑨CO₂、⑩N₂H₄(用物质前序号填空)。其中只存在非极性键的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分子是 ______ ；既存在离子键又存在极性键的是</a:t>
            </a:r>
          </a:p>
        </p:txBody>
      </p:sp>
      <p:sp>
        <p:nvSpPr>
          <p:cNvPr id="9" name="文字_(3)写出下列物质的电子式。"/>
          <p:cNvSpPr txBox="1"/>
          <p:nvPr/>
        </p:nvSpPr>
        <p:spPr>
          <a:xfrm>
            <a:off x="502920" y="3846575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(3)写出下列物质的电子式。</a:t>
            </a:r>
          </a:p>
        </p:txBody>
      </p:sp>
      <p:sp>
        <p:nvSpPr>
          <p:cNvPr id="10" name="文字_①Na₂O₂ ______ ②HCIO"/>
          <p:cNvSpPr txBox="1"/>
          <p:nvPr/>
        </p:nvSpPr>
        <p:spPr>
          <a:xfrm>
            <a:off x="502920" y="42854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①Na₂O₂ ______ ②HCIO</a:t>
            </a:r>
          </a:p>
        </p:txBody>
      </p:sp>
      <p:sp>
        <p:nvSpPr>
          <p:cNvPr id="11" name="文字_(4)用电子式表示下列物质的形成过程。"/>
          <p:cNvSpPr txBox="1"/>
          <p:nvPr/>
        </p:nvSpPr>
        <p:spPr>
          <a:xfrm>
            <a:off x="502920" y="472440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(4)用电子式表示下列物质的形成过程。</a:t>
            </a:r>
          </a:p>
        </p:txBody>
      </p:sp>
      <p:sp>
        <p:nvSpPr>
          <p:cNvPr id="12" name="文字_①Na₂S ______ ②H₂O"/>
          <p:cNvSpPr txBox="1"/>
          <p:nvPr/>
        </p:nvSpPr>
        <p:spPr>
          <a:xfrm>
            <a:off x="502920" y="516331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①Na₂S ______ ②H₂O</a:t>
            </a:r>
          </a:p>
        </p:txBody>
      </p:sp>
      <p:sp>
        <p:nvSpPr>
          <p:cNvPr id="13" name="文字_填空题  ·  12-06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12-067</a:t>
            </a:r>
          </a:p>
        </p:txBody>
      </p:sp>
      <p:sp>
        <p:nvSpPr>
          <p:cNvPr id="14" name="文字_7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20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检测题20</a:t>
            </a:r>
          </a:p>
        </p:txBody>
      </p:sp>
      <p:sp>
        <p:nvSpPr>
          <p:cNvPr id="5" name="文字_P27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P274</a:t>
            </a:r>
          </a:p>
        </p:txBody>
      </p:sp>
      <p:sp>
        <p:nvSpPr>
          <p:cNvPr id="6" name="文字_分别由短周期元素m、n、p、q组成的单质依次为甲"/>
          <p:cNvSpPr txBox="1"/>
          <p:nvPr/>
        </p:nvSpPr>
        <p:spPr>
          <a:xfrm>
            <a:off x="502920" y="1078992"/>
            <a:ext cx="11064240" cy="634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分别由短周期元素m、n、p、q组成的单质依次为甲、乙、丙、丁，有关反应关系如图所示(部分产物省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略)。其中甲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13610"/>
            <a:ext cx="11064240" cy="2434898"/>
          </a:xfrm>
          <a:prstGeom prst="rect">
            <a:avLst/>
          </a:prstGeom>
        </p:spPr>
      </p:pic>
      <p:sp>
        <p:nvSpPr>
          <p:cNvPr id="8" name="原题文字_274_4"/>
          <p:cNvSpPr txBox="1"/>
          <p:nvPr/>
        </p:nvSpPr>
        <p:spPr>
          <a:xfrm>
            <a:off x="594802" y="1745494"/>
            <a:ext cx="8331987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为黄绿色气体，M为18电子分子，N为10电子分子且N的水溶液呈碱性，Q为离子化合物。</a:t>
            </a:r>
          </a:p>
        </p:txBody>
      </p:sp>
      <p:sp>
        <p:nvSpPr>
          <p:cNvPr id="9" name="原题文字_274_5"/>
          <p:cNvSpPr txBox="1"/>
          <p:nvPr/>
        </p:nvSpPr>
        <p:spPr>
          <a:xfrm>
            <a:off x="656058" y="2113026"/>
            <a:ext cx="376454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7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甲</a:t>
            </a:r>
          </a:p>
        </p:txBody>
      </p:sp>
      <p:sp>
        <p:nvSpPr>
          <p:cNvPr id="10" name="原题文字_274_6"/>
          <p:cNvSpPr txBox="1"/>
          <p:nvPr/>
        </p:nvSpPr>
        <p:spPr>
          <a:xfrm>
            <a:off x="3006730" y="2457587"/>
            <a:ext cx="384111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7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乙</a:t>
            </a:r>
          </a:p>
        </p:txBody>
      </p:sp>
      <p:sp>
        <p:nvSpPr>
          <p:cNvPr id="11" name="原题文字_274_7"/>
          <p:cNvSpPr txBox="1"/>
          <p:nvPr/>
        </p:nvSpPr>
        <p:spPr>
          <a:xfrm>
            <a:off x="640744" y="2656667"/>
            <a:ext cx="414738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7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乙</a:t>
            </a:r>
          </a:p>
        </p:txBody>
      </p:sp>
      <p:sp>
        <p:nvSpPr>
          <p:cNvPr id="12" name="原题文字_274_8"/>
          <p:cNvSpPr txBox="1"/>
          <p:nvPr/>
        </p:nvSpPr>
        <p:spPr>
          <a:xfrm>
            <a:off x="1835222" y="2924659"/>
            <a:ext cx="391768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M</a:t>
            </a:r>
          </a:p>
        </p:txBody>
      </p:sp>
      <p:sp>
        <p:nvSpPr>
          <p:cNvPr id="13" name="原题文字_274_9"/>
          <p:cNvSpPr txBox="1"/>
          <p:nvPr/>
        </p:nvSpPr>
        <p:spPr>
          <a:xfrm>
            <a:off x="640744" y="3238592"/>
            <a:ext cx="399425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丙</a:t>
            </a:r>
          </a:p>
        </p:txBody>
      </p:sp>
      <p:sp>
        <p:nvSpPr>
          <p:cNvPr id="14" name="原题文字_274_10"/>
          <p:cNvSpPr txBox="1"/>
          <p:nvPr/>
        </p:nvSpPr>
        <p:spPr>
          <a:xfrm>
            <a:off x="1858193" y="3583154"/>
            <a:ext cx="338169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</a:t>
            </a:r>
          </a:p>
        </p:txBody>
      </p:sp>
      <p:sp>
        <p:nvSpPr>
          <p:cNvPr id="15" name="原题文字_274_11"/>
          <p:cNvSpPr txBox="1"/>
          <p:nvPr/>
        </p:nvSpPr>
        <p:spPr>
          <a:xfrm>
            <a:off x="640744" y="3759263"/>
            <a:ext cx="422395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7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丁</a:t>
            </a:r>
          </a:p>
        </p:txBody>
      </p:sp>
      <p:sp>
        <p:nvSpPr>
          <p:cNvPr id="16" name="文字_(1)填元素符号或化学式：m为 ______ ，"/>
          <p:cNvSpPr txBox="1"/>
          <p:nvPr/>
        </p:nvSpPr>
        <p:spPr>
          <a:xfrm>
            <a:off x="502920" y="4221661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(1)填元素符号或化学式：m为 ______ ，M为 ，N为 ______ O</a:t>
            </a:r>
          </a:p>
        </p:txBody>
      </p:sp>
      <p:sp>
        <p:nvSpPr>
          <p:cNvPr id="17" name="文字_(2) 下列说法正确的是 ______ (填字母"/>
          <p:cNvSpPr txBox="1"/>
          <p:nvPr/>
        </p:nvSpPr>
        <p:spPr>
          <a:xfrm>
            <a:off x="502920" y="4569133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下列说法正确的是 ______ (填字母)。</a:t>
            </a:r>
          </a:p>
        </p:txBody>
      </p:sp>
      <p:sp>
        <p:nvSpPr>
          <p:cNvPr id="18" name="文字_A. 原子半径的大小m&gt;n&gt;q&gt;p"/>
          <p:cNvSpPr txBox="1"/>
          <p:nvPr/>
        </p:nvSpPr>
        <p:spPr>
          <a:xfrm>
            <a:off x="502920" y="4916605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原子半径的大小m&gt;n&gt;q&gt;p</a:t>
            </a:r>
          </a:p>
        </p:txBody>
      </p:sp>
      <p:sp>
        <p:nvSpPr>
          <p:cNvPr id="19" name="文字_B. 元素非金属性m&gt;n&gt;p"/>
          <p:cNvSpPr txBox="1"/>
          <p:nvPr/>
        </p:nvSpPr>
        <p:spPr>
          <a:xfrm>
            <a:off x="502920" y="5264077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元素非金属性m&gt;n&gt;p</a:t>
            </a:r>
          </a:p>
        </p:txBody>
      </p:sp>
      <p:sp>
        <p:nvSpPr>
          <p:cNvPr id="20" name="文字_C. Q中一定含有离子键和共价键"/>
          <p:cNvSpPr txBox="1"/>
          <p:nvPr/>
        </p:nvSpPr>
        <p:spPr>
          <a:xfrm>
            <a:off x="502920" y="5611549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Q中一定含有离子键和共价键</a:t>
            </a:r>
          </a:p>
        </p:txBody>
      </p:sp>
      <p:sp>
        <p:nvSpPr>
          <p:cNvPr id="21" name="文字_D. n的氧化物的水化物一定为强酸"/>
          <p:cNvSpPr txBox="1"/>
          <p:nvPr/>
        </p:nvSpPr>
        <p:spPr>
          <a:xfrm>
            <a:off x="502920" y="5959021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n的氧化物的水化物一定为强酸</a:t>
            </a:r>
          </a:p>
        </p:txBody>
      </p:sp>
      <p:sp>
        <p:nvSpPr>
          <p:cNvPr id="22" name="文字_填空题  ·  12-06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12-068</a:t>
            </a:r>
          </a:p>
        </p:txBody>
      </p:sp>
      <p:sp>
        <p:nvSpPr>
          <p:cNvPr id="23" name="文字_8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2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检测题21</a:t>
            </a:r>
          </a:p>
        </p:txBody>
      </p:sp>
      <p:sp>
        <p:nvSpPr>
          <p:cNvPr id="5" name="文字_P27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P274</a:t>
            </a:r>
          </a:p>
        </p:txBody>
      </p:sp>
      <p:sp>
        <p:nvSpPr>
          <p:cNvPr id="6" name="文字_如图是元素周期表的一部分。"/>
          <p:cNvSpPr txBox="1"/>
          <p:nvPr/>
        </p:nvSpPr>
        <p:spPr>
          <a:xfrm>
            <a:off x="502920" y="1078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如图是元素周期表的一部分。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16736"/>
            <a:ext cx="8226534" cy="2151993"/>
          </a:xfrm>
          <a:prstGeom prst="rect">
            <a:avLst/>
          </a:prstGeom>
        </p:spPr>
      </p:pic>
      <p:sp>
        <p:nvSpPr>
          <p:cNvPr id="8" name="原题文字_274_27"/>
          <p:cNvSpPr txBox="1"/>
          <p:nvPr/>
        </p:nvSpPr>
        <p:spPr>
          <a:xfrm>
            <a:off x="633861" y="1384345"/>
            <a:ext cx="584322" cy="3034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7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16 S</a:t>
            </a:r>
          </a:p>
        </p:txBody>
      </p:sp>
      <p:sp>
        <p:nvSpPr>
          <p:cNvPr id="9" name="原题文字_274_28"/>
          <p:cNvSpPr txBox="1"/>
          <p:nvPr/>
        </p:nvSpPr>
        <p:spPr>
          <a:xfrm>
            <a:off x="1248716" y="1390038"/>
            <a:ext cx="595708" cy="2738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2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17 Cl</a:t>
            </a:r>
          </a:p>
        </p:txBody>
      </p:sp>
      <p:sp>
        <p:nvSpPr>
          <p:cNvPr id="10" name="原题文字_274_29"/>
          <p:cNvSpPr txBox="1"/>
          <p:nvPr/>
        </p:nvSpPr>
        <p:spPr>
          <a:xfrm>
            <a:off x="781882" y="1577911"/>
            <a:ext cx="316746" cy="2960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3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硫</a:t>
            </a:r>
          </a:p>
        </p:txBody>
      </p:sp>
      <p:sp>
        <p:nvSpPr>
          <p:cNvPr id="11" name="原题文字_274_30"/>
          <p:cNvSpPr txBox="1"/>
          <p:nvPr/>
        </p:nvSpPr>
        <p:spPr>
          <a:xfrm>
            <a:off x="1391044" y="1577911"/>
            <a:ext cx="299667" cy="3034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7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氯</a:t>
            </a:r>
          </a:p>
        </p:txBody>
      </p:sp>
      <p:sp>
        <p:nvSpPr>
          <p:cNvPr id="12" name="原题文字_274_31"/>
          <p:cNvSpPr txBox="1"/>
          <p:nvPr/>
        </p:nvSpPr>
        <p:spPr>
          <a:xfrm>
            <a:off x="668020" y="1771476"/>
            <a:ext cx="538777" cy="2738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2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32.06</a:t>
            </a:r>
          </a:p>
        </p:txBody>
      </p:sp>
      <p:sp>
        <p:nvSpPr>
          <p:cNvPr id="13" name="原题文字_274_32"/>
          <p:cNvSpPr txBox="1"/>
          <p:nvPr/>
        </p:nvSpPr>
        <p:spPr>
          <a:xfrm>
            <a:off x="1265795" y="1771476"/>
            <a:ext cx="527391" cy="2738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2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35.45</a:t>
            </a:r>
          </a:p>
        </p:txBody>
      </p:sp>
      <p:sp>
        <p:nvSpPr>
          <p:cNvPr id="14" name="原题文字_274_33"/>
          <p:cNvSpPr txBox="1"/>
          <p:nvPr/>
        </p:nvSpPr>
        <p:spPr>
          <a:xfrm>
            <a:off x="639554" y="2004893"/>
            <a:ext cx="607095" cy="2738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2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34 Se</a:t>
            </a:r>
          </a:p>
        </p:txBody>
      </p:sp>
      <p:sp>
        <p:nvSpPr>
          <p:cNvPr id="15" name="原题文字_274_34"/>
          <p:cNvSpPr txBox="1"/>
          <p:nvPr/>
        </p:nvSpPr>
        <p:spPr>
          <a:xfrm>
            <a:off x="1237330" y="2004893"/>
            <a:ext cx="612788" cy="2664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35 Br</a:t>
            </a:r>
          </a:p>
        </p:txBody>
      </p:sp>
      <p:sp>
        <p:nvSpPr>
          <p:cNvPr id="16" name="原题文字_274_35"/>
          <p:cNvSpPr txBox="1"/>
          <p:nvPr/>
        </p:nvSpPr>
        <p:spPr>
          <a:xfrm>
            <a:off x="781882" y="2187073"/>
            <a:ext cx="305360" cy="2812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6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硒</a:t>
            </a:r>
          </a:p>
        </p:txBody>
      </p:sp>
      <p:sp>
        <p:nvSpPr>
          <p:cNvPr id="17" name="原题文字_274_36"/>
          <p:cNvSpPr txBox="1"/>
          <p:nvPr/>
        </p:nvSpPr>
        <p:spPr>
          <a:xfrm>
            <a:off x="1379657" y="2181380"/>
            <a:ext cx="305360" cy="2960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3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溴</a:t>
            </a:r>
          </a:p>
        </p:txBody>
      </p:sp>
      <p:sp>
        <p:nvSpPr>
          <p:cNvPr id="18" name="原题文字_274_37"/>
          <p:cNvSpPr txBox="1"/>
          <p:nvPr/>
        </p:nvSpPr>
        <p:spPr>
          <a:xfrm>
            <a:off x="679406" y="2374945"/>
            <a:ext cx="521698" cy="2738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2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78.96</a:t>
            </a:r>
          </a:p>
        </p:txBody>
      </p:sp>
      <p:sp>
        <p:nvSpPr>
          <p:cNvPr id="19" name="原题文字_274_38"/>
          <p:cNvSpPr txBox="1"/>
          <p:nvPr/>
        </p:nvSpPr>
        <p:spPr>
          <a:xfrm>
            <a:off x="1282875" y="2374945"/>
            <a:ext cx="516005" cy="2738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2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79.90</a:t>
            </a:r>
          </a:p>
        </p:txBody>
      </p:sp>
      <p:sp>
        <p:nvSpPr>
          <p:cNvPr id="20" name="原题文字_274_39"/>
          <p:cNvSpPr txBox="1"/>
          <p:nvPr/>
        </p:nvSpPr>
        <p:spPr>
          <a:xfrm>
            <a:off x="1237330" y="2602669"/>
            <a:ext cx="555857" cy="2738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2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53 I</a:t>
            </a:r>
          </a:p>
        </p:txBody>
      </p:sp>
      <p:sp>
        <p:nvSpPr>
          <p:cNvPr id="21" name="原题文字_274_40"/>
          <p:cNvSpPr txBox="1"/>
          <p:nvPr/>
        </p:nvSpPr>
        <p:spPr>
          <a:xfrm>
            <a:off x="1385351" y="2779155"/>
            <a:ext cx="305360" cy="3034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7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碘</a:t>
            </a:r>
          </a:p>
        </p:txBody>
      </p:sp>
      <p:sp>
        <p:nvSpPr>
          <p:cNvPr id="22" name="原题文字_274_41"/>
          <p:cNvSpPr txBox="1"/>
          <p:nvPr/>
        </p:nvSpPr>
        <p:spPr>
          <a:xfrm>
            <a:off x="1282875" y="2972721"/>
            <a:ext cx="516005" cy="2738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2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126.9</a:t>
            </a:r>
          </a:p>
        </p:txBody>
      </p:sp>
      <p:sp>
        <p:nvSpPr>
          <p:cNvPr id="23" name="原题文字_274_42"/>
          <p:cNvSpPr txBox="1"/>
          <p:nvPr/>
        </p:nvSpPr>
        <p:spPr>
          <a:xfrm>
            <a:off x="565544" y="3234604"/>
            <a:ext cx="1113781" cy="259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5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回答下列问题:</a:t>
            </a:r>
          </a:p>
        </p:txBody>
      </p:sp>
      <p:sp>
        <p:nvSpPr>
          <p:cNvPr id="24" name="文字_(1)地球上99%的溴元素存在于海水中，因此溴被"/>
          <p:cNvSpPr txBox="1"/>
          <p:nvPr/>
        </p:nvSpPr>
        <p:spPr>
          <a:xfrm>
            <a:off x="502920" y="3541881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(1)地球上99%的溴元素存在于海水中，因此溴被称为“海洋元素”。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79625"/>
            <a:ext cx="8226534" cy="825499"/>
          </a:xfrm>
          <a:prstGeom prst="rect">
            <a:avLst/>
          </a:prstGeom>
        </p:spPr>
      </p:pic>
      <p:sp>
        <p:nvSpPr>
          <p:cNvPr id="26" name="原题文字_274_45"/>
          <p:cNvSpPr txBox="1"/>
          <p:nvPr/>
        </p:nvSpPr>
        <p:spPr>
          <a:xfrm>
            <a:off x="975447" y="3801689"/>
            <a:ext cx="1984826" cy="229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1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①溴在元素周期表中的位置</a:t>
            </a:r>
          </a:p>
        </p:txBody>
      </p:sp>
      <p:sp>
        <p:nvSpPr>
          <p:cNvPr id="27" name="原题文字_274_46"/>
          <p:cNvSpPr txBox="1"/>
          <p:nvPr/>
        </p:nvSpPr>
        <p:spPr>
          <a:xfrm>
            <a:off x="3372244" y="3892779"/>
            <a:ext cx="134567" cy="133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4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</a:t>
            </a:r>
          </a:p>
        </p:txBody>
      </p:sp>
      <p:sp>
        <p:nvSpPr>
          <p:cNvPr id="28" name="原题文字_274_47"/>
          <p:cNvSpPr txBox="1"/>
          <p:nvPr/>
        </p:nvSpPr>
        <p:spPr>
          <a:xfrm>
            <a:off x="975447" y="4092038"/>
            <a:ext cx="5013557" cy="222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7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②表中与溴同主族的元素中，最高价氧化物对应的水化物酸性最强的是</a:t>
            </a:r>
          </a:p>
        </p:txBody>
      </p:sp>
      <p:sp>
        <p:nvSpPr>
          <p:cNvPr id="29" name="原题文字_274_48"/>
          <p:cNvSpPr txBox="1"/>
          <p:nvPr/>
        </p:nvSpPr>
        <p:spPr>
          <a:xfrm>
            <a:off x="6389588" y="4080651"/>
            <a:ext cx="897443" cy="2664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8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(填化学式)。</a:t>
            </a:r>
          </a:p>
        </p:txBody>
      </p:sp>
      <p:sp>
        <p:nvSpPr>
          <p:cNvPr id="30" name="原题文字_274_49"/>
          <p:cNvSpPr txBox="1"/>
          <p:nvPr/>
        </p:nvSpPr>
        <p:spPr>
          <a:xfrm>
            <a:off x="958368" y="4359613"/>
            <a:ext cx="7575453" cy="2738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③类卤素IBr有很多类似于卤素单质的性质，已知IBr能与水发生非氧化还原反应，写出IBr与水反应的化学方</a:t>
            </a:r>
          </a:p>
        </p:txBody>
      </p:sp>
      <p:sp>
        <p:nvSpPr>
          <p:cNvPr id="31" name="文字_程式 ______ 。IBr中含有的化学键是 _"/>
          <p:cNvSpPr txBox="1"/>
          <p:nvPr/>
        </p:nvSpPr>
        <p:spPr>
          <a:xfrm>
            <a:off x="502920" y="4678277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程式 ______ 。IBr中含有的化学键是 ______ (填“离子键”、“极性键”或“非极性键”)。</a:t>
            </a:r>
          </a:p>
        </p:txBody>
      </p:sp>
      <p:sp>
        <p:nvSpPr>
          <p:cNvPr id="32" name="文字_(2) 硒能够增强人体免疫力，是人体必需的微量元"/>
          <p:cNvSpPr txBox="1"/>
          <p:nvPr/>
        </p:nvSpPr>
        <p:spPr>
          <a:xfrm>
            <a:off x="502920" y="4916021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硒能够增强人体免疫力，是人体必需的微量元素。</a:t>
            </a:r>
          </a:p>
        </p:txBody>
      </p:sp>
      <p:sp>
        <p:nvSpPr>
          <p:cNvPr id="33" name="文字_①Se²⁻的离子结构示意图为 ______ o"/>
          <p:cNvSpPr txBox="1"/>
          <p:nvPr/>
        </p:nvSpPr>
        <p:spPr>
          <a:xfrm>
            <a:off x="502920" y="5153765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①Se²⁻的离子结构示意图为 ______ o</a:t>
            </a:r>
          </a:p>
        </p:txBody>
      </p:sp>
      <p:sp>
        <p:nvSpPr>
          <p:cNvPr id="34" name="文字_②SeO₂溶于水生成H₂SeO₃，向所得溶液中通"/>
          <p:cNvSpPr txBox="1"/>
          <p:nvPr/>
        </p:nvSpPr>
        <p:spPr>
          <a:xfrm>
            <a:off x="502920" y="5391509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②SeO₂溶于水生成H₂SeO₃，向所得溶液中通入SO₂气体发生反应，生成Se和H₂SO₄.写出SO₂与H₂SeO₃反应的化学方程式</a:t>
            </a:r>
          </a:p>
        </p:txBody>
      </p:sp>
      <p:sp>
        <p:nvSpPr>
          <p:cNvPr id="35" name="文字_(3)下列说法正确的是 ______ (填字母)"/>
          <p:cNvSpPr txBox="1"/>
          <p:nvPr/>
        </p:nvSpPr>
        <p:spPr>
          <a:xfrm>
            <a:off x="502920" y="5629253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(3)下列说法正确的是 ______ (填字母)。</a:t>
            </a:r>
          </a:p>
        </p:txBody>
      </p:sp>
      <p:sp>
        <p:nvSpPr>
          <p:cNvPr id="36" name="文字_a. SeO₂既有氧化性又有还原性 b. 原子半"/>
          <p:cNvSpPr txBox="1"/>
          <p:nvPr/>
        </p:nvSpPr>
        <p:spPr>
          <a:xfrm>
            <a:off x="502920" y="5866997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SeO₂既有氧化性又有还原性 b. 原子半径：r(Se)&gt;r(Br)</a:t>
            </a:r>
          </a:p>
        </p:txBody>
      </p:sp>
      <p:sp>
        <p:nvSpPr>
          <p:cNvPr id="37" name="文字_c. 稳定性: H₂Se&lt;HCl&lt;H₂S d. "/>
          <p:cNvSpPr txBox="1"/>
          <p:nvPr/>
        </p:nvSpPr>
        <p:spPr>
          <a:xfrm>
            <a:off x="502920" y="6104741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稳定性: H₂Se&lt;HCl&lt;H₂S d. 酸性: H₂SeO₄&lt;HBrO₄&lt;HClO₄</a:t>
            </a:r>
          </a:p>
        </p:txBody>
      </p:sp>
      <p:sp>
        <p:nvSpPr>
          <p:cNvPr id="38" name="文字_填空题  ·  12-06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12-069</a:t>
            </a:r>
          </a:p>
        </p:txBody>
      </p:sp>
      <p:sp>
        <p:nvSpPr>
          <p:cNvPr id="39" name="文字_8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沙场点兵 · 检测题2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沙场点兵 · 检测题22</a:t>
            </a:r>
          </a:p>
        </p:txBody>
      </p:sp>
      <p:sp>
        <p:nvSpPr>
          <p:cNvPr id="5" name="文字_P27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P275</a:t>
            </a:r>
          </a:p>
        </p:txBody>
      </p:sp>
      <p:sp>
        <p:nvSpPr>
          <p:cNvPr id="6" name="文字_元素是组成我们生活的世界中一切物质的“原材料”。"/>
          <p:cNvSpPr txBox="1"/>
          <p:nvPr/>
        </p:nvSpPr>
        <p:spPr>
          <a:xfrm>
            <a:off x="502920" y="1078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元素是组成我们生活的世界中一切物质的“原材料”。</a:t>
            </a:r>
          </a:p>
        </p:txBody>
      </p:sp>
      <p:sp>
        <p:nvSpPr>
          <p:cNvPr id="7" name="文字_(1)1869年，门捷列夫研制出了第一张元素周期"/>
          <p:cNvSpPr txBox="1"/>
          <p:nvPr/>
        </p:nvSpPr>
        <p:spPr>
          <a:xfrm>
            <a:off x="502920" y="1316736"/>
            <a:ext cx="11064240" cy="4342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(1)1869年，门捷列夫研制出了第一张元素周期表。到20世纪初，随着原子结构的逐渐揭秘，科学家们发现了元素性质不是随着相对原子质量的递增呈现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周期性变化，而是随着原子序数(核电荷数)的递增呈现周期性变化。其本质原因是 ______ (填字母)。</a:t>
            </a:r>
          </a:p>
        </p:txBody>
      </p:sp>
      <p:sp>
        <p:nvSpPr>
          <p:cNvPr id="8" name="文字_A. 随着核电荷数递增，原子核外电子排布呈现周期"/>
          <p:cNvSpPr txBox="1"/>
          <p:nvPr/>
        </p:nvSpPr>
        <p:spPr>
          <a:xfrm>
            <a:off x="502920" y="1750949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随着核电荷数递增，原子核外电子排布呈现周期性变化</a:t>
            </a:r>
          </a:p>
        </p:txBody>
      </p:sp>
      <p:sp>
        <p:nvSpPr>
          <p:cNvPr id="9" name="文字_B. 随着核电荷数递增，原子半径呈现周期性变化"/>
          <p:cNvSpPr txBox="1"/>
          <p:nvPr/>
        </p:nvSpPr>
        <p:spPr>
          <a:xfrm>
            <a:off x="502920" y="1988693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随着核电荷数递增，原子半径呈现周期性变化</a:t>
            </a:r>
          </a:p>
        </p:txBody>
      </p:sp>
      <p:sp>
        <p:nvSpPr>
          <p:cNvPr id="10" name="文字_C. 随着核电荷数递增，元素的化合价呈现周期性变"/>
          <p:cNvSpPr txBox="1"/>
          <p:nvPr/>
        </p:nvSpPr>
        <p:spPr>
          <a:xfrm>
            <a:off x="502920" y="2226437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随着核电荷数递增，元素的化合价呈现周期性变化</a:t>
            </a:r>
          </a:p>
        </p:txBody>
      </p:sp>
      <p:sp>
        <p:nvSpPr>
          <p:cNvPr id="11" name="文字_(2)有A、B、D、E、X、Y、Z七种短周期元素"/>
          <p:cNvSpPr txBox="1"/>
          <p:nvPr/>
        </p:nvSpPr>
        <p:spPr>
          <a:xfrm>
            <a:off x="502920" y="2464181"/>
            <a:ext cx="11064240" cy="4342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(2)有A、B、D、E、X、Y、Z七种短周期元素。X与Y处于同一周期，Y的最高价氧化物对应的水化物与强酸、强碱均能反应。Z的单质常温下为气态，同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条件下对于氢气的相对密度为35.5。其余元素的信息如图所示。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98394"/>
            <a:ext cx="8226534" cy="2049517"/>
          </a:xfrm>
          <a:prstGeom prst="rect">
            <a:avLst/>
          </a:prstGeom>
        </p:spPr>
      </p:pic>
      <p:sp>
        <p:nvSpPr>
          <p:cNvPr id="13" name="原题文字_275_15"/>
          <p:cNvSpPr txBox="1"/>
          <p:nvPr/>
        </p:nvSpPr>
        <p:spPr>
          <a:xfrm>
            <a:off x="1197478" y="2948924"/>
            <a:ext cx="367984" cy="2664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0.2F</a:t>
            </a:r>
          </a:p>
        </p:txBody>
      </p:sp>
      <p:sp>
        <p:nvSpPr>
          <p:cNvPr id="14" name="原题文字_275_16"/>
          <p:cNvSpPr txBox="1"/>
          <p:nvPr/>
        </p:nvSpPr>
        <p:spPr>
          <a:xfrm>
            <a:off x="969754" y="3216500"/>
            <a:ext cx="248429" cy="11175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/</a:t>
            </a:r>
          </a:p>
        </p:txBody>
      </p:sp>
      <p:sp>
        <p:nvSpPr>
          <p:cNvPr id="15" name="原题文字_275_17"/>
          <p:cNvSpPr txBox="1"/>
          <p:nvPr/>
        </p:nvSpPr>
        <p:spPr>
          <a:xfrm>
            <a:off x="1937582" y="3512541"/>
            <a:ext cx="675412" cy="236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4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原子半径</a:t>
            </a:r>
          </a:p>
        </p:txBody>
      </p:sp>
      <p:sp>
        <p:nvSpPr>
          <p:cNvPr id="16" name="原题文字_275_18"/>
          <p:cNvSpPr txBox="1"/>
          <p:nvPr/>
        </p:nvSpPr>
        <p:spPr>
          <a:xfrm>
            <a:off x="2717537" y="3552393"/>
            <a:ext cx="601401" cy="2960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3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最外层</a:t>
            </a:r>
          </a:p>
        </p:txBody>
      </p:sp>
      <p:sp>
        <p:nvSpPr>
          <p:cNvPr id="17" name="原题文字_275_19"/>
          <p:cNvSpPr txBox="1"/>
          <p:nvPr/>
        </p:nvSpPr>
        <p:spPr>
          <a:xfrm>
            <a:off x="1197478" y="3609324"/>
            <a:ext cx="322439" cy="2664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0.1</a:t>
            </a:r>
          </a:p>
        </p:txBody>
      </p:sp>
      <p:sp>
        <p:nvSpPr>
          <p:cNvPr id="18" name="原题文字_275_20"/>
          <p:cNvSpPr txBox="1"/>
          <p:nvPr/>
        </p:nvSpPr>
        <p:spPr>
          <a:xfrm>
            <a:off x="2728923" y="3745958"/>
            <a:ext cx="595708" cy="2664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电子数</a:t>
            </a:r>
          </a:p>
        </p:txBody>
      </p:sp>
      <p:sp>
        <p:nvSpPr>
          <p:cNvPr id="19" name="原题文字_275_21"/>
          <p:cNvSpPr txBox="1"/>
          <p:nvPr/>
        </p:nvSpPr>
        <p:spPr>
          <a:xfrm>
            <a:off x="3372244" y="3871206"/>
            <a:ext cx="140260" cy="148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1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6</a:t>
            </a:r>
          </a:p>
        </p:txBody>
      </p:sp>
      <p:sp>
        <p:nvSpPr>
          <p:cNvPr id="20" name="原题文字_275_22"/>
          <p:cNvSpPr txBox="1"/>
          <p:nvPr/>
        </p:nvSpPr>
        <p:spPr>
          <a:xfrm>
            <a:off x="2319020" y="4047693"/>
            <a:ext cx="163032" cy="1924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5</a:t>
            </a:r>
          </a:p>
        </p:txBody>
      </p:sp>
      <p:sp>
        <p:nvSpPr>
          <p:cNvPr id="21" name="原题文字_275_23"/>
          <p:cNvSpPr txBox="1"/>
          <p:nvPr/>
        </p:nvSpPr>
        <p:spPr>
          <a:xfrm>
            <a:off x="1983126" y="4116010"/>
            <a:ext cx="128874" cy="133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4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</a:t>
            </a:r>
          </a:p>
        </p:txBody>
      </p:sp>
      <p:sp>
        <p:nvSpPr>
          <p:cNvPr id="22" name="原题文字_275_24"/>
          <p:cNvSpPr txBox="1"/>
          <p:nvPr/>
        </p:nvSpPr>
        <p:spPr>
          <a:xfrm>
            <a:off x="1550451" y="4372200"/>
            <a:ext cx="197191" cy="185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9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23" name="原题文字_275_25"/>
          <p:cNvSpPr txBox="1"/>
          <p:nvPr/>
        </p:nvSpPr>
        <p:spPr>
          <a:xfrm>
            <a:off x="1926195" y="4366506"/>
            <a:ext cx="191498" cy="185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9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</a:t>
            </a:r>
          </a:p>
        </p:txBody>
      </p:sp>
      <p:sp>
        <p:nvSpPr>
          <p:cNvPr id="24" name="原题文字_275_26"/>
          <p:cNvSpPr txBox="1"/>
          <p:nvPr/>
        </p:nvSpPr>
        <p:spPr>
          <a:xfrm>
            <a:off x="2296247" y="4366506"/>
            <a:ext cx="191498" cy="185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9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25" name="原题文字_275_27"/>
          <p:cNvSpPr txBox="1"/>
          <p:nvPr/>
        </p:nvSpPr>
        <p:spPr>
          <a:xfrm>
            <a:off x="2677685" y="4366506"/>
            <a:ext cx="185805" cy="1924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E</a:t>
            </a:r>
          </a:p>
        </p:txBody>
      </p:sp>
      <p:sp>
        <p:nvSpPr>
          <p:cNvPr id="26" name="原题文字_275_28"/>
          <p:cNvSpPr txBox="1"/>
          <p:nvPr/>
        </p:nvSpPr>
        <p:spPr>
          <a:xfrm>
            <a:off x="3030657" y="4366506"/>
            <a:ext cx="214270" cy="1924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X</a:t>
            </a:r>
          </a:p>
        </p:txBody>
      </p:sp>
      <p:sp>
        <p:nvSpPr>
          <p:cNvPr id="27" name="原题文字_275_29"/>
          <p:cNvSpPr txBox="1"/>
          <p:nvPr/>
        </p:nvSpPr>
        <p:spPr>
          <a:xfrm>
            <a:off x="2222237" y="4514527"/>
            <a:ext cx="402143" cy="259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5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元素</a:t>
            </a:r>
          </a:p>
        </p:txBody>
      </p:sp>
      <p:sp>
        <p:nvSpPr>
          <p:cNvPr id="28" name="原题文字_275_30"/>
          <p:cNvSpPr txBox="1"/>
          <p:nvPr/>
        </p:nvSpPr>
        <p:spPr>
          <a:xfrm>
            <a:off x="981140" y="4725172"/>
            <a:ext cx="2770474" cy="229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1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①上述七种元素中，处于第二周期的有</a:t>
            </a:r>
          </a:p>
        </p:txBody>
      </p:sp>
      <p:sp>
        <p:nvSpPr>
          <p:cNvPr id="29" name="原题文字_275_31"/>
          <p:cNvSpPr txBox="1"/>
          <p:nvPr/>
        </p:nvSpPr>
        <p:spPr>
          <a:xfrm>
            <a:off x="4163585" y="4719479"/>
            <a:ext cx="2685077" cy="2516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1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(填元素符号)，E在周期表中的位置是</a:t>
            </a:r>
          </a:p>
        </p:txBody>
      </p:sp>
      <p:sp>
        <p:nvSpPr>
          <p:cNvPr id="30" name="文字_②A、D、z三种元素所形成的化合物DA₄Z中的电"/>
          <p:cNvSpPr txBox="1"/>
          <p:nvPr/>
        </p:nvSpPr>
        <p:spPr>
          <a:xfrm>
            <a:off x="502920" y="5021063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②A、D、z三种元素所形成的化合物DA₄Z中的电子式是 ______ O</a:t>
            </a:r>
          </a:p>
        </p:txBody>
      </p:sp>
      <p:sp>
        <p:nvSpPr>
          <p:cNvPr id="31" name="文字_③X的最高价氧化物对应水化物与Y的最高价氧化物对"/>
          <p:cNvSpPr txBox="1"/>
          <p:nvPr/>
        </p:nvSpPr>
        <p:spPr>
          <a:xfrm>
            <a:off x="502920" y="5258807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③X的最高价氧化物对应水化物与Y的最高价氧化物对应水化物反应的离子方程式为</a:t>
            </a:r>
          </a:p>
        </p:txBody>
      </p:sp>
      <p:sp>
        <p:nvSpPr>
          <p:cNvPr id="32" name="文字_④下列可以判断X和Y元素原子失电子能力强弱的是 "/>
          <p:cNvSpPr txBox="1"/>
          <p:nvPr/>
        </p:nvSpPr>
        <p:spPr>
          <a:xfrm>
            <a:off x="502920" y="5496551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④下列可以判断X和Y元素原子失电子能力强弱的是 ______ (填字母)。</a:t>
            </a:r>
          </a:p>
        </p:txBody>
      </p:sp>
      <p:sp>
        <p:nvSpPr>
          <p:cNvPr id="33" name="文字_a. 单质的熔点X比Y低 ______ b. 单"/>
          <p:cNvSpPr txBox="1"/>
          <p:nvPr/>
        </p:nvSpPr>
        <p:spPr>
          <a:xfrm>
            <a:off x="502920" y="5734295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单质的熔点X比Y低 ______ b. 单质与酸反应时，失电子数X比Y少</a:t>
            </a:r>
          </a:p>
        </p:txBody>
      </p:sp>
      <p:sp>
        <p:nvSpPr>
          <p:cNvPr id="34" name="文字_d. 单质与水反应X比Y剧烈d. 最高价氧化物对"/>
          <p:cNvSpPr txBox="1"/>
          <p:nvPr/>
        </p:nvSpPr>
        <p:spPr>
          <a:xfrm>
            <a:off x="502920" y="5972039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单质与水反应X比Y剧烈d. 最高价氧化物对应水化物的碱性X比Y强</a:t>
            </a:r>
          </a:p>
        </p:txBody>
      </p:sp>
      <p:sp>
        <p:nvSpPr>
          <p:cNvPr id="35" name="文字_推断题  ·  12-07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推断题  ·  12-070</a:t>
            </a:r>
          </a:p>
        </p:txBody>
      </p:sp>
      <p:sp>
        <p:nvSpPr>
          <p:cNvPr id="36" name="文字_8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82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第12章 化学键</dc:title>
  <dc:subject>高一化学课堂课件：知识讲解与原题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zh-CN</dc:language>
</cp:coreProperties>
</file>
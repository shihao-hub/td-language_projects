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P117；PDF 文件第 119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P117；PDF 文件第 119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P117；PDF 文件第 119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P117；PDF 文件第 119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例题 1 / 单选题</a:t>
            </a:r>
          </a:p>
          <a:p>
            <a:r>
              <a:t>讲义印刷页：P119</a:t>
            </a:r>
          </a:p>
          <a:p>
            <a:r>
              <a:t>PDF 文件页：121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例题 2 / 单选题</a:t>
            </a:r>
          </a:p>
          <a:p>
            <a:r>
              <a:t>讲义印刷页：P119</a:t>
            </a:r>
          </a:p>
          <a:p>
            <a:r>
              <a:t>PDF 文件页：121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例题 3 / 单选题</a:t>
            </a:r>
          </a:p>
          <a:p>
            <a:r>
              <a:t>讲义印刷页：P119</a:t>
            </a:r>
          </a:p>
          <a:p>
            <a:r>
              <a:t>PDF 文件页：121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例题 4 / 单选题</a:t>
            </a:r>
          </a:p>
          <a:p>
            <a:r>
              <a:t>讲义印刷页：P120</a:t>
            </a:r>
          </a:p>
          <a:p>
            <a:r>
              <a:t>PDF 文件页：122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例题 5 / 单选题</a:t>
            </a:r>
          </a:p>
          <a:p>
            <a:r>
              <a:t>讲义印刷页：P120</a:t>
            </a:r>
          </a:p>
          <a:p>
            <a:r>
              <a:t>PDF 文件页：122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例题 6 / 单选题</a:t>
            </a:r>
          </a:p>
          <a:p>
            <a:r>
              <a:t>讲义印刷页：P120</a:t>
            </a:r>
          </a:p>
          <a:p>
            <a:r>
              <a:t>PDF 文件页：122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例题 7 / 单选题</a:t>
            </a:r>
          </a:p>
          <a:p>
            <a:r>
              <a:t>讲义印刷页：P120</a:t>
            </a:r>
          </a:p>
          <a:p>
            <a:r>
              <a:t>PDF 文件页：122</a:t>
            </a:r>
          </a:p>
          <a:p>
            <a:r>
              <a:t>题目保留原题空白；未补充答案。文字为可编辑内容，图形保留原图线条。</a:t>
            </a:r>
          </a:p>
          <a:p>
            <a:r>
              <a:t>OCR 重点复核位置（请对照原讲义检查公式、上下标和字符）：</a:t>
            </a:r>
          </a:p>
          <a:p>
            <a:r>
              <a:t>P120：KClO和</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例题 8 / 单选题</a:t>
            </a:r>
          </a:p>
          <a:p>
            <a:r>
              <a:t>讲义印刷页：P121</a:t>
            </a:r>
          </a:p>
          <a:p>
            <a:r>
              <a:t>PDF 文件页：123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例题 9 / 单选题</a:t>
            </a:r>
          </a:p>
          <a:p>
            <a:r>
              <a:t>讲义印刷页：P121</a:t>
            </a:r>
          </a:p>
          <a:p>
            <a:r>
              <a:t>PDF 文件页：123</a:t>
            </a:r>
          </a:p>
          <a:p>
            <a:r>
              <a:t>题目保留原题空白；未补充答案。文字为可编辑内容，图形保留原图线条。</a:t>
            </a:r>
          </a:p>
          <a:p>
            <a:r>
              <a:t>OCR 重点复核位置（请对照原讲义检查公式、上下标和字符）：</a:t>
            </a:r>
          </a:p>
          <a:p>
            <a:r>
              <a:t>P121：Cl₂</a:t>
            </a:r>
          </a:p>
          <a:p>
            <a:r>
              <a:t>P121：Cl₂</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例题 10 / 解答题</a:t>
            </a:r>
          </a:p>
          <a:p>
            <a:r>
              <a:t>讲义印刷页：P121</a:t>
            </a:r>
          </a:p>
          <a:p>
            <a:r>
              <a:t>PDF 文件页：123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变式 1 / 单选题</a:t>
            </a:r>
          </a:p>
          <a:p>
            <a:r>
              <a:t>讲义印刷页：P122</a:t>
            </a:r>
          </a:p>
          <a:p>
            <a:r>
              <a:t>PDF 文件页：124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变式 2 / 单选题</a:t>
            </a:r>
          </a:p>
          <a:p>
            <a:r>
              <a:t>讲义印刷页：P122</a:t>
            </a:r>
          </a:p>
          <a:p>
            <a:r>
              <a:t>PDF 文件页：124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变式 3 / 单选题</a:t>
            </a:r>
          </a:p>
          <a:p>
            <a:r>
              <a:t>讲义印刷页：P122</a:t>
            </a:r>
          </a:p>
          <a:p>
            <a:r>
              <a:t>PDF 文件页：124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变式 4 / 单选题</a:t>
            </a:r>
          </a:p>
          <a:p>
            <a:r>
              <a:t>讲义印刷页：P122</a:t>
            </a:r>
          </a:p>
          <a:p>
            <a:r>
              <a:t>PDF 文件页：124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变式 5 / 单选题</a:t>
            </a:r>
          </a:p>
          <a:p>
            <a:r>
              <a:t>讲义印刷页：P122</a:t>
            </a:r>
          </a:p>
          <a:p>
            <a:r>
              <a:t>PDF 文件页：124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变式 6 / 单选题</a:t>
            </a:r>
          </a:p>
          <a:p>
            <a:r>
              <a:t>讲义印刷页：P123</a:t>
            </a:r>
          </a:p>
          <a:p>
            <a:r>
              <a:t>PDF 文件页：125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变式 7 / 单选题</a:t>
            </a:r>
          </a:p>
          <a:p>
            <a:r>
              <a:t>讲义印刷页：P123</a:t>
            </a:r>
          </a:p>
          <a:p>
            <a:r>
              <a:t>PDF 文件页：125</a:t>
            </a:r>
          </a:p>
          <a:p>
            <a:r>
              <a:t>题目保留原题空白；未补充答案。文字为可编辑内容，图形保留原图线条。</a:t>
            </a:r>
          </a:p>
          <a:p>
            <a:r>
              <a:t>OCR 重点复核位置（请对照原讲义检查公式、上下标和字符）：</a:t>
            </a:r>
          </a:p>
          <a:p>
            <a:r>
              <a:t>P123：L</a:t>
            </a:r>
          </a:p>
          <a:p>
            <a:r>
              <a:t>P123：)/热g</a:t>
            </a:r>
          </a:p>
          <a:p>
            <a:r>
              <a:t>P123：mwmy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变式 8 / 单选题</a:t>
            </a:r>
          </a:p>
          <a:p>
            <a:r>
              <a:t>讲义印刷页：P123</a:t>
            </a:r>
          </a:p>
          <a:p>
            <a:r>
              <a:t>PDF 文件页：125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变式 9 / 单选题</a:t>
            </a:r>
          </a:p>
          <a:p>
            <a:r>
              <a:t>讲义印刷页：P124</a:t>
            </a:r>
          </a:p>
          <a:p>
            <a:r>
              <a:t>PDF 文件页：126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原题定位：知识点1氯气的物理和化学性质 / 变式 10 / 填空题</a:t>
            </a:r>
          </a:p>
          <a:p>
            <a:r>
              <a:t>讲义印刷页：P124</a:t>
            </a:r>
          </a:p>
          <a:p>
            <a:r>
              <a:t>PDF 文件页：126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P125；PDF 文件第 127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P125；PDF 文件第 127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原题定位：知识点2氯气的制备 / 例题 1 / 单选题</a:t>
            </a:r>
          </a:p>
          <a:p>
            <a:r>
              <a:t>讲义印刷页：P126</a:t>
            </a:r>
          </a:p>
          <a:p>
            <a:r>
              <a:t>PDF 文件页：128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原题定位：知识点2氯气的制备 / 例题 2 / 单选题</a:t>
            </a:r>
          </a:p>
          <a:p>
            <a:r>
              <a:t>讲义印刷页：P126</a:t>
            </a:r>
          </a:p>
          <a:p>
            <a:r>
              <a:t>PDF 文件页：128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原题定位：知识点2氯气的制备 / 例题 3 / 单选题</a:t>
            </a:r>
          </a:p>
          <a:p>
            <a:r>
              <a:t>讲义印刷页：P126</a:t>
            </a:r>
          </a:p>
          <a:p>
            <a:r>
              <a:t>PDF 文件页：128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原题定位：知识点2氯气的制备 / 例题 4 / 解答题</a:t>
            </a:r>
          </a:p>
          <a:p>
            <a:r>
              <a:t>讲义印刷页：P127</a:t>
            </a:r>
          </a:p>
          <a:p>
            <a:r>
              <a:t>PDF 文件页：129</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P127：G¬H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原题定位：知识点2氯气的制备 / 变式 1 / 单选题</a:t>
            </a:r>
          </a:p>
          <a:p>
            <a:r>
              <a:t>讲义印刷页：P127</a:t>
            </a:r>
          </a:p>
          <a:p>
            <a:r>
              <a:t>PDF 文件页：129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原题定位：知识点2氯气的制备 / 变式 2 / 单选题</a:t>
            </a:r>
          </a:p>
          <a:p>
            <a:r>
              <a:t>讲义印刷页：P128</a:t>
            </a:r>
          </a:p>
          <a:p>
            <a:r>
              <a:t>PDF 文件页：130</a:t>
            </a:r>
          </a:p>
          <a:p>
            <a:r>
              <a:t>题目保留原题空白；未补充答案。文字为可编辑内容，图形保留原图线条。</a:t>
            </a:r>
          </a:p>
          <a:p>
            <a:r>
              <a:t>OCR 重点复核位置（请对照原讲义检查公式、上下标和字符）：</a:t>
            </a:r>
          </a:p>
          <a:p>
            <a:r>
              <a:t>P128：④</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原题定位：知识点2氯气的制备 / 变式 3 / 单选题</a:t>
            </a:r>
          </a:p>
          <a:p>
            <a:r>
              <a:t>讲义印刷页：P128</a:t>
            </a:r>
          </a:p>
          <a:p>
            <a:r>
              <a:t>PDF 文件页：130</a:t>
            </a:r>
          </a:p>
          <a:p>
            <a:r>
              <a:t>题目保留原题空白；未补充答案。文字为可编辑内容，图形保留原图线条。</a:t>
            </a:r>
          </a:p>
          <a:p>
            <a:r>
              <a:t>OCR 重点复核位置（请对照原讲义检查公式、上下标和字符）：</a:t>
            </a:r>
          </a:p>
          <a:p>
            <a:r>
              <a:t>P128：元</a:t>
            </a:r>
          </a:p>
          <a:p>
            <a:r>
              <a:t>P128：荒</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原题定位：知识点2氯气的制备 / 变式 4 / 填空题</a:t>
            </a:r>
          </a:p>
          <a:p>
            <a:r>
              <a:t>讲义印刷页：P128</a:t>
            </a:r>
          </a:p>
          <a:p>
            <a:r>
              <a:t>PDF 文件页：130</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P128：NHD</a:t>
            </a:r>
          </a:p>
          <a:p>
            <a:r>
              <a:t>P128：CCl₄</a:t>
            </a:r>
          </a:p>
          <a:p>
            <a:r>
              <a:t>P128：IV......</a:t>
            </a:r>
          </a:p>
          <a:p>
            <a:r>
              <a:t>P128：o</a:t>
            </a:r>
          </a:p>
          <a:p>
            <a:r>
              <a:t>P128：O</a:t>
            </a:r>
          </a:p>
          <a:p>
            <a:r>
              <a:t>P128：o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原题定位：知识点2氯气的制备 / 变式 5 / 单选题</a:t>
            </a:r>
          </a:p>
          <a:p>
            <a:r>
              <a:t>讲义印刷页：P129</a:t>
            </a:r>
          </a:p>
          <a:p>
            <a:r>
              <a:t>PDF 文件页：131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原题定位：知识点2氯气的制备 / 变式 6 / 解答题</a:t>
            </a:r>
          </a:p>
          <a:p>
            <a:r>
              <a:t>讲义印刷页：P129</a:t>
            </a:r>
          </a:p>
          <a:p>
            <a:r>
              <a:t>PDF 文件页：131</a:t>
            </a:r>
          </a:p>
          <a:p>
            <a:r>
              <a:t>题目保留原题空白；未补充答案。文字为可编辑内容，图形保留原图线条。</a:t>
            </a:r>
          </a:p>
          <a:p>
            <a:r>
              <a:t>排版提示：本题原文较长，按要求保持一题一页；可按教学需要自行调整字号与布局。</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原题定位：知识点2氯气的制备 / 变式 7 / 解答题</a:t>
            </a:r>
          </a:p>
          <a:p>
            <a:r>
              <a:t>讲义印刷页：P130</a:t>
            </a:r>
          </a:p>
          <a:p>
            <a:r>
              <a:t>PDF 文件页：132</a:t>
            </a:r>
          </a:p>
          <a:p>
            <a:r>
              <a:t>题目保留原题空白；未补充答案。文字为可编辑内容，图形保留原图线条。</a:t>
            </a:r>
          </a:p>
          <a:p>
            <a:r>
              <a:t>OCR 重点复核位置（请对照原讲义检查公式、上下标和字符）：</a:t>
            </a:r>
          </a:p>
          <a:p>
            <a:r>
              <a:t>P130：引</a:t>
            </a:r>
          </a:p>
          <a:p>
            <a:r>
              <a:t>P130：前</a:t>
            </a:r>
          </a:p>
          <a:p>
            <a:r>
              <a:t>P130：一</a:t>
            </a:r>
          </a:p>
          <a:p>
            <a:r>
              <a:t>P130：一</a:t>
            </a:r>
          </a:p>
          <a:p>
            <a:r>
              <a:t>P130：0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P131；PDF 文件第 133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原题定位：知识点3氯气的计算 / 例题 1 / 单选题</a:t>
            </a:r>
          </a:p>
          <a:p>
            <a:r>
              <a:t>讲义印刷页：P131</a:t>
            </a:r>
          </a:p>
          <a:p>
            <a:r>
              <a:t>PDF 文件页：133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原题定位：知识点3氯气的计算 / 例题 2 / 填空题</a:t>
            </a:r>
          </a:p>
          <a:p>
            <a:r>
              <a:t>讲义印刷页：P131</a:t>
            </a:r>
          </a:p>
          <a:p>
            <a:r>
              <a:t>PDF 文件页：133</a:t>
            </a:r>
          </a:p>
          <a:p>
            <a:r>
              <a:t>题目保留原题空白；未补充答案。文字为可编辑内容，图形保留原图线条。</a:t>
            </a:r>
          </a:p>
          <a:p>
            <a:r>
              <a:t>OCR 重点复核位置（请对照原讲义检查公式、上下标和字符）：</a:t>
            </a:r>
          </a:p>
          <a:p>
            <a:r>
              <a:t>P131：o</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原题定位：知识点3氯气的计算 / 例题 3 / 单选题</a:t>
            </a:r>
          </a:p>
          <a:p>
            <a:r>
              <a:t>讲义印刷页：P131</a:t>
            </a:r>
          </a:p>
          <a:p>
            <a:r>
              <a:t>PDF 文件页：133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P132；PDF 文件第 134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原题定位：知识点3氯气的计算 / 例题 1 / 单选题</a:t>
            </a:r>
          </a:p>
          <a:p>
            <a:r>
              <a:t>讲义印刷页：P132</a:t>
            </a:r>
          </a:p>
          <a:p>
            <a:r>
              <a:t>PDF 文件页：134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原题定位：知识点3氯气的计算 / 例题 2 / 单选题</a:t>
            </a:r>
          </a:p>
          <a:p>
            <a:r>
              <a:t>讲义印刷页：P132</a:t>
            </a:r>
          </a:p>
          <a:p>
            <a:r>
              <a:t>PDF 文件页：134</a:t>
            </a:r>
          </a:p>
          <a:p>
            <a:r>
              <a:t>题目保留原题空白；未补充答案。文字为可编辑内容，图形保留原图线条。</a:t>
            </a:r>
          </a:p>
          <a:p>
            <a:r>
              <a:t>OCR 重点复核位置（请对照原讲义检查公式、上下标和字符）：</a:t>
            </a:r>
          </a:p>
          <a:p>
            <a:r>
              <a:t>P132：（）</a:t>
            </a:r>
          </a:p>
          <a:p>
            <a:r>
              <a:t>P132：C₁O⁻</a:t>
            </a:r>
          </a:p>
          <a:p>
            <a:r>
              <a:t>P132：-C₁O₃</a:t>
            </a:r>
          </a:p>
          <a:p>
            <a:r>
              <a:t>P132：t</a:t>
            </a:r>
          </a:p>
          <a:p>
            <a:r>
              <a:t>P132：t2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原题定位：知识点3氯气的计算 / 例题 3 / 单选题</a:t>
            </a:r>
          </a:p>
          <a:p>
            <a:r>
              <a:t>讲义印刷页：P132</a:t>
            </a:r>
          </a:p>
          <a:p>
            <a:r>
              <a:t>PDF 文件页：134</a:t>
            </a:r>
          </a:p>
          <a:p>
            <a:r>
              <a:t>题目保留原题空白；未补充答案。文字为可编辑内容，图形保留原图线条。</a:t>
            </a:r>
          </a:p>
          <a:p>
            <a:r>
              <a:t>OCR 重点复核位置（请对照原讲义检查公式、上下标和字符）：</a:t>
            </a:r>
          </a:p>
          <a:p>
            <a:r>
              <a:t>P132：ClO₃</a:t>
            </a:r>
          </a:p>
          <a:p>
            <a:r>
              <a:t>P132：t1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原题定位：知识点3氯气的计算 / 例题 4 / 单选题</a:t>
            </a:r>
          </a:p>
          <a:p>
            <a:r>
              <a:t>讲义印刷页：P133</a:t>
            </a:r>
          </a:p>
          <a:p>
            <a:r>
              <a:t>PDF 文件页：135</a:t>
            </a:r>
          </a:p>
          <a:p>
            <a:r>
              <a:t>题目保留原题空白；未补充答案。文字为可编辑内容，图形保留原图线条。</a:t>
            </a:r>
          </a:p>
          <a:p>
            <a:r>
              <a:t>OCR 重点复核位置（请对照原讲义检查公式、上下标和字符）：</a:t>
            </a:r>
          </a:p>
          <a:p>
            <a:r>
              <a:t>P133：B. n (Na+)： n (Cl) 可能为7: 3</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原题定位：知识点3氯气的计算 / 例题 5 / 解答题</a:t>
            </a:r>
          </a:p>
          <a:p>
            <a:r>
              <a:t>讲义印刷页：P133</a:t>
            </a:r>
          </a:p>
          <a:p>
            <a:r>
              <a:t>PDF 文件页：135</a:t>
            </a:r>
          </a:p>
          <a:p>
            <a:r>
              <a:t>题目保留原题空白；未补充答案。文字为可编辑内容，图形保留原图线条。</a:t>
            </a:r>
          </a:p>
          <a:p>
            <a:r>
              <a:t>OCR 重点复核位置（请对照原讲义检查公式、上下标和字符）：</a:t>
            </a:r>
          </a:p>
          <a:p>
            <a:r>
              <a:t>P133：o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6.png"/><Relationship Id="rId4"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7.png"/><Relationship Id="rId4"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8.png"/><Relationship Id="rId4"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9.png"/><Relationship Id="rId4"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2.png"/><Relationship Id="rId4"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3.png"/><Relationship Id="rId4"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4.png"/><Relationship Id="rId4"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氯气"/>
          <p:cNvSpPr txBox="1"/>
          <p:nvPr/>
        </p:nvSpPr>
        <p:spPr>
          <a:xfrm>
            <a:off x="713232" y="2103120"/>
            <a:ext cx="10744200" cy="1234440"/>
          </a:xfrm>
          <a:prstGeom prst="rect">
            <a:avLst/>
          </a:prstGeom>
          <a:noFill/>
        </p:spPr>
        <p:txBody>
          <a:bodyPr wrap="square" lIns="0" rIns="0" tIns="0" bIns="0">
            <a:spAutoFit/>
          </a:bodyPr>
          <a:lstStyle/>
          <a:p>
            <a:pPr>
              <a:lnSpc>
                <a:spcPct val="112000"/>
              </a:lnSpc>
              <a:spcBef>
                <a:spcPts val="0"/>
              </a:spcBef>
              <a:spcAft>
                <a:spcPts val="0"/>
              </a:spcAft>
              <a:defRPr sz="4400" b="1">
                <a:solidFill>
                  <a:srgbClr val="F1922F"/>
                </a:solidFill>
                <a:latin typeface="微软雅黑"/>
              </a:defRPr>
            </a:pPr>
            <a:r>
              <a:rPr>
                <a:ea typeface="微软雅黑"/>
              </a:rPr>
              <a:t>氯气</a:t>
            </a:r>
          </a:p>
        </p:txBody>
      </p:sp>
      <p:sp>
        <p:nvSpPr>
          <p:cNvPr id="4" name="文字_第 05 章  ·  高一化学"/>
          <p:cNvSpPr txBox="1"/>
          <p:nvPr/>
        </p:nvSpPr>
        <p:spPr>
          <a:xfrm>
            <a:off x="777240" y="1517904"/>
            <a:ext cx="10058400" cy="457200"/>
          </a:xfrm>
          <a:prstGeom prst="rect">
            <a:avLst/>
          </a:prstGeom>
          <a:noFill/>
        </p:spPr>
        <p:txBody>
          <a:bodyPr wrap="square" lIns="0" rIns="0" tIns="0" bIns="0">
            <a:spAutoFit/>
          </a:bodyPr>
          <a:lstStyle/>
          <a:p>
            <a:pPr>
              <a:lnSpc>
                <a:spcPct val="112000"/>
              </a:lnSpc>
              <a:spcBef>
                <a:spcPts val="0"/>
              </a:spcBef>
              <a:spcAft>
                <a:spcPts val="0"/>
              </a:spcAft>
              <a:defRPr sz="2400" b="0">
                <a:solidFill>
                  <a:srgbClr val="777777"/>
                </a:solidFill>
                <a:latin typeface="微软雅黑"/>
              </a:defRPr>
            </a:pPr>
            <a:r>
              <a:rPr>
                <a:ea typeface="微软雅黑"/>
              </a:rPr>
              <a:t>第 05 章  ·  高一化学</a:t>
            </a:r>
          </a:p>
        </p:txBody>
      </p:sp>
      <p:sp>
        <p:nvSpPr>
          <p:cNvPr id="5" name="文字_知识讲解  ·  例题与变式  ·  综合练习"/>
          <p:cNvSpPr txBox="1"/>
          <p:nvPr/>
        </p:nvSpPr>
        <p:spPr>
          <a:xfrm>
            <a:off x="777240" y="3474720"/>
            <a:ext cx="10607040" cy="548640"/>
          </a:xfrm>
          <a:prstGeom prst="rect">
            <a:avLst/>
          </a:prstGeom>
          <a:noFill/>
        </p:spPr>
        <p:txBody>
          <a:bodyPr wrap="square" lIns="0" rIns="0" tIns="0" bIns="0">
            <a:spAutoFit/>
          </a:bodyPr>
          <a:lstStyle/>
          <a:p>
            <a:pPr>
              <a:lnSpc>
                <a:spcPct val="112000"/>
              </a:lnSpc>
              <a:spcBef>
                <a:spcPts val="0"/>
              </a:spcBef>
              <a:spcAft>
                <a:spcPts val="0"/>
              </a:spcAft>
              <a:defRPr sz="2600" b="0">
                <a:solidFill>
                  <a:srgbClr val="333333"/>
                </a:solidFill>
                <a:latin typeface="微软雅黑"/>
              </a:defRPr>
            </a:pPr>
            <a:r>
              <a:rPr>
                <a:ea typeface="微软雅黑"/>
              </a:rPr>
              <a:t>知识讲解  ·  例题与变式  ·  综合练习</a:t>
            </a:r>
          </a:p>
        </p:txBody>
      </p:sp>
      <p:sp>
        <p:nvSpPr>
          <p:cNvPr id="6" name="文字_讲义 P117–133"/>
          <p:cNvSpPr txBox="1"/>
          <p:nvPr/>
        </p:nvSpPr>
        <p:spPr>
          <a:xfrm>
            <a:off x="804672" y="4892040"/>
            <a:ext cx="10058400" cy="457200"/>
          </a:xfrm>
          <a:prstGeom prst="rect">
            <a:avLst/>
          </a:prstGeom>
          <a:noFill/>
        </p:spPr>
        <p:txBody>
          <a:bodyPr wrap="square" lIns="0" rIns="0" tIns="0" bIns="0">
            <a:spAutoFit/>
          </a:bodyPr>
          <a:lstStyle/>
          <a:p>
            <a:pPr>
              <a:lnSpc>
                <a:spcPct val="112000"/>
              </a:lnSpc>
              <a:spcBef>
                <a:spcPts val="0"/>
              </a:spcBef>
              <a:spcAft>
                <a:spcPts val="0"/>
              </a:spcAft>
              <a:defRPr sz="2000" b="0">
                <a:solidFill>
                  <a:srgbClr val="777777"/>
                </a:solidFill>
                <a:latin typeface="微软雅黑"/>
              </a:defRPr>
            </a:pPr>
            <a:r>
              <a:rPr>
                <a:ea typeface="微软雅黑"/>
              </a:rPr>
              <a:t>讲义 P117–133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1"/>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01</a:t>
            </a:r>
          </a:p>
        </p:txBody>
      </p:sp>
      <p:sp>
        <p:nvSpPr>
          <p:cNvPr id="4" name="文字_氯气：物理性质与金属反应"/>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氯气：物理性质与金属反应</a:t>
            </a:r>
          </a:p>
        </p:txBody>
      </p:sp>
      <p:sp>
        <p:nvSpPr>
          <p:cNvPr id="5" name="文字_知识梳理 · 讲义 P117"/>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P117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氯气：物理性质与金属反应"/>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氯气：物理性质与金属反应</a:t>
            </a:r>
          </a:p>
        </p:txBody>
      </p:sp>
      <p:sp>
        <p:nvSpPr>
          <p:cNvPr id="5" name="文字_知识讲解 · P117"/>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P117</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Cl₂ 为黄绿色、有刺激性气味的有毒气体，密度比"/>
          <p:cNvSpPr txBox="1"/>
          <p:nvPr/>
        </p:nvSpPr>
        <p:spPr>
          <a:xfrm>
            <a:off x="722376" y="177393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Cl₂ 为黄绿色、有刺激性气味的有毒气体，密度比空气大，能溶于水，易溶于某</a:t>
            </a:r>
          </a:p>
          <a:p>
            <a:pPr>
              <a:lnSpc>
                <a:spcPct val="112000"/>
              </a:lnSpc>
              <a:spcBef>
                <a:spcPts val="0"/>
              </a:spcBef>
              <a:spcAft>
                <a:spcPts val="0"/>
              </a:spcAft>
              <a:defRPr sz="2400" b="0">
                <a:solidFill>
                  <a:srgbClr val="333333"/>
                </a:solidFill>
                <a:latin typeface="微软雅黑"/>
              </a:defRPr>
            </a:pPr>
            <a:r>
              <a:rPr>
                <a:ea typeface="微软雅黑"/>
              </a:rPr>
              <a:t>些有机溶剂。</a:t>
            </a:r>
          </a:p>
        </p:txBody>
      </p:sp>
      <p:sp>
        <p:nvSpPr>
          <p:cNvPr id="8" name="Rectangle 7"/>
          <p:cNvSpPr/>
          <p:nvPr/>
        </p:nvSpPr>
        <p:spPr>
          <a:xfrm>
            <a:off x="512064" y="281025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2Na + Cl₂ —点燃→ 2NaCl：生成白"/>
          <p:cNvSpPr txBox="1"/>
          <p:nvPr/>
        </p:nvSpPr>
        <p:spPr>
          <a:xfrm>
            <a:off x="722376" y="272796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2Na + Cl₂ —点燃→ 2NaCl：生成白烟。</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Cu + Cl₂ —点燃→ CuCl₂：生成棕黄"/>
          <p:cNvSpPr txBox="1"/>
          <p:nvPr/>
        </p:nvSpPr>
        <p:spPr>
          <a:xfrm>
            <a:off x="722376" y="3310128"/>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Cu + Cl₂ —点燃→ CuCl₂：生成棕黄色烟。</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2Fe + 3Cl₂ —点燃→ 2FeCl₃：生"/>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2Fe + 3Cl₂ —点燃→ 2FeCl₃：生成棕褐色烟。</a:t>
            </a:r>
          </a:p>
        </p:txBody>
      </p:sp>
      <p:sp>
        <p:nvSpPr>
          <p:cNvPr id="14" name="Rectangle 13"/>
          <p:cNvSpPr/>
          <p:nvPr/>
        </p:nvSpPr>
        <p:spPr>
          <a:xfrm>
            <a:off x="512064" y="455676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Cl₂ 氧化性较强，与 Fe、Cu 反应分别生成"/>
          <p:cNvSpPr txBox="1"/>
          <p:nvPr/>
        </p:nvSpPr>
        <p:spPr>
          <a:xfrm>
            <a:off x="722376" y="447446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Cl₂ 氧化性较强，与 Fe、Cu 反应分别生成 FeCl₃、CuCl₂。</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氢气燃烧与氯水的组成"/>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氢气燃烧与氯水的组成</a:t>
            </a:r>
          </a:p>
        </p:txBody>
      </p:sp>
      <p:sp>
        <p:nvSpPr>
          <p:cNvPr id="5" name="文字_知识讲解 · P117"/>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P117</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H₂ + Cl₂ —点燃→ 2HCl：苍白色火焰"/>
          <p:cNvSpPr txBox="1"/>
          <p:nvPr/>
        </p:nvSpPr>
        <p:spPr>
          <a:xfrm>
            <a:off x="722376" y="177393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H₂ + Cl₂ —点燃→ 2HCl：苍白色火焰，瓶口可形成白雾；混合气受强光照射</a:t>
            </a:r>
          </a:p>
          <a:p>
            <a:pPr>
              <a:lnSpc>
                <a:spcPct val="112000"/>
              </a:lnSpc>
              <a:spcBef>
                <a:spcPts val="0"/>
              </a:spcBef>
              <a:spcAft>
                <a:spcPts val="0"/>
              </a:spcAft>
              <a:defRPr sz="2400" b="0">
                <a:solidFill>
                  <a:srgbClr val="333333"/>
                </a:solidFill>
                <a:latin typeface="微软雅黑"/>
              </a:defRPr>
            </a:pPr>
            <a:r>
              <a:rPr>
                <a:ea typeface="微软雅黑"/>
              </a:rPr>
              <a:t>可能剧烈反应。</a:t>
            </a:r>
          </a:p>
        </p:txBody>
      </p:sp>
      <p:sp>
        <p:nvSpPr>
          <p:cNvPr id="8" name="Rectangle 7"/>
          <p:cNvSpPr/>
          <p:nvPr/>
        </p:nvSpPr>
        <p:spPr>
          <a:xfrm>
            <a:off x="512064" y="281025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Cl₂ + H₂O ⇌ HCl + HClO。"/>
          <p:cNvSpPr txBox="1"/>
          <p:nvPr/>
        </p:nvSpPr>
        <p:spPr>
          <a:xfrm>
            <a:off x="722376" y="272796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Cl₂ + H₂O ⇌ HCl + HClO。</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新制氯水中的分子：Cl₂、HClO、H₂O。"/>
          <p:cNvSpPr txBox="1"/>
          <p:nvPr/>
        </p:nvSpPr>
        <p:spPr>
          <a:xfrm>
            <a:off x="722376" y="3310128"/>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新制氯水中的分子：Cl₂、HClO、H₂O。</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新制氯水中的离子：H⁺、Cl⁻、ClO⁻、少量 "/>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新制氯水中的离子：H⁺、Cl⁻、ClO⁻、少量 OH⁻。</a:t>
            </a:r>
          </a:p>
        </p:txBody>
      </p:sp>
      <p:sp>
        <p:nvSpPr>
          <p:cNvPr id="14" name="Rectangle 13"/>
          <p:cNvSpPr/>
          <p:nvPr/>
        </p:nvSpPr>
        <p:spPr>
          <a:xfrm>
            <a:off x="512064" y="455676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液氯是纯净物，氯水是混合物；见光久置后氯水中的 "/>
          <p:cNvSpPr txBox="1"/>
          <p:nvPr/>
        </p:nvSpPr>
        <p:spPr>
          <a:xfrm>
            <a:off x="722376" y="4474464"/>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液氯是纯净物，氯水是混合物；见光久置后氯水中的 HClO 分解，性质发生变</a:t>
            </a:r>
          </a:p>
          <a:p>
            <a:pPr>
              <a:lnSpc>
                <a:spcPct val="112000"/>
              </a:lnSpc>
              <a:spcBef>
                <a:spcPts val="0"/>
              </a:spcBef>
              <a:spcAft>
                <a:spcPts val="0"/>
              </a:spcAft>
              <a:defRPr sz="2400" b="0">
                <a:solidFill>
                  <a:srgbClr val="333333"/>
                </a:solidFill>
                <a:latin typeface="微软雅黑"/>
              </a:defRPr>
            </a:pPr>
            <a:r>
              <a:rPr>
                <a:ea typeface="微软雅黑"/>
              </a:rPr>
              <a:t>化。</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次氯酸的三条性质"/>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次氯酸的三条性质</a:t>
            </a:r>
          </a:p>
        </p:txBody>
      </p:sp>
      <p:sp>
        <p:nvSpPr>
          <p:cNvPr id="5" name="文字_知识讲解 · P117"/>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P117</a:t>
            </a:r>
          </a:p>
        </p:txBody>
      </p:sp>
      <p:graphicFrame>
        <p:nvGraphicFramePr>
          <p:cNvPr id="6" name="Table 5"/>
          <p:cNvGraphicFramePr>
            <a:graphicFrameLocks noGrp="1"/>
          </p:cNvGraphicFramePr>
          <p:nvPr/>
        </p:nvGraphicFramePr>
        <p:xfrm>
          <a:off x="502920" y="1773936"/>
          <a:ext cx="11109960" cy="1942592"/>
        </p:xfrm>
        <a:graphic>
          <a:graphicData uri="http://schemas.openxmlformats.org/drawingml/2006/table">
            <a:tbl>
              <a:tblPr firstRow="1" bandRow="1">
                <a:tableStyleId>{5C22544A-7EE6-4342-B048-85BDC9FD1C3A}</a:tableStyleId>
              </a:tblPr>
              <a:tblGrid>
                <a:gridCol w="5554980"/>
                <a:gridCol w="5554980"/>
              </a:tblGrid>
              <a:tr h="485648">
                <a:tc>
                  <a:txBody>
                    <a:bodyPr/>
                    <a:lstStyle/>
                    <a:p>
                      <a:pPr>
                        <a:defRPr sz="2000" b="1">
                          <a:solidFill>
                            <a:srgbClr val="FFFFFF"/>
                          </a:solidFill>
                          <a:latin typeface="微软雅黑"/>
                        </a:defRPr>
                      </a:pPr>
                      <a:r>
                        <a:t>性质</a:t>
                      </a:r>
                    </a:p>
                  </a:txBody>
                  <a:tcPr marL="91440" marR="91440" marT="45720" marB="45720" anchor="ctr">
                    <a:solidFill>
                      <a:srgbClr val="F1922F"/>
                    </a:solidFill>
                  </a:tcPr>
                </a:tc>
                <a:tc>
                  <a:txBody>
                    <a:bodyPr/>
                    <a:lstStyle/>
                    <a:p>
                      <a:pPr>
                        <a:defRPr sz="2000" b="1">
                          <a:solidFill>
                            <a:srgbClr val="FFFFFF"/>
                          </a:solidFill>
                          <a:latin typeface="微软雅黑"/>
                        </a:defRPr>
                      </a:pPr>
                      <a:r>
                        <a:t>表现与结论</a:t>
                      </a:r>
                    </a:p>
                  </a:txBody>
                  <a:tcPr marL="91440" marR="91440" marT="45720" marB="45720" anchor="ctr">
                    <a:solidFill>
                      <a:srgbClr val="F1922F"/>
                    </a:solidFill>
                  </a:tcPr>
                </a:tc>
              </a:tr>
              <a:tr h="485648">
                <a:tc>
                  <a:txBody>
                    <a:bodyPr/>
                    <a:lstStyle/>
                    <a:p>
                      <a:pPr>
                        <a:defRPr sz="2000" b="0">
                          <a:solidFill>
                            <a:srgbClr val="333333"/>
                          </a:solidFill>
                          <a:latin typeface="微软雅黑"/>
                        </a:defRPr>
                      </a:pPr>
                      <a:r>
                        <a:t>弱酸性</a:t>
                      </a:r>
                    </a:p>
                  </a:txBody>
                  <a:tcPr marL="91440" marR="91440" marT="45720" marB="45720" anchor="ctr">
                    <a:solidFill>
                      <a:srgbClr val="FDF2E3"/>
                    </a:solidFill>
                  </a:tcPr>
                </a:tc>
                <a:tc>
                  <a:txBody>
                    <a:bodyPr/>
                    <a:lstStyle/>
                    <a:p>
                      <a:pPr>
                        <a:defRPr sz="2000" b="0">
                          <a:solidFill>
                            <a:srgbClr val="333333"/>
                          </a:solidFill>
                          <a:latin typeface="微软雅黑"/>
                        </a:defRPr>
                      </a:pPr>
                      <a:r>
                        <a:t>HClO 是弱酸，酸性弱于碳酸</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强氧化性</a:t>
                      </a:r>
                    </a:p>
                  </a:txBody>
                  <a:tcPr marL="91440" marR="91440" marT="45720" marB="45720" anchor="ctr">
                    <a:solidFill>
                      <a:srgbClr val="FFFFFF"/>
                    </a:solidFill>
                  </a:tcPr>
                </a:tc>
                <a:tc>
                  <a:txBody>
                    <a:bodyPr/>
                    <a:lstStyle/>
                    <a:p>
                      <a:pPr>
                        <a:defRPr sz="2000" b="0">
                          <a:solidFill>
                            <a:srgbClr val="333333"/>
                          </a:solidFill>
                          <a:latin typeface="微软雅黑"/>
                        </a:defRPr>
                      </a:pPr>
                      <a:r>
                        <a:t>可漂白、杀菌消毒；湿润有色布条褪色</a:t>
                      </a:r>
                    </a:p>
                  </a:txBody>
                  <a:tcPr marL="91440" marR="91440" marT="45720" marB="45720" anchor="ctr">
                    <a:solidFill>
                      <a:srgbClr val="FFFFFF"/>
                    </a:solidFill>
                  </a:tcPr>
                </a:tc>
              </a:tr>
              <a:tr h="485648">
                <a:tc>
                  <a:txBody>
                    <a:bodyPr/>
                    <a:lstStyle/>
                    <a:p>
                      <a:pPr>
                        <a:defRPr sz="2000" b="0">
                          <a:solidFill>
                            <a:srgbClr val="333333"/>
                          </a:solidFill>
                          <a:latin typeface="微软雅黑"/>
                        </a:defRPr>
                      </a:pPr>
                      <a:r>
                        <a:t>不稳定性</a:t>
                      </a:r>
                    </a:p>
                  </a:txBody>
                  <a:tcPr marL="91440" marR="91440" marT="45720" marB="45720" anchor="ctr">
                    <a:solidFill>
                      <a:srgbClr val="FDF2E3"/>
                    </a:solidFill>
                  </a:tcPr>
                </a:tc>
                <a:tc>
                  <a:txBody>
                    <a:bodyPr/>
                    <a:lstStyle/>
                    <a:p>
                      <a:pPr>
                        <a:defRPr sz="2000" b="0">
                          <a:solidFill>
                            <a:srgbClr val="333333"/>
                          </a:solidFill>
                          <a:latin typeface="微软雅黑"/>
                        </a:defRPr>
                      </a:pPr>
                      <a:r>
                        <a:t>2HClO —光照→ 2HCl + O₂↑</a:t>
                      </a:r>
                    </a:p>
                  </a:txBody>
                  <a:tcPr marL="91440" marR="91440" marT="45720" marB="45720" anchor="ctr">
                    <a:solidFill>
                      <a:srgbClr val="FDF2E3"/>
                    </a:solidFill>
                  </a:tcPr>
                </a:tc>
              </a:tr>
            </a:tbl>
          </a:graphicData>
        </a:graphic>
      </p:graphicFrame>
      <p:sp>
        <p:nvSpPr>
          <p:cNvPr id="7" name="Rectangle 6"/>
          <p:cNvSpPr/>
          <p:nvPr/>
        </p:nvSpPr>
        <p:spPr>
          <a:xfrm>
            <a:off x="493776" y="3853688"/>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文字_提示  干燥 Cl₂ 不能使干燥有色布条褪色；氯"/>
          <p:cNvSpPr txBox="1"/>
          <p:nvPr/>
        </p:nvSpPr>
        <p:spPr>
          <a:xfrm>
            <a:off x="630936" y="3913124"/>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干燥 Cl₂ 不能使干燥有色布条褪色；氯水保存在棕色试剂瓶中，避光、密封。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漂白液、漂白粉与反应条件"/>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漂白液、漂白粉与反应条件</a:t>
            </a:r>
          </a:p>
        </p:txBody>
      </p:sp>
      <p:sp>
        <p:nvSpPr>
          <p:cNvPr id="5" name="文字_知识讲解 · P117"/>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P117</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Cl₂ + 2NaOH = NaCl + NaC"/>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Cl₂ + 2NaOH = NaCl + NaClO + H₂O。漂白液有效成分为 NaClO。</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2Cl₂ + 2Ca(OH)₂ = CaCl₂ "/>
          <p:cNvSpPr txBox="1"/>
          <p:nvPr/>
        </p:nvSpPr>
        <p:spPr>
          <a:xfrm>
            <a:off x="722376" y="2356104"/>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2Cl₂ + 2Ca(OH)₂ = CaCl₂ + Ca(ClO)₂ + 2H₂O。漂白粉有效成分为 </a:t>
            </a:r>
          </a:p>
          <a:p>
            <a:pPr>
              <a:lnSpc>
                <a:spcPct val="112000"/>
              </a:lnSpc>
              <a:spcBef>
                <a:spcPts val="0"/>
              </a:spcBef>
              <a:spcAft>
                <a:spcPts val="0"/>
              </a:spcAft>
              <a:defRPr sz="2400" b="0">
                <a:solidFill>
                  <a:srgbClr val="333333"/>
                </a:solidFill>
                <a:latin typeface="微软雅黑"/>
              </a:defRPr>
            </a:pPr>
            <a:r>
              <a:rPr>
                <a:ea typeface="微软雅黑"/>
              </a:rPr>
              <a:t>Ca(ClO)₂。</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Ca(ClO)₂ + CO₂ + H₂O = C"/>
          <p:cNvSpPr txBox="1"/>
          <p:nvPr/>
        </p:nvSpPr>
        <p:spPr>
          <a:xfrm>
            <a:off x="722376" y="3310128"/>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Ca(ClO)₂ + CO₂ + H₂O = CaCO₃↓ + 2HClO，生成的 HClO 发挥漂白作用</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12" name="Rectangle 11"/>
          <p:cNvSpPr/>
          <p:nvPr/>
        </p:nvSpPr>
        <p:spPr>
          <a:xfrm>
            <a:off x="512064" y="434644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氯气与热的浓碱反应可生成氯酸盐：3Cl₂ + 6"/>
          <p:cNvSpPr txBox="1"/>
          <p:nvPr/>
        </p:nvSpPr>
        <p:spPr>
          <a:xfrm>
            <a:off x="722376" y="4264152"/>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氯气与热的浓碱反应可生成氯酸盐：3Cl₂ + 6NaOH = 5NaCl + NaClO₃ + </a:t>
            </a:r>
          </a:p>
          <a:p>
            <a:pPr>
              <a:lnSpc>
                <a:spcPct val="112000"/>
              </a:lnSpc>
              <a:spcBef>
                <a:spcPts val="0"/>
              </a:spcBef>
              <a:spcAft>
                <a:spcPts val="0"/>
              </a:spcAft>
              <a:defRPr sz="2400" b="0">
                <a:solidFill>
                  <a:srgbClr val="333333"/>
                </a:solidFill>
                <a:latin typeface="微软雅黑"/>
              </a:defRPr>
            </a:pPr>
            <a:r>
              <a:rPr>
                <a:ea typeface="微软雅黑"/>
              </a:rPr>
              <a:t>3H₂O。</a:t>
            </a:r>
          </a:p>
        </p:txBody>
      </p:sp>
      <p:sp>
        <p:nvSpPr>
          <p:cNvPr id="14" name="Rectangle 13"/>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提示  含氯漂白剂不能与酸性清洁剂混用；酸化次氯"/>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含氯漂白剂不能与酸性清洁剂混用；酸化次氯酸盐可能释放氯气。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例题1</a:t>
            </a:r>
          </a:p>
        </p:txBody>
      </p:sp>
      <p:sp>
        <p:nvSpPr>
          <p:cNvPr id="5" name="文字_P11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P119</a:t>
            </a:r>
          </a:p>
        </p:txBody>
      </p:sp>
      <p:sp>
        <p:nvSpPr>
          <p:cNvPr id="6" name="文字_下列关于氯的叙述中，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下列关于氯的叙述中，正确的是</a:t>
            </a:r>
          </a:p>
        </p:txBody>
      </p:sp>
      <p:sp>
        <p:nvSpPr>
          <p:cNvPr id="7" name="文字_A. 氯水属于纯净物"/>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氯水属于纯净物</a:t>
            </a:r>
          </a:p>
        </p:txBody>
      </p:sp>
      <p:sp>
        <p:nvSpPr>
          <p:cNvPr id="8" name="文字_B. 氯气是由氯原子组成的黄绿色气体"/>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氯气是由氯原子组成的黄绿色气体</a:t>
            </a:r>
          </a:p>
        </p:txBody>
      </p:sp>
      <p:sp>
        <p:nvSpPr>
          <p:cNvPr id="9" name="文字_C. 铁在氯气中燃烧生成氯化亚铁"/>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铁在氯气中燃烧生成氯化亚铁</a:t>
            </a:r>
          </a:p>
        </p:txBody>
      </p:sp>
      <p:sp>
        <p:nvSpPr>
          <p:cNvPr id="10" name="文字_D. 向氯水中滴入几滴石蕊溶液，溶液先变红后褪色"/>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向氯水中滴入几滴石蕊溶液，溶液先变红后褪色</a:t>
            </a:r>
          </a:p>
        </p:txBody>
      </p:sp>
      <p:sp>
        <p:nvSpPr>
          <p:cNvPr id="11" name="文字_单选题  ·  05-00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05-001</a:t>
            </a:r>
          </a:p>
        </p:txBody>
      </p:sp>
      <p:sp>
        <p:nvSpPr>
          <p:cNvPr id="12" name="文字_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例题2</a:t>
            </a:r>
          </a:p>
        </p:txBody>
      </p:sp>
      <p:sp>
        <p:nvSpPr>
          <p:cNvPr id="5" name="文字_P11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P119</a:t>
            </a:r>
          </a:p>
        </p:txBody>
      </p:sp>
      <p:sp>
        <p:nvSpPr>
          <p:cNvPr id="6" name="文字_在氯水中存在多种分子和离子，它们在不同的反应中表"/>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在氯水中存在多种分子和离子，它们在不同的反应中表现各自的性质.下列实验现象</a:t>
            </a:r>
          </a:p>
          <a:p>
            <a:pPr>
              <a:lnSpc>
                <a:spcPct val="112000"/>
              </a:lnSpc>
              <a:spcBef>
                <a:spcPts val="0"/>
              </a:spcBef>
              <a:spcAft>
                <a:spcPts val="0"/>
              </a:spcAft>
              <a:defRPr sz="2400" b="0">
                <a:solidFill>
                  <a:srgbClr val="333333"/>
                </a:solidFill>
                <a:latin typeface="微软雅黑"/>
              </a:defRPr>
            </a:pPr>
            <a:r>
              <a:rPr>
                <a:ea typeface="微软雅黑"/>
              </a:rPr>
              <a:t>和结论一致且正确的是</a:t>
            </a:r>
          </a:p>
        </p:txBody>
      </p:sp>
      <p:sp>
        <p:nvSpPr>
          <p:cNvPr id="7" name="文字_A. 用pH试纸测定氯水的酸性"/>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用pH试纸测定氯水的酸性</a:t>
            </a:r>
          </a:p>
        </p:txBody>
      </p:sp>
      <p:sp>
        <p:nvSpPr>
          <p:cNvPr id="8" name="文字_B. 新制氯水滴在蓝色石蕊试纸上，试纸先变红色后"/>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新制氯水滴在蓝色石蕊试纸上，试纸先变红色后褪色，说明Cl₂有漂白性</a:t>
            </a:r>
          </a:p>
        </p:txBody>
      </p:sp>
      <p:sp>
        <p:nvSpPr>
          <p:cNvPr id="9" name="文字_C. 向淀粉碘化钾溶液中加入氯水，溶液变为蓝色，"/>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向淀粉碘化钾溶液中加入氯水，溶液变为蓝色，可证明Cl₂的氧化性强于I₂</a:t>
            </a:r>
          </a:p>
        </p:txBody>
      </p:sp>
      <p:sp>
        <p:nvSpPr>
          <p:cNvPr id="10" name="文字_D. 加入NaOH溶液，氯水黄绿色消失，说明有H"/>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加入NaOH溶液，氯水黄绿色消失，说明有HClO分子存在</a:t>
            </a:r>
          </a:p>
        </p:txBody>
      </p:sp>
      <p:sp>
        <p:nvSpPr>
          <p:cNvPr id="11" name="文字_单选题  ·  05-00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05-002</a:t>
            </a:r>
          </a:p>
        </p:txBody>
      </p:sp>
      <p:sp>
        <p:nvSpPr>
          <p:cNvPr id="12" name="文字_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例题3</a:t>
            </a:r>
          </a:p>
        </p:txBody>
      </p:sp>
      <p:sp>
        <p:nvSpPr>
          <p:cNvPr id="5" name="文字_P11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P119</a:t>
            </a:r>
          </a:p>
        </p:txBody>
      </p:sp>
      <p:sp>
        <p:nvSpPr>
          <p:cNvPr id="6" name="文字_如图是一种检验某气体化学性质的实验装置，图中B为"/>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如图是一种检验某气体化学性质的实验装置，图中B为开关，如先打开B，在A处通</a:t>
            </a:r>
          </a:p>
          <a:p>
            <a:pPr>
              <a:lnSpc>
                <a:spcPct val="112000"/>
              </a:lnSpc>
              <a:spcBef>
                <a:spcPts val="0"/>
              </a:spcBef>
              <a:spcAft>
                <a:spcPts val="0"/>
              </a:spcAft>
              <a:defRPr sz="2400" b="0">
                <a:solidFill>
                  <a:srgbClr val="333333"/>
                </a:solidFill>
                <a:latin typeface="微软雅黑"/>
              </a:defRPr>
            </a:pPr>
            <a:r>
              <a:rPr>
                <a:ea typeface="微软雅黑"/>
              </a:rPr>
              <a:t>入干燥氯气，C中红色布条颜色无变化，当关闭B时，C处红色布条颜色褪去。则D</a:t>
            </a:r>
          </a:p>
          <a:p>
            <a:pPr>
              <a:lnSpc>
                <a:spcPct val="112000"/>
              </a:lnSpc>
              <a:spcBef>
                <a:spcPts val="0"/>
              </a:spcBef>
              <a:spcAft>
                <a:spcPts val="0"/>
              </a:spcAft>
              <a:defRPr sz="2400" b="0">
                <a:solidFill>
                  <a:srgbClr val="333333"/>
                </a:solidFill>
                <a:latin typeface="微软雅黑"/>
              </a:defRPr>
            </a:pPr>
            <a:r>
              <a:rPr>
                <a:ea typeface="微软雅黑"/>
              </a:rPr>
              <a:t>瓶中盛有的溶液是(</a:t>
            </a:r>
          </a:p>
        </p:txBody>
      </p:sp>
      <p:pic>
        <p:nvPicPr>
          <p:cNvPr id="7" name="Picture 6" descr="image.png"/>
          <p:cNvPicPr>
            <a:picLocks noChangeAspect="1"/>
          </p:cNvPicPr>
          <p:nvPr/>
        </p:nvPicPr>
        <p:blipFill>
          <a:blip r:embed="rId3"/>
          <a:stretch>
            <a:fillRect/>
          </a:stretch>
        </p:blipFill>
        <p:spPr>
          <a:xfrm>
            <a:off x="502920" y="2243328"/>
            <a:ext cx="11064240" cy="1653893"/>
          </a:xfrm>
          <a:prstGeom prst="rect">
            <a:avLst/>
          </a:prstGeom>
        </p:spPr>
      </p:pic>
      <p:sp>
        <p:nvSpPr>
          <p:cNvPr id="8" name="原题文字_119_35"/>
          <p:cNvSpPr txBox="1"/>
          <p:nvPr/>
        </p:nvSpPr>
        <p:spPr>
          <a:xfrm>
            <a:off x="5288490" y="2275211"/>
            <a:ext cx="299885" cy="218987"/>
          </a:xfrm>
          <a:prstGeom prst="rect">
            <a:avLst/>
          </a:prstGeom>
          <a:noFill/>
        </p:spPr>
        <p:txBody>
          <a:bodyPr wrap="none" lIns="0" rIns="0" tIns="0" bIns="0">
            <a:spAutoFit/>
          </a:bodyPr>
          <a:lstStyle/>
          <a:p>
            <a:pPr>
              <a:lnSpc>
                <a:spcPct val="112000"/>
              </a:lnSpc>
              <a:spcBef>
                <a:spcPts val="0"/>
              </a:spcBef>
              <a:spcAft>
                <a:spcPts val="0"/>
              </a:spcAft>
              <a:defRPr sz="1061" b="0">
                <a:solidFill>
                  <a:srgbClr val="333333"/>
                </a:solidFill>
                <a:latin typeface="微软雅黑"/>
              </a:defRPr>
            </a:pPr>
            <a:r>
              <a:rPr>
                <a:ea typeface="微软雅黑"/>
              </a:rPr>
              <a:t>B</a:t>
            </a:r>
          </a:p>
        </p:txBody>
      </p:sp>
      <p:sp>
        <p:nvSpPr>
          <p:cNvPr id="9" name="原题文字_119_36"/>
          <p:cNvSpPr txBox="1"/>
          <p:nvPr/>
        </p:nvSpPr>
        <p:spPr>
          <a:xfrm>
            <a:off x="6192006" y="3469690"/>
            <a:ext cx="299885"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D</a:t>
            </a:r>
          </a:p>
        </p:txBody>
      </p:sp>
      <p:sp>
        <p:nvSpPr>
          <p:cNvPr id="10" name="文字_A. 浓 H₂SO₄ 溶液"/>
          <p:cNvSpPr txBox="1"/>
          <p:nvPr/>
        </p:nvSpPr>
        <p:spPr>
          <a:xfrm>
            <a:off x="502920" y="397037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浓 H₂SO₄ 溶液</a:t>
            </a:r>
          </a:p>
        </p:txBody>
      </p:sp>
      <p:sp>
        <p:nvSpPr>
          <p:cNvPr id="11" name="文字_B. 饱和 NaCl 溶液"/>
          <p:cNvSpPr txBox="1"/>
          <p:nvPr/>
        </p:nvSpPr>
        <p:spPr>
          <a:xfrm>
            <a:off x="502920" y="440928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饱和 NaCl 溶液</a:t>
            </a:r>
          </a:p>
        </p:txBody>
      </p:sp>
      <p:sp>
        <p:nvSpPr>
          <p:cNvPr id="12" name="文字_C. 浓 NaOH 溶液"/>
          <p:cNvSpPr txBox="1"/>
          <p:nvPr/>
        </p:nvSpPr>
        <p:spPr>
          <a:xfrm>
            <a:off x="502920" y="484819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浓 NaOH 溶液</a:t>
            </a:r>
          </a:p>
        </p:txBody>
      </p:sp>
      <p:sp>
        <p:nvSpPr>
          <p:cNvPr id="13" name="文字_D. 浓 NaBr 溶液"/>
          <p:cNvSpPr txBox="1"/>
          <p:nvPr/>
        </p:nvSpPr>
        <p:spPr>
          <a:xfrm>
            <a:off x="502920" y="528710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浓 NaBr 溶液</a:t>
            </a:r>
          </a:p>
        </p:txBody>
      </p:sp>
      <p:sp>
        <p:nvSpPr>
          <p:cNvPr id="14" name="文字_单选题  ·  05-00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05-003</a:t>
            </a:r>
          </a:p>
        </p:txBody>
      </p:sp>
      <p:sp>
        <p:nvSpPr>
          <p:cNvPr id="15" name="文字_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例题4</a:t>
            </a:r>
          </a:p>
        </p:txBody>
      </p:sp>
      <p:sp>
        <p:nvSpPr>
          <p:cNvPr id="5" name="文字_P12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P120</a:t>
            </a:r>
          </a:p>
        </p:txBody>
      </p:sp>
      <p:sp>
        <p:nvSpPr>
          <p:cNvPr id="6" name="文字_下列有关化学反应的叙述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下列有关化学反应的叙述正确的是</a:t>
            </a:r>
          </a:p>
        </p:txBody>
      </p:sp>
      <p:sp>
        <p:nvSpPr>
          <p:cNvPr id="7" name="文字_A. 工业用氯气和石灰水佛制取漂白粉"/>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工业用氯气和石灰水佛制取漂白粉</a:t>
            </a:r>
          </a:p>
        </p:txBody>
      </p:sp>
      <p:sp>
        <p:nvSpPr>
          <p:cNvPr id="8" name="文字_B. MnO₂和稀盐酸反应制取Cl₂"/>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MnO₂和稀盐酸反应制取Cl₂</a:t>
            </a:r>
          </a:p>
        </p:txBody>
      </p:sp>
      <p:sp>
        <p:nvSpPr>
          <p:cNvPr id="9" name="文字_C. SO₂与过量氨水反应生成(NH₄)₂SO₃"/>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SO₂与过量氨水反应生成(NH₄)₂SO₃</a:t>
            </a:r>
          </a:p>
        </p:txBody>
      </p:sp>
      <p:sp>
        <p:nvSpPr>
          <p:cNvPr id="10" name="文字_D. 室温下Na与空气中O₂反应制取Na₂O₂"/>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室温下Na与空气中O₂反应制取Na₂O₂</a:t>
            </a:r>
          </a:p>
        </p:txBody>
      </p:sp>
      <p:sp>
        <p:nvSpPr>
          <p:cNvPr id="11" name="文字_单选题  ·  05-00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05-004</a:t>
            </a:r>
          </a:p>
        </p:txBody>
      </p:sp>
      <p:sp>
        <p:nvSpPr>
          <p:cNvPr id="12" name="文字_1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例题5</a:t>
            </a:r>
          </a:p>
        </p:txBody>
      </p:sp>
      <p:sp>
        <p:nvSpPr>
          <p:cNvPr id="5" name="文字_P12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P120</a:t>
            </a:r>
          </a:p>
        </p:txBody>
      </p:sp>
      <p:sp>
        <p:nvSpPr>
          <p:cNvPr id="6" name="文字_下列各步反应A(HCl) → B(Cl₂) → "/>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下列各步反应A(HCl) → B(Cl₂) → C(NaClO) → D(HClO) → E(CO₂)，其中不能直</a:t>
            </a:r>
          </a:p>
          <a:p>
            <a:pPr>
              <a:lnSpc>
                <a:spcPct val="112000"/>
              </a:lnSpc>
              <a:spcBef>
                <a:spcPts val="0"/>
              </a:spcBef>
              <a:spcAft>
                <a:spcPts val="0"/>
              </a:spcAft>
              <a:defRPr sz="2400" b="0">
                <a:solidFill>
                  <a:srgbClr val="333333"/>
                </a:solidFill>
                <a:latin typeface="微软雅黑"/>
              </a:defRPr>
            </a:pPr>
            <a:r>
              <a:rPr>
                <a:ea typeface="微软雅黑"/>
              </a:rPr>
              <a:t>接一步实现的是(</a:t>
            </a:r>
          </a:p>
        </p:txBody>
      </p:sp>
      <p:sp>
        <p:nvSpPr>
          <p:cNvPr id="7" name="文字_A. A → B"/>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A → B</a:t>
            </a:r>
          </a:p>
        </p:txBody>
      </p:sp>
      <p:sp>
        <p:nvSpPr>
          <p:cNvPr id="8" name="文字_B. B → C"/>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B → C</a:t>
            </a:r>
          </a:p>
        </p:txBody>
      </p:sp>
      <p:sp>
        <p:nvSpPr>
          <p:cNvPr id="9" name="文字_C. C → D"/>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C → D</a:t>
            </a:r>
          </a:p>
        </p:txBody>
      </p:sp>
      <p:sp>
        <p:nvSpPr>
          <p:cNvPr id="10" name="文字_D. D → E"/>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D → E</a:t>
            </a:r>
          </a:p>
        </p:txBody>
      </p:sp>
      <p:sp>
        <p:nvSpPr>
          <p:cNvPr id="11" name="文字_单选题  ·  05-00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05-005</a:t>
            </a:r>
          </a:p>
        </p:txBody>
      </p:sp>
      <p:sp>
        <p:nvSpPr>
          <p:cNvPr id="12" name="文字_1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例题6</a:t>
            </a:r>
          </a:p>
        </p:txBody>
      </p:sp>
      <p:sp>
        <p:nvSpPr>
          <p:cNvPr id="5" name="文字_P12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P120</a:t>
            </a:r>
          </a:p>
        </p:txBody>
      </p:sp>
      <p:sp>
        <p:nvSpPr>
          <p:cNvPr id="6" name="文字_下列反应中Cl₂只做氧化剂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下列反应中Cl₂只做氧化剂的是(</a:t>
            </a:r>
          </a:p>
        </p:txBody>
      </p:sp>
      <p:sp>
        <p:nvSpPr>
          <p:cNvPr id="7" name="文字_A. 5Cl₂ + I₂ + 6H₂O=10HC"/>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5Cl₂ + I₂ + 6H₂O=10HCl + 2HIO₃</a:t>
            </a:r>
          </a:p>
        </p:txBody>
      </p:sp>
      <p:sp>
        <p:nvSpPr>
          <p:cNvPr id="8" name="文字_B. 2Cl₂ + 2Ca(OH)₂=CaCl₂"/>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2Cl₂ + 2Ca(OH)₂=CaCl₂ + Ca(ClO)₂ + 2H₂O</a:t>
            </a:r>
          </a:p>
        </p:txBody>
      </p:sp>
      <p:pic>
        <p:nvPicPr>
          <p:cNvPr id="9" name="Picture 8" descr="image.png"/>
          <p:cNvPicPr>
            <a:picLocks noChangeAspect="1"/>
          </p:cNvPicPr>
          <p:nvPr/>
        </p:nvPicPr>
        <p:blipFill>
          <a:blip r:embed="rId3"/>
          <a:stretch>
            <a:fillRect/>
          </a:stretch>
        </p:blipFill>
        <p:spPr>
          <a:xfrm>
            <a:off x="502920" y="2395728"/>
            <a:ext cx="11064240" cy="857574"/>
          </a:xfrm>
          <a:prstGeom prst="rect">
            <a:avLst/>
          </a:prstGeom>
        </p:spPr>
      </p:pic>
      <p:sp>
        <p:nvSpPr>
          <p:cNvPr id="10" name="原题文字_120_22"/>
          <p:cNvSpPr txBox="1"/>
          <p:nvPr/>
        </p:nvSpPr>
        <p:spPr>
          <a:xfrm>
            <a:off x="564175" y="2427611"/>
            <a:ext cx="3393278" cy="378251"/>
          </a:xfrm>
          <a:prstGeom prst="rect">
            <a:avLst/>
          </a:prstGeom>
          <a:noFill/>
        </p:spPr>
        <p:txBody>
          <a:bodyPr wrap="none" lIns="0" rIns="0" tIns="0" bIns="0">
            <a:spAutoFit/>
          </a:bodyPr>
          <a:lstStyle/>
          <a:p>
            <a:pPr>
              <a:lnSpc>
                <a:spcPct val="112000"/>
              </a:lnSpc>
              <a:spcBef>
                <a:spcPts val="0"/>
              </a:spcBef>
              <a:spcAft>
                <a:spcPts val="0"/>
              </a:spcAft>
              <a:defRPr sz="1473" b="0">
                <a:solidFill>
                  <a:srgbClr val="333333"/>
                </a:solidFill>
                <a:latin typeface="微软雅黑"/>
              </a:defRPr>
            </a:pPr>
            <a:r>
              <a:rPr>
                <a:ea typeface="微软雅黑"/>
              </a:rPr>
              <a:t>C. KClO + 2HCl(浓)=KCl + H₂O + Cl₂↑</a:t>
            </a:r>
          </a:p>
        </p:txBody>
      </p:sp>
      <p:sp>
        <p:nvSpPr>
          <p:cNvPr id="11" name="原题文字_120_23"/>
          <p:cNvSpPr txBox="1"/>
          <p:nvPr/>
        </p:nvSpPr>
        <p:spPr>
          <a:xfrm>
            <a:off x="2049616" y="2726231"/>
            <a:ext cx="590847"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通电</a:t>
            </a:r>
          </a:p>
        </p:txBody>
      </p:sp>
      <p:sp>
        <p:nvSpPr>
          <p:cNvPr id="12" name="原题文字_120_24"/>
          <p:cNvSpPr txBox="1"/>
          <p:nvPr/>
        </p:nvSpPr>
        <p:spPr>
          <a:xfrm>
            <a:off x="556518" y="2948281"/>
            <a:ext cx="1724071" cy="368297"/>
          </a:xfrm>
          <a:prstGeom prst="rect">
            <a:avLst/>
          </a:prstGeom>
          <a:noFill/>
        </p:spPr>
        <p:txBody>
          <a:bodyPr wrap="none" lIns="0" rIns="0" tIns="0" bIns="0">
            <a:spAutoFit/>
          </a:bodyPr>
          <a:lstStyle/>
          <a:p>
            <a:pPr>
              <a:lnSpc>
                <a:spcPct val="112000"/>
              </a:lnSpc>
              <a:spcBef>
                <a:spcPts val="0"/>
              </a:spcBef>
              <a:spcAft>
                <a:spcPts val="0"/>
              </a:spcAft>
              <a:defRPr sz="1515" b="0">
                <a:solidFill>
                  <a:srgbClr val="333333"/>
                </a:solidFill>
                <a:latin typeface="微软雅黑"/>
              </a:defRPr>
            </a:pPr>
            <a:r>
              <a:rPr>
                <a:ea typeface="微软雅黑"/>
              </a:rPr>
              <a:t>D. 2NaCl + 2H₂O=</a:t>
            </a:r>
          </a:p>
        </p:txBody>
      </p:sp>
      <p:sp>
        <p:nvSpPr>
          <p:cNvPr id="13" name="原题文字_120_25"/>
          <p:cNvSpPr txBox="1"/>
          <p:nvPr/>
        </p:nvSpPr>
        <p:spPr>
          <a:xfrm>
            <a:off x="2486060" y="2963595"/>
            <a:ext cx="1770012" cy="348389"/>
          </a:xfrm>
          <a:prstGeom prst="rect">
            <a:avLst/>
          </a:prstGeom>
          <a:noFill/>
        </p:spPr>
        <p:txBody>
          <a:bodyPr wrap="none" lIns="0" rIns="0" tIns="0" bIns="0">
            <a:spAutoFit/>
          </a:bodyPr>
          <a:lstStyle/>
          <a:p>
            <a:pPr>
              <a:lnSpc>
                <a:spcPct val="112000"/>
              </a:lnSpc>
              <a:spcBef>
                <a:spcPts val="0"/>
              </a:spcBef>
              <a:spcAft>
                <a:spcPts val="0"/>
              </a:spcAft>
              <a:defRPr sz="1453" b="0">
                <a:solidFill>
                  <a:srgbClr val="333333"/>
                </a:solidFill>
                <a:latin typeface="微软雅黑"/>
              </a:defRPr>
            </a:pPr>
            <a:r>
              <a:rPr>
                <a:ea typeface="微软雅黑"/>
              </a:rPr>
              <a:t>2NaOH + Cl₂↑+H₂↑</a:t>
            </a:r>
          </a:p>
        </p:txBody>
      </p:sp>
      <p:sp>
        <p:nvSpPr>
          <p:cNvPr id="14" name="文字_单选题  ·  05-00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05-006</a:t>
            </a:r>
          </a:p>
        </p:txBody>
      </p:sp>
      <p:sp>
        <p:nvSpPr>
          <p:cNvPr id="15" name="文字_1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例题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例题7</a:t>
            </a:r>
          </a:p>
        </p:txBody>
      </p:sp>
      <p:sp>
        <p:nvSpPr>
          <p:cNvPr id="5" name="文字_P12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P120</a:t>
            </a:r>
          </a:p>
        </p:txBody>
      </p:sp>
      <p:sp>
        <p:nvSpPr>
          <p:cNvPr id="6" name="文字_已知常温下氯酸钾与浓盐酸反应放出氯气。现按如图进"/>
          <p:cNvSpPr txBox="1"/>
          <p:nvPr/>
        </p:nvSpPr>
        <p:spPr>
          <a:xfrm>
            <a:off x="502920" y="1078992"/>
            <a:ext cx="11064240" cy="751522"/>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已知常温下氯酸钾与浓盐酸反应放出氯气。现按如图进行卤素的性质实验。玻璃管内装</a:t>
            </a:r>
          </a:p>
          <a:p>
            <a:pPr>
              <a:lnSpc>
                <a:spcPct val="112000"/>
              </a:lnSpc>
              <a:spcBef>
                <a:spcPts val="0"/>
              </a:spcBef>
              <a:spcAft>
                <a:spcPts val="0"/>
              </a:spcAft>
              <a:defRPr sz="2250" b="0">
                <a:solidFill>
                  <a:srgbClr val="333333"/>
                </a:solidFill>
                <a:latin typeface="微软雅黑"/>
              </a:defRPr>
            </a:pPr>
            <a:r>
              <a:rPr>
                <a:ea typeface="微软雅黑"/>
              </a:rPr>
              <a:t>有分别滴有不同溶液的白色棉球，反应一段时间后，对图中指定部位颜色描述正确的是</a:t>
            </a:r>
          </a:p>
        </p:txBody>
      </p:sp>
      <p:sp>
        <p:nvSpPr>
          <p:cNvPr id="7" name="文字_④→←NaOH溶液"/>
          <p:cNvSpPr txBox="1"/>
          <p:nvPr/>
        </p:nvSpPr>
        <p:spPr>
          <a:xfrm>
            <a:off x="502920" y="1830514"/>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④→←NaOH溶液</a:t>
            </a:r>
          </a:p>
        </p:txBody>
      </p:sp>
      <p:pic>
        <p:nvPicPr>
          <p:cNvPr id="8" name="Picture 7" descr="image.png"/>
          <p:cNvPicPr>
            <a:picLocks noChangeAspect="1"/>
          </p:cNvPicPr>
          <p:nvPr/>
        </p:nvPicPr>
        <p:blipFill>
          <a:blip r:embed="rId3"/>
          <a:stretch>
            <a:fillRect/>
          </a:stretch>
        </p:blipFill>
        <p:spPr>
          <a:xfrm>
            <a:off x="502920" y="2241994"/>
            <a:ext cx="11064240" cy="3828456"/>
          </a:xfrm>
          <a:prstGeom prst="rect">
            <a:avLst/>
          </a:prstGeom>
        </p:spPr>
      </p:pic>
      <p:sp>
        <p:nvSpPr>
          <p:cNvPr id="9" name="原题文字_120_32"/>
          <p:cNvSpPr txBox="1"/>
          <p:nvPr/>
        </p:nvSpPr>
        <p:spPr>
          <a:xfrm>
            <a:off x="694342" y="2273878"/>
            <a:ext cx="1609217" cy="338435"/>
          </a:xfrm>
          <a:prstGeom prst="rect">
            <a:avLst/>
          </a:prstGeom>
          <a:noFill/>
        </p:spPr>
        <p:txBody>
          <a:bodyPr wrap="none" lIns="0" rIns="0" tIns="0" bIns="0">
            <a:spAutoFit/>
          </a:bodyPr>
          <a:lstStyle/>
          <a:p>
            <a:pPr>
              <a:lnSpc>
                <a:spcPct val="112000"/>
              </a:lnSpc>
              <a:spcBef>
                <a:spcPts val="0"/>
              </a:spcBef>
              <a:spcAft>
                <a:spcPts val="0"/>
              </a:spcAft>
              <a:defRPr sz="1633" b="0">
                <a:solidFill>
                  <a:srgbClr val="333333"/>
                </a:solidFill>
                <a:latin typeface="微软雅黑"/>
              </a:defRPr>
            </a:pPr>
            <a:r>
              <a:rPr>
                <a:ea typeface="微软雅黑"/>
              </a:rPr>
              <a:t>③→←KI淀粉溶液</a:t>
            </a:r>
          </a:p>
        </p:txBody>
      </p:sp>
      <p:sp>
        <p:nvSpPr>
          <p:cNvPr id="10" name="原题文字_120_33"/>
          <p:cNvSpPr txBox="1"/>
          <p:nvPr/>
        </p:nvSpPr>
        <p:spPr>
          <a:xfrm>
            <a:off x="717313" y="2541870"/>
            <a:ext cx="445366" cy="238895"/>
          </a:xfrm>
          <a:prstGeom prst="rect">
            <a:avLst/>
          </a:prstGeom>
          <a:noFill/>
        </p:spPr>
        <p:txBody>
          <a:bodyPr wrap="none" lIns="0" rIns="0" tIns="0" bIns="0">
            <a:spAutoFit/>
          </a:bodyPr>
          <a:lstStyle/>
          <a:p>
            <a:pPr>
              <a:lnSpc>
                <a:spcPct val="112000"/>
              </a:lnSpc>
              <a:spcBef>
                <a:spcPts val="0"/>
              </a:spcBef>
              <a:spcAft>
                <a:spcPts val="0"/>
              </a:spcAft>
              <a:defRPr sz="1157" b="0">
                <a:solidFill>
                  <a:srgbClr val="333333"/>
                </a:solidFill>
                <a:latin typeface="微软雅黑"/>
              </a:defRPr>
            </a:pPr>
            <a:r>
              <a:rPr>
                <a:ea typeface="微软雅黑"/>
              </a:rPr>
              <a:t>②→</a:t>
            </a:r>
          </a:p>
        </p:txBody>
      </p:sp>
      <p:sp>
        <p:nvSpPr>
          <p:cNvPr id="11" name="原题文字_120_34"/>
          <p:cNvSpPr txBox="1"/>
          <p:nvPr/>
        </p:nvSpPr>
        <p:spPr>
          <a:xfrm>
            <a:off x="1215012" y="2526556"/>
            <a:ext cx="950722"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NaBr溶液</a:t>
            </a:r>
          </a:p>
        </p:txBody>
      </p:sp>
      <p:sp>
        <p:nvSpPr>
          <p:cNvPr id="12" name="原题文字_120_35"/>
          <p:cNvSpPr txBox="1"/>
          <p:nvPr/>
        </p:nvSpPr>
        <p:spPr>
          <a:xfrm>
            <a:off x="717313" y="3169737"/>
            <a:ext cx="261600"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①</a:t>
            </a:r>
          </a:p>
        </p:txBody>
      </p:sp>
      <p:sp>
        <p:nvSpPr>
          <p:cNvPr id="13" name="原题文字_120_36"/>
          <p:cNvSpPr txBox="1"/>
          <p:nvPr/>
        </p:nvSpPr>
        <p:spPr>
          <a:xfrm>
            <a:off x="1444720" y="3230992"/>
            <a:ext cx="705701"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KClO和</a:t>
            </a:r>
          </a:p>
        </p:txBody>
      </p:sp>
      <p:sp>
        <p:nvSpPr>
          <p:cNvPr id="14" name="原题文字_120_37"/>
          <p:cNvSpPr txBox="1"/>
          <p:nvPr/>
        </p:nvSpPr>
        <p:spPr>
          <a:xfrm>
            <a:off x="1421749" y="3407101"/>
            <a:ext cx="682730"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HCl(浓)</a:t>
            </a:r>
          </a:p>
        </p:txBody>
      </p:sp>
      <p:sp>
        <p:nvSpPr>
          <p:cNvPr id="15" name="原题文字_120_38"/>
          <p:cNvSpPr txBox="1"/>
          <p:nvPr/>
        </p:nvSpPr>
        <p:spPr>
          <a:xfrm>
            <a:off x="885765" y="3766976"/>
            <a:ext cx="238629"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①</a:t>
            </a:r>
          </a:p>
        </p:txBody>
      </p:sp>
      <p:sp>
        <p:nvSpPr>
          <p:cNvPr id="16" name="原题文字_120_39"/>
          <p:cNvSpPr txBox="1"/>
          <p:nvPr/>
        </p:nvSpPr>
        <p:spPr>
          <a:xfrm>
            <a:off x="1559574" y="3751662"/>
            <a:ext cx="284571"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②</a:t>
            </a:r>
          </a:p>
        </p:txBody>
      </p:sp>
      <p:sp>
        <p:nvSpPr>
          <p:cNvPr id="17" name="原题文字_120_40"/>
          <p:cNvSpPr txBox="1"/>
          <p:nvPr/>
        </p:nvSpPr>
        <p:spPr>
          <a:xfrm>
            <a:off x="2026645" y="3744005"/>
            <a:ext cx="292228"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③</a:t>
            </a:r>
          </a:p>
        </p:txBody>
      </p:sp>
      <p:sp>
        <p:nvSpPr>
          <p:cNvPr id="18" name="原题文字_120_41"/>
          <p:cNvSpPr txBox="1"/>
          <p:nvPr/>
        </p:nvSpPr>
        <p:spPr>
          <a:xfrm>
            <a:off x="2501374" y="3751662"/>
            <a:ext cx="276914"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④</a:t>
            </a:r>
          </a:p>
        </p:txBody>
      </p:sp>
      <p:sp>
        <p:nvSpPr>
          <p:cNvPr id="19" name="原题文字_120_42"/>
          <p:cNvSpPr txBox="1"/>
          <p:nvPr/>
        </p:nvSpPr>
        <p:spPr>
          <a:xfrm>
            <a:off x="671372" y="4203420"/>
            <a:ext cx="208002" cy="218987"/>
          </a:xfrm>
          <a:prstGeom prst="rect">
            <a:avLst/>
          </a:prstGeom>
          <a:noFill/>
        </p:spPr>
        <p:txBody>
          <a:bodyPr wrap="none" lIns="0" rIns="0" tIns="0" bIns="0">
            <a:spAutoFit/>
          </a:bodyPr>
          <a:lstStyle/>
          <a:p>
            <a:pPr>
              <a:lnSpc>
                <a:spcPct val="112000"/>
              </a:lnSpc>
              <a:spcBef>
                <a:spcPts val="0"/>
              </a:spcBef>
              <a:spcAft>
                <a:spcPts val="0"/>
              </a:spcAft>
              <a:defRPr sz="1061" b="0">
                <a:solidFill>
                  <a:srgbClr val="333333"/>
                </a:solidFill>
                <a:latin typeface="微软雅黑"/>
              </a:defRPr>
            </a:pPr>
            <a:r>
              <a:rPr>
                <a:ea typeface="微软雅黑"/>
              </a:rPr>
              <a:t>A</a:t>
            </a:r>
          </a:p>
        </p:txBody>
      </p:sp>
      <p:sp>
        <p:nvSpPr>
          <p:cNvPr id="20" name="原题文字_120_43"/>
          <p:cNvSpPr txBox="1"/>
          <p:nvPr/>
        </p:nvSpPr>
        <p:spPr>
          <a:xfrm>
            <a:off x="824510" y="4134508"/>
            <a:ext cx="2191142"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黄绿色橙色蓝色白色</a:t>
            </a:r>
          </a:p>
        </p:txBody>
      </p:sp>
      <p:sp>
        <p:nvSpPr>
          <p:cNvPr id="21" name="原题文字_120_44"/>
          <p:cNvSpPr txBox="1"/>
          <p:nvPr/>
        </p:nvSpPr>
        <p:spPr>
          <a:xfrm>
            <a:off x="640744" y="4593923"/>
            <a:ext cx="230973"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B</a:t>
            </a:r>
          </a:p>
        </p:txBody>
      </p:sp>
      <p:sp>
        <p:nvSpPr>
          <p:cNvPr id="22" name="原题文字_120_45"/>
          <p:cNvSpPr txBox="1"/>
          <p:nvPr/>
        </p:nvSpPr>
        <p:spPr>
          <a:xfrm>
            <a:off x="824510" y="4547981"/>
            <a:ext cx="590847"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无色</a:t>
            </a:r>
          </a:p>
        </p:txBody>
      </p:sp>
      <p:sp>
        <p:nvSpPr>
          <p:cNvPr id="23" name="原题文字_120_46"/>
          <p:cNvSpPr txBox="1"/>
          <p:nvPr/>
        </p:nvSpPr>
        <p:spPr>
          <a:xfrm>
            <a:off x="1460034" y="4547981"/>
            <a:ext cx="1555619"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橙色紫色白色</a:t>
            </a:r>
          </a:p>
        </p:txBody>
      </p:sp>
      <p:sp>
        <p:nvSpPr>
          <p:cNvPr id="24" name="原题文字_120_47"/>
          <p:cNvSpPr txBox="1"/>
          <p:nvPr/>
        </p:nvSpPr>
        <p:spPr>
          <a:xfrm>
            <a:off x="832167" y="4938484"/>
            <a:ext cx="2160515"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黄绿色橙色蓝色无色</a:t>
            </a:r>
          </a:p>
        </p:txBody>
      </p:sp>
      <p:sp>
        <p:nvSpPr>
          <p:cNvPr id="25" name="原题文字_120_48"/>
          <p:cNvSpPr txBox="1"/>
          <p:nvPr/>
        </p:nvSpPr>
        <p:spPr>
          <a:xfrm>
            <a:off x="832167" y="5367271"/>
            <a:ext cx="216051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黄绿色无色紫色白色</a:t>
            </a:r>
          </a:p>
        </p:txBody>
      </p:sp>
      <p:sp>
        <p:nvSpPr>
          <p:cNvPr id="26" name="原题文字_120_49"/>
          <p:cNvSpPr txBox="1"/>
          <p:nvPr/>
        </p:nvSpPr>
        <p:spPr>
          <a:xfrm>
            <a:off x="564175" y="5811372"/>
            <a:ext cx="61381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A</a:t>
            </a:r>
          </a:p>
        </p:txBody>
      </p:sp>
      <p:sp>
        <p:nvSpPr>
          <p:cNvPr id="27" name="原题文字_120_50"/>
          <p:cNvSpPr txBox="1"/>
          <p:nvPr/>
        </p:nvSpPr>
        <p:spPr>
          <a:xfrm>
            <a:off x="3244095" y="5819029"/>
            <a:ext cx="606161"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 B</a:t>
            </a:r>
          </a:p>
        </p:txBody>
      </p:sp>
      <p:sp>
        <p:nvSpPr>
          <p:cNvPr id="28" name="原题文字_120_51"/>
          <p:cNvSpPr txBox="1"/>
          <p:nvPr/>
        </p:nvSpPr>
        <p:spPr>
          <a:xfrm>
            <a:off x="5931671" y="5796058"/>
            <a:ext cx="629132"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C. C</a:t>
            </a:r>
          </a:p>
        </p:txBody>
      </p:sp>
      <p:sp>
        <p:nvSpPr>
          <p:cNvPr id="29" name="原题文字_120_52"/>
          <p:cNvSpPr txBox="1"/>
          <p:nvPr/>
        </p:nvSpPr>
        <p:spPr>
          <a:xfrm>
            <a:off x="8619248" y="5819029"/>
            <a:ext cx="629132"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D. D</a:t>
            </a:r>
          </a:p>
        </p:txBody>
      </p:sp>
      <p:sp>
        <p:nvSpPr>
          <p:cNvPr id="30" name="文字_单选题  ·  05-00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05-007</a:t>
            </a:r>
          </a:p>
        </p:txBody>
      </p:sp>
      <p:sp>
        <p:nvSpPr>
          <p:cNvPr id="31" name="文字_1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例题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例题8</a:t>
            </a:r>
          </a:p>
        </p:txBody>
      </p:sp>
      <p:sp>
        <p:nvSpPr>
          <p:cNvPr id="5" name="文字_P12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P121</a:t>
            </a:r>
          </a:p>
        </p:txBody>
      </p:sp>
      <p:sp>
        <p:nvSpPr>
          <p:cNvPr id="6" name="文字_溴化碘(IBr)的化学性质跟卤素单质相似，它跟水"/>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溴化碘(IBr)的化学性质跟卤素单质相似，它跟水反应的化学方程式为：IBr +</a:t>
            </a:r>
          </a:p>
          <a:p>
            <a:pPr>
              <a:lnSpc>
                <a:spcPct val="112000"/>
              </a:lnSpc>
              <a:spcBef>
                <a:spcPts val="0"/>
              </a:spcBef>
              <a:spcAft>
                <a:spcPts val="0"/>
              </a:spcAft>
              <a:defRPr sz="2400" b="0">
                <a:solidFill>
                  <a:srgbClr val="333333"/>
                </a:solidFill>
                <a:latin typeface="微软雅黑"/>
              </a:defRPr>
            </a:pPr>
            <a:r>
              <a:rPr>
                <a:ea typeface="微软雅黑"/>
              </a:rPr>
              <a:t>H₂OHBr +HIO。下列有关的叙述中，不正确的是(</a:t>
            </a:r>
          </a:p>
        </p:txBody>
      </p:sp>
      <p:sp>
        <p:nvSpPr>
          <p:cNvPr id="7" name="文字_A. IBr 是双原子分子"/>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IBr 是双原子分子</a:t>
            </a:r>
          </a:p>
        </p:txBody>
      </p:sp>
      <p:sp>
        <p:nvSpPr>
          <p:cNvPr id="8" name="文字_B. 在很多反应中，IBr是氧化剂"/>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在很多反应中，IBr是氧化剂</a:t>
            </a:r>
          </a:p>
        </p:txBody>
      </p:sp>
      <p:sp>
        <p:nvSpPr>
          <p:cNvPr id="9" name="文字_C. 和 NaOH 反应能生成 NaBr"/>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和 NaOH 反应能生成 NaBr</a:t>
            </a:r>
          </a:p>
        </p:txBody>
      </p:sp>
      <p:sp>
        <p:nvSpPr>
          <p:cNvPr id="10" name="文字_D. 和H₂O反应时，IBr既是氧化剂又是还原剂"/>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和H₂O反应时，IBr既是氧化剂又是还原剂</a:t>
            </a:r>
          </a:p>
        </p:txBody>
      </p:sp>
      <p:sp>
        <p:nvSpPr>
          <p:cNvPr id="11" name="文字_单选题  ·  05-00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05-008</a:t>
            </a:r>
          </a:p>
        </p:txBody>
      </p:sp>
      <p:sp>
        <p:nvSpPr>
          <p:cNvPr id="12" name="文字_1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例题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例题9</a:t>
            </a:r>
          </a:p>
        </p:txBody>
      </p:sp>
      <p:sp>
        <p:nvSpPr>
          <p:cNvPr id="5" name="文字_P12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P121</a:t>
            </a:r>
          </a:p>
        </p:txBody>
      </p:sp>
      <p:pic>
        <p:nvPicPr>
          <p:cNvPr id="6" name="Picture 5" descr="image.png"/>
          <p:cNvPicPr>
            <a:picLocks noChangeAspect="1"/>
          </p:cNvPicPr>
          <p:nvPr/>
        </p:nvPicPr>
        <p:blipFill>
          <a:blip r:embed="rId3"/>
          <a:stretch>
            <a:fillRect/>
          </a:stretch>
        </p:blipFill>
        <p:spPr>
          <a:xfrm>
            <a:off x="502920" y="1078992"/>
            <a:ext cx="11064240" cy="2702890"/>
          </a:xfrm>
          <a:prstGeom prst="rect">
            <a:avLst/>
          </a:prstGeom>
        </p:spPr>
      </p:pic>
      <p:sp>
        <p:nvSpPr>
          <p:cNvPr id="7" name="原题文字_121_12"/>
          <p:cNvSpPr txBox="1"/>
          <p:nvPr/>
        </p:nvSpPr>
        <p:spPr>
          <a:xfrm>
            <a:off x="594802" y="1087905"/>
            <a:ext cx="645604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某同学用下列装置进行有关Cl₂性质的实验。下列说法不正确的是（</a:t>
            </a:r>
          </a:p>
        </p:txBody>
      </p:sp>
      <p:sp>
        <p:nvSpPr>
          <p:cNvPr id="8" name="原题文字_121_13"/>
          <p:cNvSpPr txBox="1"/>
          <p:nvPr/>
        </p:nvSpPr>
        <p:spPr>
          <a:xfrm>
            <a:off x="9293056" y="1355896"/>
            <a:ext cx="927752"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浸有碱液</a:t>
            </a:r>
          </a:p>
        </p:txBody>
      </p:sp>
      <p:sp>
        <p:nvSpPr>
          <p:cNvPr id="9" name="原题文字_121_14"/>
          <p:cNvSpPr txBox="1"/>
          <p:nvPr/>
        </p:nvSpPr>
        <p:spPr>
          <a:xfrm>
            <a:off x="4660624" y="1570290"/>
            <a:ext cx="330512"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H₂</a:t>
            </a:r>
          </a:p>
        </p:txBody>
      </p:sp>
      <p:sp>
        <p:nvSpPr>
          <p:cNvPr id="10" name="原题文字_121_15"/>
          <p:cNvSpPr txBox="1"/>
          <p:nvPr/>
        </p:nvSpPr>
        <p:spPr>
          <a:xfrm>
            <a:off x="9293056" y="1593261"/>
            <a:ext cx="927752"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的棉花球</a:t>
            </a:r>
          </a:p>
        </p:txBody>
      </p:sp>
      <p:sp>
        <p:nvSpPr>
          <p:cNvPr id="11" name="原题文字_121_16"/>
          <p:cNvSpPr txBox="1"/>
          <p:nvPr/>
        </p:nvSpPr>
        <p:spPr>
          <a:xfrm>
            <a:off x="7868870" y="1754056"/>
            <a:ext cx="368797"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Cl₂</a:t>
            </a:r>
          </a:p>
        </p:txBody>
      </p:sp>
      <p:sp>
        <p:nvSpPr>
          <p:cNvPr id="12" name="原题文字_121_17"/>
          <p:cNvSpPr txBox="1"/>
          <p:nvPr/>
        </p:nvSpPr>
        <p:spPr>
          <a:xfrm>
            <a:off x="8688160" y="1685144"/>
            <a:ext cx="368797"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Na</a:t>
            </a:r>
          </a:p>
        </p:txBody>
      </p:sp>
      <p:sp>
        <p:nvSpPr>
          <p:cNvPr id="13" name="原题文字_121_18"/>
          <p:cNvSpPr txBox="1"/>
          <p:nvPr/>
        </p:nvSpPr>
        <p:spPr>
          <a:xfrm>
            <a:off x="2210411" y="1853596"/>
            <a:ext cx="345826"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Cl₂</a:t>
            </a:r>
          </a:p>
        </p:txBody>
      </p:sp>
      <p:sp>
        <p:nvSpPr>
          <p:cNvPr id="14" name="原题文字_121_19"/>
          <p:cNvSpPr txBox="1"/>
          <p:nvPr/>
        </p:nvSpPr>
        <p:spPr>
          <a:xfrm>
            <a:off x="7233346" y="1960793"/>
            <a:ext cx="345826"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Cl₂</a:t>
            </a:r>
          </a:p>
        </p:txBody>
      </p:sp>
      <p:sp>
        <p:nvSpPr>
          <p:cNvPr id="15" name="原题文字_121_20"/>
          <p:cNvSpPr txBox="1"/>
          <p:nvPr/>
        </p:nvSpPr>
        <p:spPr>
          <a:xfrm>
            <a:off x="4017443" y="2374266"/>
            <a:ext cx="667417"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NaOH</a:t>
            </a:r>
          </a:p>
        </p:txBody>
      </p:sp>
      <p:sp>
        <p:nvSpPr>
          <p:cNvPr id="16" name="原题文字_121_21"/>
          <p:cNvSpPr txBox="1"/>
          <p:nvPr/>
        </p:nvSpPr>
        <p:spPr>
          <a:xfrm>
            <a:off x="5977613" y="2389580"/>
            <a:ext cx="391768"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Cl₂</a:t>
            </a:r>
          </a:p>
        </p:txBody>
      </p:sp>
      <p:sp>
        <p:nvSpPr>
          <p:cNvPr id="17" name="原题文字_121_22"/>
          <p:cNvSpPr txBox="1"/>
          <p:nvPr/>
        </p:nvSpPr>
        <p:spPr>
          <a:xfrm>
            <a:off x="7294602" y="2496777"/>
            <a:ext cx="544906"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铜丝</a:t>
            </a:r>
          </a:p>
        </p:txBody>
      </p:sp>
      <p:sp>
        <p:nvSpPr>
          <p:cNvPr id="18" name="原题文字_121_23"/>
          <p:cNvSpPr txBox="1"/>
          <p:nvPr/>
        </p:nvSpPr>
        <p:spPr>
          <a:xfrm>
            <a:off x="4071041" y="2588660"/>
            <a:ext cx="567877"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溶液</a:t>
            </a:r>
          </a:p>
        </p:txBody>
      </p:sp>
      <p:sp>
        <p:nvSpPr>
          <p:cNvPr id="19" name="原题文字_121_24"/>
          <p:cNvSpPr txBox="1"/>
          <p:nvPr/>
        </p:nvSpPr>
        <p:spPr>
          <a:xfrm>
            <a:off x="2417148" y="2963848"/>
            <a:ext cx="728672"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湿润的</a:t>
            </a:r>
          </a:p>
        </p:txBody>
      </p:sp>
      <p:sp>
        <p:nvSpPr>
          <p:cNvPr id="20" name="原题文字_121_25"/>
          <p:cNvSpPr txBox="1"/>
          <p:nvPr/>
        </p:nvSpPr>
        <p:spPr>
          <a:xfrm>
            <a:off x="3313007" y="3002133"/>
            <a:ext cx="437709"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图1</a:t>
            </a:r>
          </a:p>
        </p:txBody>
      </p:sp>
      <p:sp>
        <p:nvSpPr>
          <p:cNvPr id="21" name="原题文字_121_26"/>
          <p:cNvSpPr txBox="1"/>
          <p:nvPr/>
        </p:nvSpPr>
        <p:spPr>
          <a:xfrm>
            <a:off x="2417148" y="3208870"/>
            <a:ext cx="713358"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有色布</a:t>
            </a:r>
          </a:p>
        </p:txBody>
      </p:sp>
      <p:sp>
        <p:nvSpPr>
          <p:cNvPr id="22" name="原题文字_121_27"/>
          <p:cNvSpPr txBox="1"/>
          <p:nvPr/>
        </p:nvSpPr>
        <p:spPr>
          <a:xfrm>
            <a:off x="5495227" y="3270125"/>
            <a:ext cx="453023"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图2</a:t>
            </a:r>
          </a:p>
        </p:txBody>
      </p:sp>
      <p:sp>
        <p:nvSpPr>
          <p:cNvPr id="23" name="原题文字_121_28"/>
          <p:cNvSpPr txBox="1"/>
          <p:nvPr/>
        </p:nvSpPr>
        <p:spPr>
          <a:xfrm>
            <a:off x="6727990" y="3270125"/>
            <a:ext cx="445366"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图3</a:t>
            </a:r>
          </a:p>
        </p:txBody>
      </p:sp>
      <p:sp>
        <p:nvSpPr>
          <p:cNvPr id="24" name="原题文字_121_29"/>
          <p:cNvSpPr txBox="1"/>
          <p:nvPr/>
        </p:nvSpPr>
        <p:spPr>
          <a:xfrm>
            <a:off x="8856612" y="3270125"/>
            <a:ext cx="453023"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图4</a:t>
            </a:r>
          </a:p>
        </p:txBody>
      </p:sp>
      <p:sp>
        <p:nvSpPr>
          <p:cNvPr id="25" name="原题文字_121_30"/>
          <p:cNvSpPr txBox="1"/>
          <p:nvPr/>
        </p:nvSpPr>
        <p:spPr>
          <a:xfrm>
            <a:off x="2409491" y="3430920"/>
            <a:ext cx="736329"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条褪色</a:t>
            </a:r>
          </a:p>
        </p:txBody>
      </p:sp>
      <p:sp>
        <p:nvSpPr>
          <p:cNvPr id="26" name="文字_A. 图1中：可以证明氯气有漂白作用"/>
          <p:cNvSpPr txBox="1"/>
          <p:nvPr/>
        </p:nvSpPr>
        <p:spPr>
          <a:xfrm>
            <a:off x="502920" y="385503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图1中：可以证明氯气有漂白作用</a:t>
            </a:r>
          </a:p>
        </p:txBody>
      </p:sp>
      <p:sp>
        <p:nvSpPr>
          <p:cNvPr id="27" name="文字_B. 图2中：产生苍白色火焰"/>
          <p:cNvSpPr txBox="1"/>
          <p:nvPr/>
        </p:nvSpPr>
        <p:spPr>
          <a:xfrm>
            <a:off x="502920" y="429394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图2中：产生苍白色火焰</a:t>
            </a:r>
          </a:p>
        </p:txBody>
      </p:sp>
      <p:sp>
        <p:nvSpPr>
          <p:cNvPr id="28" name="文字_C. 图3中：向实验后冷却的固体中加少量水溶解得"/>
          <p:cNvSpPr txBox="1"/>
          <p:nvPr/>
        </p:nvSpPr>
        <p:spPr>
          <a:xfrm>
            <a:off x="502920" y="473285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图3中：向实验后冷却的固体中加少量水溶解得到蓝色溶液</a:t>
            </a:r>
          </a:p>
        </p:txBody>
      </p:sp>
      <p:sp>
        <p:nvSpPr>
          <p:cNvPr id="29" name="文字_D. 图4中：产生的大量白烟是氯化钠固体"/>
          <p:cNvSpPr txBox="1"/>
          <p:nvPr/>
        </p:nvSpPr>
        <p:spPr>
          <a:xfrm>
            <a:off x="502920" y="517177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图4中：产生的大量白烟是氯化钠固体</a:t>
            </a:r>
          </a:p>
        </p:txBody>
      </p:sp>
      <p:sp>
        <p:nvSpPr>
          <p:cNvPr id="30" name="文字_单选题  ·  05-00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05-009</a:t>
            </a:r>
          </a:p>
        </p:txBody>
      </p:sp>
      <p:sp>
        <p:nvSpPr>
          <p:cNvPr id="31" name="文字_1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例题10"/>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例题10</a:t>
            </a:r>
          </a:p>
        </p:txBody>
      </p:sp>
      <p:sp>
        <p:nvSpPr>
          <p:cNvPr id="5" name="文字_P12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P121</a:t>
            </a:r>
          </a:p>
        </p:txBody>
      </p:sp>
      <p:sp>
        <p:nvSpPr>
          <p:cNvPr id="6" name="文字_禽流感病毒是一种没有超常抵抗力的病毒。研究证明，"/>
          <p:cNvSpPr txBox="1"/>
          <p:nvPr/>
        </p:nvSpPr>
        <p:spPr>
          <a:xfrm>
            <a:off x="502920" y="1078992"/>
            <a:ext cx="11064240" cy="1140079"/>
          </a:xfrm>
          <a:prstGeom prst="rect">
            <a:avLst/>
          </a:prstGeom>
          <a:noFill/>
        </p:spPr>
        <p:txBody>
          <a:bodyPr wrap="square" lIns="0" rIns="0" tIns="0" bIns="0">
            <a:spAutoFit/>
          </a:bodyPr>
          <a:lstStyle/>
          <a:p>
            <a:pPr>
              <a:lnSpc>
                <a:spcPct val="112000"/>
              </a:lnSpc>
              <a:spcBef>
                <a:spcPts val="0"/>
              </a:spcBef>
              <a:spcAft>
                <a:spcPts val="0"/>
              </a:spcAft>
              <a:defRPr sz="2350" b="0">
                <a:solidFill>
                  <a:srgbClr val="333333"/>
                </a:solidFill>
                <a:latin typeface="微软雅黑"/>
              </a:defRPr>
            </a:pPr>
            <a:r>
              <a:rPr>
                <a:ea typeface="微软雅黑"/>
              </a:rPr>
              <a:t>禽流感病毒是一种没有超常抵抗力的病毒。研究证明，许多常用消毒药物如漂粉精、</a:t>
            </a:r>
          </a:p>
          <a:p>
            <a:pPr>
              <a:lnSpc>
                <a:spcPct val="112000"/>
              </a:lnSpc>
              <a:spcBef>
                <a:spcPts val="0"/>
              </a:spcBef>
              <a:spcAft>
                <a:spcPts val="0"/>
              </a:spcAft>
              <a:defRPr sz="2350" b="0">
                <a:solidFill>
                  <a:srgbClr val="333333"/>
                </a:solidFill>
                <a:latin typeface="微软雅黑"/>
              </a:defRPr>
            </a:pPr>
            <a:r>
              <a:rPr>
                <a:ea typeface="微软雅黑"/>
              </a:rPr>
              <a:t>漂白粉、高锰酸钾等，可以将禽流感病毒杀灭。氯气与氢氧化钙充分反应，得到漂粉</a:t>
            </a:r>
          </a:p>
          <a:p>
            <a:pPr>
              <a:lnSpc>
                <a:spcPct val="112000"/>
              </a:lnSpc>
              <a:spcBef>
                <a:spcPts val="0"/>
              </a:spcBef>
              <a:spcAft>
                <a:spcPts val="0"/>
              </a:spcAft>
              <a:defRPr sz="2350" b="0">
                <a:solidFill>
                  <a:srgbClr val="333333"/>
                </a:solidFill>
                <a:latin typeface="微软雅黑"/>
              </a:defRPr>
            </a:pPr>
            <a:r>
              <a:rPr>
                <a:ea typeface="微软雅黑"/>
              </a:rPr>
              <a:t>精，其稳定性比漂白粉高。</a:t>
            </a:r>
          </a:p>
        </p:txBody>
      </p:sp>
      <p:sp>
        <p:nvSpPr>
          <p:cNvPr id="7" name="文字_(1)工业上将氯气通入石灰乳[Ca(OH)₂]制"/>
          <p:cNvSpPr txBox="1"/>
          <p:nvPr/>
        </p:nvSpPr>
        <p:spPr>
          <a:xfrm>
            <a:off x="502920" y="2219070"/>
            <a:ext cx="11064240" cy="429768"/>
          </a:xfrm>
          <a:prstGeom prst="rect">
            <a:avLst/>
          </a:prstGeom>
          <a:noFill/>
        </p:spPr>
        <p:txBody>
          <a:bodyPr wrap="square" lIns="0" rIns="0" tIns="0" bIns="0">
            <a:spAutoFit/>
          </a:bodyPr>
          <a:lstStyle/>
          <a:p>
            <a:pPr>
              <a:lnSpc>
                <a:spcPct val="112000"/>
              </a:lnSpc>
              <a:spcBef>
                <a:spcPts val="0"/>
              </a:spcBef>
              <a:spcAft>
                <a:spcPts val="0"/>
              </a:spcAft>
              <a:defRPr sz="2350" b="0">
                <a:solidFill>
                  <a:srgbClr val="333333"/>
                </a:solidFill>
                <a:latin typeface="微软雅黑"/>
              </a:defRPr>
            </a:pPr>
            <a:r>
              <a:rPr>
                <a:ea typeface="微软雅黑"/>
              </a:rPr>
              <a:t>(1)工业上将氯气通入石灰乳[Ca(OH)₂]制取漂粉精，化学反应方程式为：</a:t>
            </a:r>
          </a:p>
        </p:txBody>
      </p:sp>
      <p:sp>
        <p:nvSpPr>
          <p:cNvPr id="8" name="文字_(2)漂粉精的有效成分是（填化学式)"/>
          <p:cNvSpPr txBox="1"/>
          <p:nvPr/>
        </p:nvSpPr>
        <p:spPr>
          <a:xfrm>
            <a:off x="502920" y="2648839"/>
            <a:ext cx="11064240" cy="429768"/>
          </a:xfrm>
          <a:prstGeom prst="rect">
            <a:avLst/>
          </a:prstGeom>
          <a:noFill/>
        </p:spPr>
        <p:txBody>
          <a:bodyPr wrap="square" lIns="0" rIns="0" tIns="0" bIns="0">
            <a:spAutoFit/>
          </a:bodyPr>
          <a:lstStyle/>
          <a:p>
            <a:pPr>
              <a:lnSpc>
                <a:spcPct val="112000"/>
              </a:lnSpc>
              <a:spcBef>
                <a:spcPts val="0"/>
              </a:spcBef>
              <a:spcAft>
                <a:spcPts val="0"/>
              </a:spcAft>
              <a:defRPr sz="2350" b="0">
                <a:solidFill>
                  <a:srgbClr val="333333"/>
                </a:solidFill>
                <a:latin typeface="微软雅黑"/>
              </a:defRPr>
            </a:pPr>
            <a:r>
              <a:rPr>
                <a:ea typeface="微软雅黑"/>
              </a:rPr>
              <a:t>(2)漂粉精的有效成分是（填化学式)</a:t>
            </a:r>
          </a:p>
        </p:txBody>
      </p:sp>
      <p:sp>
        <p:nvSpPr>
          <p:cNvPr id="9" name="文字_(3)漂粉精溶于水后，受空气中的CO₂作用，即产"/>
          <p:cNvSpPr txBox="1"/>
          <p:nvPr/>
        </p:nvSpPr>
        <p:spPr>
          <a:xfrm>
            <a:off x="502920" y="3078607"/>
            <a:ext cx="11064240" cy="784923"/>
          </a:xfrm>
          <a:prstGeom prst="rect">
            <a:avLst/>
          </a:prstGeom>
          <a:noFill/>
        </p:spPr>
        <p:txBody>
          <a:bodyPr wrap="square" lIns="0" rIns="0" tIns="0" bIns="0">
            <a:spAutoFit/>
          </a:bodyPr>
          <a:lstStyle/>
          <a:p>
            <a:pPr>
              <a:lnSpc>
                <a:spcPct val="112000"/>
              </a:lnSpc>
              <a:spcBef>
                <a:spcPts val="0"/>
              </a:spcBef>
              <a:spcAft>
                <a:spcPts val="0"/>
              </a:spcAft>
              <a:defRPr sz="2350" b="0">
                <a:solidFill>
                  <a:srgbClr val="333333"/>
                </a:solidFill>
                <a:latin typeface="微软雅黑"/>
              </a:defRPr>
            </a:pPr>
            <a:r>
              <a:rPr>
                <a:ea typeface="微软雅黑"/>
              </a:rPr>
              <a:t>(3)漂粉精溶于水后，受空气中的CO₂作用，即产生有漂白、杀菌作用的物质，化学</a:t>
            </a:r>
          </a:p>
          <a:p>
            <a:pPr>
              <a:lnSpc>
                <a:spcPct val="112000"/>
              </a:lnSpc>
              <a:spcBef>
                <a:spcPts val="0"/>
              </a:spcBef>
              <a:spcAft>
                <a:spcPts val="0"/>
              </a:spcAft>
              <a:defRPr sz="2350" b="0">
                <a:solidFill>
                  <a:srgbClr val="333333"/>
                </a:solidFill>
                <a:latin typeface="微软雅黑"/>
              </a:defRPr>
            </a:pPr>
            <a:r>
              <a:rPr>
                <a:ea typeface="微软雅黑"/>
              </a:rPr>
              <a:t>反应方程式为</a:t>
            </a:r>
          </a:p>
        </p:txBody>
      </p:sp>
      <p:sp>
        <p:nvSpPr>
          <p:cNvPr id="10" name="文字_(4)反应(1)和反应(3)中，属于氧化还原反应"/>
          <p:cNvSpPr txBox="1"/>
          <p:nvPr/>
        </p:nvSpPr>
        <p:spPr>
          <a:xfrm>
            <a:off x="502920" y="3863530"/>
            <a:ext cx="11064240" cy="429768"/>
          </a:xfrm>
          <a:prstGeom prst="rect">
            <a:avLst/>
          </a:prstGeom>
          <a:noFill/>
        </p:spPr>
        <p:txBody>
          <a:bodyPr wrap="square" lIns="0" rIns="0" tIns="0" bIns="0">
            <a:spAutoFit/>
          </a:bodyPr>
          <a:lstStyle/>
          <a:p>
            <a:pPr>
              <a:lnSpc>
                <a:spcPct val="112000"/>
              </a:lnSpc>
              <a:spcBef>
                <a:spcPts val="0"/>
              </a:spcBef>
              <a:spcAft>
                <a:spcPts val="0"/>
              </a:spcAft>
              <a:defRPr sz="2350" b="0">
                <a:solidFill>
                  <a:srgbClr val="333333"/>
                </a:solidFill>
                <a:latin typeface="微软雅黑"/>
              </a:defRPr>
            </a:pPr>
            <a:r>
              <a:rPr>
                <a:ea typeface="微软雅黑"/>
              </a:rPr>
              <a:t>(4)反应(1)和反应(3)中，属于氧化还原反应的是（填编号)</a:t>
            </a:r>
          </a:p>
        </p:txBody>
      </p:sp>
      <p:sp>
        <p:nvSpPr>
          <p:cNvPr id="11" name="文字_(5)将漂粉精溶于适量水中，呈白色浊状物，静置沉"/>
          <p:cNvSpPr txBox="1"/>
          <p:nvPr/>
        </p:nvSpPr>
        <p:spPr>
          <a:xfrm>
            <a:off x="502920" y="4293298"/>
            <a:ext cx="11064240" cy="784923"/>
          </a:xfrm>
          <a:prstGeom prst="rect">
            <a:avLst/>
          </a:prstGeom>
          <a:noFill/>
        </p:spPr>
        <p:txBody>
          <a:bodyPr wrap="square" lIns="0" rIns="0" tIns="0" bIns="0">
            <a:spAutoFit/>
          </a:bodyPr>
          <a:lstStyle/>
          <a:p>
            <a:pPr>
              <a:lnSpc>
                <a:spcPct val="112000"/>
              </a:lnSpc>
              <a:spcBef>
                <a:spcPts val="0"/>
              </a:spcBef>
              <a:spcAft>
                <a:spcPts val="0"/>
              </a:spcAft>
              <a:defRPr sz="2350" b="0">
                <a:solidFill>
                  <a:srgbClr val="333333"/>
                </a:solidFill>
                <a:latin typeface="微软雅黑"/>
              </a:defRPr>
            </a:pPr>
            <a:r>
              <a:rPr>
                <a:ea typeface="微软雅黑"/>
              </a:rPr>
              <a:t>(5)将漂粉精溶于适量水中，呈白色浊状物，静置沉降。取少许上层清液，滴加碳酸</a:t>
            </a:r>
          </a:p>
          <a:p>
            <a:pPr>
              <a:lnSpc>
                <a:spcPct val="112000"/>
              </a:lnSpc>
              <a:spcBef>
                <a:spcPts val="0"/>
              </a:spcBef>
              <a:spcAft>
                <a:spcPts val="0"/>
              </a:spcAft>
              <a:defRPr sz="2350" b="0">
                <a:solidFill>
                  <a:srgbClr val="333333"/>
                </a:solidFill>
                <a:latin typeface="微软雅黑"/>
              </a:defRPr>
            </a:pPr>
            <a:r>
              <a:rPr>
                <a:ea typeface="微软雅黑"/>
              </a:rPr>
              <a:t>钠溶液出现白色沉淀，发生反应的离子方程式为</a:t>
            </a:r>
          </a:p>
        </p:txBody>
      </p:sp>
      <p:sp>
        <p:nvSpPr>
          <p:cNvPr id="12" name="文字_另取少许上层清液，先滴加适量的 ______ （"/>
          <p:cNvSpPr txBox="1"/>
          <p:nvPr/>
        </p:nvSpPr>
        <p:spPr>
          <a:xfrm>
            <a:off x="502920" y="5078222"/>
            <a:ext cx="11064240" cy="1140079"/>
          </a:xfrm>
          <a:prstGeom prst="rect">
            <a:avLst/>
          </a:prstGeom>
          <a:noFill/>
        </p:spPr>
        <p:txBody>
          <a:bodyPr wrap="square" lIns="0" rIns="0" tIns="0" bIns="0">
            <a:spAutoFit/>
          </a:bodyPr>
          <a:lstStyle/>
          <a:p>
            <a:pPr>
              <a:lnSpc>
                <a:spcPct val="112000"/>
              </a:lnSpc>
              <a:spcBef>
                <a:spcPts val="0"/>
              </a:spcBef>
              <a:spcAft>
                <a:spcPts val="0"/>
              </a:spcAft>
              <a:defRPr sz="2350" b="0">
                <a:solidFill>
                  <a:srgbClr val="333333"/>
                </a:solidFill>
                <a:latin typeface="微软雅黑"/>
              </a:defRPr>
            </a:pPr>
            <a:r>
              <a:rPr>
                <a:ea typeface="微软雅黑"/>
              </a:rPr>
              <a:t>另取少许上层清液，先滴加适量的 ______ （填化学式）酸化，再滴加 ______ (填化学</a:t>
            </a:r>
          </a:p>
          <a:p>
            <a:pPr>
              <a:lnSpc>
                <a:spcPct val="112000"/>
              </a:lnSpc>
              <a:spcBef>
                <a:spcPts val="0"/>
              </a:spcBef>
              <a:spcAft>
                <a:spcPts val="0"/>
              </a:spcAft>
              <a:defRPr sz="2350" b="0">
                <a:solidFill>
                  <a:srgbClr val="333333"/>
                </a:solidFill>
                <a:latin typeface="微软雅黑"/>
              </a:defRPr>
            </a:pPr>
            <a:r>
              <a:rPr>
                <a:ea typeface="微软雅黑"/>
              </a:rPr>
              <a:t>式）溶液即可检验Cl⁻的存在，发生反应的离子方程式为 ；再取少许上层清液，滴加</a:t>
            </a:r>
          </a:p>
          <a:p>
            <a:pPr>
              <a:lnSpc>
                <a:spcPct val="112000"/>
              </a:lnSpc>
              <a:spcBef>
                <a:spcPts val="0"/>
              </a:spcBef>
              <a:spcAft>
                <a:spcPts val="0"/>
              </a:spcAft>
              <a:defRPr sz="2350" b="0">
                <a:solidFill>
                  <a:srgbClr val="333333"/>
                </a:solidFill>
                <a:latin typeface="微软雅黑"/>
              </a:defRPr>
            </a:pPr>
            <a:r>
              <a:rPr>
                <a:ea typeface="微软雅黑"/>
              </a:rPr>
              <a:t>几滴酚酞溶液，溶液呈红色，随后溶液迅速褪色，说明漂粉精溶液呈. 性并具有性。</a:t>
            </a:r>
          </a:p>
        </p:txBody>
      </p:sp>
      <p:sp>
        <p:nvSpPr>
          <p:cNvPr id="13" name="文字_解答题  ·  05-01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05-010</a:t>
            </a:r>
          </a:p>
        </p:txBody>
      </p:sp>
      <p:sp>
        <p:nvSpPr>
          <p:cNvPr id="14" name="文字_1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变式1</a:t>
            </a:r>
          </a:p>
        </p:txBody>
      </p:sp>
      <p:sp>
        <p:nvSpPr>
          <p:cNvPr id="5" name="文字_P12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P122</a:t>
            </a:r>
          </a:p>
        </p:txBody>
      </p:sp>
      <p:sp>
        <p:nvSpPr>
          <p:cNvPr id="6" name="文字_下列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下列说法正确的是</a:t>
            </a:r>
          </a:p>
        </p:txBody>
      </p:sp>
      <p:sp>
        <p:nvSpPr>
          <p:cNvPr id="7" name="文字_A. 干燥的氯气不能使鲜花褪色"/>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干燥的氯气不能使鲜花褪色</a:t>
            </a:r>
          </a:p>
        </p:txBody>
      </p:sp>
      <p:sp>
        <p:nvSpPr>
          <p:cNvPr id="8" name="文字_B. 纯净的氢气在氯气中安静地燃烧，有白烟产生"/>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纯净的氢气在氯气中安静地燃烧，有白烟产生</a:t>
            </a:r>
          </a:p>
        </p:txBody>
      </p:sp>
      <p:sp>
        <p:nvSpPr>
          <p:cNvPr id="9" name="文字_C. Cl₂是一种很强的氧化剂，在加热条件下能与"/>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Cl₂是一种很强的氧化剂，在加热条件下能与Fe单质反应生成FeCl₂</a:t>
            </a:r>
          </a:p>
        </p:txBody>
      </p:sp>
      <p:sp>
        <p:nvSpPr>
          <p:cNvPr id="10" name="文字_D. 氯气能与水反应生成HClO和HCl，久置氯"/>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氯气能与水反应生成HClO和HCl，久置氯水最终变为稀盐酸</a:t>
            </a:r>
          </a:p>
        </p:txBody>
      </p:sp>
      <p:sp>
        <p:nvSpPr>
          <p:cNvPr id="11" name="文字_单选题  ·  05-01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05-011</a:t>
            </a:r>
          </a:p>
        </p:txBody>
      </p:sp>
      <p:sp>
        <p:nvSpPr>
          <p:cNvPr id="12" name="文字_1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变式2</a:t>
            </a:r>
          </a:p>
        </p:txBody>
      </p:sp>
      <p:sp>
        <p:nvSpPr>
          <p:cNvPr id="5" name="文字_P12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P122</a:t>
            </a:r>
          </a:p>
        </p:txBody>
      </p:sp>
      <p:sp>
        <p:nvSpPr>
          <p:cNvPr id="6" name="文字_下列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下列说法正确的是()</a:t>
            </a:r>
          </a:p>
        </p:txBody>
      </p:sp>
      <p:sp>
        <p:nvSpPr>
          <p:cNvPr id="7" name="文字_①氯气的性质活泼，它与氢气混合后立即发生爆炸"/>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①氯气的性质活泼，它与氢气混合后立即发生爆炸</a:t>
            </a:r>
          </a:p>
        </p:txBody>
      </p:sp>
      <p:sp>
        <p:nvSpPr>
          <p:cNvPr id="8" name="文字_②实验室制取氯气时，为了防止环境污染，多余的氯气"/>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②实验室制取氯气时，为了防止环境污染，多余的氯气可以用氢氧化钙溶液吸收</a:t>
            </a:r>
          </a:p>
        </p:txBody>
      </p:sp>
      <p:sp>
        <p:nvSpPr>
          <p:cNvPr id="9" name="文字_③新制氯水的氧化性强于久置氯水"/>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③新制氯水的氧化性强于久置氯水</a:t>
            </a:r>
          </a:p>
        </p:txBody>
      </p:sp>
      <p:sp>
        <p:nvSpPr>
          <p:cNvPr id="10" name="文字_④检验HCl气体中是否混有Cl₂的方法是将气体通"/>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④检验HCl气体中是否混有Cl₂的方法是将气体通入硝酸银溶液</a:t>
            </a:r>
          </a:p>
        </p:txBody>
      </p:sp>
      <p:sp>
        <p:nvSpPr>
          <p:cNvPr id="11" name="文字_⑤除去HCl气体中的Cl₂，可将气体通入饱和食盐"/>
          <p:cNvSpPr txBox="1"/>
          <p:nvPr/>
        </p:nvSpPr>
        <p:spPr>
          <a:xfrm>
            <a:off x="502920" y="32735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⑤除去HCl气体中的Cl₂，可将气体通入饱和食盐水</a:t>
            </a:r>
          </a:p>
        </p:txBody>
      </p:sp>
      <p:sp>
        <p:nvSpPr>
          <p:cNvPr id="12" name="文字_A. ①②③"/>
          <p:cNvSpPr txBox="1"/>
          <p:nvPr/>
        </p:nvSpPr>
        <p:spPr>
          <a:xfrm>
            <a:off x="502920" y="37124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①②③</a:t>
            </a:r>
          </a:p>
        </p:txBody>
      </p:sp>
      <p:sp>
        <p:nvSpPr>
          <p:cNvPr id="13" name="文字_B. ②③④"/>
          <p:cNvSpPr txBox="1"/>
          <p:nvPr/>
        </p:nvSpPr>
        <p:spPr>
          <a:xfrm>
            <a:off x="502920" y="41513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②③④</a:t>
            </a:r>
          </a:p>
        </p:txBody>
      </p:sp>
      <p:sp>
        <p:nvSpPr>
          <p:cNvPr id="14" name="文字_C. ③⑤"/>
          <p:cNvSpPr txBox="1"/>
          <p:nvPr/>
        </p:nvSpPr>
        <p:spPr>
          <a:xfrm>
            <a:off x="502920" y="45902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③⑤</a:t>
            </a:r>
          </a:p>
        </p:txBody>
      </p:sp>
      <p:sp>
        <p:nvSpPr>
          <p:cNvPr id="15" name="文字_D. ③"/>
          <p:cNvSpPr txBox="1"/>
          <p:nvPr/>
        </p:nvSpPr>
        <p:spPr>
          <a:xfrm>
            <a:off x="502920" y="50292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③</a:t>
            </a:r>
          </a:p>
        </p:txBody>
      </p:sp>
      <p:sp>
        <p:nvSpPr>
          <p:cNvPr id="16" name="文字_单选题  ·  05-01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05-012</a:t>
            </a:r>
          </a:p>
        </p:txBody>
      </p:sp>
      <p:sp>
        <p:nvSpPr>
          <p:cNvPr id="17" name="文字_1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变式3</a:t>
            </a:r>
          </a:p>
        </p:txBody>
      </p:sp>
      <p:sp>
        <p:nvSpPr>
          <p:cNvPr id="5" name="文字_P12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P122</a:t>
            </a:r>
          </a:p>
        </p:txBody>
      </p:sp>
      <p:sp>
        <p:nvSpPr>
          <p:cNvPr id="6" name="文字_下列化合物中，不能通过两种单质间直接化合制取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下列化合物中，不能通过两种单质间直接化合制取的是</a:t>
            </a:r>
          </a:p>
        </p:txBody>
      </p:sp>
      <p:sp>
        <p:nvSpPr>
          <p:cNvPr id="7" name="文字_A. FeCl₃"/>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FeCl₃</a:t>
            </a:r>
          </a:p>
        </p:txBody>
      </p:sp>
      <p:sp>
        <p:nvSpPr>
          <p:cNvPr id="8" name="文字_B. Cu₂S"/>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Cu₂S</a:t>
            </a:r>
          </a:p>
        </p:txBody>
      </p:sp>
      <p:sp>
        <p:nvSpPr>
          <p:cNvPr id="9" name="文字_C. HCl"/>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HCl</a:t>
            </a:r>
          </a:p>
        </p:txBody>
      </p:sp>
      <p:sp>
        <p:nvSpPr>
          <p:cNvPr id="10" name="文字_D. FeCl₂"/>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FeCl₂</a:t>
            </a:r>
          </a:p>
        </p:txBody>
      </p:sp>
      <p:sp>
        <p:nvSpPr>
          <p:cNvPr id="11" name="文字_单选题  ·  05-01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05-013</a:t>
            </a:r>
          </a:p>
        </p:txBody>
      </p:sp>
      <p:sp>
        <p:nvSpPr>
          <p:cNvPr id="12" name="文字_1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变式4</a:t>
            </a:r>
          </a:p>
        </p:txBody>
      </p:sp>
      <p:sp>
        <p:nvSpPr>
          <p:cNvPr id="5" name="文字_P12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P122</a:t>
            </a:r>
          </a:p>
        </p:txBody>
      </p:sp>
      <p:sp>
        <p:nvSpPr>
          <p:cNvPr id="6" name="文字_氯气是一种很活泼的非金属单质，它具有较强的氧化性"/>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氯气是一种很活泼的非金属单质，它具有较强的氧化性，下列叙述中不正确的是</a:t>
            </a:r>
          </a:p>
        </p:txBody>
      </p:sp>
      <p:sp>
        <p:nvSpPr>
          <p:cNvPr id="7" name="文字_A. 红热的铜丝在氯气里剧烈燃烧，生成棕黄色的烟"/>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红热的铜丝在氯气里剧烈燃烧，生成棕黄色的烟</a:t>
            </a:r>
          </a:p>
        </p:txBody>
      </p:sp>
      <p:sp>
        <p:nvSpPr>
          <p:cNvPr id="8" name="文字_B. 氯气能与水反应生成HClO和HCl，久置氯"/>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氯气能与水反应生成HClO和HCl，久置氯水最终变为稀盐酸</a:t>
            </a:r>
          </a:p>
        </p:txBody>
      </p:sp>
      <p:sp>
        <p:nvSpPr>
          <p:cNvPr id="9" name="文字_C. 纯净的H₂在Cl₂中安静地燃烧，发出苍白色"/>
          <p:cNvSpPr txBox="1"/>
          <p:nvPr/>
        </p:nvSpPr>
        <p:spPr>
          <a:xfrm>
            <a:off x="502920" y="23957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纯净的H₂在Cl₂中安静地燃烧，发出苍白色火焰，集气瓶口呈现雾状；光照H₂</a:t>
            </a:r>
          </a:p>
          <a:p>
            <a:pPr>
              <a:lnSpc>
                <a:spcPct val="112000"/>
              </a:lnSpc>
              <a:spcBef>
                <a:spcPts val="0"/>
              </a:spcBef>
              <a:spcAft>
                <a:spcPts val="0"/>
              </a:spcAft>
              <a:defRPr sz="2400" b="0">
                <a:solidFill>
                  <a:srgbClr val="333333"/>
                </a:solidFill>
                <a:latin typeface="微软雅黑"/>
              </a:defRPr>
            </a:pPr>
            <a:r>
              <a:rPr>
                <a:ea typeface="微软雅黑"/>
              </a:rPr>
              <a:t>和Cl₂的混合气体时，因迅速化合而爆炸</a:t>
            </a:r>
          </a:p>
        </p:txBody>
      </p:sp>
      <p:sp>
        <p:nvSpPr>
          <p:cNvPr id="10" name="文字_D. 通常状况下氯气能和Fe反应，氯气的储存不能"/>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通常状况下氯气能和Fe反应，氯气的储存不能用铁质容器</a:t>
            </a:r>
          </a:p>
        </p:txBody>
      </p:sp>
      <p:sp>
        <p:nvSpPr>
          <p:cNvPr id="11" name="文字_单选题  ·  05-01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05-014</a:t>
            </a:r>
          </a:p>
        </p:txBody>
      </p:sp>
      <p:sp>
        <p:nvSpPr>
          <p:cNvPr id="12" name="文字_2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变式5</a:t>
            </a:r>
          </a:p>
        </p:txBody>
      </p:sp>
      <p:sp>
        <p:nvSpPr>
          <p:cNvPr id="5" name="文字_P12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P122</a:t>
            </a:r>
          </a:p>
        </p:txBody>
      </p:sp>
      <p:sp>
        <p:nvSpPr>
          <p:cNvPr id="6" name="文字_下列离子方程式与所述事实相符且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下列离子方程式与所述事实相符且正确的是（）</a:t>
            </a:r>
          </a:p>
        </p:txBody>
      </p:sp>
      <p:sp>
        <p:nvSpPr>
          <p:cNvPr id="7" name="文字_A. 漂白粉溶液在空气中失效：ClO⁻ + CO"/>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漂白粉溶液在空气中失效：ClO⁻ + CO₂ + H₂O=HClO + HCO₃⁻</a:t>
            </a:r>
          </a:p>
        </p:txBody>
      </p:sp>
      <p:sp>
        <p:nvSpPr>
          <p:cNvPr id="8" name="文字_B. 用浓盐酸与MnO₂反应制取少量氯气: Mn"/>
          <p:cNvSpPr txBox="1"/>
          <p:nvPr/>
        </p:nvSpPr>
        <p:spPr>
          <a:xfrm>
            <a:off x="502920" y="195681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用浓盐酸与MnO₂反应制取少量氯气: MnO₂ + 2H++2Cl⁻=Mn²⁺+Cl₂↑+</a:t>
            </a:r>
          </a:p>
          <a:p>
            <a:pPr>
              <a:lnSpc>
                <a:spcPct val="112000"/>
              </a:lnSpc>
              <a:spcBef>
                <a:spcPts val="0"/>
              </a:spcBef>
              <a:spcAft>
                <a:spcPts val="0"/>
              </a:spcAft>
              <a:defRPr sz="2400" b="0">
                <a:solidFill>
                  <a:srgbClr val="333333"/>
                </a:solidFill>
                <a:latin typeface="微软雅黑"/>
              </a:defRPr>
            </a:pPr>
            <a:r>
              <a:rPr>
                <a:ea typeface="微软雅黑"/>
              </a:rPr>
              <a:t>2H₂O</a:t>
            </a:r>
          </a:p>
        </p:txBody>
      </p:sp>
      <p:sp>
        <p:nvSpPr>
          <p:cNvPr id="9" name="文字_C. 向澄清的石灰水中通入过量的CO₂:CO₂ "/>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向澄清的石灰水中通入过量的CO₂:CO₂ + OH⁻=HCO₃⁻</a:t>
            </a:r>
          </a:p>
        </p:txBody>
      </p:sp>
      <p:sp>
        <p:nvSpPr>
          <p:cNvPr id="10" name="文字_D. 在强碱溶液中，次氯酸钠与Fe（OH）₃反应"/>
          <p:cNvSpPr txBox="1"/>
          <p:nvPr/>
        </p:nvSpPr>
        <p:spPr>
          <a:xfrm>
            <a:off x="502920" y="319735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在强碱溶液中，次氯酸钠与Fe（OH）₃反应生成Na₂FeO₄：3ClO⁻ + 2Fe（</a:t>
            </a:r>
          </a:p>
          <a:p>
            <a:pPr>
              <a:lnSpc>
                <a:spcPct val="112000"/>
              </a:lnSpc>
              <a:spcBef>
                <a:spcPts val="0"/>
              </a:spcBef>
              <a:spcAft>
                <a:spcPts val="0"/>
              </a:spcAft>
              <a:defRPr sz="2400" b="0">
                <a:solidFill>
                  <a:srgbClr val="333333"/>
                </a:solidFill>
                <a:latin typeface="微软雅黑"/>
              </a:defRPr>
            </a:pPr>
            <a:r>
              <a:rPr>
                <a:ea typeface="微软雅黑"/>
              </a:rPr>
              <a:t>OH）₃=2FeO₄²⁻ + 3Cl⁻ + H₂O + 4H+</a:t>
            </a:r>
          </a:p>
        </p:txBody>
      </p:sp>
      <p:sp>
        <p:nvSpPr>
          <p:cNvPr id="11" name="文字_单选题  ·  05-01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05-015</a:t>
            </a:r>
          </a:p>
        </p:txBody>
      </p:sp>
      <p:sp>
        <p:nvSpPr>
          <p:cNvPr id="12" name="文字_2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变式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变式6</a:t>
            </a:r>
          </a:p>
        </p:txBody>
      </p:sp>
      <p:sp>
        <p:nvSpPr>
          <p:cNvPr id="5" name="文字_P12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P123</a:t>
            </a:r>
          </a:p>
        </p:txBody>
      </p:sp>
      <p:sp>
        <p:nvSpPr>
          <p:cNvPr id="6" name="文字_某化学教师为“氯气与金属钠反应”设计了如图装置的"/>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某化学教师为“氯气与金属钠反应”设计了如图装置的实验，实验操作，先给钠预</a:t>
            </a:r>
          </a:p>
          <a:p>
            <a:pPr>
              <a:lnSpc>
                <a:spcPct val="112000"/>
              </a:lnSpc>
              <a:spcBef>
                <a:spcPts val="0"/>
              </a:spcBef>
              <a:spcAft>
                <a:spcPts val="0"/>
              </a:spcAft>
              <a:defRPr sz="2400" b="0">
                <a:solidFill>
                  <a:srgbClr val="333333"/>
                </a:solidFill>
                <a:latin typeface="微软雅黑"/>
              </a:defRPr>
            </a:pPr>
            <a:r>
              <a:rPr>
                <a:ea typeface="微软雅黑"/>
              </a:rPr>
              <a:t>热，等钠熔融成圆球时，撤火，通入氯气，即可见钠着火燃烧，生成大量白烟。以</a:t>
            </a:r>
          </a:p>
          <a:p>
            <a:pPr>
              <a:lnSpc>
                <a:spcPct val="112000"/>
              </a:lnSpc>
              <a:spcBef>
                <a:spcPts val="0"/>
              </a:spcBef>
              <a:spcAft>
                <a:spcPts val="0"/>
              </a:spcAft>
              <a:defRPr sz="2400" b="0">
                <a:solidFill>
                  <a:srgbClr val="333333"/>
                </a:solidFill>
                <a:latin typeface="微软雅黑"/>
              </a:defRPr>
            </a:pPr>
            <a:r>
              <a:rPr>
                <a:ea typeface="微软雅黑"/>
              </a:rPr>
              <a:t>下叙述错误的是</a:t>
            </a:r>
          </a:p>
        </p:txBody>
      </p:sp>
      <p:sp>
        <p:nvSpPr>
          <p:cNvPr id="7" name="文字_浸有碱液"/>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浸有碱液</a:t>
            </a:r>
          </a:p>
        </p:txBody>
      </p:sp>
      <p:pic>
        <p:nvPicPr>
          <p:cNvPr id="8" name="Picture 7" descr="image.png"/>
          <p:cNvPicPr>
            <a:picLocks noChangeAspect="1"/>
          </p:cNvPicPr>
          <p:nvPr/>
        </p:nvPicPr>
        <p:blipFill>
          <a:blip r:embed="rId3"/>
          <a:stretch>
            <a:fillRect/>
          </a:stretch>
        </p:blipFill>
        <p:spPr>
          <a:xfrm>
            <a:off x="502920" y="2682240"/>
            <a:ext cx="11064240" cy="911172"/>
          </a:xfrm>
          <a:prstGeom prst="rect">
            <a:avLst/>
          </a:prstGeom>
        </p:spPr>
      </p:pic>
      <p:sp>
        <p:nvSpPr>
          <p:cNvPr id="9" name="原题文字_123_6"/>
          <p:cNvSpPr txBox="1"/>
          <p:nvPr/>
        </p:nvSpPr>
        <p:spPr>
          <a:xfrm>
            <a:off x="2202754" y="2714123"/>
            <a:ext cx="1073233"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的棉花球</a:t>
            </a:r>
          </a:p>
        </p:txBody>
      </p:sp>
      <p:sp>
        <p:nvSpPr>
          <p:cNvPr id="10" name="原题文字_123_7"/>
          <p:cNvSpPr txBox="1"/>
          <p:nvPr/>
        </p:nvSpPr>
        <p:spPr>
          <a:xfrm>
            <a:off x="1360494" y="2874918"/>
            <a:ext cx="422395"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Na</a:t>
            </a:r>
          </a:p>
        </p:txBody>
      </p:sp>
      <p:sp>
        <p:nvSpPr>
          <p:cNvPr id="11" name="原题文字_123_8"/>
          <p:cNvSpPr txBox="1"/>
          <p:nvPr/>
        </p:nvSpPr>
        <p:spPr>
          <a:xfrm>
            <a:off x="686685" y="3012743"/>
            <a:ext cx="430052"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Cl₂</a:t>
            </a:r>
          </a:p>
        </p:txBody>
      </p:sp>
      <p:sp>
        <p:nvSpPr>
          <p:cNvPr id="12" name="文字_A. 反应生成的大量白烟是氯化钠晶体"/>
          <p:cNvSpPr txBox="1"/>
          <p:nvPr/>
        </p:nvSpPr>
        <p:spPr>
          <a:xfrm>
            <a:off x="502920" y="36665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反应生成的大量白烟是氯化钠晶体</a:t>
            </a:r>
          </a:p>
        </p:txBody>
      </p:sp>
      <p:sp>
        <p:nvSpPr>
          <p:cNvPr id="13" name="文字_B. 玻璃管尾部塞一团浸有NaOH溶液的棉球是用"/>
          <p:cNvSpPr txBox="1"/>
          <p:nvPr/>
        </p:nvSpPr>
        <p:spPr>
          <a:xfrm>
            <a:off x="502920" y="410547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玻璃管尾部塞一团浸有NaOH溶液的棉球是用于吸收过量的氯气，以免其污染空</a:t>
            </a:r>
          </a:p>
          <a:p>
            <a:pPr>
              <a:lnSpc>
                <a:spcPct val="112000"/>
              </a:lnSpc>
              <a:spcBef>
                <a:spcPts val="0"/>
              </a:spcBef>
              <a:spcAft>
                <a:spcPts val="0"/>
              </a:spcAft>
              <a:defRPr sz="2400" b="0">
                <a:solidFill>
                  <a:srgbClr val="333333"/>
                </a:solidFill>
                <a:latin typeface="微软雅黑"/>
              </a:defRPr>
            </a:pPr>
            <a:r>
              <a:rPr>
                <a:ea typeface="微软雅黑"/>
              </a:rPr>
              <a:t>气</a:t>
            </a:r>
          </a:p>
        </p:txBody>
      </p:sp>
      <p:sp>
        <p:nvSpPr>
          <p:cNvPr id="14" name="文字_C. 钠熔点高，所以先预热再反应"/>
          <p:cNvSpPr txBox="1"/>
          <p:nvPr/>
        </p:nvSpPr>
        <p:spPr>
          <a:xfrm>
            <a:off x="502920" y="49071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钠熔点高，所以先预热再反应</a:t>
            </a:r>
          </a:p>
        </p:txBody>
      </p:sp>
      <p:sp>
        <p:nvSpPr>
          <p:cNvPr id="15" name="文字_D. 若在棉球外沿滴一滴石蕊溶液，可据其颜色变化"/>
          <p:cNvSpPr txBox="1"/>
          <p:nvPr/>
        </p:nvSpPr>
        <p:spPr>
          <a:xfrm>
            <a:off x="502920" y="534601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若在棉球外沿滴一滴石蕊溶液，可据其颜色变化判断氯气是否被碱液完全吸收</a:t>
            </a:r>
          </a:p>
        </p:txBody>
      </p:sp>
      <p:sp>
        <p:nvSpPr>
          <p:cNvPr id="16" name="文字_单选题  ·  05-01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05-016</a:t>
            </a:r>
          </a:p>
        </p:txBody>
      </p:sp>
      <p:sp>
        <p:nvSpPr>
          <p:cNvPr id="17" name="文字_2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变式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变式7</a:t>
            </a:r>
          </a:p>
        </p:txBody>
      </p:sp>
      <p:sp>
        <p:nvSpPr>
          <p:cNvPr id="5" name="文字_P12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P123</a:t>
            </a:r>
          </a:p>
        </p:txBody>
      </p:sp>
      <p:sp>
        <p:nvSpPr>
          <p:cNvPr id="6" name="文字_数字化实验将传感器、数据采集器和计算机相连，可利"/>
          <p:cNvSpPr txBox="1"/>
          <p:nvPr/>
        </p:nvSpPr>
        <p:spPr>
          <a:xfrm>
            <a:off x="502920" y="1078992"/>
            <a:ext cx="11064240" cy="946022"/>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数字化实验将传感器、数据采集器和计算机相连，可利用信息技术对化学实验进行数据的采集和分析</a:t>
            </a:r>
          </a:p>
          <a:p>
            <a:pPr>
              <a:lnSpc>
                <a:spcPct val="112000"/>
              </a:lnSpc>
              <a:spcBef>
                <a:spcPts val="0"/>
              </a:spcBef>
              <a:spcAft>
                <a:spcPts val="0"/>
              </a:spcAft>
              <a:defRPr sz="1950" b="0">
                <a:solidFill>
                  <a:srgbClr val="333333"/>
                </a:solidFill>
                <a:latin typeface="微软雅黑"/>
              </a:defRPr>
            </a:pPr>
            <a:r>
              <a:rPr>
                <a:ea typeface="微软雅黑"/>
              </a:rPr>
              <a:t>。某学习小组的同学利用数字化实验对光照过程中新制饱和氯水的变化进行检测，得到如图曲线。下</a:t>
            </a:r>
          </a:p>
          <a:p>
            <a:pPr>
              <a:lnSpc>
                <a:spcPct val="112000"/>
              </a:lnSpc>
              <a:spcBef>
                <a:spcPts val="0"/>
              </a:spcBef>
              <a:spcAft>
                <a:spcPts val="0"/>
              </a:spcAft>
              <a:defRPr sz="1950" b="0">
                <a:solidFill>
                  <a:srgbClr val="333333"/>
                </a:solidFill>
                <a:latin typeface="微软雅黑"/>
              </a:defRPr>
            </a:pPr>
            <a:r>
              <a:rPr>
                <a:ea typeface="微软雅黑"/>
              </a:rPr>
              <a:t>列说法错误的是</a:t>
            </a:r>
          </a:p>
        </p:txBody>
      </p:sp>
      <p:pic>
        <p:nvPicPr>
          <p:cNvPr id="7" name="Picture 6" descr="image.png"/>
          <p:cNvPicPr>
            <a:picLocks noChangeAspect="1"/>
          </p:cNvPicPr>
          <p:nvPr/>
        </p:nvPicPr>
        <p:blipFill>
          <a:blip r:embed="rId3"/>
          <a:stretch>
            <a:fillRect/>
          </a:stretch>
        </p:blipFill>
        <p:spPr>
          <a:xfrm>
            <a:off x="502920" y="2025014"/>
            <a:ext cx="11064240" cy="2496153"/>
          </a:xfrm>
          <a:prstGeom prst="rect">
            <a:avLst/>
          </a:prstGeom>
        </p:spPr>
      </p:pic>
      <p:sp>
        <p:nvSpPr>
          <p:cNvPr id="8" name="原题文字_123_18"/>
          <p:cNvSpPr txBox="1"/>
          <p:nvPr/>
        </p:nvSpPr>
        <p:spPr>
          <a:xfrm>
            <a:off x="4009786" y="2118154"/>
            <a:ext cx="261600"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L</a:t>
            </a:r>
          </a:p>
        </p:txBody>
      </p:sp>
      <p:sp>
        <p:nvSpPr>
          <p:cNvPr id="9" name="原题文字_123_19"/>
          <p:cNvSpPr txBox="1"/>
          <p:nvPr/>
        </p:nvSpPr>
        <p:spPr>
          <a:xfrm>
            <a:off x="4170581" y="2110497"/>
            <a:ext cx="514278" cy="358343"/>
          </a:xfrm>
          <a:prstGeom prst="rect">
            <a:avLst/>
          </a:prstGeom>
          <a:noFill/>
        </p:spPr>
        <p:txBody>
          <a:bodyPr wrap="none" lIns="0" rIns="0" tIns="0" bIns="0">
            <a:spAutoFit/>
          </a:bodyPr>
          <a:lstStyle/>
          <a:p>
            <a:pPr>
              <a:lnSpc>
                <a:spcPct val="112000"/>
              </a:lnSpc>
              <a:spcBef>
                <a:spcPts val="0"/>
              </a:spcBef>
              <a:spcAft>
                <a:spcPts val="0"/>
              </a:spcAft>
              <a:defRPr sz="1726" b="0">
                <a:solidFill>
                  <a:srgbClr val="333333"/>
                </a:solidFill>
                <a:latin typeface="微软雅黑"/>
              </a:defRPr>
            </a:pPr>
            <a:r>
              <a:rPr>
                <a:ea typeface="微软雅黑"/>
              </a:rPr>
              <a:t>1000</a:t>
            </a:r>
          </a:p>
        </p:txBody>
      </p:sp>
      <p:sp>
        <p:nvSpPr>
          <p:cNvPr id="10" name="原题文字_123_20"/>
          <p:cNvSpPr txBox="1"/>
          <p:nvPr/>
        </p:nvSpPr>
        <p:spPr>
          <a:xfrm>
            <a:off x="7662134" y="2171752"/>
            <a:ext cx="338169"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24</a:t>
            </a:r>
          </a:p>
        </p:txBody>
      </p:sp>
      <p:sp>
        <p:nvSpPr>
          <p:cNvPr id="11" name="原题文字_123_21"/>
          <p:cNvSpPr txBox="1"/>
          <p:nvPr/>
        </p:nvSpPr>
        <p:spPr>
          <a:xfrm>
            <a:off x="3917903" y="2324890"/>
            <a:ext cx="422395" cy="2130153"/>
          </a:xfrm>
          <a:prstGeom prst="rect">
            <a:avLst/>
          </a:prstGeom>
          <a:noFill/>
        </p:spPr>
        <p:txBody>
          <a:bodyPr wrap="none" lIns="0" rIns="0" tIns="0" bIns="0">
            <a:spAutoFit/>
          </a:bodyPr>
          <a:lstStyle/>
          <a:p>
            <a:pPr>
              <a:lnSpc>
                <a:spcPct val="112000"/>
              </a:lnSpc>
              <a:spcBef>
                <a:spcPts val="0"/>
              </a:spcBef>
              <a:spcAft>
                <a:spcPts val="0"/>
              </a:spcAft>
              <a:defRPr sz="6812" b="0">
                <a:solidFill>
                  <a:srgbClr val="333333"/>
                </a:solidFill>
                <a:latin typeface="微软雅黑"/>
              </a:defRPr>
            </a:pPr>
            <a:r>
              <a:rPr>
                <a:ea typeface="微软雅黑"/>
              </a:rPr>
              <a:t>)/热g</a:t>
            </a:r>
          </a:p>
        </p:txBody>
      </p:sp>
      <p:sp>
        <p:nvSpPr>
          <p:cNvPr id="12" name="原题文字_123_22"/>
          <p:cNvSpPr txBox="1"/>
          <p:nvPr/>
        </p:nvSpPr>
        <p:spPr>
          <a:xfrm>
            <a:off x="786225" y="2455058"/>
            <a:ext cx="376454"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2.0-</a:t>
            </a:r>
          </a:p>
        </p:txBody>
      </p:sp>
      <p:sp>
        <p:nvSpPr>
          <p:cNvPr id="13" name="原题文字_123_23"/>
          <p:cNvSpPr txBox="1"/>
          <p:nvPr/>
        </p:nvSpPr>
        <p:spPr>
          <a:xfrm>
            <a:off x="4270121" y="2485685"/>
            <a:ext cx="414738"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800</a:t>
            </a:r>
          </a:p>
        </p:txBody>
      </p:sp>
      <p:sp>
        <p:nvSpPr>
          <p:cNvPr id="14" name="原题文字_123_24"/>
          <p:cNvSpPr txBox="1"/>
          <p:nvPr/>
        </p:nvSpPr>
        <p:spPr>
          <a:xfrm>
            <a:off x="6222634" y="2378489"/>
            <a:ext cx="789927" cy="607193"/>
          </a:xfrm>
          <a:prstGeom prst="rect">
            <a:avLst/>
          </a:prstGeom>
          <a:noFill/>
        </p:spPr>
        <p:txBody>
          <a:bodyPr wrap="none" lIns="0" rIns="0" tIns="0" bIns="0">
            <a:spAutoFit/>
          </a:bodyPr>
          <a:lstStyle/>
          <a:p>
            <a:pPr>
              <a:lnSpc>
                <a:spcPct val="112000"/>
              </a:lnSpc>
              <a:spcBef>
                <a:spcPts val="0"/>
              </a:spcBef>
              <a:spcAft>
                <a:spcPts val="0"/>
              </a:spcAft>
              <a:defRPr sz="1955" b="0">
                <a:solidFill>
                  <a:srgbClr val="333333"/>
                </a:solidFill>
                <a:latin typeface="微软雅黑"/>
              </a:defRPr>
            </a:pPr>
            <a:r>
              <a:rPr>
                <a:ea typeface="微软雅黑"/>
              </a:rPr>
              <a:t>mwmy</a:t>
            </a:r>
          </a:p>
        </p:txBody>
      </p:sp>
      <p:sp>
        <p:nvSpPr>
          <p:cNvPr id="15" name="原题文字_123_25"/>
          <p:cNvSpPr txBox="1"/>
          <p:nvPr/>
        </p:nvSpPr>
        <p:spPr>
          <a:xfrm>
            <a:off x="7700418" y="2600539"/>
            <a:ext cx="292228"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22</a:t>
            </a:r>
          </a:p>
        </p:txBody>
      </p:sp>
      <p:sp>
        <p:nvSpPr>
          <p:cNvPr id="16" name="原题文字_123_26"/>
          <p:cNvSpPr txBox="1"/>
          <p:nvPr/>
        </p:nvSpPr>
        <p:spPr>
          <a:xfrm>
            <a:off x="4277778" y="2837903"/>
            <a:ext cx="407082"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600</a:t>
            </a:r>
          </a:p>
        </p:txBody>
      </p:sp>
      <p:sp>
        <p:nvSpPr>
          <p:cNvPr id="17" name="原题文字_123_27"/>
          <p:cNvSpPr txBox="1"/>
          <p:nvPr/>
        </p:nvSpPr>
        <p:spPr>
          <a:xfrm>
            <a:off x="7692761" y="3082925"/>
            <a:ext cx="299885"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20</a:t>
            </a:r>
          </a:p>
        </p:txBody>
      </p:sp>
      <p:sp>
        <p:nvSpPr>
          <p:cNvPr id="18" name="原题文字_123_28"/>
          <p:cNvSpPr txBox="1"/>
          <p:nvPr/>
        </p:nvSpPr>
        <p:spPr>
          <a:xfrm>
            <a:off x="4277778" y="3197778"/>
            <a:ext cx="414738"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400</a:t>
            </a:r>
          </a:p>
        </p:txBody>
      </p:sp>
      <p:sp>
        <p:nvSpPr>
          <p:cNvPr id="19" name="原题文字_123_29"/>
          <p:cNvSpPr txBox="1"/>
          <p:nvPr/>
        </p:nvSpPr>
        <p:spPr>
          <a:xfrm>
            <a:off x="801539" y="3542339"/>
            <a:ext cx="368797"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1.0</a:t>
            </a:r>
          </a:p>
        </p:txBody>
      </p:sp>
      <p:sp>
        <p:nvSpPr>
          <p:cNvPr id="20" name="原题文字_123_30"/>
          <p:cNvSpPr txBox="1"/>
          <p:nvPr/>
        </p:nvSpPr>
        <p:spPr>
          <a:xfrm>
            <a:off x="4277778" y="3572967"/>
            <a:ext cx="414738"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200</a:t>
            </a:r>
          </a:p>
        </p:txBody>
      </p:sp>
      <p:sp>
        <p:nvSpPr>
          <p:cNvPr id="21" name="原题文字_123_31"/>
          <p:cNvSpPr txBox="1"/>
          <p:nvPr/>
        </p:nvSpPr>
        <p:spPr>
          <a:xfrm>
            <a:off x="1084845" y="3756733"/>
            <a:ext cx="185031" cy="238895"/>
          </a:xfrm>
          <a:prstGeom prst="rect">
            <a:avLst/>
          </a:prstGeom>
          <a:noFill/>
        </p:spPr>
        <p:txBody>
          <a:bodyPr wrap="none" lIns="0" rIns="0" tIns="0" bIns="0">
            <a:spAutoFit/>
          </a:bodyPr>
          <a:lstStyle/>
          <a:p>
            <a:pPr>
              <a:lnSpc>
                <a:spcPct val="112000"/>
              </a:lnSpc>
              <a:spcBef>
                <a:spcPts val="0"/>
              </a:spcBef>
              <a:spcAft>
                <a:spcPts val="0"/>
              </a:spcAft>
              <a:defRPr sz="1157" b="0">
                <a:solidFill>
                  <a:srgbClr val="333333"/>
                </a:solidFill>
                <a:latin typeface="微软雅黑"/>
              </a:defRPr>
            </a:pPr>
            <a:r>
              <a:rPr>
                <a:ea typeface="微软雅黑"/>
              </a:rPr>
              <a:t>0</a:t>
            </a:r>
          </a:p>
        </p:txBody>
      </p:sp>
      <p:sp>
        <p:nvSpPr>
          <p:cNvPr id="22" name="原题文字_123_32"/>
          <p:cNvSpPr txBox="1"/>
          <p:nvPr/>
        </p:nvSpPr>
        <p:spPr>
          <a:xfrm>
            <a:off x="1750996" y="3741419"/>
            <a:ext cx="307542"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50</a:t>
            </a:r>
          </a:p>
        </p:txBody>
      </p:sp>
      <p:sp>
        <p:nvSpPr>
          <p:cNvPr id="23" name="原题文字_123_33"/>
          <p:cNvSpPr txBox="1"/>
          <p:nvPr/>
        </p:nvSpPr>
        <p:spPr>
          <a:xfrm>
            <a:off x="2432462" y="3733762"/>
            <a:ext cx="407082"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100</a:t>
            </a:r>
          </a:p>
        </p:txBody>
      </p:sp>
      <p:sp>
        <p:nvSpPr>
          <p:cNvPr id="24" name="原题文字_123_34"/>
          <p:cNvSpPr txBox="1"/>
          <p:nvPr/>
        </p:nvSpPr>
        <p:spPr>
          <a:xfrm>
            <a:off x="3159868" y="3733762"/>
            <a:ext cx="399425"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150</a:t>
            </a:r>
          </a:p>
        </p:txBody>
      </p:sp>
      <p:sp>
        <p:nvSpPr>
          <p:cNvPr id="25" name="原题文字_123_35"/>
          <p:cNvSpPr txBox="1"/>
          <p:nvPr/>
        </p:nvSpPr>
        <p:spPr>
          <a:xfrm>
            <a:off x="4652967" y="3756733"/>
            <a:ext cx="185031"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0</a:t>
            </a:r>
          </a:p>
        </p:txBody>
      </p:sp>
      <p:sp>
        <p:nvSpPr>
          <p:cNvPr id="26" name="原题文字_123_36"/>
          <p:cNvSpPr txBox="1"/>
          <p:nvPr/>
        </p:nvSpPr>
        <p:spPr>
          <a:xfrm>
            <a:off x="5311461" y="3741419"/>
            <a:ext cx="307542"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50</a:t>
            </a:r>
          </a:p>
        </p:txBody>
      </p:sp>
      <p:sp>
        <p:nvSpPr>
          <p:cNvPr id="27" name="原题文字_123_37"/>
          <p:cNvSpPr txBox="1"/>
          <p:nvPr/>
        </p:nvSpPr>
        <p:spPr>
          <a:xfrm>
            <a:off x="6000583" y="3733762"/>
            <a:ext cx="391768"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100</a:t>
            </a:r>
          </a:p>
        </p:txBody>
      </p:sp>
      <p:sp>
        <p:nvSpPr>
          <p:cNvPr id="28" name="原题文字_123_38"/>
          <p:cNvSpPr txBox="1"/>
          <p:nvPr/>
        </p:nvSpPr>
        <p:spPr>
          <a:xfrm>
            <a:off x="6720333" y="3733762"/>
            <a:ext cx="407082"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150</a:t>
            </a:r>
          </a:p>
        </p:txBody>
      </p:sp>
      <p:sp>
        <p:nvSpPr>
          <p:cNvPr id="29" name="原题文字_123_39"/>
          <p:cNvSpPr txBox="1"/>
          <p:nvPr/>
        </p:nvSpPr>
        <p:spPr>
          <a:xfrm>
            <a:off x="7937783" y="3756733"/>
            <a:ext cx="185031"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0</a:t>
            </a:r>
          </a:p>
        </p:txBody>
      </p:sp>
      <p:sp>
        <p:nvSpPr>
          <p:cNvPr id="30" name="原题文字_123_40"/>
          <p:cNvSpPr txBox="1"/>
          <p:nvPr/>
        </p:nvSpPr>
        <p:spPr>
          <a:xfrm>
            <a:off x="8557992" y="3741419"/>
            <a:ext cx="307542"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50</a:t>
            </a:r>
          </a:p>
        </p:txBody>
      </p:sp>
      <p:sp>
        <p:nvSpPr>
          <p:cNvPr id="31" name="原题文字_123_41"/>
          <p:cNvSpPr txBox="1"/>
          <p:nvPr/>
        </p:nvSpPr>
        <p:spPr>
          <a:xfrm>
            <a:off x="9231801" y="3710792"/>
            <a:ext cx="414738"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100</a:t>
            </a:r>
          </a:p>
        </p:txBody>
      </p:sp>
      <p:sp>
        <p:nvSpPr>
          <p:cNvPr id="32" name="原题文字_123_42"/>
          <p:cNvSpPr txBox="1"/>
          <p:nvPr/>
        </p:nvSpPr>
        <p:spPr>
          <a:xfrm>
            <a:off x="9920923" y="3733762"/>
            <a:ext cx="399425"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150</a:t>
            </a:r>
          </a:p>
        </p:txBody>
      </p:sp>
      <p:sp>
        <p:nvSpPr>
          <p:cNvPr id="33" name="原题文字_123_43"/>
          <p:cNvSpPr txBox="1"/>
          <p:nvPr/>
        </p:nvSpPr>
        <p:spPr>
          <a:xfrm>
            <a:off x="1934762" y="3886901"/>
            <a:ext cx="659760" cy="398159"/>
          </a:xfrm>
          <a:prstGeom prst="rect">
            <a:avLst/>
          </a:prstGeom>
          <a:noFill/>
        </p:spPr>
        <p:txBody>
          <a:bodyPr wrap="none" lIns="0" rIns="0" tIns="0" bIns="0">
            <a:spAutoFit/>
          </a:bodyPr>
          <a:lstStyle/>
          <a:p>
            <a:pPr>
              <a:lnSpc>
                <a:spcPct val="112000"/>
              </a:lnSpc>
              <a:spcBef>
                <a:spcPts val="0"/>
              </a:spcBef>
              <a:spcAft>
                <a:spcPts val="0"/>
              </a:spcAft>
              <a:defRPr sz="1797" b="0">
                <a:solidFill>
                  <a:srgbClr val="333333"/>
                </a:solidFill>
                <a:latin typeface="微软雅黑"/>
              </a:defRPr>
            </a:pPr>
            <a:r>
              <a:rPr>
                <a:ea typeface="微软雅黑"/>
              </a:rPr>
              <a:t>时间/s</a:t>
            </a:r>
          </a:p>
        </p:txBody>
      </p:sp>
      <p:sp>
        <p:nvSpPr>
          <p:cNvPr id="34" name="原题文字_123_44"/>
          <p:cNvSpPr txBox="1"/>
          <p:nvPr/>
        </p:nvSpPr>
        <p:spPr>
          <a:xfrm>
            <a:off x="5548825" y="3909871"/>
            <a:ext cx="636789" cy="368297"/>
          </a:xfrm>
          <a:prstGeom prst="rect">
            <a:avLst/>
          </a:prstGeom>
          <a:noFill/>
        </p:spPr>
        <p:txBody>
          <a:bodyPr wrap="none" lIns="0" rIns="0" tIns="0" bIns="0">
            <a:spAutoFit/>
          </a:bodyPr>
          <a:lstStyle/>
          <a:p>
            <a:pPr>
              <a:lnSpc>
                <a:spcPct val="112000"/>
              </a:lnSpc>
              <a:spcBef>
                <a:spcPts val="0"/>
              </a:spcBef>
              <a:spcAft>
                <a:spcPts val="0"/>
              </a:spcAft>
              <a:defRPr sz="1746" b="0">
                <a:solidFill>
                  <a:srgbClr val="333333"/>
                </a:solidFill>
                <a:latin typeface="微软雅黑"/>
              </a:defRPr>
            </a:pPr>
            <a:r>
              <a:rPr>
                <a:ea typeface="微软雅黑"/>
              </a:rPr>
              <a:t>时间/s</a:t>
            </a:r>
          </a:p>
        </p:txBody>
      </p:sp>
      <p:sp>
        <p:nvSpPr>
          <p:cNvPr id="35" name="原题文字_123_45"/>
          <p:cNvSpPr txBox="1"/>
          <p:nvPr/>
        </p:nvSpPr>
        <p:spPr>
          <a:xfrm>
            <a:off x="8718788" y="3909871"/>
            <a:ext cx="652103"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时间/s</a:t>
            </a:r>
          </a:p>
        </p:txBody>
      </p:sp>
      <p:sp>
        <p:nvSpPr>
          <p:cNvPr id="36" name="原题文字_123_46"/>
          <p:cNvSpPr txBox="1"/>
          <p:nvPr/>
        </p:nvSpPr>
        <p:spPr>
          <a:xfrm>
            <a:off x="2026645" y="4193177"/>
            <a:ext cx="414738"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图1</a:t>
            </a:r>
          </a:p>
        </p:txBody>
      </p:sp>
      <p:sp>
        <p:nvSpPr>
          <p:cNvPr id="37" name="原题文字_123_47"/>
          <p:cNvSpPr txBox="1"/>
          <p:nvPr/>
        </p:nvSpPr>
        <p:spPr>
          <a:xfrm>
            <a:off x="5518198" y="4200834"/>
            <a:ext cx="422395"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图2</a:t>
            </a:r>
          </a:p>
        </p:txBody>
      </p:sp>
      <p:sp>
        <p:nvSpPr>
          <p:cNvPr id="38" name="原题文字_123_48"/>
          <p:cNvSpPr txBox="1"/>
          <p:nvPr/>
        </p:nvSpPr>
        <p:spPr>
          <a:xfrm>
            <a:off x="8780043" y="4208491"/>
            <a:ext cx="407082"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图3</a:t>
            </a:r>
          </a:p>
        </p:txBody>
      </p:sp>
      <p:sp>
        <p:nvSpPr>
          <p:cNvPr id="39" name="文字_A. 结合上图可知，光照过程中O₂的体积分数逐渐"/>
          <p:cNvSpPr txBox="1"/>
          <p:nvPr/>
        </p:nvSpPr>
        <p:spPr>
          <a:xfrm>
            <a:off x="502920" y="4594320"/>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A. 结合上图可知，光照过程中O₂的体积分数逐渐增加，说明发生了反应，且O₂为该反应的还原产物</a:t>
            </a:r>
          </a:p>
        </p:txBody>
      </p:sp>
      <p:sp>
        <p:nvSpPr>
          <p:cNvPr id="40" name="文字_B. 结合上图可知，氯水应保存在棕色试剂瓶中，并"/>
          <p:cNvSpPr txBox="1"/>
          <p:nvPr/>
        </p:nvSpPr>
        <p:spPr>
          <a:xfrm>
            <a:off x="502920" y="4950936"/>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B. 结合上图可知，氯水应保存在棕色试剂瓶中，并置于冷暗处</a:t>
            </a:r>
          </a:p>
        </p:txBody>
      </p:sp>
      <p:sp>
        <p:nvSpPr>
          <p:cNvPr id="41" name="文字_C. 结合上图可知，若将氯水长时间强光照射，该溶"/>
          <p:cNvSpPr txBox="1"/>
          <p:nvPr/>
        </p:nvSpPr>
        <p:spPr>
          <a:xfrm>
            <a:off x="502920" y="5307552"/>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C. 结合上图可知，若将氯水长时间强光照射，该溶液的氧化性减弱</a:t>
            </a:r>
          </a:p>
        </p:txBody>
      </p:sp>
      <p:sp>
        <p:nvSpPr>
          <p:cNvPr id="42" name="文字_D. 结合上图可知，光照射过程中溶液的导电能力逐"/>
          <p:cNvSpPr txBox="1"/>
          <p:nvPr/>
        </p:nvSpPr>
        <p:spPr>
          <a:xfrm>
            <a:off x="502920" y="5664168"/>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D. 结合上图可知，光照射过程中溶液的导电能力逐渐增强</a:t>
            </a:r>
          </a:p>
        </p:txBody>
      </p:sp>
      <p:sp>
        <p:nvSpPr>
          <p:cNvPr id="43" name="文字_单选题  ·  05-01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05-017</a:t>
            </a:r>
          </a:p>
        </p:txBody>
      </p:sp>
      <p:sp>
        <p:nvSpPr>
          <p:cNvPr id="44" name="文字_2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变式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变式8</a:t>
            </a:r>
          </a:p>
        </p:txBody>
      </p:sp>
      <p:sp>
        <p:nvSpPr>
          <p:cNvPr id="5" name="文字_P12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P123</a:t>
            </a:r>
          </a:p>
        </p:txBody>
      </p:sp>
      <p:sp>
        <p:nvSpPr>
          <p:cNvPr id="6" name="文字_(CN)2、(SCN)₂的化学性质与卤素单质很相"/>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(CN)2、(SCN)₂的化学性质与卤素单质很相似，化学上称之为拟卤素。它们阴离子</a:t>
            </a:r>
          </a:p>
          <a:p>
            <a:pPr>
              <a:lnSpc>
                <a:spcPct val="112000"/>
              </a:lnSpc>
              <a:spcBef>
                <a:spcPts val="0"/>
              </a:spcBef>
              <a:spcAft>
                <a:spcPts val="0"/>
              </a:spcAft>
              <a:defRPr sz="2400" b="0">
                <a:solidFill>
                  <a:srgbClr val="333333"/>
                </a:solidFill>
                <a:latin typeface="微软雅黑"/>
              </a:defRPr>
            </a:pPr>
            <a:r>
              <a:rPr>
                <a:ea typeface="微软雅黑"/>
              </a:rPr>
              <a:t>的还原性强弱为Cl-&lt;Br&lt;CN&lt;SCN&lt;I⁻。下列有关反应的叙述中不正确的是</a:t>
            </a:r>
          </a:p>
        </p:txBody>
      </p:sp>
      <p:sp>
        <p:nvSpPr>
          <p:cNvPr id="7" name="文字_A. Cl₂通入NaCN溶液中有(CN)₂生成"/>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Cl₂通入NaCN溶液中有(CN)₂生成</a:t>
            </a:r>
          </a:p>
        </p:txBody>
      </p:sp>
      <p:sp>
        <p:nvSpPr>
          <p:cNvPr id="8" name="文字_B. (CN)₂在碱液中能生成CN和CNO⁻"/>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(CN)₂在碱液中能生成CN和CNO⁻</a:t>
            </a:r>
          </a:p>
        </p:txBody>
      </p:sp>
      <p:sp>
        <p:nvSpPr>
          <p:cNvPr id="9" name="文字_C. NaBr和KSCN的混合液中加入足量的(C"/>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NaBr和KSCN的混合液中加入足量的(CN)2，有Br₂和(SCN)₂生成</a:t>
            </a:r>
          </a:p>
        </p:txBody>
      </p:sp>
      <p:sp>
        <p:nvSpPr>
          <p:cNvPr id="10" name="文字_D. 在化学反应中，(CN)2、(SCN)₂可作"/>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在化学反应中，(CN)2、(SCN)₂可作氧化剂</a:t>
            </a:r>
          </a:p>
        </p:txBody>
      </p:sp>
      <p:sp>
        <p:nvSpPr>
          <p:cNvPr id="11" name="文字_单选题  ·  05-01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05-018</a:t>
            </a:r>
          </a:p>
        </p:txBody>
      </p:sp>
      <p:sp>
        <p:nvSpPr>
          <p:cNvPr id="12" name="文字_2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变式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变式9</a:t>
            </a:r>
          </a:p>
        </p:txBody>
      </p:sp>
      <p:sp>
        <p:nvSpPr>
          <p:cNvPr id="5" name="文字_P12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P124</a:t>
            </a:r>
          </a:p>
        </p:txBody>
      </p:sp>
      <p:sp>
        <p:nvSpPr>
          <p:cNvPr id="6" name="文字_溴(Br)与氯(C₁)同属“卤族元素”，最外层均"/>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溴(Br)与氯(C₁)同属“卤族元素”，最外层均有7个电子，在反应中易得1个电子，</a:t>
            </a:r>
          </a:p>
          <a:p>
            <a:pPr>
              <a:lnSpc>
                <a:spcPct val="112000"/>
              </a:lnSpc>
              <a:spcBef>
                <a:spcPts val="0"/>
              </a:spcBef>
              <a:spcAft>
                <a:spcPts val="0"/>
              </a:spcAft>
              <a:defRPr sz="2400" b="0">
                <a:solidFill>
                  <a:srgbClr val="333333"/>
                </a:solidFill>
                <a:latin typeface="微软雅黑"/>
              </a:defRPr>
            </a:pPr>
            <a:r>
              <a:rPr>
                <a:ea typeface="微软雅黑"/>
              </a:rPr>
              <a:t>化学性质具有很大的相似性，且氧化性Cl₂&gt;Br₂。下面根据氯的性质对溴的性质预</a:t>
            </a:r>
          </a:p>
          <a:p>
            <a:pPr>
              <a:lnSpc>
                <a:spcPct val="112000"/>
              </a:lnSpc>
              <a:spcBef>
                <a:spcPts val="0"/>
              </a:spcBef>
              <a:spcAft>
                <a:spcPts val="0"/>
              </a:spcAft>
              <a:defRPr sz="2400" b="0">
                <a:solidFill>
                  <a:srgbClr val="333333"/>
                </a:solidFill>
                <a:latin typeface="微软雅黑"/>
              </a:defRPr>
            </a:pPr>
            <a:r>
              <a:rPr>
                <a:ea typeface="微软雅黑"/>
              </a:rPr>
              <a:t>测不合理的是</a:t>
            </a:r>
          </a:p>
        </p:txBody>
      </p:sp>
      <p:sp>
        <p:nvSpPr>
          <p:cNvPr id="7" name="文字_A. 溴单质没有还原性"/>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溴单质没有还原性</a:t>
            </a:r>
          </a:p>
        </p:txBody>
      </p:sp>
      <p:sp>
        <p:nvSpPr>
          <p:cNvPr id="8" name="文字_B. 溴蒸气与氢气在一定条件下反应生成HBr"/>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溴蒸气与氢气在一定条件下反应生成HBr</a:t>
            </a:r>
          </a:p>
        </p:txBody>
      </p:sp>
      <p:sp>
        <p:nvSpPr>
          <p:cNvPr id="9" name="文字_C. Br-不能与Ag+共存"/>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Br-不能与Ag+共存</a:t>
            </a:r>
          </a:p>
        </p:txBody>
      </p:sp>
      <p:sp>
        <p:nvSpPr>
          <p:cNvPr id="10" name="文字_D. 溴单质能与NaOH溶液反应"/>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溴单质能与NaOH溶液反应</a:t>
            </a:r>
          </a:p>
        </p:txBody>
      </p:sp>
      <p:sp>
        <p:nvSpPr>
          <p:cNvPr id="11" name="文字_单选题  ·  05-01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05-019</a:t>
            </a:r>
          </a:p>
        </p:txBody>
      </p:sp>
      <p:sp>
        <p:nvSpPr>
          <p:cNvPr id="12" name="文字_2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物理和化学性质 · 变式10"/>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氯气的物理和化学性质 · 变式10</a:t>
            </a:r>
          </a:p>
        </p:txBody>
      </p:sp>
      <p:sp>
        <p:nvSpPr>
          <p:cNvPr id="5" name="文字_P12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P124</a:t>
            </a:r>
          </a:p>
        </p:txBody>
      </p:sp>
      <p:sp>
        <p:nvSpPr>
          <p:cNvPr id="6" name="文字_某学习小组用如图装置研究气体X的性质，气体X的主"/>
          <p:cNvSpPr txBox="1"/>
          <p:nvPr/>
        </p:nvSpPr>
        <p:spPr>
          <a:xfrm>
            <a:off x="502920" y="1078992"/>
            <a:ext cx="11064240" cy="329184"/>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某学习小组用如图装置研究气体X的性质，气体X的主要成分是Cl₂，其中含有少量水蒸气。请回答下列问题：</a:t>
            </a:r>
          </a:p>
        </p:txBody>
      </p:sp>
      <p:pic>
        <p:nvPicPr>
          <p:cNvPr id="7" name="Picture 6" descr="image.png"/>
          <p:cNvPicPr>
            <a:picLocks noChangeAspect="1"/>
          </p:cNvPicPr>
          <p:nvPr/>
        </p:nvPicPr>
        <p:blipFill>
          <a:blip r:embed="rId3"/>
          <a:stretch>
            <a:fillRect/>
          </a:stretch>
        </p:blipFill>
        <p:spPr>
          <a:xfrm>
            <a:off x="502920" y="1408176"/>
            <a:ext cx="11064240" cy="3522180"/>
          </a:xfrm>
          <a:prstGeom prst="rect">
            <a:avLst/>
          </a:prstGeom>
        </p:spPr>
      </p:pic>
      <p:sp>
        <p:nvSpPr>
          <p:cNvPr id="8" name="原题文字_124_13"/>
          <p:cNvSpPr txBox="1"/>
          <p:nvPr/>
        </p:nvSpPr>
        <p:spPr>
          <a:xfrm>
            <a:off x="1858193" y="1440059"/>
            <a:ext cx="789927"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气体X</a:t>
            </a:r>
          </a:p>
        </p:txBody>
      </p:sp>
      <p:sp>
        <p:nvSpPr>
          <p:cNvPr id="9" name="原题文字_124_14"/>
          <p:cNvSpPr txBox="1"/>
          <p:nvPr/>
        </p:nvSpPr>
        <p:spPr>
          <a:xfrm>
            <a:off x="1115473" y="2320604"/>
            <a:ext cx="812898"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浓硫酸</a:t>
            </a:r>
          </a:p>
        </p:txBody>
      </p:sp>
      <p:sp>
        <p:nvSpPr>
          <p:cNvPr id="10" name="原题文字_124_15"/>
          <p:cNvSpPr txBox="1"/>
          <p:nvPr/>
        </p:nvSpPr>
        <p:spPr>
          <a:xfrm>
            <a:off x="617773" y="2596253"/>
            <a:ext cx="1823611"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(用于吸收水蒸气)</a:t>
            </a:r>
          </a:p>
        </p:txBody>
      </p:sp>
      <p:sp>
        <p:nvSpPr>
          <p:cNvPr id="11" name="原题文字_124_16"/>
          <p:cNvSpPr txBox="1"/>
          <p:nvPr/>
        </p:nvSpPr>
        <p:spPr>
          <a:xfrm>
            <a:off x="3121584" y="2871902"/>
            <a:ext cx="797584"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干燥的</a:t>
            </a:r>
          </a:p>
        </p:txBody>
      </p:sp>
      <p:sp>
        <p:nvSpPr>
          <p:cNvPr id="12" name="原题文字_124_17"/>
          <p:cNvSpPr txBox="1"/>
          <p:nvPr/>
        </p:nvSpPr>
        <p:spPr>
          <a:xfrm>
            <a:off x="4094012" y="2871902"/>
            <a:ext cx="820555"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湿润的</a:t>
            </a:r>
          </a:p>
        </p:txBody>
      </p:sp>
      <p:sp>
        <p:nvSpPr>
          <p:cNvPr id="13" name="原题文字_124_18"/>
          <p:cNvSpPr txBox="1"/>
          <p:nvPr/>
        </p:nvSpPr>
        <p:spPr>
          <a:xfrm>
            <a:off x="3006730" y="3147551"/>
            <a:ext cx="201503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有色布条有色布条</a:t>
            </a:r>
          </a:p>
        </p:txBody>
      </p:sp>
      <p:sp>
        <p:nvSpPr>
          <p:cNvPr id="14" name="原题文字_124_19"/>
          <p:cNvSpPr txBox="1"/>
          <p:nvPr/>
        </p:nvSpPr>
        <p:spPr>
          <a:xfrm>
            <a:off x="1406435" y="3415543"/>
            <a:ext cx="230973"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b</a:t>
            </a:r>
          </a:p>
        </p:txBody>
      </p:sp>
      <p:sp>
        <p:nvSpPr>
          <p:cNvPr id="15" name="文字_(1）分别描述B、C装置中的现象 ______ "/>
          <p:cNvSpPr txBox="1"/>
          <p:nvPr/>
        </p:nvSpPr>
        <p:spPr>
          <a:xfrm>
            <a:off x="502920" y="5003508"/>
            <a:ext cx="11064240" cy="329184"/>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(1）分别描述B、C装置中的现象 ______ ；结合化学方程式及物质性质说明B、C装置中现象不同的原因</a:t>
            </a:r>
          </a:p>
        </p:txBody>
      </p:sp>
      <p:sp>
        <p:nvSpPr>
          <p:cNvPr id="16" name="文字_(2)Cl₂是有毒气体，为了防止多余Cl₂污染空"/>
          <p:cNvSpPr txBox="1"/>
          <p:nvPr/>
        </p:nvSpPr>
        <p:spPr>
          <a:xfrm>
            <a:off x="502920" y="5332692"/>
            <a:ext cx="11064240" cy="601218"/>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(2)Cl₂是有毒气体，为了防止多余Cl₂污染空气，可以在D处用如图装置进行尾气处理，用化学方程式表示该原</a:t>
            </a:r>
          </a:p>
          <a:p>
            <a:pPr>
              <a:lnSpc>
                <a:spcPct val="112000"/>
              </a:lnSpc>
              <a:spcBef>
                <a:spcPts val="0"/>
              </a:spcBef>
              <a:spcAft>
                <a:spcPts val="0"/>
              </a:spcAft>
              <a:defRPr sz="1800" b="0">
                <a:solidFill>
                  <a:srgbClr val="333333"/>
                </a:solidFill>
                <a:latin typeface="微软雅黑"/>
              </a:defRPr>
            </a:pPr>
            <a:r>
              <a:rPr>
                <a:ea typeface="微软雅黑"/>
              </a:rPr>
              <a:t>理</a:t>
            </a:r>
          </a:p>
        </p:txBody>
      </p:sp>
      <p:sp>
        <p:nvSpPr>
          <p:cNvPr id="17" name="文字_气体应该由 ______ (填“a”或“b”）管"/>
          <p:cNvSpPr txBox="1"/>
          <p:nvPr/>
        </p:nvSpPr>
        <p:spPr>
          <a:xfrm>
            <a:off x="502920" y="5933910"/>
            <a:ext cx="11064240" cy="329184"/>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气体应该由 ______ (填“a”或“b”）管通入。</a:t>
            </a:r>
          </a:p>
        </p:txBody>
      </p:sp>
      <p:sp>
        <p:nvSpPr>
          <p:cNvPr id="18" name="文字_填空题  ·  05-02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05-020</a:t>
            </a:r>
          </a:p>
        </p:txBody>
      </p:sp>
      <p:sp>
        <p:nvSpPr>
          <p:cNvPr id="19" name="文字_2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2"/>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02</a:t>
            </a:r>
          </a:p>
        </p:txBody>
      </p:sp>
      <p:sp>
        <p:nvSpPr>
          <p:cNvPr id="4" name="文字_氯气实验室制法：反应原理"/>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氯气实验室制法：反应原理</a:t>
            </a:r>
          </a:p>
        </p:txBody>
      </p:sp>
      <p:sp>
        <p:nvSpPr>
          <p:cNvPr id="5" name="文字_知识梳理 · 讲义 P125"/>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P125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氯气实验室制法：反应原理"/>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氯气实验室制法：反应原理</a:t>
            </a:r>
          </a:p>
        </p:txBody>
      </p:sp>
      <p:sp>
        <p:nvSpPr>
          <p:cNvPr id="5" name="文字_知识讲解 · P125"/>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P125</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MnO₂ + 4HCl(浓) —加热→ MnCl"/>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MnO₂ + 4HCl(浓) —加热→ MnCl₂ + Cl₂↑ + 2H₂O。</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MnO₂ + 4H⁺ + 2Cl⁻ —加热→ M"/>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MnO₂ + 4H⁺ + 2Cl⁻ —加热→ Mn²⁺ + Cl₂↑ + 2H₂O。</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MnO₂ 是氧化剂；浓盐酸表现还原性和酸性。稀盐"/>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MnO₂ 是氧化剂；浓盐酸表现还原性和酸性。稀盐酸不能代替浓盐酸。</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2KMnO₄ + 16HCl(浓) = 2KCl"/>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2KMnO₄ + 16HCl(浓) = 2KCl + 2MnCl₂ + 5Cl₂↑ + 8H₂O，无需加热。</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制备装置：逐步明确作用"/>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制备装置：逐步明确作用</a:t>
            </a:r>
          </a:p>
        </p:txBody>
      </p:sp>
      <p:sp>
        <p:nvSpPr>
          <p:cNvPr id="5" name="文字_知识讲解 · P125"/>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P125</a:t>
            </a:r>
          </a:p>
        </p:txBody>
      </p:sp>
      <p:graphicFrame>
        <p:nvGraphicFramePr>
          <p:cNvPr id="6" name="Table 5"/>
          <p:cNvGraphicFramePr>
            <a:graphicFrameLocks noGrp="1"/>
          </p:cNvGraphicFramePr>
          <p:nvPr/>
        </p:nvGraphicFramePr>
        <p:xfrm>
          <a:off x="502920" y="1773936"/>
          <a:ext cx="11109960" cy="2913888"/>
        </p:xfrm>
        <a:graphic>
          <a:graphicData uri="http://schemas.openxmlformats.org/drawingml/2006/table">
            <a:tbl>
              <a:tblPr firstRow="1" bandRow="1">
                <a:tableStyleId>{5C22544A-7EE6-4342-B048-85BDC9FD1C3A}</a:tableStyleId>
              </a:tblPr>
              <a:tblGrid>
                <a:gridCol w="5554980"/>
                <a:gridCol w="5554980"/>
              </a:tblGrid>
              <a:tr h="485648">
                <a:tc>
                  <a:txBody>
                    <a:bodyPr/>
                    <a:lstStyle/>
                    <a:p>
                      <a:pPr>
                        <a:defRPr sz="2000" b="1">
                          <a:solidFill>
                            <a:srgbClr val="FFFFFF"/>
                          </a:solidFill>
                          <a:latin typeface="微软雅黑"/>
                        </a:defRPr>
                      </a:pPr>
                      <a:r>
                        <a:t>环节</a:t>
                      </a:r>
                    </a:p>
                  </a:txBody>
                  <a:tcPr marL="91440" marR="91440" marT="45720" marB="45720" anchor="ctr">
                    <a:solidFill>
                      <a:srgbClr val="F1922F"/>
                    </a:solidFill>
                  </a:tcPr>
                </a:tc>
                <a:tc>
                  <a:txBody>
                    <a:bodyPr/>
                    <a:lstStyle/>
                    <a:p>
                      <a:pPr>
                        <a:defRPr sz="2000" b="1">
                          <a:solidFill>
                            <a:srgbClr val="FFFFFF"/>
                          </a:solidFill>
                          <a:latin typeface="微软雅黑"/>
                        </a:defRPr>
                      </a:pPr>
                      <a:r>
                        <a:t>作用与依据</a:t>
                      </a:r>
                    </a:p>
                  </a:txBody>
                  <a:tcPr marL="91440" marR="91440" marT="45720" marB="45720" anchor="ctr">
                    <a:solidFill>
                      <a:srgbClr val="F1922F"/>
                    </a:solidFill>
                  </a:tcPr>
                </a:tc>
              </a:tr>
              <a:tr h="485648">
                <a:tc>
                  <a:txBody>
                    <a:bodyPr/>
                    <a:lstStyle/>
                    <a:p>
                      <a:pPr>
                        <a:defRPr sz="2000" b="0">
                          <a:solidFill>
                            <a:srgbClr val="333333"/>
                          </a:solidFill>
                          <a:latin typeface="微软雅黑"/>
                        </a:defRPr>
                      </a:pPr>
                      <a:r>
                        <a:t>发生</a:t>
                      </a:r>
                    </a:p>
                  </a:txBody>
                  <a:tcPr marL="91440" marR="91440" marT="45720" marB="45720" anchor="ctr">
                    <a:solidFill>
                      <a:srgbClr val="FDF2E3"/>
                    </a:solidFill>
                  </a:tcPr>
                </a:tc>
                <a:tc>
                  <a:txBody>
                    <a:bodyPr/>
                    <a:lstStyle/>
                    <a:p>
                      <a:pPr>
                        <a:defRPr sz="2000" b="0">
                          <a:solidFill>
                            <a:srgbClr val="333333"/>
                          </a:solidFill>
                          <a:latin typeface="微软雅黑"/>
                        </a:defRPr>
                      </a:pPr>
                      <a:r>
                        <a:t>MnO₂ 与浓盐酸加热；先检查装置气密性</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除杂</a:t>
                      </a:r>
                    </a:p>
                  </a:txBody>
                  <a:tcPr marL="91440" marR="91440" marT="45720" marB="45720" anchor="ctr">
                    <a:solidFill>
                      <a:srgbClr val="FFFFFF"/>
                    </a:solidFill>
                  </a:tcPr>
                </a:tc>
                <a:tc>
                  <a:txBody>
                    <a:bodyPr/>
                    <a:lstStyle/>
                    <a:p>
                      <a:pPr>
                        <a:defRPr sz="2000" b="0">
                          <a:solidFill>
                            <a:srgbClr val="333333"/>
                          </a:solidFill>
                          <a:latin typeface="微软雅黑"/>
                        </a:defRPr>
                      </a:pPr>
                      <a:r>
                        <a:t>饱和食盐水除 HCl，并减少 Cl₂ 的溶解损失</a:t>
                      </a:r>
                    </a:p>
                  </a:txBody>
                  <a:tcPr marL="91440" marR="91440" marT="45720" marB="45720" anchor="ctr">
                    <a:solidFill>
                      <a:srgbClr val="FFFFFF"/>
                    </a:solidFill>
                  </a:tcPr>
                </a:tc>
              </a:tr>
              <a:tr h="485648">
                <a:tc>
                  <a:txBody>
                    <a:bodyPr/>
                    <a:lstStyle/>
                    <a:p>
                      <a:pPr>
                        <a:defRPr sz="2000" b="0">
                          <a:solidFill>
                            <a:srgbClr val="333333"/>
                          </a:solidFill>
                          <a:latin typeface="微软雅黑"/>
                        </a:defRPr>
                      </a:pPr>
                      <a:r>
                        <a:t>干燥</a:t>
                      </a:r>
                    </a:p>
                  </a:txBody>
                  <a:tcPr marL="91440" marR="91440" marT="45720" marB="45720" anchor="ctr">
                    <a:solidFill>
                      <a:srgbClr val="FDF2E3"/>
                    </a:solidFill>
                  </a:tcPr>
                </a:tc>
                <a:tc>
                  <a:txBody>
                    <a:bodyPr/>
                    <a:lstStyle/>
                    <a:p>
                      <a:pPr>
                        <a:defRPr sz="2000" b="0">
                          <a:solidFill>
                            <a:srgbClr val="333333"/>
                          </a:solidFill>
                          <a:latin typeface="微软雅黑"/>
                        </a:defRPr>
                      </a:pPr>
                      <a:r>
                        <a:t>浓硫酸除水蒸气</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收集</a:t>
                      </a:r>
                    </a:p>
                  </a:txBody>
                  <a:tcPr marL="91440" marR="91440" marT="45720" marB="45720" anchor="ctr">
                    <a:solidFill>
                      <a:srgbClr val="FFFFFF"/>
                    </a:solidFill>
                  </a:tcPr>
                </a:tc>
                <a:tc>
                  <a:txBody>
                    <a:bodyPr/>
                    <a:lstStyle/>
                    <a:p>
                      <a:pPr>
                        <a:defRPr sz="2000" b="0">
                          <a:solidFill>
                            <a:srgbClr val="333333"/>
                          </a:solidFill>
                          <a:latin typeface="微软雅黑"/>
                        </a:defRPr>
                      </a:pPr>
                      <a:r>
                        <a:t>向上排空气法，或排饱和食盐水法</a:t>
                      </a:r>
                    </a:p>
                  </a:txBody>
                  <a:tcPr marL="91440" marR="91440" marT="45720" marB="45720" anchor="ctr">
                    <a:solidFill>
                      <a:srgbClr val="FFFFFF"/>
                    </a:solidFill>
                  </a:tcPr>
                </a:tc>
              </a:tr>
              <a:tr h="485648">
                <a:tc>
                  <a:txBody>
                    <a:bodyPr/>
                    <a:lstStyle/>
                    <a:p>
                      <a:pPr>
                        <a:defRPr sz="2000" b="0">
                          <a:solidFill>
                            <a:srgbClr val="333333"/>
                          </a:solidFill>
                          <a:latin typeface="微软雅黑"/>
                        </a:defRPr>
                      </a:pPr>
                      <a:r>
                        <a:t>尾气吸收</a:t>
                      </a:r>
                    </a:p>
                  </a:txBody>
                  <a:tcPr marL="91440" marR="91440" marT="45720" marB="45720" anchor="ctr">
                    <a:solidFill>
                      <a:srgbClr val="FDF2E3"/>
                    </a:solidFill>
                  </a:tcPr>
                </a:tc>
                <a:tc>
                  <a:txBody>
                    <a:bodyPr/>
                    <a:lstStyle/>
                    <a:p>
                      <a:pPr>
                        <a:defRPr sz="2000" b="0">
                          <a:solidFill>
                            <a:srgbClr val="333333"/>
                          </a:solidFill>
                          <a:latin typeface="微软雅黑"/>
                        </a:defRPr>
                      </a:pPr>
                      <a:r>
                        <a:t>NaOH 溶液吸收多余 Cl₂</a:t>
                      </a:r>
                    </a:p>
                  </a:txBody>
                  <a:tcPr marL="91440" marR="91440" marT="45720" marB="45720" anchor="ctr">
                    <a:solidFill>
                      <a:srgbClr val="FDF2E3"/>
                    </a:solidFill>
                  </a:tcPr>
                </a:tc>
              </a:tr>
            </a:tbl>
          </a:graphicData>
        </a:graphic>
      </p:graphicFrame>
      <p:sp>
        <p:nvSpPr>
          <p:cNvPr id="7" name="Rectangle 6"/>
          <p:cNvSpPr/>
          <p:nvPr/>
        </p:nvSpPr>
        <p:spPr>
          <a:xfrm>
            <a:off x="493776" y="4824984"/>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文字_提示  检验可用湿润的淀粉-KI 试纸：Cl₂ "/>
          <p:cNvSpPr txBox="1"/>
          <p:nvPr/>
        </p:nvSpPr>
        <p:spPr>
          <a:xfrm>
            <a:off x="630936" y="4884420"/>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检验可用湿润的淀粉-KI 试纸：Cl₂ + 2I⁻ = 2Cl⁻ + I₂，淀粉遇 I₂ 变蓝。</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制备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氯气的制备 · 例题1</a:t>
            </a:r>
          </a:p>
        </p:txBody>
      </p:sp>
      <p:sp>
        <p:nvSpPr>
          <p:cNvPr id="5" name="文字_P12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P126</a:t>
            </a:r>
          </a:p>
        </p:txBody>
      </p:sp>
      <p:sp>
        <p:nvSpPr>
          <p:cNvPr id="6" name="文字_下列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下列说法正确的是（</a:t>
            </a:r>
          </a:p>
        </p:txBody>
      </p:sp>
      <p:sp>
        <p:nvSpPr>
          <p:cNvPr id="7" name="文字_A. 实验室制取的Cl₂中混有HCl气体，可通过"/>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实验室制取的Cl₂中混有HCl气体，可通过盛有碱石灰的干燥管除去</a:t>
            </a:r>
          </a:p>
        </p:txBody>
      </p:sp>
      <p:sp>
        <p:nvSpPr>
          <p:cNvPr id="8" name="文字_B. MnO₂与稀盐酸在加热条件下也可制取Cl₂"/>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MnO₂与稀盐酸在加热条件下也可制取Cl₂</a:t>
            </a:r>
          </a:p>
        </p:txBody>
      </p:sp>
      <p:sp>
        <p:nvSpPr>
          <p:cNvPr id="9" name="文字_C. 在实验室制取Cl₂的试剂中，HCl只做还原"/>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在实验室制取Cl₂的试剂中，HCl只做还原剂</a:t>
            </a:r>
          </a:p>
        </p:txBody>
      </p:sp>
      <p:sp>
        <p:nvSpPr>
          <p:cNvPr id="10" name="文字_D. 实验室可以用排饱和食盐水法收集Cl₂"/>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实验室可以用排饱和食盐水法收集Cl₂</a:t>
            </a:r>
          </a:p>
        </p:txBody>
      </p:sp>
      <p:sp>
        <p:nvSpPr>
          <p:cNvPr id="11" name="文字_单选题  ·  05-02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05-021</a:t>
            </a:r>
          </a:p>
        </p:txBody>
      </p:sp>
      <p:sp>
        <p:nvSpPr>
          <p:cNvPr id="12" name="文字_3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制备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氯气的制备 · 例题2</a:t>
            </a:r>
          </a:p>
        </p:txBody>
      </p:sp>
      <p:sp>
        <p:nvSpPr>
          <p:cNvPr id="5" name="文字_P12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P126</a:t>
            </a:r>
          </a:p>
        </p:txBody>
      </p:sp>
      <p:sp>
        <p:nvSpPr>
          <p:cNvPr id="6" name="文字_已知KMnO₄与浓HCl在常温下反应能产生Cl₂"/>
          <p:cNvSpPr txBox="1"/>
          <p:nvPr/>
        </p:nvSpPr>
        <p:spPr>
          <a:xfrm>
            <a:off x="502920" y="1078992"/>
            <a:ext cx="11064240" cy="634619"/>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已知KMnO₄与浓HCl在常温下反应能产生Cl₂： 某同学设计如下实验装置来制备纯净、干燥的氯气，并</a:t>
            </a:r>
          </a:p>
          <a:p>
            <a:pPr>
              <a:lnSpc>
                <a:spcPct val="112000"/>
              </a:lnSpc>
              <a:spcBef>
                <a:spcPts val="0"/>
              </a:spcBef>
              <a:spcAft>
                <a:spcPts val="0"/>
              </a:spcAft>
              <a:defRPr sz="1900" b="0">
                <a:solidFill>
                  <a:srgbClr val="333333"/>
                </a:solidFill>
                <a:latin typeface="微软雅黑"/>
              </a:defRPr>
            </a:pPr>
            <a:r>
              <a:rPr>
                <a:ea typeface="微软雅黑"/>
              </a:rPr>
              <a:t>探究其与金</a:t>
            </a:r>
          </a:p>
        </p:txBody>
      </p:sp>
      <p:pic>
        <p:nvPicPr>
          <p:cNvPr id="7" name="Picture 6" descr="image.png"/>
          <p:cNvPicPr>
            <a:picLocks noChangeAspect="1"/>
          </p:cNvPicPr>
          <p:nvPr/>
        </p:nvPicPr>
        <p:blipFill>
          <a:blip r:embed="rId3"/>
          <a:stretch>
            <a:fillRect/>
          </a:stretch>
        </p:blipFill>
        <p:spPr>
          <a:xfrm>
            <a:off x="502920" y="1713610"/>
            <a:ext cx="11064240" cy="3146991"/>
          </a:xfrm>
          <a:prstGeom prst="rect">
            <a:avLst/>
          </a:prstGeom>
        </p:spPr>
      </p:pic>
      <p:sp>
        <p:nvSpPr>
          <p:cNvPr id="8" name="原题文字_126_13"/>
          <p:cNvSpPr txBox="1"/>
          <p:nvPr/>
        </p:nvSpPr>
        <p:spPr>
          <a:xfrm>
            <a:off x="617773" y="1745494"/>
            <a:ext cx="6754663"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属Cu的反应．每个虚线框表示一个装置单元，下列分析或改进正确的是</a:t>
            </a:r>
          </a:p>
        </p:txBody>
      </p:sp>
      <p:sp>
        <p:nvSpPr>
          <p:cNvPr id="9" name="原题文字_126_14"/>
          <p:cNvSpPr txBox="1"/>
          <p:nvPr/>
        </p:nvSpPr>
        <p:spPr>
          <a:xfrm>
            <a:off x="1659113" y="4218677"/>
            <a:ext cx="943065" cy="408113"/>
          </a:xfrm>
          <a:prstGeom prst="rect">
            <a:avLst/>
          </a:prstGeom>
          <a:noFill/>
        </p:spPr>
        <p:txBody>
          <a:bodyPr wrap="none" lIns="0" rIns="0" tIns="0" bIns="0">
            <a:spAutoFit/>
          </a:bodyPr>
          <a:lstStyle/>
          <a:p>
            <a:pPr>
              <a:lnSpc>
                <a:spcPct val="112000"/>
              </a:lnSpc>
              <a:spcBef>
                <a:spcPts val="0"/>
              </a:spcBef>
              <a:spcAft>
                <a:spcPts val="0"/>
              </a:spcAft>
              <a:defRPr sz="1499" b="0">
                <a:solidFill>
                  <a:srgbClr val="333333"/>
                </a:solidFill>
                <a:latin typeface="微软雅黑"/>
              </a:defRPr>
            </a:pPr>
            <a:r>
              <a:rPr>
                <a:ea typeface="微软雅黑"/>
              </a:rPr>
              <a:t>NaOH溶液</a:t>
            </a:r>
          </a:p>
        </p:txBody>
      </p:sp>
      <p:sp>
        <p:nvSpPr>
          <p:cNvPr id="10" name="文字_A. 装置①中可用MnO₂代替KMnO₄"/>
          <p:cNvSpPr txBox="1"/>
          <p:nvPr/>
        </p:nvSpPr>
        <p:spPr>
          <a:xfrm>
            <a:off x="502920" y="4933754"/>
            <a:ext cx="11064240" cy="347472"/>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A. 装置①中可用MnO₂代替KMnO₄</a:t>
            </a:r>
          </a:p>
        </p:txBody>
      </p:sp>
      <p:sp>
        <p:nvSpPr>
          <p:cNvPr id="11" name="文字_B. 装置②、③、④均不合理，装置②中试剂应替换"/>
          <p:cNvSpPr txBox="1"/>
          <p:nvPr/>
        </p:nvSpPr>
        <p:spPr>
          <a:xfrm>
            <a:off x="502920" y="5281226"/>
            <a:ext cx="11064240" cy="347472"/>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B. 装置②、③、④均不合理，装置②中试剂应替换为饱和食盐水</a:t>
            </a:r>
          </a:p>
        </p:txBody>
      </p:sp>
      <p:sp>
        <p:nvSpPr>
          <p:cNvPr id="12" name="文字_C. 装置③可用来干燥Cl₂"/>
          <p:cNvSpPr txBox="1"/>
          <p:nvPr/>
        </p:nvSpPr>
        <p:spPr>
          <a:xfrm>
            <a:off x="502920" y="5628698"/>
            <a:ext cx="11064240" cy="347472"/>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C. 装置③可用来干燥Cl₂</a:t>
            </a:r>
          </a:p>
        </p:txBody>
      </p:sp>
      <p:sp>
        <p:nvSpPr>
          <p:cNvPr id="13" name="文字_D. 装置④中只需添加酒精灯加热即可"/>
          <p:cNvSpPr txBox="1"/>
          <p:nvPr/>
        </p:nvSpPr>
        <p:spPr>
          <a:xfrm>
            <a:off x="502920" y="5976170"/>
            <a:ext cx="11064240" cy="347472"/>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D. 装置④中只需添加酒精灯加热即可</a:t>
            </a:r>
          </a:p>
        </p:txBody>
      </p:sp>
      <p:sp>
        <p:nvSpPr>
          <p:cNvPr id="14" name="文字_单选题  ·  05-02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05-022</a:t>
            </a:r>
          </a:p>
        </p:txBody>
      </p:sp>
      <p:sp>
        <p:nvSpPr>
          <p:cNvPr id="15" name="文字_3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制备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氯气的制备 · 例题3</a:t>
            </a:r>
          </a:p>
        </p:txBody>
      </p:sp>
      <p:sp>
        <p:nvSpPr>
          <p:cNvPr id="5" name="文字_P12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P126</a:t>
            </a:r>
          </a:p>
        </p:txBody>
      </p:sp>
      <p:pic>
        <p:nvPicPr>
          <p:cNvPr id="6" name="Picture 5" descr="image.png"/>
          <p:cNvPicPr>
            <a:picLocks noChangeAspect="1"/>
          </p:cNvPicPr>
          <p:nvPr/>
        </p:nvPicPr>
        <p:blipFill>
          <a:blip r:embed="rId3"/>
          <a:stretch>
            <a:fillRect/>
          </a:stretch>
        </p:blipFill>
        <p:spPr>
          <a:xfrm>
            <a:off x="502920" y="1078992"/>
            <a:ext cx="11064240" cy="2297074"/>
          </a:xfrm>
          <a:prstGeom prst="rect">
            <a:avLst/>
          </a:prstGeom>
        </p:spPr>
      </p:pic>
      <p:sp>
        <p:nvSpPr>
          <p:cNvPr id="7" name="原题文字_126_22"/>
          <p:cNvSpPr txBox="1"/>
          <p:nvPr/>
        </p:nvSpPr>
        <p:spPr>
          <a:xfrm>
            <a:off x="587146" y="1087905"/>
            <a:ext cx="9312072"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某实验小组利用微型实验装置进行氯气的制备和性质探究，装置如图所示，下列有关说法错误的是</a:t>
            </a:r>
          </a:p>
        </p:txBody>
      </p:sp>
      <p:sp>
        <p:nvSpPr>
          <p:cNvPr id="8" name="原题文字_126_23"/>
          <p:cNvSpPr txBox="1"/>
          <p:nvPr/>
        </p:nvSpPr>
        <p:spPr>
          <a:xfrm>
            <a:off x="571832" y="1463093"/>
            <a:ext cx="4227881"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A. KClO₃与浓盐酸反应，HCl只体现还原性</a:t>
            </a:r>
          </a:p>
        </p:txBody>
      </p:sp>
      <p:sp>
        <p:nvSpPr>
          <p:cNvPr id="9" name="原题文字_126_24"/>
          <p:cNvSpPr txBox="1"/>
          <p:nvPr/>
        </p:nvSpPr>
        <p:spPr>
          <a:xfrm>
            <a:off x="564175" y="1830625"/>
            <a:ext cx="5284535"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B. 浸有淀粉KI溶液的脱脂棉变蓝，说明氧化性Cl₂&gt;I₂</a:t>
            </a:r>
          </a:p>
        </p:txBody>
      </p:sp>
      <p:sp>
        <p:nvSpPr>
          <p:cNvPr id="10" name="原题文字_126_25"/>
          <p:cNvSpPr txBox="1"/>
          <p:nvPr/>
        </p:nvSpPr>
        <p:spPr>
          <a:xfrm>
            <a:off x="10372681" y="1838282"/>
            <a:ext cx="851183"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浸有NaOH溶</a:t>
            </a:r>
          </a:p>
        </p:txBody>
      </p:sp>
      <p:sp>
        <p:nvSpPr>
          <p:cNvPr id="11" name="原题文字_126_26"/>
          <p:cNvSpPr txBox="1"/>
          <p:nvPr/>
        </p:nvSpPr>
        <p:spPr>
          <a:xfrm>
            <a:off x="10365024" y="1983763"/>
            <a:ext cx="759300" cy="268757"/>
          </a:xfrm>
          <a:prstGeom prst="rect">
            <a:avLst/>
          </a:prstGeom>
          <a:noFill/>
        </p:spPr>
        <p:txBody>
          <a:bodyPr wrap="none" lIns="0" rIns="0" tIns="0" bIns="0">
            <a:spAutoFit/>
          </a:bodyPr>
          <a:lstStyle/>
          <a:p>
            <a:pPr>
              <a:lnSpc>
                <a:spcPct val="112000"/>
              </a:lnSpc>
              <a:spcBef>
                <a:spcPts val="0"/>
              </a:spcBef>
              <a:spcAft>
                <a:spcPts val="0"/>
              </a:spcAft>
              <a:defRPr sz="1183" b="0">
                <a:solidFill>
                  <a:srgbClr val="333333"/>
                </a:solidFill>
                <a:latin typeface="微软雅黑"/>
              </a:defRPr>
            </a:pPr>
            <a:r>
              <a:rPr>
                <a:ea typeface="微软雅黑"/>
              </a:rPr>
              <a:t>液的脱脂棉</a:t>
            </a:r>
          </a:p>
        </p:txBody>
      </p:sp>
      <p:sp>
        <p:nvSpPr>
          <p:cNvPr id="12" name="原题文字_126_27"/>
          <p:cNvSpPr txBox="1"/>
          <p:nvPr/>
        </p:nvSpPr>
        <p:spPr>
          <a:xfrm>
            <a:off x="587146" y="2221128"/>
            <a:ext cx="5659724"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C. 新鲜花瓣褪色是因为氯气与水反应生成的HCIO有漂白性</a:t>
            </a:r>
          </a:p>
        </p:txBody>
      </p:sp>
      <p:sp>
        <p:nvSpPr>
          <p:cNvPr id="13" name="原题文字_126_28"/>
          <p:cNvSpPr txBox="1"/>
          <p:nvPr/>
        </p:nvSpPr>
        <p:spPr>
          <a:xfrm>
            <a:off x="10449250" y="2320668"/>
            <a:ext cx="636789" cy="268757"/>
          </a:xfrm>
          <a:prstGeom prst="rect">
            <a:avLst/>
          </a:prstGeom>
          <a:noFill/>
        </p:spPr>
        <p:txBody>
          <a:bodyPr wrap="none" lIns="0" rIns="0" tIns="0" bIns="0">
            <a:spAutoFit/>
          </a:bodyPr>
          <a:lstStyle/>
          <a:p>
            <a:pPr>
              <a:lnSpc>
                <a:spcPct val="112000"/>
              </a:lnSpc>
              <a:spcBef>
                <a:spcPts val="0"/>
              </a:spcBef>
              <a:spcAft>
                <a:spcPts val="0"/>
              </a:spcAft>
              <a:defRPr sz="1237" b="0">
                <a:solidFill>
                  <a:srgbClr val="333333"/>
                </a:solidFill>
                <a:latin typeface="微软雅黑"/>
              </a:defRPr>
            </a:pPr>
            <a:r>
              <a:rPr>
                <a:ea typeface="微软雅黑"/>
              </a:rPr>
              <a:t>玻璃导管</a:t>
            </a:r>
          </a:p>
        </p:txBody>
      </p:sp>
      <p:sp>
        <p:nvSpPr>
          <p:cNvPr id="14" name="原题文字_126_29"/>
          <p:cNvSpPr txBox="1"/>
          <p:nvPr/>
        </p:nvSpPr>
        <p:spPr>
          <a:xfrm>
            <a:off x="8780043" y="2397237"/>
            <a:ext cx="514278" cy="288665"/>
          </a:xfrm>
          <a:prstGeom prst="rect">
            <a:avLst/>
          </a:prstGeom>
          <a:noFill/>
        </p:spPr>
        <p:txBody>
          <a:bodyPr wrap="none" lIns="0" rIns="0" tIns="0" bIns="0">
            <a:spAutoFit/>
          </a:bodyPr>
          <a:lstStyle/>
          <a:p>
            <a:pPr>
              <a:lnSpc>
                <a:spcPct val="112000"/>
              </a:lnSpc>
              <a:spcBef>
                <a:spcPts val="0"/>
              </a:spcBef>
              <a:spcAft>
                <a:spcPts val="0"/>
              </a:spcAft>
              <a:defRPr sz="1373" b="0">
                <a:solidFill>
                  <a:srgbClr val="333333"/>
                </a:solidFill>
                <a:latin typeface="微软雅黑"/>
              </a:defRPr>
            </a:pPr>
            <a:r>
              <a:rPr>
                <a:ea typeface="微软雅黑"/>
              </a:rPr>
              <a:t>浓盐酸</a:t>
            </a:r>
          </a:p>
        </p:txBody>
      </p:sp>
      <p:sp>
        <p:nvSpPr>
          <p:cNvPr id="15" name="原题文字_126_30"/>
          <p:cNvSpPr txBox="1"/>
          <p:nvPr/>
        </p:nvSpPr>
        <p:spPr>
          <a:xfrm>
            <a:off x="571832" y="2611630"/>
            <a:ext cx="4220224"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D. 浸有NaOH溶液的脱脂棉可吸收过量氯气</a:t>
            </a:r>
          </a:p>
        </p:txBody>
      </p:sp>
      <p:sp>
        <p:nvSpPr>
          <p:cNvPr id="16" name="原题文字_126_31"/>
          <p:cNvSpPr txBox="1"/>
          <p:nvPr/>
        </p:nvSpPr>
        <p:spPr>
          <a:xfrm>
            <a:off x="10487535" y="2619287"/>
            <a:ext cx="897124"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浸有淀粉KI溶</a:t>
            </a:r>
          </a:p>
        </p:txBody>
      </p:sp>
      <p:sp>
        <p:nvSpPr>
          <p:cNvPr id="17" name="原题文字_126_32"/>
          <p:cNvSpPr txBox="1"/>
          <p:nvPr/>
        </p:nvSpPr>
        <p:spPr>
          <a:xfrm>
            <a:off x="10479878" y="2757112"/>
            <a:ext cx="759300" cy="278711"/>
          </a:xfrm>
          <a:prstGeom prst="rect">
            <a:avLst/>
          </a:prstGeom>
          <a:noFill/>
        </p:spPr>
        <p:txBody>
          <a:bodyPr wrap="none" lIns="0" rIns="0" tIns="0" bIns="0">
            <a:spAutoFit/>
          </a:bodyPr>
          <a:lstStyle/>
          <a:p>
            <a:pPr>
              <a:lnSpc>
                <a:spcPct val="112000"/>
              </a:lnSpc>
              <a:spcBef>
                <a:spcPts val="0"/>
              </a:spcBef>
              <a:spcAft>
                <a:spcPts val="0"/>
              </a:spcAft>
              <a:defRPr sz="1181" b="0">
                <a:solidFill>
                  <a:srgbClr val="333333"/>
                </a:solidFill>
                <a:latin typeface="微软雅黑"/>
              </a:defRPr>
            </a:pPr>
            <a:r>
              <a:rPr>
                <a:ea typeface="微软雅黑"/>
              </a:rPr>
              <a:t>液的脱脂棉</a:t>
            </a:r>
          </a:p>
        </p:txBody>
      </p:sp>
      <p:sp>
        <p:nvSpPr>
          <p:cNvPr id="18" name="原题文字_126_33"/>
          <p:cNvSpPr txBox="1"/>
          <p:nvPr/>
        </p:nvSpPr>
        <p:spPr>
          <a:xfrm>
            <a:off x="8565649" y="3040417"/>
            <a:ext cx="108089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KClO₃粉末</a:t>
            </a:r>
          </a:p>
        </p:txBody>
      </p:sp>
      <p:sp>
        <p:nvSpPr>
          <p:cNvPr id="19" name="原题文字_126_34"/>
          <p:cNvSpPr txBox="1"/>
          <p:nvPr/>
        </p:nvSpPr>
        <p:spPr>
          <a:xfrm>
            <a:off x="10479878" y="3116987"/>
            <a:ext cx="652103" cy="268757"/>
          </a:xfrm>
          <a:prstGeom prst="rect">
            <a:avLst/>
          </a:prstGeom>
          <a:noFill/>
        </p:spPr>
        <p:txBody>
          <a:bodyPr wrap="none" lIns="0" rIns="0" tIns="0" bIns="0">
            <a:spAutoFit/>
          </a:bodyPr>
          <a:lstStyle/>
          <a:p>
            <a:pPr>
              <a:lnSpc>
                <a:spcPct val="112000"/>
              </a:lnSpc>
              <a:spcBef>
                <a:spcPts val="0"/>
              </a:spcBef>
              <a:spcAft>
                <a:spcPts val="0"/>
              </a:spcAft>
              <a:defRPr sz="1267" b="0">
                <a:solidFill>
                  <a:srgbClr val="333333"/>
                </a:solidFill>
                <a:latin typeface="微软雅黑"/>
              </a:defRPr>
            </a:pPr>
            <a:r>
              <a:rPr>
                <a:ea typeface="微软雅黑"/>
              </a:rPr>
              <a:t>新鲜花瓣</a:t>
            </a:r>
          </a:p>
        </p:txBody>
      </p:sp>
      <p:sp>
        <p:nvSpPr>
          <p:cNvPr id="20" name="文字_单选题  ·  05-02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05-023</a:t>
            </a:r>
          </a:p>
        </p:txBody>
      </p:sp>
      <p:sp>
        <p:nvSpPr>
          <p:cNvPr id="21" name="文字_3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制备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氯气的制备 · 例题4</a:t>
            </a:r>
          </a:p>
        </p:txBody>
      </p:sp>
      <p:sp>
        <p:nvSpPr>
          <p:cNvPr id="5" name="文字_P12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P127</a:t>
            </a:r>
          </a:p>
        </p:txBody>
      </p:sp>
      <p:sp>
        <p:nvSpPr>
          <p:cNvPr id="6" name="文字_在实验室中用二氧化锰跟浓盐酸反应制备干燥纯净的氯"/>
          <p:cNvSpPr txBox="1"/>
          <p:nvPr/>
        </p:nvSpPr>
        <p:spPr>
          <a:xfrm>
            <a:off x="502920" y="1078992"/>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在实验室中用二氧化锰跟浓盐酸反应制备干燥纯净的氯气。进行此实验，所用仪器如图：</a:t>
            </a:r>
          </a:p>
        </p:txBody>
      </p:sp>
      <p:pic>
        <p:nvPicPr>
          <p:cNvPr id="7" name="Picture 6" descr="image.png"/>
          <p:cNvPicPr>
            <a:picLocks noChangeAspect="1"/>
          </p:cNvPicPr>
          <p:nvPr/>
        </p:nvPicPr>
        <p:blipFill>
          <a:blip r:embed="rId3"/>
          <a:stretch>
            <a:fillRect/>
          </a:stretch>
        </p:blipFill>
        <p:spPr>
          <a:xfrm>
            <a:off x="502920" y="1344168"/>
            <a:ext cx="9175750" cy="2082800"/>
          </a:xfrm>
          <a:prstGeom prst="rect">
            <a:avLst/>
          </a:prstGeom>
        </p:spPr>
      </p:pic>
      <p:sp>
        <p:nvSpPr>
          <p:cNvPr id="8" name="原题文字_127_4"/>
          <p:cNvSpPr txBox="1"/>
          <p:nvPr/>
        </p:nvSpPr>
        <p:spPr>
          <a:xfrm>
            <a:off x="3468370" y="1515567"/>
            <a:ext cx="727964" cy="330200"/>
          </a:xfrm>
          <a:prstGeom prst="rect">
            <a:avLst/>
          </a:prstGeom>
          <a:noFill/>
        </p:spPr>
        <p:txBody>
          <a:bodyPr wrap="non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浓盐酸</a:t>
            </a:r>
          </a:p>
        </p:txBody>
      </p:sp>
      <p:sp>
        <p:nvSpPr>
          <p:cNvPr id="9" name="原题文字_127_5"/>
          <p:cNvSpPr txBox="1"/>
          <p:nvPr/>
        </p:nvSpPr>
        <p:spPr>
          <a:xfrm>
            <a:off x="3531870" y="1858467"/>
            <a:ext cx="251714" cy="280670"/>
          </a:xfrm>
          <a:prstGeom prst="rect">
            <a:avLst/>
          </a:prstGeom>
          <a:noFill/>
        </p:spPr>
        <p:txBody>
          <a:bodyPr wrap="none" lIns="0" rIns="0" tIns="0" bIns="0">
            <a:spAutoFit/>
          </a:bodyPr>
          <a:lstStyle/>
          <a:p>
            <a:pPr>
              <a:lnSpc>
                <a:spcPct val="112000"/>
              </a:lnSpc>
              <a:spcBef>
                <a:spcPts val="0"/>
              </a:spcBef>
              <a:spcAft>
                <a:spcPts val="0"/>
              </a:spcAft>
              <a:defRPr sz="1360" b="0">
                <a:solidFill>
                  <a:srgbClr val="333333"/>
                </a:solidFill>
                <a:latin typeface="微软雅黑"/>
              </a:defRPr>
            </a:pPr>
            <a:r>
              <a:rPr>
                <a:ea typeface="微软雅黑"/>
              </a:rPr>
              <a:t>E</a:t>
            </a:r>
          </a:p>
        </p:txBody>
      </p:sp>
      <p:sp>
        <p:nvSpPr>
          <p:cNvPr id="10" name="原题文字_127_6"/>
          <p:cNvSpPr txBox="1"/>
          <p:nvPr/>
        </p:nvSpPr>
        <p:spPr>
          <a:xfrm>
            <a:off x="737870" y="2296617"/>
            <a:ext cx="277114" cy="222885"/>
          </a:xfrm>
          <a:prstGeom prst="rect">
            <a:avLst/>
          </a:prstGeom>
          <a:noFill/>
        </p:spPr>
        <p:txBody>
          <a:bodyPr wrap="none" lIns="0" rIns="0" tIns="0" bIns="0">
            <a:spAutoFit/>
          </a:bodyPr>
          <a:lstStyle/>
          <a:p>
            <a:pPr>
              <a:lnSpc>
                <a:spcPct val="112000"/>
              </a:lnSpc>
              <a:spcBef>
                <a:spcPts val="0"/>
              </a:spcBef>
              <a:spcAft>
                <a:spcPts val="0"/>
              </a:spcAft>
              <a:defRPr sz="1080" b="0">
                <a:solidFill>
                  <a:srgbClr val="333333"/>
                </a:solidFill>
                <a:latin typeface="微软雅黑"/>
              </a:defRPr>
            </a:pPr>
            <a:r>
              <a:rPr>
                <a:ea typeface="微软雅黑"/>
              </a:rPr>
              <a:t>A-</a:t>
            </a:r>
          </a:p>
        </p:txBody>
      </p:sp>
      <p:sp>
        <p:nvSpPr>
          <p:cNvPr id="11" name="原题文字_127_7"/>
          <p:cNvSpPr txBox="1"/>
          <p:nvPr/>
        </p:nvSpPr>
        <p:spPr>
          <a:xfrm>
            <a:off x="1214120" y="2283917"/>
            <a:ext cx="385064" cy="247650"/>
          </a:xfrm>
          <a:prstGeom prst="rect">
            <a:avLst/>
          </a:prstGeom>
          <a:noFill/>
        </p:spPr>
        <p:txBody>
          <a:bodyPr wrap="non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-B</a:t>
            </a:r>
          </a:p>
        </p:txBody>
      </p:sp>
      <p:sp>
        <p:nvSpPr>
          <p:cNvPr id="12" name="原题文字_127_8"/>
          <p:cNvSpPr txBox="1"/>
          <p:nvPr/>
        </p:nvSpPr>
        <p:spPr>
          <a:xfrm>
            <a:off x="2401570" y="2290267"/>
            <a:ext cx="283464" cy="231140"/>
          </a:xfrm>
          <a:prstGeom prst="rect">
            <a:avLst/>
          </a:prstGeom>
          <a:noFill/>
        </p:spPr>
        <p:txBody>
          <a:bodyPr wrap="none" lIns="0" rIns="0" tIns="0" bIns="0">
            <a:spAutoFit/>
          </a:bodyPr>
          <a:lstStyle/>
          <a:p>
            <a:pPr>
              <a:lnSpc>
                <a:spcPct val="112000"/>
              </a:lnSpc>
              <a:spcBef>
                <a:spcPts val="0"/>
              </a:spcBef>
              <a:spcAft>
                <a:spcPts val="0"/>
              </a:spcAft>
              <a:defRPr sz="1120" b="0">
                <a:solidFill>
                  <a:srgbClr val="333333"/>
                </a:solidFill>
                <a:latin typeface="微软雅黑"/>
              </a:defRPr>
            </a:pPr>
            <a:r>
              <a:rPr>
                <a:ea typeface="微软雅黑"/>
              </a:rPr>
              <a:t>D</a:t>
            </a:r>
          </a:p>
        </p:txBody>
      </p:sp>
      <p:sp>
        <p:nvSpPr>
          <p:cNvPr id="13" name="原题文字_127_9"/>
          <p:cNvSpPr txBox="1"/>
          <p:nvPr/>
        </p:nvSpPr>
        <p:spPr>
          <a:xfrm>
            <a:off x="4681220" y="2372817"/>
            <a:ext cx="239014" cy="247650"/>
          </a:xfrm>
          <a:prstGeom prst="rect">
            <a:avLst/>
          </a:prstGeom>
          <a:noFill/>
        </p:spPr>
        <p:txBody>
          <a:bodyPr wrap="non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F</a:t>
            </a:r>
          </a:p>
        </p:txBody>
      </p:sp>
      <p:sp>
        <p:nvSpPr>
          <p:cNvPr id="14" name="原题文字_127_10"/>
          <p:cNvSpPr txBox="1"/>
          <p:nvPr/>
        </p:nvSpPr>
        <p:spPr>
          <a:xfrm>
            <a:off x="5576570" y="2322017"/>
            <a:ext cx="912114" cy="288925"/>
          </a:xfrm>
          <a:prstGeom prst="rect">
            <a:avLst/>
          </a:prstGeom>
          <a:noFill/>
        </p:spPr>
        <p:txBody>
          <a:bodyPr wrap="non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G¬H</a:t>
            </a:r>
          </a:p>
        </p:txBody>
      </p:sp>
      <p:sp>
        <p:nvSpPr>
          <p:cNvPr id="15" name="原题文字_127_11"/>
          <p:cNvSpPr txBox="1"/>
          <p:nvPr/>
        </p:nvSpPr>
        <p:spPr>
          <a:xfrm>
            <a:off x="3614420" y="2474417"/>
            <a:ext cx="886714" cy="338455"/>
          </a:xfrm>
          <a:prstGeom prst="rect">
            <a:avLst/>
          </a:prstGeom>
          <a:noFill/>
        </p:spPr>
        <p:txBody>
          <a:bodyPr wrap="none" lIns="0" rIns="0" tIns="0" bIns="0">
            <a:spAutoFit/>
          </a:bodyPr>
          <a:lstStyle/>
          <a:p>
            <a:pPr>
              <a:lnSpc>
                <a:spcPct val="112000"/>
              </a:lnSpc>
              <a:spcBef>
                <a:spcPts val="0"/>
              </a:spcBef>
              <a:spcAft>
                <a:spcPts val="0"/>
              </a:spcAft>
              <a:defRPr sz="1640" b="0">
                <a:solidFill>
                  <a:srgbClr val="333333"/>
                </a:solidFill>
                <a:latin typeface="微软雅黑"/>
              </a:defRPr>
            </a:pPr>
            <a:r>
              <a:rPr>
                <a:ea typeface="微软雅黑"/>
              </a:rPr>
              <a:t>二氧化锰</a:t>
            </a:r>
          </a:p>
        </p:txBody>
      </p:sp>
      <p:sp>
        <p:nvSpPr>
          <p:cNvPr id="16" name="原题文字_127_12"/>
          <p:cNvSpPr txBox="1"/>
          <p:nvPr/>
        </p:nvSpPr>
        <p:spPr>
          <a:xfrm>
            <a:off x="769620" y="3122117"/>
            <a:ext cx="708914" cy="297180"/>
          </a:xfrm>
          <a:prstGeom prst="rect">
            <a:avLst/>
          </a:prstGeom>
          <a:noFill/>
        </p:spPr>
        <p:txBody>
          <a:bodyPr wrap="none" lIns="0" rIns="0" tIns="0" bIns="0">
            <a:spAutoFit/>
          </a:bodyPr>
          <a:lstStyle/>
          <a:p>
            <a:pPr>
              <a:lnSpc>
                <a:spcPct val="112000"/>
              </a:lnSpc>
              <a:spcBef>
                <a:spcPts val="0"/>
              </a:spcBef>
              <a:spcAft>
                <a:spcPts val="0"/>
              </a:spcAft>
              <a:defRPr sz="1440" b="0">
                <a:solidFill>
                  <a:srgbClr val="333333"/>
                </a:solidFill>
                <a:latin typeface="微软雅黑"/>
              </a:defRPr>
            </a:pPr>
            <a:r>
              <a:rPr>
                <a:ea typeface="微软雅黑"/>
              </a:rPr>
              <a:t>浓硫酸</a:t>
            </a:r>
          </a:p>
        </p:txBody>
      </p:sp>
      <p:sp>
        <p:nvSpPr>
          <p:cNvPr id="17" name="原题文字_127_13"/>
          <p:cNvSpPr txBox="1"/>
          <p:nvPr/>
        </p:nvSpPr>
        <p:spPr>
          <a:xfrm>
            <a:off x="1734820" y="3128467"/>
            <a:ext cx="1083564" cy="288925"/>
          </a:xfrm>
          <a:prstGeom prst="rect">
            <a:avLst/>
          </a:prstGeom>
          <a:noFill/>
        </p:spPr>
        <p:txBody>
          <a:bodyPr wrap="non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饱和食盐水</a:t>
            </a:r>
          </a:p>
        </p:txBody>
      </p:sp>
      <p:sp>
        <p:nvSpPr>
          <p:cNvPr id="18" name="原题文字_127_14"/>
          <p:cNvSpPr txBox="1"/>
          <p:nvPr/>
        </p:nvSpPr>
        <p:spPr>
          <a:xfrm>
            <a:off x="4414520" y="3141167"/>
            <a:ext cx="1128014" cy="321945"/>
          </a:xfrm>
          <a:prstGeom prst="rect">
            <a:avLst/>
          </a:prstGeom>
          <a:noFill/>
        </p:spPr>
        <p:txBody>
          <a:bodyPr wrap="none" lIns="0" rIns="0" tIns="0" bIns="0">
            <a:spAutoFit/>
          </a:bodyPr>
          <a:lstStyle/>
          <a:p>
            <a:pPr>
              <a:lnSpc>
                <a:spcPct val="112000"/>
              </a:lnSpc>
              <a:spcBef>
                <a:spcPts val="0"/>
              </a:spcBef>
              <a:spcAft>
                <a:spcPts val="0"/>
              </a:spcAft>
              <a:defRPr sz="1560" b="0">
                <a:solidFill>
                  <a:srgbClr val="333333"/>
                </a:solidFill>
                <a:latin typeface="微软雅黑"/>
              </a:defRPr>
            </a:pPr>
            <a:r>
              <a:rPr>
                <a:ea typeface="微软雅黑"/>
              </a:rPr>
              <a:t>NaOH溶液</a:t>
            </a:r>
          </a:p>
        </p:txBody>
      </p:sp>
      <p:sp>
        <p:nvSpPr>
          <p:cNvPr id="19" name="文字_(1）连接上述仪器的正确顺序(填各接口处的字母)"/>
          <p:cNvSpPr txBox="1"/>
          <p:nvPr/>
        </p:nvSpPr>
        <p:spPr>
          <a:xfrm>
            <a:off x="502920" y="3500120"/>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(1）连接上述仪器的正确顺序(填各接口处的字母)：E接 ______ 接</a:t>
            </a:r>
          </a:p>
        </p:txBody>
      </p:sp>
      <p:sp>
        <p:nvSpPr>
          <p:cNvPr id="20" name="文字_接 ______ 接F。"/>
          <p:cNvSpPr txBox="1"/>
          <p:nvPr/>
        </p:nvSpPr>
        <p:spPr>
          <a:xfrm>
            <a:off x="502920" y="3765296"/>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接 ______ 接F。</a:t>
            </a:r>
          </a:p>
        </p:txBody>
      </p:sp>
      <p:sp>
        <p:nvSpPr>
          <p:cNvPr id="21" name="文字_(2) 装置中，饱和食盐水的作用是 ______"/>
          <p:cNvSpPr txBox="1"/>
          <p:nvPr/>
        </p:nvSpPr>
        <p:spPr>
          <a:xfrm>
            <a:off x="502920" y="4030472"/>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(2) 装置中，饱和食盐水的作用是 ______ ；浓硫酸的作用是</a:t>
            </a:r>
          </a:p>
        </p:txBody>
      </p:sp>
      <p:sp>
        <p:nvSpPr>
          <p:cNvPr id="22" name="文字_(3) 化学实验中检验是否有Cl₂产生的常用方法"/>
          <p:cNvSpPr txBox="1"/>
          <p:nvPr/>
        </p:nvSpPr>
        <p:spPr>
          <a:xfrm>
            <a:off x="502920" y="4295648"/>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(3) 化学实验中检验是否有Cl₂产生的常用方法是 ______ ，反应的离子方程式</a:t>
            </a:r>
          </a:p>
        </p:txBody>
      </p:sp>
      <p:sp>
        <p:nvSpPr>
          <p:cNvPr id="23" name="文字_(4) 写出下列反应的化学方程式:"/>
          <p:cNvSpPr txBox="1"/>
          <p:nvPr/>
        </p:nvSpPr>
        <p:spPr>
          <a:xfrm>
            <a:off x="502920" y="4560824"/>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(4) 写出下列反应的化学方程式:</a:t>
            </a:r>
          </a:p>
        </p:txBody>
      </p:sp>
      <p:sp>
        <p:nvSpPr>
          <p:cNvPr id="24" name="文字_①气体发生装置中进行的反应："/>
          <p:cNvSpPr txBox="1"/>
          <p:nvPr/>
        </p:nvSpPr>
        <p:spPr>
          <a:xfrm>
            <a:off x="502920" y="4826000"/>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①气体发生装置中进行的反应：</a:t>
            </a:r>
          </a:p>
        </p:txBody>
      </p:sp>
      <p:sp>
        <p:nvSpPr>
          <p:cNvPr id="25" name="文字_②NaOH溶液中发生的反应："/>
          <p:cNvSpPr txBox="1"/>
          <p:nvPr/>
        </p:nvSpPr>
        <p:spPr>
          <a:xfrm>
            <a:off x="502920" y="5091176"/>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②NaOH溶液中发生的反应：</a:t>
            </a:r>
          </a:p>
        </p:txBody>
      </p:sp>
      <p:sp>
        <p:nvSpPr>
          <p:cNvPr id="26" name="文字_(5） 如果将10mL₁₂mol·L-1的浓盐酸"/>
          <p:cNvSpPr txBox="1"/>
          <p:nvPr/>
        </p:nvSpPr>
        <p:spPr>
          <a:xfrm>
            <a:off x="502920" y="5356352"/>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(5） 如果将10mL₁₂mol·L-1的浓盐酸与足量MnO₂充分反应，实际能收集到的氯气在标准状况下的体积将</a:t>
            </a:r>
          </a:p>
        </p:txBody>
      </p:sp>
      <p:pic>
        <p:nvPicPr>
          <p:cNvPr id="27" name="Picture 26" descr="image.png"/>
          <p:cNvPicPr>
            <a:picLocks noChangeAspect="1"/>
          </p:cNvPicPr>
          <p:nvPr/>
        </p:nvPicPr>
        <p:blipFill>
          <a:blip r:embed="rId4"/>
          <a:stretch>
            <a:fillRect/>
          </a:stretch>
        </p:blipFill>
        <p:spPr>
          <a:xfrm>
            <a:off x="502920" y="5621528"/>
            <a:ext cx="9175750" cy="520700"/>
          </a:xfrm>
          <a:prstGeom prst="rect">
            <a:avLst/>
          </a:prstGeom>
        </p:spPr>
      </p:pic>
      <p:sp>
        <p:nvSpPr>
          <p:cNvPr id="28" name="原题文字_127_27"/>
          <p:cNvSpPr txBox="1"/>
          <p:nvPr/>
        </p:nvSpPr>
        <p:spPr>
          <a:xfrm>
            <a:off x="610870" y="5786577"/>
            <a:ext cx="1058164" cy="255905"/>
          </a:xfrm>
          <a:prstGeom prst="rect">
            <a:avLst/>
          </a:prstGeom>
          <a:noFill/>
        </p:spPr>
        <p:txBody>
          <a:bodyPr wrap="none" lIns="0" rIns="0" tIns="0" bIns="0">
            <a:spAutoFit/>
          </a:bodyPr>
          <a:lstStyle/>
          <a:p>
            <a:pPr>
              <a:lnSpc>
                <a:spcPct val="112000"/>
              </a:lnSpc>
              <a:spcBef>
                <a:spcPts val="0"/>
              </a:spcBef>
              <a:spcAft>
                <a:spcPts val="0"/>
              </a:spcAft>
              <a:defRPr sz="1240" b="0">
                <a:solidFill>
                  <a:srgbClr val="333333"/>
                </a:solidFill>
                <a:latin typeface="微软雅黑"/>
              </a:defRPr>
            </a:pPr>
            <a:r>
              <a:rPr>
                <a:ea typeface="微软雅黑"/>
              </a:rPr>
              <a:t>A. ≥ 0.672L</a:t>
            </a:r>
          </a:p>
        </p:txBody>
      </p:sp>
      <p:sp>
        <p:nvSpPr>
          <p:cNvPr id="29" name="原题文字_127_28"/>
          <p:cNvSpPr txBox="1"/>
          <p:nvPr/>
        </p:nvSpPr>
        <p:spPr>
          <a:xfrm>
            <a:off x="2807970" y="5786577"/>
            <a:ext cx="1102614" cy="255905"/>
          </a:xfrm>
          <a:prstGeom prst="rect">
            <a:avLst/>
          </a:prstGeom>
          <a:noFill/>
        </p:spPr>
        <p:txBody>
          <a:bodyPr wrap="none" lIns="0" rIns="0" tIns="0" bIns="0">
            <a:spAutoFit/>
          </a:bodyPr>
          <a:lstStyle/>
          <a:p>
            <a:pPr>
              <a:lnSpc>
                <a:spcPct val="112000"/>
              </a:lnSpc>
              <a:spcBef>
                <a:spcPts val="0"/>
              </a:spcBef>
              <a:spcAft>
                <a:spcPts val="0"/>
              </a:spcAft>
              <a:defRPr sz="1240" b="0">
                <a:solidFill>
                  <a:srgbClr val="333333"/>
                </a:solidFill>
                <a:latin typeface="微软雅黑"/>
              </a:defRPr>
            </a:pPr>
            <a:r>
              <a:rPr>
                <a:ea typeface="微软雅黑"/>
              </a:rPr>
              <a:t>B. &gt; 0.672 L</a:t>
            </a:r>
          </a:p>
        </p:txBody>
      </p:sp>
      <p:sp>
        <p:nvSpPr>
          <p:cNvPr id="30" name="原题文字_127_29"/>
          <p:cNvSpPr txBox="1"/>
          <p:nvPr/>
        </p:nvSpPr>
        <p:spPr>
          <a:xfrm>
            <a:off x="5030470" y="5786577"/>
            <a:ext cx="1096264" cy="255905"/>
          </a:xfrm>
          <a:prstGeom prst="rect">
            <a:avLst/>
          </a:prstGeom>
          <a:noFill/>
        </p:spPr>
        <p:txBody>
          <a:bodyPr wrap="none" lIns="0" rIns="0" tIns="0" bIns="0">
            <a:spAutoFit/>
          </a:bodyPr>
          <a:lstStyle/>
          <a:p>
            <a:pPr>
              <a:lnSpc>
                <a:spcPct val="112000"/>
              </a:lnSpc>
              <a:spcBef>
                <a:spcPts val="0"/>
              </a:spcBef>
              <a:spcAft>
                <a:spcPts val="0"/>
              </a:spcAft>
              <a:defRPr sz="1240" b="0">
                <a:solidFill>
                  <a:srgbClr val="333333"/>
                </a:solidFill>
                <a:latin typeface="微软雅黑"/>
              </a:defRPr>
            </a:pPr>
            <a:r>
              <a:rPr>
                <a:ea typeface="微软雅黑"/>
              </a:rPr>
              <a:t>C. ≤ 0.672 L</a:t>
            </a:r>
          </a:p>
        </p:txBody>
      </p:sp>
      <p:sp>
        <p:nvSpPr>
          <p:cNvPr id="31" name="原题文字_127_30"/>
          <p:cNvSpPr txBox="1"/>
          <p:nvPr/>
        </p:nvSpPr>
        <p:spPr>
          <a:xfrm>
            <a:off x="7233920" y="5773877"/>
            <a:ext cx="1134364" cy="288925"/>
          </a:xfrm>
          <a:prstGeom prst="rect">
            <a:avLst/>
          </a:prstGeom>
          <a:noFill/>
        </p:spPr>
        <p:txBody>
          <a:bodyPr wrap="non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D. &lt; 0.672 L</a:t>
            </a:r>
          </a:p>
        </p:txBody>
      </p:sp>
      <p:sp>
        <p:nvSpPr>
          <p:cNvPr id="32" name="文字_解答题  ·  05-02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05-024</a:t>
            </a:r>
          </a:p>
        </p:txBody>
      </p:sp>
      <p:sp>
        <p:nvSpPr>
          <p:cNvPr id="33" name="文字_3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制备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氯气的制备 · 变式1</a:t>
            </a:r>
          </a:p>
        </p:txBody>
      </p:sp>
      <p:sp>
        <p:nvSpPr>
          <p:cNvPr id="5" name="文字_P12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P127</a:t>
            </a:r>
          </a:p>
        </p:txBody>
      </p:sp>
      <p:sp>
        <p:nvSpPr>
          <p:cNvPr id="6" name="文字_下列有关氯气制备或性质的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下列有关氯气制备或性质的说法正确的是（</a:t>
            </a:r>
          </a:p>
        </p:txBody>
      </p:sp>
      <p:sp>
        <p:nvSpPr>
          <p:cNvPr id="7" name="文字_A. 实验室制备氯气时，若MnO₂过量，则浓盐酸"/>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实验室制备氯气时，若MnO₂过量，则浓盐酸可全部消耗完</a:t>
            </a:r>
          </a:p>
        </p:txBody>
      </p:sp>
      <p:sp>
        <p:nvSpPr>
          <p:cNvPr id="8" name="文字_B. 实验室可用向下排空气法收集Cl₂"/>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实验室可用向下排空气法收集Cl₂</a:t>
            </a:r>
          </a:p>
        </p:txBody>
      </p:sp>
      <p:sp>
        <p:nvSpPr>
          <p:cNvPr id="9" name="文字_C. 可用湿润的淀粉碘化钾试纸检验氯气"/>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可用湿润的淀粉碘化钾试纸检验氯气</a:t>
            </a:r>
          </a:p>
        </p:txBody>
      </p:sp>
      <p:sp>
        <p:nvSpPr>
          <p:cNvPr id="10" name="文字_D. 钠在氯气中燃烧发出黄色火焰，产生棕黄色的烟"/>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钠在氯气中燃烧发出黄色火焰，产生棕黄色的烟</a:t>
            </a:r>
          </a:p>
        </p:txBody>
      </p:sp>
      <p:sp>
        <p:nvSpPr>
          <p:cNvPr id="11" name="文字_单选题  ·  05-02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05-025</a:t>
            </a:r>
          </a:p>
        </p:txBody>
      </p:sp>
      <p:sp>
        <p:nvSpPr>
          <p:cNvPr id="12" name="文字_3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制备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氯气的制备 · 变式2</a:t>
            </a:r>
          </a:p>
        </p:txBody>
      </p:sp>
      <p:sp>
        <p:nvSpPr>
          <p:cNvPr id="5" name="文字_P12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P128</a:t>
            </a:r>
          </a:p>
        </p:txBody>
      </p:sp>
      <p:sp>
        <p:nvSpPr>
          <p:cNvPr id="6" name="文字_用如下装置探究氯气的性质，图中三支试管口均放置沾"/>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用如下装置探究氯气的性质，图中三支试管口均放置沾有NaOH溶液的棉花。下列</a:t>
            </a:r>
          </a:p>
          <a:p>
            <a:pPr>
              <a:lnSpc>
                <a:spcPct val="112000"/>
              </a:lnSpc>
              <a:spcBef>
                <a:spcPts val="0"/>
              </a:spcBef>
              <a:spcAft>
                <a:spcPts val="0"/>
              </a:spcAft>
              <a:defRPr sz="2400" b="0">
                <a:solidFill>
                  <a:srgbClr val="333333"/>
                </a:solidFill>
                <a:latin typeface="微软雅黑"/>
              </a:defRPr>
            </a:pPr>
            <a:r>
              <a:rPr>
                <a:ea typeface="微软雅黑"/>
              </a:rPr>
              <a:t>说法不正确的是</a:t>
            </a:r>
          </a:p>
        </p:txBody>
      </p:sp>
      <p:pic>
        <p:nvPicPr>
          <p:cNvPr id="7" name="Picture 6" descr="image.png"/>
          <p:cNvPicPr>
            <a:picLocks noChangeAspect="1"/>
          </p:cNvPicPr>
          <p:nvPr/>
        </p:nvPicPr>
        <p:blipFill>
          <a:blip r:embed="rId3"/>
          <a:stretch>
            <a:fillRect/>
          </a:stretch>
        </p:blipFill>
        <p:spPr>
          <a:xfrm>
            <a:off x="502920" y="1880616"/>
            <a:ext cx="11064240" cy="2335358"/>
          </a:xfrm>
          <a:prstGeom prst="rect">
            <a:avLst/>
          </a:prstGeom>
        </p:spPr>
      </p:pic>
      <p:sp>
        <p:nvSpPr>
          <p:cNvPr id="8" name="原题文字_128_4"/>
          <p:cNvSpPr txBox="1"/>
          <p:nvPr/>
        </p:nvSpPr>
        <p:spPr>
          <a:xfrm>
            <a:off x="571832" y="1943127"/>
            <a:ext cx="5705666"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A. 试管口放置浸有NaOH溶液的棉花，主要是防止氯气逸出</a:t>
            </a:r>
          </a:p>
        </p:txBody>
      </p:sp>
      <p:sp>
        <p:nvSpPr>
          <p:cNvPr id="9" name="原题文字_128_5"/>
          <p:cNvSpPr txBox="1"/>
          <p:nvPr/>
        </p:nvSpPr>
        <p:spPr>
          <a:xfrm>
            <a:off x="6789245" y="1912499"/>
            <a:ext cx="766956"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浓盐酸</a:t>
            </a:r>
          </a:p>
        </p:txBody>
      </p:sp>
      <p:sp>
        <p:nvSpPr>
          <p:cNvPr id="10" name="原题文字_128_6"/>
          <p:cNvSpPr txBox="1"/>
          <p:nvPr/>
        </p:nvSpPr>
        <p:spPr>
          <a:xfrm>
            <a:off x="893422" y="2257060"/>
            <a:ext cx="989007"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污染空气</a:t>
            </a:r>
          </a:p>
        </p:txBody>
      </p:sp>
      <p:sp>
        <p:nvSpPr>
          <p:cNvPr id="11" name="原题文字_128_7"/>
          <p:cNvSpPr txBox="1"/>
          <p:nvPr/>
        </p:nvSpPr>
        <p:spPr>
          <a:xfrm>
            <a:off x="564175" y="2655220"/>
            <a:ext cx="5805206"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 ①中淀粉KI试纸变蓝，③中的溶液变为棕黄色，均可说明</a:t>
            </a:r>
          </a:p>
        </p:txBody>
      </p:sp>
      <p:sp>
        <p:nvSpPr>
          <p:cNvPr id="12" name="原题文字_128_8"/>
          <p:cNvSpPr txBox="1"/>
          <p:nvPr/>
        </p:nvSpPr>
        <p:spPr>
          <a:xfrm>
            <a:off x="7057237" y="2685848"/>
            <a:ext cx="751643"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湿润的</a:t>
            </a:r>
          </a:p>
        </p:txBody>
      </p:sp>
      <p:sp>
        <p:nvSpPr>
          <p:cNvPr id="13" name="原题文字_128_9"/>
          <p:cNvSpPr txBox="1"/>
          <p:nvPr/>
        </p:nvSpPr>
        <p:spPr>
          <a:xfrm>
            <a:off x="916393" y="2984467"/>
            <a:ext cx="1364196"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氯气有氧化性</a:t>
            </a:r>
          </a:p>
        </p:txBody>
      </p:sp>
      <p:sp>
        <p:nvSpPr>
          <p:cNvPr id="14" name="原题文字_128_10"/>
          <p:cNvSpPr txBox="1"/>
          <p:nvPr/>
        </p:nvSpPr>
        <p:spPr>
          <a:xfrm>
            <a:off x="6865815" y="2915555"/>
            <a:ext cx="1188087"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淀粉KI试纸</a:t>
            </a:r>
          </a:p>
        </p:txBody>
      </p:sp>
      <p:sp>
        <p:nvSpPr>
          <p:cNvPr id="15" name="原题文字_128_11"/>
          <p:cNvSpPr txBox="1"/>
          <p:nvPr/>
        </p:nvSpPr>
        <p:spPr>
          <a:xfrm>
            <a:off x="8381883" y="3122292"/>
            <a:ext cx="759300" cy="358343"/>
          </a:xfrm>
          <a:prstGeom prst="rect">
            <a:avLst/>
          </a:prstGeom>
          <a:noFill/>
        </p:spPr>
        <p:txBody>
          <a:bodyPr wrap="none" lIns="0" rIns="0" tIns="0" bIns="0">
            <a:spAutoFit/>
          </a:bodyPr>
          <a:lstStyle/>
          <a:p>
            <a:pPr>
              <a:lnSpc>
                <a:spcPct val="112000"/>
              </a:lnSpc>
              <a:spcBef>
                <a:spcPts val="0"/>
              </a:spcBef>
              <a:spcAft>
                <a:spcPts val="0"/>
              </a:spcAft>
              <a:defRPr sz="1627" b="0">
                <a:solidFill>
                  <a:srgbClr val="333333"/>
                </a:solidFill>
                <a:latin typeface="微软雅黑"/>
              </a:defRPr>
            </a:pPr>
            <a:r>
              <a:rPr>
                <a:ea typeface="微软雅黑"/>
              </a:rPr>
              <a:t>AgNO₃</a:t>
            </a:r>
          </a:p>
        </p:txBody>
      </p:sp>
      <p:sp>
        <p:nvSpPr>
          <p:cNvPr id="16" name="原题文字_128_12"/>
          <p:cNvSpPr txBox="1"/>
          <p:nvPr/>
        </p:nvSpPr>
        <p:spPr>
          <a:xfrm>
            <a:off x="9492136" y="3160576"/>
            <a:ext cx="636789"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FeCl₂</a:t>
            </a:r>
          </a:p>
        </p:txBody>
      </p:sp>
      <p:sp>
        <p:nvSpPr>
          <p:cNvPr id="17" name="原题文字_128_13"/>
          <p:cNvSpPr txBox="1"/>
          <p:nvPr/>
        </p:nvSpPr>
        <p:spPr>
          <a:xfrm>
            <a:off x="10556447" y="3122292"/>
            <a:ext cx="751643"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紫色石</a:t>
            </a:r>
          </a:p>
        </p:txBody>
      </p:sp>
      <p:sp>
        <p:nvSpPr>
          <p:cNvPr id="18" name="原题文字_128_14"/>
          <p:cNvSpPr txBox="1"/>
          <p:nvPr/>
        </p:nvSpPr>
        <p:spPr>
          <a:xfrm>
            <a:off x="571832" y="3351999"/>
            <a:ext cx="542236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C. ②中产生白色沉淀，不能说明氯气与水反应有Cl生成</a:t>
            </a:r>
          </a:p>
        </p:txBody>
      </p:sp>
      <p:sp>
        <p:nvSpPr>
          <p:cNvPr id="19" name="原题文字_128_15"/>
          <p:cNvSpPr txBox="1"/>
          <p:nvPr/>
        </p:nvSpPr>
        <p:spPr>
          <a:xfrm>
            <a:off x="7049581" y="3420911"/>
            <a:ext cx="843526" cy="457883"/>
          </a:xfrm>
          <a:prstGeom prst="rect">
            <a:avLst/>
          </a:prstGeom>
          <a:noFill/>
        </p:spPr>
        <p:txBody>
          <a:bodyPr wrap="none" lIns="0" rIns="0" tIns="0" bIns="0">
            <a:spAutoFit/>
          </a:bodyPr>
          <a:lstStyle/>
          <a:p>
            <a:pPr>
              <a:lnSpc>
                <a:spcPct val="112000"/>
              </a:lnSpc>
              <a:spcBef>
                <a:spcPts val="0"/>
              </a:spcBef>
              <a:spcAft>
                <a:spcPts val="0"/>
              </a:spcAft>
              <a:defRPr sz="1766" b="0">
                <a:solidFill>
                  <a:srgbClr val="333333"/>
                </a:solidFill>
                <a:latin typeface="微软雅黑"/>
              </a:defRPr>
            </a:pPr>
            <a:r>
              <a:rPr>
                <a:ea typeface="微软雅黑"/>
              </a:rPr>
              <a:t>KMnO₄</a:t>
            </a:r>
          </a:p>
        </p:txBody>
      </p:sp>
      <p:sp>
        <p:nvSpPr>
          <p:cNvPr id="20" name="原题文字_128_16"/>
          <p:cNvSpPr txBox="1"/>
          <p:nvPr/>
        </p:nvSpPr>
        <p:spPr>
          <a:xfrm>
            <a:off x="8489080" y="3313714"/>
            <a:ext cx="567877"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溶液</a:t>
            </a:r>
          </a:p>
        </p:txBody>
      </p:sp>
      <p:sp>
        <p:nvSpPr>
          <p:cNvPr id="21" name="原题文字_128_17"/>
          <p:cNvSpPr txBox="1"/>
          <p:nvPr/>
        </p:nvSpPr>
        <p:spPr>
          <a:xfrm>
            <a:off x="9522764" y="3382627"/>
            <a:ext cx="56022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溶液</a:t>
            </a:r>
          </a:p>
        </p:txBody>
      </p:sp>
      <p:sp>
        <p:nvSpPr>
          <p:cNvPr id="22" name="原题文字_128_18"/>
          <p:cNvSpPr txBox="1"/>
          <p:nvPr/>
        </p:nvSpPr>
        <p:spPr>
          <a:xfrm>
            <a:off x="10548790" y="3351999"/>
            <a:ext cx="751643"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蕊试剂</a:t>
            </a:r>
          </a:p>
        </p:txBody>
      </p:sp>
      <p:sp>
        <p:nvSpPr>
          <p:cNvPr id="23" name="原题文字_128_19"/>
          <p:cNvSpPr txBox="1"/>
          <p:nvPr/>
        </p:nvSpPr>
        <p:spPr>
          <a:xfrm>
            <a:off x="7172091" y="3650619"/>
            <a:ext cx="583191"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固体</a:t>
            </a:r>
          </a:p>
        </p:txBody>
      </p:sp>
      <p:sp>
        <p:nvSpPr>
          <p:cNvPr id="24" name="原题文字_128_20"/>
          <p:cNvSpPr txBox="1"/>
          <p:nvPr/>
        </p:nvSpPr>
        <p:spPr>
          <a:xfrm>
            <a:off x="571832" y="3734845"/>
            <a:ext cx="557549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D. ④中紫色石蕊溶液先变红后褪色，说明氯气具有漂白性</a:t>
            </a:r>
          </a:p>
        </p:txBody>
      </p:sp>
      <p:sp>
        <p:nvSpPr>
          <p:cNvPr id="25" name="原题文字_128_21"/>
          <p:cNvSpPr txBox="1"/>
          <p:nvPr/>
        </p:nvSpPr>
        <p:spPr>
          <a:xfrm>
            <a:off x="6582509" y="3949238"/>
            <a:ext cx="276914"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①</a:t>
            </a:r>
          </a:p>
        </p:txBody>
      </p:sp>
      <p:sp>
        <p:nvSpPr>
          <p:cNvPr id="26" name="原题文字_128_22"/>
          <p:cNvSpPr txBox="1"/>
          <p:nvPr/>
        </p:nvSpPr>
        <p:spPr>
          <a:xfrm>
            <a:off x="8052636" y="3964552"/>
            <a:ext cx="253943"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②</a:t>
            </a:r>
          </a:p>
        </p:txBody>
      </p:sp>
      <p:sp>
        <p:nvSpPr>
          <p:cNvPr id="27" name="原题文字_128_23"/>
          <p:cNvSpPr txBox="1"/>
          <p:nvPr/>
        </p:nvSpPr>
        <p:spPr>
          <a:xfrm>
            <a:off x="9170546" y="3964552"/>
            <a:ext cx="253943"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③</a:t>
            </a:r>
          </a:p>
        </p:txBody>
      </p:sp>
      <p:sp>
        <p:nvSpPr>
          <p:cNvPr id="28" name="原题文字_128_24"/>
          <p:cNvSpPr txBox="1"/>
          <p:nvPr/>
        </p:nvSpPr>
        <p:spPr>
          <a:xfrm>
            <a:off x="10242513" y="3964552"/>
            <a:ext cx="238629"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④</a:t>
            </a:r>
          </a:p>
        </p:txBody>
      </p:sp>
      <p:sp>
        <p:nvSpPr>
          <p:cNvPr id="29" name="文字_单选题  ·  05-02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05-026</a:t>
            </a:r>
          </a:p>
        </p:txBody>
      </p:sp>
      <p:sp>
        <p:nvSpPr>
          <p:cNvPr id="30" name="文字_3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制备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氯气的制备 · 变式3</a:t>
            </a:r>
          </a:p>
        </p:txBody>
      </p:sp>
      <p:sp>
        <p:nvSpPr>
          <p:cNvPr id="5" name="文字_P12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P128</a:t>
            </a:r>
          </a:p>
        </p:txBody>
      </p:sp>
      <p:sp>
        <p:nvSpPr>
          <p:cNvPr id="6" name="文字_常温下，Fe(OH)₃与KClO在碱性条件下反应"/>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常温下，Fe(OH)₃与KClO在碱性条件下反应可制得K₂FeO₄。实验室制备K₂FeO₄</a:t>
            </a:r>
          </a:p>
          <a:p>
            <a:pPr>
              <a:lnSpc>
                <a:spcPct val="112000"/>
              </a:lnSpc>
              <a:spcBef>
                <a:spcPts val="0"/>
              </a:spcBef>
              <a:spcAft>
                <a:spcPts val="0"/>
              </a:spcAft>
              <a:defRPr sz="2400" b="0">
                <a:solidFill>
                  <a:srgbClr val="333333"/>
                </a:solidFill>
                <a:latin typeface="微软雅黑"/>
              </a:defRPr>
            </a:pPr>
            <a:r>
              <a:rPr>
                <a:ea typeface="微软雅黑"/>
              </a:rPr>
              <a:t>的装置（夹持装置未画出）和原理不能达到实验目的的是</a:t>
            </a:r>
          </a:p>
        </p:txBody>
      </p:sp>
      <p:pic>
        <p:nvPicPr>
          <p:cNvPr id="7" name="Picture 6" descr="image.png"/>
          <p:cNvPicPr>
            <a:picLocks noChangeAspect="1"/>
          </p:cNvPicPr>
          <p:nvPr/>
        </p:nvPicPr>
        <p:blipFill>
          <a:blip r:embed="rId3"/>
          <a:stretch>
            <a:fillRect/>
          </a:stretch>
        </p:blipFill>
        <p:spPr>
          <a:xfrm>
            <a:off x="502920" y="1880616"/>
            <a:ext cx="11064240" cy="2067366"/>
          </a:xfrm>
          <a:prstGeom prst="rect">
            <a:avLst/>
          </a:prstGeom>
        </p:spPr>
      </p:pic>
      <p:sp>
        <p:nvSpPr>
          <p:cNvPr id="8" name="原题文字_128_30"/>
          <p:cNvSpPr txBox="1"/>
          <p:nvPr/>
        </p:nvSpPr>
        <p:spPr>
          <a:xfrm>
            <a:off x="571832" y="1958441"/>
            <a:ext cx="2030347" cy="388205"/>
          </a:xfrm>
          <a:prstGeom prst="rect">
            <a:avLst/>
          </a:prstGeom>
          <a:noFill/>
        </p:spPr>
        <p:txBody>
          <a:bodyPr wrap="none" lIns="0" rIns="0" tIns="0" bIns="0">
            <a:spAutoFit/>
          </a:bodyPr>
          <a:lstStyle/>
          <a:p>
            <a:pPr>
              <a:lnSpc>
                <a:spcPct val="112000"/>
              </a:lnSpc>
              <a:spcBef>
                <a:spcPts val="0"/>
              </a:spcBef>
              <a:spcAft>
                <a:spcPts val="0"/>
              </a:spcAft>
              <a:defRPr sz="1819" b="0">
                <a:solidFill>
                  <a:srgbClr val="333333"/>
                </a:solidFill>
                <a:latin typeface="微软雅黑"/>
              </a:defRPr>
            </a:pPr>
            <a:r>
              <a:rPr>
                <a:ea typeface="微软雅黑"/>
              </a:rPr>
              <a:t>A. 用装置甲制取Cl₂</a:t>
            </a:r>
          </a:p>
        </p:txBody>
      </p:sp>
      <p:sp>
        <p:nvSpPr>
          <p:cNvPr id="9" name="原题文字_128_31"/>
          <p:cNvSpPr txBox="1"/>
          <p:nvPr/>
        </p:nvSpPr>
        <p:spPr>
          <a:xfrm>
            <a:off x="5694307" y="2142207"/>
            <a:ext cx="766956"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浓盐酸</a:t>
            </a:r>
          </a:p>
        </p:txBody>
      </p:sp>
      <p:sp>
        <p:nvSpPr>
          <p:cNvPr id="10" name="原题文字_128_32"/>
          <p:cNvSpPr txBox="1"/>
          <p:nvPr/>
        </p:nvSpPr>
        <p:spPr>
          <a:xfrm>
            <a:off x="9139918" y="2211119"/>
            <a:ext cx="874153"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搅拌</a:t>
            </a:r>
          </a:p>
        </p:txBody>
      </p:sp>
      <p:sp>
        <p:nvSpPr>
          <p:cNvPr id="11" name="原题文字_128_33"/>
          <p:cNvSpPr txBox="1"/>
          <p:nvPr/>
        </p:nvSpPr>
        <p:spPr>
          <a:xfrm>
            <a:off x="587146" y="2379571"/>
            <a:ext cx="2076289"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B. 用装置乙除去HCl</a:t>
            </a:r>
          </a:p>
        </p:txBody>
      </p:sp>
      <p:sp>
        <p:nvSpPr>
          <p:cNvPr id="12" name="原题文字_128_34"/>
          <p:cNvSpPr txBox="1"/>
          <p:nvPr/>
        </p:nvSpPr>
        <p:spPr>
          <a:xfrm>
            <a:off x="6574852" y="2662877"/>
            <a:ext cx="269257"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元</a:t>
            </a:r>
          </a:p>
        </p:txBody>
      </p:sp>
      <p:sp>
        <p:nvSpPr>
          <p:cNvPr id="13" name="原题文字_128_35"/>
          <p:cNvSpPr txBox="1"/>
          <p:nvPr/>
        </p:nvSpPr>
        <p:spPr>
          <a:xfrm>
            <a:off x="571832" y="2739446"/>
            <a:ext cx="2474448" cy="368297"/>
          </a:xfrm>
          <a:prstGeom prst="rect">
            <a:avLst/>
          </a:prstGeom>
          <a:noFill/>
        </p:spPr>
        <p:txBody>
          <a:bodyPr wrap="none" lIns="0" rIns="0" tIns="0" bIns="0">
            <a:spAutoFit/>
          </a:bodyPr>
          <a:lstStyle/>
          <a:p>
            <a:pPr>
              <a:lnSpc>
                <a:spcPct val="112000"/>
              </a:lnSpc>
              <a:spcBef>
                <a:spcPts val="0"/>
              </a:spcBef>
              <a:spcAft>
                <a:spcPts val="0"/>
              </a:spcAft>
              <a:defRPr sz="1781" b="0">
                <a:solidFill>
                  <a:srgbClr val="333333"/>
                </a:solidFill>
                <a:latin typeface="微软雅黑"/>
              </a:defRPr>
            </a:pPr>
            <a:r>
              <a:rPr>
                <a:ea typeface="微软雅黑"/>
              </a:rPr>
              <a:t>C. 用装置丙制备K₂FeO₄</a:t>
            </a:r>
          </a:p>
        </p:txBody>
      </p:sp>
      <p:sp>
        <p:nvSpPr>
          <p:cNvPr id="14" name="原题文字_128_36"/>
          <p:cNvSpPr txBox="1"/>
          <p:nvPr/>
        </p:nvSpPr>
        <p:spPr>
          <a:xfrm>
            <a:off x="6842844" y="2915555"/>
            <a:ext cx="843526"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饱和食</a:t>
            </a:r>
          </a:p>
        </p:txBody>
      </p:sp>
      <p:sp>
        <p:nvSpPr>
          <p:cNvPr id="15" name="原题文字_128_37"/>
          <p:cNvSpPr txBox="1"/>
          <p:nvPr/>
        </p:nvSpPr>
        <p:spPr>
          <a:xfrm>
            <a:off x="7600878" y="2930869"/>
            <a:ext cx="299885" cy="238895"/>
          </a:xfrm>
          <a:prstGeom prst="rect">
            <a:avLst/>
          </a:prstGeom>
          <a:noFill/>
        </p:spPr>
        <p:txBody>
          <a:bodyPr wrap="none" lIns="0" rIns="0" tIns="0" bIns="0">
            <a:spAutoFit/>
          </a:bodyPr>
          <a:lstStyle/>
          <a:p>
            <a:pPr>
              <a:lnSpc>
                <a:spcPct val="112000"/>
              </a:lnSpc>
              <a:spcBef>
                <a:spcPts val="0"/>
              </a:spcBef>
              <a:spcAft>
                <a:spcPts val="0"/>
              </a:spcAft>
              <a:defRPr sz="1157" b="0">
                <a:solidFill>
                  <a:srgbClr val="333333"/>
                </a:solidFill>
                <a:latin typeface="微软雅黑"/>
              </a:defRPr>
            </a:pPr>
            <a:r>
              <a:rPr>
                <a:ea typeface="微软雅黑"/>
              </a:rPr>
              <a:t>荒</a:t>
            </a:r>
          </a:p>
        </p:txBody>
      </p:sp>
      <p:sp>
        <p:nvSpPr>
          <p:cNvPr id="16" name="原题文字_128_38"/>
          <p:cNvSpPr txBox="1"/>
          <p:nvPr/>
        </p:nvSpPr>
        <p:spPr>
          <a:xfrm>
            <a:off x="9767785" y="3007438"/>
            <a:ext cx="1057919"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NaOH溶液</a:t>
            </a:r>
          </a:p>
        </p:txBody>
      </p:sp>
      <p:sp>
        <p:nvSpPr>
          <p:cNvPr id="17" name="原题文字_128_39"/>
          <p:cNvSpPr txBox="1"/>
          <p:nvPr/>
        </p:nvSpPr>
        <p:spPr>
          <a:xfrm>
            <a:off x="587146" y="3137605"/>
            <a:ext cx="2137544"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D. 用装置丁吸收尾气</a:t>
            </a:r>
          </a:p>
        </p:txBody>
      </p:sp>
      <p:sp>
        <p:nvSpPr>
          <p:cNvPr id="18" name="原题文字_128_40"/>
          <p:cNvSpPr txBox="1"/>
          <p:nvPr/>
        </p:nvSpPr>
        <p:spPr>
          <a:xfrm>
            <a:off x="6950041" y="3122292"/>
            <a:ext cx="606161"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盐水</a:t>
            </a:r>
          </a:p>
        </p:txBody>
      </p:sp>
      <p:sp>
        <p:nvSpPr>
          <p:cNvPr id="19" name="原题文字_128_41"/>
          <p:cNvSpPr txBox="1"/>
          <p:nvPr/>
        </p:nvSpPr>
        <p:spPr>
          <a:xfrm>
            <a:off x="8205774" y="3183547"/>
            <a:ext cx="552563"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过量</a:t>
            </a:r>
          </a:p>
        </p:txBody>
      </p:sp>
      <p:sp>
        <p:nvSpPr>
          <p:cNvPr id="20" name="原题文字_128_42"/>
          <p:cNvSpPr txBox="1"/>
          <p:nvPr/>
        </p:nvSpPr>
        <p:spPr>
          <a:xfrm>
            <a:off x="5740248" y="3428568"/>
            <a:ext cx="636789" cy="368297"/>
          </a:xfrm>
          <a:prstGeom prst="rect">
            <a:avLst/>
          </a:prstGeom>
          <a:noFill/>
        </p:spPr>
        <p:txBody>
          <a:bodyPr wrap="none" lIns="0" rIns="0" tIns="0" bIns="0">
            <a:spAutoFit/>
          </a:bodyPr>
          <a:lstStyle/>
          <a:p>
            <a:pPr>
              <a:lnSpc>
                <a:spcPct val="112000"/>
              </a:lnSpc>
              <a:spcBef>
                <a:spcPts val="0"/>
              </a:spcBef>
              <a:spcAft>
                <a:spcPts val="0"/>
              </a:spcAft>
              <a:defRPr sz="1618" b="0">
                <a:solidFill>
                  <a:srgbClr val="333333"/>
                </a:solidFill>
                <a:latin typeface="微软雅黑"/>
              </a:defRPr>
            </a:pPr>
            <a:r>
              <a:rPr>
                <a:ea typeface="微软雅黑"/>
              </a:rPr>
              <a:t>MnO₂</a:t>
            </a:r>
          </a:p>
        </p:txBody>
      </p:sp>
      <p:sp>
        <p:nvSpPr>
          <p:cNvPr id="21" name="原题文字_128_43"/>
          <p:cNvSpPr txBox="1"/>
          <p:nvPr/>
        </p:nvSpPr>
        <p:spPr>
          <a:xfrm>
            <a:off x="7991381" y="3451539"/>
            <a:ext cx="973693"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KOH溶液</a:t>
            </a:r>
          </a:p>
        </p:txBody>
      </p:sp>
      <p:sp>
        <p:nvSpPr>
          <p:cNvPr id="22" name="原题文字_128_44"/>
          <p:cNvSpPr txBox="1"/>
          <p:nvPr/>
        </p:nvSpPr>
        <p:spPr>
          <a:xfrm>
            <a:off x="9622303" y="3489823"/>
            <a:ext cx="866496" cy="398159"/>
          </a:xfrm>
          <a:prstGeom prst="rect">
            <a:avLst/>
          </a:prstGeom>
          <a:noFill/>
        </p:spPr>
        <p:txBody>
          <a:bodyPr wrap="none" lIns="0" rIns="0" tIns="0" bIns="0">
            <a:spAutoFit/>
          </a:bodyPr>
          <a:lstStyle/>
          <a:p>
            <a:pPr>
              <a:lnSpc>
                <a:spcPct val="112000"/>
              </a:lnSpc>
              <a:spcBef>
                <a:spcPts val="0"/>
              </a:spcBef>
              <a:spcAft>
                <a:spcPts val="0"/>
              </a:spcAft>
              <a:defRPr sz="1569" b="0">
                <a:solidFill>
                  <a:srgbClr val="333333"/>
                </a:solidFill>
                <a:latin typeface="微软雅黑"/>
              </a:defRPr>
            </a:pPr>
            <a:r>
              <a:rPr>
                <a:ea typeface="微软雅黑"/>
              </a:rPr>
              <a:t>-Fe(OH)3</a:t>
            </a:r>
          </a:p>
        </p:txBody>
      </p:sp>
      <p:sp>
        <p:nvSpPr>
          <p:cNvPr id="23" name="原题文字_128_45"/>
          <p:cNvSpPr txBox="1"/>
          <p:nvPr/>
        </p:nvSpPr>
        <p:spPr>
          <a:xfrm>
            <a:off x="6574852" y="3704217"/>
            <a:ext cx="253943"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甲</a:t>
            </a:r>
          </a:p>
        </p:txBody>
      </p:sp>
      <p:sp>
        <p:nvSpPr>
          <p:cNvPr id="24" name="原题文字_128_46"/>
          <p:cNvSpPr txBox="1"/>
          <p:nvPr/>
        </p:nvSpPr>
        <p:spPr>
          <a:xfrm>
            <a:off x="7608535" y="3688903"/>
            <a:ext cx="299885"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乙</a:t>
            </a:r>
          </a:p>
        </p:txBody>
      </p:sp>
      <p:sp>
        <p:nvSpPr>
          <p:cNvPr id="25" name="原题文字_128_47"/>
          <p:cNvSpPr txBox="1"/>
          <p:nvPr/>
        </p:nvSpPr>
        <p:spPr>
          <a:xfrm>
            <a:off x="9231801" y="3696560"/>
            <a:ext cx="292228"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丙</a:t>
            </a:r>
          </a:p>
        </p:txBody>
      </p:sp>
      <p:sp>
        <p:nvSpPr>
          <p:cNvPr id="26" name="文字_单选题  ·  05-02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05-027</a:t>
            </a:r>
          </a:p>
        </p:txBody>
      </p:sp>
      <p:sp>
        <p:nvSpPr>
          <p:cNvPr id="27" name="文字_3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制备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氯气的制备 · 变式4</a:t>
            </a:r>
          </a:p>
        </p:txBody>
      </p:sp>
      <p:sp>
        <p:nvSpPr>
          <p:cNvPr id="5" name="文字_P12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P128</a:t>
            </a:r>
          </a:p>
        </p:txBody>
      </p:sp>
      <p:sp>
        <p:nvSpPr>
          <p:cNvPr id="6" name="文字_为验证卤素单质氧化性的相对强弱，某小组用如图所示"/>
          <p:cNvSpPr txBox="1"/>
          <p:nvPr/>
        </p:nvSpPr>
        <p:spPr>
          <a:xfrm>
            <a:off x="502920" y="1078992"/>
            <a:ext cx="11064240" cy="283464"/>
          </a:xfrm>
          <a:prstGeom prst="rect">
            <a:avLst/>
          </a:prstGeom>
          <a:noFill/>
        </p:spPr>
        <p:txBody>
          <a:bodyPr wrap="square" lIns="0" rIns="0" tIns="0" bIns="0">
            <a:spAutoFit/>
          </a:bodyPr>
          <a:lstStyle/>
          <a:p>
            <a:pPr>
              <a:lnSpc>
                <a:spcPct val="112000"/>
              </a:lnSpc>
              <a:spcBef>
                <a:spcPts val="0"/>
              </a:spcBef>
              <a:spcAft>
                <a:spcPts val="0"/>
              </a:spcAft>
              <a:defRPr sz="1550" b="0">
                <a:solidFill>
                  <a:srgbClr val="333333"/>
                </a:solidFill>
                <a:latin typeface="微软雅黑"/>
              </a:defRPr>
            </a:pPr>
            <a:r>
              <a:rPr>
                <a:ea typeface="微软雅黑"/>
              </a:rPr>
              <a:t>为验证卤素单质氧化性的相对强弱，某小组用如图所示装置进行实验(夹持仪器已略去，气密性已检验)。</a:t>
            </a:r>
          </a:p>
        </p:txBody>
      </p:sp>
      <p:pic>
        <p:nvPicPr>
          <p:cNvPr id="7" name="Picture 6" descr="image.png"/>
          <p:cNvPicPr>
            <a:picLocks noChangeAspect="1"/>
          </p:cNvPicPr>
          <p:nvPr/>
        </p:nvPicPr>
        <p:blipFill>
          <a:blip r:embed="rId3"/>
          <a:stretch>
            <a:fillRect/>
          </a:stretch>
        </p:blipFill>
        <p:spPr>
          <a:xfrm>
            <a:off x="502920" y="1362456"/>
            <a:ext cx="9808560" cy="2002439"/>
          </a:xfrm>
          <a:prstGeom prst="rect">
            <a:avLst/>
          </a:prstGeom>
        </p:spPr>
      </p:pic>
      <p:sp>
        <p:nvSpPr>
          <p:cNvPr id="8" name="原题文字_128_52"/>
          <p:cNvSpPr txBox="1"/>
          <p:nvPr/>
        </p:nvSpPr>
        <p:spPr>
          <a:xfrm>
            <a:off x="964499" y="1423934"/>
            <a:ext cx="523231" cy="291202"/>
          </a:xfrm>
          <a:prstGeom prst="rect">
            <a:avLst/>
          </a:prstGeom>
          <a:noFill/>
        </p:spPr>
        <p:txBody>
          <a:bodyPr wrap="none" lIns="0" rIns="0" tIns="0" bIns="0">
            <a:spAutoFit/>
          </a:bodyPr>
          <a:lstStyle/>
          <a:p>
            <a:pPr>
              <a:lnSpc>
                <a:spcPct val="112000"/>
              </a:lnSpc>
              <a:spcBef>
                <a:spcPts val="0"/>
              </a:spcBef>
              <a:spcAft>
                <a:spcPts val="0"/>
              </a:spcAft>
              <a:defRPr sz="1359" b="0">
                <a:solidFill>
                  <a:srgbClr val="333333"/>
                </a:solidFill>
                <a:latin typeface="微软雅黑"/>
              </a:defRPr>
            </a:pPr>
            <a:r>
              <a:rPr>
                <a:ea typeface="微软雅黑"/>
              </a:rPr>
              <a:t>浓盐酸</a:t>
            </a:r>
          </a:p>
        </p:txBody>
      </p:sp>
      <p:sp>
        <p:nvSpPr>
          <p:cNvPr id="9" name="原题文字_128_53"/>
          <p:cNvSpPr txBox="1"/>
          <p:nvPr/>
        </p:nvSpPr>
        <p:spPr>
          <a:xfrm>
            <a:off x="2729361" y="1471450"/>
            <a:ext cx="530019" cy="291202"/>
          </a:xfrm>
          <a:prstGeom prst="rect">
            <a:avLst/>
          </a:prstGeom>
          <a:noFill/>
        </p:spPr>
        <p:txBody>
          <a:bodyPr wrap="none" lIns="0" rIns="0" tIns="0" bIns="0">
            <a:spAutoFit/>
          </a:bodyPr>
          <a:lstStyle/>
          <a:p>
            <a:pPr>
              <a:lnSpc>
                <a:spcPct val="112000"/>
              </a:lnSpc>
              <a:spcBef>
                <a:spcPts val="0"/>
              </a:spcBef>
              <a:spcAft>
                <a:spcPts val="0"/>
              </a:spcAft>
              <a:defRPr sz="1377" b="0">
                <a:solidFill>
                  <a:srgbClr val="333333"/>
                </a:solidFill>
                <a:latin typeface="微软雅黑"/>
              </a:defRPr>
            </a:pPr>
            <a:r>
              <a:rPr>
                <a:ea typeface="微软雅黑"/>
              </a:rPr>
              <a:t>弹簧夹</a:t>
            </a:r>
          </a:p>
        </p:txBody>
      </p:sp>
      <p:sp>
        <p:nvSpPr>
          <p:cNvPr id="10" name="原题文字_128_54"/>
          <p:cNvSpPr txBox="1"/>
          <p:nvPr/>
        </p:nvSpPr>
        <p:spPr>
          <a:xfrm>
            <a:off x="1005226" y="1715815"/>
            <a:ext cx="455351" cy="264729"/>
          </a:xfrm>
          <a:prstGeom prst="rect">
            <a:avLst/>
          </a:prstGeom>
          <a:noFill/>
        </p:spPr>
        <p:txBody>
          <a:bodyPr wrap="none" lIns="0" rIns="0" tIns="0" bIns="0">
            <a:spAutoFit/>
          </a:bodyPr>
          <a:lstStyle/>
          <a:p>
            <a:pPr>
              <a:lnSpc>
                <a:spcPct val="112000"/>
              </a:lnSpc>
              <a:spcBef>
                <a:spcPts val="0"/>
              </a:spcBef>
              <a:spcAft>
                <a:spcPts val="0"/>
              </a:spcAft>
              <a:defRPr sz="1282" b="0">
                <a:solidFill>
                  <a:srgbClr val="333333"/>
                </a:solidFill>
                <a:latin typeface="微软雅黑"/>
              </a:defRPr>
            </a:pPr>
            <a:r>
              <a:rPr>
                <a:ea typeface="微软雅黑"/>
              </a:rPr>
              <a:t>活塞a</a:t>
            </a:r>
          </a:p>
        </p:txBody>
      </p:sp>
      <p:sp>
        <p:nvSpPr>
          <p:cNvPr id="11" name="原题文字_128_55"/>
          <p:cNvSpPr txBox="1"/>
          <p:nvPr/>
        </p:nvSpPr>
        <p:spPr>
          <a:xfrm>
            <a:off x="2729361" y="1837998"/>
            <a:ext cx="726869" cy="282377"/>
          </a:xfrm>
          <a:prstGeom prst="rect">
            <a:avLst/>
          </a:prstGeom>
          <a:noFill/>
        </p:spPr>
        <p:txBody>
          <a:bodyPr wrap="none" lIns="0" rIns="0" tIns="0" bIns="0">
            <a:spAutoFit/>
          </a:bodyPr>
          <a:lstStyle/>
          <a:p>
            <a:pPr>
              <a:lnSpc>
                <a:spcPct val="112000"/>
              </a:lnSpc>
              <a:spcBef>
                <a:spcPts val="0"/>
              </a:spcBef>
              <a:spcAft>
                <a:spcPts val="0"/>
              </a:spcAft>
              <a:defRPr sz="1154" b="0">
                <a:solidFill>
                  <a:srgbClr val="333333"/>
                </a:solidFill>
                <a:latin typeface="微软雅黑"/>
              </a:defRPr>
            </a:pPr>
            <a:r>
              <a:rPr>
                <a:ea typeface="微软雅黑"/>
              </a:rPr>
              <a:t>浸有NaOH</a:t>
            </a:r>
          </a:p>
        </p:txBody>
      </p:sp>
      <p:sp>
        <p:nvSpPr>
          <p:cNvPr id="12" name="原题文字_128_56"/>
          <p:cNvSpPr txBox="1"/>
          <p:nvPr/>
        </p:nvSpPr>
        <p:spPr>
          <a:xfrm>
            <a:off x="1887657" y="2021272"/>
            <a:ext cx="509655" cy="255905"/>
          </a:xfrm>
          <a:prstGeom prst="rect">
            <a:avLst/>
          </a:prstGeom>
          <a:noFill/>
        </p:spPr>
        <p:txBody>
          <a:bodyPr wrap="none" lIns="0" rIns="0" tIns="0" bIns="0">
            <a:spAutoFit/>
          </a:bodyPr>
          <a:lstStyle/>
          <a:p>
            <a:pPr>
              <a:lnSpc>
                <a:spcPct val="112000"/>
              </a:lnSpc>
              <a:spcBef>
                <a:spcPts val="0"/>
              </a:spcBef>
              <a:spcAft>
                <a:spcPts val="0"/>
              </a:spcAft>
              <a:defRPr sz="1240" b="0">
                <a:solidFill>
                  <a:srgbClr val="333333"/>
                </a:solidFill>
                <a:latin typeface="微软雅黑"/>
              </a:defRPr>
            </a:pPr>
            <a:r>
              <a:rPr>
                <a:ea typeface="微软雅黑"/>
              </a:rPr>
              <a:t>湿润的</a:t>
            </a:r>
          </a:p>
        </p:txBody>
      </p:sp>
      <p:sp>
        <p:nvSpPr>
          <p:cNvPr id="13" name="原题文字_128_57"/>
          <p:cNvSpPr txBox="1"/>
          <p:nvPr/>
        </p:nvSpPr>
        <p:spPr>
          <a:xfrm>
            <a:off x="2708997" y="2000908"/>
            <a:ext cx="767596" cy="273553"/>
          </a:xfrm>
          <a:prstGeom prst="rect">
            <a:avLst/>
          </a:prstGeom>
          <a:noFill/>
        </p:spPr>
        <p:txBody>
          <a:bodyPr wrap="none" lIns="0" rIns="0" tIns="0" bIns="0">
            <a:spAutoFit/>
          </a:bodyPr>
          <a:lstStyle/>
          <a:p>
            <a:pPr>
              <a:lnSpc>
                <a:spcPct val="112000"/>
              </a:lnSpc>
              <a:spcBef>
                <a:spcPts val="0"/>
              </a:spcBef>
              <a:spcAft>
                <a:spcPts val="0"/>
              </a:spcAft>
              <a:defRPr sz="1217" b="0">
                <a:solidFill>
                  <a:srgbClr val="333333"/>
                </a:solidFill>
                <a:latin typeface="微软雅黑"/>
              </a:defRPr>
            </a:pPr>
            <a:r>
              <a:rPr>
                <a:ea typeface="微软雅黑"/>
              </a:rPr>
              <a:t>溶液的棉花</a:t>
            </a:r>
          </a:p>
        </p:txBody>
      </p:sp>
      <p:sp>
        <p:nvSpPr>
          <p:cNvPr id="14" name="原题文字_128_58"/>
          <p:cNvSpPr txBox="1"/>
          <p:nvPr/>
        </p:nvSpPr>
        <p:spPr>
          <a:xfrm>
            <a:off x="1751899" y="2190970"/>
            <a:ext cx="774384" cy="238256"/>
          </a:xfrm>
          <a:prstGeom prst="rect">
            <a:avLst/>
          </a:prstGeom>
          <a:noFill/>
        </p:spPr>
        <p:txBody>
          <a:bodyPr wrap="none" lIns="0" rIns="0" tIns="0" bIns="0">
            <a:spAutoFit/>
          </a:bodyPr>
          <a:lstStyle/>
          <a:p>
            <a:pPr>
              <a:lnSpc>
                <a:spcPct val="112000"/>
              </a:lnSpc>
              <a:spcBef>
                <a:spcPts val="0"/>
              </a:spcBef>
              <a:spcAft>
                <a:spcPts val="0"/>
              </a:spcAft>
              <a:defRPr sz="1154" b="0">
                <a:solidFill>
                  <a:srgbClr val="333333"/>
                </a:solidFill>
                <a:latin typeface="微软雅黑"/>
              </a:defRPr>
            </a:pPr>
            <a:r>
              <a:rPr>
                <a:ea typeface="微软雅黑"/>
              </a:rPr>
              <a:t>淀粉KI试纸</a:t>
            </a:r>
          </a:p>
        </p:txBody>
      </p:sp>
      <p:sp>
        <p:nvSpPr>
          <p:cNvPr id="15" name="原题文字_128_59"/>
          <p:cNvSpPr txBox="1"/>
          <p:nvPr/>
        </p:nvSpPr>
        <p:spPr>
          <a:xfrm>
            <a:off x="3516761" y="2170606"/>
            <a:ext cx="475715" cy="229432"/>
          </a:xfrm>
          <a:prstGeom prst="rect">
            <a:avLst/>
          </a:prstGeom>
          <a:noFill/>
        </p:spPr>
        <p:txBody>
          <a:bodyPr wrap="none" lIns="0" rIns="0" tIns="0" bIns="0">
            <a:spAutoFit/>
          </a:bodyPr>
          <a:lstStyle/>
          <a:p>
            <a:pPr>
              <a:lnSpc>
                <a:spcPct val="112000"/>
              </a:lnSpc>
              <a:spcBef>
                <a:spcPts val="0"/>
              </a:spcBef>
              <a:spcAft>
                <a:spcPts val="0"/>
              </a:spcAft>
              <a:defRPr sz="1111" b="0">
                <a:solidFill>
                  <a:srgbClr val="333333"/>
                </a:solidFill>
                <a:latin typeface="微软雅黑"/>
              </a:defRPr>
            </a:pPr>
            <a:r>
              <a:rPr>
                <a:ea typeface="微软雅黑"/>
              </a:rPr>
              <a:t>活塞b</a:t>
            </a:r>
          </a:p>
        </p:txBody>
      </p:sp>
      <p:sp>
        <p:nvSpPr>
          <p:cNvPr id="16" name="原题文字_128_60"/>
          <p:cNvSpPr txBox="1"/>
          <p:nvPr/>
        </p:nvSpPr>
        <p:spPr>
          <a:xfrm>
            <a:off x="2688633" y="2245274"/>
            <a:ext cx="889779" cy="282377"/>
          </a:xfrm>
          <a:prstGeom prst="rect">
            <a:avLst/>
          </a:prstGeom>
          <a:noFill/>
        </p:spPr>
        <p:txBody>
          <a:bodyPr wrap="none" lIns="0" rIns="0" tIns="0" bIns="0">
            <a:spAutoFit/>
          </a:bodyPr>
          <a:lstStyle/>
          <a:p>
            <a:pPr>
              <a:lnSpc>
                <a:spcPct val="112000"/>
              </a:lnSpc>
              <a:spcBef>
                <a:spcPts val="0"/>
              </a:spcBef>
              <a:spcAft>
                <a:spcPts val="0"/>
              </a:spcAft>
              <a:defRPr sz="1020" b="0">
                <a:solidFill>
                  <a:srgbClr val="333333"/>
                </a:solidFill>
                <a:latin typeface="微软雅黑"/>
              </a:defRPr>
            </a:pPr>
            <a:r>
              <a:rPr>
                <a:ea typeface="微软雅黑"/>
              </a:rPr>
              <a:t>10 mL 1 mol/L</a:t>
            </a:r>
          </a:p>
        </p:txBody>
      </p:sp>
      <p:sp>
        <p:nvSpPr>
          <p:cNvPr id="17" name="原题文字_128_61"/>
          <p:cNvSpPr txBox="1"/>
          <p:nvPr/>
        </p:nvSpPr>
        <p:spPr>
          <a:xfrm>
            <a:off x="2770088" y="2414972"/>
            <a:ext cx="679353" cy="247080"/>
          </a:xfrm>
          <a:prstGeom prst="rect">
            <a:avLst/>
          </a:prstGeom>
          <a:noFill/>
        </p:spPr>
        <p:txBody>
          <a:bodyPr wrap="none" lIns="0" rIns="0" tIns="0" bIns="0">
            <a:spAutoFit/>
          </a:bodyPr>
          <a:lstStyle/>
          <a:p>
            <a:pPr>
              <a:lnSpc>
                <a:spcPct val="112000"/>
              </a:lnSpc>
              <a:spcBef>
                <a:spcPts val="0"/>
              </a:spcBef>
              <a:spcAft>
                <a:spcPts val="0"/>
              </a:spcAft>
              <a:defRPr sz="1197" b="0">
                <a:solidFill>
                  <a:srgbClr val="333333"/>
                </a:solidFill>
                <a:latin typeface="微软雅黑"/>
              </a:defRPr>
            </a:pPr>
            <a:r>
              <a:rPr>
                <a:ea typeface="微软雅黑"/>
              </a:rPr>
              <a:t>NaBr溶液</a:t>
            </a:r>
          </a:p>
        </p:txBody>
      </p:sp>
      <p:sp>
        <p:nvSpPr>
          <p:cNvPr id="18" name="原题文字_128_62"/>
          <p:cNvSpPr txBox="1"/>
          <p:nvPr/>
        </p:nvSpPr>
        <p:spPr>
          <a:xfrm>
            <a:off x="3598216" y="2482851"/>
            <a:ext cx="950870" cy="211783"/>
          </a:xfrm>
          <a:prstGeom prst="rect">
            <a:avLst/>
          </a:prstGeom>
          <a:noFill/>
        </p:spPr>
        <p:txBody>
          <a:bodyPr wrap="none" lIns="0" rIns="0" tIns="0" bIns="0">
            <a:spAutoFit/>
          </a:bodyPr>
          <a:lstStyle/>
          <a:p>
            <a:pPr>
              <a:lnSpc>
                <a:spcPct val="112000"/>
              </a:lnSpc>
              <a:spcBef>
                <a:spcPts val="0"/>
              </a:spcBef>
              <a:spcAft>
                <a:spcPts val="0"/>
              </a:spcAft>
              <a:defRPr sz="1021" b="0">
                <a:solidFill>
                  <a:srgbClr val="333333"/>
                </a:solidFill>
                <a:latin typeface="微软雅黑"/>
              </a:defRPr>
            </a:pPr>
            <a:r>
              <a:rPr>
                <a:ea typeface="微软雅黑"/>
              </a:rPr>
              <a:t>5 mL 0.2 moL/L</a:t>
            </a:r>
          </a:p>
        </p:txBody>
      </p:sp>
      <p:sp>
        <p:nvSpPr>
          <p:cNvPr id="19" name="原题文字_128_63"/>
          <p:cNvSpPr txBox="1"/>
          <p:nvPr/>
        </p:nvSpPr>
        <p:spPr>
          <a:xfrm>
            <a:off x="3801854" y="2618610"/>
            <a:ext cx="516443" cy="247080"/>
          </a:xfrm>
          <a:prstGeom prst="rect">
            <a:avLst/>
          </a:prstGeom>
          <a:noFill/>
        </p:spPr>
        <p:txBody>
          <a:bodyPr wrap="none" lIns="0" rIns="0" tIns="0" bIns="0">
            <a:spAutoFit/>
          </a:bodyPr>
          <a:lstStyle/>
          <a:p>
            <a:pPr>
              <a:lnSpc>
                <a:spcPct val="112000"/>
              </a:lnSpc>
              <a:spcBef>
                <a:spcPts val="0"/>
              </a:spcBef>
              <a:spcAft>
                <a:spcPts val="0"/>
              </a:spcAft>
              <a:defRPr sz="1197" b="0">
                <a:solidFill>
                  <a:srgbClr val="333333"/>
                </a:solidFill>
                <a:latin typeface="微软雅黑"/>
              </a:defRPr>
            </a:pPr>
            <a:r>
              <a:rPr>
                <a:ea typeface="微软雅黑"/>
              </a:rPr>
              <a:t>KI溶液</a:t>
            </a:r>
          </a:p>
        </p:txBody>
      </p:sp>
      <p:sp>
        <p:nvSpPr>
          <p:cNvPr id="20" name="原题文字_128_64"/>
          <p:cNvSpPr txBox="1"/>
          <p:nvPr/>
        </p:nvSpPr>
        <p:spPr>
          <a:xfrm>
            <a:off x="604738" y="2734005"/>
            <a:ext cx="1174872" cy="247080"/>
          </a:xfrm>
          <a:prstGeom prst="rect">
            <a:avLst/>
          </a:prstGeom>
          <a:noFill/>
        </p:spPr>
        <p:txBody>
          <a:bodyPr wrap="none" lIns="0" rIns="0" tIns="0" bIns="0">
            <a:spAutoFit/>
          </a:bodyPr>
          <a:lstStyle/>
          <a:p>
            <a:pPr>
              <a:lnSpc>
                <a:spcPct val="112000"/>
              </a:lnSpc>
              <a:spcBef>
                <a:spcPts val="0"/>
              </a:spcBef>
              <a:spcAft>
                <a:spcPts val="0"/>
              </a:spcAft>
              <a:defRPr sz="1197" b="0">
                <a:solidFill>
                  <a:srgbClr val="333333"/>
                </a:solidFill>
                <a:latin typeface="微软雅黑"/>
              </a:defRPr>
            </a:pPr>
            <a:r>
              <a:rPr>
                <a:ea typeface="微软雅黑"/>
              </a:rPr>
              <a:t>KMnO₄固体</a:t>
            </a:r>
          </a:p>
        </p:txBody>
      </p:sp>
      <p:sp>
        <p:nvSpPr>
          <p:cNvPr id="21" name="原题文字_128_65"/>
          <p:cNvSpPr txBox="1"/>
          <p:nvPr/>
        </p:nvSpPr>
        <p:spPr>
          <a:xfrm>
            <a:off x="3496397" y="2727217"/>
            <a:ext cx="143107" cy="194134"/>
          </a:xfrm>
          <a:prstGeom prst="rect">
            <a:avLst/>
          </a:prstGeom>
          <a:noFill/>
        </p:spPr>
        <p:txBody>
          <a:bodyPr wrap="none" lIns="0" rIns="0" tIns="0" bIns="0">
            <a:spAutoFit/>
          </a:bodyPr>
          <a:lstStyle/>
          <a:p>
            <a:pPr>
              <a:lnSpc>
                <a:spcPct val="112000"/>
              </a:lnSpc>
              <a:spcBef>
                <a:spcPts val="0"/>
              </a:spcBef>
              <a:spcAft>
                <a:spcPts val="0"/>
              </a:spcAft>
              <a:defRPr sz="620" b="0">
                <a:solidFill>
                  <a:srgbClr val="333333"/>
                </a:solidFill>
                <a:latin typeface="微软雅黑"/>
              </a:defRPr>
            </a:pPr>
            <a:r>
              <a:rPr>
                <a:ea typeface="微软雅黑"/>
              </a:rPr>
              <a:t>NHD</a:t>
            </a:r>
          </a:p>
        </p:txBody>
      </p:sp>
      <p:sp>
        <p:nvSpPr>
          <p:cNvPr id="22" name="原题文字_128_66"/>
          <p:cNvSpPr txBox="1"/>
          <p:nvPr/>
        </p:nvSpPr>
        <p:spPr>
          <a:xfrm>
            <a:off x="3788278" y="2754368"/>
            <a:ext cx="387472" cy="220607"/>
          </a:xfrm>
          <a:prstGeom prst="rect">
            <a:avLst/>
          </a:prstGeom>
          <a:noFill/>
        </p:spPr>
        <p:txBody>
          <a:bodyPr wrap="none" lIns="0" rIns="0" tIns="0" bIns="0">
            <a:spAutoFit/>
          </a:bodyPr>
          <a:lstStyle/>
          <a:p>
            <a:pPr>
              <a:lnSpc>
                <a:spcPct val="112000"/>
              </a:lnSpc>
              <a:spcBef>
                <a:spcPts val="0"/>
              </a:spcBef>
              <a:spcAft>
                <a:spcPts val="0"/>
              </a:spcAft>
              <a:defRPr sz="1068" b="0">
                <a:solidFill>
                  <a:srgbClr val="333333"/>
                </a:solidFill>
                <a:latin typeface="微软雅黑"/>
              </a:defRPr>
            </a:pPr>
            <a:r>
              <a:rPr>
                <a:ea typeface="微软雅黑"/>
              </a:rPr>
              <a:t>CCl₄</a:t>
            </a:r>
          </a:p>
        </p:txBody>
      </p:sp>
      <p:sp>
        <p:nvSpPr>
          <p:cNvPr id="23" name="原题文字_128_67"/>
          <p:cNvSpPr txBox="1"/>
          <p:nvPr/>
        </p:nvSpPr>
        <p:spPr>
          <a:xfrm>
            <a:off x="1507533" y="2917279"/>
            <a:ext cx="190622" cy="194134"/>
          </a:xfrm>
          <a:prstGeom prst="rect">
            <a:avLst/>
          </a:prstGeom>
          <a:noFill/>
        </p:spPr>
        <p:txBody>
          <a:bodyPr wrap="none" lIns="0" rIns="0" tIns="0" bIns="0">
            <a:spAutoFit/>
          </a:bodyPr>
          <a:lstStyle/>
          <a:p>
            <a:pPr>
              <a:lnSpc>
                <a:spcPct val="112000"/>
              </a:lnSpc>
              <a:spcBef>
                <a:spcPts val="0"/>
              </a:spcBef>
              <a:spcAft>
                <a:spcPts val="0"/>
              </a:spcAft>
              <a:defRPr sz="940" b="0">
                <a:solidFill>
                  <a:srgbClr val="333333"/>
                </a:solidFill>
                <a:latin typeface="微软雅黑"/>
              </a:defRPr>
            </a:pPr>
            <a:r>
              <a:rPr>
                <a:ea typeface="微软雅黑"/>
              </a:rPr>
              <a:t>A</a:t>
            </a:r>
          </a:p>
        </p:txBody>
      </p:sp>
      <p:sp>
        <p:nvSpPr>
          <p:cNvPr id="24" name="原题文字_128_68"/>
          <p:cNvSpPr txBox="1"/>
          <p:nvPr/>
        </p:nvSpPr>
        <p:spPr>
          <a:xfrm>
            <a:off x="2546087" y="2910491"/>
            <a:ext cx="190622" cy="194134"/>
          </a:xfrm>
          <a:prstGeom prst="rect">
            <a:avLst/>
          </a:prstGeom>
          <a:noFill/>
        </p:spPr>
        <p:txBody>
          <a:bodyPr wrap="none" lIns="0" rIns="0" tIns="0" bIns="0">
            <a:spAutoFit/>
          </a:bodyPr>
          <a:lstStyle/>
          <a:p>
            <a:pPr>
              <a:lnSpc>
                <a:spcPct val="112000"/>
              </a:lnSpc>
              <a:spcBef>
                <a:spcPts val="0"/>
              </a:spcBef>
              <a:spcAft>
                <a:spcPts val="0"/>
              </a:spcAft>
              <a:defRPr sz="940" b="0">
                <a:solidFill>
                  <a:srgbClr val="333333"/>
                </a:solidFill>
                <a:latin typeface="微软雅黑"/>
              </a:defRPr>
            </a:pPr>
            <a:r>
              <a:rPr>
                <a:ea typeface="微软雅黑"/>
              </a:rPr>
              <a:t>B</a:t>
            </a:r>
          </a:p>
        </p:txBody>
      </p:sp>
      <p:sp>
        <p:nvSpPr>
          <p:cNvPr id="25" name="原题文字_128_69"/>
          <p:cNvSpPr txBox="1"/>
          <p:nvPr/>
        </p:nvSpPr>
        <p:spPr>
          <a:xfrm>
            <a:off x="3462457" y="2910491"/>
            <a:ext cx="197410" cy="202959"/>
          </a:xfrm>
          <a:prstGeom prst="rect">
            <a:avLst/>
          </a:prstGeom>
          <a:noFill/>
        </p:spPr>
        <p:txBody>
          <a:bodyPr wrap="none" lIns="0" rIns="0" tIns="0" bIns="0">
            <a:spAutoFit/>
          </a:bodyPr>
          <a:lstStyle/>
          <a:p>
            <a:pPr>
              <a:lnSpc>
                <a:spcPct val="112000"/>
              </a:lnSpc>
              <a:spcBef>
                <a:spcPts val="0"/>
              </a:spcBef>
              <a:spcAft>
                <a:spcPts val="0"/>
              </a:spcAft>
              <a:defRPr sz="983" b="0">
                <a:solidFill>
                  <a:srgbClr val="333333"/>
                </a:solidFill>
                <a:latin typeface="微软雅黑"/>
              </a:defRPr>
            </a:pPr>
            <a:r>
              <a:rPr>
                <a:ea typeface="微软雅黑"/>
              </a:rPr>
              <a:t>D</a:t>
            </a:r>
          </a:p>
        </p:txBody>
      </p:sp>
      <p:sp>
        <p:nvSpPr>
          <p:cNvPr id="26" name="原题文字_128_70"/>
          <p:cNvSpPr txBox="1"/>
          <p:nvPr/>
        </p:nvSpPr>
        <p:spPr>
          <a:xfrm>
            <a:off x="564011" y="3080189"/>
            <a:ext cx="950870" cy="317675"/>
          </a:xfrm>
          <a:prstGeom prst="rect">
            <a:avLst/>
          </a:prstGeom>
          <a:noFill/>
        </p:spPr>
        <p:txBody>
          <a:bodyPr wrap="none" lIns="0" rIns="0" tIns="0" bIns="0">
            <a:spAutoFit/>
          </a:bodyPr>
          <a:lstStyle/>
          <a:p>
            <a:pPr>
              <a:lnSpc>
                <a:spcPct val="112000"/>
              </a:lnSpc>
              <a:spcBef>
                <a:spcPts val="0"/>
              </a:spcBef>
              <a:spcAft>
                <a:spcPts val="0"/>
              </a:spcAft>
              <a:defRPr sz="1521" b="0">
                <a:solidFill>
                  <a:srgbClr val="333333"/>
                </a:solidFill>
                <a:latin typeface="微软雅黑"/>
              </a:defRPr>
            </a:pPr>
            <a:r>
              <a:rPr>
                <a:ea typeface="微软雅黑"/>
              </a:rPr>
              <a:t>实验过程：</a:t>
            </a:r>
          </a:p>
        </p:txBody>
      </p:sp>
      <p:sp>
        <p:nvSpPr>
          <p:cNvPr id="27" name="文字_I.打开弹簧夹，打开活塞a，滴加浓盐酸。"/>
          <p:cNvSpPr txBox="1"/>
          <p:nvPr/>
        </p:nvSpPr>
        <p:spPr>
          <a:xfrm>
            <a:off x="502920" y="3438047"/>
            <a:ext cx="11064240" cy="283464"/>
          </a:xfrm>
          <a:prstGeom prst="rect">
            <a:avLst/>
          </a:prstGeom>
          <a:noFill/>
        </p:spPr>
        <p:txBody>
          <a:bodyPr wrap="square" lIns="0" rIns="0" tIns="0" bIns="0">
            <a:spAutoFit/>
          </a:bodyPr>
          <a:lstStyle/>
          <a:p>
            <a:pPr>
              <a:lnSpc>
                <a:spcPct val="112000"/>
              </a:lnSpc>
              <a:spcBef>
                <a:spcPts val="0"/>
              </a:spcBef>
              <a:spcAft>
                <a:spcPts val="0"/>
              </a:spcAft>
              <a:defRPr sz="1550" b="0">
                <a:solidFill>
                  <a:srgbClr val="333333"/>
                </a:solidFill>
                <a:latin typeface="微软雅黑"/>
              </a:defRPr>
            </a:pPr>
            <a:r>
              <a:rPr>
                <a:ea typeface="微软雅黑"/>
              </a:rPr>
              <a:t>I.打开弹簧夹，打开活塞a，滴加浓盐酸。</a:t>
            </a:r>
          </a:p>
        </p:txBody>
      </p:sp>
      <p:sp>
        <p:nvSpPr>
          <p:cNvPr id="28" name="文字_Ⅱ.当B和C中的溶液都变为黄色时，夹紧弹簧夹。"/>
          <p:cNvSpPr txBox="1"/>
          <p:nvPr/>
        </p:nvSpPr>
        <p:spPr>
          <a:xfrm>
            <a:off x="502920" y="3721511"/>
            <a:ext cx="11064240" cy="283464"/>
          </a:xfrm>
          <a:prstGeom prst="rect">
            <a:avLst/>
          </a:prstGeom>
          <a:noFill/>
        </p:spPr>
        <p:txBody>
          <a:bodyPr wrap="square" lIns="0" rIns="0" tIns="0" bIns="0">
            <a:spAutoFit/>
          </a:bodyPr>
          <a:lstStyle/>
          <a:p>
            <a:pPr>
              <a:lnSpc>
                <a:spcPct val="112000"/>
              </a:lnSpc>
              <a:spcBef>
                <a:spcPts val="0"/>
              </a:spcBef>
              <a:spcAft>
                <a:spcPts val="0"/>
              </a:spcAft>
              <a:defRPr sz="1550" b="0">
                <a:solidFill>
                  <a:srgbClr val="333333"/>
                </a:solidFill>
                <a:latin typeface="微软雅黑"/>
              </a:defRPr>
            </a:pPr>
            <a:r>
              <a:rPr>
                <a:ea typeface="微软雅黑"/>
              </a:rPr>
              <a:t>Ⅱ.当B和C中的溶液都变为黄色时，夹紧弹簧夹。</a:t>
            </a:r>
          </a:p>
        </p:txBody>
      </p:sp>
      <p:sp>
        <p:nvSpPr>
          <p:cNvPr id="29" name="文字_.当B中溶液由黄色变为红棕色时，关闭活塞a。"/>
          <p:cNvSpPr txBox="1"/>
          <p:nvPr/>
        </p:nvSpPr>
        <p:spPr>
          <a:xfrm>
            <a:off x="502920" y="4004975"/>
            <a:ext cx="11064240" cy="283464"/>
          </a:xfrm>
          <a:prstGeom prst="rect">
            <a:avLst/>
          </a:prstGeom>
          <a:noFill/>
        </p:spPr>
        <p:txBody>
          <a:bodyPr wrap="square" lIns="0" rIns="0" tIns="0" bIns="0">
            <a:spAutoFit/>
          </a:bodyPr>
          <a:lstStyle/>
          <a:p>
            <a:pPr>
              <a:lnSpc>
                <a:spcPct val="112000"/>
              </a:lnSpc>
              <a:spcBef>
                <a:spcPts val="0"/>
              </a:spcBef>
              <a:spcAft>
                <a:spcPts val="0"/>
              </a:spcAft>
              <a:defRPr sz="1550" b="0">
                <a:solidFill>
                  <a:srgbClr val="333333"/>
                </a:solidFill>
                <a:latin typeface="微软雅黑"/>
              </a:defRPr>
            </a:pPr>
            <a:r>
              <a:rPr>
                <a:ea typeface="微软雅黑"/>
              </a:rPr>
              <a:t>.当B中溶液由黄色变为红棕色时，关闭活塞a。</a:t>
            </a:r>
          </a:p>
        </p:txBody>
      </p:sp>
      <p:sp>
        <p:nvSpPr>
          <p:cNvPr id="30" name="文字_IV......"/>
          <p:cNvSpPr txBox="1"/>
          <p:nvPr/>
        </p:nvSpPr>
        <p:spPr>
          <a:xfrm>
            <a:off x="502920" y="4288439"/>
            <a:ext cx="11064240" cy="283464"/>
          </a:xfrm>
          <a:prstGeom prst="rect">
            <a:avLst/>
          </a:prstGeom>
          <a:noFill/>
        </p:spPr>
        <p:txBody>
          <a:bodyPr wrap="square" lIns="0" rIns="0" tIns="0" bIns="0">
            <a:spAutoFit/>
          </a:bodyPr>
          <a:lstStyle/>
          <a:p>
            <a:pPr>
              <a:lnSpc>
                <a:spcPct val="112000"/>
              </a:lnSpc>
              <a:spcBef>
                <a:spcPts val="0"/>
              </a:spcBef>
              <a:spcAft>
                <a:spcPts val="0"/>
              </a:spcAft>
              <a:defRPr sz="1550" b="0">
                <a:solidFill>
                  <a:srgbClr val="333333"/>
                </a:solidFill>
                <a:latin typeface="微软雅黑"/>
              </a:defRPr>
            </a:pPr>
            <a:r>
              <a:rPr>
                <a:ea typeface="微软雅黑"/>
              </a:rPr>
              <a:t>IV......</a:t>
            </a:r>
          </a:p>
        </p:txBody>
      </p:sp>
      <p:sp>
        <p:nvSpPr>
          <p:cNvPr id="31" name="文字_(1)A中产生黄绿色气体，其电子式是"/>
          <p:cNvSpPr txBox="1"/>
          <p:nvPr/>
        </p:nvSpPr>
        <p:spPr>
          <a:xfrm>
            <a:off x="502920" y="4571903"/>
            <a:ext cx="11064240" cy="283464"/>
          </a:xfrm>
          <a:prstGeom prst="rect">
            <a:avLst/>
          </a:prstGeom>
          <a:noFill/>
        </p:spPr>
        <p:txBody>
          <a:bodyPr wrap="square" lIns="0" rIns="0" tIns="0" bIns="0">
            <a:spAutoFit/>
          </a:bodyPr>
          <a:lstStyle/>
          <a:p>
            <a:pPr>
              <a:lnSpc>
                <a:spcPct val="112000"/>
              </a:lnSpc>
              <a:spcBef>
                <a:spcPts val="0"/>
              </a:spcBef>
              <a:spcAft>
                <a:spcPts val="0"/>
              </a:spcAft>
              <a:defRPr sz="1550" b="0">
                <a:solidFill>
                  <a:srgbClr val="333333"/>
                </a:solidFill>
                <a:latin typeface="微软雅黑"/>
              </a:defRPr>
            </a:pPr>
            <a:r>
              <a:rPr>
                <a:ea typeface="微软雅黑"/>
              </a:rPr>
              <a:t>(1)A中产生黄绿色气体，其电子式是</a:t>
            </a:r>
          </a:p>
        </p:txBody>
      </p:sp>
      <p:sp>
        <p:nvSpPr>
          <p:cNvPr id="32" name="文字_(2)验证氯气的氧化性强于碘的实验现象是"/>
          <p:cNvSpPr txBox="1"/>
          <p:nvPr/>
        </p:nvSpPr>
        <p:spPr>
          <a:xfrm>
            <a:off x="502920" y="4855367"/>
            <a:ext cx="11064240" cy="283464"/>
          </a:xfrm>
          <a:prstGeom prst="rect">
            <a:avLst/>
          </a:prstGeom>
          <a:noFill/>
        </p:spPr>
        <p:txBody>
          <a:bodyPr wrap="square" lIns="0" rIns="0" tIns="0" bIns="0">
            <a:spAutoFit/>
          </a:bodyPr>
          <a:lstStyle/>
          <a:p>
            <a:pPr>
              <a:lnSpc>
                <a:spcPct val="112000"/>
              </a:lnSpc>
              <a:spcBef>
                <a:spcPts val="0"/>
              </a:spcBef>
              <a:spcAft>
                <a:spcPts val="0"/>
              </a:spcAft>
              <a:defRPr sz="1550" b="0">
                <a:solidFill>
                  <a:srgbClr val="333333"/>
                </a:solidFill>
                <a:latin typeface="微软雅黑"/>
              </a:defRPr>
            </a:pPr>
            <a:r>
              <a:rPr>
                <a:ea typeface="微软雅黑"/>
              </a:rPr>
              <a:t>(2)验证氯气的氧化性强于碘的实验现象是</a:t>
            </a:r>
          </a:p>
        </p:txBody>
      </p:sp>
      <p:sp>
        <p:nvSpPr>
          <p:cNvPr id="33" name="文字_(3)B中溶液发生反应的离子方程式是 _____"/>
          <p:cNvSpPr txBox="1"/>
          <p:nvPr/>
        </p:nvSpPr>
        <p:spPr>
          <a:xfrm>
            <a:off x="502920" y="5138831"/>
            <a:ext cx="11064240" cy="283464"/>
          </a:xfrm>
          <a:prstGeom prst="rect">
            <a:avLst/>
          </a:prstGeom>
          <a:noFill/>
        </p:spPr>
        <p:txBody>
          <a:bodyPr wrap="square" lIns="0" rIns="0" tIns="0" bIns="0">
            <a:spAutoFit/>
          </a:bodyPr>
          <a:lstStyle/>
          <a:p>
            <a:pPr>
              <a:lnSpc>
                <a:spcPct val="112000"/>
              </a:lnSpc>
              <a:spcBef>
                <a:spcPts val="0"/>
              </a:spcBef>
              <a:spcAft>
                <a:spcPts val="0"/>
              </a:spcAft>
              <a:defRPr sz="1550" b="0">
                <a:solidFill>
                  <a:srgbClr val="333333"/>
                </a:solidFill>
                <a:latin typeface="微软雅黑"/>
              </a:defRPr>
            </a:pPr>
            <a:r>
              <a:rPr>
                <a:ea typeface="微软雅黑"/>
              </a:rPr>
              <a:t>(3)B中溶液发生反应的离子方程式是 ______ o</a:t>
            </a:r>
          </a:p>
        </p:txBody>
      </p:sp>
      <p:sp>
        <p:nvSpPr>
          <p:cNvPr id="34" name="文字_(4)为验证溴的氧化性强于碘，过程IV的操作和现"/>
          <p:cNvSpPr txBox="1"/>
          <p:nvPr/>
        </p:nvSpPr>
        <p:spPr>
          <a:xfrm>
            <a:off x="502920" y="5422295"/>
            <a:ext cx="11064240" cy="283464"/>
          </a:xfrm>
          <a:prstGeom prst="rect">
            <a:avLst/>
          </a:prstGeom>
          <a:noFill/>
        </p:spPr>
        <p:txBody>
          <a:bodyPr wrap="square" lIns="0" rIns="0" tIns="0" bIns="0">
            <a:spAutoFit/>
          </a:bodyPr>
          <a:lstStyle/>
          <a:p>
            <a:pPr>
              <a:lnSpc>
                <a:spcPct val="112000"/>
              </a:lnSpc>
              <a:spcBef>
                <a:spcPts val="0"/>
              </a:spcBef>
              <a:spcAft>
                <a:spcPts val="0"/>
              </a:spcAft>
              <a:defRPr sz="1550" b="0">
                <a:solidFill>
                  <a:srgbClr val="333333"/>
                </a:solidFill>
                <a:latin typeface="微软雅黑"/>
              </a:defRPr>
            </a:pPr>
            <a:r>
              <a:rPr>
                <a:ea typeface="微软雅黑"/>
              </a:rPr>
              <a:t>(4)为验证溴的氧化性强于碘，过程IV的操作和现象是 ______ O</a:t>
            </a:r>
          </a:p>
        </p:txBody>
      </p:sp>
      <p:sp>
        <p:nvSpPr>
          <p:cNvPr id="35" name="文字_(5)过程ⅢI实验的目的是 ______ o"/>
          <p:cNvSpPr txBox="1"/>
          <p:nvPr/>
        </p:nvSpPr>
        <p:spPr>
          <a:xfrm>
            <a:off x="502920" y="5705759"/>
            <a:ext cx="11064240" cy="283464"/>
          </a:xfrm>
          <a:prstGeom prst="rect">
            <a:avLst/>
          </a:prstGeom>
          <a:noFill/>
        </p:spPr>
        <p:txBody>
          <a:bodyPr wrap="square" lIns="0" rIns="0" tIns="0" bIns="0">
            <a:spAutoFit/>
          </a:bodyPr>
          <a:lstStyle/>
          <a:p>
            <a:pPr>
              <a:lnSpc>
                <a:spcPct val="112000"/>
              </a:lnSpc>
              <a:spcBef>
                <a:spcPts val="0"/>
              </a:spcBef>
              <a:spcAft>
                <a:spcPts val="0"/>
              </a:spcAft>
              <a:defRPr sz="1550" b="0">
                <a:solidFill>
                  <a:srgbClr val="333333"/>
                </a:solidFill>
                <a:latin typeface="微软雅黑"/>
              </a:defRPr>
            </a:pPr>
            <a:r>
              <a:rPr>
                <a:ea typeface="微软雅黑"/>
              </a:rPr>
              <a:t>(5)过程ⅢI实验的目的是 ______ o</a:t>
            </a:r>
          </a:p>
        </p:txBody>
      </p:sp>
      <p:sp>
        <p:nvSpPr>
          <p:cNvPr id="36" name="文字_6）氯、溴、碘单质的氧化性逐渐减弱的原因：同主族"/>
          <p:cNvSpPr txBox="1"/>
          <p:nvPr/>
        </p:nvSpPr>
        <p:spPr>
          <a:xfrm>
            <a:off x="502920" y="5989223"/>
            <a:ext cx="11064240" cy="283464"/>
          </a:xfrm>
          <a:prstGeom prst="rect">
            <a:avLst/>
          </a:prstGeom>
          <a:noFill/>
        </p:spPr>
        <p:txBody>
          <a:bodyPr wrap="square" lIns="0" rIns="0" tIns="0" bIns="0">
            <a:spAutoFit/>
          </a:bodyPr>
          <a:lstStyle/>
          <a:p>
            <a:pPr>
              <a:lnSpc>
                <a:spcPct val="112000"/>
              </a:lnSpc>
              <a:spcBef>
                <a:spcPts val="0"/>
              </a:spcBef>
              <a:spcAft>
                <a:spcPts val="0"/>
              </a:spcAft>
              <a:defRPr sz="1550" b="0">
                <a:solidFill>
                  <a:srgbClr val="333333"/>
                </a:solidFill>
                <a:latin typeface="微软雅黑"/>
              </a:defRPr>
            </a:pPr>
            <a:r>
              <a:rPr>
                <a:ea typeface="微软雅黑"/>
              </a:rPr>
              <a:t>6）氯、溴、碘单质的氧化性逐渐减弱的原因：同主族元素从上到下 ______ ，得电子能力逐渐减弱。</a:t>
            </a:r>
          </a:p>
        </p:txBody>
      </p:sp>
      <p:sp>
        <p:nvSpPr>
          <p:cNvPr id="37" name="文字_填空题  ·  05-02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05-028</a:t>
            </a:r>
          </a:p>
        </p:txBody>
      </p:sp>
      <p:sp>
        <p:nvSpPr>
          <p:cNvPr id="38" name="文字_3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制备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氯气的制备 · 变式5</a:t>
            </a:r>
          </a:p>
        </p:txBody>
      </p:sp>
      <p:sp>
        <p:nvSpPr>
          <p:cNvPr id="5" name="文字_P12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P129</a:t>
            </a:r>
          </a:p>
        </p:txBody>
      </p:sp>
      <p:pic>
        <p:nvPicPr>
          <p:cNvPr id="6" name="Picture 5" descr="image.png"/>
          <p:cNvPicPr>
            <a:picLocks noChangeAspect="1"/>
          </p:cNvPicPr>
          <p:nvPr/>
        </p:nvPicPr>
        <p:blipFill>
          <a:blip r:embed="rId3"/>
          <a:stretch>
            <a:fillRect/>
          </a:stretch>
        </p:blipFill>
        <p:spPr>
          <a:xfrm>
            <a:off x="502920" y="1078992"/>
            <a:ext cx="11064240" cy="2151592"/>
          </a:xfrm>
          <a:prstGeom prst="rect">
            <a:avLst/>
          </a:prstGeom>
        </p:spPr>
      </p:pic>
      <p:sp>
        <p:nvSpPr>
          <p:cNvPr id="7" name="原题文字_129_3"/>
          <p:cNvSpPr txBox="1"/>
          <p:nvPr/>
        </p:nvSpPr>
        <p:spPr>
          <a:xfrm>
            <a:off x="571832" y="1072591"/>
            <a:ext cx="7298304" cy="388205"/>
          </a:xfrm>
          <a:prstGeom prst="rect">
            <a:avLst/>
          </a:prstGeom>
          <a:noFill/>
        </p:spPr>
        <p:txBody>
          <a:bodyPr wrap="none" lIns="0" rIns="0" tIns="0" bIns="0">
            <a:spAutoFit/>
          </a:bodyPr>
          <a:lstStyle/>
          <a:p>
            <a:pPr>
              <a:lnSpc>
                <a:spcPct val="112000"/>
              </a:lnSpc>
              <a:spcBef>
                <a:spcPts val="0"/>
              </a:spcBef>
              <a:spcAft>
                <a:spcPts val="0"/>
              </a:spcAft>
              <a:defRPr sz="1693" b="0">
                <a:solidFill>
                  <a:srgbClr val="333333"/>
                </a:solidFill>
                <a:latin typeface="微软雅黑"/>
              </a:defRPr>
            </a:pPr>
            <a:r>
              <a:rPr>
                <a:ea typeface="微软雅黑"/>
              </a:rPr>
              <a:t>实验室可以用NaClO₂与浓盐酸在加热条件下反应制取Cl₂。下列叙述错误的是</a:t>
            </a:r>
          </a:p>
        </p:txBody>
      </p:sp>
      <p:sp>
        <p:nvSpPr>
          <p:cNvPr id="8" name="原题文字_129_4"/>
          <p:cNvSpPr txBox="1"/>
          <p:nvPr/>
        </p:nvSpPr>
        <p:spPr>
          <a:xfrm>
            <a:off x="1253297" y="1539662"/>
            <a:ext cx="353483" cy="1473190"/>
          </a:xfrm>
          <a:prstGeom prst="rect">
            <a:avLst/>
          </a:prstGeom>
          <a:noFill/>
        </p:spPr>
        <p:txBody>
          <a:bodyPr wrap="none" lIns="0" rIns="0" tIns="0" bIns="0">
            <a:spAutoFit/>
          </a:bodyPr>
          <a:lstStyle/>
          <a:p>
            <a:pPr>
              <a:lnSpc>
                <a:spcPct val="112000"/>
              </a:lnSpc>
              <a:spcBef>
                <a:spcPts val="0"/>
              </a:spcBef>
              <a:spcAft>
                <a:spcPts val="0"/>
              </a:spcAft>
              <a:defRPr sz="4711" b="0">
                <a:solidFill>
                  <a:srgbClr val="333333"/>
                </a:solidFill>
                <a:latin typeface="微软雅黑"/>
              </a:defRPr>
            </a:pPr>
            <a:r>
              <a:rPr>
                <a:ea typeface="微软雅黑"/>
              </a:rPr>
              <a:t>饱和食盐水</a:t>
            </a:r>
          </a:p>
        </p:txBody>
      </p:sp>
      <p:sp>
        <p:nvSpPr>
          <p:cNvPr id="9" name="原题文字_129_5"/>
          <p:cNvSpPr txBox="1"/>
          <p:nvPr/>
        </p:nvSpPr>
        <p:spPr>
          <a:xfrm>
            <a:off x="2355893" y="1784684"/>
            <a:ext cx="361140" cy="965536"/>
          </a:xfrm>
          <a:prstGeom prst="rect">
            <a:avLst/>
          </a:prstGeom>
          <a:noFill/>
        </p:spPr>
        <p:txBody>
          <a:bodyPr wrap="none" lIns="0" rIns="0" tIns="0" bIns="0">
            <a:spAutoFit/>
          </a:bodyPr>
          <a:lstStyle/>
          <a:p>
            <a:pPr>
              <a:lnSpc>
                <a:spcPct val="112000"/>
              </a:lnSpc>
              <a:spcBef>
                <a:spcPts val="0"/>
              </a:spcBef>
              <a:spcAft>
                <a:spcPts val="0"/>
              </a:spcAft>
              <a:defRPr sz="3087" b="0">
                <a:solidFill>
                  <a:srgbClr val="333333"/>
                </a:solidFill>
                <a:latin typeface="微软雅黑"/>
              </a:defRPr>
            </a:pPr>
            <a:r>
              <a:rPr>
                <a:ea typeface="微软雅黑"/>
              </a:rPr>
              <a:t>浓硫酸</a:t>
            </a:r>
          </a:p>
        </p:txBody>
      </p:sp>
      <p:sp>
        <p:nvSpPr>
          <p:cNvPr id="10" name="原题文字_129_6"/>
          <p:cNvSpPr txBox="1"/>
          <p:nvPr/>
        </p:nvSpPr>
        <p:spPr>
          <a:xfrm>
            <a:off x="1452377" y="2634601"/>
            <a:ext cx="292228"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甲</a:t>
            </a:r>
          </a:p>
        </p:txBody>
      </p:sp>
      <p:sp>
        <p:nvSpPr>
          <p:cNvPr id="11" name="原题文字_129_7"/>
          <p:cNvSpPr txBox="1"/>
          <p:nvPr/>
        </p:nvSpPr>
        <p:spPr>
          <a:xfrm>
            <a:off x="571832" y="2871965"/>
            <a:ext cx="8125250" cy="408113"/>
          </a:xfrm>
          <a:prstGeom prst="rect">
            <a:avLst/>
          </a:prstGeom>
          <a:noFill/>
        </p:spPr>
        <p:txBody>
          <a:bodyPr wrap="none" lIns="0" rIns="0" tIns="0" bIns="0">
            <a:spAutoFit/>
          </a:bodyPr>
          <a:lstStyle/>
          <a:p>
            <a:pPr>
              <a:lnSpc>
                <a:spcPct val="112000"/>
              </a:lnSpc>
              <a:spcBef>
                <a:spcPts val="0"/>
              </a:spcBef>
              <a:spcAft>
                <a:spcPts val="0"/>
              </a:spcAft>
              <a:defRPr sz="1562" b="0">
                <a:solidFill>
                  <a:srgbClr val="333333"/>
                </a:solidFill>
                <a:latin typeface="微软雅黑"/>
              </a:defRPr>
            </a:pPr>
            <a:r>
              <a:rPr>
                <a:ea typeface="微软雅黑"/>
              </a:rPr>
              <a:t>A. NaClO₂与浓盐酸反应生成Cl₂的化学方程式为NaClO₂ + 4HCl(浓)∆NaCl + 2Cl₂↑+2H₂O</a:t>
            </a:r>
          </a:p>
        </p:txBody>
      </p:sp>
      <p:sp>
        <p:nvSpPr>
          <p:cNvPr id="12" name="文字_B. 将装置甲中左侧试剂瓶装满饱和食盐水，右侧试"/>
          <p:cNvSpPr txBox="1"/>
          <p:nvPr/>
        </p:nvSpPr>
        <p:spPr>
          <a:xfrm>
            <a:off x="502920" y="330373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将装置甲中左侧试剂瓶装满饱和食盐水，右侧试剂瓶清空，则可用来收集Cl₂</a:t>
            </a:r>
          </a:p>
        </p:txBody>
      </p:sp>
      <p:sp>
        <p:nvSpPr>
          <p:cNvPr id="13" name="文字_C. 通过装置甲可除去Cl₂中混有的HCl和H₂"/>
          <p:cNvSpPr txBox="1"/>
          <p:nvPr/>
        </p:nvSpPr>
        <p:spPr>
          <a:xfrm>
            <a:off x="502920" y="374264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通过装置甲可除去Cl₂中混有的HCl和H₂O</a:t>
            </a:r>
          </a:p>
        </p:txBody>
      </p:sp>
      <p:sp>
        <p:nvSpPr>
          <p:cNvPr id="14" name="文字_D. 反应中NaClO₂被还原"/>
          <p:cNvSpPr txBox="1"/>
          <p:nvPr/>
        </p:nvSpPr>
        <p:spPr>
          <a:xfrm>
            <a:off x="502920" y="418156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反应中NaClO₂被还原</a:t>
            </a:r>
          </a:p>
        </p:txBody>
      </p:sp>
      <p:sp>
        <p:nvSpPr>
          <p:cNvPr id="15" name="文字_单选题  ·  05-02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05-029</a:t>
            </a:r>
          </a:p>
        </p:txBody>
      </p:sp>
      <p:sp>
        <p:nvSpPr>
          <p:cNvPr id="16" name="文字_3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制备 · 变式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氯气的制备 · 变式6</a:t>
            </a:r>
          </a:p>
        </p:txBody>
      </p:sp>
      <p:sp>
        <p:nvSpPr>
          <p:cNvPr id="5" name="文字_P12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P129</a:t>
            </a:r>
          </a:p>
        </p:txBody>
      </p:sp>
      <p:sp>
        <p:nvSpPr>
          <p:cNvPr id="6" name="文字_氯可形成多种含氧酸盐，广泛应用于杀菌、消毒及化工"/>
          <p:cNvSpPr txBox="1"/>
          <p:nvPr/>
        </p:nvSpPr>
        <p:spPr>
          <a:xfrm>
            <a:off x="502920" y="1078992"/>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氯可形成多种含氧酸盐，广泛应用于杀菌、消毒及化工领域。利用下图装置(部分装置省略)制备KC₁O₃和NaC₁O，并探究其性质。</a:t>
            </a:r>
          </a:p>
        </p:txBody>
      </p:sp>
      <p:pic>
        <p:nvPicPr>
          <p:cNvPr id="7" name="Picture 6" descr="image.png"/>
          <p:cNvPicPr>
            <a:picLocks noChangeAspect="1"/>
          </p:cNvPicPr>
          <p:nvPr/>
        </p:nvPicPr>
        <p:blipFill>
          <a:blip r:embed="rId3"/>
          <a:stretch>
            <a:fillRect/>
          </a:stretch>
        </p:blipFill>
        <p:spPr>
          <a:xfrm>
            <a:off x="502920" y="1353312"/>
            <a:ext cx="9492155" cy="2029810"/>
          </a:xfrm>
          <a:prstGeom prst="rect">
            <a:avLst/>
          </a:prstGeom>
        </p:spPr>
      </p:pic>
      <p:sp>
        <p:nvSpPr>
          <p:cNvPr id="8" name="原题文字_129_16"/>
          <p:cNvSpPr txBox="1"/>
          <p:nvPr/>
        </p:nvSpPr>
        <p:spPr>
          <a:xfrm>
            <a:off x="1159816" y="1425738"/>
            <a:ext cx="692053" cy="341586"/>
          </a:xfrm>
          <a:prstGeom prst="rect">
            <a:avLst/>
          </a:prstGeom>
          <a:noFill/>
        </p:spPr>
        <p:txBody>
          <a:bodyPr wrap="none" lIns="0" rIns="0" tIns="0" bIns="0">
            <a:spAutoFit/>
          </a:bodyPr>
          <a:lstStyle/>
          <a:p>
            <a:pPr>
              <a:lnSpc>
                <a:spcPct val="112000"/>
              </a:lnSpc>
              <a:spcBef>
                <a:spcPts val="0"/>
              </a:spcBef>
              <a:spcAft>
                <a:spcPts val="0"/>
              </a:spcAft>
              <a:defRPr sz="1655" b="0">
                <a:solidFill>
                  <a:srgbClr val="333333"/>
                </a:solidFill>
                <a:latin typeface="微软雅黑"/>
              </a:defRPr>
            </a:pPr>
            <a:r>
              <a:rPr>
                <a:ea typeface="微软雅黑"/>
              </a:rPr>
              <a:t>浓盐酸</a:t>
            </a:r>
          </a:p>
        </p:txBody>
      </p:sp>
      <p:sp>
        <p:nvSpPr>
          <p:cNvPr id="9" name="原题文字_129_17"/>
          <p:cNvSpPr txBox="1"/>
          <p:nvPr/>
        </p:nvSpPr>
        <p:spPr>
          <a:xfrm>
            <a:off x="3163351" y="1944687"/>
            <a:ext cx="297915" cy="307427"/>
          </a:xfrm>
          <a:prstGeom prst="rect">
            <a:avLst/>
          </a:prstGeom>
          <a:noFill/>
        </p:spPr>
        <p:txBody>
          <a:bodyPr wrap="none" lIns="0" rIns="0" tIns="0" bIns="0">
            <a:spAutoFit/>
          </a:bodyPr>
          <a:lstStyle/>
          <a:p>
            <a:pPr>
              <a:lnSpc>
                <a:spcPct val="112000"/>
              </a:lnSpc>
              <a:spcBef>
                <a:spcPts val="0"/>
              </a:spcBef>
              <a:spcAft>
                <a:spcPts val="0"/>
              </a:spcAft>
              <a:defRPr sz="1489" b="0">
                <a:solidFill>
                  <a:srgbClr val="333333"/>
                </a:solidFill>
                <a:latin typeface="微软雅黑"/>
              </a:defRPr>
            </a:pPr>
            <a:r>
              <a:rPr>
                <a:ea typeface="微软雅黑"/>
              </a:rPr>
              <a:t>水</a:t>
            </a:r>
          </a:p>
        </p:txBody>
      </p:sp>
      <p:sp>
        <p:nvSpPr>
          <p:cNvPr id="10" name="原题文字_129_18"/>
          <p:cNvSpPr txBox="1"/>
          <p:nvPr/>
        </p:nvSpPr>
        <p:spPr>
          <a:xfrm>
            <a:off x="1126971" y="2135187"/>
            <a:ext cx="567243" cy="247650"/>
          </a:xfrm>
          <a:prstGeom prst="rect">
            <a:avLst/>
          </a:prstGeom>
          <a:noFill/>
        </p:spPr>
        <p:txBody>
          <a:bodyPr wrap="non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MnO₂</a:t>
            </a:r>
          </a:p>
        </p:txBody>
      </p:sp>
      <p:sp>
        <p:nvSpPr>
          <p:cNvPr id="11" name="原题文字_129_19"/>
          <p:cNvSpPr txBox="1"/>
          <p:nvPr/>
        </p:nvSpPr>
        <p:spPr>
          <a:xfrm>
            <a:off x="3183057" y="2207445"/>
            <a:ext cx="501553" cy="281808"/>
          </a:xfrm>
          <a:prstGeom prst="rect">
            <a:avLst/>
          </a:prstGeom>
          <a:noFill/>
        </p:spPr>
        <p:txBody>
          <a:bodyPr wrap="none" lIns="0" rIns="0" tIns="0" bIns="0">
            <a:spAutoFit/>
          </a:bodyPr>
          <a:lstStyle/>
          <a:p>
            <a:pPr>
              <a:lnSpc>
                <a:spcPct val="112000"/>
              </a:lnSpc>
              <a:spcBef>
                <a:spcPts val="0"/>
              </a:spcBef>
              <a:spcAft>
                <a:spcPts val="0"/>
              </a:spcAft>
              <a:defRPr sz="1365" b="0">
                <a:solidFill>
                  <a:srgbClr val="333333"/>
                </a:solidFill>
                <a:latin typeface="微软雅黑"/>
              </a:defRPr>
            </a:pPr>
            <a:r>
              <a:rPr>
                <a:ea typeface="微软雅黑"/>
              </a:rPr>
              <a:t>KOH</a:t>
            </a:r>
          </a:p>
        </p:txBody>
      </p:sp>
      <p:sp>
        <p:nvSpPr>
          <p:cNvPr id="12" name="原题文字_129_20"/>
          <p:cNvSpPr txBox="1"/>
          <p:nvPr/>
        </p:nvSpPr>
        <p:spPr>
          <a:xfrm>
            <a:off x="3169920" y="2391376"/>
            <a:ext cx="521260" cy="350125"/>
          </a:xfrm>
          <a:prstGeom prst="rect">
            <a:avLst/>
          </a:prstGeom>
          <a:noFill/>
        </p:spPr>
        <p:txBody>
          <a:bodyPr wrap="none" lIns="0" rIns="0" tIns="0" bIns="0">
            <a:spAutoFit/>
          </a:bodyPr>
          <a:lstStyle/>
          <a:p>
            <a:pPr>
              <a:lnSpc>
                <a:spcPct val="112000"/>
              </a:lnSpc>
              <a:spcBef>
                <a:spcPts val="0"/>
              </a:spcBef>
              <a:spcAft>
                <a:spcPts val="0"/>
              </a:spcAft>
              <a:defRPr sz="1696" b="0">
                <a:solidFill>
                  <a:srgbClr val="333333"/>
                </a:solidFill>
                <a:latin typeface="微软雅黑"/>
              </a:defRPr>
            </a:pPr>
            <a:r>
              <a:rPr>
                <a:ea typeface="微软雅黑"/>
              </a:rPr>
              <a:t>溶液</a:t>
            </a:r>
          </a:p>
        </p:txBody>
      </p:sp>
      <p:sp>
        <p:nvSpPr>
          <p:cNvPr id="13" name="原题文字_129_21"/>
          <p:cNvSpPr txBox="1"/>
          <p:nvPr/>
        </p:nvSpPr>
        <p:spPr>
          <a:xfrm>
            <a:off x="1928385" y="2555600"/>
            <a:ext cx="435864" cy="256189"/>
          </a:xfrm>
          <a:prstGeom prst="rect">
            <a:avLst/>
          </a:prstGeom>
          <a:noFill/>
        </p:spPr>
        <p:txBody>
          <a:bodyPr wrap="none" lIns="0" rIns="0" tIns="0" bIns="0">
            <a:spAutoFit/>
          </a:bodyPr>
          <a:lstStyle/>
          <a:p>
            <a:pPr>
              <a:lnSpc>
                <a:spcPct val="112000"/>
              </a:lnSpc>
              <a:spcBef>
                <a:spcPts val="0"/>
              </a:spcBef>
              <a:spcAft>
                <a:spcPts val="0"/>
              </a:spcAft>
              <a:defRPr sz="1241" b="0">
                <a:solidFill>
                  <a:srgbClr val="333333"/>
                </a:solidFill>
                <a:latin typeface="微软雅黑"/>
              </a:defRPr>
            </a:pPr>
            <a:r>
              <a:rPr>
                <a:ea typeface="微软雅黑"/>
              </a:rPr>
              <a:t>饱和</a:t>
            </a:r>
          </a:p>
        </p:txBody>
      </p:sp>
      <p:sp>
        <p:nvSpPr>
          <p:cNvPr id="14" name="原题文字_129_22"/>
          <p:cNvSpPr txBox="1"/>
          <p:nvPr/>
        </p:nvSpPr>
        <p:spPr>
          <a:xfrm>
            <a:off x="3899075" y="2529324"/>
            <a:ext cx="600088" cy="281808"/>
          </a:xfrm>
          <a:prstGeom prst="rect">
            <a:avLst/>
          </a:prstGeom>
          <a:noFill/>
        </p:spPr>
        <p:txBody>
          <a:bodyPr wrap="none" lIns="0" rIns="0" tIns="0" bIns="0">
            <a:spAutoFit/>
          </a:bodyPr>
          <a:lstStyle/>
          <a:p>
            <a:pPr>
              <a:lnSpc>
                <a:spcPct val="112000"/>
              </a:lnSpc>
              <a:spcBef>
                <a:spcPts val="0"/>
              </a:spcBef>
              <a:spcAft>
                <a:spcPts val="0"/>
              </a:spcAft>
              <a:defRPr sz="1365" b="0">
                <a:solidFill>
                  <a:srgbClr val="333333"/>
                </a:solidFill>
                <a:latin typeface="微软雅黑"/>
              </a:defRPr>
            </a:pPr>
            <a:r>
              <a:rPr>
                <a:ea typeface="微软雅黑"/>
              </a:rPr>
              <a:t>NaOH</a:t>
            </a:r>
          </a:p>
        </p:txBody>
      </p:sp>
      <p:sp>
        <p:nvSpPr>
          <p:cNvPr id="15" name="原题文字_129_23"/>
          <p:cNvSpPr txBox="1"/>
          <p:nvPr/>
        </p:nvSpPr>
        <p:spPr>
          <a:xfrm>
            <a:off x="1934954" y="2706687"/>
            <a:ext cx="580381" cy="281808"/>
          </a:xfrm>
          <a:prstGeom prst="rect">
            <a:avLst/>
          </a:prstGeom>
          <a:noFill/>
        </p:spPr>
        <p:txBody>
          <a:bodyPr wrap="none" lIns="0" rIns="0" tIns="0" bIns="0">
            <a:spAutoFit/>
          </a:bodyPr>
          <a:lstStyle/>
          <a:p>
            <a:pPr>
              <a:lnSpc>
                <a:spcPct val="112000"/>
              </a:lnSpc>
              <a:spcBef>
                <a:spcPts val="0"/>
              </a:spcBef>
              <a:spcAft>
                <a:spcPts val="0"/>
              </a:spcAft>
              <a:defRPr sz="1365" b="0">
                <a:solidFill>
                  <a:srgbClr val="333333"/>
                </a:solidFill>
                <a:latin typeface="微软雅黑"/>
              </a:defRPr>
            </a:pPr>
            <a:r>
              <a:rPr>
                <a:ea typeface="微软雅黑"/>
              </a:rPr>
              <a:t>食盐水</a:t>
            </a:r>
          </a:p>
        </p:txBody>
      </p:sp>
      <p:sp>
        <p:nvSpPr>
          <p:cNvPr id="16" name="原题文字_129_24"/>
          <p:cNvSpPr txBox="1"/>
          <p:nvPr/>
        </p:nvSpPr>
        <p:spPr>
          <a:xfrm>
            <a:off x="3031971" y="2772376"/>
            <a:ext cx="475277" cy="341586"/>
          </a:xfrm>
          <a:prstGeom prst="rect">
            <a:avLst/>
          </a:prstGeom>
          <a:noFill/>
        </p:spPr>
        <p:txBody>
          <a:bodyPr wrap="none" lIns="0" rIns="0" tIns="0" bIns="0">
            <a:spAutoFit/>
          </a:bodyPr>
          <a:lstStyle/>
          <a:p>
            <a:pPr>
              <a:lnSpc>
                <a:spcPct val="112000"/>
              </a:lnSpc>
              <a:spcBef>
                <a:spcPts val="0"/>
              </a:spcBef>
              <a:spcAft>
                <a:spcPts val="0"/>
              </a:spcAft>
              <a:defRPr sz="1227" b="0">
                <a:solidFill>
                  <a:srgbClr val="333333"/>
                </a:solidFill>
                <a:latin typeface="微软雅黑"/>
              </a:defRPr>
            </a:pPr>
            <a:r>
              <a:rPr>
                <a:ea typeface="微软雅黑"/>
              </a:rPr>
              <a:t>冰水、</a:t>
            </a:r>
          </a:p>
        </p:txBody>
      </p:sp>
      <p:sp>
        <p:nvSpPr>
          <p:cNvPr id="17" name="原题文字_129_25"/>
          <p:cNvSpPr txBox="1"/>
          <p:nvPr/>
        </p:nvSpPr>
        <p:spPr>
          <a:xfrm>
            <a:off x="3958195" y="2739531"/>
            <a:ext cx="501553" cy="281808"/>
          </a:xfrm>
          <a:prstGeom prst="rect">
            <a:avLst/>
          </a:prstGeom>
          <a:noFill/>
        </p:spPr>
        <p:txBody>
          <a:bodyPr wrap="none" lIns="0" rIns="0" tIns="0" bIns="0">
            <a:spAutoFit/>
          </a:bodyPr>
          <a:lstStyle/>
          <a:p>
            <a:pPr>
              <a:lnSpc>
                <a:spcPct val="112000"/>
              </a:lnSpc>
              <a:spcBef>
                <a:spcPts val="0"/>
              </a:spcBef>
              <a:spcAft>
                <a:spcPts val="0"/>
              </a:spcAft>
              <a:defRPr sz="1365" b="0">
                <a:solidFill>
                  <a:srgbClr val="333333"/>
                </a:solidFill>
                <a:latin typeface="微软雅黑"/>
              </a:defRPr>
            </a:pPr>
            <a:r>
              <a:rPr>
                <a:ea typeface="微软雅黑"/>
              </a:rPr>
              <a:t>溶液</a:t>
            </a:r>
          </a:p>
        </p:txBody>
      </p:sp>
      <p:sp>
        <p:nvSpPr>
          <p:cNvPr id="18" name="原题文字_129_26"/>
          <p:cNvSpPr txBox="1"/>
          <p:nvPr/>
        </p:nvSpPr>
        <p:spPr>
          <a:xfrm>
            <a:off x="916764" y="3166514"/>
            <a:ext cx="199381" cy="230570"/>
          </a:xfrm>
          <a:prstGeom prst="rect">
            <a:avLst/>
          </a:prstGeom>
          <a:noFill/>
        </p:spPr>
        <p:txBody>
          <a:bodyPr wrap="none" lIns="0" rIns="0" tIns="0" bIns="0">
            <a:spAutoFit/>
          </a:bodyPr>
          <a:lstStyle/>
          <a:p>
            <a:pPr>
              <a:lnSpc>
                <a:spcPct val="112000"/>
              </a:lnSpc>
              <a:spcBef>
                <a:spcPts val="0"/>
              </a:spcBef>
              <a:spcAft>
                <a:spcPts val="0"/>
              </a:spcAft>
              <a:defRPr sz="1117" b="0">
                <a:solidFill>
                  <a:srgbClr val="333333"/>
                </a:solidFill>
                <a:latin typeface="微软雅黑"/>
              </a:defRPr>
            </a:pPr>
            <a:r>
              <a:rPr>
                <a:ea typeface="微软雅黑"/>
              </a:rPr>
              <a:t>A</a:t>
            </a:r>
          </a:p>
        </p:txBody>
      </p:sp>
      <p:sp>
        <p:nvSpPr>
          <p:cNvPr id="19" name="原题文字_129_27"/>
          <p:cNvSpPr txBox="1"/>
          <p:nvPr/>
        </p:nvSpPr>
        <p:spPr>
          <a:xfrm>
            <a:off x="1652488" y="3159945"/>
            <a:ext cx="212519" cy="239110"/>
          </a:xfrm>
          <a:prstGeom prst="rect">
            <a:avLst/>
          </a:prstGeom>
          <a:noFill/>
        </p:spPr>
        <p:txBody>
          <a:bodyPr wrap="none" lIns="0" rIns="0" tIns="0" bIns="0">
            <a:spAutoFit/>
          </a:bodyPr>
          <a:lstStyle/>
          <a:p>
            <a:pPr>
              <a:lnSpc>
                <a:spcPct val="112000"/>
              </a:lnSpc>
              <a:spcBef>
                <a:spcPts val="0"/>
              </a:spcBef>
              <a:spcAft>
                <a:spcPts val="0"/>
              </a:spcAft>
              <a:defRPr sz="1158" b="0">
                <a:solidFill>
                  <a:srgbClr val="333333"/>
                </a:solidFill>
                <a:latin typeface="微软雅黑"/>
              </a:defRPr>
            </a:pPr>
            <a:r>
              <a:rPr>
                <a:ea typeface="微软雅黑"/>
              </a:rPr>
              <a:t>B</a:t>
            </a:r>
          </a:p>
        </p:txBody>
      </p:sp>
      <p:sp>
        <p:nvSpPr>
          <p:cNvPr id="20" name="原题文字_129_28"/>
          <p:cNvSpPr txBox="1"/>
          <p:nvPr/>
        </p:nvSpPr>
        <p:spPr>
          <a:xfrm>
            <a:off x="2723230" y="3159945"/>
            <a:ext cx="199381" cy="239110"/>
          </a:xfrm>
          <a:prstGeom prst="rect">
            <a:avLst/>
          </a:prstGeom>
          <a:noFill/>
        </p:spPr>
        <p:txBody>
          <a:bodyPr wrap="none" lIns="0" rIns="0" tIns="0" bIns="0">
            <a:spAutoFit/>
          </a:bodyPr>
          <a:lstStyle/>
          <a:p>
            <a:pPr>
              <a:lnSpc>
                <a:spcPct val="112000"/>
              </a:lnSpc>
              <a:spcBef>
                <a:spcPts val="0"/>
              </a:spcBef>
              <a:spcAft>
                <a:spcPts val="0"/>
              </a:spcAft>
              <a:defRPr sz="1158" b="0">
                <a:solidFill>
                  <a:srgbClr val="333333"/>
                </a:solidFill>
                <a:latin typeface="微软雅黑"/>
              </a:defRPr>
            </a:pPr>
            <a:r>
              <a:rPr>
                <a:ea typeface="微软雅黑"/>
              </a:rPr>
              <a:t>C</a:t>
            </a:r>
          </a:p>
        </p:txBody>
      </p:sp>
      <p:sp>
        <p:nvSpPr>
          <p:cNvPr id="21" name="原题文字_129_29"/>
          <p:cNvSpPr txBox="1"/>
          <p:nvPr/>
        </p:nvSpPr>
        <p:spPr>
          <a:xfrm>
            <a:off x="3616609" y="3153376"/>
            <a:ext cx="219088" cy="247650"/>
          </a:xfrm>
          <a:prstGeom prst="rect">
            <a:avLst/>
          </a:prstGeom>
          <a:noFill/>
        </p:spPr>
        <p:txBody>
          <a:bodyPr wrap="non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D</a:t>
            </a:r>
          </a:p>
        </p:txBody>
      </p:sp>
      <p:sp>
        <p:nvSpPr>
          <p:cNvPr id="22" name="原题文字_129_30"/>
          <p:cNvSpPr txBox="1"/>
          <p:nvPr/>
        </p:nvSpPr>
        <p:spPr>
          <a:xfrm>
            <a:off x="4477144" y="3153376"/>
            <a:ext cx="212519" cy="247650"/>
          </a:xfrm>
          <a:prstGeom prst="rect">
            <a:avLst/>
          </a:prstGeom>
          <a:noFill/>
        </p:spPr>
        <p:txBody>
          <a:bodyPr wrap="non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E</a:t>
            </a:r>
          </a:p>
        </p:txBody>
      </p:sp>
      <p:sp>
        <p:nvSpPr>
          <p:cNvPr id="23" name="文字_(1) 装置A中发生反应的化学方程式是"/>
          <p:cNvSpPr txBox="1"/>
          <p:nvPr/>
        </p:nvSpPr>
        <p:spPr>
          <a:xfrm>
            <a:off x="502920" y="3456274"/>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(1) 装置A中发生反应的化学方程式是</a:t>
            </a:r>
          </a:p>
        </p:txBody>
      </p:sp>
      <p:sp>
        <p:nvSpPr>
          <p:cNvPr id="24" name="文字_(2)装置B的作用是"/>
          <p:cNvSpPr txBox="1"/>
          <p:nvPr/>
        </p:nvSpPr>
        <p:spPr>
          <a:xfrm>
            <a:off x="502920" y="3730594"/>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(2)装置B的作用是</a:t>
            </a:r>
          </a:p>
        </p:txBody>
      </p:sp>
      <p:sp>
        <p:nvSpPr>
          <p:cNvPr id="25" name="文字_(3) 关于该实验，下列说法不正确的是"/>
          <p:cNvSpPr txBox="1"/>
          <p:nvPr/>
        </p:nvSpPr>
        <p:spPr>
          <a:xfrm>
            <a:off x="502920" y="4004914"/>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(3) 关于该实验，下列说法不正确的是</a:t>
            </a:r>
          </a:p>
        </p:txBody>
      </p:sp>
      <p:sp>
        <p:nvSpPr>
          <p:cNvPr id="26" name="文字_A. 实验过程中应在通风内操作"/>
          <p:cNvSpPr txBox="1"/>
          <p:nvPr/>
        </p:nvSpPr>
        <p:spPr>
          <a:xfrm>
            <a:off x="502920" y="4279234"/>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A. 实验过程中应在通风内操作</a:t>
            </a:r>
          </a:p>
        </p:txBody>
      </p:sp>
      <p:sp>
        <p:nvSpPr>
          <p:cNvPr id="27" name="文字_B. 由装置C、D可知，氯气与碱反应温度不同，产"/>
          <p:cNvSpPr txBox="1"/>
          <p:nvPr/>
        </p:nvSpPr>
        <p:spPr>
          <a:xfrm>
            <a:off x="502920" y="4553554"/>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B. 由装置C、D可知，氯气与碱反应温度不同，产物不同</a:t>
            </a:r>
          </a:p>
        </p:txBody>
      </p:sp>
      <p:sp>
        <p:nvSpPr>
          <p:cNvPr id="28" name="文字_C. 该实验装置存在缺陷，应在B、C之间加入一个"/>
          <p:cNvSpPr txBox="1"/>
          <p:nvPr/>
        </p:nvSpPr>
        <p:spPr>
          <a:xfrm>
            <a:off x="502920" y="4827874"/>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C. 该实验装置存在缺陷，应在B、C之间加入一个装有浓硫酸的洗气瓶</a:t>
            </a:r>
          </a:p>
        </p:txBody>
      </p:sp>
      <p:sp>
        <p:nvSpPr>
          <p:cNvPr id="29" name="文字_D. 装置A加热时温度不宜过高，以免浓盐酸大量挥"/>
          <p:cNvSpPr txBox="1"/>
          <p:nvPr/>
        </p:nvSpPr>
        <p:spPr>
          <a:xfrm>
            <a:off x="502920" y="5102194"/>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D. 装置A加热时温度不宜过高，以免浓盐酸大量挥发</a:t>
            </a:r>
          </a:p>
        </p:txBody>
      </p:sp>
      <p:sp>
        <p:nvSpPr>
          <p:cNvPr id="30" name="文字_(4) 取少量KClO₃和NaC₁O溶液分别置于"/>
          <p:cNvSpPr txBox="1"/>
          <p:nvPr/>
        </p:nvSpPr>
        <p:spPr>
          <a:xfrm>
            <a:off x="502920" y="5376514"/>
            <a:ext cx="11064240" cy="501014"/>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(4) 取少量KClO₃和NaC₁O溶液分别置于1号和2号试管中，滴加中性KI溶液。1号试管溶液变为棕色，加入淀粉溶液后，溶液变为蓝</a:t>
            </a:r>
          </a:p>
          <a:p>
            <a:pPr>
              <a:lnSpc>
                <a:spcPct val="112000"/>
              </a:lnSpc>
              <a:spcBef>
                <a:spcPts val="0"/>
              </a:spcBef>
              <a:spcAft>
                <a:spcPts val="0"/>
              </a:spcAft>
              <a:defRPr sz="1500" b="0">
                <a:solidFill>
                  <a:srgbClr val="333333"/>
                </a:solidFill>
                <a:latin typeface="微软雅黑"/>
              </a:defRPr>
            </a:pPr>
            <a:r>
              <a:rPr>
                <a:ea typeface="微软雅黑"/>
              </a:rPr>
              <a:t>色。2号试管溶液颜色不变。可以推知该条件下氧化能力：NaC₁O ______ KClO₃(填“大于”或“小于”或“等于”)。</a:t>
            </a:r>
          </a:p>
        </p:txBody>
      </p:sp>
      <p:sp>
        <p:nvSpPr>
          <p:cNvPr id="31" name="文字_(5)反应结束后，取出C中试管，经冷却结晶， _"/>
          <p:cNvSpPr txBox="1"/>
          <p:nvPr/>
        </p:nvSpPr>
        <p:spPr>
          <a:xfrm>
            <a:off x="502920" y="5877529"/>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(5)反应结束后，取出C中试管，经冷却结晶， ______ ，洗涤，干燥，得到KC₁O₃晶体。生成KC₁O₃的离子方程式为</a:t>
            </a:r>
          </a:p>
        </p:txBody>
      </p:sp>
      <p:sp>
        <p:nvSpPr>
          <p:cNvPr id="32" name="文字_解答题  ·  05-03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05-030</a:t>
            </a:r>
          </a:p>
        </p:txBody>
      </p:sp>
      <p:sp>
        <p:nvSpPr>
          <p:cNvPr id="33" name="文字_3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制备 · 变式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氯气的制备 · 变式7</a:t>
            </a:r>
          </a:p>
        </p:txBody>
      </p:sp>
      <p:sp>
        <p:nvSpPr>
          <p:cNvPr id="5" name="文字_P13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P130</a:t>
            </a:r>
          </a:p>
        </p:txBody>
      </p:sp>
      <p:pic>
        <p:nvPicPr>
          <p:cNvPr id="6" name="Picture 5" descr="image.png"/>
          <p:cNvPicPr>
            <a:picLocks noChangeAspect="1"/>
          </p:cNvPicPr>
          <p:nvPr/>
        </p:nvPicPr>
        <p:blipFill>
          <a:blip r:embed="rId3"/>
          <a:stretch>
            <a:fillRect/>
          </a:stretch>
        </p:blipFill>
        <p:spPr>
          <a:xfrm>
            <a:off x="502920" y="1078992"/>
            <a:ext cx="5376672" cy="1804626"/>
          </a:xfrm>
          <a:prstGeom prst="rect">
            <a:avLst/>
          </a:prstGeom>
        </p:spPr>
      </p:pic>
      <p:sp>
        <p:nvSpPr>
          <p:cNvPr id="7" name="原题文字_130_3"/>
          <p:cNvSpPr txBox="1"/>
          <p:nvPr/>
        </p:nvSpPr>
        <p:spPr>
          <a:xfrm>
            <a:off x="543849" y="1072591"/>
            <a:ext cx="4047368" cy="188648"/>
          </a:xfrm>
          <a:prstGeom prst="rect">
            <a:avLst/>
          </a:prstGeom>
          <a:noFill/>
        </p:spPr>
        <p:txBody>
          <a:bodyPr wrap="none" lIns="0" rIns="0" tIns="0" bIns="0">
            <a:spAutoFit/>
          </a:bodyPr>
          <a:lstStyle/>
          <a:p>
            <a:pPr>
              <a:lnSpc>
                <a:spcPct val="112000"/>
              </a:lnSpc>
              <a:spcBef>
                <a:spcPts val="0"/>
              </a:spcBef>
              <a:spcAft>
                <a:spcPts val="0"/>
              </a:spcAft>
              <a:defRPr sz="814" b="0">
                <a:solidFill>
                  <a:srgbClr val="333333"/>
                </a:solidFill>
                <a:latin typeface="微软雅黑"/>
              </a:defRPr>
            </a:pPr>
            <a:r>
              <a:rPr>
                <a:ea typeface="微软雅黑"/>
              </a:rPr>
              <a:t>一氧化二氯(Cl₂O)是国际公认的高效安全灭菌消毒剂，现用如图所示装置制备少量Cl₂O。</a:t>
            </a:r>
          </a:p>
        </p:txBody>
      </p:sp>
      <p:sp>
        <p:nvSpPr>
          <p:cNvPr id="8" name="原题文字_130_4"/>
          <p:cNvSpPr txBox="1"/>
          <p:nvPr/>
        </p:nvSpPr>
        <p:spPr>
          <a:xfrm>
            <a:off x="1057331" y="1240030"/>
            <a:ext cx="356255" cy="154788"/>
          </a:xfrm>
          <a:prstGeom prst="rect">
            <a:avLst/>
          </a:prstGeom>
          <a:noFill/>
        </p:spPr>
        <p:txBody>
          <a:bodyPr wrap="none" lIns="0" rIns="0" tIns="0" bIns="0">
            <a:spAutoFit/>
          </a:bodyPr>
          <a:lstStyle/>
          <a:p>
            <a:pPr>
              <a:lnSpc>
                <a:spcPct val="112000"/>
              </a:lnSpc>
              <a:spcBef>
                <a:spcPts val="0"/>
              </a:spcBef>
              <a:spcAft>
                <a:spcPts val="0"/>
              </a:spcAft>
              <a:defRPr sz="750" b="0">
                <a:solidFill>
                  <a:srgbClr val="333333"/>
                </a:solidFill>
                <a:latin typeface="微软雅黑"/>
              </a:defRPr>
            </a:pPr>
            <a:r>
              <a:rPr>
                <a:ea typeface="微软雅黑"/>
              </a:rPr>
              <a:t>浓盐酸</a:t>
            </a:r>
          </a:p>
        </p:txBody>
      </p:sp>
      <p:sp>
        <p:nvSpPr>
          <p:cNvPr id="9" name="原题文字_130_5"/>
          <p:cNvSpPr txBox="1"/>
          <p:nvPr/>
        </p:nvSpPr>
        <p:spPr>
          <a:xfrm>
            <a:off x="4685189" y="1507934"/>
            <a:ext cx="467881" cy="183811"/>
          </a:xfrm>
          <a:prstGeom prst="rect">
            <a:avLst/>
          </a:prstGeom>
          <a:noFill/>
        </p:spPr>
        <p:txBody>
          <a:bodyPr wrap="none" lIns="0" rIns="0" tIns="0" bIns="0">
            <a:spAutoFit/>
          </a:bodyPr>
          <a:lstStyle/>
          <a:p>
            <a:pPr>
              <a:lnSpc>
                <a:spcPct val="112000"/>
              </a:lnSpc>
              <a:spcBef>
                <a:spcPts val="0"/>
              </a:spcBef>
              <a:spcAft>
                <a:spcPts val="0"/>
              </a:spcAft>
              <a:defRPr sz="784" b="0">
                <a:solidFill>
                  <a:srgbClr val="333333"/>
                </a:solidFill>
                <a:latin typeface="微软雅黑"/>
              </a:defRPr>
            </a:pPr>
            <a:r>
              <a:rPr>
                <a:ea typeface="微软雅黑"/>
              </a:rPr>
              <a:t>无水CaCl₂</a:t>
            </a:r>
          </a:p>
        </p:txBody>
      </p:sp>
      <p:sp>
        <p:nvSpPr>
          <p:cNvPr id="10" name="原题文字_130_6"/>
          <p:cNvSpPr txBox="1"/>
          <p:nvPr/>
        </p:nvSpPr>
        <p:spPr>
          <a:xfrm>
            <a:off x="1998713" y="1604677"/>
            <a:ext cx="609275" cy="169300"/>
          </a:xfrm>
          <a:prstGeom prst="rect">
            <a:avLst/>
          </a:prstGeom>
          <a:noFill/>
        </p:spPr>
        <p:txBody>
          <a:bodyPr wrap="none" lIns="0" rIns="0" tIns="0" bIns="0">
            <a:spAutoFit/>
          </a:bodyPr>
          <a:lstStyle/>
          <a:p>
            <a:pPr>
              <a:lnSpc>
                <a:spcPct val="112000"/>
              </a:lnSpc>
              <a:spcBef>
                <a:spcPts val="0"/>
              </a:spcBef>
              <a:spcAft>
                <a:spcPts val="0"/>
              </a:spcAft>
              <a:defRPr sz="668" b="0">
                <a:solidFill>
                  <a:srgbClr val="333333"/>
                </a:solidFill>
                <a:latin typeface="微软雅黑"/>
              </a:defRPr>
            </a:pPr>
            <a:r>
              <a:rPr>
                <a:ea typeface="微软雅黑"/>
              </a:rPr>
              <a:t>潮湿的Na₂CO₃</a:t>
            </a:r>
          </a:p>
        </p:txBody>
      </p:sp>
      <p:sp>
        <p:nvSpPr>
          <p:cNvPr id="11" name="原题文字_130_7"/>
          <p:cNvSpPr txBox="1"/>
          <p:nvPr/>
        </p:nvSpPr>
        <p:spPr>
          <a:xfrm>
            <a:off x="1031284" y="1787000"/>
            <a:ext cx="296721" cy="159625"/>
          </a:xfrm>
          <a:prstGeom prst="rect">
            <a:avLst/>
          </a:prstGeom>
          <a:noFill/>
        </p:spPr>
        <p:txBody>
          <a:bodyPr wrap="none" lIns="0" rIns="0" tIns="0" bIns="0">
            <a:spAutoFit/>
          </a:bodyPr>
          <a:lstStyle/>
          <a:p>
            <a:pPr>
              <a:lnSpc>
                <a:spcPct val="112000"/>
              </a:lnSpc>
              <a:spcBef>
                <a:spcPts val="0"/>
              </a:spcBef>
              <a:spcAft>
                <a:spcPts val="0"/>
              </a:spcAft>
              <a:defRPr sz="761" b="0">
                <a:solidFill>
                  <a:srgbClr val="333333"/>
                </a:solidFill>
                <a:latin typeface="微软雅黑"/>
              </a:defRPr>
            </a:pPr>
            <a:r>
              <a:rPr>
                <a:ea typeface="微软雅黑"/>
              </a:rPr>
              <a:t>MnO₂</a:t>
            </a:r>
          </a:p>
        </p:txBody>
      </p:sp>
      <p:sp>
        <p:nvSpPr>
          <p:cNvPr id="12" name="原题文字_130_8"/>
          <p:cNvSpPr txBox="1"/>
          <p:nvPr/>
        </p:nvSpPr>
        <p:spPr>
          <a:xfrm>
            <a:off x="2385685" y="1798162"/>
            <a:ext cx="162769"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引</a:t>
            </a:r>
          </a:p>
        </p:txBody>
      </p:sp>
      <p:sp>
        <p:nvSpPr>
          <p:cNvPr id="13" name="原题文字_130_9"/>
          <p:cNvSpPr txBox="1"/>
          <p:nvPr/>
        </p:nvSpPr>
        <p:spPr>
          <a:xfrm>
            <a:off x="3918688" y="1906068"/>
            <a:ext cx="181373" cy="174137"/>
          </a:xfrm>
          <a:prstGeom prst="rect">
            <a:avLst/>
          </a:prstGeom>
          <a:noFill/>
        </p:spPr>
        <p:txBody>
          <a:bodyPr wrap="none" lIns="0" rIns="0" tIns="0" bIns="0">
            <a:spAutoFit/>
          </a:bodyPr>
          <a:lstStyle/>
          <a:p>
            <a:pPr>
              <a:lnSpc>
                <a:spcPct val="112000"/>
              </a:lnSpc>
              <a:spcBef>
                <a:spcPts val="0"/>
              </a:spcBef>
              <a:spcAft>
                <a:spcPts val="0"/>
              </a:spcAft>
              <a:defRPr sz="843" b="0">
                <a:solidFill>
                  <a:srgbClr val="333333"/>
                </a:solidFill>
                <a:latin typeface="微软雅黑"/>
              </a:defRPr>
            </a:pPr>
            <a:r>
              <a:rPr>
                <a:ea typeface="微软雅黑"/>
              </a:rPr>
              <a:t>前</a:t>
            </a:r>
          </a:p>
        </p:txBody>
      </p:sp>
      <p:sp>
        <p:nvSpPr>
          <p:cNvPr id="14" name="原题文字_130_10"/>
          <p:cNvSpPr txBox="1"/>
          <p:nvPr/>
        </p:nvSpPr>
        <p:spPr>
          <a:xfrm>
            <a:off x="1358722" y="1943277"/>
            <a:ext cx="252070" cy="203160"/>
          </a:xfrm>
          <a:prstGeom prst="rect">
            <a:avLst/>
          </a:prstGeom>
          <a:noFill/>
        </p:spPr>
        <p:txBody>
          <a:bodyPr wrap="none" lIns="0" rIns="0" tIns="0" bIns="0">
            <a:spAutoFit/>
          </a:bodyPr>
          <a:lstStyle/>
          <a:p>
            <a:pPr>
              <a:lnSpc>
                <a:spcPct val="112000"/>
              </a:lnSpc>
              <a:spcBef>
                <a:spcPts val="0"/>
              </a:spcBef>
              <a:spcAft>
                <a:spcPts val="0"/>
              </a:spcAft>
              <a:defRPr sz="984" b="0">
                <a:solidFill>
                  <a:srgbClr val="333333"/>
                </a:solidFill>
                <a:latin typeface="微软雅黑"/>
              </a:defRPr>
            </a:pPr>
            <a:r>
              <a:rPr>
                <a:ea typeface="微软雅黑"/>
              </a:rPr>
              <a:t>一</a:t>
            </a:r>
          </a:p>
        </p:txBody>
      </p:sp>
      <p:sp>
        <p:nvSpPr>
          <p:cNvPr id="15" name="原题文字_130_11"/>
          <p:cNvSpPr txBox="1"/>
          <p:nvPr/>
        </p:nvSpPr>
        <p:spPr>
          <a:xfrm>
            <a:off x="2865678" y="1946998"/>
            <a:ext cx="240908" cy="188648"/>
          </a:xfrm>
          <a:prstGeom prst="rect">
            <a:avLst/>
          </a:prstGeom>
          <a:noFill/>
        </p:spPr>
        <p:txBody>
          <a:bodyPr wrap="none" lIns="0" rIns="0" tIns="0" bIns="0">
            <a:spAutoFit/>
          </a:bodyPr>
          <a:lstStyle/>
          <a:p>
            <a:pPr>
              <a:lnSpc>
                <a:spcPct val="112000"/>
              </a:lnSpc>
              <a:spcBef>
                <a:spcPts val="0"/>
              </a:spcBef>
              <a:spcAft>
                <a:spcPts val="0"/>
              </a:spcAft>
              <a:defRPr sz="914" b="0">
                <a:solidFill>
                  <a:srgbClr val="333333"/>
                </a:solidFill>
                <a:latin typeface="微软雅黑"/>
              </a:defRPr>
            </a:pPr>
            <a:r>
              <a:rPr>
                <a:ea typeface="微软雅黑"/>
              </a:rPr>
              <a:t>一</a:t>
            </a:r>
          </a:p>
        </p:txBody>
      </p:sp>
      <p:sp>
        <p:nvSpPr>
          <p:cNvPr id="16" name="原题文字_130_12"/>
          <p:cNvSpPr txBox="1"/>
          <p:nvPr/>
        </p:nvSpPr>
        <p:spPr>
          <a:xfrm>
            <a:off x="2467544" y="2240947"/>
            <a:ext cx="356255" cy="154788"/>
          </a:xfrm>
          <a:prstGeom prst="rect">
            <a:avLst/>
          </a:prstGeom>
          <a:noFill/>
        </p:spPr>
        <p:txBody>
          <a:bodyPr wrap="none" lIns="0" rIns="0" tIns="0" bIns="0">
            <a:spAutoFit/>
          </a:bodyPr>
          <a:lstStyle/>
          <a:p>
            <a:pPr>
              <a:lnSpc>
                <a:spcPct val="112000"/>
              </a:lnSpc>
              <a:spcBef>
                <a:spcPts val="0"/>
              </a:spcBef>
              <a:spcAft>
                <a:spcPts val="0"/>
              </a:spcAft>
              <a:defRPr sz="750" b="0">
                <a:solidFill>
                  <a:srgbClr val="333333"/>
                </a:solidFill>
                <a:latin typeface="微软雅黑"/>
              </a:defRPr>
            </a:pPr>
            <a:r>
              <a:rPr>
                <a:ea typeface="微软雅黑"/>
              </a:rPr>
              <a:t>浓硫酸</a:t>
            </a:r>
          </a:p>
        </p:txBody>
      </p:sp>
      <p:sp>
        <p:nvSpPr>
          <p:cNvPr id="17" name="原题文字_130_13"/>
          <p:cNvSpPr txBox="1"/>
          <p:nvPr/>
        </p:nvSpPr>
        <p:spPr>
          <a:xfrm>
            <a:off x="4361472" y="2397224"/>
            <a:ext cx="534857"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冰水混合物</a:t>
            </a:r>
          </a:p>
        </p:txBody>
      </p:sp>
      <p:sp>
        <p:nvSpPr>
          <p:cNvPr id="18" name="原题文字_130_14"/>
          <p:cNvSpPr txBox="1"/>
          <p:nvPr/>
        </p:nvSpPr>
        <p:spPr>
          <a:xfrm>
            <a:off x="5087044" y="2642802"/>
            <a:ext cx="631600" cy="149951"/>
          </a:xfrm>
          <a:prstGeom prst="rect">
            <a:avLst/>
          </a:prstGeom>
          <a:noFill/>
        </p:spPr>
        <p:txBody>
          <a:bodyPr wrap="none" lIns="0" rIns="0" tIns="0" bIns="0">
            <a:spAutoFit/>
          </a:bodyPr>
          <a:lstStyle/>
          <a:p>
            <a:pPr>
              <a:lnSpc>
                <a:spcPct val="112000"/>
              </a:lnSpc>
              <a:spcBef>
                <a:spcPts val="0"/>
              </a:spcBef>
              <a:spcAft>
                <a:spcPts val="0"/>
              </a:spcAft>
              <a:defRPr sz="726" b="0">
                <a:solidFill>
                  <a:srgbClr val="333333"/>
                </a:solidFill>
                <a:latin typeface="微软雅黑"/>
              </a:defRPr>
            </a:pPr>
            <a:r>
              <a:rPr>
                <a:ea typeface="微软雅黑"/>
              </a:rPr>
              <a:t>足量NaOH溶液</a:t>
            </a:r>
          </a:p>
        </p:txBody>
      </p:sp>
      <p:sp>
        <p:nvSpPr>
          <p:cNvPr id="19" name="原题文字_130_15"/>
          <p:cNvSpPr txBox="1"/>
          <p:nvPr/>
        </p:nvSpPr>
        <p:spPr>
          <a:xfrm>
            <a:off x="841520" y="2761870"/>
            <a:ext cx="147886" cy="1209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A</a:t>
            </a:r>
          </a:p>
        </p:txBody>
      </p:sp>
      <p:sp>
        <p:nvSpPr>
          <p:cNvPr id="20" name="原题文字_130_16"/>
          <p:cNvSpPr txBox="1"/>
          <p:nvPr/>
        </p:nvSpPr>
        <p:spPr>
          <a:xfrm>
            <a:off x="1395931" y="2765591"/>
            <a:ext cx="125560" cy="111254"/>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B</a:t>
            </a:r>
          </a:p>
        </p:txBody>
      </p:sp>
      <p:sp>
        <p:nvSpPr>
          <p:cNvPr id="21" name="原题文字_130_17"/>
          <p:cNvSpPr txBox="1"/>
          <p:nvPr/>
        </p:nvSpPr>
        <p:spPr>
          <a:xfrm>
            <a:off x="2047085" y="2758149"/>
            <a:ext cx="136723" cy="125765"/>
          </a:xfrm>
          <a:prstGeom prst="rect">
            <a:avLst/>
          </a:prstGeom>
          <a:noFill/>
        </p:spPr>
        <p:txBody>
          <a:bodyPr wrap="none" lIns="0" rIns="0" tIns="0" bIns="0">
            <a:spAutoFit/>
          </a:bodyPr>
          <a:lstStyle/>
          <a:p>
            <a:pPr>
              <a:lnSpc>
                <a:spcPct val="112000"/>
              </a:lnSpc>
              <a:spcBef>
                <a:spcPts val="0"/>
              </a:spcBef>
              <a:spcAft>
                <a:spcPts val="0"/>
              </a:spcAft>
              <a:defRPr sz="609" b="0">
                <a:solidFill>
                  <a:srgbClr val="333333"/>
                </a:solidFill>
                <a:latin typeface="微软雅黑"/>
              </a:defRPr>
            </a:pPr>
            <a:r>
              <a:rPr>
                <a:ea typeface="微软雅黑"/>
              </a:rPr>
              <a:t>C</a:t>
            </a:r>
          </a:p>
        </p:txBody>
      </p:sp>
      <p:sp>
        <p:nvSpPr>
          <p:cNvPr id="22" name="原题文字_130_18"/>
          <p:cNvSpPr txBox="1"/>
          <p:nvPr/>
        </p:nvSpPr>
        <p:spPr>
          <a:xfrm>
            <a:off x="2902887" y="2765591"/>
            <a:ext cx="147886" cy="116091"/>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D</a:t>
            </a:r>
          </a:p>
        </p:txBody>
      </p:sp>
      <p:sp>
        <p:nvSpPr>
          <p:cNvPr id="23" name="原题文字_130_19"/>
          <p:cNvSpPr txBox="1"/>
          <p:nvPr/>
        </p:nvSpPr>
        <p:spPr>
          <a:xfrm>
            <a:off x="3717760" y="2761870"/>
            <a:ext cx="144165" cy="125765"/>
          </a:xfrm>
          <a:prstGeom prst="rect">
            <a:avLst/>
          </a:prstGeom>
          <a:noFill/>
        </p:spPr>
        <p:txBody>
          <a:bodyPr wrap="none" lIns="0" rIns="0" tIns="0" bIns="0">
            <a:spAutoFit/>
          </a:bodyPr>
          <a:lstStyle/>
          <a:p>
            <a:pPr>
              <a:lnSpc>
                <a:spcPct val="112000"/>
              </a:lnSpc>
              <a:spcBef>
                <a:spcPts val="0"/>
              </a:spcBef>
              <a:spcAft>
                <a:spcPts val="0"/>
              </a:spcAft>
              <a:defRPr sz="609" b="0">
                <a:solidFill>
                  <a:srgbClr val="333333"/>
                </a:solidFill>
                <a:latin typeface="微软雅黑"/>
              </a:defRPr>
            </a:pPr>
            <a:r>
              <a:rPr>
                <a:ea typeface="微软雅黑"/>
              </a:rPr>
              <a:t>E</a:t>
            </a:r>
          </a:p>
        </p:txBody>
      </p:sp>
      <p:sp>
        <p:nvSpPr>
          <p:cNvPr id="24" name="原题文字_130_20"/>
          <p:cNvSpPr txBox="1"/>
          <p:nvPr/>
        </p:nvSpPr>
        <p:spPr>
          <a:xfrm>
            <a:off x="4729839" y="2765591"/>
            <a:ext cx="125560" cy="111254"/>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F</a:t>
            </a:r>
          </a:p>
        </p:txBody>
      </p:sp>
      <p:sp>
        <p:nvSpPr>
          <p:cNvPr id="25" name="原题文字_130_21"/>
          <p:cNvSpPr txBox="1"/>
          <p:nvPr/>
        </p:nvSpPr>
        <p:spPr>
          <a:xfrm>
            <a:off x="5373552" y="2761870"/>
            <a:ext cx="147886" cy="1209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G</a:t>
            </a:r>
          </a:p>
        </p:txBody>
      </p:sp>
      <p:sp>
        <p:nvSpPr>
          <p:cNvPr id="26" name="文字_已知：常温下，Cl₂O是棕黄色、有刺激性气味的气"/>
          <p:cNvSpPr txBox="1"/>
          <p:nvPr/>
        </p:nvSpPr>
        <p:spPr>
          <a:xfrm>
            <a:off x="502920" y="2956770"/>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已知：常温下，Cl₂O是棕黄色、有刺激性气味的气体，易溶</a:t>
            </a:r>
          </a:p>
          <a:p>
            <a:pPr>
              <a:lnSpc>
                <a:spcPct val="112000"/>
              </a:lnSpc>
              <a:spcBef>
                <a:spcPts val="0"/>
              </a:spcBef>
              <a:spcAft>
                <a:spcPts val="0"/>
              </a:spcAft>
              <a:defRPr sz="1600" b="0">
                <a:solidFill>
                  <a:srgbClr val="333333"/>
                </a:solidFill>
                <a:latin typeface="微软雅黑"/>
              </a:defRPr>
            </a:pPr>
            <a:r>
              <a:rPr>
                <a:ea typeface="微软雅黑"/>
              </a:rPr>
              <a:t>于水；熔点：-120.6℃；沸点2.0℃。</a:t>
            </a:r>
          </a:p>
        </p:txBody>
      </p:sp>
      <p:sp>
        <p:nvSpPr>
          <p:cNvPr id="27" name="文字_(1)盛放无水CaCl₂的仪器的名称是"/>
          <p:cNvSpPr txBox="1"/>
          <p:nvPr/>
        </p:nvSpPr>
        <p:spPr>
          <a:xfrm>
            <a:off x="502920" y="3491186"/>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(1)盛放无水CaCl₂的仪器的名称是</a:t>
            </a:r>
          </a:p>
        </p:txBody>
      </p:sp>
      <p:sp>
        <p:nvSpPr>
          <p:cNvPr id="28" name="文字_(2) 装置A中发生反应的离子方程式为"/>
          <p:cNvSpPr txBox="1"/>
          <p:nvPr/>
        </p:nvSpPr>
        <p:spPr>
          <a:xfrm>
            <a:off x="502920" y="3783794"/>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(2) 装置A中发生反应的离子方程式为</a:t>
            </a:r>
          </a:p>
        </p:txBody>
      </p:sp>
      <p:sp>
        <p:nvSpPr>
          <p:cNvPr id="29" name="文字_(3) 装置B中的试剂是 ______ (填名称"/>
          <p:cNvSpPr txBox="1"/>
          <p:nvPr/>
        </p:nvSpPr>
        <p:spPr>
          <a:xfrm>
            <a:off x="502920" y="4076402"/>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(3) 装置B中的试剂是 ______ (填名称)。</a:t>
            </a:r>
          </a:p>
        </p:txBody>
      </p:sp>
      <p:sp>
        <p:nvSpPr>
          <p:cNvPr id="30" name="文字_(4) 装置C中产物除了有Cl₂O，还有NaCl"/>
          <p:cNvSpPr txBox="1"/>
          <p:nvPr/>
        </p:nvSpPr>
        <p:spPr>
          <a:xfrm>
            <a:off x="6263640" y="1078992"/>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(4) 装置C中产物除了有Cl₂O，还有NaCl和NaHCO₃，写出</a:t>
            </a:r>
          </a:p>
          <a:p>
            <a:pPr>
              <a:lnSpc>
                <a:spcPct val="112000"/>
              </a:lnSpc>
              <a:spcBef>
                <a:spcPts val="0"/>
              </a:spcBef>
              <a:spcAft>
                <a:spcPts val="0"/>
              </a:spcAft>
              <a:defRPr sz="1600" b="0">
                <a:solidFill>
                  <a:srgbClr val="333333"/>
                </a:solidFill>
                <a:latin typeface="微软雅黑"/>
              </a:defRPr>
            </a:pPr>
            <a:r>
              <a:rPr>
                <a:ea typeface="微软雅黑"/>
              </a:rPr>
              <a:t>该反应的化学方程式</a:t>
            </a:r>
          </a:p>
        </p:txBody>
      </p:sp>
      <p:sp>
        <p:nvSpPr>
          <p:cNvPr id="31" name="文字_(5) 装置E中Cl₂O的收率与装置C的温度和纯"/>
          <p:cNvSpPr txBox="1"/>
          <p:nvPr/>
        </p:nvSpPr>
        <p:spPr>
          <a:xfrm>
            <a:off x="6263640" y="1613408"/>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(5) 装置E中Cl₂O的收率与装置C的温度和纯碱的含水量的关</a:t>
            </a:r>
          </a:p>
          <a:p>
            <a:pPr>
              <a:lnSpc>
                <a:spcPct val="112000"/>
              </a:lnSpc>
              <a:spcBef>
                <a:spcPts val="0"/>
              </a:spcBef>
              <a:spcAft>
                <a:spcPts val="0"/>
              </a:spcAft>
              <a:defRPr sz="1600" b="0">
                <a:solidFill>
                  <a:srgbClr val="333333"/>
                </a:solidFill>
                <a:latin typeface="微软雅黑"/>
              </a:defRPr>
            </a:pPr>
            <a:r>
              <a:rPr>
                <a:ea typeface="微软雅黑"/>
              </a:rPr>
              <a:t>系如表所示，下列猜想明显不合理的是</a:t>
            </a:r>
          </a:p>
        </p:txBody>
      </p:sp>
      <p:pic>
        <p:nvPicPr>
          <p:cNvPr id="32" name="Picture 31" descr="image.png"/>
          <p:cNvPicPr>
            <a:picLocks noChangeAspect="1"/>
          </p:cNvPicPr>
          <p:nvPr/>
        </p:nvPicPr>
        <p:blipFill>
          <a:blip r:embed="rId4"/>
          <a:stretch>
            <a:fillRect/>
          </a:stretch>
        </p:blipFill>
        <p:spPr>
          <a:xfrm>
            <a:off x="6263640" y="2147824"/>
            <a:ext cx="5376672" cy="1499514"/>
          </a:xfrm>
          <a:prstGeom prst="rect">
            <a:avLst/>
          </a:prstGeom>
        </p:spPr>
      </p:pic>
      <p:sp>
        <p:nvSpPr>
          <p:cNvPr id="33" name="原题文字_130_34"/>
          <p:cNvSpPr txBox="1"/>
          <p:nvPr/>
        </p:nvSpPr>
        <p:spPr>
          <a:xfrm>
            <a:off x="7134325" y="2160027"/>
            <a:ext cx="106956"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0</a:t>
            </a:r>
          </a:p>
        </p:txBody>
      </p:sp>
      <p:sp>
        <p:nvSpPr>
          <p:cNvPr id="34" name="原题文字_130_35"/>
          <p:cNvSpPr txBox="1"/>
          <p:nvPr/>
        </p:nvSpPr>
        <p:spPr>
          <a:xfrm>
            <a:off x="6572473" y="2275374"/>
            <a:ext cx="464160" cy="198322"/>
          </a:xfrm>
          <a:prstGeom prst="rect">
            <a:avLst/>
          </a:prstGeom>
          <a:noFill/>
        </p:spPr>
        <p:txBody>
          <a:bodyPr wrap="none" lIns="0" rIns="0" tIns="0" bIns="0">
            <a:spAutoFit/>
          </a:bodyPr>
          <a:lstStyle/>
          <a:p>
            <a:pPr>
              <a:lnSpc>
                <a:spcPct val="112000"/>
              </a:lnSpc>
              <a:spcBef>
                <a:spcPts val="0"/>
              </a:spcBef>
              <a:spcAft>
                <a:spcPts val="0"/>
              </a:spcAft>
              <a:defRPr sz="960" b="0">
                <a:solidFill>
                  <a:srgbClr val="333333"/>
                </a:solidFill>
                <a:latin typeface="微软雅黑"/>
              </a:defRPr>
            </a:pPr>
            <a:r>
              <a:rPr>
                <a:ea typeface="微软雅黑"/>
              </a:rPr>
              <a:t>温度/℃</a:t>
            </a:r>
          </a:p>
        </p:txBody>
      </p:sp>
      <p:sp>
        <p:nvSpPr>
          <p:cNvPr id="35" name="原题文字_130_36"/>
          <p:cNvSpPr txBox="1"/>
          <p:nvPr/>
        </p:nvSpPr>
        <p:spPr>
          <a:xfrm>
            <a:off x="6970607" y="2290258"/>
            <a:ext cx="743226"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纯碱含水量/%</a:t>
            </a:r>
          </a:p>
        </p:txBody>
      </p:sp>
      <p:sp>
        <p:nvSpPr>
          <p:cNvPr id="36" name="原题文字_130_37"/>
          <p:cNvSpPr txBox="1"/>
          <p:nvPr/>
        </p:nvSpPr>
        <p:spPr>
          <a:xfrm>
            <a:off x="7681295" y="2290258"/>
            <a:ext cx="642763" cy="174137"/>
          </a:xfrm>
          <a:prstGeom prst="rect">
            <a:avLst/>
          </a:prstGeom>
          <a:noFill/>
        </p:spPr>
        <p:txBody>
          <a:bodyPr wrap="none" lIns="0" rIns="0" tIns="0" bIns="0">
            <a:spAutoFit/>
          </a:bodyPr>
          <a:lstStyle/>
          <a:p>
            <a:pPr>
              <a:lnSpc>
                <a:spcPct val="112000"/>
              </a:lnSpc>
              <a:spcBef>
                <a:spcPts val="0"/>
              </a:spcBef>
              <a:spcAft>
                <a:spcPts val="0"/>
              </a:spcAft>
              <a:defRPr sz="843" b="0">
                <a:solidFill>
                  <a:srgbClr val="333333"/>
                </a:solidFill>
                <a:latin typeface="微软雅黑"/>
              </a:defRPr>
            </a:pPr>
            <a:r>
              <a:rPr>
                <a:ea typeface="微软雅黑"/>
              </a:rPr>
              <a:t>Cl₂O收率/%</a:t>
            </a:r>
          </a:p>
        </p:txBody>
      </p:sp>
      <p:sp>
        <p:nvSpPr>
          <p:cNvPr id="37" name="原题文字_130_38"/>
          <p:cNvSpPr txBox="1"/>
          <p:nvPr/>
        </p:nvSpPr>
        <p:spPr>
          <a:xfrm>
            <a:off x="6576193" y="2494906"/>
            <a:ext cx="315325"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0~10</a:t>
            </a:r>
          </a:p>
        </p:txBody>
      </p:sp>
      <p:sp>
        <p:nvSpPr>
          <p:cNvPr id="38" name="原题文字_130_39"/>
          <p:cNvSpPr txBox="1"/>
          <p:nvPr/>
        </p:nvSpPr>
        <p:spPr>
          <a:xfrm>
            <a:off x="6978049" y="2494906"/>
            <a:ext cx="278116" cy="169300"/>
          </a:xfrm>
          <a:prstGeom prst="rect">
            <a:avLst/>
          </a:prstGeom>
          <a:noFill/>
        </p:spPr>
        <p:txBody>
          <a:bodyPr wrap="none" lIns="0" rIns="0" tIns="0" bIns="0">
            <a:spAutoFit/>
          </a:bodyPr>
          <a:lstStyle/>
          <a:p>
            <a:pPr>
              <a:lnSpc>
                <a:spcPct val="112000"/>
              </a:lnSpc>
              <a:spcBef>
                <a:spcPts val="0"/>
              </a:spcBef>
              <a:spcAft>
                <a:spcPts val="0"/>
              </a:spcAft>
              <a:defRPr sz="820" b="0">
                <a:solidFill>
                  <a:srgbClr val="333333"/>
                </a:solidFill>
                <a:latin typeface="微软雅黑"/>
              </a:defRPr>
            </a:pPr>
            <a:r>
              <a:rPr>
                <a:ea typeface="微软雅黑"/>
              </a:rPr>
              <a:t>5.44</a:t>
            </a:r>
          </a:p>
        </p:txBody>
      </p:sp>
      <p:sp>
        <p:nvSpPr>
          <p:cNvPr id="39" name="原题文字_130_40"/>
          <p:cNvSpPr txBox="1"/>
          <p:nvPr/>
        </p:nvSpPr>
        <p:spPr>
          <a:xfrm>
            <a:off x="7696178" y="2494906"/>
            <a:ext cx="330209"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67.85</a:t>
            </a:r>
          </a:p>
        </p:txBody>
      </p:sp>
      <p:sp>
        <p:nvSpPr>
          <p:cNvPr id="40" name="原题文字_130_41"/>
          <p:cNvSpPr txBox="1"/>
          <p:nvPr/>
        </p:nvSpPr>
        <p:spPr>
          <a:xfrm>
            <a:off x="6572473" y="2692113"/>
            <a:ext cx="311604"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0~10</a:t>
            </a:r>
          </a:p>
        </p:txBody>
      </p:sp>
      <p:sp>
        <p:nvSpPr>
          <p:cNvPr id="41" name="原题文字_130_42"/>
          <p:cNvSpPr txBox="1"/>
          <p:nvPr/>
        </p:nvSpPr>
        <p:spPr>
          <a:xfrm>
            <a:off x="6981769" y="2699555"/>
            <a:ext cx="274395"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7.88</a:t>
            </a:r>
          </a:p>
        </p:txBody>
      </p:sp>
      <p:sp>
        <p:nvSpPr>
          <p:cNvPr id="42" name="原题文字_130_43"/>
          <p:cNvSpPr txBox="1"/>
          <p:nvPr/>
        </p:nvSpPr>
        <p:spPr>
          <a:xfrm>
            <a:off x="7696178" y="2692113"/>
            <a:ext cx="330209"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89.26</a:t>
            </a:r>
          </a:p>
        </p:txBody>
      </p:sp>
      <p:sp>
        <p:nvSpPr>
          <p:cNvPr id="43" name="原题文字_130_44"/>
          <p:cNvSpPr txBox="1"/>
          <p:nvPr/>
        </p:nvSpPr>
        <p:spPr>
          <a:xfrm>
            <a:off x="6587356" y="2900482"/>
            <a:ext cx="348813" cy="154788"/>
          </a:xfrm>
          <a:prstGeom prst="rect">
            <a:avLst/>
          </a:prstGeom>
          <a:noFill/>
        </p:spPr>
        <p:txBody>
          <a:bodyPr wrap="none" lIns="0" rIns="0" tIns="0" bIns="0">
            <a:spAutoFit/>
          </a:bodyPr>
          <a:lstStyle/>
          <a:p>
            <a:pPr>
              <a:lnSpc>
                <a:spcPct val="112000"/>
              </a:lnSpc>
              <a:spcBef>
                <a:spcPts val="0"/>
              </a:spcBef>
              <a:spcAft>
                <a:spcPts val="0"/>
              </a:spcAft>
              <a:defRPr sz="750" b="0">
                <a:solidFill>
                  <a:srgbClr val="333333"/>
                </a:solidFill>
                <a:latin typeface="微软雅黑"/>
              </a:defRPr>
            </a:pPr>
            <a:r>
              <a:rPr>
                <a:ea typeface="微软雅黑"/>
              </a:rPr>
              <a:t>10~20</a:t>
            </a:r>
          </a:p>
        </p:txBody>
      </p:sp>
      <p:sp>
        <p:nvSpPr>
          <p:cNvPr id="44" name="原题文字_130_45"/>
          <p:cNvSpPr txBox="1"/>
          <p:nvPr/>
        </p:nvSpPr>
        <p:spPr>
          <a:xfrm>
            <a:off x="6978049" y="2896761"/>
            <a:ext cx="274395"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8.00</a:t>
            </a:r>
          </a:p>
        </p:txBody>
      </p:sp>
      <p:sp>
        <p:nvSpPr>
          <p:cNvPr id="45" name="原题文字_130_46"/>
          <p:cNvSpPr txBox="1"/>
          <p:nvPr/>
        </p:nvSpPr>
        <p:spPr>
          <a:xfrm>
            <a:off x="7696178" y="2900482"/>
            <a:ext cx="330209" cy="159625"/>
          </a:xfrm>
          <a:prstGeom prst="rect">
            <a:avLst/>
          </a:prstGeom>
          <a:noFill/>
        </p:spPr>
        <p:txBody>
          <a:bodyPr wrap="none" lIns="0" rIns="0" tIns="0" bIns="0">
            <a:spAutoFit/>
          </a:bodyPr>
          <a:lstStyle/>
          <a:p>
            <a:pPr>
              <a:lnSpc>
                <a:spcPct val="112000"/>
              </a:lnSpc>
              <a:spcBef>
                <a:spcPts val="0"/>
              </a:spcBef>
              <a:spcAft>
                <a:spcPts val="0"/>
              </a:spcAft>
              <a:defRPr sz="773" b="0">
                <a:solidFill>
                  <a:srgbClr val="333333"/>
                </a:solidFill>
                <a:latin typeface="微软雅黑"/>
              </a:defRPr>
            </a:pPr>
            <a:r>
              <a:rPr>
                <a:ea typeface="微软雅黑"/>
              </a:rPr>
              <a:t>64.24</a:t>
            </a:r>
          </a:p>
        </p:txBody>
      </p:sp>
      <p:sp>
        <p:nvSpPr>
          <p:cNvPr id="46" name="原题文字_130_47"/>
          <p:cNvSpPr txBox="1"/>
          <p:nvPr/>
        </p:nvSpPr>
        <p:spPr>
          <a:xfrm>
            <a:off x="6579914" y="3101410"/>
            <a:ext cx="356255"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30~40</a:t>
            </a:r>
          </a:p>
        </p:txBody>
      </p:sp>
      <p:sp>
        <p:nvSpPr>
          <p:cNvPr id="47" name="原题文字_130_48"/>
          <p:cNvSpPr txBox="1"/>
          <p:nvPr/>
        </p:nvSpPr>
        <p:spPr>
          <a:xfrm>
            <a:off x="6981769" y="3101410"/>
            <a:ext cx="322767"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10.25</a:t>
            </a:r>
          </a:p>
        </p:txBody>
      </p:sp>
      <p:sp>
        <p:nvSpPr>
          <p:cNvPr id="48" name="原题文字_130_49"/>
          <p:cNvSpPr txBox="1"/>
          <p:nvPr/>
        </p:nvSpPr>
        <p:spPr>
          <a:xfrm>
            <a:off x="7692458" y="3093968"/>
            <a:ext cx="333930" cy="178974"/>
          </a:xfrm>
          <a:prstGeom prst="rect">
            <a:avLst/>
          </a:prstGeom>
          <a:noFill/>
        </p:spPr>
        <p:txBody>
          <a:bodyPr wrap="none" lIns="0" rIns="0" tIns="0" bIns="0">
            <a:spAutoFit/>
          </a:bodyPr>
          <a:lstStyle/>
          <a:p>
            <a:pPr>
              <a:lnSpc>
                <a:spcPct val="112000"/>
              </a:lnSpc>
              <a:spcBef>
                <a:spcPts val="0"/>
              </a:spcBef>
              <a:spcAft>
                <a:spcPts val="0"/>
              </a:spcAft>
              <a:defRPr sz="867" b="0">
                <a:solidFill>
                  <a:srgbClr val="333333"/>
                </a:solidFill>
                <a:latin typeface="微软雅黑"/>
              </a:defRPr>
            </a:pPr>
            <a:r>
              <a:rPr>
                <a:ea typeface="微软雅黑"/>
              </a:rPr>
              <a:t>52.63</a:t>
            </a:r>
          </a:p>
        </p:txBody>
      </p:sp>
      <p:sp>
        <p:nvSpPr>
          <p:cNvPr id="49" name="原题文字_130_50"/>
          <p:cNvSpPr txBox="1"/>
          <p:nvPr/>
        </p:nvSpPr>
        <p:spPr>
          <a:xfrm>
            <a:off x="6576193" y="3291175"/>
            <a:ext cx="363697" cy="178974"/>
          </a:xfrm>
          <a:prstGeom prst="rect">
            <a:avLst/>
          </a:prstGeom>
          <a:noFill/>
        </p:spPr>
        <p:txBody>
          <a:bodyPr wrap="none" lIns="0" rIns="0" tIns="0" bIns="0">
            <a:spAutoFit/>
          </a:bodyPr>
          <a:lstStyle/>
          <a:p>
            <a:pPr>
              <a:lnSpc>
                <a:spcPct val="112000"/>
              </a:lnSpc>
              <a:spcBef>
                <a:spcPts val="0"/>
              </a:spcBef>
              <a:spcAft>
                <a:spcPts val="0"/>
              </a:spcAft>
              <a:defRPr sz="867" b="0">
                <a:solidFill>
                  <a:srgbClr val="333333"/>
                </a:solidFill>
                <a:latin typeface="微软雅黑"/>
              </a:defRPr>
            </a:pPr>
            <a:r>
              <a:rPr>
                <a:ea typeface="微软雅黑"/>
              </a:rPr>
              <a:t>30~40</a:t>
            </a:r>
          </a:p>
        </p:txBody>
      </p:sp>
      <p:sp>
        <p:nvSpPr>
          <p:cNvPr id="50" name="原题文字_130_51"/>
          <p:cNvSpPr txBox="1"/>
          <p:nvPr/>
        </p:nvSpPr>
        <p:spPr>
          <a:xfrm>
            <a:off x="6974328" y="3283733"/>
            <a:ext cx="333930" cy="178974"/>
          </a:xfrm>
          <a:prstGeom prst="rect">
            <a:avLst/>
          </a:prstGeom>
          <a:noFill/>
        </p:spPr>
        <p:txBody>
          <a:bodyPr wrap="none" lIns="0" rIns="0" tIns="0" bIns="0">
            <a:spAutoFit/>
          </a:bodyPr>
          <a:lstStyle/>
          <a:p>
            <a:pPr>
              <a:lnSpc>
                <a:spcPct val="112000"/>
              </a:lnSpc>
              <a:spcBef>
                <a:spcPts val="0"/>
              </a:spcBef>
              <a:spcAft>
                <a:spcPts val="0"/>
              </a:spcAft>
              <a:defRPr sz="867" b="0">
                <a:solidFill>
                  <a:srgbClr val="333333"/>
                </a:solidFill>
                <a:latin typeface="微软雅黑"/>
              </a:defRPr>
            </a:pPr>
            <a:r>
              <a:rPr>
                <a:ea typeface="微软雅黑"/>
              </a:rPr>
              <a:t>12.50</a:t>
            </a:r>
          </a:p>
        </p:txBody>
      </p:sp>
      <p:sp>
        <p:nvSpPr>
          <p:cNvPr id="51" name="原题文字_130_52"/>
          <p:cNvSpPr txBox="1"/>
          <p:nvPr/>
        </p:nvSpPr>
        <p:spPr>
          <a:xfrm>
            <a:off x="7696178" y="3291175"/>
            <a:ext cx="330209"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30.38</a:t>
            </a:r>
          </a:p>
        </p:txBody>
      </p:sp>
      <p:sp>
        <p:nvSpPr>
          <p:cNvPr id="52" name="原题文字_130_53"/>
          <p:cNvSpPr txBox="1"/>
          <p:nvPr/>
        </p:nvSpPr>
        <p:spPr>
          <a:xfrm>
            <a:off x="6304569" y="3492102"/>
            <a:ext cx="1491123" cy="169300"/>
          </a:xfrm>
          <a:prstGeom prst="rect">
            <a:avLst/>
          </a:prstGeom>
          <a:noFill/>
        </p:spPr>
        <p:txBody>
          <a:bodyPr wrap="none" lIns="0" rIns="0" tIns="0" bIns="0">
            <a:spAutoFit/>
          </a:bodyPr>
          <a:lstStyle/>
          <a:p>
            <a:pPr>
              <a:lnSpc>
                <a:spcPct val="112000"/>
              </a:lnSpc>
              <a:spcBef>
                <a:spcPts val="0"/>
              </a:spcBef>
              <a:spcAft>
                <a:spcPts val="0"/>
              </a:spcAft>
              <a:defRPr sz="820" b="0">
                <a:solidFill>
                  <a:srgbClr val="333333"/>
                </a:solidFill>
                <a:latin typeface="微软雅黑"/>
              </a:defRPr>
            </a:pPr>
            <a:r>
              <a:rPr>
                <a:ea typeface="微软雅黑"/>
              </a:rPr>
              <a:t>A. 温度越高，Cl₂O的收率越低</a:t>
            </a:r>
          </a:p>
        </p:txBody>
      </p:sp>
      <p:sp>
        <p:nvSpPr>
          <p:cNvPr id="53" name="文字_B. 纯碱含水量越高，Cl₂O的收率越高"/>
          <p:cNvSpPr txBox="1"/>
          <p:nvPr/>
        </p:nvSpPr>
        <p:spPr>
          <a:xfrm>
            <a:off x="6263640" y="3720490"/>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B. 纯碱含水量越高，Cl₂O的收率越高</a:t>
            </a:r>
          </a:p>
        </p:txBody>
      </p:sp>
      <p:sp>
        <p:nvSpPr>
          <p:cNvPr id="54" name="文字_C. 随着纯碱含水量增大，Cl₂O的收率先增大后"/>
          <p:cNvSpPr txBox="1"/>
          <p:nvPr/>
        </p:nvSpPr>
        <p:spPr>
          <a:xfrm>
            <a:off x="6263640" y="4013098"/>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C. 随着纯碱含水量增大，Cl₂O的收率先增大后减小</a:t>
            </a:r>
          </a:p>
        </p:txBody>
      </p:sp>
      <p:sp>
        <p:nvSpPr>
          <p:cNvPr id="55" name="文字_D. 温度较低时，纯碱含水量越高，Cl₂O的收率"/>
          <p:cNvSpPr txBox="1"/>
          <p:nvPr/>
        </p:nvSpPr>
        <p:spPr>
          <a:xfrm>
            <a:off x="6263640" y="4305706"/>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D. 温度较低时，纯碱含水量越高，Cl₂O的收率越高，温度</a:t>
            </a:r>
          </a:p>
          <a:p>
            <a:pPr>
              <a:lnSpc>
                <a:spcPct val="112000"/>
              </a:lnSpc>
              <a:spcBef>
                <a:spcPts val="0"/>
              </a:spcBef>
              <a:spcAft>
                <a:spcPts val="0"/>
              </a:spcAft>
              <a:defRPr sz="1600" b="0">
                <a:solidFill>
                  <a:srgbClr val="333333"/>
                </a:solidFill>
                <a:latin typeface="微软雅黑"/>
              </a:defRPr>
            </a:pPr>
            <a:r>
              <a:rPr>
                <a:ea typeface="微软雅黑"/>
              </a:rPr>
              <a:t>较高时，纯碱含水量越高，Cl₂O的收率越低</a:t>
            </a:r>
          </a:p>
        </p:txBody>
      </p:sp>
      <p:sp>
        <p:nvSpPr>
          <p:cNvPr id="56" name="文字_解答题  ·  05-03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05-031</a:t>
            </a:r>
          </a:p>
        </p:txBody>
      </p:sp>
      <p:sp>
        <p:nvSpPr>
          <p:cNvPr id="57" name="文字_4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3"/>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03</a:t>
            </a:r>
          </a:p>
        </p:txBody>
      </p:sp>
      <p:sp>
        <p:nvSpPr>
          <p:cNvPr id="4" name="文字_氯气计算：酸性与还原性分开统计"/>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氯气计算：酸性与还原性分开统计</a:t>
            </a:r>
          </a:p>
        </p:txBody>
      </p:sp>
      <p:sp>
        <p:nvSpPr>
          <p:cNvPr id="5" name="文字_知识梳理 · 讲义 P131"/>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P131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氯气计算：酸性与还原性分开统计"/>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氯气计算：酸性与还原性分开统计</a:t>
            </a:r>
          </a:p>
        </p:txBody>
      </p:sp>
      <p:sp>
        <p:nvSpPr>
          <p:cNvPr id="5" name="文字_知识讲解 · P131"/>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P131</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MnO₂ + 4HCl(浓) —加热→ MnCl"/>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MnO₂ + 4HCl(浓) —加热→ MnCl₂ + Cl₂↑ + 2H₂O。</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每生成 1 mol Cl₂，转移 2 mol 电"/>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每生成 1 mol Cl₂，转移 2 mol 电子，消耗 1 mol MnO₂ 和 4 mol HCl。</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其中只有 2 mol HCl 中的 Cl⁻ 被氧"/>
          <p:cNvSpPr txBox="1"/>
          <p:nvPr/>
        </p:nvSpPr>
        <p:spPr>
          <a:xfrm>
            <a:off x="722376" y="2938272"/>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其中只有 2 mol HCl 中的 Cl⁻ 被氧化；另 2 mol HCl 主要提供 MnCl₂ 中的 </a:t>
            </a:r>
          </a:p>
          <a:p>
            <a:pPr>
              <a:lnSpc>
                <a:spcPct val="112000"/>
              </a:lnSpc>
              <a:spcBef>
                <a:spcPts val="0"/>
              </a:spcBef>
              <a:spcAft>
                <a:spcPts val="0"/>
              </a:spcAft>
              <a:defRPr sz="2400" b="0">
                <a:solidFill>
                  <a:srgbClr val="333333"/>
                </a:solidFill>
                <a:latin typeface="微软雅黑"/>
              </a:defRPr>
            </a:pPr>
            <a:r>
              <a:rPr>
                <a:ea typeface="微软雅黑"/>
              </a:rPr>
              <a:t>Cl⁻。</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盐酸在反应中逐渐变稀，实际实验不能无条件假设盐酸"/>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盐酸在反应中逐渐变稀，实际实验不能无条件假设盐酸完全耗尽。</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计算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氯气的计算 · 例题1</a:t>
            </a:r>
          </a:p>
        </p:txBody>
      </p:sp>
      <p:sp>
        <p:nvSpPr>
          <p:cNvPr id="5" name="文字_P13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P131</a:t>
            </a:r>
          </a:p>
        </p:txBody>
      </p:sp>
      <p:sp>
        <p:nvSpPr>
          <p:cNvPr id="6" name="文字_将0.2molMnO₂和含0.6molHCl的浓"/>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将0.2molMnO₂和含0.6molHCl的浓盐酸混合后加热，反应完全后向留下的溶液</a:t>
            </a:r>
          </a:p>
          <a:p>
            <a:pPr>
              <a:lnSpc>
                <a:spcPct val="112000"/>
              </a:lnSpc>
              <a:spcBef>
                <a:spcPts val="0"/>
              </a:spcBef>
              <a:spcAft>
                <a:spcPts val="0"/>
              </a:spcAft>
              <a:defRPr sz="2400" b="0">
                <a:solidFill>
                  <a:srgbClr val="333333"/>
                </a:solidFill>
                <a:latin typeface="微软雅黑"/>
              </a:defRPr>
            </a:pPr>
            <a:r>
              <a:rPr>
                <a:ea typeface="微软雅黑"/>
              </a:rPr>
              <a:t>中加入足量AgNO₃溶液，生成AgCl沉淀物质的量为(不考虑盐酸的挥发)</a:t>
            </a:r>
          </a:p>
        </p:txBody>
      </p:sp>
      <p:sp>
        <p:nvSpPr>
          <p:cNvPr id="7" name="文字_A. 等于0.3mol"/>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等于0.3mol</a:t>
            </a:r>
          </a:p>
        </p:txBody>
      </p:sp>
      <p:sp>
        <p:nvSpPr>
          <p:cNvPr id="8" name="文字_B. 小于0.3mol"/>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小于0.3mol</a:t>
            </a:r>
          </a:p>
        </p:txBody>
      </p:sp>
      <p:sp>
        <p:nvSpPr>
          <p:cNvPr id="9" name="文字_C. 大于0.3mol，小于0.6mol"/>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大于0.3mol，小于0.6mol</a:t>
            </a:r>
          </a:p>
        </p:txBody>
      </p:sp>
      <p:sp>
        <p:nvSpPr>
          <p:cNvPr id="10" name="文字_D. 等于0.6mol"/>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等于0.6mol</a:t>
            </a:r>
          </a:p>
        </p:txBody>
      </p:sp>
      <p:sp>
        <p:nvSpPr>
          <p:cNvPr id="11" name="文字_单选题  ·  05-03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05-032</a:t>
            </a:r>
          </a:p>
        </p:txBody>
      </p:sp>
      <p:sp>
        <p:nvSpPr>
          <p:cNvPr id="12" name="文字_4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计算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氯气的计算 · 例题2</a:t>
            </a:r>
          </a:p>
        </p:txBody>
      </p:sp>
      <p:sp>
        <p:nvSpPr>
          <p:cNvPr id="5" name="文字_P13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P131</a:t>
            </a:r>
          </a:p>
        </p:txBody>
      </p:sp>
      <p:sp>
        <p:nvSpPr>
          <p:cNvPr id="6" name="文字_实验室里通常用MnO₂与浓盐酸反应制取氯气，其反"/>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实验室里通常用MnO₂与浓盐酸反应制取氯气，其反应的化学方程式为：MnO₂ +</a:t>
            </a:r>
          </a:p>
          <a:p>
            <a:pPr>
              <a:lnSpc>
                <a:spcPct val="112000"/>
              </a:lnSpc>
              <a:spcBef>
                <a:spcPts val="0"/>
              </a:spcBef>
              <a:spcAft>
                <a:spcPts val="0"/>
              </a:spcAft>
              <a:defRPr sz="2400" b="0">
                <a:solidFill>
                  <a:srgbClr val="333333"/>
                </a:solidFill>
                <a:latin typeface="微软雅黑"/>
              </a:defRPr>
            </a:pPr>
            <a:r>
              <a:rPr>
                <a:ea typeface="微软雅黑"/>
              </a:rPr>
              <a:t> 4HCl(浓)≌MnCl₂ + Cl₂↑+2H₂O</a:t>
            </a:r>
          </a:p>
        </p:txBody>
      </p:sp>
      <p:sp>
        <p:nvSpPr>
          <p:cNvPr id="7" name="文字_(1)在该反应中，如有1 mol Cl₂生成，被"/>
          <p:cNvSpPr txBox="1"/>
          <p:nvPr/>
        </p:nvSpPr>
        <p:spPr>
          <a:xfrm>
            <a:off x="502920" y="188061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(1)在该反应中，如有1 mol Cl₂生成，被氧化的HCl的物质的量是 ______ mol，转</a:t>
            </a:r>
          </a:p>
          <a:p>
            <a:pPr>
              <a:lnSpc>
                <a:spcPct val="112000"/>
              </a:lnSpc>
              <a:spcBef>
                <a:spcPts val="0"/>
              </a:spcBef>
              <a:spcAft>
                <a:spcPts val="0"/>
              </a:spcAft>
              <a:defRPr sz="2400" b="0">
                <a:solidFill>
                  <a:srgbClr val="333333"/>
                </a:solidFill>
                <a:latin typeface="微软雅黑"/>
              </a:defRPr>
            </a:pPr>
            <a:r>
              <a:rPr>
                <a:ea typeface="微软雅黑"/>
              </a:rPr>
              <a:t>移电子的物质的量是 ______ molo</a:t>
            </a:r>
          </a:p>
        </p:txBody>
      </p:sp>
      <p:sp>
        <p:nvSpPr>
          <p:cNvPr id="8" name="文字_(2)某温度下，将Cl₂通入NaOH溶液中，反应"/>
          <p:cNvSpPr txBox="1"/>
          <p:nvPr/>
        </p:nvSpPr>
        <p:spPr>
          <a:xfrm>
            <a:off x="502920" y="268224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(2)某温度下，将Cl₂通入NaOH溶液中，反应得到含有ClO与C₁O₃⁻物质的量之比</a:t>
            </a:r>
          </a:p>
          <a:p>
            <a:pPr>
              <a:lnSpc>
                <a:spcPct val="112000"/>
              </a:lnSpc>
              <a:spcBef>
                <a:spcPts val="0"/>
              </a:spcBef>
              <a:spcAft>
                <a:spcPts val="0"/>
              </a:spcAft>
              <a:defRPr sz="2400" b="0">
                <a:solidFill>
                  <a:srgbClr val="333333"/>
                </a:solidFill>
                <a:latin typeface="微软雅黑"/>
              </a:defRPr>
            </a:pPr>
            <a:r>
              <a:rPr>
                <a:ea typeface="微软雅黑"/>
              </a:rPr>
              <a:t>为1：1的混合液，反应的化学方程式是</a:t>
            </a:r>
          </a:p>
        </p:txBody>
      </p:sp>
      <p:sp>
        <p:nvSpPr>
          <p:cNvPr id="9" name="文字_(3)报纸报道了多起卫生间清洗时，因混合使用“洁"/>
          <p:cNvSpPr txBox="1"/>
          <p:nvPr/>
        </p:nvSpPr>
        <p:spPr>
          <a:xfrm>
            <a:off x="502920" y="3483863"/>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(3)报纸报道了多起卫生间清洗时，因混合使用“洁厕灵”(主要成分是盐酸)与“84</a:t>
            </a:r>
          </a:p>
          <a:p>
            <a:pPr>
              <a:lnSpc>
                <a:spcPct val="112000"/>
              </a:lnSpc>
              <a:spcBef>
                <a:spcPts val="0"/>
              </a:spcBef>
              <a:spcAft>
                <a:spcPts val="0"/>
              </a:spcAft>
              <a:defRPr sz="2400" b="0">
                <a:solidFill>
                  <a:srgbClr val="333333"/>
                </a:solidFill>
                <a:latin typeface="微软雅黑"/>
              </a:defRPr>
            </a:pPr>
            <a:r>
              <a:rPr>
                <a:ea typeface="微软雅黑"/>
              </a:rPr>
              <a:t>消毒液”(主要成分是NaC₁O)发生氯气中毒的事件。试根据你的化学知识分析，原</a:t>
            </a:r>
          </a:p>
          <a:p>
            <a:pPr>
              <a:lnSpc>
                <a:spcPct val="112000"/>
              </a:lnSpc>
              <a:spcBef>
                <a:spcPts val="0"/>
              </a:spcBef>
              <a:spcAft>
                <a:spcPts val="0"/>
              </a:spcAft>
              <a:defRPr sz="2400" b="0">
                <a:solidFill>
                  <a:srgbClr val="333333"/>
                </a:solidFill>
                <a:latin typeface="微软雅黑"/>
              </a:defRPr>
            </a:pPr>
            <a:r>
              <a:rPr>
                <a:ea typeface="微软雅黑"/>
              </a:rPr>
              <a:t>因是(用离子方程式表示) ______ o</a:t>
            </a:r>
          </a:p>
        </p:txBody>
      </p:sp>
      <p:sp>
        <p:nvSpPr>
          <p:cNvPr id="10" name="文字_填空题  ·  05-03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05-033</a:t>
            </a:r>
          </a:p>
        </p:txBody>
      </p:sp>
      <p:sp>
        <p:nvSpPr>
          <p:cNvPr id="11" name="文字_4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计算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氯气的计算 · 例题3</a:t>
            </a:r>
          </a:p>
        </p:txBody>
      </p:sp>
      <p:sp>
        <p:nvSpPr>
          <p:cNvPr id="5" name="文字_P13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P131</a:t>
            </a:r>
          </a:p>
        </p:txBody>
      </p:sp>
      <p:sp>
        <p:nvSpPr>
          <p:cNvPr id="6" name="文字_实验室制Cl₂的反应为4HCl(浓)十MnO₂M"/>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实验室制Cl₂的反应为4HCl(浓)十MnO₂MnCl₂ + C₁₂↑+2H₂O，下列说法错误</a:t>
            </a:r>
          </a:p>
          <a:p>
            <a:pPr>
              <a:lnSpc>
                <a:spcPct val="112000"/>
              </a:lnSpc>
              <a:spcBef>
                <a:spcPts val="0"/>
              </a:spcBef>
              <a:spcAft>
                <a:spcPts val="0"/>
              </a:spcAft>
              <a:defRPr sz="2400" b="0">
                <a:solidFill>
                  <a:srgbClr val="333333"/>
                </a:solidFill>
                <a:latin typeface="微软雅黑"/>
              </a:defRPr>
            </a:pPr>
            <a:r>
              <a:rPr>
                <a:ea typeface="微软雅黑"/>
              </a:rPr>
              <a:t>的是</a:t>
            </a:r>
          </a:p>
        </p:txBody>
      </p:sp>
      <p:sp>
        <p:nvSpPr>
          <p:cNvPr id="7" name="文字_A. 还原剂是HCl，氧化剂是MnO₂"/>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还原剂是HCl，氧化剂是MnO₂</a:t>
            </a:r>
          </a:p>
        </p:txBody>
      </p:sp>
      <p:sp>
        <p:nvSpPr>
          <p:cNvPr id="8" name="文字_B. 每生成1.12LCl₂，转移电子的物质的量"/>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每生成1.12LCl₂，转移电子的物质的量为0.1 mol</a:t>
            </a:r>
          </a:p>
        </p:txBody>
      </p:sp>
      <p:sp>
        <p:nvSpPr>
          <p:cNvPr id="9" name="文字_C. 每消耗8.7 gMnO₂，被氧化的HCl的"/>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每消耗8.7 gMnO₂，被氧化的HCl的物质的量为0.2mol</a:t>
            </a:r>
          </a:p>
        </p:txBody>
      </p:sp>
      <p:sp>
        <p:nvSpPr>
          <p:cNvPr id="10" name="文字_D. 生成的Cl₂中，除含有一些水蒸气外，还含有"/>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生成的Cl₂中，除含有一些水蒸气外，还含有HCl杂质</a:t>
            </a:r>
          </a:p>
        </p:txBody>
      </p:sp>
      <p:sp>
        <p:nvSpPr>
          <p:cNvPr id="11" name="文字_单选题  ·  05-03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05-034</a:t>
            </a:r>
          </a:p>
        </p:txBody>
      </p:sp>
      <p:sp>
        <p:nvSpPr>
          <p:cNvPr id="12" name="文字_4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4"/>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04</a:t>
            </a:r>
          </a:p>
        </p:txBody>
      </p:sp>
      <p:sp>
        <p:nvSpPr>
          <p:cNvPr id="4" name="文字_氯气与碱反应：三种守恒关系"/>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氯气与碱反应：三种守恒关系</a:t>
            </a:r>
          </a:p>
        </p:txBody>
      </p:sp>
      <p:sp>
        <p:nvSpPr>
          <p:cNvPr id="5" name="文字_知识梳理 · 讲义 P132"/>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P132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氯气与碱反应：三种守恒关系"/>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氯气与碱反应：三种守恒关系</a:t>
            </a:r>
          </a:p>
        </p:txBody>
      </p:sp>
      <p:sp>
        <p:nvSpPr>
          <p:cNvPr id="5" name="文字_知识讲解 · P132"/>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P132</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若产物同时含 Cl⁻、ClO⁻、ClO₃⁻，用电"/>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若产物同时含 Cl⁻、ClO⁻、ClO₃⁻，用电子守恒区分不同产物的比例。</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电子守恒：n(Cl⁻) = n(ClO⁻) + "/>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电子守恒：n(Cl⁻) = n(ClO⁻) + 5n(ClO₃⁻)。</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氯元素守恒：2n(Cl₂) = n(Cl⁻) +"/>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氯元素守恒：2n(Cl₂) = n(Cl⁻) + n(ClO⁻) + n(ClO₃⁻)。</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若 NaOH 恰好反应完全：n(Na⁺) = n"/>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若 NaOH 恰好反应完全：n(Na⁺) = n(Cl⁻) + n(ClO⁻) + n(ClO₃⁻)。</a:t>
            </a:r>
          </a:p>
        </p:txBody>
      </p:sp>
      <p:sp>
        <p:nvSpPr>
          <p:cNvPr id="14" name="Rectangle 13"/>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提示  有剩余 NaOH 时，电荷守恒式还需包含"/>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有剩余 NaOH 时，电荷守恒式还需包含 OH⁻；不能漏项。</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计算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氯气的计算 · 例题1</a:t>
            </a:r>
          </a:p>
        </p:txBody>
      </p:sp>
      <p:sp>
        <p:nvSpPr>
          <p:cNvPr id="5" name="文字_P13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P132</a:t>
            </a:r>
          </a:p>
        </p:txBody>
      </p:sp>
      <p:sp>
        <p:nvSpPr>
          <p:cNvPr id="6" name="文字_某温度下，将C₁₂通入NaOH溶液，反应得NaC"/>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某温度下，将C₁₂通入NaOH溶液，反应得NaCl、NaClO、NaClO₃混合液，测定</a:t>
            </a:r>
          </a:p>
          <a:p>
            <a:pPr>
              <a:lnSpc>
                <a:spcPct val="112000"/>
              </a:lnSpc>
              <a:spcBef>
                <a:spcPts val="0"/>
              </a:spcBef>
              <a:spcAft>
                <a:spcPts val="0"/>
              </a:spcAft>
              <a:defRPr sz="2400" b="0">
                <a:solidFill>
                  <a:srgbClr val="333333"/>
                </a:solidFill>
                <a:latin typeface="微软雅黑"/>
              </a:defRPr>
            </a:pPr>
            <a:r>
              <a:rPr>
                <a:ea typeface="微软雅黑"/>
              </a:rPr>
              <a:t>ClO-与ClO₃⁻浓度之比为1：3，则Cl₂与NaOH溶液反应时被还原的氯元素与被氧</a:t>
            </a:r>
          </a:p>
          <a:p>
            <a:pPr>
              <a:lnSpc>
                <a:spcPct val="112000"/>
              </a:lnSpc>
              <a:spcBef>
                <a:spcPts val="0"/>
              </a:spcBef>
              <a:spcAft>
                <a:spcPts val="0"/>
              </a:spcAft>
              <a:defRPr sz="2400" b="0">
                <a:solidFill>
                  <a:srgbClr val="333333"/>
                </a:solidFill>
                <a:latin typeface="微软雅黑"/>
              </a:defRPr>
            </a:pPr>
            <a:r>
              <a:rPr>
                <a:ea typeface="微软雅黑"/>
              </a:rPr>
              <a:t>化的氯元素的物质的量之比（）</a:t>
            </a:r>
          </a:p>
        </p:txBody>
      </p:sp>
      <p:sp>
        <p:nvSpPr>
          <p:cNvPr id="7" name="文字_A. 21 : 5"/>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21 : 5</a:t>
            </a:r>
          </a:p>
        </p:txBody>
      </p:sp>
      <p:sp>
        <p:nvSpPr>
          <p:cNvPr id="8" name="文字_B. 11 : 3"/>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11 : 3</a:t>
            </a:r>
          </a:p>
        </p:txBody>
      </p:sp>
      <p:sp>
        <p:nvSpPr>
          <p:cNvPr id="9" name="文字_C. 3: 1"/>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3: 1</a:t>
            </a:r>
          </a:p>
        </p:txBody>
      </p:sp>
      <p:sp>
        <p:nvSpPr>
          <p:cNvPr id="10" name="文字_D. 4 : 1"/>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4 : 1</a:t>
            </a:r>
          </a:p>
        </p:txBody>
      </p:sp>
      <p:sp>
        <p:nvSpPr>
          <p:cNvPr id="11" name="文字_单选题  ·  05-03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05-035</a:t>
            </a:r>
          </a:p>
        </p:txBody>
      </p:sp>
      <p:sp>
        <p:nvSpPr>
          <p:cNvPr id="12" name="文字_4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计算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氯气的计算 · 例题2</a:t>
            </a:r>
          </a:p>
        </p:txBody>
      </p:sp>
      <p:sp>
        <p:nvSpPr>
          <p:cNvPr id="5" name="文字_P13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P132</a:t>
            </a:r>
          </a:p>
        </p:txBody>
      </p:sp>
      <p:sp>
        <p:nvSpPr>
          <p:cNvPr id="6" name="文字_将一定量的Cl₂通入一定浓度的苛性钾溶液中，两者"/>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将一定量的Cl₂通入一定浓度的苛性钾溶液中，两者恰好完全反应（已知反应过程</a:t>
            </a:r>
          </a:p>
          <a:p>
            <a:pPr>
              <a:lnSpc>
                <a:spcPct val="112000"/>
              </a:lnSpc>
              <a:spcBef>
                <a:spcPts val="0"/>
              </a:spcBef>
              <a:spcAft>
                <a:spcPts val="0"/>
              </a:spcAft>
              <a:defRPr sz="2400" b="0">
                <a:solidFill>
                  <a:srgbClr val="333333"/>
                </a:solidFill>
                <a:latin typeface="微软雅黑"/>
              </a:defRPr>
            </a:pPr>
            <a:r>
              <a:rPr>
                <a:ea typeface="微软雅黑"/>
              </a:rPr>
              <a:t>放热)，生成物中有三种含氯元素的离子，其中C₁O和C₁O₃两种离子的物质的量</a:t>
            </a:r>
          </a:p>
          <a:p>
            <a:pPr>
              <a:lnSpc>
                <a:spcPct val="112000"/>
              </a:lnSpc>
              <a:spcBef>
                <a:spcPts val="0"/>
              </a:spcBef>
              <a:spcAft>
                <a:spcPts val="0"/>
              </a:spcAft>
              <a:defRPr sz="2400" b="0">
                <a:solidFill>
                  <a:srgbClr val="333333"/>
                </a:solidFill>
                <a:latin typeface="微软雅黑"/>
              </a:defRPr>
            </a:pPr>
            <a:r>
              <a:rPr>
                <a:ea typeface="微软雅黑"/>
              </a:rPr>
              <a:t>（n）与反应时间（t）的变化示意图如图所示.下列说法不正确的是（）</a:t>
            </a:r>
          </a:p>
        </p:txBody>
      </p:sp>
      <p:pic>
        <p:nvPicPr>
          <p:cNvPr id="7" name="Picture 6" descr="image.png"/>
          <p:cNvPicPr>
            <a:picLocks noChangeAspect="1"/>
          </p:cNvPicPr>
          <p:nvPr/>
        </p:nvPicPr>
        <p:blipFill>
          <a:blip r:embed="rId3"/>
          <a:stretch>
            <a:fillRect/>
          </a:stretch>
        </p:blipFill>
        <p:spPr>
          <a:xfrm>
            <a:off x="502920" y="2243328"/>
            <a:ext cx="11064240" cy="1784060"/>
          </a:xfrm>
          <a:prstGeom prst="rect">
            <a:avLst/>
          </a:prstGeom>
        </p:spPr>
      </p:pic>
      <p:sp>
        <p:nvSpPr>
          <p:cNvPr id="8" name="原题文字_132_22"/>
          <p:cNvSpPr txBox="1"/>
          <p:nvPr/>
        </p:nvSpPr>
        <p:spPr>
          <a:xfrm>
            <a:off x="594802" y="2321153"/>
            <a:ext cx="499357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A. Cl₂和苛性钾溶液在不同温度下可能发生不同反应</a:t>
            </a:r>
          </a:p>
        </p:txBody>
      </p:sp>
      <p:sp>
        <p:nvSpPr>
          <p:cNvPr id="9" name="原题文字_132_23"/>
          <p:cNvSpPr txBox="1"/>
          <p:nvPr/>
        </p:nvSpPr>
        <p:spPr>
          <a:xfrm>
            <a:off x="9453851" y="2275211"/>
            <a:ext cx="690387" cy="338435"/>
          </a:xfrm>
          <a:prstGeom prst="rect">
            <a:avLst/>
          </a:prstGeom>
          <a:noFill/>
        </p:spPr>
        <p:txBody>
          <a:bodyPr wrap="none" lIns="0" rIns="0" tIns="0" bIns="0">
            <a:spAutoFit/>
          </a:bodyPr>
          <a:lstStyle/>
          <a:p>
            <a:pPr>
              <a:lnSpc>
                <a:spcPct val="112000"/>
              </a:lnSpc>
              <a:spcBef>
                <a:spcPts val="0"/>
              </a:spcBef>
              <a:spcAft>
                <a:spcPts val="0"/>
              </a:spcAft>
              <a:defRPr sz="1614" b="0">
                <a:solidFill>
                  <a:srgbClr val="333333"/>
                </a:solidFill>
                <a:latin typeface="微软雅黑"/>
              </a:defRPr>
            </a:pPr>
            <a:r>
              <a:rPr>
                <a:ea typeface="微软雅黑"/>
              </a:rPr>
              <a:t>↑n/mol</a:t>
            </a:r>
          </a:p>
        </p:txBody>
      </p:sp>
      <p:sp>
        <p:nvSpPr>
          <p:cNvPr id="10" name="原题文字_132_24"/>
          <p:cNvSpPr txBox="1"/>
          <p:nvPr/>
        </p:nvSpPr>
        <p:spPr>
          <a:xfrm>
            <a:off x="9132261" y="2566174"/>
            <a:ext cx="460680"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0.06</a:t>
            </a:r>
          </a:p>
        </p:txBody>
      </p:sp>
      <p:sp>
        <p:nvSpPr>
          <p:cNvPr id="11" name="原题文字_132_25"/>
          <p:cNvSpPr txBox="1"/>
          <p:nvPr/>
        </p:nvSpPr>
        <p:spPr>
          <a:xfrm>
            <a:off x="10885694" y="2589145"/>
            <a:ext cx="453023" cy="298619"/>
          </a:xfrm>
          <a:prstGeom prst="rect">
            <a:avLst/>
          </a:prstGeom>
          <a:noFill/>
        </p:spPr>
        <p:txBody>
          <a:bodyPr wrap="none" lIns="0" rIns="0" tIns="0" bIns="0">
            <a:spAutoFit/>
          </a:bodyPr>
          <a:lstStyle/>
          <a:p>
            <a:pPr>
              <a:lnSpc>
                <a:spcPct val="112000"/>
              </a:lnSpc>
              <a:spcBef>
                <a:spcPts val="0"/>
              </a:spcBef>
              <a:spcAft>
                <a:spcPts val="0"/>
              </a:spcAft>
              <a:defRPr sz="1233" b="0">
                <a:solidFill>
                  <a:srgbClr val="333333"/>
                </a:solidFill>
                <a:latin typeface="微软雅黑"/>
              </a:defRPr>
            </a:pPr>
            <a:r>
              <a:rPr>
                <a:ea typeface="微软雅黑"/>
              </a:rPr>
              <a:t>C₁O⁻</a:t>
            </a:r>
          </a:p>
        </p:txBody>
      </p:sp>
      <p:sp>
        <p:nvSpPr>
          <p:cNvPr id="12" name="原题文字_132_26"/>
          <p:cNvSpPr txBox="1"/>
          <p:nvPr/>
        </p:nvSpPr>
        <p:spPr>
          <a:xfrm>
            <a:off x="556518" y="2681028"/>
            <a:ext cx="3018089" cy="418067"/>
          </a:xfrm>
          <a:prstGeom prst="rect">
            <a:avLst/>
          </a:prstGeom>
          <a:noFill/>
        </p:spPr>
        <p:txBody>
          <a:bodyPr wrap="none" lIns="0" rIns="0" tIns="0" bIns="0">
            <a:spAutoFit/>
          </a:bodyPr>
          <a:lstStyle/>
          <a:p>
            <a:pPr>
              <a:lnSpc>
                <a:spcPct val="112000"/>
              </a:lnSpc>
              <a:spcBef>
                <a:spcPts val="0"/>
              </a:spcBef>
              <a:spcAft>
                <a:spcPts val="0"/>
              </a:spcAft>
              <a:defRPr sz="1754" b="0">
                <a:solidFill>
                  <a:srgbClr val="333333"/>
                </a:solidFill>
                <a:latin typeface="微软雅黑"/>
              </a:defRPr>
            </a:pPr>
            <a:r>
              <a:rPr>
                <a:ea typeface="微软雅黑"/>
              </a:rPr>
              <a:t>B. 反应中转移电子数为0.21NA</a:t>
            </a:r>
          </a:p>
        </p:txBody>
      </p:sp>
      <p:sp>
        <p:nvSpPr>
          <p:cNvPr id="13" name="原题文字_132_27"/>
          <p:cNvSpPr txBox="1"/>
          <p:nvPr/>
        </p:nvSpPr>
        <p:spPr>
          <a:xfrm>
            <a:off x="587146" y="3094501"/>
            <a:ext cx="4319764"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C. 原苛性钾溶液中KOH的物质的量无法确定</a:t>
            </a:r>
          </a:p>
        </p:txBody>
      </p:sp>
      <p:sp>
        <p:nvSpPr>
          <p:cNvPr id="14" name="原题文字_132_28"/>
          <p:cNvSpPr txBox="1"/>
          <p:nvPr/>
        </p:nvSpPr>
        <p:spPr>
          <a:xfrm>
            <a:off x="9155232" y="3102158"/>
            <a:ext cx="445366"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0.03</a:t>
            </a:r>
          </a:p>
        </p:txBody>
      </p:sp>
      <p:sp>
        <p:nvSpPr>
          <p:cNvPr id="15" name="原题文字_132_29"/>
          <p:cNvSpPr txBox="1"/>
          <p:nvPr/>
        </p:nvSpPr>
        <p:spPr>
          <a:xfrm>
            <a:off x="10855067" y="3071530"/>
            <a:ext cx="514278" cy="378251"/>
          </a:xfrm>
          <a:prstGeom prst="rect">
            <a:avLst/>
          </a:prstGeom>
          <a:noFill/>
        </p:spPr>
        <p:txBody>
          <a:bodyPr wrap="none" lIns="0" rIns="0" tIns="0" bIns="0">
            <a:spAutoFit/>
          </a:bodyPr>
          <a:lstStyle/>
          <a:p>
            <a:pPr>
              <a:lnSpc>
                <a:spcPct val="112000"/>
              </a:lnSpc>
              <a:spcBef>
                <a:spcPts val="0"/>
              </a:spcBef>
              <a:spcAft>
                <a:spcPts val="0"/>
              </a:spcAft>
              <a:defRPr sz="1225" b="0">
                <a:solidFill>
                  <a:srgbClr val="333333"/>
                </a:solidFill>
                <a:latin typeface="微软雅黑"/>
              </a:defRPr>
            </a:pPr>
            <a:r>
              <a:rPr>
                <a:ea typeface="微软雅黑"/>
              </a:rPr>
              <a:t>-C₁O₃</a:t>
            </a:r>
          </a:p>
        </p:txBody>
      </p:sp>
      <p:sp>
        <p:nvSpPr>
          <p:cNvPr id="16" name="原题文字_132_30"/>
          <p:cNvSpPr txBox="1"/>
          <p:nvPr/>
        </p:nvSpPr>
        <p:spPr>
          <a:xfrm>
            <a:off x="571832" y="3462033"/>
            <a:ext cx="4518844"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D. 参加反应的Cl₂的体积为3.36L（标准状况下）</a:t>
            </a:r>
          </a:p>
        </p:txBody>
      </p:sp>
      <p:sp>
        <p:nvSpPr>
          <p:cNvPr id="17" name="原题文字_132_31"/>
          <p:cNvSpPr txBox="1"/>
          <p:nvPr/>
        </p:nvSpPr>
        <p:spPr>
          <a:xfrm>
            <a:off x="9966865" y="3775966"/>
            <a:ext cx="246286"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t</a:t>
            </a:r>
          </a:p>
        </p:txBody>
      </p:sp>
      <p:sp>
        <p:nvSpPr>
          <p:cNvPr id="18" name="原题文字_132_32"/>
          <p:cNvSpPr txBox="1"/>
          <p:nvPr/>
        </p:nvSpPr>
        <p:spPr>
          <a:xfrm>
            <a:off x="10456907" y="3760652"/>
            <a:ext cx="29222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t2</a:t>
            </a:r>
          </a:p>
        </p:txBody>
      </p:sp>
      <p:sp>
        <p:nvSpPr>
          <p:cNvPr id="19" name="原题文字_132_33"/>
          <p:cNvSpPr txBox="1"/>
          <p:nvPr/>
        </p:nvSpPr>
        <p:spPr>
          <a:xfrm>
            <a:off x="10946950" y="3775966"/>
            <a:ext cx="353483"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t/s</a:t>
            </a:r>
          </a:p>
        </p:txBody>
      </p:sp>
      <p:sp>
        <p:nvSpPr>
          <p:cNvPr id="20" name="文字_单选题  ·  05-03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05-036</a:t>
            </a:r>
          </a:p>
        </p:txBody>
      </p:sp>
      <p:sp>
        <p:nvSpPr>
          <p:cNvPr id="21" name="文字_4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计算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氯气的计算 · 例题3</a:t>
            </a:r>
          </a:p>
        </p:txBody>
      </p:sp>
      <p:sp>
        <p:nvSpPr>
          <p:cNvPr id="5" name="文字_P13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P132</a:t>
            </a:r>
          </a:p>
        </p:txBody>
      </p:sp>
      <p:sp>
        <p:nvSpPr>
          <p:cNvPr id="6" name="文字_在不同温度、浓度的条件下，Cl₂与NaOH溶液的"/>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在不同温度、浓度的条件下，Cl₂与NaOH溶液的反应，可以生成NaClO或</a:t>
            </a:r>
          </a:p>
          <a:p>
            <a:pPr>
              <a:lnSpc>
                <a:spcPct val="112000"/>
              </a:lnSpc>
              <a:spcBef>
                <a:spcPts val="0"/>
              </a:spcBef>
              <a:spcAft>
                <a:spcPts val="0"/>
              </a:spcAft>
              <a:defRPr sz="2400" b="0">
                <a:solidFill>
                  <a:srgbClr val="333333"/>
                </a:solidFill>
                <a:latin typeface="微软雅黑"/>
              </a:defRPr>
            </a:pPr>
            <a:r>
              <a:rPr>
                <a:ea typeface="微软雅黑"/>
              </a:rPr>
              <a:t>NaClO₃。现将氯气缓缓通入冷NaOH溶液，测得C₁O⁻、C₁O₅物质的量n(mol)</a:t>
            </a:r>
          </a:p>
          <a:p>
            <a:pPr>
              <a:lnSpc>
                <a:spcPct val="112000"/>
              </a:lnSpc>
              <a:spcBef>
                <a:spcPts val="0"/>
              </a:spcBef>
              <a:spcAft>
                <a:spcPts val="0"/>
              </a:spcAft>
              <a:defRPr sz="2400" b="0">
                <a:solidFill>
                  <a:srgbClr val="333333"/>
                </a:solidFill>
                <a:latin typeface="微软雅黑"/>
              </a:defRPr>
            </a:pPr>
            <a:r>
              <a:rPr>
                <a:ea typeface="微软雅黑"/>
              </a:rPr>
              <a:t>与反应时间t(min)的关系曲线如图。下列说法错误的是</a:t>
            </a:r>
          </a:p>
        </p:txBody>
      </p:sp>
      <p:pic>
        <p:nvPicPr>
          <p:cNvPr id="7" name="Picture 6" descr="image.png"/>
          <p:cNvPicPr>
            <a:picLocks noChangeAspect="1"/>
          </p:cNvPicPr>
          <p:nvPr/>
        </p:nvPicPr>
        <p:blipFill>
          <a:blip r:embed="rId3"/>
          <a:stretch>
            <a:fillRect/>
          </a:stretch>
        </p:blipFill>
        <p:spPr>
          <a:xfrm>
            <a:off x="502920" y="2243328"/>
            <a:ext cx="11064240" cy="2320044"/>
          </a:xfrm>
          <a:prstGeom prst="rect">
            <a:avLst/>
          </a:prstGeom>
        </p:spPr>
      </p:pic>
      <p:sp>
        <p:nvSpPr>
          <p:cNvPr id="8" name="原题文字_132_39"/>
          <p:cNvSpPr txBox="1"/>
          <p:nvPr/>
        </p:nvSpPr>
        <p:spPr>
          <a:xfrm>
            <a:off x="564175" y="2282868"/>
            <a:ext cx="5207966" cy="457883"/>
          </a:xfrm>
          <a:prstGeom prst="rect">
            <a:avLst/>
          </a:prstGeom>
          <a:noFill/>
        </p:spPr>
        <p:txBody>
          <a:bodyPr wrap="none" lIns="0" rIns="0" tIns="0" bIns="0">
            <a:spAutoFit/>
          </a:bodyPr>
          <a:lstStyle/>
          <a:p>
            <a:pPr>
              <a:lnSpc>
                <a:spcPct val="112000"/>
              </a:lnSpc>
              <a:spcBef>
                <a:spcPts val="0"/>
              </a:spcBef>
              <a:spcAft>
                <a:spcPts val="0"/>
              </a:spcAft>
              <a:defRPr sz="1464" b="0">
                <a:solidFill>
                  <a:srgbClr val="333333"/>
                </a:solidFill>
                <a:latin typeface="微软雅黑"/>
              </a:defRPr>
            </a:pPr>
            <a:r>
              <a:rPr>
                <a:ea typeface="微软雅黑"/>
              </a:rPr>
              <a:t>A. t1之前发生的反应:： Cl₂ + 2NaOH=NaCl + NaClO + H₂O</a:t>
            </a:r>
          </a:p>
        </p:txBody>
      </p:sp>
      <p:sp>
        <p:nvSpPr>
          <p:cNvPr id="9" name="原题文字_132_40"/>
          <p:cNvSpPr txBox="1"/>
          <p:nvPr/>
        </p:nvSpPr>
        <p:spPr>
          <a:xfrm>
            <a:off x="7156777" y="2275211"/>
            <a:ext cx="743986" cy="368297"/>
          </a:xfrm>
          <a:prstGeom prst="rect">
            <a:avLst/>
          </a:prstGeom>
          <a:noFill/>
        </p:spPr>
        <p:txBody>
          <a:bodyPr wrap="non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n/mol ↑</a:t>
            </a:r>
          </a:p>
        </p:txBody>
      </p:sp>
      <p:sp>
        <p:nvSpPr>
          <p:cNvPr id="10" name="原题文字_132_41"/>
          <p:cNvSpPr txBox="1"/>
          <p:nvPr/>
        </p:nvSpPr>
        <p:spPr>
          <a:xfrm>
            <a:off x="556518" y="2688685"/>
            <a:ext cx="4021145" cy="398159"/>
          </a:xfrm>
          <a:prstGeom prst="rect">
            <a:avLst/>
          </a:prstGeom>
          <a:noFill/>
        </p:spPr>
        <p:txBody>
          <a:bodyPr wrap="none" lIns="0" rIns="0" tIns="0" bIns="0">
            <a:spAutoFit/>
          </a:bodyPr>
          <a:lstStyle/>
          <a:p>
            <a:pPr>
              <a:lnSpc>
                <a:spcPct val="112000"/>
              </a:lnSpc>
              <a:spcBef>
                <a:spcPts val="0"/>
              </a:spcBef>
              <a:spcAft>
                <a:spcPts val="0"/>
              </a:spcAft>
              <a:defRPr sz="1662" b="0">
                <a:solidFill>
                  <a:srgbClr val="333333"/>
                </a:solidFill>
                <a:latin typeface="微软雅黑"/>
              </a:defRPr>
            </a:pPr>
            <a:r>
              <a:rPr>
                <a:ea typeface="微软雅黑"/>
              </a:rPr>
              <a:t>B. a点时溶液中n(NaCl)：n(NaClO₃)=5：1</a:t>
            </a:r>
          </a:p>
        </p:txBody>
      </p:sp>
      <p:sp>
        <p:nvSpPr>
          <p:cNvPr id="11" name="原题文字_132_42"/>
          <p:cNvSpPr txBox="1"/>
          <p:nvPr/>
        </p:nvSpPr>
        <p:spPr>
          <a:xfrm>
            <a:off x="10326740" y="2658057"/>
            <a:ext cx="537249" cy="388205"/>
          </a:xfrm>
          <a:prstGeom prst="rect">
            <a:avLst/>
          </a:prstGeom>
          <a:noFill/>
        </p:spPr>
        <p:txBody>
          <a:bodyPr wrap="none" lIns="0" rIns="0" tIns="0" bIns="0">
            <a:spAutoFit/>
          </a:bodyPr>
          <a:lstStyle/>
          <a:p>
            <a:pPr>
              <a:lnSpc>
                <a:spcPct val="112000"/>
              </a:lnSpc>
              <a:spcBef>
                <a:spcPts val="0"/>
              </a:spcBef>
              <a:spcAft>
                <a:spcPts val="0"/>
              </a:spcAft>
              <a:defRPr sz="1719" b="0">
                <a:solidFill>
                  <a:srgbClr val="333333"/>
                </a:solidFill>
                <a:latin typeface="微软雅黑"/>
              </a:defRPr>
            </a:pPr>
            <a:r>
              <a:rPr>
                <a:ea typeface="微软雅黑"/>
              </a:rPr>
              <a:t>ClO₃</a:t>
            </a:r>
          </a:p>
        </p:txBody>
      </p:sp>
      <p:sp>
        <p:nvSpPr>
          <p:cNvPr id="12" name="原题文字_132_43"/>
          <p:cNvSpPr txBox="1"/>
          <p:nvPr/>
        </p:nvSpPr>
        <p:spPr>
          <a:xfrm>
            <a:off x="9208830" y="2834166"/>
            <a:ext cx="169717" cy="189125"/>
          </a:xfrm>
          <a:prstGeom prst="rect">
            <a:avLst/>
          </a:prstGeom>
          <a:noFill/>
        </p:spPr>
        <p:txBody>
          <a:bodyPr wrap="none" lIns="0" rIns="0" tIns="0" bIns="0">
            <a:spAutoFit/>
          </a:bodyPr>
          <a:lstStyle/>
          <a:p>
            <a:pPr>
              <a:lnSpc>
                <a:spcPct val="112000"/>
              </a:lnSpc>
              <a:spcBef>
                <a:spcPts val="0"/>
              </a:spcBef>
              <a:spcAft>
                <a:spcPts val="0"/>
              </a:spcAft>
              <a:defRPr sz="916" b="0">
                <a:solidFill>
                  <a:srgbClr val="333333"/>
                </a:solidFill>
                <a:latin typeface="微软雅黑"/>
              </a:defRPr>
            </a:pPr>
            <a:r>
              <a:rPr>
                <a:ea typeface="微软雅黑"/>
              </a:rPr>
              <a:t>a</a:t>
            </a:r>
          </a:p>
        </p:txBody>
      </p:sp>
      <p:sp>
        <p:nvSpPr>
          <p:cNvPr id="13" name="原题文字_132_44"/>
          <p:cNvSpPr txBox="1"/>
          <p:nvPr/>
        </p:nvSpPr>
        <p:spPr>
          <a:xfrm>
            <a:off x="556518" y="3063873"/>
            <a:ext cx="6341189" cy="408113"/>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C. t2~t4，ClO-离子的物质的量下降的原因可能是发生反应：3 C₁O⁻</a:t>
            </a:r>
          </a:p>
        </p:txBody>
      </p:sp>
      <p:sp>
        <p:nvSpPr>
          <p:cNvPr id="14" name="原题文字_132_45"/>
          <p:cNvSpPr txBox="1"/>
          <p:nvPr/>
        </p:nvSpPr>
        <p:spPr>
          <a:xfrm>
            <a:off x="870451" y="3393121"/>
            <a:ext cx="1325911" cy="428021"/>
          </a:xfrm>
          <a:prstGeom prst="rect">
            <a:avLst/>
          </a:prstGeom>
          <a:noFill/>
        </p:spPr>
        <p:txBody>
          <a:bodyPr wrap="none" lIns="0" rIns="0" tIns="0" bIns="0">
            <a:spAutoFit/>
          </a:bodyPr>
          <a:lstStyle/>
          <a:p>
            <a:pPr>
              <a:lnSpc>
                <a:spcPct val="112000"/>
              </a:lnSpc>
              <a:spcBef>
                <a:spcPts val="0"/>
              </a:spcBef>
              <a:spcAft>
                <a:spcPts val="0"/>
              </a:spcAft>
              <a:defRPr sz="1748" b="0">
                <a:solidFill>
                  <a:srgbClr val="333333"/>
                </a:solidFill>
                <a:latin typeface="微软雅黑"/>
              </a:defRPr>
            </a:pPr>
            <a:r>
              <a:rPr>
                <a:ea typeface="微软雅黑"/>
              </a:rPr>
              <a:t>=2Cl + ClO₃</a:t>
            </a:r>
          </a:p>
        </p:txBody>
      </p:sp>
      <p:sp>
        <p:nvSpPr>
          <p:cNvPr id="15" name="原题文字_132_46"/>
          <p:cNvSpPr txBox="1"/>
          <p:nvPr/>
        </p:nvSpPr>
        <p:spPr>
          <a:xfrm>
            <a:off x="564175" y="3783623"/>
            <a:ext cx="6570897" cy="358343"/>
          </a:xfrm>
          <a:prstGeom prst="rect">
            <a:avLst/>
          </a:prstGeom>
          <a:noFill/>
        </p:spPr>
        <p:txBody>
          <a:bodyPr wrap="none" lIns="0" rIns="0" tIns="0" bIns="0">
            <a:spAutoFit/>
          </a:bodyPr>
          <a:lstStyle/>
          <a:p>
            <a:pPr>
              <a:lnSpc>
                <a:spcPct val="112000"/>
              </a:lnSpc>
              <a:spcBef>
                <a:spcPts val="0"/>
              </a:spcBef>
              <a:spcAft>
                <a:spcPts val="0"/>
              </a:spcAft>
              <a:defRPr sz="1733" b="0">
                <a:solidFill>
                  <a:srgbClr val="333333"/>
                </a:solidFill>
                <a:latin typeface="微软雅黑"/>
              </a:defRPr>
            </a:pPr>
            <a:r>
              <a:rPr>
                <a:ea typeface="微软雅黑"/>
              </a:rPr>
              <a:t>D. 整个过程，参加反应所需NaOH与氯气的物质的量之比一定为2：1</a:t>
            </a:r>
          </a:p>
        </p:txBody>
      </p:sp>
      <p:sp>
        <p:nvSpPr>
          <p:cNvPr id="16" name="原题文字_132_47"/>
          <p:cNvSpPr txBox="1"/>
          <p:nvPr/>
        </p:nvSpPr>
        <p:spPr>
          <a:xfrm>
            <a:off x="10303769" y="3837222"/>
            <a:ext cx="460680"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ClO</a:t>
            </a:r>
          </a:p>
        </p:txBody>
      </p:sp>
      <p:sp>
        <p:nvSpPr>
          <p:cNvPr id="17" name="原题文字_132_48"/>
          <p:cNvSpPr txBox="1"/>
          <p:nvPr/>
        </p:nvSpPr>
        <p:spPr>
          <a:xfrm>
            <a:off x="7531966" y="4250695"/>
            <a:ext cx="246286"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0</a:t>
            </a:r>
          </a:p>
        </p:txBody>
      </p:sp>
      <p:sp>
        <p:nvSpPr>
          <p:cNvPr id="18" name="原题文字_132_49"/>
          <p:cNvSpPr txBox="1"/>
          <p:nvPr/>
        </p:nvSpPr>
        <p:spPr>
          <a:xfrm>
            <a:off x="8098578" y="4288980"/>
            <a:ext cx="223316"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t1</a:t>
            </a:r>
          </a:p>
        </p:txBody>
      </p:sp>
      <p:sp>
        <p:nvSpPr>
          <p:cNvPr id="19" name="原题文字_132_50"/>
          <p:cNvSpPr txBox="1"/>
          <p:nvPr/>
        </p:nvSpPr>
        <p:spPr>
          <a:xfrm>
            <a:off x="9101633" y="4304293"/>
            <a:ext cx="208002"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t3</a:t>
            </a:r>
          </a:p>
        </p:txBody>
      </p:sp>
      <p:sp>
        <p:nvSpPr>
          <p:cNvPr id="20" name="原题文字_132_51"/>
          <p:cNvSpPr txBox="1"/>
          <p:nvPr/>
        </p:nvSpPr>
        <p:spPr>
          <a:xfrm>
            <a:off x="10487535" y="4288980"/>
            <a:ext cx="238629"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t4</a:t>
            </a:r>
          </a:p>
        </p:txBody>
      </p:sp>
      <p:sp>
        <p:nvSpPr>
          <p:cNvPr id="21" name="原题文字_132_52"/>
          <p:cNvSpPr txBox="1"/>
          <p:nvPr/>
        </p:nvSpPr>
        <p:spPr>
          <a:xfrm>
            <a:off x="10832096" y="4334921"/>
            <a:ext cx="529592"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t/min</a:t>
            </a:r>
          </a:p>
        </p:txBody>
      </p:sp>
      <p:sp>
        <p:nvSpPr>
          <p:cNvPr id="22" name="文字_单选题  ·  05-03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05-037</a:t>
            </a:r>
          </a:p>
        </p:txBody>
      </p:sp>
      <p:sp>
        <p:nvSpPr>
          <p:cNvPr id="23" name="文字_5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计算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氯气的计算 · 例题4</a:t>
            </a:r>
          </a:p>
        </p:txBody>
      </p:sp>
      <p:sp>
        <p:nvSpPr>
          <p:cNvPr id="5" name="文字_P13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P133</a:t>
            </a:r>
          </a:p>
        </p:txBody>
      </p:sp>
      <p:sp>
        <p:nvSpPr>
          <p:cNvPr id="6" name="文字_将一定量的氯气通入30mL浓度为10.00mol"/>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将一定量的氯气通入30mL浓度为10.00mol/L的氢氧化钠浓溶液中，加热少许时间</a:t>
            </a:r>
          </a:p>
          <a:p>
            <a:pPr>
              <a:lnSpc>
                <a:spcPct val="112000"/>
              </a:lnSpc>
              <a:spcBef>
                <a:spcPts val="0"/>
              </a:spcBef>
              <a:spcAft>
                <a:spcPts val="0"/>
              </a:spcAft>
              <a:defRPr sz="2400" b="0">
                <a:solidFill>
                  <a:srgbClr val="333333"/>
                </a:solidFill>
                <a:latin typeface="微软雅黑"/>
              </a:defRPr>
            </a:pPr>
            <a:r>
              <a:rPr>
                <a:ea typeface="微软雅黑"/>
              </a:rPr>
              <a:t>后溶液中形成NaCl、NaClO、NaClO₃共存体系．下列判断正确的是（）</a:t>
            </a:r>
          </a:p>
        </p:txBody>
      </p:sp>
      <p:sp>
        <p:nvSpPr>
          <p:cNvPr id="7" name="文字_A. 与NaOH反应的氯气一定为0.3 mol"/>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与NaOH反应的氯气一定为0.3 mol</a:t>
            </a:r>
          </a:p>
        </p:txBody>
      </p:sp>
      <p:sp>
        <p:nvSpPr>
          <p:cNvPr id="8" name="文字_B. n (Na+)： n (Cl) 可能为7:"/>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 (Na+)： n (Cl) 可能为7: 3</a:t>
            </a:r>
          </a:p>
        </p:txBody>
      </p:sp>
      <p:sp>
        <p:nvSpPr>
          <p:cNvPr id="9" name="文字_C. 若反应中转移的电子为n mol，则0.15"/>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若反应中转移的电子为n mol，则0.15&lt;n&lt;0.25</a:t>
            </a:r>
          </a:p>
        </p:txBody>
      </p:sp>
      <p:sp>
        <p:nvSpPr>
          <p:cNvPr id="10" name="文字_D. n (NaCl)：n (NaClO)：n "/>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 (NaCl)：n (NaClO)：n (NaClO₃）可能为11： 2: 1</a:t>
            </a:r>
          </a:p>
        </p:txBody>
      </p:sp>
      <p:sp>
        <p:nvSpPr>
          <p:cNvPr id="11" name="文字_单选题  ·  05-03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05-038</a:t>
            </a:r>
          </a:p>
        </p:txBody>
      </p:sp>
      <p:sp>
        <p:nvSpPr>
          <p:cNvPr id="12" name="文字_5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氯气的计算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氯气的计算 · 例题5</a:t>
            </a:r>
          </a:p>
        </p:txBody>
      </p:sp>
      <p:sp>
        <p:nvSpPr>
          <p:cNvPr id="5" name="文字_P13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P133</a:t>
            </a:r>
          </a:p>
        </p:txBody>
      </p:sp>
      <p:sp>
        <p:nvSpPr>
          <p:cNvPr id="6" name="文字_将一定量Cl₂通入1kg质量分数为32%的NaO"/>
          <p:cNvSpPr txBox="1"/>
          <p:nvPr/>
        </p:nvSpPr>
        <p:spPr>
          <a:xfrm>
            <a:off x="502920" y="1078992"/>
            <a:ext cx="11064240" cy="651319"/>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将一定量Cl₂通入1kg质量分数为32%的NaOH溶液中，制成含有NaClO、NaClO₃、NaCl和NaOH的</a:t>
            </a:r>
          </a:p>
          <a:p>
            <a:pPr>
              <a:lnSpc>
                <a:spcPct val="112000"/>
              </a:lnSpc>
              <a:spcBef>
                <a:spcPts val="0"/>
              </a:spcBef>
              <a:spcAft>
                <a:spcPts val="0"/>
              </a:spcAft>
              <a:defRPr sz="1950" b="0">
                <a:solidFill>
                  <a:srgbClr val="333333"/>
                </a:solidFill>
                <a:latin typeface="微软雅黑"/>
              </a:defRPr>
            </a:pPr>
            <a:r>
              <a:rPr>
                <a:ea typeface="微软雅黑"/>
              </a:rPr>
              <a:t>混合溶液。用此溶液吸收标准状况下44.8LSO₂，恰好形成中性溶液(假设气体均完全反应)，请计算：</a:t>
            </a:r>
          </a:p>
        </p:txBody>
      </p:sp>
      <p:sp>
        <p:nvSpPr>
          <p:cNvPr id="7" name="文字_(1)NaOH溶液中n(NaOH) = ____"/>
          <p:cNvSpPr txBox="1"/>
          <p:nvPr/>
        </p:nvSpPr>
        <p:spPr>
          <a:xfrm>
            <a:off x="502920" y="1730311"/>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(1)NaOH溶液中n(NaOH) = ______ mol。</a:t>
            </a:r>
          </a:p>
        </p:txBody>
      </p:sp>
      <p:sp>
        <p:nvSpPr>
          <p:cNvPr id="8" name="文字_(2)已知混合溶液中n(NaClO): n (N"/>
          <p:cNvSpPr txBox="1"/>
          <p:nvPr/>
        </p:nvSpPr>
        <p:spPr>
          <a:xfrm>
            <a:off x="502920" y="2086927"/>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(2)已知混合溶液中n(NaClO): n (NaClO₃) = 1:1，则混合溶液中n(NaCl): n (NaClO₃) = ______ o</a:t>
            </a:r>
          </a:p>
        </p:txBody>
      </p:sp>
      <p:sp>
        <p:nvSpPr>
          <p:cNvPr id="9" name="文字_(3)所通Cl₂在标准状况下的体积为 _____"/>
          <p:cNvSpPr txBox="1"/>
          <p:nvPr/>
        </p:nvSpPr>
        <p:spPr>
          <a:xfrm>
            <a:off x="502920" y="2443543"/>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(3)所通Cl₂在标准状况下的体积为 ______ Lo</a:t>
            </a:r>
          </a:p>
        </p:txBody>
      </p:sp>
      <p:pic>
        <p:nvPicPr>
          <p:cNvPr id="10" name="Picture 9" descr="image.png"/>
          <p:cNvPicPr>
            <a:picLocks noChangeAspect="1"/>
          </p:cNvPicPr>
          <p:nvPr/>
        </p:nvPicPr>
        <p:blipFill>
          <a:blip r:embed="rId3"/>
          <a:stretch>
            <a:fillRect/>
          </a:stretch>
        </p:blipFill>
        <p:spPr>
          <a:xfrm>
            <a:off x="502920" y="2800159"/>
            <a:ext cx="11064240" cy="735063"/>
          </a:xfrm>
          <a:prstGeom prst="rect">
            <a:avLst/>
          </a:prstGeom>
        </p:spPr>
      </p:pic>
      <p:sp>
        <p:nvSpPr>
          <p:cNvPr id="11" name="原题文字_133_23"/>
          <p:cNvSpPr txBox="1"/>
          <p:nvPr/>
        </p:nvSpPr>
        <p:spPr>
          <a:xfrm>
            <a:off x="1100159" y="2985181"/>
            <a:ext cx="705701" cy="457883"/>
          </a:xfrm>
          <a:prstGeom prst="rect">
            <a:avLst/>
          </a:prstGeom>
          <a:noFill/>
        </p:spPr>
        <p:txBody>
          <a:bodyPr wrap="none" lIns="0" rIns="0" tIns="0" bIns="0">
            <a:spAutoFit/>
          </a:bodyPr>
          <a:lstStyle/>
          <a:p>
            <a:pPr>
              <a:lnSpc>
                <a:spcPct val="112000"/>
              </a:lnSpc>
              <a:spcBef>
                <a:spcPts val="0"/>
              </a:spcBef>
              <a:spcAft>
                <a:spcPts val="0"/>
              </a:spcAft>
              <a:defRPr sz="2218" b="0">
                <a:solidFill>
                  <a:srgbClr val="333333"/>
                </a:solidFill>
                <a:latin typeface="微软雅黑"/>
              </a:defRPr>
            </a:pPr>
            <a:r>
              <a:rPr>
                <a:ea typeface="微软雅黑"/>
              </a:rPr>
              <a:t>三、</a:t>
            </a:r>
          </a:p>
        </p:txBody>
      </p:sp>
      <p:sp>
        <p:nvSpPr>
          <p:cNvPr id="12" name="原题文字_133_24"/>
          <p:cNvSpPr txBox="1"/>
          <p:nvPr/>
        </p:nvSpPr>
        <p:spPr>
          <a:xfrm>
            <a:off x="1812252" y="2985181"/>
            <a:ext cx="4128341" cy="457883"/>
          </a:xfrm>
          <a:prstGeom prst="rect">
            <a:avLst/>
          </a:prstGeom>
          <a:noFill/>
        </p:spPr>
        <p:txBody>
          <a:bodyPr wrap="none" lIns="0" rIns="0" tIns="0" bIns="0">
            <a:spAutoFit/>
          </a:bodyPr>
          <a:lstStyle/>
          <a:p>
            <a:pPr>
              <a:lnSpc>
                <a:spcPct val="112000"/>
              </a:lnSpc>
              <a:spcBef>
                <a:spcPts val="0"/>
              </a:spcBef>
              <a:spcAft>
                <a:spcPts val="0"/>
              </a:spcAft>
              <a:defRPr sz="2218" b="0">
                <a:solidFill>
                  <a:srgbClr val="333333"/>
                </a:solidFill>
                <a:latin typeface="微软雅黑"/>
              </a:defRPr>
            </a:pPr>
            <a:r>
              <a:rPr>
                <a:ea typeface="微软雅黑"/>
              </a:rPr>
              <a:t>有效氯的计算：得失电子守恒</a:t>
            </a:r>
          </a:p>
        </p:txBody>
      </p:sp>
      <p:sp>
        <p:nvSpPr>
          <p:cNvPr id="13" name="文字_1. 已知有效氯含量的实质就是指单位质量的含氯化"/>
          <p:cNvSpPr txBox="1"/>
          <p:nvPr/>
        </p:nvSpPr>
        <p:spPr>
          <a:xfrm>
            <a:off x="502920" y="3608375"/>
            <a:ext cx="11064240" cy="651319"/>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1. 已知有效氯含量的实质就是指单位质量的含氯化合物中所含氯的氧化能力相当于多少纯净氯气的氧</a:t>
            </a:r>
          </a:p>
          <a:p>
            <a:pPr>
              <a:lnSpc>
                <a:spcPct val="112000"/>
              </a:lnSpc>
              <a:spcBef>
                <a:spcPts val="0"/>
              </a:spcBef>
              <a:spcAft>
                <a:spcPts val="0"/>
              </a:spcAft>
              <a:defRPr sz="1950" b="0">
                <a:solidFill>
                  <a:srgbClr val="333333"/>
                </a:solidFill>
                <a:latin typeface="微软雅黑"/>
              </a:defRPr>
            </a:pPr>
            <a:r>
              <a:rPr>
                <a:ea typeface="微软雅黑"/>
              </a:rPr>
              <a:t>化能力。氯气的有效氯为100%，二氧化氯气体能代替氯气消毒自来水，则ClO₂的有效氯是Cl₂的</a:t>
            </a:r>
          </a:p>
        </p:txBody>
      </p:sp>
      <p:sp>
        <p:nvSpPr>
          <p:cNvPr id="14" name="文字_倍。(保留两位小数)"/>
          <p:cNvSpPr txBox="1"/>
          <p:nvPr/>
        </p:nvSpPr>
        <p:spPr>
          <a:xfrm>
            <a:off x="502920" y="4259694"/>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倍。(保留两位小数)</a:t>
            </a:r>
          </a:p>
        </p:txBody>
      </p:sp>
      <p:sp>
        <p:nvSpPr>
          <p:cNvPr id="15" name="文字_2. 含氯消毒剂的消毒能力可以用氧化性来衡量。工"/>
          <p:cNvSpPr txBox="1"/>
          <p:nvPr/>
        </p:nvSpPr>
        <p:spPr>
          <a:xfrm>
            <a:off x="502920" y="4616310"/>
            <a:ext cx="11064240" cy="1240726"/>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2. 含氯消毒剂的消毒能力可以用氧化性来衡量。工业上常用“有效氯”来说明消毒剂的消毒能力。“</a:t>
            </a:r>
          </a:p>
          <a:p>
            <a:pPr>
              <a:lnSpc>
                <a:spcPct val="112000"/>
              </a:lnSpc>
              <a:spcBef>
                <a:spcPts val="0"/>
              </a:spcBef>
              <a:spcAft>
                <a:spcPts val="0"/>
              </a:spcAft>
              <a:defRPr sz="1950" b="0">
                <a:solidFill>
                  <a:srgbClr val="333333"/>
                </a:solidFill>
                <a:latin typeface="微软雅黑"/>
              </a:defRPr>
            </a:pPr>
            <a:r>
              <a:rPr>
                <a:ea typeface="微软雅黑"/>
              </a:rPr>
              <a:t>有效氯”的含义是指一定质量的这种消毒剂与多少质量的氯气的氧化能力相当，其数值可以用此时氯</a:t>
            </a:r>
          </a:p>
          <a:p>
            <a:pPr>
              <a:lnSpc>
                <a:spcPct val="112000"/>
              </a:lnSpc>
              <a:spcBef>
                <a:spcPts val="0"/>
              </a:spcBef>
              <a:spcAft>
                <a:spcPts val="0"/>
              </a:spcAft>
              <a:defRPr sz="1950" b="0">
                <a:solidFill>
                  <a:srgbClr val="333333"/>
                </a:solidFill>
                <a:latin typeface="微软雅黑"/>
              </a:defRPr>
            </a:pPr>
            <a:r>
              <a:rPr>
                <a:ea typeface="微软雅黑"/>
              </a:rPr>
              <a:t>气的质量对消毒剂质量的百分比来表示。例如，100g某“84”消毒液与3.5g氯气的氧化能力相当，该</a:t>
            </a:r>
          </a:p>
          <a:p>
            <a:pPr>
              <a:lnSpc>
                <a:spcPct val="112000"/>
              </a:lnSpc>
              <a:spcBef>
                <a:spcPts val="0"/>
              </a:spcBef>
              <a:spcAft>
                <a:spcPts val="0"/>
              </a:spcAft>
              <a:defRPr sz="1950" b="0">
                <a:solidFill>
                  <a:srgbClr val="333333"/>
                </a:solidFill>
                <a:latin typeface="微软雅黑"/>
              </a:defRPr>
            </a:pPr>
            <a:r>
              <a:rPr>
                <a:ea typeface="微软雅黑"/>
              </a:rPr>
              <a:t>产品的“有效氯”就是3.5%。请问：100g该产品中含有 ______ g次氯酸钠（保留两位有效数字）。</a:t>
            </a:r>
          </a:p>
        </p:txBody>
      </p:sp>
      <p:sp>
        <p:nvSpPr>
          <p:cNvPr id="16" name="文字_解答题  ·  05-03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05-039</a:t>
            </a:r>
          </a:p>
        </p:txBody>
      </p:sp>
      <p:sp>
        <p:nvSpPr>
          <p:cNvPr id="17" name="文字_5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 氯气</dc:title>
  <dc:subject>高一化学课堂课件：知识讲解与原题</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zh-CN</dc:language>
</cp:coreProperties>
</file>
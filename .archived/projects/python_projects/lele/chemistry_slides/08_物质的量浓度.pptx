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P152；PDF 文件第 154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P152；PDF 文件第 154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1 / 单选题</a:t>
            </a:r>
          </a:p>
          <a:p>
            <a:r>
              <a:t>讲义印刷页：P153</a:t>
            </a:r>
          </a:p>
          <a:p>
            <a:r>
              <a:t>PDF 文件页：155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2 / 单选题</a:t>
            </a:r>
          </a:p>
          <a:p>
            <a:r>
              <a:t>讲义印刷页：P153</a:t>
            </a:r>
          </a:p>
          <a:p>
            <a:r>
              <a:t>PDF 文件页：155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3 / 单选题</a:t>
            </a:r>
          </a:p>
          <a:p>
            <a:r>
              <a:t>讲义印刷页：P153</a:t>
            </a:r>
          </a:p>
          <a:p>
            <a:r>
              <a:t>PDF 文件页：155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4 / 单选题</a:t>
            </a:r>
          </a:p>
          <a:p>
            <a:r>
              <a:t>讲义印刷页：P154</a:t>
            </a:r>
          </a:p>
          <a:p>
            <a:r>
              <a:t>PDF 文件页：156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5 / 单选题</a:t>
            </a:r>
          </a:p>
          <a:p>
            <a:r>
              <a:t>讲义印刷页：P154</a:t>
            </a:r>
          </a:p>
          <a:p>
            <a:r>
              <a:t>PDF 文件页：156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6 / 填空题</a:t>
            </a:r>
          </a:p>
          <a:p>
            <a:r>
              <a:t>讲义印刷页：P154</a:t>
            </a:r>
          </a:p>
          <a:p>
            <a:r>
              <a:t>PDF 文件页：156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例题 7 / 填空题</a:t>
            </a:r>
          </a:p>
          <a:p>
            <a:r>
              <a:t>讲义印刷页：P154</a:t>
            </a:r>
          </a:p>
          <a:p>
            <a:r>
              <a:t>PDF 文件页：156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1 / 单选题</a:t>
            </a:r>
          </a:p>
          <a:p>
            <a:r>
              <a:t>讲义印刷页：P155</a:t>
            </a:r>
          </a:p>
          <a:p>
            <a:r>
              <a:t>PDF 文件页：157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2 / 单选题</a:t>
            </a:r>
          </a:p>
          <a:p>
            <a:r>
              <a:t>讲义印刷页：P155</a:t>
            </a:r>
          </a:p>
          <a:p>
            <a:r>
              <a:t>PDF 文件页：157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3 / 单选题</a:t>
            </a:r>
          </a:p>
          <a:p>
            <a:r>
              <a:t>讲义印刷页：P155</a:t>
            </a:r>
          </a:p>
          <a:p>
            <a:r>
              <a:t>PDF 文件页：157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4 / 单选题</a:t>
            </a:r>
          </a:p>
          <a:p>
            <a:r>
              <a:t>讲义印刷页：P155</a:t>
            </a:r>
          </a:p>
          <a:p>
            <a:r>
              <a:t>PDF 文件页：157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P156；PDF 文件第 158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5 / 单选题</a:t>
            </a:r>
          </a:p>
          <a:p>
            <a:r>
              <a:t>讲义印刷页：P156</a:t>
            </a:r>
          </a:p>
          <a:p>
            <a:r>
              <a:t>PDF 文件页：158</a:t>
            </a:r>
          </a:p>
          <a:p>
            <a:r>
              <a:t>题目保留原题空白；未补充答案。文字为可编辑内容，图形保留原图线条。</a:t>
            </a:r>
          </a:p>
          <a:p>
            <a:r>
              <a:t>OCR 重点复核位置（请对照原讲义检查公式、上下标和字符）：</a:t>
            </a:r>
          </a:p>
          <a:p>
            <a:r>
              <a:t>P156：二</a:t>
            </a:r>
          </a:p>
          <a:p>
            <a:r>
              <a:t>P156：V</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原题定位：知识点1物质的量浓度 / 变式 6 / 填空题</a:t>
            </a:r>
          </a:p>
          <a:p>
            <a:r>
              <a:t>讲义印刷页：P156</a:t>
            </a:r>
          </a:p>
          <a:p>
            <a:r>
              <a:t>PDF 文件页：158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例题 1 / 单选题</a:t>
            </a:r>
          </a:p>
          <a:p>
            <a:r>
              <a:t>讲义印刷页：P156</a:t>
            </a:r>
          </a:p>
          <a:p>
            <a:r>
              <a:t>PDF 文件页：158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例题 2 / 单选题</a:t>
            </a:r>
          </a:p>
          <a:p>
            <a:r>
              <a:t>讲义印刷页：P156</a:t>
            </a:r>
          </a:p>
          <a:p>
            <a:r>
              <a:t>PDF 文件页：158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例题 3 / 单选题</a:t>
            </a:r>
          </a:p>
          <a:p>
            <a:r>
              <a:t>讲义印刷页：P157</a:t>
            </a:r>
          </a:p>
          <a:p>
            <a:r>
              <a:t>PDF 文件页：159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变式 1 / 单选题</a:t>
            </a:r>
          </a:p>
          <a:p>
            <a:r>
              <a:t>讲义印刷页：P157</a:t>
            </a:r>
          </a:p>
          <a:p>
            <a:r>
              <a:t>PDF 文件页：159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变式 2 / 单选题</a:t>
            </a:r>
          </a:p>
          <a:p>
            <a:r>
              <a:t>讲义印刷页：P157</a:t>
            </a:r>
          </a:p>
          <a:p>
            <a:r>
              <a:t>PDF 文件页：159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原题定位：知识点2电荷守恒定律 / 变式 3 / 单选题</a:t>
            </a:r>
          </a:p>
          <a:p>
            <a:r>
              <a:t>讲义印刷页：P157</a:t>
            </a:r>
          </a:p>
          <a:p>
            <a:r>
              <a:t>PDF 文件页：159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P158；PDF 文件第 160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P158；PDF 文件第 160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1 / 单选题</a:t>
            </a:r>
          </a:p>
          <a:p>
            <a:r>
              <a:t>讲义印刷页：P159</a:t>
            </a:r>
          </a:p>
          <a:p>
            <a:r>
              <a:t>PDF 文件页：161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2 / 单选题</a:t>
            </a:r>
          </a:p>
          <a:p>
            <a:r>
              <a:t>讲义印刷页：P159</a:t>
            </a:r>
          </a:p>
          <a:p>
            <a:r>
              <a:t>PDF 文件页：161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3 / 单选题</a:t>
            </a:r>
          </a:p>
          <a:p>
            <a:r>
              <a:t>讲义印刷页：P159</a:t>
            </a:r>
          </a:p>
          <a:p>
            <a:r>
              <a:t>PDF 文件页：161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4 / 单选题</a:t>
            </a:r>
          </a:p>
          <a:p>
            <a:r>
              <a:t>讲义印刷页：P159</a:t>
            </a:r>
          </a:p>
          <a:p>
            <a:r>
              <a:t>PDF 文件页：161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5 / 单选题</a:t>
            </a:r>
          </a:p>
          <a:p>
            <a:r>
              <a:t>讲义印刷页：P160</a:t>
            </a:r>
          </a:p>
          <a:p>
            <a:r>
              <a:t>PDF 文件页：162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例题 6 / 解答题</a:t>
            </a:r>
          </a:p>
          <a:p>
            <a:r>
              <a:t>讲义印刷页：P160</a:t>
            </a:r>
          </a:p>
          <a:p>
            <a:r>
              <a:t>PDF 文件页：162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1 / 单选题</a:t>
            </a:r>
          </a:p>
          <a:p>
            <a:r>
              <a:t>讲义印刷页：P160</a:t>
            </a:r>
          </a:p>
          <a:p>
            <a:r>
              <a:t>PDF 文件页：162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2 / 单选题</a:t>
            </a:r>
          </a:p>
          <a:p>
            <a:r>
              <a:t>讲义印刷页：P161</a:t>
            </a:r>
          </a:p>
          <a:p>
            <a:r>
              <a:t>PDF 文件页：163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3 / 单选题</a:t>
            </a:r>
          </a:p>
          <a:p>
            <a:r>
              <a:t>讲义印刷页：P161</a:t>
            </a:r>
          </a:p>
          <a:p>
            <a:r>
              <a:t>PDF 文件页：163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4 / 单选题</a:t>
            </a:r>
          </a:p>
          <a:p>
            <a:r>
              <a:t>讲义印刷页：P161</a:t>
            </a:r>
          </a:p>
          <a:p>
            <a:r>
              <a:t>PDF 文件页：163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5 / 单选题</a:t>
            </a:r>
          </a:p>
          <a:p>
            <a:r>
              <a:t>讲义印刷页：P161</a:t>
            </a:r>
          </a:p>
          <a:p>
            <a:r>
              <a:t>PDF 文件页：163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P162；PDF 文件第 164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P162；PDF 文件第 164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原题定位：知识点1仪器与基本操作 / 变式 6 / 填空题</a:t>
            </a:r>
          </a:p>
          <a:p>
            <a:r>
              <a:t>讲义印刷页：P162</a:t>
            </a:r>
          </a:p>
          <a:p>
            <a:r>
              <a:t>PDF 文件页：164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1 / 单选题</a:t>
            </a:r>
          </a:p>
          <a:p>
            <a:r>
              <a:t>讲义印刷页：P162</a:t>
            </a:r>
          </a:p>
          <a:p>
            <a:r>
              <a:t>PDF 文件页：164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2 / 单选题</a:t>
            </a:r>
          </a:p>
          <a:p>
            <a:r>
              <a:t>讲义印刷页：P162</a:t>
            </a:r>
          </a:p>
          <a:p>
            <a:r>
              <a:t>PDF 文件页：164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3 / 单选题</a:t>
            </a:r>
          </a:p>
          <a:p>
            <a:r>
              <a:t>讲义印刷页：P162</a:t>
            </a:r>
          </a:p>
          <a:p>
            <a:r>
              <a:t>PDF 文件页：164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4 / 单选题</a:t>
            </a:r>
          </a:p>
          <a:p>
            <a:r>
              <a:t>讲义印刷页：P163</a:t>
            </a:r>
          </a:p>
          <a:p>
            <a:r>
              <a:t>PDF 文件页：165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5 / 单选题</a:t>
            </a:r>
          </a:p>
          <a:p>
            <a:r>
              <a:t>讲义印刷页：P163</a:t>
            </a:r>
          </a:p>
          <a:p>
            <a:r>
              <a:t>PDF 文件页：165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6 / 单选题</a:t>
            </a:r>
          </a:p>
          <a:p>
            <a:r>
              <a:t>讲义印刷页：P163</a:t>
            </a:r>
          </a:p>
          <a:p>
            <a:r>
              <a:t>PDF 文件页：165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例题 7 / 解答题</a:t>
            </a:r>
          </a:p>
          <a:p>
            <a:r>
              <a:t>讲义印刷页：P163</a:t>
            </a:r>
          </a:p>
          <a:p>
            <a:r>
              <a:t>PDF 文件页：165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1 / 单选题</a:t>
            </a:r>
          </a:p>
          <a:p>
            <a:r>
              <a:t>讲义印刷页：P164</a:t>
            </a:r>
          </a:p>
          <a:p>
            <a:r>
              <a:t>PDF 文件页：166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2 / 单选题</a:t>
            </a:r>
          </a:p>
          <a:p>
            <a:r>
              <a:t>讲义印刷页：P164</a:t>
            </a:r>
          </a:p>
          <a:p>
            <a:r>
              <a:t>PDF 文件页：166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3 / 单选题</a:t>
            </a:r>
          </a:p>
          <a:p>
            <a:r>
              <a:t>讲义印刷页：P164</a:t>
            </a:r>
          </a:p>
          <a:p>
            <a:r>
              <a:t>PDF 文件页：166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4 / 单选题</a:t>
            </a:r>
          </a:p>
          <a:p>
            <a:r>
              <a:t>讲义印刷页：P164</a:t>
            </a:r>
          </a:p>
          <a:p>
            <a:r>
              <a:t>PDF 文件页：166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5 / 单选题</a:t>
            </a:r>
          </a:p>
          <a:p>
            <a:r>
              <a:t>讲义印刷页：P164</a:t>
            </a:r>
          </a:p>
          <a:p>
            <a:r>
              <a:t>PDF 文件页：166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6 / 单选题</a:t>
            </a:r>
          </a:p>
          <a:p>
            <a:r>
              <a:t>讲义印刷页：P165</a:t>
            </a:r>
          </a:p>
          <a:p>
            <a:r>
              <a:t>PDF 文件页：167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变式 7 / 解答题</a:t>
            </a:r>
          </a:p>
          <a:p>
            <a:r>
              <a:t>讲义印刷页：P165</a:t>
            </a:r>
          </a:p>
          <a:p>
            <a:r>
              <a:t>PDF 文件页：167</a:t>
            </a:r>
          </a:p>
          <a:p>
            <a:r>
              <a:t>题目保留原题空白；未补充答案。文字为可编辑内容，图形保留原图线条。</a:t>
            </a:r>
          </a:p>
          <a:p>
            <a:r>
              <a:t>OCR 重点复核位置（请对照原讲义检查公式、上下标和字符）：</a:t>
            </a:r>
          </a:p>
          <a:p>
            <a:r>
              <a:t>P165：o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1 / 单选题</a:t>
            </a:r>
          </a:p>
          <a:p>
            <a:r>
              <a:t>讲义印刷页：P165</a:t>
            </a:r>
          </a:p>
          <a:p>
            <a:r>
              <a:t>PDF 文件页：167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2 / 单选题</a:t>
            </a:r>
          </a:p>
          <a:p>
            <a:r>
              <a:t>讲义印刷页：P165</a:t>
            </a:r>
          </a:p>
          <a:p>
            <a:r>
              <a:t>PDF 文件页：167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3 / 单选题</a:t>
            </a:r>
          </a:p>
          <a:p>
            <a:r>
              <a:t>讲义印刷页：P166</a:t>
            </a:r>
          </a:p>
          <a:p>
            <a:r>
              <a:t>PDF 文件页：168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4 / 单选题</a:t>
            </a:r>
          </a:p>
          <a:p>
            <a:r>
              <a:t>讲义印刷页：P166</a:t>
            </a:r>
          </a:p>
          <a:p>
            <a:r>
              <a:t>PDF 文件页：168</a:t>
            </a:r>
          </a:p>
          <a:p>
            <a:r>
              <a:t>题目保留原题空白；未补充答案。文字为可编辑内容，图形保留原图线条。</a:t>
            </a:r>
          </a:p>
          <a:p>
            <a:r>
              <a:t>OCR 重点复核位置（请对照原讲义检查公式、上下标和字符）：</a:t>
            </a:r>
          </a:p>
          <a:p>
            <a:r>
              <a:t>P166：C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5 / 单选题</a:t>
            </a:r>
          </a:p>
          <a:p>
            <a:r>
              <a:t>讲义印刷页：P166</a:t>
            </a:r>
          </a:p>
          <a:p>
            <a:r>
              <a:t>PDF 文件页：168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6 / 解答题</a:t>
            </a:r>
          </a:p>
          <a:p>
            <a:r>
              <a:t>讲义印刷页：P167</a:t>
            </a:r>
          </a:p>
          <a:p>
            <a:r>
              <a:t>PDF 文件页：169</a:t>
            </a:r>
          </a:p>
          <a:p>
            <a:r>
              <a:t>题目保留原题空白；未补充答案。文字为可编辑内容，图形保留原图线条。</a:t>
            </a:r>
          </a:p>
          <a:p>
            <a:r>
              <a:t>排版提示：本题原文较长，按要求保持一题一页；可按教学需要自行调整字号与布局。</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7 / 解答题</a:t>
            </a:r>
          </a:p>
          <a:p>
            <a:r>
              <a:t>讲义印刷页：P167, P168</a:t>
            </a:r>
          </a:p>
          <a:p>
            <a:r>
              <a:t>PDF 文件页：169, 170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原题定位：知识点2误差分析 / 巩固 8 / 填空题</a:t>
            </a:r>
          </a:p>
          <a:p>
            <a:r>
              <a:t>讲义印刷页：P168</a:t>
            </a:r>
          </a:p>
          <a:p>
            <a:r>
              <a:t>PDF 文件页：170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 / 单选题</a:t>
            </a:r>
          </a:p>
          <a:p>
            <a:r>
              <a:t>讲义印刷页：P169</a:t>
            </a:r>
          </a:p>
          <a:p>
            <a:r>
              <a:t>PDF 文件页：171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 / 单选题</a:t>
            </a:r>
          </a:p>
          <a:p>
            <a:r>
              <a:t>讲义印刷页：P169</a:t>
            </a:r>
          </a:p>
          <a:p>
            <a:r>
              <a:t>PDF 文件页：171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3 / 单选题</a:t>
            </a:r>
          </a:p>
          <a:p>
            <a:r>
              <a:t>讲义印刷页：P169</a:t>
            </a:r>
          </a:p>
          <a:p>
            <a:r>
              <a:t>PDF 文件页：171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4 / 单选题</a:t>
            </a:r>
          </a:p>
          <a:p>
            <a:r>
              <a:t>讲义印刷页：P169</a:t>
            </a:r>
          </a:p>
          <a:p>
            <a:r>
              <a:t>PDF 文件页：171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5 / 单选题</a:t>
            </a:r>
          </a:p>
          <a:p>
            <a:r>
              <a:t>讲义印刷页：P169</a:t>
            </a:r>
          </a:p>
          <a:p>
            <a:r>
              <a:t>PDF 文件页：171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6 / 单选题</a:t>
            </a:r>
          </a:p>
          <a:p>
            <a:r>
              <a:t>讲义印刷页：P170</a:t>
            </a:r>
          </a:p>
          <a:p>
            <a:r>
              <a:t>PDF 文件页：172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7 / 单选题</a:t>
            </a:r>
          </a:p>
          <a:p>
            <a:r>
              <a:t>讲义印刷页：P170</a:t>
            </a:r>
          </a:p>
          <a:p>
            <a:r>
              <a:t>PDF 文件页：172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8 / 单选题</a:t>
            </a:r>
          </a:p>
          <a:p>
            <a:r>
              <a:t>讲义印刷页：P170</a:t>
            </a:r>
          </a:p>
          <a:p>
            <a:r>
              <a:t>PDF 文件页：172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9 / 单选题</a:t>
            </a:r>
          </a:p>
          <a:p>
            <a:r>
              <a:t>讲义印刷页：P170</a:t>
            </a:r>
          </a:p>
          <a:p>
            <a:r>
              <a:t>PDF 文件页：172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10 / 单选题</a:t>
            </a:r>
          </a:p>
          <a:p>
            <a:r>
              <a:t>讲义印刷页：P170</a:t>
            </a:r>
          </a:p>
          <a:p>
            <a:r>
              <a:t>PDF 文件页：172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11 / 单选题</a:t>
            </a:r>
          </a:p>
          <a:p>
            <a:r>
              <a:t>讲义印刷页：P171</a:t>
            </a:r>
          </a:p>
          <a:p>
            <a:r>
              <a:t>PDF 文件页：173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12 / 单选题</a:t>
            </a:r>
          </a:p>
          <a:p>
            <a:r>
              <a:t>讲义印刷页：P171</a:t>
            </a:r>
          </a:p>
          <a:p>
            <a:r>
              <a:t>PDF 文件页：173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13 / 单选题</a:t>
            </a:r>
          </a:p>
          <a:p>
            <a:r>
              <a:t>讲义印刷页：P171</a:t>
            </a:r>
          </a:p>
          <a:p>
            <a:r>
              <a:t>PDF 文件页：173</a:t>
            </a:r>
          </a:p>
          <a:p>
            <a:r>
              <a:t>题目保留原题空白；未补充答案。文字为可编辑内容，图形保留原图线条。</a:t>
            </a:r>
          </a:p>
          <a:p>
            <a:r>
              <a:t>OCR 重点复核位置（请对照原讲义检查公式、上下标和字符）：</a:t>
            </a:r>
          </a:p>
          <a:p>
            <a:r>
              <a:t>P171：个</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14 / 单选题</a:t>
            </a:r>
          </a:p>
          <a:p>
            <a:r>
              <a:t>讲义印刷页：P171</a:t>
            </a:r>
          </a:p>
          <a:p>
            <a:r>
              <a:t>PDF 文件页：173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15 / 单选题</a:t>
            </a:r>
          </a:p>
          <a:p>
            <a:r>
              <a:t>讲义印刷页：P172</a:t>
            </a:r>
          </a:p>
          <a:p>
            <a:r>
              <a:t>PDF 文件页：174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16 / 单选题</a:t>
            </a:r>
          </a:p>
          <a:p>
            <a:r>
              <a:t>讲义印刷页：P172</a:t>
            </a:r>
          </a:p>
          <a:p>
            <a:r>
              <a:t>PDF 文件页：174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17 / 单选题</a:t>
            </a:r>
          </a:p>
          <a:p>
            <a:r>
              <a:t>讲义印刷页：P172</a:t>
            </a:r>
          </a:p>
          <a:p>
            <a:r>
              <a:t>PDF 文件页：174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18 / 单选题</a:t>
            </a:r>
          </a:p>
          <a:p>
            <a:r>
              <a:t>讲义印刷页：P172</a:t>
            </a:r>
          </a:p>
          <a:p>
            <a:r>
              <a:t>PDF 文件页：174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19 / 单选题</a:t>
            </a:r>
          </a:p>
          <a:p>
            <a:r>
              <a:t>讲义印刷页：P173</a:t>
            </a:r>
          </a:p>
          <a:p>
            <a:r>
              <a:t>PDF 文件页：175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20 / 单选题</a:t>
            </a:r>
          </a:p>
          <a:p>
            <a:r>
              <a:t>讲义印刷页：P173</a:t>
            </a:r>
          </a:p>
          <a:p>
            <a:r>
              <a:t>PDF 文件页：175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21 / 单选题</a:t>
            </a:r>
          </a:p>
          <a:p>
            <a:r>
              <a:t>讲义印刷页：P173</a:t>
            </a:r>
          </a:p>
          <a:p>
            <a:r>
              <a:t>PDF 文件页：175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22 / 单选题</a:t>
            </a:r>
          </a:p>
          <a:p>
            <a:r>
              <a:t>讲义印刷页：P174</a:t>
            </a:r>
          </a:p>
          <a:p>
            <a:r>
              <a:t>PDF 文件页：176</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P174：V(CO₂)</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23 / 单选题</a:t>
            </a:r>
          </a:p>
          <a:p>
            <a:r>
              <a:t>讲义印刷页：P174</a:t>
            </a:r>
          </a:p>
          <a:p>
            <a:r>
              <a:t>PDF 文件页：176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24 / 单选题</a:t>
            </a:r>
          </a:p>
          <a:p>
            <a:r>
              <a:t>讲义印刷页：P174</a:t>
            </a:r>
          </a:p>
          <a:p>
            <a:r>
              <a:t>PDF 文件页：176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25 / 单选题</a:t>
            </a:r>
          </a:p>
          <a:p>
            <a:r>
              <a:t>讲义印刷页：P175</a:t>
            </a:r>
          </a:p>
          <a:p>
            <a:r>
              <a:t>PDF 文件页：177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26 / 填空题</a:t>
            </a:r>
          </a:p>
          <a:p>
            <a:r>
              <a:t>讲义印刷页：P175</a:t>
            </a:r>
          </a:p>
          <a:p>
            <a:r>
              <a:t>PDF 文件页：177</a:t>
            </a:r>
          </a:p>
          <a:p>
            <a:r>
              <a:t>题目保留原题空白；未补充答案。文字为可编辑内容，图形保留原图线条。</a:t>
            </a:r>
          </a:p>
          <a:p>
            <a:r>
              <a:t>OCR 重点复核位置（请对照原讲义检查公式、上下标和字符）：</a:t>
            </a:r>
          </a:p>
          <a:p>
            <a:r>
              <a:t>P175：O</a:t>
            </a:r>
          </a:p>
          <a:p>
            <a:r>
              <a:t>P175：0</a:t>
            </a:r>
          </a:p>
          <a:p>
            <a:r>
              <a:t>P175：O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27 / 填空题</a:t>
            </a:r>
          </a:p>
          <a:p>
            <a:r>
              <a:t>讲义印刷页：P175</a:t>
            </a:r>
          </a:p>
          <a:p>
            <a:r>
              <a:t>PDF 文件页：177</a:t>
            </a:r>
          </a:p>
          <a:p>
            <a:r>
              <a:t>题目保留原题空白；未补充答案。文字为可编辑内容，图形保留原图线条。</a:t>
            </a:r>
          </a:p>
          <a:p>
            <a:r>
              <a:t>OCR 重点复核位置（请对照原讲义检查公式、上下标和字符）：</a:t>
            </a:r>
          </a:p>
          <a:p>
            <a:r>
              <a:t>P175：O</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28 / 解答题</a:t>
            </a:r>
          </a:p>
          <a:p>
            <a:r>
              <a:t>讲义印刷页：P176</a:t>
            </a:r>
          </a:p>
          <a:p>
            <a:r>
              <a:t>PDF 文件页：178</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P176：1</a:t>
            </a:r>
          </a:p>
          <a:p>
            <a:r>
              <a:t>P176：司</a:t>
            </a:r>
          </a:p>
          <a:p>
            <a:r>
              <a:t>P176：音</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29 / 填空题</a:t>
            </a:r>
          </a:p>
          <a:p>
            <a:r>
              <a:t>讲义印刷页：P177</a:t>
            </a:r>
          </a:p>
          <a:p>
            <a:r>
              <a:t>PDF 文件页：179</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P177：go</a:t>
            </a:r>
          </a:p>
          <a:p>
            <a:r>
              <a:t>P177：98898888</a:t>
            </a:r>
          </a:p>
          <a:p>
            <a:r>
              <a:t>P177：C</a:t>
            </a:r>
          </a:p>
          <a:p>
            <a:r>
              <a:t>P177：D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原题定位：阶段检测（一） / 检测题 30 / 填空题</a:t>
            </a:r>
          </a:p>
          <a:p>
            <a:r>
              <a:t>讲义印刷页：P177</a:t>
            </a:r>
          </a:p>
          <a:p>
            <a:r>
              <a:t>PDF 文件页：179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8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8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8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notesSlide" Target="../notesSlides/notesSlide8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8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9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物质的量浓度"/>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物质的量浓度</a:t>
            </a:r>
          </a:p>
        </p:txBody>
      </p:sp>
      <p:sp>
        <p:nvSpPr>
          <p:cNvPr id="4" name="文字_第 08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08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152–177"/>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P152–177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物质的量浓度：分母是溶液体积"/>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物质的量浓度：分母是溶液体积</a:t>
            </a:r>
          </a:p>
        </p:txBody>
      </p:sp>
      <p:sp>
        <p:nvSpPr>
          <p:cNvPr id="5" name="文字_知识梳理 · 讲义 P15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P152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物质的量浓度：分母是溶液体积"/>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物质的量浓度：分母是溶液体积</a:t>
            </a:r>
          </a:p>
        </p:txBody>
      </p:sp>
      <p:sp>
        <p:nvSpPr>
          <p:cNvPr id="5" name="文字_知识讲解 · P15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P152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物质的量浓度 c = n／V，常用单位 mol·"/>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物质的量浓度 c = n／V，常用单位 mol·L⁻¹；V 表示溶液的体积。</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基本计算：n = cV；m = cVM；体积单位"/>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基本计算：n = cV；m = cVM；体积单位先从 mL 换为 L。</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均匀溶液取出一部分，浓度不变，溶质的物质的量随取"/>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均匀溶液取出一部分，浓度不变，溶质的物质的量随取样体积变化。</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完全电离时，离子浓度由化学式比例得到；例如 c("/>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完全电离时，离子浓度由化学式比例得到；例如 c(Na⁺) = 2c(Na₂SO₄)。</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溶液体积不等于加入的水的体积；弱电解质不"/>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溶液体积不等于加入的水的体积；弱电解质不能按完全电离直接计算离子浓度。</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稀释、混合与质量分数换算"/>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稀释、混合与质量分数换算</a:t>
            </a:r>
          </a:p>
        </p:txBody>
      </p:sp>
      <p:sp>
        <p:nvSpPr>
          <p:cNvPr id="5" name="文字_知识讲解 · P15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P152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稀释前后溶质物质的量不变：c₁V₁ = c₂V₂"/>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稀释前后溶质物质的量不变：c₁V₁ = c₂V₂。</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同种溶质混合且不反应：c混V混 = c₁V₁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同种溶质混合且不反应：c混V混 = c₁V₁ + c₂V₂。</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只有题目允许忽略体积变化时，才取 V混 = V₁"/>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只有题目允许忽略体积变化时，才取 V混 = V₁ + V₂。</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质量分数换算：c = 1000ρω／M，其中 ρ"/>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质量分数换算：c = 1000ρω／M，其中 ρ 的单位是 g·mL⁻¹，ω 为小数。</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发生反应的混合溶液，先按方程式计算剩余溶质，再除"/>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发生反应的混合溶液，先按方程式计算剩余溶质，再除以混合后溶液体积。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例题1</a:t>
            </a:r>
          </a:p>
        </p:txBody>
      </p:sp>
      <p:sp>
        <p:nvSpPr>
          <p:cNvPr id="5" name="文字_P1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P153</a:t>
            </a:r>
          </a:p>
        </p:txBody>
      </p:sp>
      <p:sp>
        <p:nvSpPr>
          <p:cNvPr id="6" name="文字_下列溶液中c(Cl+)与200mL₁ mol/L"/>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下列溶液中c(Cl+)与200mL₁ mol/L MgCl₂溶液中 c(Cl-)相同的是（）</a:t>
            </a:r>
          </a:p>
        </p:txBody>
      </p:sp>
      <p:sp>
        <p:nvSpPr>
          <p:cNvPr id="7" name="文字_A. 200mL 2 mol/L KClO₃溶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200mL 2 mol/L KClO₃溶液</a:t>
            </a:r>
          </a:p>
        </p:txBody>
      </p:sp>
      <p:sp>
        <p:nvSpPr>
          <p:cNvPr id="8" name="文字_B. 100mL 2 mol/L NaCl溶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100mL 2 mol/L NaCl溶液</a:t>
            </a:r>
          </a:p>
        </p:txBody>
      </p:sp>
      <p:sp>
        <p:nvSpPr>
          <p:cNvPr id="9" name="文字_C. 200mL 0.5 mol/L FeCl₃"/>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200mL 0.5 mol/L FeCl₃溶液</a:t>
            </a:r>
          </a:p>
        </p:txBody>
      </p:sp>
      <p:sp>
        <p:nvSpPr>
          <p:cNvPr id="10" name="文字_D. 100mL 2 mol/L CuCl₂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100mL 2 mol/L CuCl₂溶液</a:t>
            </a:r>
          </a:p>
        </p:txBody>
      </p:sp>
      <p:sp>
        <p:nvSpPr>
          <p:cNvPr id="11" name="文字_单选题  ·  08-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08-001</a:t>
            </a:r>
          </a:p>
        </p:txBody>
      </p:sp>
      <p:sp>
        <p:nvSpPr>
          <p:cNvPr id="12" name="文字_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例题2</a:t>
            </a:r>
          </a:p>
        </p:txBody>
      </p:sp>
      <p:sp>
        <p:nvSpPr>
          <p:cNvPr id="5" name="文字_P1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P153</a:t>
            </a:r>
          </a:p>
        </p:txBody>
      </p:sp>
      <p:sp>
        <p:nvSpPr>
          <p:cNvPr id="6" name="文字_下列溶液中，溶质的物质的量浓度为1.0mol·L"/>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下列溶液中，溶质的物质的量浓度为1.0mol·L-1的是</a:t>
            </a:r>
          </a:p>
        </p:txBody>
      </p:sp>
      <p:sp>
        <p:nvSpPr>
          <p:cNvPr id="7" name="文字_A. 将10.6g Na₂CO₃溶解于0.1L水"/>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将10.6g Na₂CO₃溶解于0.1L水中配成的Na₂CO₃溶液</a:t>
            </a:r>
          </a:p>
        </p:txBody>
      </p:sp>
      <p:sp>
        <p:nvSpPr>
          <p:cNvPr id="8" name="文字_B. 从100mL 10mol·L-1H₂SO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从100mL 10mol·L-1H₂SO₄溶液中取出10mL的溶液</a:t>
            </a:r>
          </a:p>
        </p:txBody>
      </p:sp>
      <p:sp>
        <p:nvSpPr>
          <p:cNvPr id="9" name="文字_C. 将8.4g NaHCO₃溶解于水中配成0."/>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将8.4g NaHCO₃溶解于水中配成0.1L的溶液</a:t>
            </a:r>
          </a:p>
        </p:txBody>
      </p:sp>
      <p:sp>
        <p:nvSpPr>
          <p:cNvPr id="10" name="文字_D. 向100mL 10mol·L-1的浓盐酸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向100mL 10mol·L-1的浓盐酸加水900mL混合所配成的溶液</a:t>
            </a:r>
          </a:p>
        </p:txBody>
      </p:sp>
      <p:sp>
        <p:nvSpPr>
          <p:cNvPr id="11" name="文字_单选题  ·  08-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08-002</a:t>
            </a:r>
          </a:p>
        </p:txBody>
      </p:sp>
      <p:sp>
        <p:nvSpPr>
          <p:cNvPr id="12" name="文字_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例题3</a:t>
            </a:r>
          </a:p>
        </p:txBody>
      </p:sp>
      <p:sp>
        <p:nvSpPr>
          <p:cNvPr id="5" name="文字_P15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P153</a:t>
            </a:r>
          </a:p>
        </p:txBody>
      </p:sp>
      <p:sp>
        <p:nvSpPr>
          <p:cNvPr id="6" name="文字_关于溶液物质的量浓度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关于溶液物质的量浓度的说法正确的是</a:t>
            </a:r>
          </a:p>
        </p:txBody>
      </p:sp>
      <p:sp>
        <p:nvSpPr>
          <p:cNvPr id="7" name="文字_A. 40gNaOH溶解在1L水中，所得溶液中溶"/>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40gNaOH溶解在1L水中，所得溶液中溶质的物质的量浓度为1mol/L</a:t>
            </a:r>
          </a:p>
        </p:txBody>
      </p:sp>
      <p:sp>
        <p:nvSpPr>
          <p:cNvPr id="8" name="文字_B. 标准状况下，将22.4LHCl溶于1L水，"/>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标准状况下，将22.4LHCl溶于1L水，可配成1mol·L-¹的稀盐酸</a:t>
            </a:r>
          </a:p>
        </p:txBody>
      </p:sp>
      <p:sp>
        <p:nvSpPr>
          <p:cNvPr id="9" name="文字_C. 200mL₀.1mol/LNaCl溶液和1"/>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200mL₀.1mol/LNaCl溶液和100mL₀.1mol/LMgCl₂溶液，Cl⁻的物质的量浓</a:t>
            </a:r>
          </a:p>
          <a:p>
            <a:pPr>
              <a:lnSpc>
                <a:spcPct val="112000"/>
              </a:lnSpc>
              <a:spcBef>
                <a:spcPts val="0"/>
              </a:spcBef>
              <a:spcAft>
                <a:spcPts val="0"/>
              </a:spcAft>
              <a:defRPr sz="2400" b="0">
                <a:solidFill>
                  <a:srgbClr val="333333"/>
                </a:solidFill>
                <a:latin typeface="微软雅黑"/>
              </a:defRPr>
            </a:pPr>
            <a:r>
              <a:rPr>
                <a:ea typeface="微软雅黑"/>
              </a:rPr>
              <a:t>度相同</a:t>
            </a:r>
          </a:p>
        </p:txBody>
      </p:sp>
      <p:sp>
        <p:nvSpPr>
          <p:cNvPr id="10" name="文字_D. 某硝酸密度为1.42g/cm³，质量分数为"/>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某硝酸密度为1.42g/cm³，质量分数为63%，此硝酸物质的量浓度为14.2mol/L</a:t>
            </a:r>
          </a:p>
        </p:txBody>
      </p:sp>
      <p:sp>
        <p:nvSpPr>
          <p:cNvPr id="11" name="文字_单选题  ·  08-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08-003</a:t>
            </a:r>
          </a:p>
        </p:txBody>
      </p:sp>
      <p:sp>
        <p:nvSpPr>
          <p:cNvPr id="12"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例题4</a:t>
            </a:r>
          </a:p>
        </p:txBody>
      </p:sp>
      <p:sp>
        <p:nvSpPr>
          <p:cNvPr id="5" name="文字_P1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P154</a:t>
            </a:r>
          </a:p>
        </p:txBody>
      </p:sp>
      <p:sp>
        <p:nvSpPr>
          <p:cNvPr id="6" name="文字_vLFe₂(SO₄)₃溶液中含有agSO₂⁻，取"/>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vLFe₂(SO₄)₃溶液中含有agSO₂⁻，取此溶液0.5vL，用水稀释至2vL，则稀释后</a:t>
            </a:r>
          </a:p>
          <a:p>
            <a:pPr>
              <a:lnSpc>
                <a:spcPct val="112000"/>
              </a:lnSpc>
              <a:spcBef>
                <a:spcPts val="0"/>
              </a:spcBef>
              <a:spcAft>
                <a:spcPts val="0"/>
              </a:spcAft>
              <a:defRPr sz="2400" b="0">
                <a:solidFill>
                  <a:srgbClr val="333333"/>
                </a:solidFill>
                <a:latin typeface="微软雅黑"/>
              </a:defRPr>
            </a:pPr>
            <a:r>
              <a:rPr>
                <a:ea typeface="微软雅黑"/>
              </a:rPr>
              <a:t>溶液中Fe³⁺的物质的量浓度为</a:t>
            </a:r>
          </a:p>
        </p:txBody>
      </p:sp>
      <p:sp>
        <p:nvSpPr>
          <p:cNvPr id="7" name="文字_A. a-mol·L-1 ______ 125a"/>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a-mol·L-1 ______ 125a ______ 250a ______ 125a</a:t>
            </a:r>
          </a:p>
        </p:txBody>
      </p:sp>
      <p:sp>
        <p:nvSpPr>
          <p:cNvPr id="8" name="文字_576v"/>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576v</a:t>
            </a:r>
          </a:p>
        </p:txBody>
      </p:sp>
      <p:sp>
        <p:nvSpPr>
          <p:cNvPr id="9" name="文字_B. -mol·L-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-mol·L-1</a:t>
            </a:r>
          </a:p>
        </p:txBody>
      </p:sp>
      <p:sp>
        <p:nvSpPr>
          <p:cNvPr id="10" name="文字_C. -mol·L-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-mol·L-1</a:t>
            </a:r>
          </a:p>
        </p:txBody>
      </p:sp>
      <p:sp>
        <p:nvSpPr>
          <p:cNvPr id="11" name="文字_D. -mol·L-1"/>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-mol·L-1</a:t>
            </a:r>
          </a:p>
        </p:txBody>
      </p:sp>
      <p:sp>
        <p:nvSpPr>
          <p:cNvPr id="12" name="文字_36v ______ 36v ______ 48"/>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36v ______ 36v ______ 48v</a:t>
            </a:r>
          </a:p>
        </p:txBody>
      </p:sp>
      <p:sp>
        <p:nvSpPr>
          <p:cNvPr id="13" name="文字_单选题  ·  08-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08-004</a:t>
            </a:r>
          </a:p>
        </p:txBody>
      </p:sp>
      <p:sp>
        <p:nvSpPr>
          <p:cNvPr id="14"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例题5</a:t>
            </a:r>
          </a:p>
        </p:txBody>
      </p:sp>
      <p:sp>
        <p:nvSpPr>
          <p:cNvPr id="5" name="文字_P1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P154</a:t>
            </a:r>
          </a:p>
        </p:txBody>
      </p:sp>
      <p:sp>
        <p:nvSpPr>
          <p:cNvPr id="6" name="文字_36.5 gHCl溶解在1 L水中(水的密度近似"/>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36.5 gHCl溶解在1 L水中(水的密度近似为1 g·mL−1)，所得溶液的密度为ρ </a:t>
            </a:r>
          </a:p>
          <a:p>
            <a:pPr>
              <a:lnSpc>
                <a:spcPct val="112000"/>
              </a:lnSpc>
              <a:spcBef>
                <a:spcPts val="0"/>
              </a:spcBef>
              <a:spcAft>
                <a:spcPts val="0"/>
              </a:spcAft>
              <a:defRPr sz="2400" b="0">
                <a:solidFill>
                  <a:srgbClr val="333333"/>
                </a:solidFill>
                <a:latin typeface="微软雅黑"/>
              </a:defRPr>
            </a:pPr>
            <a:r>
              <a:rPr>
                <a:ea typeface="微软雅黑"/>
              </a:rPr>
              <a:t>g·mL−1，质量分数为w，物质的量浓度为c mol·L-1，NA表示阿伏加德罗常数，</a:t>
            </a:r>
          </a:p>
          <a:p>
            <a:pPr>
              <a:lnSpc>
                <a:spcPct val="112000"/>
              </a:lnSpc>
              <a:spcBef>
                <a:spcPts val="0"/>
              </a:spcBef>
              <a:spcAft>
                <a:spcPts val="0"/>
              </a:spcAft>
              <a:defRPr sz="2400" b="0">
                <a:solidFill>
                  <a:srgbClr val="333333"/>
                </a:solidFill>
                <a:latin typeface="微软雅黑"/>
              </a:defRPr>
            </a:pPr>
            <a:r>
              <a:rPr>
                <a:ea typeface="微软雅黑"/>
              </a:rPr>
              <a:t>则下列叙述中正确的是</a:t>
            </a:r>
          </a:p>
        </p:txBody>
      </p:sp>
      <p:sp>
        <p:nvSpPr>
          <p:cNvPr id="7" name="文字_A. 所得溶液的物质的量浓度为1 mol·L-1"/>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所得溶液的物质的量浓度为1 mol·L-1</a:t>
            </a:r>
          </a:p>
        </p:txBody>
      </p:sp>
      <p:sp>
        <p:nvSpPr>
          <p:cNvPr id="8" name="文字_B. 所得溶液中含有NA个HCl分子"/>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所得溶液中含有NA个HCl分子</a:t>
            </a:r>
          </a:p>
        </p:txBody>
      </p:sp>
      <p:sp>
        <p:nvSpPr>
          <p:cNvPr id="9" name="文字_C. 36.5 g HCl气体占有的体积为22."/>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36.5 g HCl气体占有的体积为22.4 L</a:t>
            </a:r>
          </a:p>
        </p:txBody>
      </p:sp>
      <p:sp>
        <p:nvSpPr>
          <p:cNvPr id="10" name="文字_D. 所得溶液的质量分数：w=36.5c"/>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所得溶液的质量分数：w=36.5c</a:t>
            </a:r>
          </a:p>
        </p:txBody>
      </p:sp>
      <p:sp>
        <p:nvSpPr>
          <p:cNvPr id="11" name="文字_1000ρ"/>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1000ρ</a:t>
            </a:r>
          </a:p>
        </p:txBody>
      </p:sp>
      <p:sp>
        <p:nvSpPr>
          <p:cNvPr id="12" name="文字_单选题  ·  08-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08-005</a:t>
            </a:r>
          </a:p>
        </p:txBody>
      </p:sp>
      <p:sp>
        <p:nvSpPr>
          <p:cNvPr id="13"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例题6</a:t>
            </a:r>
          </a:p>
        </p:txBody>
      </p:sp>
      <p:sp>
        <p:nvSpPr>
          <p:cNvPr id="5" name="文字_P1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P154</a:t>
            </a:r>
          </a:p>
        </p:txBody>
      </p:sp>
      <p:sp>
        <p:nvSpPr>
          <p:cNvPr id="6" name="文字_在抗击新型冠状病毒疫情中，常常选用“84消毒液”"/>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在抗击新型冠状病毒疫情中，常常选用“84消毒液”等进行环境消毒，已知某“</a:t>
            </a:r>
          </a:p>
          <a:p>
            <a:pPr>
              <a:lnSpc>
                <a:spcPct val="112000"/>
              </a:lnSpc>
              <a:spcBef>
                <a:spcPts val="0"/>
              </a:spcBef>
              <a:spcAft>
                <a:spcPts val="0"/>
              </a:spcAft>
              <a:defRPr sz="2400" b="0">
                <a:solidFill>
                  <a:srgbClr val="333333"/>
                </a:solidFill>
                <a:latin typeface="微软雅黑"/>
              </a:defRPr>
            </a:pPr>
            <a:r>
              <a:rPr>
                <a:ea typeface="微软雅黑"/>
              </a:rPr>
              <a:t>84消毒液”瓶体部分标签如图所示，</a:t>
            </a:r>
          </a:p>
        </p:txBody>
      </p:sp>
      <p:pic>
        <p:nvPicPr>
          <p:cNvPr id="7" name="Picture 6" descr="image.png"/>
          <p:cNvPicPr>
            <a:picLocks noChangeAspect="1"/>
          </p:cNvPicPr>
          <p:nvPr/>
        </p:nvPicPr>
        <p:blipFill>
          <a:blip r:embed="rId3"/>
          <a:stretch>
            <a:fillRect/>
          </a:stretch>
        </p:blipFill>
        <p:spPr>
          <a:xfrm>
            <a:off x="502920" y="1880616"/>
            <a:ext cx="11064240" cy="2672262"/>
          </a:xfrm>
          <a:prstGeom prst="rect">
            <a:avLst/>
          </a:prstGeom>
        </p:spPr>
      </p:pic>
      <p:sp>
        <p:nvSpPr>
          <p:cNvPr id="8" name="原题文字_154_35"/>
          <p:cNvSpPr txBox="1"/>
          <p:nvPr/>
        </p:nvSpPr>
        <p:spPr>
          <a:xfrm>
            <a:off x="594802" y="1912499"/>
            <a:ext cx="618805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该“84消毒液”通常稀释100倍(体积之比)后使用。请回答下列问题:</a:t>
            </a:r>
          </a:p>
        </p:txBody>
      </p:sp>
      <p:sp>
        <p:nvSpPr>
          <p:cNvPr id="9" name="原题文字_154_36"/>
          <p:cNvSpPr txBox="1"/>
          <p:nvPr/>
        </p:nvSpPr>
        <p:spPr>
          <a:xfrm>
            <a:off x="602459" y="2325973"/>
            <a:ext cx="101963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84消毒液</a:t>
            </a:r>
          </a:p>
        </p:txBody>
      </p:sp>
      <p:sp>
        <p:nvSpPr>
          <p:cNvPr id="10" name="原题文字_154_37"/>
          <p:cNvSpPr txBox="1"/>
          <p:nvPr/>
        </p:nvSpPr>
        <p:spPr>
          <a:xfrm>
            <a:off x="640744" y="2693504"/>
            <a:ext cx="187720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[有效成分]NaC₁O</a:t>
            </a:r>
          </a:p>
        </p:txBody>
      </p:sp>
      <p:sp>
        <p:nvSpPr>
          <p:cNvPr id="11" name="原题文字_154_38"/>
          <p:cNvSpPr txBox="1"/>
          <p:nvPr/>
        </p:nvSpPr>
        <p:spPr>
          <a:xfrm>
            <a:off x="656058" y="3061036"/>
            <a:ext cx="1616874" cy="378251"/>
          </a:xfrm>
          <a:prstGeom prst="rect">
            <a:avLst/>
          </a:prstGeom>
          <a:noFill/>
        </p:spPr>
        <p:txBody>
          <a:bodyPr wrap="none" lIns="0" rIns="0" tIns="0" bIns="0">
            <a:spAutoFit/>
          </a:bodyPr>
          <a:lstStyle/>
          <a:p>
            <a:pPr>
              <a:lnSpc>
                <a:spcPct val="112000"/>
              </a:lnSpc>
              <a:spcBef>
                <a:spcPts val="0"/>
              </a:spcBef>
              <a:spcAft>
                <a:spcPts val="0"/>
              </a:spcAft>
              <a:defRPr sz="1826" b="0">
                <a:solidFill>
                  <a:srgbClr val="333333"/>
                </a:solidFill>
                <a:latin typeface="微软雅黑"/>
              </a:defRPr>
            </a:pPr>
            <a:r>
              <a:rPr>
                <a:ea typeface="微软雅黑"/>
              </a:rPr>
              <a:t>[规格] 1000 mL</a:t>
            </a:r>
          </a:p>
        </p:txBody>
      </p:sp>
      <p:sp>
        <p:nvSpPr>
          <p:cNvPr id="12" name="原题文字_154_39"/>
          <p:cNvSpPr txBox="1"/>
          <p:nvPr/>
        </p:nvSpPr>
        <p:spPr>
          <a:xfrm>
            <a:off x="656058" y="3413254"/>
            <a:ext cx="1655158" cy="388205"/>
          </a:xfrm>
          <a:prstGeom prst="rect">
            <a:avLst/>
          </a:prstGeom>
          <a:noFill/>
        </p:spPr>
        <p:txBody>
          <a:bodyPr wrap="none" lIns="0" rIns="0" tIns="0" bIns="0">
            <a:spAutoFit/>
          </a:bodyPr>
          <a:lstStyle/>
          <a:p>
            <a:pPr>
              <a:lnSpc>
                <a:spcPct val="112000"/>
              </a:lnSpc>
              <a:spcBef>
                <a:spcPts val="0"/>
              </a:spcBef>
              <a:spcAft>
                <a:spcPts val="0"/>
              </a:spcAft>
              <a:defRPr sz="1875" b="0">
                <a:solidFill>
                  <a:srgbClr val="333333"/>
                </a:solidFill>
                <a:latin typeface="微软雅黑"/>
              </a:defRPr>
            </a:pPr>
            <a:r>
              <a:rPr>
                <a:ea typeface="微软雅黑"/>
              </a:rPr>
              <a:t>[质量分数] 25%</a:t>
            </a:r>
          </a:p>
        </p:txBody>
      </p:sp>
      <p:sp>
        <p:nvSpPr>
          <p:cNvPr id="13" name="原题文字_154_40"/>
          <p:cNvSpPr txBox="1"/>
          <p:nvPr/>
        </p:nvSpPr>
        <p:spPr>
          <a:xfrm>
            <a:off x="648401" y="3757815"/>
            <a:ext cx="1961435" cy="457883"/>
          </a:xfrm>
          <a:prstGeom prst="rect">
            <a:avLst/>
          </a:prstGeom>
          <a:noFill/>
        </p:spPr>
        <p:txBody>
          <a:bodyPr wrap="none" lIns="0" rIns="0" tIns="0" bIns="0">
            <a:spAutoFit/>
          </a:bodyPr>
          <a:lstStyle/>
          <a:p>
            <a:pPr>
              <a:lnSpc>
                <a:spcPct val="112000"/>
              </a:lnSpc>
              <a:spcBef>
                <a:spcPts val="0"/>
              </a:spcBef>
              <a:spcAft>
                <a:spcPts val="0"/>
              </a:spcAft>
              <a:defRPr sz="1731" b="0">
                <a:solidFill>
                  <a:srgbClr val="333333"/>
                </a:solidFill>
                <a:latin typeface="微软雅黑"/>
              </a:defRPr>
            </a:pPr>
            <a:r>
              <a:rPr>
                <a:ea typeface="微软雅黑"/>
              </a:rPr>
              <a:t>[密度] 1.19 g·cm−3</a:t>
            </a:r>
          </a:p>
        </p:txBody>
      </p:sp>
      <p:sp>
        <p:nvSpPr>
          <p:cNvPr id="14" name="原题文字_154_41"/>
          <p:cNvSpPr txBox="1"/>
          <p:nvPr/>
        </p:nvSpPr>
        <p:spPr>
          <a:xfrm>
            <a:off x="587146" y="4217230"/>
            <a:ext cx="3538759" cy="358343"/>
          </a:xfrm>
          <a:prstGeom prst="rect">
            <a:avLst/>
          </a:prstGeom>
          <a:noFill/>
        </p:spPr>
        <p:txBody>
          <a:bodyPr wrap="none" lIns="0" rIns="0" tIns="0" bIns="0">
            <a:spAutoFit/>
          </a:bodyPr>
          <a:lstStyle/>
          <a:p>
            <a:pPr>
              <a:lnSpc>
                <a:spcPct val="112000"/>
              </a:lnSpc>
              <a:spcBef>
                <a:spcPts val="0"/>
              </a:spcBef>
              <a:spcAft>
                <a:spcPts val="0"/>
              </a:spcAft>
              <a:defRPr sz="1630" b="0">
                <a:solidFill>
                  <a:srgbClr val="333333"/>
                </a:solidFill>
                <a:latin typeface="微软雅黑"/>
              </a:defRPr>
            </a:pPr>
            <a:r>
              <a:rPr>
                <a:ea typeface="微软雅黑"/>
              </a:rPr>
              <a:t>(1)该“84消毒液”的物质的量浓度约为</a:t>
            </a:r>
          </a:p>
        </p:txBody>
      </p:sp>
      <p:sp>
        <p:nvSpPr>
          <p:cNvPr id="15" name="原题文字_154_42"/>
          <p:cNvSpPr txBox="1"/>
          <p:nvPr/>
        </p:nvSpPr>
        <p:spPr>
          <a:xfrm>
            <a:off x="4767820" y="4201916"/>
            <a:ext cx="904781"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mol·L-1</a:t>
            </a:r>
          </a:p>
        </p:txBody>
      </p:sp>
      <p:sp>
        <p:nvSpPr>
          <p:cNvPr id="16" name="文字_(2)某同学取1L该“84消毒液”，稀释后用于消"/>
          <p:cNvSpPr txBox="1"/>
          <p:nvPr/>
        </p:nvSpPr>
        <p:spPr>
          <a:xfrm>
            <a:off x="502920" y="462603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(2)某同学取1L该“84消毒液”，稀释后用于消毒，稀释后的溶液中c(Na+)= _____</a:t>
            </a:r>
          </a:p>
          <a:p>
            <a:pPr>
              <a:lnSpc>
                <a:spcPct val="112000"/>
              </a:lnSpc>
              <a:spcBef>
                <a:spcPts val="0"/>
              </a:spcBef>
              <a:spcAft>
                <a:spcPts val="0"/>
              </a:spcAft>
              <a:defRPr sz="2400" b="0">
                <a:solidFill>
                  <a:srgbClr val="333333"/>
                </a:solidFill>
                <a:latin typeface="微软雅黑"/>
              </a:defRPr>
            </a:pPr>
            <a:r>
              <a:rPr>
                <a:ea typeface="微软雅黑"/>
              </a:rPr>
              <a:t>_ mol·L-1。</a:t>
            </a:r>
          </a:p>
        </p:txBody>
      </p:sp>
      <p:sp>
        <p:nvSpPr>
          <p:cNvPr id="17" name="文字_填空题  ·  08-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08-006</a:t>
            </a:r>
          </a:p>
        </p:txBody>
      </p:sp>
      <p:sp>
        <p:nvSpPr>
          <p:cNvPr id="18"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例题7</a:t>
            </a:r>
          </a:p>
        </p:txBody>
      </p:sp>
      <p:sp>
        <p:nvSpPr>
          <p:cNvPr id="5" name="文字_P15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P154</a:t>
            </a:r>
          </a:p>
        </p:txBody>
      </p:sp>
      <p:sp>
        <p:nvSpPr>
          <p:cNvPr id="6" name="文字_回答下列问题"/>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回答下列问题</a:t>
            </a:r>
          </a:p>
        </p:txBody>
      </p:sp>
      <p:sp>
        <p:nvSpPr>
          <p:cNvPr id="7" name="文字_（1）把40.6gMgCl₂·6H₂O溶于水，配"/>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（1）把40.6gMgCl₂·6H₂O溶于水，配成500mL溶液，溶液中Cl的物质的量浓度</a:t>
            </a:r>
          </a:p>
          <a:p>
            <a:pPr>
              <a:lnSpc>
                <a:spcPct val="112000"/>
              </a:lnSpc>
              <a:spcBef>
                <a:spcPts val="0"/>
              </a:spcBef>
              <a:spcAft>
                <a:spcPts val="0"/>
              </a:spcAft>
              <a:defRPr sz="2400" b="0">
                <a:solidFill>
                  <a:srgbClr val="333333"/>
                </a:solidFill>
                <a:latin typeface="微软雅黑"/>
              </a:defRPr>
            </a:pPr>
            <a:r>
              <a:rPr>
                <a:ea typeface="微软雅黑"/>
              </a:rPr>
              <a:t>为 ______ _mol/L</a:t>
            </a:r>
          </a:p>
        </p:txBody>
      </p:sp>
      <p:sp>
        <p:nvSpPr>
          <p:cNvPr id="8" name="文字_(2）把60mL 1mol/L NaCl溶液和4"/>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(2）把60mL 1mol/L NaCl溶液和40mL 0.5mol/L CaCl₂溶液混合后（忽略体积变</a:t>
            </a:r>
          </a:p>
          <a:p>
            <a:pPr>
              <a:lnSpc>
                <a:spcPct val="112000"/>
              </a:lnSpc>
              <a:spcBef>
                <a:spcPts val="0"/>
              </a:spcBef>
              <a:spcAft>
                <a:spcPts val="0"/>
              </a:spcAft>
              <a:defRPr sz="2400" b="0">
                <a:solidFill>
                  <a:srgbClr val="333333"/>
                </a:solidFill>
                <a:latin typeface="微软雅黑"/>
              </a:defRPr>
            </a:pPr>
            <a:r>
              <a:rPr>
                <a:ea typeface="微软雅黑"/>
              </a:rPr>
              <a:t>化)，混合液中Cl-浓度为</a:t>
            </a:r>
          </a:p>
        </p:txBody>
      </p:sp>
      <p:sp>
        <p:nvSpPr>
          <p:cNvPr id="9" name="文字_mol/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mol/L</a:t>
            </a:r>
          </a:p>
        </p:txBody>
      </p:sp>
      <p:sp>
        <p:nvSpPr>
          <p:cNvPr id="10" name="文字_(3）Cl-浓度为0.4mol/L的MgCl₂溶"/>
          <p:cNvSpPr txBox="1"/>
          <p:nvPr/>
        </p:nvSpPr>
        <p:spPr>
          <a:xfrm>
            <a:off x="502920" y="356006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(3）Cl-浓度为0.4mol/L的MgCl₂溶液的物质的量浓度为 ______ mol/L，200ml该</a:t>
            </a:r>
          </a:p>
          <a:p>
            <a:pPr>
              <a:lnSpc>
                <a:spcPct val="112000"/>
              </a:lnSpc>
              <a:spcBef>
                <a:spcPts val="0"/>
              </a:spcBef>
              <a:spcAft>
                <a:spcPts val="0"/>
              </a:spcAft>
              <a:defRPr sz="2400" b="0">
                <a:solidFill>
                  <a:srgbClr val="333333"/>
                </a:solidFill>
                <a:latin typeface="微软雅黑"/>
              </a:defRPr>
            </a:pPr>
            <a:r>
              <a:rPr>
                <a:ea typeface="微软雅黑"/>
              </a:rPr>
              <a:t>MgCl₂溶液中含Mg²⁺的数目为</a:t>
            </a:r>
          </a:p>
        </p:txBody>
      </p:sp>
      <p:sp>
        <p:nvSpPr>
          <p:cNvPr id="11" name="文字_填空题  ·  08-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08-007</a:t>
            </a:r>
          </a:p>
        </p:txBody>
      </p:sp>
      <p:sp>
        <p:nvSpPr>
          <p:cNvPr id="12"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变式1</a:t>
            </a:r>
          </a:p>
        </p:txBody>
      </p:sp>
      <p:sp>
        <p:nvSpPr>
          <p:cNvPr id="5" name="文字_P1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P155</a:t>
            </a:r>
          </a:p>
        </p:txBody>
      </p:sp>
      <p:sp>
        <p:nvSpPr>
          <p:cNvPr id="6" name="文字_下列溶液中含Cl-的物质的量浓度最大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下列溶液中含Cl-的物质的量浓度最大的是</a:t>
            </a:r>
          </a:p>
        </p:txBody>
      </p:sp>
      <p:sp>
        <p:nvSpPr>
          <p:cNvPr id="7" name="文字_A. 250mL₀.1mol/LAlCl₃溶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250mL₀.1mol/LAlCl₃溶液</a:t>
            </a:r>
          </a:p>
        </p:txBody>
      </p:sp>
      <p:sp>
        <p:nvSpPr>
          <p:cNvPr id="8" name="文字_B. 1000mL₀.5mol/LNaCl溶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1000mL₀.5mol/LNaCl溶液</a:t>
            </a:r>
          </a:p>
        </p:txBody>
      </p:sp>
      <p:sp>
        <p:nvSpPr>
          <p:cNvPr id="9" name="文字_C. 200mL₀.3mol/LMgCl₂溶液"/>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200mL₀.3mol/LMgCl₂溶液</a:t>
            </a:r>
          </a:p>
        </p:txBody>
      </p:sp>
      <p:sp>
        <p:nvSpPr>
          <p:cNvPr id="10" name="文字_D. 300mL₂mol/LNaClO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300mL₂mol/LNaClO溶液</a:t>
            </a:r>
          </a:p>
        </p:txBody>
      </p:sp>
      <p:sp>
        <p:nvSpPr>
          <p:cNvPr id="11" name="文字_单选题  ·  08-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08-008</a:t>
            </a:r>
          </a:p>
        </p:txBody>
      </p:sp>
      <p:sp>
        <p:nvSpPr>
          <p:cNvPr id="12"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变式2</a:t>
            </a:r>
          </a:p>
        </p:txBody>
      </p:sp>
      <p:sp>
        <p:nvSpPr>
          <p:cNvPr id="5" name="文字_P1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P155</a:t>
            </a:r>
          </a:p>
        </p:txBody>
      </p:sp>
      <p:sp>
        <p:nvSpPr>
          <p:cNvPr id="6" name="文字_把VL含有MgSO₄和 K₂SO₄的混合溶液分成"/>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把VL含有MgSO₄和 K₂SO₄的混合溶液分成两等份，一份加入含a mol NaOH的</a:t>
            </a:r>
          </a:p>
          <a:p>
            <a:pPr>
              <a:lnSpc>
                <a:spcPct val="112000"/>
              </a:lnSpc>
              <a:spcBef>
                <a:spcPts val="0"/>
              </a:spcBef>
              <a:spcAft>
                <a:spcPts val="0"/>
              </a:spcAft>
              <a:defRPr sz="2400" b="0">
                <a:solidFill>
                  <a:srgbClr val="333333"/>
                </a:solidFill>
                <a:latin typeface="微软雅黑"/>
              </a:defRPr>
            </a:pPr>
            <a:r>
              <a:rPr>
                <a:ea typeface="微软雅黑"/>
              </a:rPr>
              <a:t>溶液，恰好使镁离子完全沉淀为氢氧化镁；另一份加入含bmol BaCl₂的溶液，恰</a:t>
            </a:r>
          </a:p>
          <a:p>
            <a:pPr>
              <a:lnSpc>
                <a:spcPct val="112000"/>
              </a:lnSpc>
              <a:spcBef>
                <a:spcPts val="0"/>
              </a:spcBef>
              <a:spcAft>
                <a:spcPts val="0"/>
              </a:spcAft>
              <a:defRPr sz="2400" b="0">
                <a:solidFill>
                  <a:srgbClr val="333333"/>
                </a:solidFill>
                <a:latin typeface="微软雅黑"/>
              </a:defRPr>
            </a:pPr>
            <a:r>
              <a:rPr>
                <a:ea typeface="微软雅黑"/>
              </a:rPr>
              <a:t>好使硫酸根离子完全沉淀为硫酸钡。则原混合溶液中硫酸钾的浓度为</a:t>
            </a:r>
          </a:p>
        </p:txBody>
      </p:sp>
      <p:sp>
        <p:nvSpPr>
          <p:cNvPr id="7" name="文字_A. (b—a)/V mol·L−1"/>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(b—a)/V mol·L−1</a:t>
            </a:r>
          </a:p>
        </p:txBody>
      </p:sp>
      <p:sp>
        <p:nvSpPr>
          <p:cNvPr id="8" name="文字_B. (2b—a)/V mol·L−1"/>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(2b—a)/V mol·L−1</a:t>
            </a:r>
          </a:p>
        </p:txBody>
      </p:sp>
      <p:sp>
        <p:nvSpPr>
          <p:cNvPr id="9" name="文字_C. 2(b-a)/V mol·L−1"/>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2(b-a)/V mol·L−1</a:t>
            </a:r>
          </a:p>
        </p:txBody>
      </p:sp>
      <p:sp>
        <p:nvSpPr>
          <p:cNvPr id="10" name="文字_D. (2b—a)/2V mol·L−1"/>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(2b—a)/2V mol·L−1</a:t>
            </a:r>
          </a:p>
        </p:txBody>
      </p:sp>
      <p:sp>
        <p:nvSpPr>
          <p:cNvPr id="11" name="文字_单选题  ·  08-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08-009</a:t>
            </a:r>
          </a:p>
        </p:txBody>
      </p:sp>
      <p:sp>
        <p:nvSpPr>
          <p:cNvPr id="12"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变式3</a:t>
            </a:r>
          </a:p>
        </p:txBody>
      </p:sp>
      <p:sp>
        <p:nvSpPr>
          <p:cNvPr id="5" name="文字_P1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P155</a:t>
            </a:r>
          </a:p>
        </p:txBody>
      </p:sp>
      <p:sp>
        <p:nvSpPr>
          <p:cNvPr id="6" name="文字_下列关于0.2mol/L的Na₂SO₄溶液的说法"/>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下列关于0.2mol/L的Na₂SO₄溶液的说法错误的是</a:t>
            </a:r>
          </a:p>
        </p:txBody>
      </p:sp>
      <p:sp>
        <p:nvSpPr>
          <p:cNvPr id="7" name="文字_A. 50mL该溶液中所含Na+数目和100mL"/>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50mL该溶液中所含Na+数目和100mL 0.1mol/L NaCl溶液中所含Na+数目相</a:t>
            </a:r>
          </a:p>
          <a:p>
            <a:pPr>
              <a:lnSpc>
                <a:spcPct val="112000"/>
              </a:lnSpc>
              <a:spcBef>
                <a:spcPts val="0"/>
              </a:spcBef>
              <a:spcAft>
                <a:spcPts val="0"/>
              </a:spcAft>
              <a:defRPr sz="2400" b="0">
                <a:solidFill>
                  <a:srgbClr val="333333"/>
                </a:solidFill>
                <a:latin typeface="微软雅黑"/>
              </a:defRPr>
            </a:pPr>
            <a:r>
              <a:rPr>
                <a:ea typeface="微软雅黑"/>
              </a:rPr>
              <a:t>同</a:t>
            </a:r>
          </a:p>
        </p:txBody>
      </p:sp>
      <p:sp>
        <p:nvSpPr>
          <p:cNvPr id="8" name="文字_B. 取100mL该溶液加水至500mL时，Na"/>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取100mL该溶液加水至500mL时，Na+的物质的量浓度为0.08mol/L</a:t>
            </a:r>
          </a:p>
        </p:txBody>
      </p:sp>
      <p:sp>
        <p:nvSpPr>
          <p:cNvPr id="9" name="文字_C. 若使500mL该溶液中的SO₂⁻恰好完全沉"/>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若使500mL该溶液中的SO₂⁻恰好完全沉淀，需要加入0.4mol/L的BaCl₂溶液的</a:t>
            </a:r>
          </a:p>
          <a:p>
            <a:pPr>
              <a:lnSpc>
                <a:spcPct val="112000"/>
              </a:lnSpc>
              <a:spcBef>
                <a:spcPts val="0"/>
              </a:spcBef>
              <a:spcAft>
                <a:spcPts val="0"/>
              </a:spcAft>
              <a:defRPr sz="2400" b="0">
                <a:solidFill>
                  <a:srgbClr val="333333"/>
                </a:solidFill>
                <a:latin typeface="微软雅黑"/>
              </a:defRPr>
            </a:pPr>
            <a:r>
              <a:rPr>
                <a:ea typeface="微软雅黑"/>
              </a:rPr>
              <a:t>体积为250mL</a:t>
            </a:r>
          </a:p>
        </p:txBody>
      </p:sp>
      <p:sp>
        <p:nvSpPr>
          <p:cNvPr id="10" name="文字_D. 1000mL该溶液中含Na+的物质的量浓度"/>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1000mL该溶液中含Na+的物质的量浓度为0.4mol/L</a:t>
            </a:r>
          </a:p>
        </p:txBody>
      </p:sp>
      <p:sp>
        <p:nvSpPr>
          <p:cNvPr id="11" name="文字_单选题  ·  08-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08-010</a:t>
            </a:r>
          </a:p>
        </p:txBody>
      </p:sp>
      <p:sp>
        <p:nvSpPr>
          <p:cNvPr id="12"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变式4</a:t>
            </a:r>
          </a:p>
        </p:txBody>
      </p:sp>
      <p:sp>
        <p:nvSpPr>
          <p:cNvPr id="5" name="文字_P15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P155</a:t>
            </a:r>
          </a:p>
        </p:txBody>
      </p:sp>
      <p:sp>
        <p:nvSpPr>
          <p:cNvPr id="6" name="文字_如图是浓盐酸试剂瓶标签上的内容，关于一定物质的量"/>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如图是浓盐酸试剂瓶标签上的内容，关于一定物质的量浓度的盐酸，下列说法正确</a:t>
            </a:r>
          </a:p>
          <a:p>
            <a:pPr>
              <a:lnSpc>
                <a:spcPct val="112000"/>
              </a:lnSpc>
              <a:spcBef>
                <a:spcPts val="0"/>
              </a:spcBef>
              <a:spcAft>
                <a:spcPts val="0"/>
              </a:spcAft>
              <a:defRPr sz="2400" b="0">
                <a:solidFill>
                  <a:srgbClr val="333333"/>
                </a:solidFill>
                <a:latin typeface="微软雅黑"/>
              </a:defRPr>
            </a:pPr>
            <a:r>
              <a:rPr>
                <a:ea typeface="微软雅黑"/>
              </a:rPr>
              <a:t>的（）</a:t>
            </a:r>
          </a:p>
        </p:txBody>
      </p:sp>
      <p:pic>
        <p:nvPicPr>
          <p:cNvPr id="7" name="Picture 6" descr="image.png"/>
          <p:cNvPicPr>
            <a:picLocks noChangeAspect="1"/>
          </p:cNvPicPr>
          <p:nvPr/>
        </p:nvPicPr>
        <p:blipFill>
          <a:blip r:embed="rId3"/>
          <a:stretch>
            <a:fillRect/>
          </a:stretch>
        </p:blipFill>
        <p:spPr>
          <a:xfrm>
            <a:off x="502920" y="1880616"/>
            <a:ext cx="11064240" cy="2312387"/>
          </a:xfrm>
          <a:prstGeom prst="rect">
            <a:avLst/>
          </a:prstGeom>
        </p:spPr>
      </p:pic>
      <p:sp>
        <p:nvSpPr>
          <p:cNvPr id="8" name="原题文字_155_31"/>
          <p:cNvSpPr txBox="1"/>
          <p:nvPr/>
        </p:nvSpPr>
        <p:spPr>
          <a:xfrm>
            <a:off x="755598" y="2027353"/>
            <a:ext cx="682730"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盐酸</a:t>
            </a:r>
          </a:p>
        </p:txBody>
      </p:sp>
      <p:sp>
        <p:nvSpPr>
          <p:cNvPr id="9" name="原题文字_155_32"/>
          <p:cNvSpPr txBox="1"/>
          <p:nvPr/>
        </p:nvSpPr>
        <p:spPr>
          <a:xfrm>
            <a:off x="786225" y="2387228"/>
            <a:ext cx="1563275"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分子式：HCl</a:t>
            </a:r>
          </a:p>
        </p:txBody>
      </p:sp>
      <p:sp>
        <p:nvSpPr>
          <p:cNvPr id="10" name="原题文字_155_33"/>
          <p:cNvSpPr txBox="1"/>
          <p:nvPr/>
        </p:nvSpPr>
        <p:spPr>
          <a:xfrm>
            <a:off x="786225" y="2724132"/>
            <a:ext cx="235959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相对分子质量：36.5</a:t>
            </a:r>
          </a:p>
        </p:txBody>
      </p:sp>
      <p:sp>
        <p:nvSpPr>
          <p:cNvPr id="11" name="原题文字_155_34"/>
          <p:cNvSpPr txBox="1"/>
          <p:nvPr/>
        </p:nvSpPr>
        <p:spPr>
          <a:xfrm>
            <a:off x="755598" y="3038066"/>
            <a:ext cx="2022690" cy="557423"/>
          </a:xfrm>
          <a:prstGeom prst="rect">
            <a:avLst/>
          </a:prstGeom>
          <a:noFill/>
        </p:spPr>
        <p:txBody>
          <a:bodyPr wrap="none" lIns="0" rIns="0" tIns="0" bIns="0">
            <a:spAutoFit/>
          </a:bodyPr>
          <a:lstStyle/>
          <a:p>
            <a:pPr>
              <a:lnSpc>
                <a:spcPct val="112000"/>
              </a:lnSpc>
              <a:spcBef>
                <a:spcPts val="0"/>
              </a:spcBef>
              <a:spcAft>
                <a:spcPts val="0"/>
              </a:spcAft>
              <a:defRPr sz="1899" b="0">
                <a:solidFill>
                  <a:srgbClr val="333333"/>
                </a:solidFill>
                <a:latin typeface="微软雅黑"/>
              </a:defRPr>
            </a:pPr>
            <a:r>
              <a:rPr>
                <a:ea typeface="微软雅黑"/>
              </a:rPr>
              <a:t>密度：1.18g·cm²3</a:t>
            </a:r>
          </a:p>
        </p:txBody>
      </p:sp>
      <p:sp>
        <p:nvSpPr>
          <p:cNvPr id="12" name="原题文字_155_35"/>
          <p:cNvSpPr txBox="1"/>
          <p:nvPr/>
        </p:nvSpPr>
        <p:spPr>
          <a:xfrm>
            <a:off x="786225" y="3443882"/>
            <a:ext cx="2704156"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HCl的质量分数：36.5%</a:t>
            </a:r>
          </a:p>
        </p:txBody>
      </p:sp>
      <p:sp>
        <p:nvSpPr>
          <p:cNvPr id="13" name="原题文字_155_36"/>
          <p:cNvSpPr txBox="1"/>
          <p:nvPr/>
        </p:nvSpPr>
        <p:spPr>
          <a:xfrm>
            <a:off x="587146" y="3895640"/>
            <a:ext cx="570566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0.5mol/L的盐酸溶液中，H+与Cl的物质的量之和为1mol</a:t>
            </a:r>
          </a:p>
        </p:txBody>
      </p:sp>
      <p:sp>
        <p:nvSpPr>
          <p:cNvPr id="14" name="文字_B. 100mL 0.1mol/L的盐酸中Cl⁻"/>
          <p:cNvSpPr txBox="1"/>
          <p:nvPr/>
        </p:nvSpPr>
        <p:spPr>
          <a:xfrm>
            <a:off x="502920" y="426615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100mL 0.1mol/L的盐酸中Cl⁻的物质的量浓度为0.1mol/L</a:t>
            </a:r>
          </a:p>
        </p:txBody>
      </p:sp>
      <p:sp>
        <p:nvSpPr>
          <p:cNvPr id="15" name="文字_C. 将100mL₆mol/L盐酸溶液敞口蒸发到"/>
          <p:cNvSpPr txBox="1"/>
          <p:nvPr/>
        </p:nvSpPr>
        <p:spPr>
          <a:xfrm>
            <a:off x="502920" y="470506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将100mL₆mol/L盐酸溶液敞口蒸发到体积为50mL后，溶液的浓度为12mol/L</a:t>
            </a:r>
          </a:p>
        </p:txBody>
      </p:sp>
      <p:sp>
        <p:nvSpPr>
          <p:cNvPr id="16" name="文字_D. 实验室用此浓盐酸配制240 mL 1mol"/>
          <p:cNvSpPr txBox="1"/>
          <p:nvPr/>
        </p:nvSpPr>
        <p:spPr>
          <a:xfrm>
            <a:off x="502920" y="5143979"/>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实验室用此浓盐酸配制240 mL 1mol/LHCl的盐酸溶液，经计算需要20.3mL浓</a:t>
            </a:r>
          </a:p>
          <a:p>
            <a:pPr>
              <a:lnSpc>
                <a:spcPct val="112000"/>
              </a:lnSpc>
              <a:spcBef>
                <a:spcPts val="0"/>
              </a:spcBef>
              <a:spcAft>
                <a:spcPts val="0"/>
              </a:spcAft>
              <a:defRPr sz="2400" b="0">
                <a:solidFill>
                  <a:srgbClr val="333333"/>
                </a:solidFill>
                <a:latin typeface="微软雅黑"/>
              </a:defRPr>
            </a:pPr>
            <a:r>
              <a:rPr>
                <a:ea typeface="微软雅黑"/>
              </a:rPr>
              <a:t>盐酸</a:t>
            </a:r>
          </a:p>
        </p:txBody>
      </p:sp>
      <p:sp>
        <p:nvSpPr>
          <p:cNvPr id="17" name="文字_单选题  ·  08-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08-011</a:t>
            </a:r>
          </a:p>
        </p:txBody>
      </p:sp>
      <p:sp>
        <p:nvSpPr>
          <p:cNvPr id="18"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电荷守恒：溶液整体呈电中性"/>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电荷守恒：溶液整体呈电中性</a:t>
            </a:r>
          </a:p>
        </p:txBody>
      </p:sp>
      <p:sp>
        <p:nvSpPr>
          <p:cNvPr id="5" name="文字_知识梳理 · 讲义 P156"/>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电荷守恒：溶液整体呈电中性"/>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电荷守恒：溶液整体呈电中性</a:t>
            </a:r>
          </a:p>
        </p:txBody>
      </p:sp>
      <p:sp>
        <p:nvSpPr>
          <p:cNvPr id="5" name="文字_知识讲解 · P156"/>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P156</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阳离子所带正电荷总量 = 阴离子所带负电荷总量。"/>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阳离子所带正电荷总量 = 阴离子所带负电荷总量。</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用浓度列式时，每种离子的浓度必须乘以其电荷数。"/>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用浓度列式时，每种离子的浓度必须乘以其电荷数。</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例如 Na⁺、Mg²⁺、Cl⁻、SO₄²⁻ 共存"/>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例如 Na⁺、Mg²⁺、Cl⁻、SO₄²⁻ 共存：c(Na⁺) + 2c(Mg²⁺) = c(Cl⁻) + </a:t>
            </a:r>
          </a:p>
          <a:p>
            <a:pPr>
              <a:lnSpc>
                <a:spcPct val="112000"/>
              </a:lnSpc>
              <a:spcBef>
                <a:spcPts val="0"/>
              </a:spcBef>
              <a:spcAft>
                <a:spcPts val="0"/>
              </a:spcAft>
              <a:defRPr sz="2400" b="0">
                <a:solidFill>
                  <a:srgbClr val="333333"/>
                </a:solidFill>
                <a:latin typeface="微软雅黑"/>
              </a:defRPr>
            </a:pPr>
            <a:r>
              <a:rPr>
                <a:ea typeface="微软雅黑"/>
              </a:rPr>
              <a:t>2c(SO₄²⁻)。</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酸性或碱性明显时还要计入 H⁺、OH⁻；题目未允"/>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酸性或碱性明显时还要计入 H⁺、OH⁻；题目未允许忽略时不能漏项。</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守恒的是正负电荷总量，不是阴、阳离子的总"/>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守恒的是正负电荷总量，不是阴、阳离子的总个数相等。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变式5</a:t>
            </a:r>
          </a:p>
        </p:txBody>
      </p:sp>
      <p:sp>
        <p:nvSpPr>
          <p:cNvPr id="5" name="文字_P1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P156</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将30mL₀.5mol·L-1的Na₂SO"/>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将30mL₀.5mol·L-1的Na₂SO₄溶液加水稀释到500mL，稀释后溶液中Na+的</a:t>
            </a:r>
          </a:p>
          <a:p>
            <a:pPr>
              <a:lnSpc>
                <a:spcPct val="112000"/>
              </a:lnSpc>
              <a:spcBef>
                <a:spcPts val="0"/>
              </a:spcBef>
              <a:spcAft>
                <a:spcPts val="0"/>
              </a:spcAft>
              <a:defRPr sz="2400" b="0">
                <a:solidFill>
                  <a:srgbClr val="333333"/>
                </a:solidFill>
                <a:latin typeface="微软雅黑"/>
              </a:defRPr>
            </a:pPr>
            <a:r>
              <a:rPr>
                <a:ea typeface="微软雅黑"/>
              </a:rPr>
              <a:t>物质的量浓度为0.03mol·L−1</a:t>
            </a:r>
          </a:p>
        </p:txBody>
      </p:sp>
      <p:sp>
        <p:nvSpPr>
          <p:cNvPr id="8" name="文字_B. VLMg(NO₃)₂溶液中含Mg₂ + a"/>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VLMg(NO₃)₂溶液中含Mg₂ + ag，溶液中c (NO₃⁻） 12a-mol·L−1</a:t>
            </a:r>
          </a:p>
        </p:txBody>
      </p:sp>
      <p:sp>
        <p:nvSpPr>
          <p:cNvPr id="9" name="文字_二"/>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二</a:t>
            </a:r>
          </a:p>
        </p:txBody>
      </p:sp>
      <p:sp>
        <p:nvSpPr>
          <p:cNvPr id="10" name="文字_V"/>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V</a:t>
            </a:r>
          </a:p>
        </p:txBody>
      </p:sp>
      <p:sp>
        <p:nvSpPr>
          <p:cNvPr id="11" name="文字_C. 配制220m L₆mol· L-1稀盐酸需"/>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配制220m L₆mol· L-1稀盐酸需取12 mol· L-1浓盐酸125m L</a:t>
            </a:r>
          </a:p>
        </p:txBody>
      </p:sp>
      <p:sp>
        <p:nvSpPr>
          <p:cNvPr id="12" name="文字_D. 将100mL₁.0mol·L-1的NaCl"/>
          <p:cNvSpPr txBox="1"/>
          <p:nvPr/>
        </p:nvSpPr>
        <p:spPr>
          <a:xfrm>
            <a:off x="502920" y="40751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将100mL₁.0mol·L-1的NaCl溶液与200mL₁.5mol·L-¹的NaCl溶液混合（忽略</a:t>
            </a:r>
          </a:p>
          <a:p>
            <a:pPr>
              <a:lnSpc>
                <a:spcPct val="112000"/>
              </a:lnSpc>
              <a:spcBef>
                <a:spcPts val="0"/>
              </a:spcBef>
              <a:spcAft>
                <a:spcPts val="0"/>
              </a:spcAft>
              <a:defRPr sz="2400" b="0">
                <a:solidFill>
                  <a:srgbClr val="333333"/>
                </a:solidFill>
                <a:latin typeface="微软雅黑"/>
              </a:defRPr>
            </a:pPr>
            <a:r>
              <a:rPr>
                <a:ea typeface="微软雅黑"/>
              </a:rPr>
              <a:t>溶液体积变化)，得到溶液的物质的量浓度为2.5mol·L-¹</a:t>
            </a:r>
          </a:p>
        </p:txBody>
      </p:sp>
      <p:sp>
        <p:nvSpPr>
          <p:cNvPr id="13" name="文字_单选题  ·  08-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08-012</a:t>
            </a:r>
          </a:p>
        </p:txBody>
      </p:sp>
      <p:sp>
        <p:nvSpPr>
          <p:cNvPr id="14"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物质的量浓度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物质的量浓度 · 变式6</a:t>
            </a:r>
          </a:p>
        </p:txBody>
      </p:sp>
      <p:sp>
        <p:nvSpPr>
          <p:cNvPr id="5" name="文字_P1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P156</a:t>
            </a:r>
          </a:p>
        </p:txBody>
      </p:sp>
      <p:sp>
        <p:nvSpPr>
          <p:cNvPr id="6" name="文字_回答下列问题"/>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回答下列问题</a:t>
            </a:r>
          </a:p>
        </p:txBody>
      </p:sp>
      <p:sp>
        <p:nvSpPr>
          <p:cNvPr id="7" name="文字_(1)将0.6gCH₃COOH溶于水制成1L溶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(1)将0.6gCH₃COOH溶于水制成1L溶液，此溶液的物质的量浓度为</a:t>
            </a:r>
          </a:p>
        </p:txBody>
      </p:sp>
      <p:sp>
        <p:nvSpPr>
          <p:cNvPr id="8" name="文字_(2） 在300mL 2mol/LH₂SO₄溶液"/>
          <p:cNvSpPr txBox="1"/>
          <p:nvPr/>
        </p:nvSpPr>
        <p:spPr>
          <a:xfrm>
            <a:off x="502920" y="19568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在300mL 2mol/LH₂SO₄溶液中，SO₂⁻4的物质的量浓度是 ______ mol/L，</a:t>
            </a:r>
          </a:p>
          <a:p>
            <a:pPr>
              <a:lnSpc>
                <a:spcPct val="112000"/>
              </a:lnSpc>
              <a:spcBef>
                <a:spcPts val="0"/>
              </a:spcBef>
              <a:spcAft>
                <a:spcPts val="0"/>
              </a:spcAft>
              <a:defRPr sz="2400" b="0">
                <a:solidFill>
                  <a:srgbClr val="333333"/>
                </a:solidFill>
                <a:latin typeface="微软雅黑"/>
              </a:defRPr>
            </a:pPr>
            <a:r>
              <a:rPr>
                <a:ea typeface="微软雅黑"/>
              </a:rPr>
              <a:t>H⁺的物质的量浓度是mol/L，溶质的质量是 ______ g</a:t>
            </a:r>
          </a:p>
        </p:txBody>
      </p:sp>
      <p:sp>
        <p:nvSpPr>
          <p:cNvPr id="9" name="文字_(3） 将300mL₀.1 mol·L-1氢氧化"/>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将300mL₀.1 mol·L-1氢氧化钠溶液和100mL₀.75 mol·L-1硫酸溶液混合加水</a:t>
            </a:r>
          </a:p>
          <a:p>
            <a:pPr>
              <a:lnSpc>
                <a:spcPct val="112000"/>
              </a:lnSpc>
              <a:spcBef>
                <a:spcPts val="0"/>
              </a:spcBef>
              <a:spcAft>
                <a:spcPts val="0"/>
              </a:spcAft>
              <a:defRPr sz="2400" b="0">
                <a:solidFill>
                  <a:srgbClr val="333333"/>
                </a:solidFill>
                <a:latin typeface="微软雅黑"/>
              </a:defRPr>
            </a:pPr>
            <a:r>
              <a:rPr>
                <a:ea typeface="微软雅黑"/>
              </a:rPr>
              <a:t>稀释到500mL，求混合溶液中H+的物质的量浓度为 ______ mol·L-1</a:t>
            </a:r>
          </a:p>
        </p:txBody>
      </p:sp>
      <p:sp>
        <p:nvSpPr>
          <p:cNvPr id="10" name="文字_填空题  ·  08-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08-013</a:t>
            </a:r>
          </a:p>
        </p:txBody>
      </p:sp>
      <p:sp>
        <p:nvSpPr>
          <p:cNvPr id="11" name="文字_1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例题1</a:t>
            </a:r>
          </a:p>
        </p:txBody>
      </p:sp>
      <p:sp>
        <p:nvSpPr>
          <p:cNvPr id="5" name="文字_P1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P156</a:t>
            </a:r>
          </a:p>
        </p:txBody>
      </p:sp>
      <p:sp>
        <p:nvSpPr>
          <p:cNvPr id="6" name="文字_某植物营养液中有Zn²⁺、K+、NO₃、SO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某植物营养液中有Zn²⁺、K+、NO₃、SO₂⁻四种离子，其中K+、NO₃、SO₂⁻的</a:t>
            </a:r>
          </a:p>
          <a:p>
            <a:pPr>
              <a:lnSpc>
                <a:spcPct val="112000"/>
              </a:lnSpc>
              <a:spcBef>
                <a:spcPts val="0"/>
              </a:spcBef>
              <a:spcAft>
                <a:spcPts val="0"/>
              </a:spcAft>
              <a:defRPr sz="2400" b="0">
                <a:solidFill>
                  <a:srgbClr val="333333"/>
                </a:solidFill>
                <a:latin typeface="微软雅黑"/>
              </a:defRPr>
            </a:pPr>
            <a:r>
              <a:rPr>
                <a:ea typeface="微软雅黑"/>
              </a:rPr>
              <a:t>物质的量浓度分别为0.1mol/L、0.3mol/L、0.2 mol/L，则Zn²⁺的物质的量浓度</a:t>
            </a:r>
          </a:p>
          <a:p>
            <a:pPr>
              <a:lnSpc>
                <a:spcPct val="112000"/>
              </a:lnSpc>
              <a:spcBef>
                <a:spcPts val="0"/>
              </a:spcBef>
              <a:spcAft>
                <a:spcPts val="0"/>
              </a:spcAft>
              <a:defRPr sz="2400" b="0">
                <a:solidFill>
                  <a:srgbClr val="333333"/>
                </a:solidFill>
                <a:latin typeface="微软雅黑"/>
              </a:defRPr>
            </a:pPr>
            <a:r>
              <a:rPr>
                <a:ea typeface="微软雅黑"/>
              </a:rPr>
              <a:t>为</a:t>
            </a:r>
          </a:p>
        </p:txBody>
      </p:sp>
      <p:sp>
        <p:nvSpPr>
          <p:cNvPr id="7" name="文字_A. 0.3 mol/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0.3 mol/L</a:t>
            </a:r>
          </a:p>
        </p:txBody>
      </p:sp>
      <p:sp>
        <p:nvSpPr>
          <p:cNvPr id="8" name="文字_B. 0.5 mol/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0.5 mol/L</a:t>
            </a:r>
          </a:p>
        </p:txBody>
      </p:sp>
      <p:sp>
        <p:nvSpPr>
          <p:cNvPr id="9" name="文字_C. 0.7 mol/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0.7 mol/L</a:t>
            </a:r>
          </a:p>
        </p:txBody>
      </p:sp>
      <p:sp>
        <p:nvSpPr>
          <p:cNvPr id="10" name="文字_D. 0.9 mol/L"/>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0.9 mol/L</a:t>
            </a:r>
          </a:p>
        </p:txBody>
      </p:sp>
      <p:sp>
        <p:nvSpPr>
          <p:cNvPr id="11" name="文字_单选题  ·  08-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08-014</a:t>
            </a:r>
          </a:p>
        </p:txBody>
      </p:sp>
      <p:sp>
        <p:nvSpPr>
          <p:cNvPr id="12" name="文字_2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例题2</a:t>
            </a:r>
          </a:p>
        </p:txBody>
      </p:sp>
      <p:sp>
        <p:nvSpPr>
          <p:cNvPr id="5" name="文字_P15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P156</a:t>
            </a:r>
          </a:p>
        </p:txBody>
      </p:sp>
      <p:sp>
        <p:nvSpPr>
          <p:cNvPr id="6" name="文字_某溶液中仅含有Na+、Mg²⁺、SO₂⁻、Cl−"/>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某溶液中仅含有Na+、Mg²⁺、SO₂⁻、Cl−四种离子，其物质的量浓度比为c(Na+</a:t>
            </a:r>
          </a:p>
          <a:p>
            <a:pPr>
              <a:lnSpc>
                <a:spcPct val="112000"/>
              </a:lnSpc>
              <a:spcBef>
                <a:spcPts val="0"/>
              </a:spcBef>
              <a:spcAft>
                <a:spcPts val="0"/>
              </a:spcAft>
              <a:defRPr sz="2400" b="0">
                <a:solidFill>
                  <a:srgbClr val="333333"/>
                </a:solidFill>
                <a:latin typeface="微软雅黑"/>
              </a:defRPr>
            </a:pPr>
            <a:r>
              <a:rPr>
                <a:ea typeface="微软雅黑"/>
              </a:rPr>
              <a:t>):c(Mg²⁺):c(Cl−)=3:5:5，若c (Na+) = 3mol·L-1, 则c (SO₂⁻)为</a:t>
            </a:r>
          </a:p>
        </p:txBody>
      </p:sp>
      <p:sp>
        <p:nvSpPr>
          <p:cNvPr id="7" name="文字_A. 2mol·L-1"/>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2mol·L-1</a:t>
            </a:r>
          </a:p>
        </p:txBody>
      </p:sp>
      <p:sp>
        <p:nvSpPr>
          <p:cNvPr id="8" name="文字_B. 3mol·L-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3mol·L-1</a:t>
            </a:r>
          </a:p>
        </p:txBody>
      </p:sp>
      <p:sp>
        <p:nvSpPr>
          <p:cNvPr id="9" name="文字_C. 4mol·L-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4mol·L-1</a:t>
            </a:r>
          </a:p>
        </p:txBody>
      </p:sp>
      <p:sp>
        <p:nvSpPr>
          <p:cNvPr id="10" name="文字_D. 8mol·L-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8mol·L-1</a:t>
            </a:r>
          </a:p>
        </p:txBody>
      </p:sp>
      <p:sp>
        <p:nvSpPr>
          <p:cNvPr id="11" name="文字_单选题  ·  08-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08-015</a:t>
            </a:r>
          </a:p>
        </p:txBody>
      </p:sp>
      <p:sp>
        <p:nvSpPr>
          <p:cNvPr id="12" name="文字_2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例题3</a:t>
            </a:r>
          </a:p>
        </p:txBody>
      </p:sp>
      <p:sp>
        <p:nvSpPr>
          <p:cNvPr id="5" name="文字_P1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P157</a:t>
            </a:r>
          </a:p>
        </p:txBody>
      </p:sp>
      <p:sp>
        <p:nvSpPr>
          <p:cNvPr id="6" name="文字_某一由硫酸钠、硫酸铁和硫酸组成的混合溶液中n（H"/>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某一由硫酸钠、硫酸铁和硫酸组成的混合溶液中n（H+）=0.1mol，n（Fe³⁺）=</a:t>
            </a:r>
          </a:p>
          <a:p>
            <a:pPr>
              <a:lnSpc>
                <a:spcPct val="112000"/>
              </a:lnSpc>
              <a:spcBef>
                <a:spcPts val="0"/>
              </a:spcBef>
              <a:spcAft>
                <a:spcPts val="0"/>
              </a:spcAft>
              <a:defRPr sz="2400" b="0">
                <a:solidFill>
                  <a:srgbClr val="333333"/>
                </a:solidFill>
                <a:latin typeface="微软雅黑"/>
              </a:defRPr>
            </a:pPr>
            <a:r>
              <a:rPr>
                <a:ea typeface="微软雅黑"/>
              </a:rPr>
              <a:t>0.4mol，n（SO₄²⁻）=0.8mol，则n(Na+）为（）</a:t>
            </a:r>
          </a:p>
        </p:txBody>
      </p:sp>
      <p:sp>
        <p:nvSpPr>
          <p:cNvPr id="7" name="文字_A. 0.15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0.15mol</a:t>
            </a:r>
          </a:p>
        </p:txBody>
      </p:sp>
      <p:sp>
        <p:nvSpPr>
          <p:cNvPr id="8" name="文字_B. 0.2mo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0.2mol</a:t>
            </a:r>
          </a:p>
        </p:txBody>
      </p:sp>
      <p:sp>
        <p:nvSpPr>
          <p:cNvPr id="9" name="文字_C. 0.3mo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0.3mol</a:t>
            </a:r>
          </a:p>
        </p:txBody>
      </p:sp>
      <p:sp>
        <p:nvSpPr>
          <p:cNvPr id="10" name="文字_D. 0.4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0.4mol</a:t>
            </a:r>
          </a:p>
        </p:txBody>
      </p:sp>
      <p:sp>
        <p:nvSpPr>
          <p:cNvPr id="11" name="文字_单选题  ·  08-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08-016</a:t>
            </a:r>
          </a:p>
        </p:txBody>
      </p:sp>
      <p:sp>
        <p:nvSpPr>
          <p:cNvPr id="12" name="文字_2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变式1</a:t>
            </a:r>
          </a:p>
        </p:txBody>
      </p:sp>
      <p:sp>
        <p:nvSpPr>
          <p:cNvPr id="5" name="文字_P1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P157</a:t>
            </a:r>
          </a:p>
        </p:txBody>
      </p:sp>
      <p:sp>
        <p:nvSpPr>
          <p:cNvPr id="6" name="文字_某溶液中仅含有K+、Mg²⁺、SO₂⁻、NO₅四"/>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某溶液中仅含有K+、Mg²⁺、SO₂⁻、NO₅四种离子，其中K+与Mg²⁺的个数之比</a:t>
            </a:r>
          </a:p>
          <a:p>
            <a:pPr>
              <a:lnSpc>
                <a:spcPct val="112000"/>
              </a:lnSpc>
              <a:spcBef>
                <a:spcPts val="0"/>
              </a:spcBef>
              <a:spcAft>
                <a:spcPts val="0"/>
              </a:spcAft>
              <a:defRPr sz="2400" b="0">
                <a:solidFill>
                  <a:srgbClr val="333333"/>
                </a:solidFill>
                <a:latin typeface="微软雅黑"/>
              </a:defRPr>
            </a:pPr>
            <a:r>
              <a:rPr>
                <a:ea typeface="微软雅黑"/>
              </a:rPr>
              <a:t>为4：5，则NO₃与SO₂⁻的物质的量浓度之比一定不是</a:t>
            </a:r>
          </a:p>
        </p:txBody>
      </p:sp>
      <p:sp>
        <p:nvSpPr>
          <p:cNvPr id="7" name="文字_A. 8: 3"/>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8: 3</a:t>
            </a:r>
          </a:p>
        </p:txBody>
      </p:sp>
      <p:sp>
        <p:nvSpPr>
          <p:cNvPr id="8" name="文字_B. 3: 2"/>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 2</a:t>
            </a:r>
          </a:p>
        </p:txBody>
      </p:sp>
      <p:sp>
        <p:nvSpPr>
          <p:cNvPr id="9" name="文字_C. 1: 3"/>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 3</a:t>
            </a:r>
          </a:p>
        </p:txBody>
      </p:sp>
      <p:sp>
        <p:nvSpPr>
          <p:cNvPr id="10" name="文字_D. 2: 3"/>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 3</a:t>
            </a:r>
          </a:p>
        </p:txBody>
      </p:sp>
      <p:sp>
        <p:nvSpPr>
          <p:cNvPr id="11" name="文字_单选题  ·  08-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08-017</a:t>
            </a:r>
          </a:p>
        </p:txBody>
      </p:sp>
      <p:sp>
        <p:nvSpPr>
          <p:cNvPr id="12" name="文字_2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变式2</a:t>
            </a:r>
          </a:p>
        </p:txBody>
      </p:sp>
      <p:sp>
        <p:nvSpPr>
          <p:cNvPr id="5" name="文字_P1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P157</a:t>
            </a:r>
          </a:p>
        </p:txBody>
      </p:sp>
      <p:pic>
        <p:nvPicPr>
          <p:cNvPr id="6" name="Picture 5" descr="image.png"/>
          <p:cNvPicPr>
            <a:picLocks noChangeAspect="1"/>
          </p:cNvPicPr>
          <p:nvPr/>
        </p:nvPicPr>
        <p:blipFill>
          <a:blip r:embed="rId3"/>
          <a:stretch>
            <a:fillRect/>
          </a:stretch>
        </p:blipFill>
        <p:spPr>
          <a:xfrm>
            <a:off x="502920" y="1078992"/>
            <a:ext cx="11064240" cy="1569667"/>
          </a:xfrm>
          <a:prstGeom prst="rect">
            <a:avLst/>
          </a:prstGeom>
        </p:spPr>
      </p:pic>
      <p:sp>
        <p:nvSpPr>
          <p:cNvPr id="7" name="原题文字_157_22"/>
          <p:cNvSpPr txBox="1"/>
          <p:nvPr/>
        </p:nvSpPr>
        <p:spPr>
          <a:xfrm>
            <a:off x="594802" y="1103218"/>
            <a:ext cx="5529557"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同学们配制的植物营养液中含有的离子种类及浓度如下表。</a:t>
            </a:r>
          </a:p>
        </p:txBody>
      </p:sp>
      <p:sp>
        <p:nvSpPr>
          <p:cNvPr id="8" name="原题文字_157_23"/>
          <p:cNvSpPr txBox="1"/>
          <p:nvPr/>
        </p:nvSpPr>
        <p:spPr>
          <a:xfrm>
            <a:off x="617773" y="1470750"/>
            <a:ext cx="100432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离子种类</a:t>
            </a:r>
          </a:p>
        </p:txBody>
      </p:sp>
      <p:sp>
        <p:nvSpPr>
          <p:cNvPr id="9" name="原题文字_157_24"/>
          <p:cNvSpPr txBox="1"/>
          <p:nvPr/>
        </p:nvSpPr>
        <p:spPr>
          <a:xfrm>
            <a:off x="2110871" y="1501378"/>
            <a:ext cx="475994"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K⁺</a:t>
            </a:r>
          </a:p>
        </p:txBody>
      </p:sp>
      <p:sp>
        <p:nvSpPr>
          <p:cNvPr id="10" name="原题文字_157_25"/>
          <p:cNvSpPr txBox="1"/>
          <p:nvPr/>
        </p:nvSpPr>
        <p:spPr>
          <a:xfrm>
            <a:off x="3734137" y="1440123"/>
            <a:ext cx="1103861" cy="537515"/>
          </a:xfrm>
          <a:prstGeom prst="rect">
            <a:avLst/>
          </a:prstGeom>
          <a:noFill/>
        </p:spPr>
        <p:txBody>
          <a:bodyPr wrap="none" lIns="0" rIns="0" tIns="0" bIns="0">
            <a:spAutoFit/>
          </a:bodyPr>
          <a:lstStyle/>
          <a:p>
            <a:pPr>
              <a:lnSpc>
                <a:spcPct val="112000"/>
              </a:lnSpc>
              <a:spcBef>
                <a:spcPts val="0"/>
              </a:spcBef>
              <a:spcAft>
                <a:spcPts val="0"/>
              </a:spcAft>
              <a:defRPr sz="1817" b="0">
                <a:solidFill>
                  <a:srgbClr val="333333"/>
                </a:solidFill>
                <a:latin typeface="微软雅黑"/>
              </a:defRPr>
            </a:pPr>
            <a:r>
              <a:rPr>
                <a:ea typeface="微软雅黑"/>
              </a:rPr>
              <a:t>Na + NO-</a:t>
            </a:r>
          </a:p>
        </p:txBody>
      </p:sp>
      <p:sp>
        <p:nvSpPr>
          <p:cNvPr id="11" name="原题文字_157_26"/>
          <p:cNvSpPr txBox="1"/>
          <p:nvPr/>
        </p:nvSpPr>
        <p:spPr>
          <a:xfrm>
            <a:off x="4721879" y="1455436"/>
            <a:ext cx="613818" cy="487745"/>
          </a:xfrm>
          <a:prstGeom prst="rect">
            <a:avLst/>
          </a:prstGeom>
          <a:noFill/>
        </p:spPr>
        <p:txBody>
          <a:bodyPr wrap="non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PO₃</a:t>
            </a:r>
          </a:p>
        </p:txBody>
      </p:sp>
      <p:sp>
        <p:nvSpPr>
          <p:cNvPr id="12" name="原题文字_157_27"/>
          <p:cNvSpPr txBox="1"/>
          <p:nvPr/>
        </p:nvSpPr>
        <p:spPr>
          <a:xfrm>
            <a:off x="633087" y="1907194"/>
            <a:ext cx="2007376" cy="378251"/>
          </a:xfrm>
          <a:prstGeom prst="rect">
            <a:avLst/>
          </a:prstGeom>
          <a:noFill/>
        </p:spPr>
        <p:txBody>
          <a:bodyPr wrap="none" lIns="0" rIns="0" tIns="0" bIns="0">
            <a:spAutoFit/>
          </a:bodyPr>
          <a:lstStyle/>
          <a:p>
            <a:pPr>
              <a:lnSpc>
                <a:spcPct val="112000"/>
              </a:lnSpc>
              <a:spcBef>
                <a:spcPts val="0"/>
              </a:spcBef>
              <a:spcAft>
                <a:spcPts val="0"/>
              </a:spcAft>
              <a:defRPr sz="1796" b="0">
                <a:solidFill>
                  <a:srgbClr val="333333"/>
                </a:solidFill>
                <a:latin typeface="微软雅黑"/>
              </a:defRPr>
            </a:pPr>
            <a:r>
              <a:rPr>
                <a:ea typeface="微软雅黑"/>
              </a:rPr>
              <a:t>浓度(mol· L−1)0.01</a:t>
            </a:r>
          </a:p>
        </p:txBody>
      </p:sp>
      <p:sp>
        <p:nvSpPr>
          <p:cNvPr id="13" name="原题文字_157_28"/>
          <p:cNvSpPr txBox="1"/>
          <p:nvPr/>
        </p:nvSpPr>
        <p:spPr>
          <a:xfrm>
            <a:off x="3780078" y="1930165"/>
            <a:ext cx="56787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0.01</a:t>
            </a:r>
          </a:p>
        </p:txBody>
      </p:sp>
      <p:sp>
        <p:nvSpPr>
          <p:cNvPr id="14" name="原题文字_157_29"/>
          <p:cNvSpPr txBox="1"/>
          <p:nvPr/>
        </p:nvSpPr>
        <p:spPr>
          <a:xfrm>
            <a:off x="4170581" y="1930165"/>
            <a:ext cx="118808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0.0150.005</a:t>
            </a:r>
          </a:p>
        </p:txBody>
      </p:sp>
      <p:sp>
        <p:nvSpPr>
          <p:cNvPr id="15" name="原题文字_157_30"/>
          <p:cNvSpPr txBox="1"/>
          <p:nvPr/>
        </p:nvSpPr>
        <p:spPr>
          <a:xfrm>
            <a:off x="594802" y="2343638"/>
            <a:ext cx="374549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该植物营养液中NH的物质的量浓度为</a:t>
            </a:r>
          </a:p>
        </p:txBody>
      </p:sp>
      <p:sp>
        <p:nvSpPr>
          <p:cNvPr id="16" name="文字_A. 0.005 mol · L−1"/>
          <p:cNvSpPr txBox="1"/>
          <p:nvPr/>
        </p:nvSpPr>
        <p:spPr>
          <a:xfrm>
            <a:off x="502920" y="272181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0.005 mol · L−1</a:t>
            </a:r>
          </a:p>
        </p:txBody>
      </p:sp>
      <p:sp>
        <p:nvSpPr>
          <p:cNvPr id="17" name="文字_B. 0.01 mol · L−1"/>
          <p:cNvSpPr txBox="1"/>
          <p:nvPr/>
        </p:nvSpPr>
        <p:spPr>
          <a:xfrm>
            <a:off x="502920" y="316072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0.01 mol · L−1</a:t>
            </a:r>
          </a:p>
        </p:txBody>
      </p:sp>
      <p:sp>
        <p:nvSpPr>
          <p:cNvPr id="18" name="文字_C. 0.015 mol·L−1"/>
          <p:cNvSpPr txBox="1"/>
          <p:nvPr/>
        </p:nvSpPr>
        <p:spPr>
          <a:xfrm>
            <a:off x="502920" y="359963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0.015 mol·L−1</a:t>
            </a:r>
          </a:p>
        </p:txBody>
      </p:sp>
      <p:sp>
        <p:nvSpPr>
          <p:cNvPr id="19" name="文字_D. 0.02 mol · L−1"/>
          <p:cNvSpPr txBox="1"/>
          <p:nvPr/>
        </p:nvSpPr>
        <p:spPr>
          <a:xfrm>
            <a:off x="502920" y="403854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0.02 mol · L−1</a:t>
            </a:r>
          </a:p>
        </p:txBody>
      </p:sp>
      <p:sp>
        <p:nvSpPr>
          <p:cNvPr id="20" name="文字_单选题  ·  08-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08-018</a:t>
            </a:r>
          </a:p>
        </p:txBody>
      </p:sp>
      <p:sp>
        <p:nvSpPr>
          <p:cNvPr id="21" name="文字_2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电荷守恒定律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电荷守恒定律 · 变式3</a:t>
            </a:r>
          </a:p>
        </p:txBody>
      </p:sp>
      <p:sp>
        <p:nvSpPr>
          <p:cNvPr id="5" name="文字_P15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P157</a:t>
            </a:r>
          </a:p>
        </p:txBody>
      </p:sp>
      <p:sp>
        <p:nvSpPr>
          <p:cNvPr id="6" name="文字_已知某矿泉水中所含离子(除表中所列离子外，不含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已知某矿泉水中所含离子(除表中所列离子外，不含其他离子)及其物质的量浓度如</a:t>
            </a:r>
          </a:p>
          <a:p>
            <a:pPr>
              <a:lnSpc>
                <a:spcPct val="112000"/>
              </a:lnSpc>
              <a:spcBef>
                <a:spcPts val="0"/>
              </a:spcBef>
              <a:spcAft>
                <a:spcPts val="0"/>
              </a:spcAft>
              <a:defRPr sz="2400" b="0">
                <a:solidFill>
                  <a:srgbClr val="333333"/>
                </a:solidFill>
                <a:latin typeface="微软雅黑"/>
              </a:defRPr>
            </a:pPr>
            <a:r>
              <a:rPr>
                <a:ea typeface="微软雅黑"/>
              </a:rPr>
              <a:t>表所示。</a:t>
            </a:r>
          </a:p>
        </p:txBody>
      </p:sp>
      <p:pic>
        <p:nvPicPr>
          <p:cNvPr id="7" name="Picture 6" descr="image.png"/>
          <p:cNvPicPr>
            <a:picLocks noChangeAspect="1"/>
          </p:cNvPicPr>
          <p:nvPr/>
        </p:nvPicPr>
        <p:blipFill>
          <a:blip r:embed="rId3"/>
          <a:stretch>
            <a:fillRect/>
          </a:stretch>
        </p:blipFill>
        <p:spPr>
          <a:xfrm>
            <a:off x="502920" y="1880616"/>
            <a:ext cx="11064240" cy="1937199"/>
          </a:xfrm>
          <a:prstGeom prst="rect">
            <a:avLst/>
          </a:prstGeom>
        </p:spPr>
      </p:pic>
      <p:sp>
        <p:nvSpPr>
          <p:cNvPr id="8" name="原题文字_157_39"/>
          <p:cNvSpPr txBox="1"/>
          <p:nvPr/>
        </p:nvSpPr>
        <p:spPr>
          <a:xfrm>
            <a:off x="594802" y="1912499"/>
            <a:ext cx="557549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(已知溶液中阳离子所带电荷总数等于阴离子所带电荷总数)</a:t>
            </a:r>
          </a:p>
        </p:txBody>
      </p:sp>
      <p:sp>
        <p:nvSpPr>
          <p:cNvPr id="9" name="原题文字_157_40"/>
          <p:cNvSpPr txBox="1"/>
          <p:nvPr/>
        </p:nvSpPr>
        <p:spPr>
          <a:xfrm>
            <a:off x="602459" y="2295345"/>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离子</a:t>
            </a:r>
          </a:p>
        </p:txBody>
      </p:sp>
      <p:sp>
        <p:nvSpPr>
          <p:cNvPr id="10" name="原题文字_157_41"/>
          <p:cNvSpPr txBox="1"/>
          <p:nvPr/>
        </p:nvSpPr>
        <p:spPr>
          <a:xfrm>
            <a:off x="2815307" y="2333630"/>
            <a:ext cx="50662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K⁺</a:t>
            </a:r>
          </a:p>
        </p:txBody>
      </p:sp>
      <p:sp>
        <p:nvSpPr>
          <p:cNvPr id="11" name="原题文字_157_42"/>
          <p:cNvSpPr txBox="1"/>
          <p:nvPr/>
        </p:nvSpPr>
        <p:spPr>
          <a:xfrm>
            <a:off x="3213467" y="2310659"/>
            <a:ext cx="64444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Na⁺</a:t>
            </a:r>
          </a:p>
        </p:txBody>
      </p:sp>
      <p:sp>
        <p:nvSpPr>
          <p:cNvPr id="12" name="原题文字_157_43"/>
          <p:cNvSpPr txBox="1"/>
          <p:nvPr/>
        </p:nvSpPr>
        <p:spPr>
          <a:xfrm>
            <a:off x="3703509" y="2264717"/>
            <a:ext cx="1264656" cy="507653"/>
          </a:xfrm>
          <a:prstGeom prst="rect">
            <a:avLst/>
          </a:prstGeom>
          <a:noFill/>
        </p:spPr>
        <p:txBody>
          <a:bodyPr wrap="none" lIns="0" rIns="0" tIns="0" bIns="0">
            <a:spAutoFit/>
          </a:bodyPr>
          <a:lstStyle/>
          <a:p>
            <a:pPr>
              <a:lnSpc>
                <a:spcPct val="112000"/>
              </a:lnSpc>
              <a:spcBef>
                <a:spcPts val="0"/>
              </a:spcBef>
              <a:spcAft>
                <a:spcPts val="0"/>
              </a:spcAft>
              <a:defRPr sz="1659" b="0">
                <a:solidFill>
                  <a:srgbClr val="333333"/>
                </a:solidFill>
                <a:latin typeface="微软雅黑"/>
              </a:defRPr>
            </a:pPr>
            <a:r>
              <a:rPr>
                <a:ea typeface="微软雅黑"/>
              </a:rPr>
              <a:t>Ca₂ + Mg²⁺</a:t>
            </a:r>
          </a:p>
        </p:txBody>
      </p:sp>
      <p:sp>
        <p:nvSpPr>
          <p:cNvPr id="13" name="原题文字_157_44"/>
          <p:cNvSpPr txBox="1"/>
          <p:nvPr/>
        </p:nvSpPr>
        <p:spPr>
          <a:xfrm>
            <a:off x="5097068" y="2287688"/>
            <a:ext cx="774613" cy="497699"/>
          </a:xfrm>
          <a:prstGeom prst="rect">
            <a:avLst/>
          </a:prstGeom>
          <a:noFill/>
        </p:spPr>
        <p:txBody>
          <a:bodyPr wrap="none" lIns="0" rIns="0" tIns="0" bIns="0">
            <a:spAutoFit/>
          </a:bodyPr>
          <a:lstStyle/>
          <a:p>
            <a:pPr>
              <a:lnSpc>
                <a:spcPct val="112000"/>
              </a:lnSpc>
              <a:spcBef>
                <a:spcPts val="0"/>
              </a:spcBef>
              <a:spcAft>
                <a:spcPts val="0"/>
              </a:spcAft>
              <a:defRPr sz="2062" b="0">
                <a:solidFill>
                  <a:srgbClr val="333333"/>
                </a:solidFill>
                <a:latin typeface="微软雅黑"/>
              </a:defRPr>
            </a:pPr>
            <a:r>
              <a:rPr>
                <a:ea typeface="微软雅黑"/>
              </a:rPr>
              <a:t>HCO₃</a:t>
            </a:r>
          </a:p>
        </p:txBody>
      </p:sp>
      <p:sp>
        <p:nvSpPr>
          <p:cNvPr id="14" name="原题文字_157_45"/>
          <p:cNvSpPr txBox="1"/>
          <p:nvPr/>
        </p:nvSpPr>
        <p:spPr>
          <a:xfrm>
            <a:off x="5977613" y="2348943"/>
            <a:ext cx="38411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Cl</a:t>
            </a:r>
          </a:p>
        </p:txBody>
      </p:sp>
      <p:sp>
        <p:nvSpPr>
          <p:cNvPr id="15" name="原题文字_157_46"/>
          <p:cNvSpPr txBox="1"/>
          <p:nvPr/>
        </p:nvSpPr>
        <p:spPr>
          <a:xfrm>
            <a:off x="617773" y="2708818"/>
            <a:ext cx="3255453" cy="418067"/>
          </a:xfrm>
          <a:prstGeom prst="rect">
            <a:avLst/>
          </a:prstGeom>
          <a:noFill/>
        </p:spPr>
        <p:txBody>
          <a:bodyPr wrap="none" lIns="0" rIns="0" tIns="0" bIns="0">
            <a:spAutoFit/>
          </a:bodyPr>
          <a:lstStyle/>
          <a:p>
            <a:pPr>
              <a:lnSpc>
                <a:spcPct val="112000"/>
              </a:lnSpc>
              <a:spcBef>
                <a:spcPts val="0"/>
              </a:spcBef>
              <a:spcAft>
                <a:spcPts val="0"/>
              </a:spcAft>
              <a:defRPr sz="1692" b="0">
                <a:solidFill>
                  <a:srgbClr val="333333"/>
                </a:solidFill>
                <a:latin typeface="微软雅黑"/>
              </a:defRPr>
            </a:pPr>
            <a:r>
              <a:rPr>
                <a:ea typeface="微软雅黑"/>
              </a:rPr>
              <a:t>物质的量浓度/(mol·L-1)10-410−3</a:t>
            </a:r>
          </a:p>
        </p:txBody>
      </p:sp>
      <p:sp>
        <p:nvSpPr>
          <p:cNvPr id="16" name="原题文字_157_47"/>
          <p:cNvSpPr txBox="1"/>
          <p:nvPr/>
        </p:nvSpPr>
        <p:spPr>
          <a:xfrm>
            <a:off x="3734137" y="2708818"/>
            <a:ext cx="629132"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10-3</a:t>
            </a:r>
          </a:p>
        </p:txBody>
      </p:sp>
      <p:sp>
        <p:nvSpPr>
          <p:cNvPr id="17" name="原题文字_157_48"/>
          <p:cNvSpPr txBox="1"/>
          <p:nvPr/>
        </p:nvSpPr>
        <p:spPr>
          <a:xfrm>
            <a:off x="4247150" y="2724132"/>
            <a:ext cx="1639845" cy="388205"/>
          </a:xfrm>
          <a:prstGeom prst="rect">
            <a:avLst/>
          </a:prstGeom>
          <a:noFill/>
        </p:spPr>
        <p:txBody>
          <a:bodyPr wrap="none" lIns="0" rIns="0" tIns="0" bIns="0">
            <a:spAutoFit/>
          </a:bodyPr>
          <a:lstStyle/>
          <a:p>
            <a:pPr>
              <a:lnSpc>
                <a:spcPct val="112000"/>
              </a:lnSpc>
              <a:spcBef>
                <a:spcPts val="0"/>
              </a:spcBef>
              <a:spcAft>
                <a:spcPts val="0"/>
              </a:spcAft>
              <a:defRPr sz="1731" b="0">
                <a:solidFill>
                  <a:srgbClr val="333333"/>
                </a:solidFill>
                <a:latin typeface="微软雅黑"/>
              </a:defRPr>
            </a:pPr>
            <a:r>
              <a:rPr>
                <a:ea typeface="微软雅黑"/>
              </a:rPr>
              <a:t>2 × 10−33 × 10</a:t>
            </a:r>
          </a:p>
        </p:txBody>
      </p:sp>
      <p:sp>
        <p:nvSpPr>
          <p:cNvPr id="18" name="原题文字_157_49"/>
          <p:cNvSpPr txBox="1"/>
          <p:nvPr/>
        </p:nvSpPr>
        <p:spPr>
          <a:xfrm>
            <a:off x="5962299" y="2808358"/>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X</a:t>
            </a:r>
          </a:p>
        </p:txBody>
      </p:sp>
      <p:sp>
        <p:nvSpPr>
          <p:cNvPr id="19" name="原题文字_157_50"/>
          <p:cNvSpPr txBox="1"/>
          <p:nvPr/>
        </p:nvSpPr>
        <p:spPr>
          <a:xfrm>
            <a:off x="564175" y="3152919"/>
            <a:ext cx="1088547" cy="398159"/>
          </a:xfrm>
          <a:prstGeom prst="rect">
            <a:avLst/>
          </a:prstGeom>
          <a:noFill/>
        </p:spPr>
        <p:txBody>
          <a:bodyPr wrap="none" lIns="0" rIns="0" tIns="0" bIns="0">
            <a:spAutoFit/>
          </a:bodyPr>
          <a:lstStyle/>
          <a:p>
            <a:pPr>
              <a:lnSpc>
                <a:spcPct val="112000"/>
              </a:lnSpc>
              <a:spcBef>
                <a:spcPts val="0"/>
              </a:spcBef>
              <a:spcAft>
                <a:spcPts val="0"/>
              </a:spcAft>
              <a:defRPr sz="1917" b="0">
                <a:solidFill>
                  <a:srgbClr val="333333"/>
                </a:solidFill>
                <a:latin typeface="微软雅黑"/>
              </a:defRPr>
            </a:pPr>
            <a:r>
              <a:rPr>
                <a:ea typeface="微软雅黑"/>
              </a:rPr>
              <a:t>则x的值为</a:t>
            </a:r>
          </a:p>
        </p:txBody>
      </p:sp>
      <p:sp>
        <p:nvSpPr>
          <p:cNvPr id="20" name="原题文字_157_51"/>
          <p:cNvSpPr txBox="1"/>
          <p:nvPr/>
        </p:nvSpPr>
        <p:spPr>
          <a:xfrm>
            <a:off x="533547" y="3497480"/>
            <a:ext cx="935409" cy="447929"/>
          </a:xfrm>
          <a:prstGeom prst="rect">
            <a:avLst/>
          </a:prstGeom>
          <a:noFill/>
        </p:spPr>
        <p:txBody>
          <a:bodyPr wrap="none" lIns="0" rIns="0" tIns="0" bIns="0">
            <a:spAutoFit/>
          </a:bodyPr>
          <a:lstStyle/>
          <a:p>
            <a:pPr>
              <a:lnSpc>
                <a:spcPct val="112000"/>
              </a:lnSpc>
              <a:spcBef>
                <a:spcPts val="0"/>
              </a:spcBef>
              <a:spcAft>
                <a:spcPts val="0"/>
              </a:spcAft>
              <a:defRPr sz="1978" b="0">
                <a:solidFill>
                  <a:srgbClr val="333333"/>
                </a:solidFill>
                <a:latin typeface="微软雅黑"/>
              </a:defRPr>
            </a:pPr>
            <a:r>
              <a:rPr>
                <a:ea typeface="微软雅黑"/>
              </a:rPr>
              <a:t>A. 10−4</a:t>
            </a:r>
          </a:p>
        </p:txBody>
      </p:sp>
      <p:sp>
        <p:nvSpPr>
          <p:cNvPr id="21" name="原题文字_157_52"/>
          <p:cNvSpPr txBox="1"/>
          <p:nvPr/>
        </p:nvSpPr>
        <p:spPr>
          <a:xfrm>
            <a:off x="3213467" y="3482167"/>
            <a:ext cx="1471392" cy="497699"/>
          </a:xfrm>
          <a:prstGeom prst="rect">
            <a:avLst/>
          </a:prstGeom>
          <a:noFill/>
        </p:spPr>
        <p:txBody>
          <a:bodyPr wrap="none" lIns="0" rIns="0" tIns="0" bIns="0">
            <a:spAutoFit/>
          </a:bodyPr>
          <a:lstStyle/>
          <a:p>
            <a:pPr>
              <a:lnSpc>
                <a:spcPct val="112000"/>
              </a:lnSpc>
              <a:spcBef>
                <a:spcPts val="0"/>
              </a:spcBef>
              <a:spcAft>
                <a:spcPts val="0"/>
              </a:spcAft>
              <a:defRPr sz="1803" b="0">
                <a:solidFill>
                  <a:srgbClr val="333333"/>
                </a:solidFill>
                <a:latin typeface="微软雅黑"/>
              </a:defRPr>
            </a:pPr>
            <a:r>
              <a:rPr>
                <a:ea typeface="微软雅黑"/>
              </a:rPr>
              <a:t>B. 1.1 × 10−3</a:t>
            </a:r>
          </a:p>
        </p:txBody>
      </p:sp>
      <p:sp>
        <p:nvSpPr>
          <p:cNvPr id="22" name="原题文字_157_53"/>
          <p:cNvSpPr txBox="1"/>
          <p:nvPr/>
        </p:nvSpPr>
        <p:spPr>
          <a:xfrm>
            <a:off x="5924014" y="3489823"/>
            <a:ext cx="1448422" cy="477791"/>
          </a:xfrm>
          <a:prstGeom prst="rect">
            <a:avLst/>
          </a:prstGeom>
          <a:noFill/>
        </p:spPr>
        <p:txBody>
          <a:bodyPr wrap="none" lIns="0" rIns="0" tIns="0" bIns="0">
            <a:spAutoFit/>
          </a:bodyPr>
          <a:lstStyle/>
          <a:p>
            <a:pPr>
              <a:lnSpc>
                <a:spcPct val="112000"/>
              </a:lnSpc>
              <a:spcBef>
                <a:spcPts val="0"/>
              </a:spcBef>
              <a:spcAft>
                <a:spcPts val="0"/>
              </a:spcAft>
              <a:defRPr sz="1760" b="0">
                <a:solidFill>
                  <a:srgbClr val="333333"/>
                </a:solidFill>
                <a:latin typeface="微软雅黑"/>
              </a:defRPr>
            </a:pPr>
            <a:r>
              <a:rPr>
                <a:ea typeface="微软雅黑"/>
              </a:rPr>
              <a:t>C. 3.0 × 10−3</a:t>
            </a:r>
          </a:p>
        </p:txBody>
      </p:sp>
      <p:sp>
        <p:nvSpPr>
          <p:cNvPr id="23" name="原题文字_157_54"/>
          <p:cNvSpPr txBox="1"/>
          <p:nvPr/>
        </p:nvSpPr>
        <p:spPr>
          <a:xfrm>
            <a:off x="8596277" y="3489823"/>
            <a:ext cx="1479049" cy="477791"/>
          </a:xfrm>
          <a:prstGeom prst="rect">
            <a:avLst/>
          </a:prstGeom>
          <a:noFill/>
        </p:spPr>
        <p:txBody>
          <a:bodyPr wrap="none" lIns="0" rIns="0" tIns="0" bIns="0">
            <a:spAutoFit/>
          </a:bodyPr>
          <a:lstStyle/>
          <a:p>
            <a:pPr>
              <a:lnSpc>
                <a:spcPct val="112000"/>
              </a:lnSpc>
              <a:spcBef>
                <a:spcPts val="0"/>
              </a:spcBef>
              <a:spcAft>
                <a:spcPts val="0"/>
              </a:spcAft>
              <a:defRPr sz="1774" b="0">
                <a:solidFill>
                  <a:srgbClr val="333333"/>
                </a:solidFill>
                <a:latin typeface="微软雅黑"/>
              </a:defRPr>
            </a:pPr>
            <a:r>
              <a:rPr>
                <a:ea typeface="微软雅黑"/>
              </a:rPr>
              <a:t>D. 4.1 × 10−3</a:t>
            </a:r>
          </a:p>
        </p:txBody>
      </p:sp>
      <p:sp>
        <p:nvSpPr>
          <p:cNvPr id="24" name="文字_单选题  ·  08-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08-019</a:t>
            </a:r>
          </a:p>
        </p:txBody>
      </p:sp>
      <p:sp>
        <p:nvSpPr>
          <p:cNvPr id="25"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配制溶液：仪器与容量瓶"/>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配制溶液：仪器与容量瓶</a:t>
            </a:r>
          </a:p>
        </p:txBody>
      </p:sp>
      <p:sp>
        <p:nvSpPr>
          <p:cNvPr id="5" name="文字_知识梳理 · 讲义 P158"/>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配制溶液：仪器与容量瓶"/>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配制溶液：仪器与容量瓶</a:t>
            </a:r>
          </a:p>
        </p:txBody>
      </p:sp>
      <p:sp>
        <p:nvSpPr>
          <p:cNvPr id="5" name="文字_知识讲解 · P15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P158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主要仪器：烧杯、玻璃棒、容量瓶、胶头滴管；固体溶"/>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主要仪器：烧杯、玻璃棒、容量瓶、胶头滴管；固体溶质还需天平、药匙，液体</a:t>
            </a:r>
          </a:p>
          <a:p>
            <a:pPr>
              <a:lnSpc>
                <a:spcPct val="112000"/>
              </a:lnSpc>
              <a:spcBef>
                <a:spcPts val="0"/>
              </a:spcBef>
              <a:spcAft>
                <a:spcPts val="0"/>
              </a:spcAft>
              <a:defRPr sz="2400" b="0">
                <a:solidFill>
                  <a:srgbClr val="333333"/>
                </a:solidFill>
                <a:latin typeface="微软雅黑"/>
              </a:defRPr>
            </a:pPr>
            <a:r>
              <a:rPr>
                <a:ea typeface="微软雅黑"/>
              </a:rPr>
              <a:t>原液需量取仪器。</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容量瓶的标识：容积规格、刻度线、标定温度。使用前"/>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容量瓶的标识：容积规格、刻度线、标定温度。使用前检查是否漏水。</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选择能满足所需体积的适当规格，并按实际容量瓶容积"/>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选择能满足所需体积的适当规格，并按实际容量瓶容积计算所需溶质。</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容量瓶用于准确配制一定体积的溶液，不用于直接溶解"/>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容量瓶用于准确配制一定体积的溶液，不用于直接溶解、加热或长期储存溶液。</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配制操作：八个步骤"/>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配制操作：八个步骤</a:t>
            </a:r>
          </a:p>
        </p:txBody>
      </p:sp>
      <p:sp>
        <p:nvSpPr>
          <p:cNvPr id="5" name="文字_知识讲解 · P15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P158</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计算 → 称量或量取 → 在烧杯中溶解 → 冷却"/>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计算 → 称量或量取 → 在烧杯中溶解 → 冷却后转移。</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洗涤烧杯和玻璃棒 2～3 次，洗涤液一并转入容量"/>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洗涤烧杯和玻璃棒 2～3 次，洗涤液一并转入容量瓶。</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加水至距刻度线 1～2 cm 时改用胶头滴管，平"/>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加水至距刻度线 1～2 cm 时改用胶头滴管，平视凹液面最低处至与刻度线相切</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塞紧瓶塞，上下颠倒摇匀；最后转入试剂瓶并贴标签。"/>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塞紧瓶塞，上下颠倒摇匀；最后转入试剂瓶并贴标签。</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例如配制 100 mL、1.00 mol·L⁻¹"/>
          <p:cNvSpPr txBox="1"/>
          <p:nvPr/>
        </p:nvSpPr>
        <p:spPr>
          <a:xfrm>
            <a:off x="722376" y="447446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例如配制 100 mL、1.00 mol·L⁻¹ NaCl，理论需 5.85 g；应使用精度满足要求</a:t>
            </a:r>
          </a:p>
          <a:p>
            <a:pPr>
              <a:lnSpc>
                <a:spcPct val="112000"/>
              </a:lnSpc>
              <a:spcBef>
                <a:spcPts val="0"/>
              </a:spcBef>
              <a:spcAft>
                <a:spcPts val="0"/>
              </a:spcAft>
              <a:defRPr sz="2400" b="0">
                <a:solidFill>
                  <a:srgbClr val="333333"/>
                </a:solidFill>
                <a:latin typeface="微软雅黑"/>
              </a:defRPr>
            </a:pPr>
            <a:r>
              <a:rPr>
                <a:ea typeface="微软雅黑"/>
              </a:rPr>
              <a:t>的天平。</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理论值与仪器精度要匹配；不能把 0.1 "/>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理论值与仪器精度要匹配；不能把 0.1 g 分度的托盘天平当作可精确称量 5.85 g 的天平。</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例题1</a:t>
            </a:r>
          </a:p>
        </p:txBody>
      </p:sp>
      <p:sp>
        <p:nvSpPr>
          <p:cNvPr id="5" name="文字_P1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P159</a:t>
            </a:r>
          </a:p>
        </p:txBody>
      </p:sp>
      <p:sp>
        <p:nvSpPr>
          <p:cNvPr id="6" name="文字_配制100 mL 1.00 mol/L NaCl"/>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配制100 mL 1.00 mol/L NaCl溶液，不需要用到的实验仪器是</a:t>
            </a:r>
          </a:p>
        </p:txBody>
      </p:sp>
      <p:sp>
        <p:nvSpPr>
          <p:cNvPr id="7" name="文字_A. 天平"/>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天平</a:t>
            </a:r>
          </a:p>
        </p:txBody>
      </p:sp>
      <p:sp>
        <p:nvSpPr>
          <p:cNvPr id="8" name="文字_B. 烧杯"/>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烧杯</a:t>
            </a:r>
          </a:p>
        </p:txBody>
      </p:sp>
      <p:sp>
        <p:nvSpPr>
          <p:cNvPr id="9" name="文字_C. 容量瓶(100 mL)"/>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容量瓶(100 mL)</a:t>
            </a:r>
          </a:p>
        </p:txBody>
      </p:sp>
      <p:sp>
        <p:nvSpPr>
          <p:cNvPr id="10" name="文字_D. 圆底烧瓶"/>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圆底烧瓶</a:t>
            </a:r>
          </a:p>
        </p:txBody>
      </p:sp>
      <p:sp>
        <p:nvSpPr>
          <p:cNvPr id="11" name="文字_单选题  ·  08-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08-020</a:t>
            </a:r>
          </a:p>
        </p:txBody>
      </p:sp>
      <p:sp>
        <p:nvSpPr>
          <p:cNvPr id="12"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例题2</a:t>
            </a:r>
          </a:p>
        </p:txBody>
      </p:sp>
      <p:sp>
        <p:nvSpPr>
          <p:cNvPr id="5" name="文字_P1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P159</a:t>
            </a:r>
          </a:p>
        </p:txBody>
      </p:sp>
      <p:sp>
        <p:nvSpPr>
          <p:cNvPr id="6" name="文字_实验室中需要配制2mol/L的NaCl溶液450"/>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实验室中需要配制2mol/L的NaCl溶液450mL，配制时应选用的容量瓶的规格和称</a:t>
            </a:r>
          </a:p>
          <a:p>
            <a:pPr>
              <a:lnSpc>
                <a:spcPct val="112000"/>
              </a:lnSpc>
              <a:spcBef>
                <a:spcPts val="0"/>
              </a:spcBef>
              <a:spcAft>
                <a:spcPts val="0"/>
              </a:spcAft>
              <a:defRPr sz="2400" b="0">
                <a:solidFill>
                  <a:srgbClr val="333333"/>
                </a:solidFill>
                <a:latin typeface="微软雅黑"/>
              </a:defRPr>
            </a:pPr>
            <a:r>
              <a:rPr>
                <a:ea typeface="微软雅黑"/>
              </a:rPr>
              <a:t>取的NaCl质量分别是（）</a:t>
            </a:r>
          </a:p>
        </p:txBody>
      </p:sp>
      <p:sp>
        <p:nvSpPr>
          <p:cNvPr id="7" name="文字_A. 450mL, 52.65g"/>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450mL, 52.65g</a:t>
            </a:r>
          </a:p>
        </p:txBody>
      </p:sp>
      <p:sp>
        <p:nvSpPr>
          <p:cNvPr id="8" name="文字_B. 500mL, 58.5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500mL, 58.5g</a:t>
            </a:r>
          </a:p>
        </p:txBody>
      </p:sp>
      <p:sp>
        <p:nvSpPr>
          <p:cNvPr id="9" name="文字_C. 1000mL, 58.5g"/>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1000mL, 58.5g</a:t>
            </a:r>
          </a:p>
        </p:txBody>
      </p:sp>
      <p:sp>
        <p:nvSpPr>
          <p:cNvPr id="10" name="文字_D. 任意规格，58.5g"/>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任意规格，58.5g</a:t>
            </a:r>
          </a:p>
        </p:txBody>
      </p:sp>
      <p:sp>
        <p:nvSpPr>
          <p:cNvPr id="11" name="文字_单选题  ·  08-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08-021</a:t>
            </a:r>
          </a:p>
        </p:txBody>
      </p:sp>
      <p:sp>
        <p:nvSpPr>
          <p:cNvPr id="12"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例题3</a:t>
            </a:r>
          </a:p>
        </p:txBody>
      </p:sp>
      <p:sp>
        <p:nvSpPr>
          <p:cNvPr id="5" name="文字_P1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P159</a:t>
            </a:r>
          </a:p>
        </p:txBody>
      </p:sp>
      <p:sp>
        <p:nvSpPr>
          <p:cNvPr id="6" name="文字_实验室需要200mL₁mol·L-1的CuSO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实验室需要200mL₁mol·L-1的CuSO₄溶液，下列有关溶液配制的叙述正确的是（</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7" name="文字_A. 称取32g无水硫酸铜，在烧杯中加入200m"/>
          <p:cNvSpPr txBox="1"/>
          <p:nvPr/>
        </p:nvSpPr>
        <p:spPr>
          <a:xfrm>
            <a:off x="502920" y="18806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称取32g无水硫酸铜，在烧杯中加入200mL水进行溶解，然后在250mL的容量</a:t>
            </a:r>
          </a:p>
          <a:p>
            <a:pPr>
              <a:lnSpc>
                <a:spcPct val="112000"/>
              </a:lnSpc>
              <a:spcBef>
                <a:spcPts val="0"/>
              </a:spcBef>
              <a:spcAft>
                <a:spcPts val="0"/>
              </a:spcAft>
              <a:defRPr sz="2400" b="0">
                <a:solidFill>
                  <a:srgbClr val="333333"/>
                </a:solidFill>
                <a:latin typeface="微软雅黑"/>
              </a:defRPr>
            </a:pPr>
            <a:r>
              <a:rPr>
                <a:ea typeface="微软雅黑"/>
              </a:rPr>
              <a:t>瓶中配成200mL溶液</a:t>
            </a:r>
          </a:p>
        </p:txBody>
      </p:sp>
      <p:sp>
        <p:nvSpPr>
          <p:cNvPr id="8" name="文字_B. 称取50gCuSO₄·5H₂O，在烧杯中加"/>
          <p:cNvSpPr txBox="1"/>
          <p:nvPr/>
        </p:nvSpPr>
        <p:spPr>
          <a:xfrm>
            <a:off x="502920" y="26822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称取50gCuSO₄·5H₂O，在烧杯中加适量水溶解，最终在250mL的容量瓶中配</a:t>
            </a:r>
          </a:p>
          <a:p>
            <a:pPr>
              <a:lnSpc>
                <a:spcPct val="112000"/>
              </a:lnSpc>
              <a:spcBef>
                <a:spcPts val="0"/>
              </a:spcBef>
              <a:spcAft>
                <a:spcPts val="0"/>
              </a:spcAft>
              <a:defRPr sz="2400" b="0">
                <a:solidFill>
                  <a:srgbClr val="333333"/>
                </a:solidFill>
                <a:latin typeface="微软雅黑"/>
              </a:defRPr>
            </a:pPr>
            <a:r>
              <a:rPr>
                <a:ea typeface="微软雅黑"/>
              </a:rPr>
              <a:t>成250mL溶液</a:t>
            </a:r>
          </a:p>
        </p:txBody>
      </p:sp>
      <p:sp>
        <p:nvSpPr>
          <p:cNvPr id="9" name="文字_C. 称取40g无水硫酸铜，在烧杯中加入250m"/>
          <p:cNvSpPr txBox="1"/>
          <p:nvPr/>
        </p:nvSpPr>
        <p:spPr>
          <a:xfrm>
            <a:off x="502920" y="3483863"/>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称取40g无水硫酸铜，在烧杯中加入250mL水进行溶解，然后在250mL容量瓶</a:t>
            </a:r>
          </a:p>
          <a:p>
            <a:pPr>
              <a:lnSpc>
                <a:spcPct val="112000"/>
              </a:lnSpc>
              <a:spcBef>
                <a:spcPts val="0"/>
              </a:spcBef>
              <a:spcAft>
                <a:spcPts val="0"/>
              </a:spcAft>
              <a:defRPr sz="2400" b="0">
                <a:solidFill>
                  <a:srgbClr val="333333"/>
                </a:solidFill>
                <a:latin typeface="微软雅黑"/>
              </a:defRPr>
            </a:pPr>
            <a:r>
              <a:rPr>
                <a:ea typeface="微软雅黑"/>
              </a:rPr>
              <a:t>中配成250mL溶液</a:t>
            </a:r>
          </a:p>
        </p:txBody>
      </p:sp>
      <p:sp>
        <p:nvSpPr>
          <p:cNvPr id="10" name="文字_D. 称取62.5 g CuSO₄·5H₂O，在"/>
          <p:cNvSpPr txBox="1"/>
          <p:nvPr/>
        </p:nvSpPr>
        <p:spPr>
          <a:xfrm>
            <a:off x="502920" y="428548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称取62.5 g CuSO₄·5H₂O，在烧杯中加适量水溶解，最终在250 mL的容量瓶</a:t>
            </a:r>
          </a:p>
          <a:p>
            <a:pPr>
              <a:lnSpc>
                <a:spcPct val="112000"/>
              </a:lnSpc>
              <a:spcBef>
                <a:spcPts val="0"/>
              </a:spcBef>
              <a:spcAft>
                <a:spcPts val="0"/>
              </a:spcAft>
              <a:defRPr sz="2400" b="0">
                <a:solidFill>
                  <a:srgbClr val="333333"/>
                </a:solidFill>
                <a:latin typeface="微软雅黑"/>
              </a:defRPr>
            </a:pPr>
            <a:r>
              <a:rPr>
                <a:ea typeface="微软雅黑"/>
              </a:rPr>
              <a:t>中配成250 mL溶液</a:t>
            </a:r>
          </a:p>
        </p:txBody>
      </p:sp>
      <p:sp>
        <p:nvSpPr>
          <p:cNvPr id="11" name="文字_单选题  ·  08-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08-022</a:t>
            </a:r>
          </a:p>
        </p:txBody>
      </p:sp>
      <p:sp>
        <p:nvSpPr>
          <p:cNvPr id="12"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例题4</a:t>
            </a:r>
          </a:p>
        </p:txBody>
      </p:sp>
      <p:sp>
        <p:nvSpPr>
          <p:cNvPr id="5" name="文字_P15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P159</a:t>
            </a:r>
          </a:p>
        </p:txBody>
      </p:sp>
      <p:sp>
        <p:nvSpPr>
          <p:cNvPr id="6" name="文字_实验室配制一定物质的量浓度的硫酸溶液时，下列做法"/>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实验室配制一定物质的量浓度的硫酸溶液时，下列做法正确的是（）</a:t>
            </a:r>
          </a:p>
        </p:txBody>
      </p:sp>
      <p:sp>
        <p:nvSpPr>
          <p:cNvPr id="7" name="文字_A. 容量瓶检漏时，倒置一次即可"/>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容量瓶检漏时，倒置一次即可</a:t>
            </a:r>
          </a:p>
        </p:txBody>
      </p:sp>
      <p:sp>
        <p:nvSpPr>
          <p:cNvPr id="8" name="文字_B. 稀释浓硫酸时，应把水加入盛有浓硫酸的烧杯中"/>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稀释浓硫酸时，应把水加入盛有浓硫酸的烧杯中</a:t>
            </a:r>
          </a:p>
        </p:txBody>
      </p:sp>
      <p:sp>
        <p:nvSpPr>
          <p:cNvPr id="9" name="文字_C. 硫酸溶液转移到容量瓶中需用玻璃棒引流"/>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硫酸溶液转移到容量瓶中需用玻璃棒引流</a:t>
            </a:r>
          </a:p>
        </p:txBody>
      </p:sp>
      <p:sp>
        <p:nvSpPr>
          <p:cNvPr id="10" name="文字_D. 定容时若加水超过刻度线，立即用胶头滴管吸出"/>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定容时若加水超过刻度线，立即用胶头滴管吸出多余液体</a:t>
            </a:r>
          </a:p>
        </p:txBody>
      </p:sp>
      <p:sp>
        <p:nvSpPr>
          <p:cNvPr id="11" name="文字_单选题  ·  08-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08-023</a:t>
            </a:r>
          </a:p>
        </p:txBody>
      </p:sp>
      <p:sp>
        <p:nvSpPr>
          <p:cNvPr id="12"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例题5</a:t>
            </a:r>
          </a:p>
        </p:txBody>
      </p:sp>
      <p:sp>
        <p:nvSpPr>
          <p:cNvPr id="5" name="文字_P1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P160</a:t>
            </a:r>
          </a:p>
        </p:txBody>
      </p:sp>
      <p:pic>
        <p:nvPicPr>
          <p:cNvPr id="6" name="Picture 5" descr="image.png"/>
          <p:cNvPicPr>
            <a:picLocks noChangeAspect="1"/>
          </p:cNvPicPr>
          <p:nvPr/>
        </p:nvPicPr>
        <p:blipFill>
          <a:blip r:embed="rId3"/>
          <a:stretch>
            <a:fillRect/>
          </a:stretch>
        </p:blipFill>
        <p:spPr>
          <a:xfrm>
            <a:off x="502920" y="1078992"/>
            <a:ext cx="11064240" cy="2741175"/>
          </a:xfrm>
          <a:prstGeom prst="rect">
            <a:avLst/>
          </a:prstGeom>
        </p:spPr>
      </p:pic>
      <p:sp>
        <p:nvSpPr>
          <p:cNvPr id="7" name="原题文字_160_3"/>
          <p:cNvSpPr txBox="1"/>
          <p:nvPr/>
        </p:nvSpPr>
        <p:spPr>
          <a:xfrm>
            <a:off x="587146" y="1080248"/>
            <a:ext cx="79644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若需要80mL₀.50mol/LNaOH溶液，其配制操作如图所示。下列说法正确的是（）</a:t>
            </a:r>
          </a:p>
        </p:txBody>
      </p:sp>
      <p:sp>
        <p:nvSpPr>
          <p:cNvPr id="8" name="原题文字_160_4"/>
          <p:cNvSpPr txBox="1"/>
          <p:nvPr/>
        </p:nvSpPr>
        <p:spPr>
          <a:xfrm>
            <a:off x="2470746" y="2236442"/>
            <a:ext cx="384111" cy="1174570"/>
          </a:xfrm>
          <a:prstGeom prst="rect">
            <a:avLst/>
          </a:prstGeom>
          <a:noFill/>
        </p:spPr>
        <p:txBody>
          <a:bodyPr wrap="none" lIns="0" rIns="0" tIns="0" bIns="0">
            <a:spAutoFit/>
          </a:bodyPr>
          <a:lstStyle/>
          <a:p>
            <a:pPr>
              <a:lnSpc>
                <a:spcPct val="112000"/>
              </a:lnSpc>
              <a:spcBef>
                <a:spcPts val="0"/>
              </a:spcBef>
              <a:spcAft>
                <a:spcPts val="0"/>
              </a:spcAft>
              <a:defRPr sz="3756" b="0">
                <a:solidFill>
                  <a:srgbClr val="333333"/>
                </a:solidFill>
                <a:latin typeface="微软雅黑"/>
              </a:defRPr>
            </a:pPr>
            <a:r>
              <a:rPr>
                <a:ea typeface="微软雅黑"/>
              </a:rPr>
              <a:t>蒸馏水</a:t>
            </a:r>
          </a:p>
        </p:txBody>
      </p:sp>
      <p:sp>
        <p:nvSpPr>
          <p:cNvPr id="9" name="原题文字_160_5"/>
          <p:cNvSpPr txBox="1"/>
          <p:nvPr/>
        </p:nvSpPr>
        <p:spPr>
          <a:xfrm>
            <a:off x="3389576" y="3055731"/>
            <a:ext cx="75164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NaOH</a:t>
            </a:r>
          </a:p>
        </p:txBody>
      </p:sp>
      <p:sp>
        <p:nvSpPr>
          <p:cNvPr id="10" name="原题文字_160_6"/>
          <p:cNvSpPr txBox="1"/>
          <p:nvPr/>
        </p:nvSpPr>
        <p:spPr>
          <a:xfrm>
            <a:off x="7815272" y="3032761"/>
            <a:ext cx="85883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-100mL</a:t>
            </a:r>
          </a:p>
        </p:txBody>
      </p:sp>
      <p:sp>
        <p:nvSpPr>
          <p:cNvPr id="11" name="原题文字_160_7"/>
          <p:cNvSpPr txBox="1"/>
          <p:nvPr/>
        </p:nvSpPr>
        <p:spPr>
          <a:xfrm>
            <a:off x="2999073" y="3423263"/>
            <a:ext cx="766956"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操作1</a:t>
            </a:r>
          </a:p>
        </p:txBody>
      </p:sp>
      <p:sp>
        <p:nvSpPr>
          <p:cNvPr id="12" name="原题文字_160_8"/>
          <p:cNvSpPr txBox="1"/>
          <p:nvPr/>
        </p:nvSpPr>
        <p:spPr>
          <a:xfrm>
            <a:off x="4775477" y="3423263"/>
            <a:ext cx="774613"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操作2</a:t>
            </a:r>
          </a:p>
        </p:txBody>
      </p:sp>
      <p:sp>
        <p:nvSpPr>
          <p:cNvPr id="13" name="原题文字_160_9"/>
          <p:cNvSpPr txBox="1"/>
          <p:nvPr/>
        </p:nvSpPr>
        <p:spPr>
          <a:xfrm>
            <a:off x="5954642" y="3423263"/>
            <a:ext cx="774613"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操作3</a:t>
            </a:r>
          </a:p>
        </p:txBody>
      </p:sp>
      <p:sp>
        <p:nvSpPr>
          <p:cNvPr id="14" name="原题文字_160_10"/>
          <p:cNvSpPr txBox="1"/>
          <p:nvPr/>
        </p:nvSpPr>
        <p:spPr>
          <a:xfrm>
            <a:off x="7677447" y="3423263"/>
            <a:ext cx="774613"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操作4</a:t>
            </a:r>
          </a:p>
        </p:txBody>
      </p:sp>
      <p:sp>
        <p:nvSpPr>
          <p:cNvPr id="15" name="原题文字_160_11"/>
          <p:cNvSpPr txBox="1"/>
          <p:nvPr/>
        </p:nvSpPr>
        <p:spPr>
          <a:xfrm>
            <a:off x="9032721" y="3415606"/>
            <a:ext cx="766956"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操作5</a:t>
            </a:r>
          </a:p>
        </p:txBody>
      </p:sp>
      <p:sp>
        <p:nvSpPr>
          <p:cNvPr id="16" name="文字_A. 操作1前需称取1.6gNaOH"/>
          <p:cNvSpPr txBox="1"/>
          <p:nvPr/>
        </p:nvSpPr>
        <p:spPr>
          <a:xfrm>
            <a:off x="502920" y="389331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操作1前需称取1.6gNaOH</a:t>
            </a:r>
          </a:p>
        </p:txBody>
      </p:sp>
      <p:sp>
        <p:nvSpPr>
          <p:cNvPr id="17" name="文字_B. 溶解后，立即将NaOH溶液转移至容量瓶中"/>
          <p:cNvSpPr txBox="1"/>
          <p:nvPr/>
        </p:nvSpPr>
        <p:spPr>
          <a:xfrm>
            <a:off x="502920" y="433223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溶解后，立即将NaOH溶液转移至容量瓶中</a:t>
            </a:r>
          </a:p>
        </p:txBody>
      </p:sp>
      <p:sp>
        <p:nvSpPr>
          <p:cNvPr id="18" name="文字_C. 定容时液面超过刻度线，用胶头滴管吸出会导致"/>
          <p:cNvSpPr txBox="1"/>
          <p:nvPr/>
        </p:nvSpPr>
        <p:spPr>
          <a:xfrm>
            <a:off x="502920" y="477114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定容时液面超过刻度线，用胶头滴管吸出会导致溶液浓度偏低</a:t>
            </a:r>
          </a:p>
        </p:txBody>
      </p:sp>
      <p:sp>
        <p:nvSpPr>
          <p:cNvPr id="19" name="文字_D. 装瓶后，将容量瓶洗净后，直接塞上瓶塞下次备"/>
          <p:cNvSpPr txBox="1"/>
          <p:nvPr/>
        </p:nvSpPr>
        <p:spPr>
          <a:xfrm>
            <a:off x="502920" y="521005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装瓶后，将容量瓶洗净后，直接塞上瓶塞下次备用</a:t>
            </a:r>
          </a:p>
        </p:txBody>
      </p:sp>
      <p:sp>
        <p:nvSpPr>
          <p:cNvPr id="20" name="文字_单选题  ·  08-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08-024</a:t>
            </a:r>
          </a:p>
        </p:txBody>
      </p:sp>
      <p:sp>
        <p:nvSpPr>
          <p:cNvPr id="21"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例题6</a:t>
            </a:r>
          </a:p>
        </p:txBody>
      </p:sp>
      <p:sp>
        <p:nvSpPr>
          <p:cNvPr id="5" name="文字_P1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P160</a:t>
            </a:r>
          </a:p>
        </p:txBody>
      </p:sp>
      <p:sp>
        <p:nvSpPr>
          <p:cNvPr id="6" name="文字_KOH是实验室里常用的一种试剂，实验室里配制KO"/>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KOH是实验室里常用的一种试剂，实验室里配制KOH溶液时，既可以使用浓溶液</a:t>
            </a:r>
          </a:p>
          <a:p>
            <a:pPr>
              <a:lnSpc>
                <a:spcPct val="112000"/>
              </a:lnSpc>
              <a:spcBef>
                <a:spcPts val="0"/>
              </a:spcBef>
              <a:spcAft>
                <a:spcPts val="0"/>
              </a:spcAft>
              <a:defRPr sz="2400" b="0">
                <a:solidFill>
                  <a:srgbClr val="333333"/>
                </a:solidFill>
                <a:latin typeface="微软雅黑"/>
              </a:defRPr>
            </a:pPr>
            <a:r>
              <a:rPr>
                <a:ea typeface="微软雅黑"/>
              </a:rPr>
              <a:t>稀释法配制也可以使用固体KOH来配制。实验室现在需要配制480mL₂.0mol/L的</a:t>
            </a:r>
          </a:p>
          <a:p>
            <a:pPr>
              <a:lnSpc>
                <a:spcPct val="112000"/>
              </a:lnSpc>
              <a:spcBef>
                <a:spcPts val="0"/>
              </a:spcBef>
              <a:spcAft>
                <a:spcPts val="0"/>
              </a:spcAft>
              <a:defRPr sz="2400" b="0">
                <a:solidFill>
                  <a:srgbClr val="333333"/>
                </a:solidFill>
                <a:latin typeface="微软雅黑"/>
              </a:defRPr>
            </a:pPr>
            <a:r>
              <a:rPr>
                <a:ea typeface="微软雅黑"/>
              </a:rPr>
              <a:t>KOH溶液，请回答下列问题：</a:t>
            </a:r>
          </a:p>
        </p:txBody>
      </p:sp>
      <p:sp>
        <p:nvSpPr>
          <p:cNvPr id="7" name="文字_（1）若用固体KOH配制，则需用托盘天平称取KO"/>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（1）若用固体KOH配制，则需用托盘天平称取KOH的质量 ______ g</a:t>
            </a:r>
          </a:p>
        </p:txBody>
      </p:sp>
      <p:sp>
        <p:nvSpPr>
          <p:cNvPr id="8" name="文字_(2)若用10mol/LKOH的浓溶液来配制，则"/>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(2)若用10mol/LKOH的浓溶液来配制，则使用量筒量取该溶液的体积为 ______ mL</a:t>
            </a:r>
          </a:p>
        </p:txBody>
      </p:sp>
      <p:sp>
        <p:nvSpPr>
          <p:cNvPr id="9" name="文字_(3）容量瓶上需标有以下五项中的"/>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(3）容量瓶上需标有以下五项中的</a:t>
            </a:r>
          </a:p>
        </p:txBody>
      </p:sp>
      <p:sp>
        <p:nvSpPr>
          <p:cNvPr id="10" name="文字_①温度②浓度③容量④压强⑤刻度线"/>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①温度②浓度③容量④压强⑤刻度线</a:t>
            </a:r>
          </a:p>
        </p:txBody>
      </p:sp>
      <p:sp>
        <p:nvSpPr>
          <p:cNvPr id="11" name="文字_(4)浓溶液稀释法中配制KOH过程中，若使用量筒"/>
          <p:cNvSpPr txBox="1"/>
          <p:nvPr/>
        </p:nvSpPr>
        <p:spPr>
          <a:xfrm>
            <a:off x="502920" y="3998975"/>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(4)浓溶液稀释法中配制KOH过程中，若使用量筒量取一定体积的浓KOH溶液时，</a:t>
            </a:r>
          </a:p>
          <a:p>
            <a:pPr>
              <a:lnSpc>
                <a:spcPct val="112000"/>
              </a:lnSpc>
              <a:spcBef>
                <a:spcPts val="0"/>
              </a:spcBef>
              <a:spcAft>
                <a:spcPts val="0"/>
              </a:spcAft>
              <a:defRPr sz="2400" b="0">
                <a:solidFill>
                  <a:srgbClr val="333333"/>
                </a:solidFill>
                <a:latin typeface="微软雅黑"/>
              </a:defRPr>
            </a:pPr>
            <a:r>
              <a:rPr>
                <a:ea typeface="微软雅黑"/>
              </a:rPr>
              <a:t>读数时俯视刻度线，则所配制溶液的物质的量浓度会 ______ (填偏高、偏低或不变)</a:t>
            </a:r>
          </a:p>
        </p:txBody>
      </p:sp>
      <p:sp>
        <p:nvSpPr>
          <p:cNvPr id="12" name="文字_(5) 请填空完成该实验的实验步骤"/>
          <p:cNvSpPr txBox="1"/>
          <p:nvPr/>
        </p:nvSpPr>
        <p:spPr>
          <a:xfrm>
            <a:off x="502920" y="48006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(5) 请填空完成该实验的实验步骤</a:t>
            </a:r>
          </a:p>
        </p:txBody>
      </p:sp>
      <p:sp>
        <p:nvSpPr>
          <p:cNvPr id="13" name="文字_，③溶解转移，④ ______ ，⑤定容摇匀。"/>
          <p:cNvSpPr txBox="1"/>
          <p:nvPr/>
        </p:nvSpPr>
        <p:spPr>
          <a:xfrm>
            <a:off x="502920" y="52395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，③溶解转移，④ ______ ，⑤定容摇匀。</a:t>
            </a:r>
          </a:p>
        </p:txBody>
      </p:sp>
      <p:sp>
        <p:nvSpPr>
          <p:cNvPr id="14" name="文字_解答题  ·  08-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08-025</a:t>
            </a:r>
          </a:p>
        </p:txBody>
      </p:sp>
      <p:sp>
        <p:nvSpPr>
          <p:cNvPr id="15"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变式1</a:t>
            </a:r>
          </a:p>
        </p:txBody>
      </p:sp>
      <p:sp>
        <p:nvSpPr>
          <p:cNvPr id="5" name="文字_P16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P160</a:t>
            </a:r>
          </a:p>
        </p:txBody>
      </p:sp>
      <p:sp>
        <p:nvSpPr>
          <p:cNvPr id="6" name="文字_配制100mL₁.0mol/L硫酸溶液，不需要用"/>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配制100mL₁.0mol/L硫酸溶液，不需要用到的实验仪器是（）</a:t>
            </a:r>
          </a:p>
        </p:txBody>
      </p:sp>
      <p:pic>
        <p:nvPicPr>
          <p:cNvPr id="7" name="Picture 6" descr="image.png"/>
          <p:cNvPicPr>
            <a:picLocks noChangeAspect="1"/>
          </p:cNvPicPr>
          <p:nvPr/>
        </p:nvPicPr>
        <p:blipFill>
          <a:blip r:embed="rId3"/>
          <a:stretch>
            <a:fillRect/>
          </a:stretch>
        </p:blipFill>
        <p:spPr>
          <a:xfrm>
            <a:off x="502920" y="1517904"/>
            <a:ext cx="11064240" cy="1699834"/>
          </a:xfrm>
          <a:prstGeom prst="rect">
            <a:avLst/>
          </a:prstGeom>
        </p:spPr>
      </p:pic>
      <p:sp>
        <p:nvSpPr>
          <p:cNvPr id="8" name="原题文字_160_38"/>
          <p:cNvSpPr txBox="1"/>
          <p:nvPr/>
        </p:nvSpPr>
        <p:spPr>
          <a:xfrm>
            <a:off x="3236438" y="2024516"/>
            <a:ext cx="34582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a:t>
            </a:r>
          </a:p>
        </p:txBody>
      </p:sp>
      <p:sp>
        <p:nvSpPr>
          <p:cNvPr id="9" name="原题文字_160_39"/>
          <p:cNvSpPr txBox="1"/>
          <p:nvPr/>
        </p:nvSpPr>
        <p:spPr>
          <a:xfrm>
            <a:off x="5939328" y="2085771"/>
            <a:ext cx="33816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a:t>
            </a:r>
          </a:p>
        </p:txBody>
      </p:sp>
      <p:sp>
        <p:nvSpPr>
          <p:cNvPr id="10" name="原题文字_160_40"/>
          <p:cNvSpPr txBox="1"/>
          <p:nvPr/>
        </p:nvSpPr>
        <p:spPr>
          <a:xfrm>
            <a:off x="8634562" y="2131713"/>
            <a:ext cx="31519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1" name="原题文字_160_41"/>
          <p:cNvSpPr txBox="1"/>
          <p:nvPr/>
        </p:nvSpPr>
        <p:spPr>
          <a:xfrm>
            <a:off x="564175" y="2269537"/>
            <a:ext cx="32285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A.</a:t>
            </a:r>
          </a:p>
        </p:txBody>
      </p:sp>
      <p:sp>
        <p:nvSpPr>
          <p:cNvPr id="12" name="文字_单选题  ·  08-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08-026</a:t>
            </a:r>
          </a:p>
        </p:txBody>
      </p:sp>
      <p:sp>
        <p:nvSpPr>
          <p:cNvPr id="13"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变式2</a:t>
            </a:r>
          </a:p>
        </p:txBody>
      </p:sp>
      <p:sp>
        <p:nvSpPr>
          <p:cNvPr id="5" name="文字_P1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P161</a:t>
            </a:r>
          </a:p>
        </p:txBody>
      </p:sp>
      <p:sp>
        <p:nvSpPr>
          <p:cNvPr id="6" name="文字_实验室需配制500mL₀.5mol·L-1NaC"/>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实验室需配制500mL₀.5mol·L-1NaCl溶液，下列关于该实验操作不正确的是</a:t>
            </a:r>
          </a:p>
        </p:txBody>
      </p:sp>
      <p:sp>
        <p:nvSpPr>
          <p:cNvPr id="7" name="文字_A. 称量NaCl固体14.6g"/>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称量NaCl固体14.6g</a:t>
            </a:r>
          </a:p>
        </p:txBody>
      </p:sp>
      <p:sp>
        <p:nvSpPr>
          <p:cNvPr id="8" name="文字_B. 将称量的NaCl倒入小烧杯中，加水溶解"/>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将称量的NaCl倒入小烧杯中，加水溶解</a:t>
            </a:r>
          </a:p>
        </p:txBody>
      </p:sp>
      <p:sp>
        <p:nvSpPr>
          <p:cNvPr id="9" name="文字_C. 将溶解的NaCl溶液转移至500mL容量瓶"/>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将溶解的NaCl溶液转移至500mL容量瓶中，定容</a:t>
            </a:r>
          </a:p>
        </p:txBody>
      </p:sp>
      <p:sp>
        <p:nvSpPr>
          <p:cNvPr id="10" name="文字_D. 将配好的溶液摇匀，滴加蒸馏水使液面与刻度线"/>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将配好的溶液摇匀，滴加蒸馏水使液面与刻度线齐平</a:t>
            </a:r>
          </a:p>
        </p:txBody>
      </p:sp>
      <p:sp>
        <p:nvSpPr>
          <p:cNvPr id="11" name="文字_单选题  ·  08-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08-027</a:t>
            </a:r>
          </a:p>
        </p:txBody>
      </p:sp>
      <p:sp>
        <p:nvSpPr>
          <p:cNvPr id="12"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变式3</a:t>
            </a:r>
          </a:p>
        </p:txBody>
      </p:sp>
      <p:sp>
        <p:nvSpPr>
          <p:cNvPr id="5" name="文字_P1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P161</a:t>
            </a:r>
          </a:p>
        </p:txBody>
      </p:sp>
      <p:sp>
        <p:nvSpPr>
          <p:cNvPr id="6" name="文字_下列溶液配制实验操作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下列溶液配制实验操作中正确的是（）</a:t>
            </a:r>
          </a:p>
        </p:txBody>
      </p:sp>
      <p:sp>
        <p:nvSpPr>
          <p:cNvPr id="7" name="文字_A. 配制一定物质的量浓度的H₂SO₄溶液时，用"/>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配制一定物质的量浓度的H₂SO₄溶液时，用量筒量取一定体积的浓硫酸倒入烧</a:t>
            </a:r>
          </a:p>
          <a:p>
            <a:pPr>
              <a:lnSpc>
                <a:spcPct val="112000"/>
              </a:lnSpc>
              <a:spcBef>
                <a:spcPts val="0"/>
              </a:spcBef>
              <a:spcAft>
                <a:spcPts val="0"/>
              </a:spcAft>
              <a:defRPr sz="2400" b="0">
                <a:solidFill>
                  <a:srgbClr val="333333"/>
                </a:solidFill>
                <a:latin typeface="微软雅黑"/>
              </a:defRPr>
            </a:pPr>
            <a:r>
              <a:rPr>
                <a:ea typeface="微软雅黑"/>
              </a:rPr>
              <a:t>杯后，再用蒸馏水洗涤量筒2～3次，并将洗涤液一并倒入烧杯中稀释</a:t>
            </a:r>
          </a:p>
        </p:txBody>
      </p:sp>
      <p:sp>
        <p:nvSpPr>
          <p:cNvPr id="8" name="文字_B. 配制100mL 1.0mol/L Na₂S"/>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配制100mL 1.0mol/L Na₂SO₄溶液将14.2gNa₂SO₄·10H₂O溶于少量水中，</a:t>
            </a:r>
          </a:p>
          <a:p>
            <a:pPr>
              <a:lnSpc>
                <a:spcPct val="112000"/>
              </a:lnSpc>
              <a:spcBef>
                <a:spcPts val="0"/>
              </a:spcBef>
              <a:spcAft>
                <a:spcPts val="0"/>
              </a:spcAft>
              <a:defRPr sz="2400" b="0">
                <a:solidFill>
                  <a:srgbClr val="333333"/>
                </a:solidFill>
                <a:latin typeface="微软雅黑"/>
              </a:defRPr>
            </a:pPr>
            <a:r>
              <a:rPr>
                <a:ea typeface="微软雅黑"/>
              </a:rPr>
              <a:t>再用水稀释至100mL</a:t>
            </a:r>
          </a:p>
        </p:txBody>
      </p:sp>
      <p:sp>
        <p:nvSpPr>
          <p:cNvPr id="9" name="文字_C. 配制100mL 1.0mol/L Na₂S"/>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配制100mL 1.0mol/L Na₂SO₄溶液：将20mL 5.0mol/L Na₂SO₄溶液用水稀</a:t>
            </a:r>
          </a:p>
          <a:p>
            <a:pPr>
              <a:lnSpc>
                <a:spcPct val="112000"/>
              </a:lnSpc>
              <a:spcBef>
                <a:spcPts val="0"/>
              </a:spcBef>
              <a:spcAft>
                <a:spcPts val="0"/>
              </a:spcAft>
              <a:defRPr sz="2400" b="0">
                <a:solidFill>
                  <a:srgbClr val="333333"/>
                </a:solidFill>
                <a:latin typeface="微软雅黑"/>
              </a:defRPr>
            </a:pPr>
            <a:r>
              <a:rPr>
                <a:ea typeface="微软雅黑"/>
              </a:rPr>
              <a:t>释至100mL</a:t>
            </a:r>
          </a:p>
        </p:txBody>
      </p:sp>
      <p:sp>
        <p:nvSpPr>
          <p:cNvPr id="10" name="文字_D. 将10g Na₂SO₄·10H₂O溶解在9"/>
          <p:cNvSpPr txBox="1"/>
          <p:nvPr/>
        </p:nvSpPr>
        <p:spPr>
          <a:xfrm>
            <a:off x="502920" y="39227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将10g Na₂SO₄·10H₂O溶解在90g水中，配制溶质质量分数为10%的Na₂SO₄</a:t>
            </a:r>
          </a:p>
          <a:p>
            <a:pPr>
              <a:lnSpc>
                <a:spcPct val="112000"/>
              </a:lnSpc>
              <a:spcBef>
                <a:spcPts val="0"/>
              </a:spcBef>
              <a:spcAft>
                <a:spcPts val="0"/>
              </a:spcAft>
              <a:defRPr sz="2400" b="0">
                <a:solidFill>
                  <a:srgbClr val="333333"/>
                </a:solidFill>
                <a:latin typeface="微软雅黑"/>
              </a:defRPr>
            </a:pPr>
            <a:r>
              <a:rPr>
                <a:ea typeface="微软雅黑"/>
              </a:rPr>
              <a:t>溶液</a:t>
            </a:r>
          </a:p>
        </p:txBody>
      </p:sp>
      <p:sp>
        <p:nvSpPr>
          <p:cNvPr id="11" name="文字_单选题  ·  08-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08-028</a:t>
            </a:r>
          </a:p>
        </p:txBody>
      </p:sp>
      <p:sp>
        <p:nvSpPr>
          <p:cNvPr id="12"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变式4</a:t>
            </a:r>
          </a:p>
        </p:txBody>
      </p:sp>
      <p:sp>
        <p:nvSpPr>
          <p:cNvPr id="5" name="文字_P1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P161</a:t>
            </a:r>
          </a:p>
        </p:txBody>
      </p:sp>
      <p:pic>
        <p:nvPicPr>
          <p:cNvPr id="6" name="Picture 5" descr="image.png"/>
          <p:cNvPicPr>
            <a:picLocks noChangeAspect="1"/>
          </p:cNvPicPr>
          <p:nvPr/>
        </p:nvPicPr>
        <p:blipFill>
          <a:blip r:embed="rId3"/>
          <a:stretch>
            <a:fillRect/>
          </a:stretch>
        </p:blipFill>
        <p:spPr>
          <a:xfrm>
            <a:off x="502920" y="1078992"/>
            <a:ext cx="11064240" cy="1209792"/>
          </a:xfrm>
          <a:prstGeom prst="rect">
            <a:avLst/>
          </a:prstGeom>
        </p:spPr>
      </p:pic>
      <p:sp>
        <p:nvSpPr>
          <p:cNvPr id="7" name="原题文字_161_20"/>
          <p:cNvSpPr txBox="1"/>
          <p:nvPr/>
        </p:nvSpPr>
        <p:spPr>
          <a:xfrm>
            <a:off x="594802" y="1087905"/>
            <a:ext cx="779600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小明用NaCl固体完成配置1.00mol/LNaCl溶液的实验活动，下列有关说法正确的是</a:t>
            </a:r>
          </a:p>
        </p:txBody>
      </p:sp>
      <p:sp>
        <p:nvSpPr>
          <p:cNvPr id="8" name="原题文字_161_21"/>
          <p:cNvSpPr txBox="1"/>
          <p:nvPr/>
        </p:nvSpPr>
        <p:spPr>
          <a:xfrm>
            <a:off x="602459" y="1662173"/>
            <a:ext cx="212988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 该实验方案中出现</a:t>
            </a:r>
          </a:p>
        </p:txBody>
      </p:sp>
      <p:sp>
        <p:nvSpPr>
          <p:cNvPr id="9" name="原题文字_161_22"/>
          <p:cNvSpPr txBox="1"/>
          <p:nvPr/>
        </p:nvSpPr>
        <p:spPr>
          <a:xfrm>
            <a:off x="3573342" y="1646859"/>
            <a:ext cx="32285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与</a:t>
            </a:r>
          </a:p>
        </p:txBody>
      </p:sp>
      <p:sp>
        <p:nvSpPr>
          <p:cNvPr id="10" name="原题文字_161_23"/>
          <p:cNvSpPr txBox="1"/>
          <p:nvPr/>
        </p:nvSpPr>
        <p:spPr>
          <a:xfrm>
            <a:off x="4668280" y="1639202"/>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图标</a:t>
            </a:r>
          </a:p>
        </p:txBody>
      </p:sp>
      <p:sp>
        <p:nvSpPr>
          <p:cNvPr id="11" name="文字_B. 必须用到的仪器有玻璃棒、温度计、容量瓶、胶"/>
          <p:cNvSpPr txBox="1"/>
          <p:nvPr/>
        </p:nvSpPr>
        <p:spPr>
          <a:xfrm>
            <a:off x="502920" y="236193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必须用到的仪器有玻璃棒、温度计、容量瓶、胶头滴管</a:t>
            </a:r>
          </a:p>
        </p:txBody>
      </p:sp>
      <p:sp>
        <p:nvSpPr>
          <p:cNvPr id="12" name="文字_C. 定容时仰视容量瓶刻度线，配置所得溶液浓度将"/>
          <p:cNvSpPr txBox="1"/>
          <p:nvPr/>
        </p:nvSpPr>
        <p:spPr>
          <a:xfrm>
            <a:off x="502920" y="280084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定容时仰视容量瓶刻度线，配置所得溶液浓度将偏低</a:t>
            </a:r>
          </a:p>
        </p:txBody>
      </p:sp>
      <p:sp>
        <p:nvSpPr>
          <p:cNvPr id="13" name="文字_D. 操作步骤为：计算→称量→溶解→定容→转移→"/>
          <p:cNvSpPr txBox="1"/>
          <p:nvPr/>
        </p:nvSpPr>
        <p:spPr>
          <a:xfrm>
            <a:off x="502920" y="323976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操作步骤为：计算→称量→溶解→定容→转移→摇匀</a:t>
            </a:r>
          </a:p>
        </p:txBody>
      </p:sp>
      <p:sp>
        <p:nvSpPr>
          <p:cNvPr id="14" name="文字_单选题  ·  08-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08-029</a:t>
            </a:r>
          </a:p>
        </p:txBody>
      </p:sp>
      <p:sp>
        <p:nvSpPr>
          <p:cNvPr id="15"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变式5</a:t>
            </a:r>
          </a:p>
        </p:txBody>
      </p:sp>
      <p:sp>
        <p:nvSpPr>
          <p:cNvPr id="5" name="文字_P16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P161</a:t>
            </a:r>
          </a:p>
        </p:txBody>
      </p:sp>
      <p:sp>
        <p:nvSpPr>
          <p:cNvPr id="6" name="文字_下列有关一定物质的量浓度溶液的配制说法中正确的是"/>
          <p:cNvSpPr txBox="1"/>
          <p:nvPr/>
        </p:nvSpPr>
        <p:spPr>
          <a:xfrm>
            <a:off x="502920" y="1078992"/>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下列有关一定物质的量浓度溶液的配制说法中正确的是</a:t>
            </a:r>
          </a:p>
        </p:txBody>
      </p:sp>
      <p:sp>
        <p:nvSpPr>
          <p:cNvPr id="7" name="文字_①利用图a配制0.10mol/LNaOH溶液"/>
          <p:cNvSpPr txBox="1"/>
          <p:nvPr/>
        </p:nvSpPr>
        <p:spPr>
          <a:xfrm>
            <a:off x="502920" y="1481328"/>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①利用图a配制0.10mol/LNaOH溶液</a:t>
            </a:r>
          </a:p>
        </p:txBody>
      </p:sp>
      <p:sp>
        <p:nvSpPr>
          <p:cNvPr id="8" name="文字_②为准确配制一定物质的量浓度的溶液，定容过程中向"/>
          <p:cNvSpPr txBox="1"/>
          <p:nvPr/>
        </p:nvSpPr>
        <p:spPr>
          <a:xfrm>
            <a:off x="502920" y="1883664"/>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②为准确配制一定物质的量浓度的溶液，定容过程中向容量瓶内加蒸馏水至接近刻度线时</a:t>
            </a:r>
          </a:p>
          <a:p>
            <a:pPr>
              <a:lnSpc>
                <a:spcPct val="112000"/>
              </a:lnSpc>
              <a:spcBef>
                <a:spcPts val="0"/>
              </a:spcBef>
              <a:spcAft>
                <a:spcPts val="0"/>
              </a:spcAft>
              <a:defRPr sz="2200" b="0">
                <a:solidFill>
                  <a:srgbClr val="333333"/>
                </a:solidFill>
                <a:latin typeface="微软雅黑"/>
              </a:defRPr>
            </a:pPr>
            <a:r>
              <a:rPr>
                <a:ea typeface="微软雅黑"/>
              </a:rPr>
              <a:t>，改用胶头滴管滴加蒸馏水至刻度线</a:t>
            </a:r>
          </a:p>
        </p:txBody>
      </p:sp>
      <p:sp>
        <p:nvSpPr>
          <p:cNvPr id="9" name="文字_③利用图b配制一定浓度的HCl溶液浓度会偏小"/>
          <p:cNvSpPr txBox="1"/>
          <p:nvPr/>
        </p:nvSpPr>
        <p:spPr>
          <a:xfrm>
            <a:off x="502920" y="2618486"/>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③利用图b配制一定浓度的HCl溶液浓度会偏小</a:t>
            </a:r>
          </a:p>
        </p:txBody>
      </p:sp>
      <p:sp>
        <p:nvSpPr>
          <p:cNvPr id="10" name="文字_④利用图c配制一定物质的量浓度Na₂CO₃溶液"/>
          <p:cNvSpPr txBox="1"/>
          <p:nvPr/>
        </p:nvSpPr>
        <p:spPr>
          <a:xfrm>
            <a:off x="502920" y="3020822"/>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④利用图c配制一定物质的量浓度Na₂CO₃溶液</a:t>
            </a:r>
          </a:p>
        </p:txBody>
      </p:sp>
      <p:sp>
        <p:nvSpPr>
          <p:cNvPr id="11" name="文字_⑤配制NaOH溶液固体溶解后，直接转移至容量瓶，"/>
          <p:cNvSpPr txBox="1"/>
          <p:nvPr/>
        </p:nvSpPr>
        <p:spPr>
          <a:xfrm>
            <a:off x="502920" y="3423158"/>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⑤配制NaOH溶液固体溶解后，直接转移至容量瓶，然后洗涤定容，所配溶液浓度偏高</a:t>
            </a:r>
          </a:p>
        </p:txBody>
      </p:sp>
      <p:sp>
        <p:nvSpPr>
          <p:cNvPr id="12" name="文字_⑥用容量瓶配制溶液时，若加水超过刻度线，立即用滴"/>
          <p:cNvSpPr txBox="1"/>
          <p:nvPr/>
        </p:nvSpPr>
        <p:spPr>
          <a:xfrm>
            <a:off x="502920" y="3825494"/>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⑥用容量瓶配制溶液时，若加水超过刻度线，立即用滴管吸出多余液体</a:t>
            </a:r>
          </a:p>
        </p:txBody>
      </p:sp>
      <p:pic>
        <p:nvPicPr>
          <p:cNvPr id="13" name="Picture 12" descr="image.png"/>
          <p:cNvPicPr>
            <a:picLocks noChangeAspect="1"/>
          </p:cNvPicPr>
          <p:nvPr/>
        </p:nvPicPr>
        <p:blipFill>
          <a:blip r:embed="rId3"/>
          <a:stretch>
            <a:fillRect/>
          </a:stretch>
        </p:blipFill>
        <p:spPr>
          <a:xfrm>
            <a:off x="502920" y="4227830"/>
            <a:ext cx="11064240" cy="1600294"/>
          </a:xfrm>
          <a:prstGeom prst="rect">
            <a:avLst/>
          </a:prstGeom>
        </p:spPr>
      </p:pic>
      <p:sp>
        <p:nvSpPr>
          <p:cNvPr id="14" name="原题文字_161_38"/>
          <p:cNvSpPr txBox="1"/>
          <p:nvPr/>
        </p:nvSpPr>
        <p:spPr>
          <a:xfrm>
            <a:off x="564175" y="4267370"/>
            <a:ext cx="874153"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A. ①⑥</a:t>
            </a:r>
          </a:p>
        </p:txBody>
      </p:sp>
      <p:sp>
        <p:nvSpPr>
          <p:cNvPr id="15" name="原题文字_161_39"/>
          <p:cNvSpPr txBox="1"/>
          <p:nvPr/>
        </p:nvSpPr>
        <p:spPr>
          <a:xfrm>
            <a:off x="2455432" y="4275027"/>
            <a:ext cx="88181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B. ②⑤</a:t>
            </a:r>
          </a:p>
        </p:txBody>
      </p:sp>
      <p:sp>
        <p:nvSpPr>
          <p:cNvPr id="16" name="原题文字_161_40"/>
          <p:cNvSpPr txBox="1"/>
          <p:nvPr/>
        </p:nvSpPr>
        <p:spPr>
          <a:xfrm>
            <a:off x="4362004" y="4275027"/>
            <a:ext cx="88181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C. ①④</a:t>
            </a:r>
          </a:p>
        </p:txBody>
      </p:sp>
      <p:sp>
        <p:nvSpPr>
          <p:cNvPr id="17" name="原题文字_161_41"/>
          <p:cNvSpPr txBox="1"/>
          <p:nvPr/>
        </p:nvSpPr>
        <p:spPr>
          <a:xfrm>
            <a:off x="6260918" y="4259713"/>
            <a:ext cx="88946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D. ①⑤</a:t>
            </a:r>
          </a:p>
        </p:txBody>
      </p:sp>
      <p:sp>
        <p:nvSpPr>
          <p:cNvPr id="18" name="文字_图a ______ 图b ______ 图c"/>
          <p:cNvSpPr txBox="1"/>
          <p:nvPr/>
        </p:nvSpPr>
        <p:spPr>
          <a:xfrm>
            <a:off x="502920" y="5901276"/>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图a ______ 图b ______ 图c</a:t>
            </a:r>
          </a:p>
        </p:txBody>
      </p:sp>
      <p:sp>
        <p:nvSpPr>
          <p:cNvPr id="19" name="文字_单选题  ·  08-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08-030</a:t>
            </a:r>
          </a:p>
        </p:txBody>
      </p:sp>
      <p:sp>
        <p:nvSpPr>
          <p:cNvPr id="20"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误差分析：统一回到 c = n／V"/>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误差分析：统一回到 c = n／V</a:t>
            </a:r>
          </a:p>
        </p:txBody>
      </p:sp>
      <p:sp>
        <p:nvSpPr>
          <p:cNvPr id="5" name="文字_知识梳理 · 讲义 P16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P162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误差分析：统一回到 c = n／V"/>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误差分析：统一回到 c = n／V</a:t>
            </a:r>
          </a:p>
        </p:txBody>
      </p:sp>
      <p:sp>
        <p:nvSpPr>
          <p:cNvPr id="5" name="文字_知识讲解 · P16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P162</a:t>
            </a:r>
          </a:p>
        </p:txBody>
      </p:sp>
      <p:graphicFrame>
        <p:nvGraphicFramePr>
          <p:cNvPr id="6" name="Table 5"/>
          <p:cNvGraphicFramePr>
            <a:graphicFrameLocks noGrp="1"/>
          </p:cNvGraphicFramePr>
          <p:nvPr/>
        </p:nvGraphicFramePr>
        <p:xfrm>
          <a:off x="502920" y="1773936"/>
          <a:ext cx="11109960" cy="2913888"/>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操作偏差</a:t>
                      </a:r>
                    </a:p>
                  </a:txBody>
                  <a:tcPr marL="91440" marR="91440" marT="45720" marB="45720" anchor="ctr">
                    <a:solidFill>
                      <a:srgbClr val="F1922F"/>
                    </a:solidFill>
                  </a:tcPr>
                </a:tc>
                <a:tc>
                  <a:txBody>
                    <a:bodyPr/>
                    <a:lstStyle/>
                    <a:p>
                      <a:pPr>
                        <a:defRPr sz="2000" b="1">
                          <a:solidFill>
                            <a:srgbClr val="FFFFFF"/>
                          </a:solidFill>
                          <a:latin typeface="微软雅黑"/>
                        </a:defRPr>
                      </a:pPr>
                      <a:r>
                        <a:t>影响</a:t>
                      </a:r>
                    </a:p>
                  </a:txBody>
                  <a:tcPr marL="91440" marR="91440" marT="45720" marB="45720" anchor="ctr">
                    <a:solidFill>
                      <a:srgbClr val="F1922F"/>
                    </a:solidFill>
                  </a:tcPr>
                </a:tc>
                <a:tc>
                  <a:txBody>
                    <a:bodyPr/>
                    <a:lstStyle/>
                    <a:p>
                      <a:pPr>
                        <a:defRPr sz="2000" b="1">
                          <a:solidFill>
                            <a:srgbClr val="FFFFFF"/>
                          </a:solidFill>
                          <a:latin typeface="微软雅黑"/>
                        </a:defRPr>
                      </a:pPr>
                      <a:r>
                        <a:t>浓度</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溶质洒失、未洗涤转移器具</a:t>
                      </a:r>
                    </a:p>
                  </a:txBody>
                  <a:tcPr marL="91440" marR="91440" marT="45720" marB="45720" anchor="ctr">
                    <a:solidFill>
                      <a:srgbClr val="FDF2E3"/>
                    </a:solidFill>
                  </a:tcPr>
                </a:tc>
                <a:tc>
                  <a:txBody>
                    <a:bodyPr/>
                    <a:lstStyle/>
                    <a:p>
                      <a:pPr>
                        <a:defRPr sz="2000" b="0">
                          <a:solidFill>
                            <a:srgbClr val="333333"/>
                          </a:solidFill>
                          <a:latin typeface="微软雅黑"/>
                        </a:defRPr>
                      </a:pPr>
                      <a:r>
                        <a:t>n 偏小</a:t>
                      </a:r>
                    </a:p>
                  </a:txBody>
                  <a:tcPr marL="91440" marR="91440" marT="45720" marB="45720" anchor="ctr">
                    <a:solidFill>
                      <a:srgbClr val="FDF2E3"/>
                    </a:solidFill>
                  </a:tcPr>
                </a:tc>
                <a:tc>
                  <a:txBody>
                    <a:bodyPr/>
                    <a:lstStyle/>
                    <a:p>
                      <a:pPr>
                        <a:defRPr sz="2000" b="0">
                          <a:solidFill>
                            <a:srgbClr val="333333"/>
                          </a:solidFill>
                          <a:latin typeface="微软雅黑"/>
                        </a:defRPr>
                      </a:pPr>
                      <a:r>
                        <a:t>偏低</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定容超过刻度线</a:t>
                      </a:r>
                    </a:p>
                  </a:txBody>
                  <a:tcPr marL="91440" marR="91440" marT="45720" marB="45720" anchor="ctr">
                    <a:solidFill>
                      <a:srgbClr val="FFFFFF"/>
                    </a:solidFill>
                  </a:tcPr>
                </a:tc>
                <a:tc>
                  <a:txBody>
                    <a:bodyPr/>
                    <a:lstStyle/>
                    <a:p>
                      <a:pPr>
                        <a:defRPr sz="2000" b="0">
                          <a:solidFill>
                            <a:srgbClr val="333333"/>
                          </a:solidFill>
                          <a:latin typeface="微软雅黑"/>
                        </a:defRPr>
                      </a:pPr>
                      <a:r>
                        <a:t>V 偏大</a:t>
                      </a:r>
                    </a:p>
                  </a:txBody>
                  <a:tcPr marL="91440" marR="91440" marT="45720" marB="45720" anchor="ctr">
                    <a:solidFill>
                      <a:srgbClr val="FFFFFF"/>
                    </a:solidFill>
                  </a:tcPr>
                </a:tc>
                <a:tc>
                  <a:txBody>
                    <a:bodyPr/>
                    <a:lstStyle/>
                    <a:p>
                      <a:pPr>
                        <a:defRPr sz="2000" b="0">
                          <a:solidFill>
                            <a:srgbClr val="333333"/>
                          </a:solidFill>
                          <a:latin typeface="微软雅黑"/>
                        </a:defRPr>
                      </a:pPr>
                      <a:r>
                        <a:t>偏低</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定容时仰视刻度线</a:t>
                      </a:r>
                    </a:p>
                  </a:txBody>
                  <a:tcPr marL="91440" marR="91440" marT="45720" marB="45720" anchor="ctr">
                    <a:solidFill>
                      <a:srgbClr val="FDF2E3"/>
                    </a:solidFill>
                  </a:tcPr>
                </a:tc>
                <a:tc>
                  <a:txBody>
                    <a:bodyPr/>
                    <a:lstStyle/>
                    <a:p>
                      <a:pPr>
                        <a:defRPr sz="2000" b="0">
                          <a:solidFill>
                            <a:srgbClr val="333333"/>
                          </a:solidFill>
                          <a:latin typeface="微软雅黑"/>
                        </a:defRPr>
                      </a:pPr>
                      <a:r>
                        <a:t>实际液面偏高，V 偏大</a:t>
                      </a:r>
                    </a:p>
                  </a:txBody>
                  <a:tcPr marL="91440" marR="91440" marT="45720" marB="45720" anchor="ctr">
                    <a:solidFill>
                      <a:srgbClr val="FDF2E3"/>
                    </a:solidFill>
                  </a:tcPr>
                </a:tc>
                <a:tc>
                  <a:txBody>
                    <a:bodyPr/>
                    <a:lstStyle/>
                    <a:p>
                      <a:pPr>
                        <a:defRPr sz="2000" b="0">
                          <a:solidFill>
                            <a:srgbClr val="333333"/>
                          </a:solidFill>
                          <a:latin typeface="微软雅黑"/>
                        </a:defRPr>
                      </a:pPr>
                      <a:r>
                        <a:t>偏低</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定容时俯视刻度线</a:t>
                      </a:r>
                    </a:p>
                  </a:txBody>
                  <a:tcPr marL="91440" marR="91440" marT="45720" marB="45720" anchor="ctr">
                    <a:solidFill>
                      <a:srgbClr val="FFFFFF"/>
                    </a:solidFill>
                  </a:tcPr>
                </a:tc>
                <a:tc>
                  <a:txBody>
                    <a:bodyPr/>
                    <a:lstStyle/>
                    <a:p>
                      <a:pPr>
                        <a:defRPr sz="2000" b="0">
                          <a:solidFill>
                            <a:srgbClr val="333333"/>
                          </a:solidFill>
                          <a:latin typeface="微软雅黑"/>
                        </a:defRPr>
                      </a:pPr>
                      <a:r>
                        <a:t>实际液面偏低，V 偏小</a:t>
                      </a:r>
                    </a:p>
                  </a:txBody>
                  <a:tcPr marL="91440" marR="91440" marT="45720" marB="45720" anchor="ctr">
                    <a:solidFill>
                      <a:srgbClr val="FFFFFF"/>
                    </a:solidFill>
                  </a:tcPr>
                </a:tc>
                <a:tc>
                  <a:txBody>
                    <a:bodyPr/>
                    <a:lstStyle/>
                    <a:p>
                      <a:pPr>
                        <a:defRPr sz="2000" b="0">
                          <a:solidFill>
                            <a:srgbClr val="333333"/>
                          </a:solidFill>
                          <a:latin typeface="微软雅黑"/>
                        </a:defRPr>
                      </a:pPr>
                      <a:r>
                        <a:t>偏高</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未冷却就定容</a:t>
                      </a:r>
                    </a:p>
                  </a:txBody>
                  <a:tcPr marL="91440" marR="91440" marT="45720" marB="45720" anchor="ctr">
                    <a:solidFill>
                      <a:srgbClr val="FDF2E3"/>
                    </a:solidFill>
                  </a:tcPr>
                </a:tc>
                <a:tc>
                  <a:txBody>
                    <a:bodyPr/>
                    <a:lstStyle/>
                    <a:p>
                      <a:pPr>
                        <a:defRPr sz="2000" b="0">
                          <a:solidFill>
                            <a:srgbClr val="333333"/>
                          </a:solidFill>
                          <a:latin typeface="微软雅黑"/>
                        </a:defRPr>
                      </a:pPr>
                      <a:r>
                        <a:t>冷却后体积缩小</a:t>
                      </a:r>
                    </a:p>
                  </a:txBody>
                  <a:tcPr marL="91440" marR="91440" marT="45720" marB="45720" anchor="ctr">
                    <a:solidFill>
                      <a:srgbClr val="FDF2E3"/>
                    </a:solidFill>
                  </a:tcPr>
                </a:tc>
                <a:tc>
                  <a:txBody>
                    <a:bodyPr/>
                    <a:lstStyle/>
                    <a:p>
                      <a:pPr>
                        <a:defRPr sz="2000" b="0">
                          <a:solidFill>
                            <a:srgbClr val="333333"/>
                          </a:solidFill>
                          <a:latin typeface="微软雅黑"/>
                        </a:defRPr>
                      </a:pPr>
                      <a:r>
                        <a:t>偏高</a:t>
                      </a:r>
                    </a:p>
                  </a:txBody>
                  <a:tcPr marL="91440" marR="91440" marT="45720" marB="45720" anchor="ctr">
                    <a:solidFill>
                      <a:srgbClr val="FDF2E3"/>
                    </a:solidFill>
                  </a:tcPr>
                </a:tc>
              </a:tr>
            </a:tbl>
          </a:graphicData>
        </a:graphic>
      </p:graphicFrame>
      <p:sp>
        <p:nvSpPr>
          <p:cNvPr id="7" name="Rectangle 6"/>
          <p:cNvSpPr/>
          <p:nvPr/>
        </p:nvSpPr>
        <p:spPr>
          <a:xfrm>
            <a:off x="493776" y="4824984"/>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误差判断先明确哪一步改变了 n 或最终 "/>
          <p:cNvSpPr txBox="1"/>
          <p:nvPr/>
        </p:nvSpPr>
        <p:spPr>
          <a:xfrm>
            <a:off x="630936" y="4884420"/>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误差判断先明确哪一步改变了 n 或最终 V，再得出浓度变化。</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配液操作中容易误判的情况"/>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配液操作中容易误判的情况</a:t>
            </a:r>
          </a:p>
        </p:txBody>
      </p:sp>
      <p:sp>
        <p:nvSpPr>
          <p:cNvPr id="5" name="文字_知识讲解 · P16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P162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容量瓶内原有少量蒸馏水：不影响最后定容后的浓度。"/>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容量瓶内原有少量蒸馏水：不影响最后定容后的浓度。</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定容后摇匀，液面略低于刻度：不能补水；部分溶液附"/>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定容后摇匀，液面略低于刻度：不能补水；部分溶液附着瓶塞和瓶壁属于正常现</a:t>
            </a:r>
          </a:p>
          <a:p>
            <a:pPr>
              <a:lnSpc>
                <a:spcPct val="112000"/>
              </a:lnSpc>
              <a:spcBef>
                <a:spcPts val="0"/>
              </a:spcBef>
              <a:spcAft>
                <a:spcPts val="0"/>
              </a:spcAft>
              <a:defRPr sz="2400" b="0">
                <a:solidFill>
                  <a:srgbClr val="333333"/>
                </a:solidFill>
                <a:latin typeface="微软雅黑"/>
              </a:defRPr>
            </a:pPr>
            <a:r>
              <a:rPr>
                <a:ea typeface="微软雅黑"/>
              </a:rPr>
              <a:t>象。</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定容超过刻度线：不能简单倒掉或吸出一部分补救，应"/>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定容超过刻度线：不能简单倒掉或吸出一部分补救，应重新配制。</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量取浓溶液时有损失、固体试剂不纯或变质：要具体分"/>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量取浓溶液时有损失、固体试剂不纯或变质：要具体分析实际溶质物质的量变化</a:t>
            </a:r>
          </a:p>
          <a:p>
            <a:pPr>
              <a:lnSpc>
                <a:spcPct val="112000"/>
              </a:lnSpc>
              <a:spcBef>
                <a:spcPts val="0"/>
              </a:spcBef>
              <a:spcAft>
                <a:spcPts val="0"/>
              </a:spcAft>
              <a:defRPr sz="2400" b="0">
                <a:solidFill>
                  <a:srgbClr val="333333"/>
                </a:solidFill>
                <a:latin typeface="微软雅黑"/>
              </a:defRPr>
            </a:pPr>
            <a:r>
              <a:rPr>
                <a:ea typeface="微软雅黑"/>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仪器与基本操作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仪器与基本操作 · 变式6</a:t>
            </a:r>
          </a:p>
        </p:txBody>
      </p:sp>
      <p:sp>
        <p:nvSpPr>
          <p:cNvPr id="5" name="文字_P1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P162</a:t>
            </a:r>
          </a:p>
        </p:txBody>
      </p:sp>
      <p:sp>
        <p:nvSpPr>
          <p:cNvPr id="6" name="文字_实验室里要配制465mL₀.2mol·L-1的硫"/>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实验室里要配制465mL₀.2mol·L-1的硫酸钠溶液。请填写下列空白：</a:t>
            </a:r>
          </a:p>
        </p:txBody>
      </p:sp>
      <p:sp>
        <p:nvSpPr>
          <p:cNvPr id="7" name="文字_A. 计算、称量、溶解：在天平上称出 _____"/>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计算、称量、溶解：在天平上称出 ______ g硫酸钠固体，把它放在烧杯里，用适</a:t>
            </a:r>
          </a:p>
          <a:p>
            <a:pPr>
              <a:lnSpc>
                <a:spcPct val="112000"/>
              </a:lnSpc>
              <a:spcBef>
                <a:spcPts val="0"/>
              </a:spcBef>
              <a:spcAft>
                <a:spcPts val="0"/>
              </a:spcAft>
              <a:defRPr sz="2400" b="0">
                <a:solidFill>
                  <a:srgbClr val="333333"/>
                </a:solidFill>
                <a:latin typeface="微软雅黑"/>
              </a:defRPr>
            </a:pPr>
            <a:r>
              <a:rPr>
                <a:ea typeface="微软雅黑"/>
              </a:rPr>
              <a:t>量的蒸馏水溶解。</a:t>
            </a:r>
          </a:p>
        </p:txBody>
      </p:sp>
      <p:sp>
        <p:nvSpPr>
          <p:cNvPr id="8" name="文字_B. 转移：把得到的溶液冷却后小心地沿着 ___"/>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转移：把得到的溶液冷却后小心地沿着 ______ 注入 中。</a:t>
            </a:r>
          </a:p>
        </p:txBody>
      </p:sp>
      <p:sp>
        <p:nvSpPr>
          <p:cNvPr id="9" name="文字_C. 洗涤：用少量蒸馏水洗涤烧杯和玻璃棒2～3次"/>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洗涤：用少量蒸馏水洗涤烧杯和玻璃棒2～3次，每次洗涤液也小心转入容量瓶</a:t>
            </a:r>
          </a:p>
          <a:p>
            <a:pPr>
              <a:lnSpc>
                <a:spcPct val="112000"/>
              </a:lnSpc>
              <a:spcBef>
                <a:spcPts val="0"/>
              </a:spcBef>
              <a:spcAft>
                <a:spcPts val="0"/>
              </a:spcAft>
              <a:defRPr sz="2400" b="0">
                <a:solidFill>
                  <a:srgbClr val="333333"/>
                </a:solidFill>
                <a:latin typeface="微软雅黑"/>
              </a:defRPr>
            </a:pPr>
            <a:r>
              <a:rPr>
                <a:ea typeface="微软雅黑"/>
              </a:rPr>
              <a:t>中。</a:t>
            </a:r>
          </a:p>
        </p:txBody>
      </p:sp>
      <p:sp>
        <p:nvSpPr>
          <p:cNvPr id="10" name="文字_D. 定容：继续向容量瓶中加蒸馏水至液面距刻度线"/>
          <p:cNvSpPr txBox="1"/>
          <p:nvPr/>
        </p:nvSpPr>
        <p:spPr>
          <a:xfrm>
            <a:off x="502920" y="356006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定容：继续向容量瓶中加蒸馏水至液面距刻度线1～2cm处，改用 ______ 小心滴</a:t>
            </a:r>
          </a:p>
          <a:p>
            <a:pPr>
              <a:lnSpc>
                <a:spcPct val="112000"/>
              </a:lnSpc>
              <a:spcBef>
                <a:spcPts val="0"/>
              </a:spcBef>
              <a:spcAft>
                <a:spcPts val="0"/>
              </a:spcAft>
              <a:defRPr sz="2400" b="0">
                <a:solidFill>
                  <a:srgbClr val="333333"/>
                </a:solidFill>
                <a:latin typeface="微软雅黑"/>
              </a:defRPr>
            </a:pPr>
            <a:r>
              <a:rPr>
                <a:ea typeface="微软雅黑"/>
              </a:rPr>
              <a:t>加蒸馏水至溶液凹液面底部与刻度线相切。</a:t>
            </a:r>
          </a:p>
        </p:txBody>
      </p:sp>
      <p:sp>
        <p:nvSpPr>
          <p:cNvPr id="11" name="文字_E. 摇匀：将瓶塞塞紧，充分摇匀。"/>
          <p:cNvSpPr txBox="1"/>
          <p:nvPr/>
        </p:nvSpPr>
        <p:spPr>
          <a:xfrm>
            <a:off x="502920" y="43616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E. 摇匀：将瓶塞塞紧，充分摇匀。</a:t>
            </a:r>
          </a:p>
        </p:txBody>
      </p:sp>
      <p:sp>
        <p:nvSpPr>
          <p:cNvPr id="12" name="文字_F. 贴标签、装试剂瓶：将配好的溶液倒入试剂瓶中"/>
          <p:cNvSpPr txBox="1"/>
          <p:nvPr/>
        </p:nvSpPr>
        <p:spPr>
          <a:xfrm>
            <a:off x="502920" y="48006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 贴标签、装试剂瓶：将配好的溶液倒入试剂瓶中，贴上标签，并洗涤容量瓶。</a:t>
            </a:r>
          </a:p>
        </p:txBody>
      </p:sp>
      <p:sp>
        <p:nvSpPr>
          <p:cNvPr id="13" name="文字_填空题  ·  08-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08-031</a:t>
            </a:r>
          </a:p>
        </p:txBody>
      </p:sp>
      <p:sp>
        <p:nvSpPr>
          <p:cNvPr id="14"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例题1</a:t>
            </a:r>
          </a:p>
        </p:txBody>
      </p:sp>
      <p:sp>
        <p:nvSpPr>
          <p:cNvPr id="5" name="文字_P1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P162</a:t>
            </a:r>
          </a:p>
        </p:txBody>
      </p:sp>
      <p:sp>
        <p:nvSpPr>
          <p:cNvPr id="6" name="文字_实验室需配制400mL₀.5mol/LNa₂CO"/>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实验室需配制400mL₀.5mol/LNa₂CO₃溶液，已知M（Na₂CO₃·10H₂O）=</a:t>
            </a:r>
          </a:p>
          <a:p>
            <a:pPr>
              <a:lnSpc>
                <a:spcPct val="112000"/>
              </a:lnSpc>
              <a:spcBef>
                <a:spcPts val="0"/>
              </a:spcBef>
              <a:spcAft>
                <a:spcPts val="0"/>
              </a:spcAft>
              <a:defRPr sz="2400" b="0">
                <a:solidFill>
                  <a:srgbClr val="333333"/>
                </a:solidFill>
                <a:latin typeface="微软雅黑"/>
              </a:defRPr>
            </a:pPr>
            <a:r>
              <a:rPr>
                <a:ea typeface="微软雅黑"/>
              </a:rPr>
              <a:t>286g·mol-1，下列说法正确的是（）</a:t>
            </a:r>
          </a:p>
        </p:txBody>
      </p:sp>
      <p:sp>
        <p:nvSpPr>
          <p:cNvPr id="7" name="文字_A. 应用托盘天平称取Na₂CO₃·10H₂O晶"/>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应用托盘天平称取Na₂CO₃·10H₂O晶体71.5g</a:t>
            </a:r>
          </a:p>
        </p:txBody>
      </p:sp>
      <p:sp>
        <p:nvSpPr>
          <p:cNvPr id="8" name="文字_B. 定容时俯视会造成所配制溶液的物质的量浓度偏"/>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定容时俯视会造成所配制溶液的物质的量浓度偏小</a:t>
            </a:r>
          </a:p>
        </p:txBody>
      </p:sp>
      <p:sp>
        <p:nvSpPr>
          <p:cNvPr id="9" name="文字_C. 可通过加热加快Na₂CO₃·10H₂O晶体"/>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可通过加热加快Na₂CO₃·10H₂O晶体的溶解，溶解后立即转移至容量瓶中定容</a:t>
            </a:r>
          </a:p>
        </p:txBody>
      </p:sp>
      <p:sp>
        <p:nvSpPr>
          <p:cNvPr id="10" name="文字_D. 容量瓶需用自来水、蒸馏水洗涤，烘干后才可使"/>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容量瓶需用自来水、蒸馏水洗涤，烘干后才可使用</a:t>
            </a:r>
          </a:p>
        </p:txBody>
      </p:sp>
      <p:sp>
        <p:nvSpPr>
          <p:cNvPr id="11" name="文字_单选题  ·  08-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08-032</a:t>
            </a:r>
          </a:p>
        </p:txBody>
      </p:sp>
      <p:sp>
        <p:nvSpPr>
          <p:cNvPr id="12"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例题2</a:t>
            </a:r>
          </a:p>
        </p:txBody>
      </p:sp>
      <p:sp>
        <p:nvSpPr>
          <p:cNvPr id="5" name="文字_P1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P162</a:t>
            </a:r>
          </a:p>
        </p:txBody>
      </p:sp>
      <p:sp>
        <p:nvSpPr>
          <p:cNvPr id="6" name="文字_配制0.1mol/L的NaOH溶液，下列哪些操作"/>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配制0.1mol/L的NaOH溶液，下列哪些操作会使实验结果偏高</a:t>
            </a:r>
          </a:p>
        </p:txBody>
      </p:sp>
      <p:sp>
        <p:nvSpPr>
          <p:cNvPr id="7" name="文字_A. 用滤纸称量NaOH固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用滤纸称量NaOH固体</a:t>
            </a:r>
          </a:p>
        </p:txBody>
      </p:sp>
      <p:sp>
        <p:nvSpPr>
          <p:cNvPr id="8" name="文字_B. 移液前容量瓶内有水珠"/>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移液前容量瓶内有水珠</a:t>
            </a:r>
          </a:p>
        </p:txBody>
      </p:sp>
      <p:sp>
        <p:nvSpPr>
          <p:cNvPr id="9" name="文字_C. 摇匀后，液面低于刻度线，再加水至刻度线"/>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摇匀后，液面低于刻度线，再加水至刻度线</a:t>
            </a:r>
          </a:p>
        </p:txBody>
      </p:sp>
      <p:sp>
        <p:nvSpPr>
          <p:cNvPr id="10" name="文字_D. 定容时，俯视刻度线"/>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定容时，俯视刻度线</a:t>
            </a:r>
          </a:p>
        </p:txBody>
      </p:sp>
      <p:sp>
        <p:nvSpPr>
          <p:cNvPr id="11" name="文字_单选题  ·  08-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08-033</a:t>
            </a:r>
          </a:p>
        </p:txBody>
      </p:sp>
      <p:sp>
        <p:nvSpPr>
          <p:cNvPr id="12"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例题3</a:t>
            </a:r>
          </a:p>
        </p:txBody>
      </p:sp>
      <p:sp>
        <p:nvSpPr>
          <p:cNvPr id="5" name="文字_P16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P162</a:t>
            </a:r>
          </a:p>
        </p:txBody>
      </p:sp>
      <p:sp>
        <p:nvSpPr>
          <p:cNvPr id="6" name="文字_配制一定物质的量浓度的稀H₂SO₄溶液时，下列操"/>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配制一定物质的量浓度的稀H₂SO₄溶液时，下列操作会造成所配溶液浓度偏高的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定容时仰视液面"/>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定容时仰视液面</a:t>
            </a:r>
          </a:p>
        </p:txBody>
      </p:sp>
      <p:sp>
        <p:nvSpPr>
          <p:cNvPr id="8" name="文字_B. 移液时有少量溶液溅出"/>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移液时有少量溶液溅出</a:t>
            </a:r>
          </a:p>
        </p:txBody>
      </p:sp>
      <p:sp>
        <p:nvSpPr>
          <p:cNvPr id="9" name="文字_C. 移液后烧杯未用蒸馏水洗涤"/>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移液后烧杯未用蒸馏水洗涤</a:t>
            </a:r>
          </a:p>
        </p:txBody>
      </p:sp>
      <p:sp>
        <p:nvSpPr>
          <p:cNvPr id="10" name="文字_D. 用量筒量取浓硫酸时仰视液面"/>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用量筒量取浓硫酸时仰视液面</a:t>
            </a:r>
          </a:p>
        </p:txBody>
      </p:sp>
      <p:sp>
        <p:nvSpPr>
          <p:cNvPr id="11" name="文字_单选题  ·  08-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08-034</a:t>
            </a:r>
          </a:p>
        </p:txBody>
      </p:sp>
      <p:sp>
        <p:nvSpPr>
          <p:cNvPr id="12" name="文字_4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例题4</a:t>
            </a:r>
          </a:p>
        </p:txBody>
      </p:sp>
      <p:sp>
        <p:nvSpPr>
          <p:cNvPr id="5" name="文字_P16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P163</a:t>
            </a:r>
          </a:p>
        </p:txBody>
      </p:sp>
      <p:sp>
        <p:nvSpPr>
          <p:cNvPr id="6" name="文字_配制500mL₀.2mol·L-1NaCl溶液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配制500mL₀.2mol·L-1NaCl溶液时，下列操作使配制的溶液物质的量浓度偏高的</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配制时容量瓶没有干燥"/>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配制时容量瓶没有干燥</a:t>
            </a:r>
          </a:p>
        </p:txBody>
      </p:sp>
      <p:sp>
        <p:nvSpPr>
          <p:cNvPr id="8" name="文字_B. 转移时没有洗涤烧杯和玻璃棒"/>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转移时没有洗涤烧杯和玻璃棒</a:t>
            </a:r>
          </a:p>
        </p:txBody>
      </p:sp>
      <p:sp>
        <p:nvSpPr>
          <p:cNvPr id="9" name="文字_C. 称量时将砝码放在左盘，固体放在右盘"/>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称量时将砝码放在左盘，固体放在右盘</a:t>
            </a:r>
          </a:p>
        </p:txBody>
      </p:sp>
      <p:sp>
        <p:nvSpPr>
          <p:cNvPr id="10" name="文字_D. 定容时俯视容量瓶刻度线"/>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定容时俯视容量瓶刻度线</a:t>
            </a:r>
          </a:p>
        </p:txBody>
      </p:sp>
      <p:sp>
        <p:nvSpPr>
          <p:cNvPr id="11" name="文字_单选题  ·  08-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08-035</a:t>
            </a:r>
          </a:p>
        </p:txBody>
      </p:sp>
      <p:sp>
        <p:nvSpPr>
          <p:cNvPr id="12" name="文字_4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例题5</a:t>
            </a:r>
          </a:p>
        </p:txBody>
      </p:sp>
      <p:sp>
        <p:nvSpPr>
          <p:cNvPr id="5" name="文字_P16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P163</a:t>
            </a:r>
          </a:p>
        </p:txBody>
      </p:sp>
      <p:sp>
        <p:nvSpPr>
          <p:cNvPr id="6" name="文字_实验室配制250mL₀.2mol·L-1的Na₂"/>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实验室配制250mL₀.2mol·L-1的Na₂CO₃溶液，下列说法正确的是</a:t>
            </a:r>
          </a:p>
        </p:txBody>
      </p:sp>
      <p:sp>
        <p:nvSpPr>
          <p:cNvPr id="7" name="文字_A. 称量时，若将Na₂CO₃固体置于托盘天平右"/>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称量时，若将Na₂CO₃固体置于托盘天平右盘，将导致所配溶液浓度偏大</a:t>
            </a:r>
          </a:p>
        </p:txBody>
      </p:sp>
      <p:sp>
        <p:nvSpPr>
          <p:cNvPr id="8" name="文字_B. 称量过程中，有少量Na₂CO₃粘在称量纸上"/>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称量过程中，有少量Na₂CO₃粘在称量纸上，导致所配溶液浓度偏大</a:t>
            </a:r>
          </a:p>
        </p:txBody>
      </p:sp>
      <p:sp>
        <p:nvSpPr>
          <p:cNvPr id="9" name="文字_C. 定容摇匀后发现液面低于刻度线，应再滴加蒸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定容摇匀后发现液面低于刻度线，应再滴加蒸馏水至刻度线</a:t>
            </a:r>
          </a:p>
        </p:txBody>
      </p:sp>
      <p:sp>
        <p:nvSpPr>
          <p:cNvPr id="10" name="文字_D. 若取配制好的溶液50mL，将其稀释至0.0"/>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若取配制好的溶液50mL，将其稀释至0.05mol·L-1，则需要加水至200mL</a:t>
            </a:r>
          </a:p>
        </p:txBody>
      </p:sp>
      <p:sp>
        <p:nvSpPr>
          <p:cNvPr id="11" name="文字_单选题  ·  08-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08-036</a:t>
            </a:r>
          </a:p>
        </p:txBody>
      </p:sp>
      <p:sp>
        <p:nvSpPr>
          <p:cNvPr id="12" name="文字_4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例题6</a:t>
            </a:r>
          </a:p>
        </p:txBody>
      </p:sp>
      <p:sp>
        <p:nvSpPr>
          <p:cNvPr id="5" name="文字_P16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P163</a:t>
            </a:r>
          </a:p>
        </p:txBody>
      </p:sp>
      <p:sp>
        <p:nvSpPr>
          <p:cNvPr id="6" name="文字_实验室用NaCl固体配制480mL₀.40mol"/>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实验室用NaCl固体配制480mL₀.40mol/L的NaCl溶液。下列说法正确的是</a:t>
            </a:r>
          </a:p>
        </p:txBody>
      </p:sp>
      <p:sp>
        <p:nvSpPr>
          <p:cNvPr id="7" name="文字_A. 需称取11.2gNaCl固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需称取11.2gNaCl固体</a:t>
            </a:r>
          </a:p>
        </p:txBody>
      </p:sp>
      <p:sp>
        <p:nvSpPr>
          <p:cNvPr id="8" name="文字_B. 将NaCl固体置于容量瓶中并加水溶解"/>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将NaCl固体置于容量瓶中并加水溶解</a:t>
            </a:r>
          </a:p>
        </p:txBody>
      </p:sp>
      <p:sp>
        <p:nvSpPr>
          <p:cNvPr id="9" name="文字_C. 玻璃棒起到加速溶解和引流的作用"/>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玻璃棒起到加速溶解和引流的作用</a:t>
            </a:r>
          </a:p>
        </p:txBody>
      </p:sp>
      <p:sp>
        <p:nvSpPr>
          <p:cNvPr id="10" name="文字_D. 定容时俯视容量瓶刻度线，会使所配溶液浓度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定容时俯视容量瓶刻度线，会使所配溶液浓度偏低</a:t>
            </a:r>
          </a:p>
        </p:txBody>
      </p:sp>
      <p:sp>
        <p:nvSpPr>
          <p:cNvPr id="11" name="文字_单选题  ·  08-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08-037</a:t>
            </a:r>
          </a:p>
        </p:txBody>
      </p:sp>
      <p:sp>
        <p:nvSpPr>
          <p:cNvPr id="12"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例题7</a:t>
            </a:r>
          </a:p>
        </p:txBody>
      </p:sp>
      <p:sp>
        <p:nvSpPr>
          <p:cNvPr id="5" name="文字_P16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P163</a:t>
            </a:r>
          </a:p>
        </p:txBody>
      </p:sp>
      <p:sp>
        <p:nvSpPr>
          <p:cNvPr id="6" name="文字_判断下列实验操作将对所配溶液的浓度造成的影响(“"/>
          <p:cNvSpPr txBox="1"/>
          <p:nvPr/>
        </p:nvSpPr>
        <p:spPr>
          <a:xfrm>
            <a:off x="502920" y="1078992"/>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判断下列实验操作将对所配溶液的浓度造成的影响(“偏高”、“偏低”或“无影响”)</a:t>
            </a:r>
          </a:p>
        </p:txBody>
      </p:sp>
      <p:sp>
        <p:nvSpPr>
          <p:cNvPr id="7" name="文字_(1) 天平的砝码粘有其他物质或生锈使砝码变重"/>
          <p:cNvSpPr txBox="1"/>
          <p:nvPr/>
        </p:nvSpPr>
        <p:spPr>
          <a:xfrm>
            <a:off x="502920" y="1499616"/>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(1) 天平的砝码粘有其他物质或生锈使砝码变重</a:t>
            </a:r>
          </a:p>
        </p:txBody>
      </p:sp>
      <p:sp>
        <p:nvSpPr>
          <p:cNvPr id="8" name="文字_(2) 药品、砝码左右位置颠倒，且用到游码"/>
          <p:cNvSpPr txBox="1"/>
          <p:nvPr/>
        </p:nvSpPr>
        <p:spPr>
          <a:xfrm>
            <a:off x="502920" y="1920239"/>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(2) 药品、砝码左右位置颠倒，且用到游码</a:t>
            </a:r>
          </a:p>
        </p:txBody>
      </p:sp>
      <p:sp>
        <p:nvSpPr>
          <p:cNvPr id="9" name="文字_(3） 用滤纸称量易潮解的物质（如NaOH)"/>
          <p:cNvSpPr txBox="1"/>
          <p:nvPr/>
        </p:nvSpPr>
        <p:spPr>
          <a:xfrm>
            <a:off x="502920" y="2340863"/>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(3） 用滤纸称量易潮解的物质（如NaOH)</a:t>
            </a:r>
          </a:p>
        </p:txBody>
      </p:sp>
      <p:sp>
        <p:nvSpPr>
          <p:cNvPr id="10" name="文字_(4) 搅拌时部分液体溅出"/>
          <p:cNvSpPr txBox="1"/>
          <p:nvPr/>
        </p:nvSpPr>
        <p:spPr>
          <a:xfrm>
            <a:off x="502920" y="2761487"/>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(4) 搅拌时部分液体溅出</a:t>
            </a:r>
          </a:p>
        </p:txBody>
      </p:sp>
      <p:sp>
        <p:nvSpPr>
          <p:cNvPr id="11" name="文字_(5) 未冷却到室温就注入容量瓶定容"/>
          <p:cNvSpPr txBox="1"/>
          <p:nvPr/>
        </p:nvSpPr>
        <p:spPr>
          <a:xfrm>
            <a:off x="502920" y="3182111"/>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(5) 未冷却到室温就注入容量瓶定容</a:t>
            </a:r>
          </a:p>
        </p:txBody>
      </p:sp>
      <p:sp>
        <p:nvSpPr>
          <p:cNvPr id="12" name="文字_(6) 移液后未洗涤烧杯和玻璃棒"/>
          <p:cNvSpPr txBox="1"/>
          <p:nvPr/>
        </p:nvSpPr>
        <p:spPr>
          <a:xfrm>
            <a:off x="502920" y="3602735"/>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(6) 移液后未洗涤烧杯和玻璃棒</a:t>
            </a:r>
          </a:p>
        </p:txBody>
      </p:sp>
      <p:sp>
        <p:nvSpPr>
          <p:cNvPr id="13" name="文字_(7) 用量筒量取所需浓盐酸倒入烧杯后，再用水洗"/>
          <p:cNvSpPr txBox="1"/>
          <p:nvPr/>
        </p:nvSpPr>
        <p:spPr>
          <a:xfrm>
            <a:off x="502920" y="4023359"/>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(7) 用量筒量取所需浓盐酸倒入烧杯后，再用水洗量筒2~3次，且洗涤液转入容量瓶中</a:t>
            </a:r>
          </a:p>
        </p:txBody>
      </p:sp>
      <p:sp>
        <p:nvSpPr>
          <p:cNvPr id="14" name="文字_(8) 定容时，水加多了，用吸管吸出"/>
          <p:cNvSpPr txBox="1"/>
          <p:nvPr/>
        </p:nvSpPr>
        <p:spPr>
          <a:xfrm>
            <a:off x="502920" y="4443983"/>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(8) 定容时，水加多了，用吸管吸出</a:t>
            </a:r>
          </a:p>
        </p:txBody>
      </p:sp>
      <p:sp>
        <p:nvSpPr>
          <p:cNvPr id="15" name="文字_(9) 定容后倒转容量瓶几次，发现液面最低点低于"/>
          <p:cNvSpPr txBox="1"/>
          <p:nvPr/>
        </p:nvSpPr>
        <p:spPr>
          <a:xfrm>
            <a:off x="502920" y="4864607"/>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(9) 定容后倒转容量瓶几次，发现液面最低点低于刻度线，再补几滴水至刻度线</a:t>
            </a:r>
          </a:p>
        </p:txBody>
      </p:sp>
      <p:sp>
        <p:nvSpPr>
          <p:cNvPr id="16" name="文字_(10) 定容时，仰视容量瓶的刻度线"/>
          <p:cNvSpPr txBox="1"/>
          <p:nvPr/>
        </p:nvSpPr>
        <p:spPr>
          <a:xfrm>
            <a:off x="502920" y="5285231"/>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(10) 定容时，仰视容量瓶的刻度线</a:t>
            </a:r>
          </a:p>
        </p:txBody>
      </p:sp>
      <p:sp>
        <p:nvSpPr>
          <p:cNvPr id="17" name="文字_（11）定容时，俯视容量瓶的刻度线"/>
          <p:cNvSpPr txBox="1"/>
          <p:nvPr/>
        </p:nvSpPr>
        <p:spPr>
          <a:xfrm>
            <a:off x="502920" y="5705855"/>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（11）定容时，俯视容量瓶的刻度线</a:t>
            </a:r>
          </a:p>
        </p:txBody>
      </p:sp>
      <p:sp>
        <p:nvSpPr>
          <p:cNvPr id="18" name="文字_解答题  ·  08-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08-038</a:t>
            </a:r>
          </a:p>
        </p:txBody>
      </p:sp>
      <p:sp>
        <p:nvSpPr>
          <p:cNvPr id="19"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变式1</a:t>
            </a:r>
          </a:p>
        </p:txBody>
      </p:sp>
      <p:sp>
        <p:nvSpPr>
          <p:cNvPr id="5" name="文字_P1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P164</a:t>
            </a:r>
          </a:p>
        </p:txBody>
      </p:sp>
      <p:sp>
        <p:nvSpPr>
          <p:cNvPr id="6" name="文字_现需要240mL₀.1mol/LCuSO₄溶液，"/>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现需要240mL₀.1mol/LCuSO₄溶液，下列选项不正确的是</a:t>
            </a:r>
          </a:p>
        </p:txBody>
      </p:sp>
      <p:sp>
        <p:nvSpPr>
          <p:cNvPr id="7" name="文字_A. 需用托盘天平称量6.0g胆矾晶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需用托盘天平称量6.0g胆矾晶体</a:t>
            </a:r>
          </a:p>
        </p:txBody>
      </p:sp>
      <p:sp>
        <p:nvSpPr>
          <p:cNvPr id="8" name="文字_B.使用的玻璃仪器有250mL容量瓶、烧杯、玻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B.使用的玻璃仪器有250mL容量瓶、烧杯、玻璃棒、量筒、胶头滴管</a:t>
            </a:r>
          </a:p>
        </p:txBody>
      </p:sp>
      <p:sp>
        <p:nvSpPr>
          <p:cNvPr id="9" name="文字_C. 若所用胆矾晶体失去部分结晶水，则所配溶液浓"/>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若所用胆矾晶体失去部分结晶水，则所配溶液浓度偏高</a:t>
            </a:r>
          </a:p>
        </p:txBody>
      </p:sp>
      <p:sp>
        <p:nvSpPr>
          <p:cNvPr id="10" name="文字_D. 定容时仰视刻度线会使所配溶液浓度偏低"/>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定容时仰视刻度线会使所配溶液浓度偏低</a:t>
            </a:r>
          </a:p>
        </p:txBody>
      </p:sp>
      <p:sp>
        <p:nvSpPr>
          <p:cNvPr id="11" name="文字_单选题  ·  08-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08-039</a:t>
            </a:r>
          </a:p>
        </p:txBody>
      </p:sp>
      <p:sp>
        <p:nvSpPr>
          <p:cNvPr id="12" name="文字_5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变式2</a:t>
            </a:r>
          </a:p>
        </p:txBody>
      </p:sp>
      <p:sp>
        <p:nvSpPr>
          <p:cNvPr id="5" name="文字_P1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P164</a:t>
            </a:r>
          </a:p>
        </p:txBody>
      </p:sp>
      <p:sp>
        <p:nvSpPr>
          <p:cNvPr id="6" name="文字_实验室需要300mL₁.0mol·L-1稀硫酸，"/>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实验室需要300mL₁.0mol·L-1稀硫酸，用18.4mol·L-1浓硫酸进行配制. 下列说法</a:t>
            </a:r>
          </a:p>
          <a:p>
            <a:pPr>
              <a:lnSpc>
                <a:spcPct val="112000"/>
              </a:lnSpc>
              <a:spcBef>
                <a:spcPts val="0"/>
              </a:spcBef>
              <a:spcAft>
                <a:spcPts val="0"/>
              </a:spcAft>
              <a:defRPr sz="2400" b="0">
                <a:solidFill>
                  <a:srgbClr val="333333"/>
                </a:solidFill>
                <a:latin typeface="微软雅黑"/>
              </a:defRPr>
            </a:pPr>
            <a:r>
              <a:rPr>
                <a:ea typeface="微软雅黑"/>
              </a:rPr>
              <a:t>错误的是</a:t>
            </a:r>
          </a:p>
        </p:txBody>
      </p:sp>
      <p:sp>
        <p:nvSpPr>
          <p:cNvPr id="7" name="文字_A. 用量筒量取浓硫酸的体积为16.3m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用量筒量取浓硫酸的体积为16.3mL</a:t>
            </a:r>
          </a:p>
        </p:txBody>
      </p:sp>
      <p:sp>
        <p:nvSpPr>
          <p:cNvPr id="8" name="文字_B. 将冷却后的溶液沿玻璃棒注入500mL容量瓶"/>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将冷却后的溶液沿玻璃棒注入500mL容量瓶</a:t>
            </a:r>
          </a:p>
        </p:txBody>
      </p:sp>
      <p:sp>
        <p:nvSpPr>
          <p:cNvPr id="9" name="文字_C. 转移溶液时有液体溅出，应重新配制"/>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转移溶液时有液体溅出，应重新配制</a:t>
            </a:r>
          </a:p>
        </p:txBody>
      </p:sp>
      <p:sp>
        <p:nvSpPr>
          <p:cNvPr id="10" name="文字_D. 定容时俯视刻度线，会使所配溶液物质的量浓度"/>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定容时俯视刻度线，会使所配溶液物质的量浓度偏大</a:t>
            </a:r>
          </a:p>
        </p:txBody>
      </p:sp>
      <p:sp>
        <p:nvSpPr>
          <p:cNvPr id="11" name="文字_单选题  ·  08-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08-040</a:t>
            </a:r>
          </a:p>
        </p:txBody>
      </p:sp>
      <p:sp>
        <p:nvSpPr>
          <p:cNvPr id="12" name="文字_5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变式3</a:t>
            </a:r>
          </a:p>
        </p:txBody>
      </p:sp>
      <p:sp>
        <p:nvSpPr>
          <p:cNvPr id="5" name="文字_P1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P164</a:t>
            </a:r>
          </a:p>
        </p:txBody>
      </p:sp>
      <p:sp>
        <p:nvSpPr>
          <p:cNvPr id="6" name="文字_使用容量瓶配制溶液时，由于操作不当，会引起误差，"/>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使用容量瓶配制溶液时，由于操作不当，会引起误差，下列情况会使所配溶液浓度</a:t>
            </a:r>
          </a:p>
          <a:p>
            <a:pPr>
              <a:lnSpc>
                <a:spcPct val="112000"/>
              </a:lnSpc>
              <a:spcBef>
                <a:spcPts val="0"/>
              </a:spcBef>
              <a:spcAft>
                <a:spcPts val="0"/>
              </a:spcAft>
              <a:defRPr sz="2400" b="0">
                <a:solidFill>
                  <a:srgbClr val="333333"/>
                </a:solidFill>
                <a:latin typeface="微软雅黑"/>
              </a:defRPr>
            </a:pPr>
            <a:r>
              <a:rPr>
                <a:ea typeface="微软雅黑"/>
              </a:rPr>
              <a:t>偏低的是</a:t>
            </a:r>
          </a:p>
        </p:txBody>
      </p:sp>
      <p:sp>
        <p:nvSpPr>
          <p:cNvPr id="7" name="文字_①用天平(使用游码)称量时，被称量物与砝码的位置"/>
          <p:cNvSpPr txBox="1"/>
          <p:nvPr/>
        </p:nvSpPr>
        <p:spPr>
          <a:xfrm>
            <a:off x="502920" y="1880616"/>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①用天平(使用游码)称量时，被称量物与砝码的位置放颠倒了②溶液转移到容量瓶</a:t>
            </a:r>
          </a:p>
          <a:p>
            <a:pPr>
              <a:lnSpc>
                <a:spcPct val="112000"/>
              </a:lnSpc>
              <a:spcBef>
                <a:spcPts val="0"/>
              </a:spcBef>
              <a:spcAft>
                <a:spcPts val="0"/>
              </a:spcAft>
              <a:defRPr sz="2400" b="0">
                <a:solidFill>
                  <a:srgbClr val="333333"/>
                </a:solidFill>
                <a:latin typeface="微软雅黑"/>
              </a:defRPr>
            </a:pPr>
            <a:r>
              <a:rPr>
                <a:ea typeface="微软雅黑"/>
              </a:rPr>
              <a:t>后，烧杯及玻璃棒未用蒸馏水洗涤③转移溶液前容量瓶内有少量蒸馏水④定容时，</a:t>
            </a:r>
          </a:p>
          <a:p>
            <a:pPr>
              <a:lnSpc>
                <a:spcPct val="112000"/>
              </a:lnSpc>
              <a:spcBef>
                <a:spcPts val="0"/>
              </a:spcBef>
              <a:spcAft>
                <a:spcPts val="0"/>
              </a:spcAft>
              <a:defRPr sz="2400" b="0">
                <a:solidFill>
                  <a:srgbClr val="333333"/>
                </a:solidFill>
                <a:latin typeface="微软雅黑"/>
              </a:defRPr>
            </a:pPr>
            <a:r>
              <a:rPr>
                <a:ea typeface="微软雅黑"/>
              </a:rPr>
              <a:t>俯视容量瓶的刻度线⑤定容后摇匀，发现液面降低，又补加少量水，重新达到刻度</a:t>
            </a:r>
          </a:p>
          <a:p>
            <a:pPr>
              <a:lnSpc>
                <a:spcPct val="112000"/>
              </a:lnSpc>
              <a:spcBef>
                <a:spcPts val="0"/>
              </a:spcBef>
              <a:spcAft>
                <a:spcPts val="0"/>
              </a:spcAft>
              <a:defRPr sz="2400" b="0">
                <a:solidFill>
                  <a:srgbClr val="333333"/>
                </a:solidFill>
                <a:latin typeface="微软雅黑"/>
              </a:defRPr>
            </a:pPr>
            <a:r>
              <a:rPr>
                <a:ea typeface="微软雅黑"/>
              </a:rPr>
              <a:t>线</a:t>
            </a:r>
          </a:p>
        </p:txBody>
      </p:sp>
      <p:sp>
        <p:nvSpPr>
          <p:cNvPr id="8" name="文字_A. ①②⑤"/>
          <p:cNvSpPr txBox="1"/>
          <p:nvPr/>
        </p:nvSpPr>
        <p:spPr>
          <a:xfrm>
            <a:off x="502920" y="34076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①②⑤</a:t>
            </a:r>
          </a:p>
        </p:txBody>
      </p:sp>
      <p:sp>
        <p:nvSpPr>
          <p:cNvPr id="9" name="文字_B. ①③⑤"/>
          <p:cNvSpPr txBox="1"/>
          <p:nvPr/>
        </p:nvSpPr>
        <p:spPr>
          <a:xfrm>
            <a:off x="502920" y="38465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①③⑤</a:t>
            </a:r>
          </a:p>
        </p:txBody>
      </p:sp>
      <p:sp>
        <p:nvSpPr>
          <p:cNvPr id="10" name="文字_C. ③④⑤"/>
          <p:cNvSpPr txBox="1"/>
          <p:nvPr/>
        </p:nvSpPr>
        <p:spPr>
          <a:xfrm>
            <a:off x="502920" y="42854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③④⑤</a:t>
            </a:r>
          </a:p>
        </p:txBody>
      </p:sp>
      <p:sp>
        <p:nvSpPr>
          <p:cNvPr id="11" name="文字_D. ②③④"/>
          <p:cNvSpPr txBox="1"/>
          <p:nvPr/>
        </p:nvSpPr>
        <p:spPr>
          <a:xfrm>
            <a:off x="502920" y="47244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②③④</a:t>
            </a:r>
          </a:p>
        </p:txBody>
      </p:sp>
      <p:sp>
        <p:nvSpPr>
          <p:cNvPr id="12" name="文字_单选题  ·  08-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08-041</a:t>
            </a:r>
          </a:p>
        </p:txBody>
      </p:sp>
      <p:sp>
        <p:nvSpPr>
          <p:cNvPr id="13" name="文字_5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变式4</a:t>
            </a:r>
          </a:p>
        </p:txBody>
      </p:sp>
      <p:sp>
        <p:nvSpPr>
          <p:cNvPr id="5" name="文字_P1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P164</a:t>
            </a:r>
          </a:p>
        </p:txBody>
      </p:sp>
      <p:sp>
        <p:nvSpPr>
          <p:cNvPr id="6" name="文字_配制一定物质的量浓度的NaOH溶液时，造成所配溶"/>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配制一定物质的量浓度的NaOH溶液时，造成所配溶液浓度偏高的原因是（）</a:t>
            </a:r>
          </a:p>
        </p:txBody>
      </p:sp>
      <p:sp>
        <p:nvSpPr>
          <p:cNvPr id="7" name="文字_A. 所用NaOH已吸潮"/>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所用NaOH已吸潮</a:t>
            </a:r>
          </a:p>
        </p:txBody>
      </p:sp>
      <p:sp>
        <p:nvSpPr>
          <p:cNvPr id="8" name="文字_B. 向容量瓶加水时液面低于刻度线即摇匀"/>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向容量瓶加水时液面低于刻度线即摇匀</a:t>
            </a:r>
          </a:p>
        </p:txBody>
      </p:sp>
      <p:sp>
        <p:nvSpPr>
          <p:cNvPr id="9" name="文字_C. 有少量NaOH溶液残留在烧杯内"/>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有少量NaOH溶液残留在烧杯内</a:t>
            </a:r>
          </a:p>
        </p:txBody>
      </p:sp>
      <p:sp>
        <p:nvSpPr>
          <p:cNvPr id="10" name="文字_D. 向容量瓶加水时眼睛一直仰视液面"/>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向容量瓶加水时眼睛一直仰视液面</a:t>
            </a:r>
          </a:p>
        </p:txBody>
      </p:sp>
      <p:sp>
        <p:nvSpPr>
          <p:cNvPr id="11" name="文字_单选题  ·  08-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08-042</a:t>
            </a:r>
          </a:p>
        </p:txBody>
      </p:sp>
      <p:sp>
        <p:nvSpPr>
          <p:cNvPr id="12" name="文字_5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变式5</a:t>
            </a:r>
          </a:p>
        </p:txBody>
      </p:sp>
      <p:sp>
        <p:nvSpPr>
          <p:cNvPr id="5" name="文字_P16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P164</a:t>
            </a:r>
          </a:p>
        </p:txBody>
      </p:sp>
      <p:sp>
        <p:nvSpPr>
          <p:cNvPr id="6" name="文字_配制500 mL₀.10mol·L-1的Na₂C"/>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配制500 mL₀.10mol·L-1的Na₂CO₃溶液时，下列实验操作会使配得的溶液浓度</a:t>
            </a:r>
          </a:p>
          <a:p>
            <a:pPr>
              <a:lnSpc>
                <a:spcPct val="112000"/>
              </a:lnSpc>
              <a:spcBef>
                <a:spcPts val="0"/>
              </a:spcBef>
              <a:spcAft>
                <a:spcPts val="0"/>
              </a:spcAft>
              <a:defRPr sz="2400" b="0">
                <a:solidFill>
                  <a:srgbClr val="333333"/>
                </a:solidFill>
                <a:latin typeface="微软雅黑"/>
              </a:defRPr>
            </a:pPr>
            <a:r>
              <a:rPr>
                <a:ea typeface="微软雅黑"/>
              </a:rPr>
              <a:t>偏大的是</a:t>
            </a:r>
          </a:p>
        </p:txBody>
      </p:sp>
      <p:sp>
        <p:nvSpPr>
          <p:cNvPr id="7" name="文字_A. 转移溶液后未洗涤烧杯和玻璃棒就直接定容"/>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转移溶液后未洗涤烧杯和玻璃棒就直接定容</a:t>
            </a:r>
          </a:p>
        </p:txBody>
      </p:sp>
      <p:sp>
        <p:nvSpPr>
          <p:cNvPr id="8" name="文字_B. 用托盘天平称量时，把药品放在右盘"/>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用托盘天平称量时，把药品放在右盘</a:t>
            </a:r>
          </a:p>
        </p:txBody>
      </p:sp>
      <p:sp>
        <p:nvSpPr>
          <p:cNvPr id="9" name="文字_C. 在容量瓶中定容时俯视刻度线"/>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在容量瓶中定容时俯视刻度线</a:t>
            </a:r>
          </a:p>
        </p:txBody>
      </p:sp>
      <p:sp>
        <p:nvSpPr>
          <p:cNvPr id="10" name="文字_D. 定容后把容量瓶倒转摇匀，发现液面低于刻度，"/>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定容后把容量瓶倒转摇匀，发现液面低于刻度，再补充几滴水至刻度</a:t>
            </a:r>
          </a:p>
        </p:txBody>
      </p:sp>
      <p:sp>
        <p:nvSpPr>
          <p:cNvPr id="11" name="文字_单选题  ·  08-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08-043</a:t>
            </a:r>
          </a:p>
        </p:txBody>
      </p:sp>
      <p:sp>
        <p:nvSpPr>
          <p:cNvPr id="12" name="文字_5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变式6</a:t>
            </a:r>
          </a:p>
        </p:txBody>
      </p:sp>
      <p:sp>
        <p:nvSpPr>
          <p:cNvPr id="5" name="文字_P1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P165</a:t>
            </a:r>
          </a:p>
        </p:txBody>
      </p:sp>
      <p:sp>
        <p:nvSpPr>
          <p:cNvPr id="6" name="文字_用容量瓶配制溶液时，由于操作不当，会引起误差，下"/>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用容量瓶配制溶液时，由于操作不当，会引起误差，下列情况会使所配溶液浓度偏</a:t>
            </a:r>
          </a:p>
          <a:p>
            <a:pPr>
              <a:lnSpc>
                <a:spcPct val="112000"/>
              </a:lnSpc>
              <a:spcBef>
                <a:spcPts val="0"/>
              </a:spcBef>
              <a:spcAft>
                <a:spcPts val="0"/>
              </a:spcAft>
              <a:defRPr sz="2400" b="0">
                <a:solidFill>
                  <a:srgbClr val="333333"/>
                </a:solidFill>
                <a:latin typeface="微软雅黑"/>
              </a:defRPr>
            </a:pPr>
            <a:r>
              <a:rPr>
                <a:ea typeface="微软雅黑"/>
              </a:rPr>
              <a:t>低的是（）</a:t>
            </a:r>
          </a:p>
        </p:txBody>
      </p:sp>
      <p:sp>
        <p:nvSpPr>
          <p:cNvPr id="7" name="文字_①用天平（使用游码）称量时，被称量物与砝码的位置"/>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①用天平（使用游码）称量时，被称量物与砝码的位置放颠倒了</a:t>
            </a:r>
          </a:p>
        </p:txBody>
      </p:sp>
      <p:sp>
        <p:nvSpPr>
          <p:cNvPr id="8" name="文字_②溶液转移到容量瓶后，烧杯及玻璃棒未用蒸馏水洗涤"/>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②溶液转移到容量瓶后，烧杯及玻璃棒未用蒸馏水洗涤</a:t>
            </a:r>
          </a:p>
        </p:txBody>
      </p:sp>
      <p:sp>
        <p:nvSpPr>
          <p:cNvPr id="9" name="文字_③转移溶液前容量瓶内有少量蒸馏水"/>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③转移溶液前容量瓶内有少量蒸馏水</a:t>
            </a:r>
          </a:p>
        </p:txBody>
      </p:sp>
      <p:sp>
        <p:nvSpPr>
          <p:cNvPr id="10" name="文字_④定容时，俯视容量瓶的刻度线"/>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④定容时，俯视容量瓶的刻度线</a:t>
            </a:r>
          </a:p>
        </p:txBody>
      </p:sp>
      <p:sp>
        <p:nvSpPr>
          <p:cNvPr id="11" name="文字_⑤定容后摇匀，发现液面降低，又补加少量水，重新达"/>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⑤定容后摇匀，发现液面降低，又补加少量水，重新达到刻度线.</a:t>
            </a:r>
          </a:p>
        </p:txBody>
      </p:sp>
      <p:sp>
        <p:nvSpPr>
          <p:cNvPr id="12" name="文字_A. ①②⑤"/>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①②⑤</a:t>
            </a:r>
          </a:p>
        </p:txBody>
      </p:sp>
      <p:sp>
        <p:nvSpPr>
          <p:cNvPr id="13" name="文字_B. ①③⑤"/>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①③⑤</a:t>
            </a:r>
          </a:p>
        </p:txBody>
      </p:sp>
      <p:sp>
        <p:nvSpPr>
          <p:cNvPr id="14" name="文字_C. ③④⑤"/>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③④⑤</a:t>
            </a:r>
          </a:p>
        </p:txBody>
      </p:sp>
      <p:sp>
        <p:nvSpPr>
          <p:cNvPr id="15" name="文字_D. ②③④"/>
          <p:cNvSpPr txBox="1"/>
          <p:nvPr/>
        </p:nvSpPr>
        <p:spPr>
          <a:xfrm>
            <a:off x="502920" y="53919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②③④</a:t>
            </a:r>
          </a:p>
        </p:txBody>
      </p:sp>
      <p:sp>
        <p:nvSpPr>
          <p:cNvPr id="16" name="文字_单选题  ·  08-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08-044</a:t>
            </a:r>
          </a:p>
        </p:txBody>
      </p:sp>
      <p:sp>
        <p:nvSpPr>
          <p:cNvPr id="17"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变式7</a:t>
            </a:r>
          </a:p>
        </p:txBody>
      </p:sp>
      <p:sp>
        <p:nvSpPr>
          <p:cNvPr id="5" name="文字_P1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P165</a:t>
            </a:r>
          </a:p>
        </p:txBody>
      </p:sp>
      <p:sp>
        <p:nvSpPr>
          <p:cNvPr id="6" name="文字_实验室用已经称量好的NaOH固体配制100mL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实验室用已经称量好的NaOH固体配制100mL₂mol-1L⁻1NaOH溶液，回答下列</a:t>
            </a:r>
          </a:p>
          <a:p>
            <a:pPr>
              <a:lnSpc>
                <a:spcPct val="112000"/>
              </a:lnSpc>
              <a:spcBef>
                <a:spcPts val="0"/>
              </a:spcBef>
              <a:spcAft>
                <a:spcPts val="0"/>
              </a:spcAft>
              <a:defRPr sz="2400" b="0">
                <a:solidFill>
                  <a:srgbClr val="333333"/>
                </a:solidFill>
                <a:latin typeface="微软雅黑"/>
              </a:defRPr>
            </a:pPr>
            <a:r>
              <a:rPr>
                <a:ea typeface="微软雅黑"/>
              </a:rPr>
              <a:t>问题：</a:t>
            </a:r>
          </a:p>
        </p:txBody>
      </p:sp>
      <p:sp>
        <p:nvSpPr>
          <p:cNvPr id="7" name="文字_(1)该实验中要用到玻璃棒，其作用是 _____"/>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(1)该实验中要用到玻璃棒，其作用是 ______ o</a:t>
            </a:r>
          </a:p>
        </p:txBody>
      </p:sp>
      <p:sp>
        <p:nvSpPr>
          <p:cNvPr id="8" name="文字_(2)容量瓶用蒸馏水洗净后未烘干，使所配制溶液的"/>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(2)容量瓶用蒸馏水洗净后未烘干，使所配制溶液的浓度 ______ (偏高、偏低、无影</a:t>
            </a:r>
          </a:p>
          <a:p>
            <a:pPr>
              <a:lnSpc>
                <a:spcPct val="112000"/>
              </a:lnSpc>
              <a:spcBef>
                <a:spcPts val="0"/>
              </a:spcBef>
              <a:spcAft>
                <a:spcPts val="0"/>
              </a:spcAft>
              <a:defRPr sz="2400" b="0">
                <a:solidFill>
                  <a:srgbClr val="333333"/>
                </a:solidFill>
                <a:latin typeface="微软雅黑"/>
              </a:defRPr>
            </a:pPr>
            <a:r>
              <a:rPr>
                <a:ea typeface="微软雅黑"/>
              </a:rPr>
              <a:t>响)。</a:t>
            </a:r>
          </a:p>
        </p:txBody>
      </p:sp>
      <p:sp>
        <p:nvSpPr>
          <p:cNvPr id="9" name="文字_(3)定容时，俯视容量瓶刻度线，会导致所记溶液浓"/>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(3)定容时，俯视容量瓶刻度线，会导致所记溶液浓度 ______ (偏高、偏低、无影响)</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0" name="文字_(4)用放置时间较长的NaOH来配制溶液，可能导"/>
          <p:cNvSpPr txBox="1"/>
          <p:nvPr/>
        </p:nvSpPr>
        <p:spPr>
          <a:xfrm>
            <a:off x="502920" y="39227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(4)用放置时间较长的NaOH来配制溶液，可能导致所配溶液浓度 ______ (偏高、偏</a:t>
            </a:r>
          </a:p>
          <a:p>
            <a:pPr>
              <a:lnSpc>
                <a:spcPct val="112000"/>
              </a:lnSpc>
              <a:spcBef>
                <a:spcPts val="0"/>
              </a:spcBef>
              <a:spcAft>
                <a:spcPts val="0"/>
              </a:spcAft>
              <a:defRPr sz="2400" b="0">
                <a:solidFill>
                  <a:srgbClr val="333333"/>
                </a:solidFill>
                <a:latin typeface="微软雅黑"/>
              </a:defRPr>
            </a:pPr>
            <a:r>
              <a:rPr>
                <a:ea typeface="微软雅黑"/>
              </a:rPr>
              <a:t>低、无影响)。</a:t>
            </a:r>
          </a:p>
        </p:txBody>
      </p:sp>
      <p:sp>
        <p:nvSpPr>
          <p:cNvPr id="11" name="文字_解答题  ·  08-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08-045</a:t>
            </a:r>
          </a:p>
        </p:txBody>
      </p:sp>
      <p:sp>
        <p:nvSpPr>
          <p:cNvPr id="12"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巩固1</a:t>
            </a:r>
          </a:p>
        </p:txBody>
      </p:sp>
      <p:sp>
        <p:nvSpPr>
          <p:cNvPr id="5" name="文字_P1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P165</a:t>
            </a:r>
          </a:p>
        </p:txBody>
      </p:sp>
      <p:sp>
        <p:nvSpPr>
          <p:cNvPr id="6" name="文字_用12mol·L-1配制1mol·L-1的稀盐酸"/>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用12mol·L-1配制1mol·L-1的稀盐酸100mL，配制过程中按顺序需要用到的仪器有</a:t>
            </a:r>
          </a:p>
        </p:txBody>
      </p:sp>
      <p:sp>
        <p:nvSpPr>
          <p:cNvPr id="7" name="文字_①100mL量筒 ②10mL量筒 ③50mL烧杯"/>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①100mL量筒 ②10mL量筒 ③50mL烧杯 ④托盘天平 ⑤100mL容量瓶 ⑥胶头滴管</a:t>
            </a:r>
          </a:p>
          <a:p>
            <a:pPr>
              <a:lnSpc>
                <a:spcPct val="112000"/>
              </a:lnSpc>
              <a:spcBef>
                <a:spcPts val="0"/>
              </a:spcBef>
              <a:spcAft>
                <a:spcPts val="0"/>
              </a:spcAft>
              <a:defRPr sz="2400" b="0">
                <a:solidFill>
                  <a:srgbClr val="333333"/>
                </a:solidFill>
                <a:latin typeface="微软雅黑"/>
              </a:defRPr>
            </a:pPr>
            <a:r>
              <a:rPr>
                <a:ea typeface="微软雅黑"/>
              </a:rPr>
              <a:t> ⑦玻璃棒</a:t>
            </a:r>
          </a:p>
        </p:txBody>
      </p:sp>
      <p:sp>
        <p:nvSpPr>
          <p:cNvPr id="8" name="文字_A. ①③⑤⑥⑦"/>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①③⑤⑥⑦</a:t>
            </a:r>
          </a:p>
        </p:txBody>
      </p:sp>
      <p:sp>
        <p:nvSpPr>
          <p:cNvPr id="9" name="文字_B. ②⑥③⑦⑤⑥"/>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②⑥③⑦⑤⑥</a:t>
            </a:r>
          </a:p>
        </p:txBody>
      </p:sp>
      <p:sp>
        <p:nvSpPr>
          <p:cNvPr id="10" name="文字_C. ③⑤⑦⑥④"/>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③⑤⑦⑥④</a:t>
            </a:r>
          </a:p>
        </p:txBody>
      </p:sp>
      <p:sp>
        <p:nvSpPr>
          <p:cNvPr id="11" name="文字_D. ④③⑦⑤⑥"/>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④③⑦⑤⑥</a:t>
            </a:r>
          </a:p>
        </p:txBody>
      </p:sp>
      <p:sp>
        <p:nvSpPr>
          <p:cNvPr id="12" name="文字_单选题  ·  08-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08-046</a:t>
            </a:r>
          </a:p>
        </p:txBody>
      </p:sp>
      <p:sp>
        <p:nvSpPr>
          <p:cNvPr id="13"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巩固2</a:t>
            </a:r>
          </a:p>
        </p:txBody>
      </p:sp>
      <p:sp>
        <p:nvSpPr>
          <p:cNvPr id="5" name="文字_P16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P165</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配制0.1000mol·L-1氯化钠溶液时"/>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配制0.1000mol·L-1氯化钠溶液时，两次用玻璃棒的作用相同</a:t>
            </a:r>
          </a:p>
        </p:txBody>
      </p:sp>
      <p:sp>
        <p:nvSpPr>
          <p:cNvPr id="8" name="文字_B. 把0.585gNaCl固体放入100mL容"/>
          <p:cNvSpPr txBox="1"/>
          <p:nvPr/>
        </p:nvSpPr>
        <p:spPr>
          <a:xfrm>
            <a:off x="502920" y="19568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把0.585gNaCl固体放入100mL容量瓶中，加水到刻度线处，配成0.1mol·L-1的</a:t>
            </a:r>
          </a:p>
          <a:p>
            <a:pPr>
              <a:lnSpc>
                <a:spcPct val="112000"/>
              </a:lnSpc>
              <a:spcBef>
                <a:spcPts val="0"/>
              </a:spcBef>
              <a:spcAft>
                <a:spcPts val="0"/>
              </a:spcAft>
              <a:defRPr sz="2400" b="0">
                <a:solidFill>
                  <a:srgbClr val="333333"/>
                </a:solidFill>
                <a:latin typeface="微软雅黑"/>
              </a:defRPr>
            </a:pPr>
            <a:r>
              <a:rPr>
                <a:ea typeface="微软雅黑"/>
              </a:rPr>
              <a:t>NaCl溶液</a:t>
            </a:r>
          </a:p>
        </p:txBody>
      </p:sp>
      <p:sp>
        <p:nvSpPr>
          <p:cNvPr id="9" name="文字_C. 将62gNa₂O溶于水中，配成1L溶液，所"/>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将62gNa₂O溶于水中，配成1L溶液，所得溶质的物质的量浓度为2mol·L-1</a:t>
            </a:r>
          </a:p>
        </p:txBody>
      </p:sp>
      <p:sp>
        <p:nvSpPr>
          <p:cNvPr id="10" name="文字_D. 用量筒量取20.0mL₀.5000mol·"/>
          <p:cNvSpPr txBox="1"/>
          <p:nvPr/>
        </p:nvSpPr>
        <p:spPr>
          <a:xfrm>
            <a:off x="502920" y="31973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用量筒量取20.0mL₀.5000mol·L-1H₂SO₄溶液于烧杯中，加80.0mL水，配制</a:t>
            </a:r>
          </a:p>
          <a:p>
            <a:pPr>
              <a:lnSpc>
                <a:spcPct val="112000"/>
              </a:lnSpc>
              <a:spcBef>
                <a:spcPts val="0"/>
              </a:spcBef>
              <a:spcAft>
                <a:spcPts val="0"/>
              </a:spcAft>
              <a:defRPr sz="2400" b="0">
                <a:solidFill>
                  <a:srgbClr val="333333"/>
                </a:solidFill>
                <a:latin typeface="微软雅黑"/>
              </a:defRPr>
            </a:pPr>
            <a:r>
              <a:rPr>
                <a:ea typeface="微软雅黑"/>
              </a:rPr>
              <a:t>成0.1000mol·L-1H₂SO₄溶液</a:t>
            </a:r>
          </a:p>
        </p:txBody>
      </p:sp>
      <p:sp>
        <p:nvSpPr>
          <p:cNvPr id="11" name="文字_单选题  ·  08-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08-047</a:t>
            </a:r>
          </a:p>
        </p:txBody>
      </p:sp>
      <p:sp>
        <p:nvSpPr>
          <p:cNvPr id="12"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巩固3</a:t>
            </a:r>
          </a:p>
        </p:txBody>
      </p:sp>
      <p:sp>
        <p:nvSpPr>
          <p:cNvPr id="5" name="文字_P16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P166</a:t>
            </a:r>
          </a:p>
        </p:txBody>
      </p:sp>
      <p:sp>
        <p:nvSpPr>
          <p:cNvPr id="6" name="文字_配制一定物质的量浓度的溶液是一个重要的定量实验，"/>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配制一定物质的量浓度的溶液是一个重要的定量实验，下列有关说法正确的是</a:t>
            </a:r>
          </a:p>
        </p:txBody>
      </p:sp>
      <p:sp>
        <p:nvSpPr>
          <p:cNvPr id="7" name="文字_A. 用浓硫酸配制稀硫酸时，将浓硫酸稀释后立即转"/>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用浓硫酸配制稀硫酸时，将浓硫酸稀释后立即转入容量瓶中并进行定容</a:t>
            </a:r>
          </a:p>
        </p:txBody>
      </p:sp>
      <p:sp>
        <p:nvSpPr>
          <p:cNvPr id="8" name="文字_B. 将5.85gNaCl固体溶于1L水，所得N"/>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将5.85gNaCl固体溶于1L水，所得NaCl溶液物质的量浓度为0.1mol/L</a:t>
            </a:r>
          </a:p>
        </p:txBody>
      </p:sp>
      <p:sp>
        <p:nvSpPr>
          <p:cNvPr id="9" name="文字_C. 配制480mL₀.1mol/LCuSO₄溶"/>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配制480mL₀.1mol/LCuSO₄溶液，需要称量CuSO₄•5H₂O晶体12.0g</a:t>
            </a:r>
          </a:p>
        </p:txBody>
      </p:sp>
      <p:sp>
        <p:nvSpPr>
          <p:cNvPr id="10" name="文字_D. 称量5.3g碳酸钠固体时，若将称量物和砝码"/>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称量5.3g碳酸钠固体时，若将称量物和砝码放反，将会使所配溶液的物质的量</a:t>
            </a:r>
          </a:p>
          <a:p>
            <a:pPr>
              <a:lnSpc>
                <a:spcPct val="112000"/>
              </a:lnSpc>
              <a:spcBef>
                <a:spcPts val="0"/>
              </a:spcBef>
              <a:spcAft>
                <a:spcPts val="0"/>
              </a:spcAft>
              <a:defRPr sz="2400" b="0">
                <a:solidFill>
                  <a:srgbClr val="333333"/>
                </a:solidFill>
                <a:latin typeface="微软雅黑"/>
              </a:defRPr>
            </a:pPr>
            <a:r>
              <a:rPr>
                <a:ea typeface="微软雅黑"/>
              </a:rPr>
              <a:t>浓度偏低</a:t>
            </a:r>
          </a:p>
        </p:txBody>
      </p:sp>
      <p:sp>
        <p:nvSpPr>
          <p:cNvPr id="11" name="文字_单选题  ·  08-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08-048</a:t>
            </a:r>
          </a:p>
        </p:txBody>
      </p:sp>
      <p:sp>
        <p:nvSpPr>
          <p:cNvPr id="12"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巩固4</a:t>
            </a:r>
          </a:p>
        </p:txBody>
      </p:sp>
      <p:sp>
        <p:nvSpPr>
          <p:cNvPr id="5" name="文字_P16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P166</a:t>
            </a:r>
          </a:p>
        </p:txBody>
      </p:sp>
      <p:sp>
        <p:nvSpPr>
          <p:cNvPr id="6" name="文字_某实验兴趣小组配制90mL₀.10 mol/LN"/>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某实验兴趣小组配制90mL₀.10 mol/LNaOH溶液，部分操作如图所示：</a:t>
            </a:r>
          </a:p>
        </p:txBody>
      </p:sp>
      <p:pic>
        <p:nvPicPr>
          <p:cNvPr id="7" name="Picture 6" descr="image.png"/>
          <p:cNvPicPr>
            <a:picLocks noChangeAspect="1"/>
          </p:cNvPicPr>
          <p:nvPr/>
        </p:nvPicPr>
        <p:blipFill>
          <a:blip r:embed="rId3"/>
          <a:stretch>
            <a:fillRect/>
          </a:stretch>
        </p:blipFill>
        <p:spPr>
          <a:xfrm>
            <a:off x="502920" y="1517904"/>
            <a:ext cx="11064240" cy="1692177"/>
          </a:xfrm>
          <a:prstGeom prst="rect">
            <a:avLst/>
          </a:prstGeom>
        </p:spPr>
      </p:pic>
      <p:sp>
        <p:nvSpPr>
          <p:cNvPr id="8" name="原题文字_166_12"/>
          <p:cNvSpPr txBox="1"/>
          <p:nvPr/>
        </p:nvSpPr>
        <p:spPr>
          <a:xfrm>
            <a:off x="5165980" y="1649327"/>
            <a:ext cx="146746"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C</a:t>
            </a:r>
          </a:p>
        </p:txBody>
      </p:sp>
      <p:sp>
        <p:nvSpPr>
          <p:cNvPr id="9" name="原题文字_166_13"/>
          <p:cNvSpPr txBox="1"/>
          <p:nvPr/>
        </p:nvSpPr>
        <p:spPr>
          <a:xfrm>
            <a:off x="1766310" y="2284851"/>
            <a:ext cx="307542" cy="826180"/>
          </a:xfrm>
          <a:prstGeom prst="rect">
            <a:avLst/>
          </a:prstGeom>
          <a:noFill/>
        </p:spPr>
        <p:txBody>
          <a:bodyPr wrap="none" lIns="0" rIns="0" tIns="0" bIns="0">
            <a:spAutoFit/>
          </a:bodyPr>
          <a:lstStyle/>
          <a:p>
            <a:pPr>
              <a:lnSpc>
                <a:spcPct val="112000"/>
              </a:lnSpc>
              <a:spcBef>
                <a:spcPts val="0"/>
              </a:spcBef>
              <a:spcAft>
                <a:spcPts val="0"/>
              </a:spcAft>
              <a:defRPr sz="2642" b="0">
                <a:solidFill>
                  <a:srgbClr val="333333"/>
                </a:solidFill>
                <a:latin typeface="微软雅黑"/>
              </a:defRPr>
            </a:pPr>
            <a:r>
              <a:rPr>
                <a:ea typeface="微软雅黑"/>
              </a:rPr>
              <a:t>蒸馏水</a:t>
            </a:r>
          </a:p>
        </p:txBody>
      </p:sp>
      <p:sp>
        <p:nvSpPr>
          <p:cNvPr id="10" name="原题文字_166_14"/>
          <p:cNvSpPr txBox="1"/>
          <p:nvPr/>
        </p:nvSpPr>
        <p:spPr>
          <a:xfrm>
            <a:off x="1138443" y="2736609"/>
            <a:ext cx="307542"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00</a:t>
            </a:r>
          </a:p>
        </p:txBody>
      </p:sp>
      <p:sp>
        <p:nvSpPr>
          <p:cNvPr id="11" name="原题文字_166_15"/>
          <p:cNvSpPr txBox="1"/>
          <p:nvPr/>
        </p:nvSpPr>
        <p:spPr>
          <a:xfrm>
            <a:off x="5456943" y="2736609"/>
            <a:ext cx="698044" cy="348389"/>
          </a:xfrm>
          <a:prstGeom prst="rect">
            <a:avLst/>
          </a:prstGeom>
          <a:noFill/>
        </p:spPr>
        <p:txBody>
          <a:bodyPr wrap="none" lIns="0" rIns="0" tIns="0" bIns="0">
            <a:spAutoFit/>
          </a:bodyPr>
          <a:lstStyle/>
          <a:p>
            <a:pPr>
              <a:lnSpc>
                <a:spcPct val="112000"/>
              </a:lnSpc>
              <a:spcBef>
                <a:spcPts val="0"/>
              </a:spcBef>
              <a:spcAft>
                <a:spcPts val="0"/>
              </a:spcAft>
              <a:defRPr sz="1539" b="0">
                <a:solidFill>
                  <a:srgbClr val="333333"/>
                </a:solidFill>
                <a:latin typeface="微软雅黑"/>
              </a:defRPr>
            </a:pPr>
            <a:r>
              <a:rPr>
                <a:ea typeface="微软雅黑"/>
              </a:rPr>
              <a:t>-100mL</a:t>
            </a:r>
          </a:p>
        </p:txBody>
      </p:sp>
      <p:sp>
        <p:nvSpPr>
          <p:cNvPr id="12" name="文字_称量 ______ 溶解 ______ 转移 _"/>
          <p:cNvSpPr txBox="1"/>
          <p:nvPr/>
        </p:nvSpPr>
        <p:spPr>
          <a:xfrm>
            <a:off x="502920" y="328323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称量 ______ 溶解 ______ 转移 ______ 定容 ______ 摇匀</a:t>
            </a:r>
          </a:p>
        </p:txBody>
      </p:sp>
      <p:sp>
        <p:nvSpPr>
          <p:cNvPr id="13" name="文字_下列说法正确的是"/>
          <p:cNvSpPr txBox="1"/>
          <p:nvPr/>
        </p:nvSpPr>
        <p:spPr>
          <a:xfrm>
            <a:off x="502920" y="372214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14" name="文字_A. 称量时，将称量纸放置于电子天平并归零，然后"/>
          <p:cNvSpPr txBox="1"/>
          <p:nvPr/>
        </p:nvSpPr>
        <p:spPr>
          <a:xfrm>
            <a:off x="502920" y="416105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称量时，将称量纸放置于电子天平并归零，然后称取3.60gNaOH固体</a:t>
            </a:r>
          </a:p>
        </p:txBody>
      </p:sp>
      <p:sp>
        <p:nvSpPr>
          <p:cNvPr id="15" name="文字_B. 溶解后，立即将NaOH溶液转移至容量瓶"/>
          <p:cNvSpPr txBox="1"/>
          <p:nvPr/>
        </p:nvSpPr>
        <p:spPr>
          <a:xfrm>
            <a:off x="502920" y="459996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溶解后，立即将NaOH溶液转移至容量瓶</a:t>
            </a:r>
          </a:p>
        </p:txBody>
      </p:sp>
      <p:sp>
        <p:nvSpPr>
          <p:cNvPr id="16" name="文字_C. 定容时，若俯视刻度线，则所配溶液浓度偏高"/>
          <p:cNvSpPr txBox="1"/>
          <p:nvPr/>
        </p:nvSpPr>
        <p:spPr>
          <a:xfrm>
            <a:off x="502920" y="503888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定容时，若俯视刻度线，则所配溶液浓度偏高</a:t>
            </a:r>
          </a:p>
        </p:txBody>
      </p:sp>
      <p:sp>
        <p:nvSpPr>
          <p:cNvPr id="17" name="文字_D. 摇匀装瓶后，容量瓶应洗净、晾干，并直接盖上"/>
          <p:cNvSpPr txBox="1"/>
          <p:nvPr/>
        </p:nvSpPr>
        <p:spPr>
          <a:xfrm>
            <a:off x="502920" y="547779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摇匀装瓶后，容量瓶应洗净、晾干，并直接盖上瓶塞下次备用</a:t>
            </a:r>
          </a:p>
        </p:txBody>
      </p:sp>
      <p:sp>
        <p:nvSpPr>
          <p:cNvPr id="18" name="文字_单选题  ·  08-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08-049</a:t>
            </a:r>
          </a:p>
        </p:txBody>
      </p:sp>
      <p:sp>
        <p:nvSpPr>
          <p:cNvPr id="19"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巩固5</a:t>
            </a:r>
          </a:p>
        </p:txBody>
      </p:sp>
      <p:sp>
        <p:nvSpPr>
          <p:cNvPr id="5" name="文字_P16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P166</a:t>
            </a:r>
          </a:p>
        </p:txBody>
      </p:sp>
      <p:sp>
        <p:nvSpPr>
          <p:cNvPr id="6" name="文字_关于配制一定物质的量浓度的溶液，下列说法不正确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关于配制一定物质的量浓度的溶液，下列说法不正确的是</a:t>
            </a:r>
          </a:p>
        </p:txBody>
      </p:sp>
      <p:pic>
        <p:nvPicPr>
          <p:cNvPr id="7" name="Picture 6" descr="image.png"/>
          <p:cNvPicPr>
            <a:picLocks noChangeAspect="1"/>
          </p:cNvPicPr>
          <p:nvPr/>
        </p:nvPicPr>
        <p:blipFill>
          <a:blip r:embed="rId3"/>
          <a:stretch>
            <a:fillRect/>
          </a:stretch>
        </p:blipFill>
        <p:spPr>
          <a:xfrm>
            <a:off x="502920" y="1517904"/>
            <a:ext cx="11064240" cy="2350672"/>
          </a:xfrm>
          <a:prstGeom prst="rect">
            <a:avLst/>
          </a:prstGeom>
        </p:spPr>
      </p:pic>
      <p:sp>
        <p:nvSpPr>
          <p:cNvPr id="8" name="原题文字_166_30"/>
          <p:cNvSpPr txBox="1"/>
          <p:nvPr/>
        </p:nvSpPr>
        <p:spPr>
          <a:xfrm>
            <a:off x="587146" y="1595729"/>
            <a:ext cx="406708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如图所示的实验操作存在不只一项错误</a:t>
            </a:r>
          </a:p>
        </p:txBody>
      </p:sp>
      <p:sp>
        <p:nvSpPr>
          <p:cNvPr id="9" name="原题文字_166_31"/>
          <p:cNvSpPr txBox="1"/>
          <p:nvPr/>
        </p:nvSpPr>
        <p:spPr>
          <a:xfrm>
            <a:off x="10303769" y="1718239"/>
            <a:ext cx="966036" cy="487745"/>
          </a:xfrm>
          <a:prstGeom prst="rect">
            <a:avLst/>
          </a:prstGeom>
          <a:noFill/>
        </p:spPr>
        <p:txBody>
          <a:bodyPr wrap="none" lIns="0" rIns="0" tIns="0" bIns="0">
            <a:spAutoFit/>
          </a:bodyPr>
          <a:lstStyle/>
          <a:p>
            <a:pPr>
              <a:lnSpc>
                <a:spcPct val="112000"/>
              </a:lnSpc>
              <a:spcBef>
                <a:spcPts val="0"/>
              </a:spcBef>
              <a:spcAft>
                <a:spcPts val="0"/>
              </a:spcAft>
              <a:defRPr sz="2363" b="0">
                <a:solidFill>
                  <a:srgbClr val="333333"/>
                </a:solidFill>
                <a:latin typeface="微软雅黑"/>
              </a:defRPr>
            </a:pPr>
            <a:r>
              <a:rPr>
                <a:ea typeface="微软雅黑"/>
              </a:rPr>
              <a:t>蒸馏水</a:t>
            </a:r>
          </a:p>
        </p:txBody>
      </p:sp>
      <p:sp>
        <p:nvSpPr>
          <p:cNvPr id="10" name="原题文字_166_32"/>
          <p:cNvSpPr txBox="1"/>
          <p:nvPr/>
        </p:nvSpPr>
        <p:spPr>
          <a:xfrm>
            <a:off x="571832" y="1978574"/>
            <a:ext cx="492466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容量瓶应选用相应规格，并且使用前需进行检漏</a:t>
            </a:r>
          </a:p>
        </p:txBody>
      </p:sp>
      <p:sp>
        <p:nvSpPr>
          <p:cNvPr id="11" name="原题文字_166_33"/>
          <p:cNvSpPr txBox="1"/>
          <p:nvPr/>
        </p:nvSpPr>
        <p:spPr>
          <a:xfrm>
            <a:off x="587146" y="2353763"/>
            <a:ext cx="491700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容量瓶使用前未经干燥会造成所配溶液浓度偏低</a:t>
            </a:r>
          </a:p>
        </p:txBody>
      </p:sp>
      <p:sp>
        <p:nvSpPr>
          <p:cNvPr id="12" name="原题文字_166_34"/>
          <p:cNvSpPr txBox="1"/>
          <p:nvPr/>
        </p:nvSpPr>
        <p:spPr>
          <a:xfrm>
            <a:off x="571832" y="2744266"/>
            <a:ext cx="557549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配制500mL 0.2mol/L的CuSO₄溶液，需要称量25.0g胆矾</a:t>
            </a:r>
          </a:p>
        </p:txBody>
      </p:sp>
      <p:sp>
        <p:nvSpPr>
          <p:cNvPr id="13" name="文字_单选题  ·  08-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08-050</a:t>
            </a:r>
          </a:p>
        </p:txBody>
      </p:sp>
      <p:sp>
        <p:nvSpPr>
          <p:cNvPr id="14"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巩固6</a:t>
            </a:r>
          </a:p>
        </p:txBody>
      </p:sp>
      <p:sp>
        <p:nvSpPr>
          <p:cNvPr id="5" name="文字_P16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P167</a:t>
            </a:r>
          </a:p>
        </p:txBody>
      </p:sp>
      <p:sp>
        <p:nvSpPr>
          <p:cNvPr id="6" name="文字_实验室用固体NaOH配制0.5 mol/L的Na"/>
          <p:cNvSpPr txBox="1"/>
          <p:nvPr/>
        </p:nvSpPr>
        <p:spPr>
          <a:xfrm>
            <a:off x="502920" y="1078992"/>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实验室用固体NaOH配制0.5 mol/L的NaOH溶液500 mL，有以下仪器和用品有：①烧杯 ②100 mL量筒③容量瓶 ④药匙 ⑤玻璃棒 ⑥托盘天平(带砝码)</a:t>
            </a:r>
          </a:p>
        </p:txBody>
      </p:sp>
      <p:sp>
        <p:nvSpPr>
          <p:cNvPr id="7" name="文字_(1)配制时，没有使用的仪器和用品有 _____"/>
          <p:cNvSpPr txBox="1"/>
          <p:nvPr/>
        </p:nvSpPr>
        <p:spPr>
          <a:xfrm>
            <a:off x="502920" y="1307592"/>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(1)配制时，没有使用的仪器和用品有 ______ (填序号)，还缺少的仪器是</a:t>
            </a:r>
          </a:p>
        </p:txBody>
      </p:sp>
      <p:pic>
        <p:nvPicPr>
          <p:cNvPr id="8" name="Picture 7" descr="image.png"/>
          <p:cNvPicPr>
            <a:picLocks noChangeAspect="1"/>
          </p:cNvPicPr>
          <p:nvPr/>
        </p:nvPicPr>
        <p:blipFill>
          <a:blip r:embed="rId3"/>
          <a:stretch>
            <a:fillRect/>
          </a:stretch>
        </p:blipFill>
        <p:spPr>
          <a:xfrm>
            <a:off x="502920" y="1536192"/>
            <a:ext cx="7910129" cy="2217025"/>
          </a:xfrm>
          <a:prstGeom prst="rect">
            <a:avLst/>
          </a:prstGeom>
        </p:spPr>
      </p:pic>
      <p:sp>
        <p:nvSpPr>
          <p:cNvPr id="9" name="原题文字_167_7"/>
          <p:cNvSpPr txBox="1"/>
          <p:nvPr/>
        </p:nvSpPr>
        <p:spPr>
          <a:xfrm>
            <a:off x="568609" y="1557161"/>
            <a:ext cx="4456070"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(2)在配制的转移过程中某学生进行如图操作，请指出其中的错误：</a:t>
            </a:r>
          </a:p>
        </p:txBody>
      </p:sp>
      <p:sp>
        <p:nvSpPr>
          <p:cNvPr id="10" name="原题文字_167_8"/>
          <p:cNvSpPr txBox="1"/>
          <p:nvPr/>
        </p:nvSpPr>
        <p:spPr>
          <a:xfrm>
            <a:off x="699988" y="3062549"/>
            <a:ext cx="492795"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250mL</a:t>
            </a:r>
          </a:p>
        </p:txBody>
      </p:sp>
      <p:sp>
        <p:nvSpPr>
          <p:cNvPr id="11" name="原题文字_167_9"/>
          <p:cNvSpPr txBox="1"/>
          <p:nvPr/>
        </p:nvSpPr>
        <p:spPr>
          <a:xfrm>
            <a:off x="683566" y="3254144"/>
            <a:ext cx="334045" cy="241956"/>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20</a:t>
            </a:r>
          </a:p>
        </p:txBody>
      </p:sp>
      <p:sp>
        <p:nvSpPr>
          <p:cNvPr id="12" name="原题文字_167_10"/>
          <p:cNvSpPr txBox="1"/>
          <p:nvPr/>
        </p:nvSpPr>
        <p:spPr>
          <a:xfrm>
            <a:off x="568609" y="3527851"/>
            <a:ext cx="2863096" cy="241956"/>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(3)下列操作会使配制的溶液浓度偏低的是</a:t>
            </a:r>
          </a:p>
        </p:txBody>
      </p:sp>
      <p:sp>
        <p:nvSpPr>
          <p:cNvPr id="13" name="原题文字_167_11"/>
          <p:cNvSpPr txBox="1"/>
          <p:nvPr/>
        </p:nvSpPr>
        <p:spPr>
          <a:xfrm>
            <a:off x="3792876" y="3522377"/>
            <a:ext cx="684389"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(填字母)</a:t>
            </a:r>
          </a:p>
        </p:txBody>
      </p:sp>
      <p:sp>
        <p:nvSpPr>
          <p:cNvPr id="14" name="文字_A、没有将洗涤液转移到容量瓶 B、转移过程中有少"/>
          <p:cNvSpPr txBox="1"/>
          <p:nvPr/>
        </p:nvSpPr>
        <p:spPr>
          <a:xfrm>
            <a:off x="502920" y="38263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A、没有将洗涤液转移到容量瓶 B、转移过程中有少量溶液溅出</a:t>
            </a:r>
          </a:p>
        </p:txBody>
      </p:sp>
      <p:sp>
        <p:nvSpPr>
          <p:cNvPr id="15" name="文字_C、容量瓶洗净后未干燥"/>
          <p:cNvSpPr txBox="1"/>
          <p:nvPr/>
        </p:nvSpPr>
        <p:spPr>
          <a:xfrm>
            <a:off x="502920" y="40549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C、容量瓶洗净后未干燥</a:t>
            </a:r>
          </a:p>
        </p:txBody>
      </p:sp>
      <p:sp>
        <p:nvSpPr>
          <p:cNvPr id="16" name="文字_D、定容时俯视刻度线"/>
          <p:cNvSpPr txBox="1"/>
          <p:nvPr/>
        </p:nvSpPr>
        <p:spPr>
          <a:xfrm>
            <a:off x="502920" y="42835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D、定容时俯视刻度线</a:t>
            </a:r>
          </a:p>
        </p:txBody>
      </p:sp>
      <p:sp>
        <p:nvSpPr>
          <p:cNvPr id="17" name="文字_(4)在容量瓶使用方法中，下列操作不正确的是(填"/>
          <p:cNvSpPr txBox="1"/>
          <p:nvPr/>
        </p:nvSpPr>
        <p:spPr>
          <a:xfrm>
            <a:off x="502920" y="45121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(4)在容量瓶使用方法中，下列操作不正确的是(填序号)</a:t>
            </a:r>
          </a:p>
        </p:txBody>
      </p:sp>
      <p:sp>
        <p:nvSpPr>
          <p:cNvPr id="18" name="文字_A.使用容量瓶前检查它是否漏水"/>
          <p:cNvSpPr txBox="1"/>
          <p:nvPr/>
        </p:nvSpPr>
        <p:spPr>
          <a:xfrm>
            <a:off x="502920" y="47407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A.使用容量瓶前检查它是否漏水</a:t>
            </a:r>
          </a:p>
        </p:txBody>
      </p:sp>
      <p:sp>
        <p:nvSpPr>
          <p:cNvPr id="19" name="文字_B.容量瓶用蒸馏水洗净后，再用碱液润洗"/>
          <p:cNvSpPr txBox="1"/>
          <p:nvPr/>
        </p:nvSpPr>
        <p:spPr>
          <a:xfrm>
            <a:off x="502920" y="49693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B.容量瓶用蒸馏水洗净后，再用碱液润洗</a:t>
            </a:r>
          </a:p>
        </p:txBody>
      </p:sp>
      <p:sp>
        <p:nvSpPr>
          <p:cNvPr id="20" name="文字_C.将氢氧化钠固体放在天平托盘的滤纸上，准确称量"/>
          <p:cNvSpPr txBox="1"/>
          <p:nvPr/>
        </p:nvSpPr>
        <p:spPr>
          <a:xfrm>
            <a:off x="502920" y="51979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C.将氢氧化钠固体放在天平托盘的滤纸上，准确称量并放入烧杯中溶解后，立即注入容量瓶中</a:t>
            </a:r>
          </a:p>
        </p:txBody>
      </p:sp>
      <p:sp>
        <p:nvSpPr>
          <p:cNvPr id="21" name="文字_D.定容后塞好瓶塞，用食指顶住瓶塞，用另一只手的"/>
          <p:cNvSpPr txBox="1"/>
          <p:nvPr/>
        </p:nvSpPr>
        <p:spPr>
          <a:xfrm>
            <a:off x="502920" y="54265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D.定容后塞好瓶塞，用食指顶住瓶塞，用另一只手的手指托住瓶底，把容量瓶倒转摇匀</a:t>
            </a:r>
          </a:p>
        </p:txBody>
      </p:sp>
      <p:sp>
        <p:nvSpPr>
          <p:cNvPr id="22" name="文字_(5)实验中还需要2mol/L的NaOH溶液95"/>
          <p:cNvSpPr txBox="1"/>
          <p:nvPr/>
        </p:nvSpPr>
        <p:spPr>
          <a:xfrm>
            <a:off x="502920" y="56551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(5)实验中还需要2mol/L的NaOH溶液950mL，配制时应选用的容量瓶的规格和称取NaOH的质量分别是 ______ (填序号)</a:t>
            </a:r>
          </a:p>
        </p:txBody>
      </p:sp>
      <p:sp>
        <p:nvSpPr>
          <p:cNvPr id="23" name="文字_A.1000mL，80g"/>
          <p:cNvSpPr txBox="1"/>
          <p:nvPr/>
        </p:nvSpPr>
        <p:spPr>
          <a:xfrm>
            <a:off x="502920" y="58837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A.1000mL，80g</a:t>
            </a:r>
          </a:p>
        </p:txBody>
      </p:sp>
      <p:sp>
        <p:nvSpPr>
          <p:cNvPr id="24" name="文字_B.950mL，76g C.任意规格，72g D"/>
          <p:cNvSpPr txBox="1"/>
          <p:nvPr/>
        </p:nvSpPr>
        <p:spPr>
          <a:xfrm>
            <a:off x="502920" y="6112369"/>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B.950mL，76g C.任意规格，72g D.500mL， 42g</a:t>
            </a:r>
          </a:p>
        </p:txBody>
      </p:sp>
      <p:sp>
        <p:nvSpPr>
          <p:cNvPr id="25" name="文字_解答题  ·  08-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08-051</a:t>
            </a:r>
          </a:p>
        </p:txBody>
      </p:sp>
      <p:sp>
        <p:nvSpPr>
          <p:cNvPr id="26"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巩固7</a:t>
            </a:r>
          </a:p>
        </p:txBody>
      </p:sp>
      <p:sp>
        <p:nvSpPr>
          <p:cNvPr id="5" name="文字_P167–16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P167–168</a:t>
            </a:r>
          </a:p>
        </p:txBody>
      </p:sp>
      <p:pic>
        <p:nvPicPr>
          <p:cNvPr id="6" name="Picture 5" descr="image.png"/>
          <p:cNvPicPr>
            <a:picLocks noChangeAspect="1"/>
          </p:cNvPicPr>
          <p:nvPr/>
        </p:nvPicPr>
        <p:blipFill>
          <a:blip r:embed="rId3"/>
          <a:stretch>
            <a:fillRect/>
          </a:stretch>
        </p:blipFill>
        <p:spPr>
          <a:xfrm>
            <a:off x="502920" y="1078992"/>
            <a:ext cx="10124965" cy="2494455"/>
          </a:xfrm>
          <a:prstGeom prst="rect">
            <a:avLst/>
          </a:prstGeom>
        </p:spPr>
      </p:pic>
      <p:sp>
        <p:nvSpPr>
          <p:cNvPr id="7" name="原题文字_167_28"/>
          <p:cNvSpPr txBox="1"/>
          <p:nvPr/>
        </p:nvSpPr>
        <p:spPr>
          <a:xfrm>
            <a:off x="587002" y="1093611"/>
            <a:ext cx="5590312" cy="309704"/>
          </a:xfrm>
          <a:prstGeom prst="rect">
            <a:avLst/>
          </a:prstGeom>
          <a:noFill/>
        </p:spPr>
        <p:txBody>
          <a:bodyPr wrap="none" lIns="0" rIns="0" tIns="0" bIns="0">
            <a:spAutoFit/>
          </a:bodyPr>
          <a:lstStyle/>
          <a:p>
            <a:pPr>
              <a:lnSpc>
                <a:spcPct val="112000"/>
              </a:lnSpc>
              <a:spcBef>
                <a:spcPts val="0"/>
              </a:spcBef>
              <a:spcAft>
                <a:spcPts val="0"/>
              </a:spcAft>
              <a:defRPr sz="1460" b="0">
                <a:solidFill>
                  <a:srgbClr val="333333"/>
                </a:solidFill>
                <a:latin typeface="微软雅黑"/>
              </a:defRPr>
            </a:pPr>
            <a:r>
              <a:rPr>
                <a:ea typeface="微软雅黑"/>
              </a:rPr>
              <a:t>实验室配制500 mL₀.2 mol·L-1的Na₂SO₄溶液，实验操作步骤有：</a:t>
            </a:r>
          </a:p>
        </p:txBody>
      </p:sp>
      <p:sp>
        <p:nvSpPr>
          <p:cNvPr id="8" name="原题文字_167_29"/>
          <p:cNvSpPr txBox="1"/>
          <p:nvPr/>
        </p:nvSpPr>
        <p:spPr>
          <a:xfrm>
            <a:off x="629044" y="1471984"/>
            <a:ext cx="3635388" cy="300595"/>
          </a:xfrm>
          <a:prstGeom prst="rect">
            <a:avLst/>
          </a:prstGeom>
          <a:noFill/>
        </p:spPr>
        <p:txBody>
          <a:bodyPr wrap="none" lIns="0" rIns="0" tIns="0" bIns="0">
            <a:spAutoFit/>
          </a:bodyPr>
          <a:lstStyle/>
          <a:p>
            <a:pPr>
              <a:lnSpc>
                <a:spcPct val="112000"/>
              </a:lnSpc>
              <a:spcBef>
                <a:spcPts val="0"/>
              </a:spcBef>
              <a:spcAft>
                <a:spcPts val="0"/>
              </a:spcAft>
              <a:defRPr sz="1456" b="0">
                <a:solidFill>
                  <a:srgbClr val="333333"/>
                </a:solidFill>
                <a:latin typeface="微软雅黑"/>
              </a:defRPr>
            </a:pPr>
            <a:r>
              <a:rPr>
                <a:ea typeface="微软雅黑"/>
              </a:rPr>
              <a:t>A. 把制得的溶液小心地转移到容量瓶中。</a:t>
            </a:r>
          </a:p>
        </p:txBody>
      </p:sp>
      <p:sp>
        <p:nvSpPr>
          <p:cNvPr id="9" name="原题文字_167_30"/>
          <p:cNvSpPr txBox="1"/>
          <p:nvPr/>
        </p:nvSpPr>
        <p:spPr>
          <a:xfrm>
            <a:off x="622037" y="1857363"/>
            <a:ext cx="9731388" cy="273268"/>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B. 继续向容量瓶中加蒸馏水至液面距刻度线1～2cm处，改用胶头滴管小心滴加蒸馏水至溶液凹液面最低处与刻</a:t>
            </a:r>
          </a:p>
        </p:txBody>
      </p:sp>
      <p:sp>
        <p:nvSpPr>
          <p:cNvPr id="10" name="原题文字_167_31"/>
          <p:cNvSpPr txBox="1"/>
          <p:nvPr/>
        </p:nvSpPr>
        <p:spPr>
          <a:xfrm>
            <a:off x="622037" y="2172673"/>
            <a:ext cx="972767" cy="327922"/>
          </a:xfrm>
          <a:prstGeom prst="rect">
            <a:avLst/>
          </a:prstGeom>
          <a:noFill/>
        </p:spPr>
        <p:txBody>
          <a:bodyPr wrap="none" lIns="0" rIns="0" tIns="0" bIns="0">
            <a:spAutoFit/>
          </a:bodyPr>
          <a:lstStyle/>
          <a:p>
            <a:pPr>
              <a:lnSpc>
                <a:spcPct val="112000"/>
              </a:lnSpc>
              <a:spcBef>
                <a:spcPts val="0"/>
              </a:spcBef>
              <a:spcAft>
                <a:spcPts val="0"/>
              </a:spcAft>
              <a:defRPr sz="1555" b="0">
                <a:solidFill>
                  <a:srgbClr val="333333"/>
                </a:solidFill>
                <a:latin typeface="微软雅黑"/>
              </a:defRPr>
            </a:pPr>
            <a:r>
              <a:rPr>
                <a:ea typeface="微软雅黑"/>
              </a:rPr>
              <a:t>度线相切。</a:t>
            </a:r>
          </a:p>
        </p:txBody>
      </p:sp>
      <p:sp>
        <p:nvSpPr>
          <p:cNvPr id="11" name="原题文字_167_32"/>
          <p:cNvSpPr txBox="1"/>
          <p:nvPr/>
        </p:nvSpPr>
        <p:spPr>
          <a:xfrm>
            <a:off x="643057" y="2551046"/>
            <a:ext cx="8617291" cy="273268"/>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C. 在天平上称出14.2g硫酸钠固体，把它放在烧杯中，用适量的蒸馏水使它完全溶解并冷却至室温。</a:t>
            </a:r>
          </a:p>
        </p:txBody>
      </p:sp>
      <p:sp>
        <p:nvSpPr>
          <p:cNvPr id="12" name="原题文字_167_33"/>
          <p:cNvSpPr txBox="1"/>
          <p:nvPr/>
        </p:nvSpPr>
        <p:spPr>
          <a:xfrm>
            <a:off x="629044" y="2915404"/>
            <a:ext cx="8147829" cy="273268"/>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D. 用少量蒸馏水洗涤烧杯和玻璃棒2～3次，每次洗涤的液体都小心注入容量瓶，并轻轻振荡。</a:t>
            </a:r>
          </a:p>
        </p:txBody>
      </p:sp>
      <p:sp>
        <p:nvSpPr>
          <p:cNvPr id="13" name="原题文字_167_34"/>
          <p:cNvSpPr txBox="1"/>
          <p:nvPr/>
        </p:nvSpPr>
        <p:spPr>
          <a:xfrm>
            <a:off x="565982" y="3293777"/>
            <a:ext cx="4027774"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E. 将容量瓶瓶塞塞紧，反复上下颠倒，摇匀。</a:t>
            </a:r>
          </a:p>
        </p:txBody>
      </p:sp>
      <p:sp>
        <p:nvSpPr>
          <p:cNvPr id="14" name="文字_请填写下列空白："/>
          <p:cNvSpPr txBox="1"/>
          <p:nvPr/>
        </p:nvSpPr>
        <p:spPr>
          <a:xfrm>
            <a:off x="502920" y="3646599"/>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请填写下列空白：</a:t>
            </a:r>
          </a:p>
        </p:txBody>
      </p:sp>
      <p:sp>
        <p:nvSpPr>
          <p:cNvPr id="15" name="文字_(1) 操作步骤的正确顺序为(填序号)"/>
          <p:cNvSpPr txBox="1"/>
          <p:nvPr/>
        </p:nvSpPr>
        <p:spPr>
          <a:xfrm>
            <a:off x="502920" y="3939207"/>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 操作步骤的正确顺序为(填序号)</a:t>
            </a:r>
          </a:p>
        </p:txBody>
      </p:sp>
      <p:sp>
        <p:nvSpPr>
          <p:cNvPr id="16" name="文字_(2)本实验用到的基本仪器已有烧杯、天平(带砝码"/>
          <p:cNvSpPr txBox="1"/>
          <p:nvPr/>
        </p:nvSpPr>
        <p:spPr>
          <a:xfrm>
            <a:off x="502920" y="4231815"/>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(2)本实验用到的基本仪器已有烧杯、天平(带砝码、镊子)、玻璃棒，还缺少的仪器是</a:t>
            </a:r>
          </a:p>
        </p:txBody>
      </p:sp>
      <p:sp>
        <p:nvSpPr>
          <p:cNvPr id="17" name="文字_(3)下列情况会使所配溶液浓度偏高的是(填序号)"/>
          <p:cNvSpPr txBox="1"/>
          <p:nvPr/>
        </p:nvSpPr>
        <p:spPr>
          <a:xfrm>
            <a:off x="502920" y="4524423"/>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(3)下列情况会使所配溶液浓度偏高的是(填序号)</a:t>
            </a:r>
          </a:p>
        </p:txBody>
      </p:sp>
      <p:sp>
        <p:nvSpPr>
          <p:cNvPr id="18" name="文字_a. 定容时俯视凹液面"/>
          <p:cNvSpPr txBox="1"/>
          <p:nvPr/>
        </p:nvSpPr>
        <p:spPr>
          <a:xfrm>
            <a:off x="502920" y="4817031"/>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 定容时俯视凹液面</a:t>
            </a:r>
          </a:p>
        </p:txBody>
      </p:sp>
      <p:sp>
        <p:nvSpPr>
          <p:cNvPr id="19" name="文字_b. 没进行上述的操作步骤D"/>
          <p:cNvSpPr txBox="1"/>
          <p:nvPr/>
        </p:nvSpPr>
        <p:spPr>
          <a:xfrm>
            <a:off x="502920" y="5109639"/>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 没进行上述的操作步骤D</a:t>
            </a:r>
          </a:p>
        </p:txBody>
      </p:sp>
      <p:sp>
        <p:nvSpPr>
          <p:cNvPr id="20" name="文字_c. 加蒸馏水时，不慎超过了刻度线"/>
          <p:cNvSpPr txBox="1"/>
          <p:nvPr/>
        </p:nvSpPr>
        <p:spPr>
          <a:xfrm>
            <a:off x="502920" y="5402247"/>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 加蒸馏水时，不慎超过了刻度线</a:t>
            </a:r>
          </a:p>
        </p:txBody>
      </p:sp>
      <p:sp>
        <p:nvSpPr>
          <p:cNvPr id="21" name="文字_d. 砝码上沾有杂质"/>
          <p:cNvSpPr txBox="1"/>
          <p:nvPr/>
        </p:nvSpPr>
        <p:spPr>
          <a:xfrm>
            <a:off x="502920" y="5694855"/>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d. 砝码上沾有杂质</a:t>
            </a:r>
          </a:p>
        </p:txBody>
      </p:sp>
      <p:sp>
        <p:nvSpPr>
          <p:cNvPr id="22" name="文字_e. 容量瓶使用前内壁沾有水珠"/>
          <p:cNvSpPr txBox="1"/>
          <p:nvPr/>
        </p:nvSpPr>
        <p:spPr>
          <a:xfrm>
            <a:off x="502920" y="5987463"/>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e. 容量瓶使用前内壁沾有水珠</a:t>
            </a:r>
          </a:p>
        </p:txBody>
      </p:sp>
      <p:sp>
        <p:nvSpPr>
          <p:cNvPr id="23" name="文字_解答题  ·  08-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08-052</a:t>
            </a:r>
          </a:p>
        </p:txBody>
      </p:sp>
      <p:sp>
        <p:nvSpPr>
          <p:cNvPr id="24" name="文字_6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误差分析 · 巩固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误差分析 · 巩固8</a:t>
            </a:r>
          </a:p>
        </p:txBody>
      </p:sp>
      <p:sp>
        <p:nvSpPr>
          <p:cNvPr id="5" name="文字_P16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P168</a:t>
            </a:r>
          </a:p>
        </p:txBody>
      </p:sp>
      <p:sp>
        <p:nvSpPr>
          <p:cNvPr id="6" name="文字_实验室需用0.1mol/L的H₂₂SO₄溶液48"/>
          <p:cNvSpPr txBox="1"/>
          <p:nvPr/>
        </p:nvSpPr>
        <p:spPr>
          <a:xfrm>
            <a:off x="502920" y="1078992"/>
            <a:ext cx="11064240" cy="567817"/>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实验室需用0.1mol/L的H₂₂SO₄溶液480mL，欲用质量分数98%、密度为1.84g/cm³的浓硫酸配制，请回答下列问</a:t>
            </a:r>
          </a:p>
          <a:p>
            <a:pPr>
              <a:lnSpc>
                <a:spcPct val="112000"/>
              </a:lnSpc>
              <a:spcBef>
                <a:spcPts val="0"/>
              </a:spcBef>
              <a:spcAft>
                <a:spcPts val="0"/>
              </a:spcAft>
              <a:defRPr sz="1700" b="0">
                <a:solidFill>
                  <a:srgbClr val="333333"/>
                </a:solidFill>
                <a:latin typeface="微软雅黑"/>
              </a:defRPr>
            </a:pPr>
            <a:r>
              <a:rPr>
                <a:ea typeface="微软雅黑"/>
              </a:rPr>
              <a:t>题：</a:t>
            </a:r>
          </a:p>
        </p:txBody>
      </p:sp>
      <p:sp>
        <p:nvSpPr>
          <p:cNvPr id="7" name="文字_(1）需要使用的主要仪器除烧杯、玻璃棒、量筒外，"/>
          <p:cNvSpPr txBox="1"/>
          <p:nvPr/>
        </p:nvSpPr>
        <p:spPr>
          <a:xfrm>
            <a:off x="502920" y="1646809"/>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(1）需要使用的主要仪器除烧杯、玻璃棒、量筒外，还需要</a:t>
            </a:r>
          </a:p>
        </p:txBody>
      </p:sp>
      <p:sp>
        <p:nvSpPr>
          <p:cNvPr id="8" name="文字_（2） 其操作步骤可分解为以下几步："/>
          <p:cNvSpPr txBox="1"/>
          <p:nvPr/>
        </p:nvSpPr>
        <p:spPr>
          <a:xfrm>
            <a:off x="502920" y="1957704"/>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（2） 其操作步骤可分解为以下几步：</a:t>
            </a:r>
          </a:p>
        </p:txBody>
      </p:sp>
      <p:sp>
        <p:nvSpPr>
          <p:cNvPr id="9" name="文字_①完成下述步骤中的空白处"/>
          <p:cNvSpPr txBox="1"/>
          <p:nvPr/>
        </p:nvSpPr>
        <p:spPr>
          <a:xfrm>
            <a:off x="502920" y="2268600"/>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①完成下述步骤中的空白处</a:t>
            </a:r>
          </a:p>
        </p:txBody>
      </p:sp>
      <p:sp>
        <p:nvSpPr>
          <p:cNvPr id="10" name="文字_A. 用酸式滴定管量取 ______ mL浓硫酸"/>
          <p:cNvSpPr txBox="1"/>
          <p:nvPr/>
        </p:nvSpPr>
        <p:spPr>
          <a:xfrm>
            <a:off x="502920" y="2579496"/>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A. 用酸式滴定管量取 ______ mL浓硫酸，缓缓注入装有约50mL蒸馏水的烧杯里，并用玻璃棒搅拌。</a:t>
            </a:r>
          </a:p>
        </p:txBody>
      </p:sp>
      <p:sp>
        <p:nvSpPr>
          <p:cNvPr id="11" name="文字_B. 用适量蒸馏水分三次洗涤烧杯和玻璃棒，将每次"/>
          <p:cNvSpPr txBox="1"/>
          <p:nvPr/>
        </p:nvSpPr>
        <p:spPr>
          <a:xfrm>
            <a:off x="502920" y="289039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B. 用适量蒸馏水分三次洗涤烧杯和玻璃棒，将每次的洗液都移入容量瓶里。</a:t>
            </a:r>
          </a:p>
        </p:txBody>
      </p:sp>
      <p:sp>
        <p:nvSpPr>
          <p:cNvPr id="12" name="文字_C. 将稀释后的硫酸小心地用玻璃棒引流容量瓶里。"/>
          <p:cNvSpPr txBox="1"/>
          <p:nvPr/>
        </p:nvSpPr>
        <p:spPr>
          <a:xfrm>
            <a:off x="502920" y="3201288"/>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C. 将稀释后的硫酸小心地用玻璃棒引流容量瓶里。</a:t>
            </a:r>
          </a:p>
        </p:txBody>
      </p:sp>
      <p:sp>
        <p:nvSpPr>
          <p:cNvPr id="13" name="文字_D. 检查容量瓶是否漏水。"/>
          <p:cNvSpPr txBox="1"/>
          <p:nvPr/>
        </p:nvSpPr>
        <p:spPr>
          <a:xfrm>
            <a:off x="502920" y="3512184"/>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D. 检查容量瓶是否漏水。</a:t>
            </a:r>
          </a:p>
        </p:txBody>
      </p:sp>
      <p:sp>
        <p:nvSpPr>
          <p:cNvPr id="14" name="文字_E. 将蒸馏水直接加入容量瓶，至液面接近刻度线1"/>
          <p:cNvSpPr txBox="1"/>
          <p:nvPr/>
        </p:nvSpPr>
        <p:spPr>
          <a:xfrm>
            <a:off x="502920" y="3823080"/>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E. 将蒸馏水直接加入容量瓶，至液面接近刻度线1-2cm处。</a:t>
            </a:r>
          </a:p>
        </p:txBody>
      </p:sp>
      <p:sp>
        <p:nvSpPr>
          <p:cNvPr id="15" name="文字_F. 盖紧瓶塞，反复颠倒振荡，摇匀溶液，倒入试剂"/>
          <p:cNvSpPr txBox="1"/>
          <p:nvPr/>
        </p:nvSpPr>
        <p:spPr>
          <a:xfrm>
            <a:off x="502920" y="4133976"/>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F. 盖紧瓶塞，反复颠倒振荡，摇匀溶液，倒入试剂瓶，贴好标签。</a:t>
            </a:r>
          </a:p>
        </p:txBody>
      </p:sp>
      <p:sp>
        <p:nvSpPr>
          <p:cNvPr id="16" name="文字_G. 用胶头滴管向容量瓶里逐滴加入蒸馏水，到液面"/>
          <p:cNvSpPr txBox="1"/>
          <p:nvPr/>
        </p:nvSpPr>
        <p:spPr>
          <a:xfrm>
            <a:off x="502920" y="444487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G. 用胶头滴管向容量瓶里逐滴加入蒸馏水，到液面最低点恰好与刻线相切。</a:t>
            </a:r>
          </a:p>
        </p:txBody>
      </p:sp>
      <p:sp>
        <p:nvSpPr>
          <p:cNvPr id="17" name="文字_请据此填写："/>
          <p:cNvSpPr txBox="1"/>
          <p:nvPr/>
        </p:nvSpPr>
        <p:spPr>
          <a:xfrm>
            <a:off x="502920" y="4755768"/>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请据此填写：</a:t>
            </a:r>
          </a:p>
        </p:txBody>
      </p:sp>
      <p:sp>
        <p:nvSpPr>
          <p:cNvPr id="18" name="文字_②完成正确的操作顺序（用字母填写)："/>
          <p:cNvSpPr txBox="1"/>
          <p:nvPr/>
        </p:nvSpPr>
        <p:spPr>
          <a:xfrm>
            <a:off x="502920" y="5066664"/>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②完成正确的操作顺序（用字母填写)：</a:t>
            </a:r>
          </a:p>
        </p:txBody>
      </p:sp>
      <p:sp>
        <p:nvSpPr>
          <p:cNvPr id="19" name="文字_(3）试分析下列操作对所配溶液的浓度有何影响（填"/>
          <p:cNvSpPr txBox="1"/>
          <p:nvPr/>
        </p:nvSpPr>
        <p:spPr>
          <a:xfrm>
            <a:off x="502920" y="5377560"/>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(3）试分析下列操作对所配溶液的浓度有何影响（填“偏高”、“偏低”、无影响”)</a:t>
            </a:r>
          </a:p>
        </p:txBody>
      </p:sp>
      <p:sp>
        <p:nvSpPr>
          <p:cNvPr id="20" name="文字_①量取浓H₂SO₄时，倒出浓H₂SO₄后的量筒中"/>
          <p:cNvSpPr txBox="1"/>
          <p:nvPr/>
        </p:nvSpPr>
        <p:spPr>
          <a:xfrm>
            <a:off x="502920" y="5688456"/>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①量取浓H₂SO₄时，倒出浓H₂SO₄后的量筒中还残留少量液体未处理：</a:t>
            </a:r>
          </a:p>
        </p:txBody>
      </p:sp>
      <p:sp>
        <p:nvSpPr>
          <p:cNvPr id="21" name="文字_②定容时俯视容量瓶刻度线，会导致所配溶液浓度"/>
          <p:cNvSpPr txBox="1"/>
          <p:nvPr/>
        </p:nvSpPr>
        <p:spPr>
          <a:xfrm>
            <a:off x="502920" y="599935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②定容时俯视容量瓶刻度线，会导致所配溶液浓度</a:t>
            </a:r>
          </a:p>
        </p:txBody>
      </p:sp>
      <p:sp>
        <p:nvSpPr>
          <p:cNvPr id="22" name="文字_填空题  ·  08-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08-053</a:t>
            </a:r>
          </a:p>
        </p:txBody>
      </p:sp>
      <p:sp>
        <p:nvSpPr>
          <p:cNvPr id="23" name="文字_6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5"/>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05</a:t>
            </a:r>
          </a:p>
        </p:txBody>
      </p:sp>
      <p:sp>
        <p:nvSpPr>
          <p:cNvPr id="4" name="文字_阶段检测（一）"/>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阶段检测（一）</a:t>
            </a:r>
          </a:p>
        </p:txBody>
      </p:sp>
      <p:sp>
        <p:nvSpPr>
          <p:cNvPr id="5" name="文字_每道原题一页 · 保留题目作答空白"/>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每道原题一页 · 保留题目作答空白</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a:t>
            </a:r>
          </a:p>
        </p:txBody>
      </p:sp>
      <p:sp>
        <p:nvSpPr>
          <p:cNvPr id="5" name="文字_P16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P169</a:t>
            </a:r>
          </a:p>
        </p:txBody>
      </p:sp>
      <p:sp>
        <p:nvSpPr>
          <p:cNvPr id="6" name="文字_下列有关物质类别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下列有关物质类别正确的是</a:t>
            </a:r>
          </a:p>
        </p:txBody>
      </p:sp>
      <p:sp>
        <p:nvSpPr>
          <p:cNvPr id="7" name="文字_A. Cu₂(OH)₂CO₃是碱"/>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Cu₂(OH)₂CO₃是碱</a:t>
            </a:r>
          </a:p>
        </p:txBody>
      </p:sp>
      <p:sp>
        <p:nvSpPr>
          <p:cNvPr id="8" name="文字_B. NaHSO₄是酸"/>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NaHSO₄是酸</a:t>
            </a:r>
          </a:p>
        </p:txBody>
      </p:sp>
      <p:sp>
        <p:nvSpPr>
          <p:cNvPr id="9" name="文字_C. CO是酸性氧化物"/>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CO是酸性氧化物</a:t>
            </a:r>
          </a:p>
        </p:txBody>
      </p:sp>
      <p:sp>
        <p:nvSpPr>
          <p:cNvPr id="10" name="文字_D. KAl(SO₄)₂ · 12H₂O是"/>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KAl(SO₄)₂ · 12H₂O是</a:t>
            </a:r>
          </a:p>
        </p:txBody>
      </p:sp>
      <p:sp>
        <p:nvSpPr>
          <p:cNvPr id="11" name="文字_盐"/>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盐</a:t>
            </a:r>
          </a:p>
        </p:txBody>
      </p:sp>
      <p:sp>
        <p:nvSpPr>
          <p:cNvPr id="12" name="文字_单选题  ·  08-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08-054</a:t>
            </a:r>
          </a:p>
        </p:txBody>
      </p:sp>
      <p:sp>
        <p:nvSpPr>
          <p:cNvPr id="13" name="文字_6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a:t>
            </a:r>
          </a:p>
        </p:txBody>
      </p:sp>
      <p:sp>
        <p:nvSpPr>
          <p:cNvPr id="5" name="文字_P16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P169</a:t>
            </a:r>
          </a:p>
        </p:txBody>
      </p:sp>
      <p:sp>
        <p:nvSpPr>
          <p:cNvPr id="6" name="文字_下列物质能够导电又是电解质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下列物质能够导电又是电解质是</a:t>
            </a:r>
          </a:p>
        </p:txBody>
      </p:sp>
      <p:sp>
        <p:nvSpPr>
          <p:cNvPr id="7" name="文字_A. H₂SO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H₂SO₄</a:t>
            </a:r>
          </a:p>
        </p:txBody>
      </p:sp>
      <p:sp>
        <p:nvSpPr>
          <p:cNvPr id="8" name="文字_B. NaNO₃晶体"/>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NaNO₃晶体</a:t>
            </a:r>
          </a:p>
        </p:txBody>
      </p:sp>
      <p:sp>
        <p:nvSpPr>
          <p:cNvPr id="9" name="文字_C. 熔融的KCl"/>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熔融的KCl</a:t>
            </a:r>
          </a:p>
        </p:txBody>
      </p:sp>
      <p:sp>
        <p:nvSpPr>
          <p:cNvPr id="10" name="文字_D. NaOH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NaOH溶液</a:t>
            </a:r>
          </a:p>
        </p:txBody>
      </p:sp>
      <p:sp>
        <p:nvSpPr>
          <p:cNvPr id="11" name="文字_单选题  ·  08-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08-055</a:t>
            </a:r>
          </a:p>
        </p:txBody>
      </p:sp>
      <p:sp>
        <p:nvSpPr>
          <p:cNvPr id="1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检测题3</a:t>
            </a:r>
          </a:p>
        </p:txBody>
      </p:sp>
      <p:sp>
        <p:nvSpPr>
          <p:cNvPr id="5" name="文字_P16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P169</a:t>
            </a:r>
          </a:p>
        </p:txBody>
      </p:sp>
      <p:sp>
        <p:nvSpPr>
          <p:cNvPr id="6" name="文字_下列有关实验操作或处理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下列有关实验操作或处理不正确的是</a:t>
            </a:r>
          </a:p>
        </p:txBody>
      </p:sp>
      <p:sp>
        <p:nvSpPr>
          <p:cNvPr id="7" name="文字_A. 做焰色试验时，铂丝应该先用稀盐酸洗净后，在"/>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做焰色试验时，铂丝应该先用稀盐酸洗净后，在酒精灯外焰上灼烧至与原来的火</a:t>
            </a:r>
          </a:p>
          <a:p>
            <a:pPr>
              <a:lnSpc>
                <a:spcPct val="112000"/>
              </a:lnSpc>
              <a:spcBef>
                <a:spcPts val="0"/>
              </a:spcBef>
              <a:spcAft>
                <a:spcPts val="0"/>
              </a:spcAft>
              <a:defRPr sz="2400" b="0">
                <a:solidFill>
                  <a:srgbClr val="333333"/>
                </a:solidFill>
                <a:latin typeface="微软雅黑"/>
              </a:defRPr>
            </a:pPr>
            <a:r>
              <a:rPr>
                <a:ea typeface="微软雅黑"/>
              </a:rPr>
              <a:t>焰颜色相同时再去蘸取样品</a:t>
            </a:r>
          </a:p>
        </p:txBody>
      </p:sp>
      <p:sp>
        <p:nvSpPr>
          <p:cNvPr id="8" name="文字_B. 钠、钾等易燃物若随便丢弃易引起火灾，故实验"/>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钠、钾等易燃物若随便丢弃易引起火灾，故实验时未用完的钠、钾等应该放回原</a:t>
            </a:r>
          </a:p>
          <a:p>
            <a:pPr>
              <a:lnSpc>
                <a:spcPct val="112000"/>
              </a:lnSpc>
              <a:spcBef>
                <a:spcPts val="0"/>
              </a:spcBef>
              <a:spcAft>
                <a:spcPts val="0"/>
              </a:spcAft>
              <a:defRPr sz="2400" b="0">
                <a:solidFill>
                  <a:srgbClr val="333333"/>
                </a:solidFill>
                <a:latin typeface="微软雅黑"/>
              </a:defRPr>
            </a:pPr>
            <a:r>
              <a:rPr>
                <a:ea typeface="微软雅黑"/>
              </a:rPr>
              <a:t>试剂瓶</a:t>
            </a:r>
          </a:p>
        </p:txBody>
      </p:sp>
      <p:sp>
        <p:nvSpPr>
          <p:cNvPr id="9" name="文字_C. 为了区分溶液与胶体，我们可以用激光束照射分"/>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为了区分溶液与胶体，我们可以用激光束照射分散系，沿着光线方向观察是否有</a:t>
            </a:r>
          </a:p>
          <a:p>
            <a:pPr>
              <a:lnSpc>
                <a:spcPct val="112000"/>
              </a:lnSpc>
              <a:spcBef>
                <a:spcPts val="0"/>
              </a:spcBef>
              <a:spcAft>
                <a:spcPts val="0"/>
              </a:spcAft>
              <a:defRPr sz="2400" b="0">
                <a:solidFill>
                  <a:srgbClr val="333333"/>
                </a:solidFill>
                <a:latin typeface="微软雅黑"/>
              </a:defRPr>
            </a:pPr>
            <a:r>
              <a:rPr>
                <a:ea typeface="微软雅黑"/>
              </a:rPr>
              <a:t>丁达尔效应</a:t>
            </a:r>
          </a:p>
        </p:txBody>
      </p:sp>
      <p:sp>
        <p:nvSpPr>
          <p:cNvPr id="10" name="文字_D. 研究钠与水反应的实验现象时，我们应该佩戴护"/>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研究钠与水反应的实验现象时，我们应该佩戴护目镜</a:t>
            </a:r>
          </a:p>
        </p:txBody>
      </p:sp>
      <p:sp>
        <p:nvSpPr>
          <p:cNvPr id="11" name="文字_单选题  ·  08-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08-056</a:t>
            </a:r>
          </a:p>
        </p:txBody>
      </p:sp>
      <p:sp>
        <p:nvSpPr>
          <p:cNvPr id="12"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检测题4</a:t>
            </a:r>
          </a:p>
        </p:txBody>
      </p:sp>
      <p:sp>
        <p:nvSpPr>
          <p:cNvPr id="5" name="文字_P16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P169</a:t>
            </a:r>
          </a:p>
        </p:txBody>
      </p:sp>
      <p:sp>
        <p:nvSpPr>
          <p:cNvPr id="6" name="文字_常温下单质硫主要以S₈形式存在。加热时，S₈会转"/>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常温下单质硫主要以S₈形式存在。加热时，S₈会转化为S₆、S₄、S₂等。当温度</a:t>
            </a:r>
          </a:p>
          <a:p>
            <a:pPr>
              <a:lnSpc>
                <a:spcPct val="112000"/>
              </a:lnSpc>
              <a:spcBef>
                <a:spcPts val="0"/>
              </a:spcBef>
              <a:spcAft>
                <a:spcPts val="0"/>
              </a:spcAft>
              <a:defRPr sz="2400" b="0">
                <a:solidFill>
                  <a:srgbClr val="333333"/>
                </a:solidFill>
                <a:latin typeface="微软雅黑"/>
              </a:defRPr>
            </a:pPr>
            <a:r>
              <a:rPr>
                <a:ea typeface="微软雅黑"/>
              </a:rPr>
              <a:t>达到750C时，硫蒸气主要以S₂形式存在。下列说法不正确的是</a:t>
            </a:r>
          </a:p>
        </p:txBody>
      </p:sp>
      <p:sp>
        <p:nvSpPr>
          <p:cNvPr id="7" name="文字_A. S₈转化为S₆、S₄、S₂属于化学变化"/>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S₈转化为S₆、S₄、S₂属于化学变化</a:t>
            </a:r>
          </a:p>
        </p:txBody>
      </p:sp>
      <p:sp>
        <p:nvSpPr>
          <p:cNvPr id="8" name="文字_B. S₄的摩尔质量为128g·mol-¹"/>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S₄的摩尔质量为128g·mol-¹</a:t>
            </a:r>
          </a:p>
        </p:txBody>
      </p:sp>
      <p:sp>
        <p:nvSpPr>
          <p:cNvPr id="9" name="文字_C. S₂、S₄、S₆、S₈都是硫元素形成的单质"/>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S₂、S₄、S₆、S₈都是硫元素形成的单质，互为同素异形体</a:t>
            </a:r>
          </a:p>
        </p:txBody>
      </p:sp>
      <p:sp>
        <p:nvSpPr>
          <p:cNvPr id="10" name="文字_D. 等质量的S₈分子和S₂分子中硫原子个数比为"/>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等质量的S₈分子和S₂分子中硫原子个数比为4：1</a:t>
            </a:r>
          </a:p>
        </p:txBody>
      </p:sp>
      <p:sp>
        <p:nvSpPr>
          <p:cNvPr id="11" name="文字_单选题  ·  08-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08-057</a:t>
            </a:r>
          </a:p>
        </p:txBody>
      </p:sp>
      <p:sp>
        <p:nvSpPr>
          <p:cNvPr id="12"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检测题5</a:t>
            </a:r>
          </a:p>
        </p:txBody>
      </p:sp>
      <p:sp>
        <p:nvSpPr>
          <p:cNvPr id="5" name="文字_P16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P169</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金属钠保存在水中，液氯保存在钢瓶中"/>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金属钠保存在水中，液氯保存在钢瓶中</a:t>
            </a:r>
          </a:p>
        </p:txBody>
      </p:sp>
      <p:sp>
        <p:nvSpPr>
          <p:cNvPr id="8" name="文字_B. “侯氏制碱法”制得的最终是纯碱Na₂C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“侯氏制碱法”制得的最终是纯碱Na₂CO₃，也称苏打</a:t>
            </a:r>
          </a:p>
        </p:txBody>
      </p:sp>
      <p:sp>
        <p:nvSpPr>
          <p:cNvPr id="9" name="文字_C. 工业上将氯气通入澄清石灰水制取漂白粉，精制"/>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工业上将氯气通入澄清石灰水制取漂白粉，精制后得到漂粉精</a:t>
            </a:r>
          </a:p>
        </p:txBody>
      </p:sp>
      <p:sp>
        <p:nvSpPr>
          <p:cNvPr id="10" name="文字_D. 向NaHCO₃固体中加少量水后，固体溶解并"/>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向NaHCO₃固体中加少量水后，固体溶解并伴随着放热现象</a:t>
            </a:r>
          </a:p>
        </p:txBody>
      </p:sp>
      <p:sp>
        <p:nvSpPr>
          <p:cNvPr id="11" name="文字_单选题  ·  08-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08-058</a:t>
            </a:r>
          </a:p>
        </p:txBody>
      </p:sp>
      <p:sp>
        <p:nvSpPr>
          <p:cNvPr id="12" name="文字_7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检测题6</a:t>
            </a:r>
          </a:p>
        </p:txBody>
      </p:sp>
      <p:sp>
        <p:nvSpPr>
          <p:cNvPr id="5" name="文字_P17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P170</a:t>
            </a:r>
          </a:p>
        </p:txBody>
      </p:sp>
      <p:sp>
        <p:nvSpPr>
          <p:cNvPr id="6" name="文字_下列叙述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下列叙述中正确的是</a:t>
            </a:r>
          </a:p>
        </p:txBody>
      </p:sp>
      <p:sp>
        <p:nvSpPr>
          <p:cNvPr id="7" name="文字_A. 标准状况下1mol任何物质所占的体积均约为"/>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标准状况下1mol任何物质所占的体积均约为22.4L</a:t>
            </a:r>
          </a:p>
        </p:txBody>
      </p:sp>
      <p:sp>
        <p:nvSpPr>
          <p:cNvPr id="8" name="文字_B. 相同的温度和压强下，相同体积的CO₂气体和"/>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相同的温度和压强下，相同体积的CO₂气体和Cl₂O气体所含的原子数相同</a:t>
            </a:r>
          </a:p>
        </p:txBody>
      </p:sp>
      <p:sp>
        <p:nvSpPr>
          <p:cNvPr id="9" name="文字_C. 液态的H₂O和气态的H₂O的摩尔质量不同"/>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液态的H₂O和气态的H₂O的摩尔质量不同</a:t>
            </a:r>
          </a:p>
        </p:txBody>
      </p:sp>
      <p:sp>
        <p:nvSpPr>
          <p:cNvPr id="10" name="文字_D. 摩尔是国际单位制中七个基本物理量之一"/>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摩尔是国际单位制中七个基本物理量之一</a:t>
            </a:r>
          </a:p>
        </p:txBody>
      </p:sp>
      <p:sp>
        <p:nvSpPr>
          <p:cNvPr id="11" name="文字_单选题  ·  08-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08-059</a:t>
            </a:r>
          </a:p>
        </p:txBody>
      </p:sp>
      <p:sp>
        <p:nvSpPr>
          <p:cNvPr id="12" name="文字_7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检测题7</a:t>
            </a:r>
          </a:p>
        </p:txBody>
      </p:sp>
      <p:sp>
        <p:nvSpPr>
          <p:cNvPr id="5" name="文字_P17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P170</a:t>
            </a:r>
          </a:p>
        </p:txBody>
      </p:sp>
      <p:sp>
        <p:nvSpPr>
          <p:cNvPr id="6" name="文字_分类是我们认识和研究物质常用的方法，下列说法正确"/>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分类是我们认识和研究物质常用的方法，下列说法正确的是</a:t>
            </a:r>
          </a:p>
        </p:txBody>
      </p:sp>
      <p:sp>
        <p:nvSpPr>
          <p:cNvPr id="7" name="文字_A. 根据能否与酸或者碱反应，我们将氧化物分为碱"/>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根据能否与酸或者碱反应，我们将氧化物分为碱性氧化物或酸性氧化物</a:t>
            </a:r>
          </a:p>
        </p:txBody>
      </p:sp>
      <p:sp>
        <p:nvSpPr>
          <p:cNvPr id="8" name="文字_B. 根据分散剂的状态，我们将胶体分为气溶胶、液"/>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根据分散剂的状态，我们将胶体分为气溶胶、液溶胶、固溶胶</a:t>
            </a:r>
          </a:p>
        </p:txBody>
      </p:sp>
      <p:sp>
        <p:nvSpPr>
          <p:cNvPr id="9" name="文字_C. 根据是否有单质生成，我们将有单质生成的反应"/>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根据是否有单质生成，我们将有单质生成的反应称为置换反应</a:t>
            </a:r>
          </a:p>
        </p:txBody>
      </p:sp>
      <p:sp>
        <p:nvSpPr>
          <p:cNvPr id="10" name="文字_D. 根据其水溶液是显酸性或碱性，我们将化合物分"/>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根据其水溶液是显酸性或碱性，我们将化合物分为酸和碱</a:t>
            </a:r>
          </a:p>
        </p:txBody>
      </p:sp>
      <p:sp>
        <p:nvSpPr>
          <p:cNvPr id="11" name="文字_单选题  ·  08-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08-060</a:t>
            </a:r>
          </a:p>
        </p:txBody>
      </p:sp>
      <p:sp>
        <p:nvSpPr>
          <p:cNvPr id="12"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检测题8</a:t>
            </a:r>
          </a:p>
        </p:txBody>
      </p:sp>
      <p:sp>
        <p:nvSpPr>
          <p:cNvPr id="5" name="文字_P17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P170</a:t>
            </a:r>
          </a:p>
        </p:txBody>
      </p:sp>
      <p:sp>
        <p:nvSpPr>
          <p:cNvPr id="6" name="文字_化学家为社会的发展做出了巨大的贡献，下列说法不正"/>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化学家为社会的发展做出了巨大的贡献，下列说法不正确的是</a:t>
            </a:r>
          </a:p>
        </p:txBody>
      </p:sp>
      <p:sp>
        <p:nvSpPr>
          <p:cNvPr id="7" name="文字_A. 道尔顿提出分子学说，使人们对物质结构的认识"/>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道尔顿提出分子学说，使人们对物质结构的认识发展到一个新阶段</a:t>
            </a:r>
          </a:p>
        </p:txBody>
      </p:sp>
      <p:sp>
        <p:nvSpPr>
          <p:cNvPr id="8" name="文字_B. 化学家戴维研究氯气并将其命名，开启了氯气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化学家戴维研究氯气并将其命名，开启了氯气的研究与应用</a:t>
            </a:r>
          </a:p>
        </p:txBody>
      </p:sp>
      <p:sp>
        <p:nvSpPr>
          <p:cNvPr id="9" name="文字_C. 阿伦尼乌斯提出电离模型，为近代电离理论的发"/>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阿伦尼乌斯提出电离模型，为近代电离理论的发展打下了基础</a:t>
            </a:r>
          </a:p>
        </p:txBody>
      </p:sp>
      <p:sp>
        <p:nvSpPr>
          <p:cNvPr id="10" name="文字_D. 我国化学家侯德榜改进“索尔维制碱法”，建立"/>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我国化学家侯德榜改进“索尔维制碱法”，建立了联合制碱法，将制碱技术发</a:t>
            </a:r>
          </a:p>
          <a:p>
            <a:pPr>
              <a:lnSpc>
                <a:spcPct val="112000"/>
              </a:lnSpc>
              <a:spcBef>
                <a:spcPts val="0"/>
              </a:spcBef>
              <a:spcAft>
                <a:spcPts val="0"/>
              </a:spcAft>
              <a:defRPr sz="2400" b="0">
                <a:solidFill>
                  <a:srgbClr val="333333"/>
                </a:solidFill>
                <a:latin typeface="微软雅黑"/>
              </a:defRPr>
            </a:pPr>
            <a:r>
              <a:rPr>
                <a:ea typeface="微软雅黑"/>
              </a:rPr>
              <a:t>展到一个新的水平</a:t>
            </a:r>
          </a:p>
        </p:txBody>
      </p:sp>
      <p:sp>
        <p:nvSpPr>
          <p:cNvPr id="11" name="文字_单选题  ·  08-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08-061</a:t>
            </a:r>
          </a:p>
        </p:txBody>
      </p:sp>
      <p:sp>
        <p:nvSpPr>
          <p:cNvPr id="12"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检测题9</a:t>
            </a:r>
          </a:p>
        </p:txBody>
      </p:sp>
      <p:sp>
        <p:nvSpPr>
          <p:cNvPr id="5" name="文字_P17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P170</a:t>
            </a:r>
          </a:p>
        </p:txBody>
      </p:sp>
      <p:sp>
        <p:nvSpPr>
          <p:cNvPr id="6" name="文字_物质的性质决定其用途，下列两者对应关系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物质的性质决定其用途，下列两者对应关系不正确的是</a:t>
            </a:r>
          </a:p>
        </p:txBody>
      </p:sp>
      <p:sp>
        <p:nvSpPr>
          <p:cNvPr id="7" name="文字_A. 次氯酸钙具有强氧化性，可用于杀菌消毒"/>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次氯酸钙具有强氧化性，可用于杀菌消毒</a:t>
            </a:r>
          </a:p>
        </p:txBody>
      </p:sp>
      <p:sp>
        <p:nvSpPr>
          <p:cNvPr id="8" name="文字_B. 碳酸氢钠溶液显碱性，生活中常用作食品膨松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碳酸氢钠溶液显碱性，生活中常用作食品膨松剂</a:t>
            </a:r>
          </a:p>
        </p:txBody>
      </p:sp>
      <p:sp>
        <p:nvSpPr>
          <p:cNvPr id="9" name="文字_C. 氢气可以在氯气中燃烧，工业上常用此反应制盐"/>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氢气可以在氯气中燃烧，工业上常用此反应制盐酸</a:t>
            </a:r>
          </a:p>
        </p:txBody>
      </p:sp>
      <p:sp>
        <p:nvSpPr>
          <p:cNvPr id="10" name="文字_D. Li、Na、K、Cu等元素都有特殊的焰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Li、Na、K、Cu等元素都有特殊的焰色，烟花中常加入含这些元素的物质</a:t>
            </a:r>
          </a:p>
        </p:txBody>
      </p:sp>
      <p:sp>
        <p:nvSpPr>
          <p:cNvPr id="11" name="文字_单选题  ·  08-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08-062</a:t>
            </a:r>
          </a:p>
        </p:txBody>
      </p:sp>
      <p:sp>
        <p:nvSpPr>
          <p:cNvPr id="12"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检测题10</a:t>
            </a:r>
          </a:p>
        </p:txBody>
      </p:sp>
      <p:sp>
        <p:nvSpPr>
          <p:cNvPr id="5" name="文字_P17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P170</a:t>
            </a:r>
          </a:p>
        </p:txBody>
      </p:sp>
      <p:sp>
        <p:nvSpPr>
          <p:cNvPr id="6" name="文字_下列离子能在指定条件下大量共存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下列离子能在指定条件下大量共存的是</a:t>
            </a:r>
          </a:p>
        </p:txBody>
      </p:sp>
      <p:sp>
        <p:nvSpPr>
          <p:cNvPr id="7" name="文字_A. 某无色透明溶液中：K+、Ca²⁺、Cu²⁺"/>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某无色透明溶液中：K+、Ca²⁺、Cu²⁺、Cl⁻</a:t>
            </a:r>
          </a:p>
        </p:txBody>
      </p:sp>
      <p:sp>
        <p:nvSpPr>
          <p:cNvPr id="8" name="文字_B. 强碱性溶液中：Mg²⁺、Na+、HC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强碱性溶液中：Mg²⁺、Na+、HCO₃、SO₂⁻</a:t>
            </a:r>
          </a:p>
        </p:txBody>
      </p:sp>
      <p:sp>
        <p:nvSpPr>
          <p:cNvPr id="9" name="文字_C. 加入锌粒产生H₂的溶液中：Na+、Al³⁺"/>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加入锌粒产生H₂的溶液中：Na+、Al³⁺、Cl⁻、ClO⁻</a:t>
            </a:r>
          </a:p>
        </p:txBody>
      </p:sp>
      <p:sp>
        <p:nvSpPr>
          <p:cNvPr id="10" name="文字_D. 含有CO₂⁻离子的溶液中：K+、Na+、O"/>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含有CO₂⁻离子的溶液中：K+、Na+、OH-、NO₃</a:t>
            </a:r>
          </a:p>
        </p:txBody>
      </p:sp>
      <p:sp>
        <p:nvSpPr>
          <p:cNvPr id="11" name="文字_单选题  ·  08-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08-063</a:t>
            </a:r>
          </a:p>
        </p:txBody>
      </p:sp>
      <p:sp>
        <p:nvSpPr>
          <p:cNvPr id="12"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检测题11</a:t>
            </a:r>
          </a:p>
        </p:txBody>
      </p:sp>
      <p:sp>
        <p:nvSpPr>
          <p:cNvPr id="5" name="文字_P17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P171</a:t>
            </a:r>
          </a:p>
        </p:txBody>
      </p:sp>
      <p:sp>
        <p:nvSpPr>
          <p:cNvPr id="6" name="文字_NA为阿伏加德罗常数的值，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NA为阿伏加德罗常数的值，下列说法正确的是</a:t>
            </a:r>
          </a:p>
        </p:txBody>
      </p:sp>
      <p:sp>
        <p:nvSpPr>
          <p:cNvPr id="7" name="文字_A. H₂O₂分解产生1molO₂转移电子数为4"/>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H₂O₂分解产生1molO₂转移电子数为4NA</a:t>
            </a:r>
          </a:p>
        </p:txBody>
      </p:sp>
      <p:sp>
        <p:nvSpPr>
          <p:cNvPr id="8" name="文字_B. 100g质量分数为46%的C₂H₅OH水溶"/>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100g质量分数为46%的C₂H₅OH水溶液中含有氧原子数为NA</a:t>
            </a:r>
          </a:p>
        </p:txBody>
      </p:sp>
      <p:sp>
        <p:nvSpPr>
          <p:cNvPr id="9" name="文字_C. 0.2mol·L-1的NaHCO₃溶液中含"/>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0.2mol·L-1的NaHCO₃溶液中含有0.2NA个Na+</a:t>
            </a:r>
          </a:p>
        </p:txBody>
      </p:sp>
      <p:sp>
        <p:nvSpPr>
          <p:cNvPr id="10" name="文字_D. 含有0.5molHCl的浓盐酸与足量MnO"/>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含有0.5molHCl的浓盐酸与足量MnO₂反应制氯气，转移电子数小于0.25NA</a:t>
            </a:r>
          </a:p>
        </p:txBody>
      </p:sp>
      <p:sp>
        <p:nvSpPr>
          <p:cNvPr id="11" name="文字_单选题  ·  08-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08-064</a:t>
            </a:r>
          </a:p>
        </p:txBody>
      </p:sp>
      <p:sp>
        <p:nvSpPr>
          <p:cNvPr id="12" name="文字_7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检测题12</a:t>
            </a:r>
          </a:p>
        </p:txBody>
      </p:sp>
      <p:sp>
        <p:nvSpPr>
          <p:cNvPr id="5" name="文字_P17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P171</a:t>
            </a:r>
          </a:p>
        </p:txBody>
      </p:sp>
      <p:sp>
        <p:nvSpPr>
          <p:cNvPr id="6" name="文字_下列离子方程式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下列离子方程式正确的是</a:t>
            </a:r>
          </a:p>
        </p:txBody>
      </p:sp>
      <p:sp>
        <p:nvSpPr>
          <p:cNvPr id="7" name="文字_A. 氯气通入水中: Cl₂ + H₂O ⇒ 2"/>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氯气通入水中: Cl₂ + H₂O ⇒ 2H+ + Cl− + ClO−</a:t>
            </a:r>
          </a:p>
        </p:txBody>
      </p:sp>
      <p:sp>
        <p:nvSpPr>
          <p:cNvPr id="8" name="文字_B. 硫酸与氢氧化钡溶液反应: SO₂⁻ + H"/>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硫酸与氢氧化钡溶液反应: SO₂⁻ + H+ + OH− + Ba²⁺ = BaSO₄ ↓ +H₂O</a:t>
            </a:r>
          </a:p>
        </p:txBody>
      </p:sp>
      <p:sp>
        <p:nvSpPr>
          <p:cNvPr id="9" name="文字_C. 澄清石灰水与少量NaHCO₃反应: Ca²"/>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澄清石灰水与少量NaHCO₃反应: Ca²⁺ + OH− + HCO₃ = CaCO₃ ↓ +H₂O</a:t>
            </a:r>
          </a:p>
        </p:txBody>
      </p:sp>
      <p:sp>
        <p:nvSpPr>
          <p:cNvPr id="10" name="文字_D. 碳酸银与稀硝酸反应：CO₂⁻ + 2H+ "/>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碳酸银与稀硝酸反应：CO₂⁻ + 2H+ = CO₂ ↑ +H₂O</a:t>
            </a:r>
          </a:p>
        </p:txBody>
      </p:sp>
      <p:sp>
        <p:nvSpPr>
          <p:cNvPr id="11" name="文字_单选题  ·  08-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08-065</a:t>
            </a:r>
          </a:p>
        </p:txBody>
      </p:sp>
      <p:sp>
        <p:nvSpPr>
          <p:cNvPr id="12" name="文字_7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检测题13</a:t>
            </a:r>
          </a:p>
        </p:txBody>
      </p:sp>
      <p:sp>
        <p:nvSpPr>
          <p:cNvPr id="5" name="文字_P17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P171</a:t>
            </a:r>
          </a:p>
        </p:txBody>
      </p:sp>
      <p:sp>
        <p:nvSpPr>
          <p:cNvPr id="6" name="文字_下列方程式中，表示电子转移的方向和数目不正确的是"/>
          <p:cNvSpPr txBox="1"/>
          <p:nvPr/>
        </p:nvSpPr>
        <p:spPr>
          <a:xfrm>
            <a:off x="502920" y="1078992"/>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下列方程式中，表示电子转移的方向和数目不正确的是</a:t>
            </a:r>
          </a:p>
        </p:txBody>
      </p:sp>
      <p:pic>
        <p:nvPicPr>
          <p:cNvPr id="7" name="Picture 6" descr="image.png"/>
          <p:cNvPicPr>
            <a:picLocks noChangeAspect="1"/>
          </p:cNvPicPr>
          <p:nvPr/>
        </p:nvPicPr>
        <p:blipFill>
          <a:blip r:embed="rId3"/>
          <a:stretch>
            <a:fillRect/>
          </a:stretch>
        </p:blipFill>
        <p:spPr>
          <a:xfrm>
            <a:off x="502920" y="1380743"/>
            <a:ext cx="10441370" cy="3020410"/>
          </a:xfrm>
          <a:prstGeom prst="rect">
            <a:avLst/>
          </a:prstGeom>
        </p:spPr>
      </p:pic>
      <p:sp>
        <p:nvSpPr>
          <p:cNvPr id="8" name="原题文字_171_20"/>
          <p:cNvSpPr txBox="1"/>
          <p:nvPr/>
        </p:nvSpPr>
        <p:spPr>
          <a:xfrm>
            <a:off x="1644606" y="1410472"/>
            <a:ext cx="900289" cy="413319"/>
          </a:xfrm>
          <a:prstGeom prst="rect">
            <a:avLst/>
          </a:prstGeom>
          <a:noFill/>
        </p:spPr>
        <p:txBody>
          <a:bodyPr wrap="none" lIns="0" rIns="0" tIns="0" bIns="0">
            <a:spAutoFit/>
          </a:bodyPr>
          <a:lstStyle/>
          <a:p>
            <a:pPr>
              <a:lnSpc>
                <a:spcPct val="112000"/>
              </a:lnSpc>
              <a:spcBef>
                <a:spcPts val="0"/>
              </a:spcBef>
              <a:spcAft>
                <a:spcPts val="0"/>
              </a:spcAft>
              <a:defRPr sz="2002" b="0">
                <a:solidFill>
                  <a:srgbClr val="333333"/>
                </a:solidFill>
                <a:latin typeface="微软雅黑"/>
              </a:defRPr>
            </a:pPr>
            <a:r>
              <a:rPr>
                <a:ea typeface="微软雅黑"/>
              </a:rPr>
              <a:t>得2×3e</a:t>
            </a:r>
          </a:p>
        </p:txBody>
      </p:sp>
      <p:sp>
        <p:nvSpPr>
          <p:cNvPr id="9" name="原题文字_171_21"/>
          <p:cNvSpPr txBox="1"/>
          <p:nvPr/>
        </p:nvSpPr>
        <p:spPr>
          <a:xfrm>
            <a:off x="2316611" y="1844024"/>
            <a:ext cx="567900" cy="413319"/>
          </a:xfrm>
          <a:prstGeom prst="rect">
            <a:avLst/>
          </a:prstGeom>
          <a:noFill/>
        </p:spPr>
        <p:txBody>
          <a:bodyPr wrap="none" lIns="0" rIns="0" tIns="0" bIns="0">
            <a:spAutoFit/>
          </a:bodyPr>
          <a:lstStyle/>
          <a:p>
            <a:pPr>
              <a:lnSpc>
                <a:spcPct val="112000"/>
              </a:lnSpc>
              <a:spcBef>
                <a:spcPts val="0"/>
              </a:spcBef>
              <a:spcAft>
                <a:spcPts val="0"/>
              </a:spcAft>
              <a:defRPr sz="2002" b="0">
                <a:solidFill>
                  <a:srgbClr val="333333"/>
                </a:solidFill>
                <a:latin typeface="微软雅黑"/>
              </a:defRPr>
            </a:pPr>
            <a:r>
              <a:rPr>
                <a:ea typeface="微软雅黑"/>
              </a:rPr>
              <a:t>高温</a:t>
            </a:r>
          </a:p>
        </p:txBody>
      </p:sp>
      <p:sp>
        <p:nvSpPr>
          <p:cNvPr id="10" name="原题文字_171_22"/>
          <p:cNvSpPr txBox="1"/>
          <p:nvPr/>
        </p:nvSpPr>
        <p:spPr>
          <a:xfrm>
            <a:off x="553501" y="1988541"/>
            <a:ext cx="1622876" cy="432106"/>
          </a:xfrm>
          <a:prstGeom prst="rect">
            <a:avLst/>
          </a:prstGeom>
          <a:noFill/>
        </p:spPr>
        <p:txBody>
          <a:bodyPr wrap="none" lIns="0" rIns="0" tIns="0" bIns="0">
            <a:spAutoFit/>
          </a:bodyPr>
          <a:lstStyle/>
          <a:p>
            <a:pPr>
              <a:lnSpc>
                <a:spcPct val="112000"/>
              </a:lnSpc>
              <a:spcBef>
                <a:spcPts val="0"/>
              </a:spcBef>
              <a:spcAft>
                <a:spcPts val="0"/>
              </a:spcAft>
              <a:defRPr sz="1647" b="0">
                <a:solidFill>
                  <a:srgbClr val="333333"/>
                </a:solidFill>
                <a:latin typeface="微软雅黑"/>
              </a:defRPr>
            </a:pPr>
            <a:r>
              <a:rPr>
                <a:ea typeface="微软雅黑"/>
              </a:rPr>
              <a:t>A. Fe₂O₃ +3CO:</a:t>
            </a:r>
          </a:p>
        </p:txBody>
      </p:sp>
      <p:sp>
        <p:nvSpPr>
          <p:cNvPr id="11" name="原题文字_171_23"/>
          <p:cNvSpPr txBox="1"/>
          <p:nvPr/>
        </p:nvSpPr>
        <p:spPr>
          <a:xfrm>
            <a:off x="2988616" y="2024670"/>
            <a:ext cx="1088162" cy="413319"/>
          </a:xfrm>
          <a:prstGeom prst="rect">
            <a:avLst/>
          </a:prstGeom>
          <a:noFill/>
        </p:spPr>
        <p:txBody>
          <a:bodyPr wrap="none" lIns="0" rIns="0" tIns="0" bIns="0">
            <a:spAutoFit/>
          </a:bodyPr>
          <a:lstStyle/>
          <a:p>
            <a:pPr>
              <a:lnSpc>
                <a:spcPct val="112000"/>
              </a:lnSpc>
              <a:spcBef>
                <a:spcPts val="0"/>
              </a:spcBef>
              <a:spcAft>
                <a:spcPts val="0"/>
              </a:spcAft>
              <a:defRPr sz="1466" b="0">
                <a:solidFill>
                  <a:srgbClr val="333333"/>
                </a:solidFill>
                <a:latin typeface="微软雅黑"/>
              </a:defRPr>
            </a:pPr>
            <a:r>
              <a:rPr>
                <a:ea typeface="微软雅黑"/>
              </a:rPr>
              <a:t>2Fe + 3CO₂</a:t>
            </a:r>
          </a:p>
        </p:txBody>
      </p:sp>
      <p:sp>
        <p:nvSpPr>
          <p:cNvPr id="12" name="原题文字_171_24"/>
          <p:cNvSpPr txBox="1"/>
          <p:nvPr/>
        </p:nvSpPr>
        <p:spPr>
          <a:xfrm>
            <a:off x="2583968" y="2566610"/>
            <a:ext cx="842482" cy="347563"/>
          </a:xfrm>
          <a:prstGeom prst="rect">
            <a:avLst/>
          </a:prstGeom>
          <a:noFill/>
        </p:spPr>
        <p:txBody>
          <a:bodyPr wrap="none" lIns="0" rIns="0" tIns="0" bIns="0">
            <a:spAutoFit/>
          </a:bodyPr>
          <a:lstStyle/>
          <a:p>
            <a:pPr>
              <a:lnSpc>
                <a:spcPct val="112000"/>
              </a:lnSpc>
              <a:spcBef>
                <a:spcPts val="0"/>
              </a:spcBef>
              <a:spcAft>
                <a:spcPts val="0"/>
              </a:spcAft>
              <a:defRPr sz="1601" b="0">
                <a:solidFill>
                  <a:srgbClr val="333333"/>
                </a:solidFill>
                <a:latin typeface="微软雅黑"/>
              </a:defRPr>
            </a:pPr>
            <a:r>
              <a:rPr>
                <a:ea typeface="微软雅黑"/>
              </a:rPr>
              <a:t>失3×2e−</a:t>
            </a:r>
          </a:p>
        </p:txBody>
      </p:sp>
      <p:sp>
        <p:nvSpPr>
          <p:cNvPr id="13" name="原题文字_171_25"/>
          <p:cNvSpPr txBox="1"/>
          <p:nvPr/>
        </p:nvSpPr>
        <p:spPr>
          <a:xfrm>
            <a:off x="1406152" y="2855644"/>
            <a:ext cx="510093" cy="413319"/>
          </a:xfrm>
          <a:prstGeom prst="rect">
            <a:avLst/>
          </a:prstGeom>
          <a:noFill/>
        </p:spPr>
        <p:txBody>
          <a:bodyPr wrap="none" lIns="0" rIns="0" tIns="0" bIns="0">
            <a:spAutoFit/>
          </a:bodyPr>
          <a:lstStyle/>
          <a:p>
            <a:pPr>
              <a:lnSpc>
                <a:spcPct val="112000"/>
              </a:lnSpc>
              <a:spcBef>
                <a:spcPts val="0"/>
              </a:spcBef>
              <a:spcAft>
                <a:spcPts val="0"/>
              </a:spcAft>
              <a:defRPr sz="2002" b="0">
                <a:solidFill>
                  <a:srgbClr val="333333"/>
                </a:solidFill>
                <a:latin typeface="微软雅黑"/>
              </a:defRPr>
            </a:pPr>
            <a:r>
              <a:rPr>
                <a:ea typeface="微软雅黑"/>
              </a:rPr>
              <a:t>2e</a:t>
            </a:r>
          </a:p>
        </p:txBody>
      </p:sp>
      <p:sp>
        <p:nvSpPr>
          <p:cNvPr id="14" name="原题文字_171_26"/>
          <p:cNvSpPr txBox="1"/>
          <p:nvPr/>
        </p:nvSpPr>
        <p:spPr>
          <a:xfrm>
            <a:off x="553501" y="3289196"/>
            <a:ext cx="329446"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B.</a:t>
            </a:r>
          </a:p>
        </p:txBody>
      </p:sp>
      <p:sp>
        <p:nvSpPr>
          <p:cNvPr id="15" name="原题文字_171_27"/>
          <p:cNvSpPr txBox="1"/>
          <p:nvPr/>
        </p:nvSpPr>
        <p:spPr>
          <a:xfrm>
            <a:off x="2721259" y="3361455"/>
            <a:ext cx="676288" cy="488468"/>
          </a:xfrm>
          <a:prstGeom prst="rect">
            <a:avLst/>
          </a:prstGeom>
          <a:noFill/>
        </p:spPr>
        <p:txBody>
          <a:bodyPr wrap="none" lIns="0" rIns="0" tIns="0" bIns="0">
            <a:spAutoFit/>
          </a:bodyPr>
          <a:lstStyle/>
          <a:p>
            <a:pPr>
              <a:lnSpc>
                <a:spcPct val="112000"/>
              </a:lnSpc>
              <a:spcBef>
                <a:spcPts val="0"/>
              </a:spcBef>
              <a:spcAft>
                <a:spcPts val="0"/>
              </a:spcAft>
              <a:defRPr sz="2366" b="0">
                <a:solidFill>
                  <a:srgbClr val="333333"/>
                </a:solidFill>
                <a:latin typeface="微软雅黑"/>
              </a:defRPr>
            </a:pPr>
            <a:r>
              <a:rPr>
                <a:ea typeface="微软雅黑"/>
              </a:rPr>
              <a:t>高温</a:t>
            </a:r>
          </a:p>
        </p:txBody>
      </p:sp>
      <p:sp>
        <p:nvSpPr>
          <p:cNvPr id="16" name="原题文字_171_28"/>
          <p:cNvSpPr txBox="1"/>
          <p:nvPr/>
        </p:nvSpPr>
        <p:spPr>
          <a:xfrm>
            <a:off x="3703976" y="3563779"/>
            <a:ext cx="1319389" cy="488468"/>
          </a:xfrm>
          <a:prstGeom prst="rect">
            <a:avLst/>
          </a:prstGeom>
          <a:noFill/>
        </p:spPr>
        <p:txBody>
          <a:bodyPr wrap="none" lIns="0" rIns="0" tIns="0" bIns="0">
            <a:spAutoFit/>
          </a:bodyPr>
          <a:lstStyle/>
          <a:p>
            <a:pPr>
              <a:lnSpc>
                <a:spcPct val="112000"/>
              </a:lnSpc>
              <a:spcBef>
                <a:spcPts val="0"/>
              </a:spcBef>
              <a:spcAft>
                <a:spcPts val="0"/>
              </a:spcAft>
              <a:defRPr sz="2018" b="0">
                <a:solidFill>
                  <a:srgbClr val="333333"/>
                </a:solidFill>
                <a:latin typeface="微软雅黑"/>
              </a:defRPr>
            </a:pPr>
            <a:r>
              <a:rPr>
                <a:ea typeface="微软雅黑"/>
              </a:rPr>
              <a:t>Zn + 3CO↑</a:t>
            </a:r>
          </a:p>
        </p:txBody>
      </p:sp>
      <p:sp>
        <p:nvSpPr>
          <p:cNvPr id="17" name="原题文字_171_29"/>
          <p:cNvSpPr txBox="1"/>
          <p:nvPr/>
        </p:nvSpPr>
        <p:spPr>
          <a:xfrm>
            <a:off x="943697" y="3636038"/>
            <a:ext cx="1449455" cy="394532"/>
          </a:xfrm>
          <a:prstGeom prst="rect">
            <a:avLst/>
          </a:prstGeom>
          <a:noFill/>
        </p:spPr>
        <p:txBody>
          <a:bodyPr wrap="none" lIns="0" rIns="0" tIns="0" bIns="0">
            <a:spAutoFit/>
          </a:bodyPr>
          <a:lstStyle/>
          <a:p>
            <a:pPr>
              <a:lnSpc>
                <a:spcPct val="112000"/>
              </a:lnSpc>
              <a:spcBef>
                <a:spcPts val="0"/>
              </a:spcBef>
              <a:spcAft>
                <a:spcPts val="0"/>
              </a:spcAft>
              <a:defRPr sz="1822" b="0">
                <a:solidFill>
                  <a:srgbClr val="333333"/>
                </a:solidFill>
                <a:latin typeface="微软雅黑"/>
              </a:defRPr>
            </a:pPr>
            <a:r>
              <a:rPr>
                <a:ea typeface="微软雅黑"/>
              </a:rPr>
              <a:t>ZnCO₃ +  2C</a:t>
            </a:r>
          </a:p>
        </p:txBody>
      </p:sp>
      <p:sp>
        <p:nvSpPr>
          <p:cNvPr id="18" name="原题文字_171_30"/>
          <p:cNvSpPr txBox="1"/>
          <p:nvPr/>
        </p:nvSpPr>
        <p:spPr>
          <a:xfrm>
            <a:off x="1261635" y="4040686"/>
            <a:ext cx="502867" cy="413319"/>
          </a:xfrm>
          <a:prstGeom prst="rect">
            <a:avLst/>
          </a:prstGeom>
          <a:noFill/>
        </p:spPr>
        <p:txBody>
          <a:bodyPr wrap="none" lIns="0" rIns="0" tIns="0" bIns="0">
            <a:spAutoFit/>
          </a:bodyPr>
          <a:lstStyle/>
          <a:p>
            <a:pPr>
              <a:lnSpc>
                <a:spcPct val="112000"/>
              </a:lnSpc>
              <a:spcBef>
                <a:spcPts val="0"/>
              </a:spcBef>
              <a:spcAft>
                <a:spcPts val="0"/>
              </a:spcAft>
              <a:defRPr sz="2002" b="0">
                <a:solidFill>
                  <a:srgbClr val="333333"/>
                </a:solidFill>
                <a:latin typeface="微软雅黑"/>
              </a:defRPr>
            </a:pPr>
            <a:r>
              <a:rPr>
                <a:ea typeface="微软雅黑"/>
              </a:rPr>
              <a:t>4e</a:t>
            </a:r>
          </a:p>
        </p:txBody>
      </p:sp>
      <p:sp>
        <p:nvSpPr>
          <p:cNvPr id="19" name="文字_C."/>
          <p:cNvSpPr txBox="1"/>
          <p:nvPr/>
        </p:nvSpPr>
        <p:spPr>
          <a:xfrm>
            <a:off x="502920" y="4474306"/>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C.</a:t>
            </a:r>
          </a:p>
        </p:txBody>
      </p:sp>
      <p:sp>
        <p:nvSpPr>
          <p:cNvPr id="20" name="文字_2Cu + O₂ + H₂O + CO₂Cu₂("/>
          <p:cNvSpPr txBox="1"/>
          <p:nvPr/>
        </p:nvSpPr>
        <p:spPr>
          <a:xfrm>
            <a:off x="502920" y="4776058"/>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2Cu + O₂ + H₂O + CO₂Cu₂(OH)₂CO₃</a:t>
            </a:r>
          </a:p>
        </p:txBody>
      </p:sp>
      <p:sp>
        <p:nvSpPr>
          <p:cNvPr id="21" name="文字_得5e-"/>
          <p:cNvSpPr txBox="1"/>
          <p:nvPr/>
        </p:nvSpPr>
        <p:spPr>
          <a:xfrm>
            <a:off x="502920" y="5077810"/>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得5e-</a:t>
            </a:r>
          </a:p>
        </p:txBody>
      </p:sp>
      <p:sp>
        <p:nvSpPr>
          <p:cNvPr id="22" name="文字_D. NaClO₃ + 6HCl=3Cl₂↑+N"/>
          <p:cNvSpPr txBox="1"/>
          <p:nvPr/>
        </p:nvSpPr>
        <p:spPr>
          <a:xfrm>
            <a:off x="502920" y="5379562"/>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D. NaClO₃ + 6HCl=3Cl₂↑+NaCl + 3H₂O</a:t>
            </a:r>
          </a:p>
        </p:txBody>
      </p:sp>
      <p:sp>
        <p:nvSpPr>
          <p:cNvPr id="23" name="文字_个"/>
          <p:cNvSpPr txBox="1"/>
          <p:nvPr/>
        </p:nvSpPr>
        <p:spPr>
          <a:xfrm>
            <a:off x="502920" y="5681314"/>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个</a:t>
            </a:r>
          </a:p>
        </p:txBody>
      </p:sp>
      <p:sp>
        <p:nvSpPr>
          <p:cNvPr id="24" name="文字_失5×e−"/>
          <p:cNvSpPr txBox="1"/>
          <p:nvPr/>
        </p:nvSpPr>
        <p:spPr>
          <a:xfrm>
            <a:off x="502920" y="5983066"/>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失5×e−</a:t>
            </a:r>
          </a:p>
        </p:txBody>
      </p:sp>
      <p:sp>
        <p:nvSpPr>
          <p:cNvPr id="25" name="文字_单选题  ·  08-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08-066</a:t>
            </a:r>
          </a:p>
        </p:txBody>
      </p:sp>
      <p:sp>
        <p:nvSpPr>
          <p:cNvPr id="26"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检测题14</a:t>
            </a:r>
          </a:p>
        </p:txBody>
      </p:sp>
      <p:sp>
        <p:nvSpPr>
          <p:cNvPr id="5" name="文字_P17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P171</a:t>
            </a:r>
          </a:p>
        </p:txBody>
      </p:sp>
      <p:sp>
        <p:nvSpPr>
          <p:cNvPr id="6" name="文字_已知在溶液中能发生下列反应: ①Cr₂O₂⁻ +"/>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已知在溶液中能发生下列反应: ①Cr₂O₂⁻ + 6Cl− + 14H+ = 2Cr³⁺ + 3Cl₂ ↑ +</a:t>
            </a:r>
          </a:p>
          <a:p>
            <a:pPr>
              <a:lnSpc>
                <a:spcPct val="112000"/>
              </a:lnSpc>
              <a:spcBef>
                <a:spcPts val="0"/>
              </a:spcBef>
              <a:spcAft>
                <a:spcPts val="0"/>
              </a:spcAft>
              <a:defRPr sz="2400" b="0">
                <a:solidFill>
                  <a:srgbClr val="333333"/>
                </a:solidFill>
                <a:latin typeface="微软雅黑"/>
              </a:defRPr>
            </a:pPr>
            <a:r>
              <a:rPr>
                <a:ea typeface="微软雅黑"/>
              </a:rPr>
              <a:t>7H₂O②Cl₂ + 2Br− = 2Cl− + Br₂③Br₂ + 2Fe²⁺ = 2Br− + 2Fe³⁺，则下列说</a:t>
            </a:r>
          </a:p>
          <a:p>
            <a:pPr>
              <a:lnSpc>
                <a:spcPct val="112000"/>
              </a:lnSpc>
              <a:spcBef>
                <a:spcPts val="0"/>
              </a:spcBef>
              <a:spcAft>
                <a:spcPts val="0"/>
              </a:spcAft>
              <a:defRPr sz="2400" b="0">
                <a:solidFill>
                  <a:srgbClr val="333333"/>
                </a:solidFill>
                <a:latin typeface="微软雅黑"/>
              </a:defRPr>
            </a:pPr>
            <a:r>
              <a:rPr>
                <a:ea typeface="微软雅黑"/>
              </a:rPr>
              <a:t>法不正确的是</a:t>
            </a:r>
          </a:p>
        </p:txBody>
      </p:sp>
      <p:sp>
        <p:nvSpPr>
          <p:cNvPr id="7" name="文字_A. 反应①中Cl₂是氧化产物"/>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反应①中Cl₂是氧化产物</a:t>
            </a:r>
          </a:p>
        </p:txBody>
      </p:sp>
      <p:sp>
        <p:nvSpPr>
          <p:cNvPr id="8" name="文字_B. 实验室制氯气用澄清石灰水吸收过量的氯气"/>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实验室制氯气用澄清石灰水吸收过量的氯气</a:t>
            </a:r>
          </a:p>
        </p:txBody>
      </p:sp>
      <p:sp>
        <p:nvSpPr>
          <p:cNvPr id="9" name="文字_C. 用亚铁盐处理废水中的Cr₂O₂⁻，其反应为"/>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用亚铁盐处理废水中的Cr₂O₂⁻，其反应为Cr₂O₂⁻ + 6Fe²⁺ + 14H+ = 2Cr³⁺</a:t>
            </a:r>
          </a:p>
          <a:p>
            <a:pPr>
              <a:lnSpc>
                <a:spcPct val="112000"/>
              </a:lnSpc>
              <a:spcBef>
                <a:spcPts val="0"/>
              </a:spcBef>
              <a:spcAft>
                <a:spcPts val="0"/>
              </a:spcAft>
              <a:defRPr sz="2400" b="0">
                <a:solidFill>
                  <a:srgbClr val="333333"/>
                </a:solidFill>
                <a:latin typeface="微软雅黑"/>
              </a:defRPr>
            </a:pPr>
            <a:r>
              <a:rPr>
                <a:ea typeface="微软雅黑"/>
              </a:rPr>
              <a:t> + 6Fe³⁺ + 7H₂O</a:t>
            </a:r>
          </a:p>
        </p:txBody>
      </p:sp>
      <p:sp>
        <p:nvSpPr>
          <p:cNvPr id="10" name="文字_D. 氧化性: Cr₂O₂⁻ &gt; Cl₂ &gt; B"/>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氧化性: Cr₂O₂⁻ &gt; Cl₂ &gt; Br₂ &gt; Fe³⁺</a:t>
            </a:r>
          </a:p>
        </p:txBody>
      </p:sp>
      <p:sp>
        <p:nvSpPr>
          <p:cNvPr id="11" name="文字_单选题  ·  08-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08-067</a:t>
            </a:r>
          </a:p>
        </p:txBody>
      </p:sp>
      <p:sp>
        <p:nvSpPr>
          <p:cNvPr id="12" name="文字_8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检测题15</a:t>
            </a:r>
          </a:p>
        </p:txBody>
      </p:sp>
      <p:sp>
        <p:nvSpPr>
          <p:cNvPr id="5" name="文字_P17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P172</a:t>
            </a:r>
          </a:p>
        </p:txBody>
      </p:sp>
      <p:sp>
        <p:nvSpPr>
          <p:cNvPr id="6" name="文字_某KNO₃、K₂SO₄、MgSO₄的混合溶液中，"/>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某KNO₃、K₂SO₄、MgSO₄的混合溶液中，K+的浓度为0.3mol·L-1，NO₃的浓</a:t>
            </a:r>
          </a:p>
          <a:p>
            <a:pPr>
              <a:lnSpc>
                <a:spcPct val="112000"/>
              </a:lnSpc>
              <a:spcBef>
                <a:spcPts val="0"/>
              </a:spcBef>
              <a:spcAft>
                <a:spcPts val="0"/>
              </a:spcAft>
              <a:defRPr sz="2400" b="0">
                <a:solidFill>
                  <a:srgbClr val="333333"/>
                </a:solidFill>
                <a:latin typeface="微软雅黑"/>
              </a:defRPr>
            </a:pPr>
            <a:r>
              <a:rPr>
                <a:ea typeface="微软雅黑"/>
              </a:rPr>
              <a:t>度为0.1mol·L-1，SO₂⁻的浓度为</a:t>
            </a:r>
          </a:p>
        </p:txBody>
      </p:sp>
      <p:sp>
        <p:nvSpPr>
          <p:cNvPr id="7" name="文字_0.25mol·L-1，则该溶液中Mg²⁺的物质"/>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0.25mol·L-1，则该溶液中Mg²⁺的物质的量浓度为</a:t>
            </a:r>
          </a:p>
        </p:txBody>
      </p:sp>
      <p:sp>
        <p:nvSpPr>
          <p:cNvPr id="8" name="文字_A. 0.15mol·L-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0.15mol·L-1</a:t>
            </a:r>
          </a:p>
        </p:txBody>
      </p:sp>
      <p:sp>
        <p:nvSpPr>
          <p:cNvPr id="9" name="文字_B. 0.1mol·L-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0.1mol·L-1</a:t>
            </a:r>
          </a:p>
        </p:txBody>
      </p:sp>
      <p:sp>
        <p:nvSpPr>
          <p:cNvPr id="10" name="文字_C. 0.2mol·L-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0.2mol·L-1</a:t>
            </a:r>
          </a:p>
        </p:txBody>
      </p:sp>
      <p:sp>
        <p:nvSpPr>
          <p:cNvPr id="11" name="文字_D. 0.3mol·L-1"/>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0.3mol·L-1</a:t>
            </a:r>
          </a:p>
        </p:txBody>
      </p:sp>
      <p:sp>
        <p:nvSpPr>
          <p:cNvPr id="12" name="文字_单选题  ·  08-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08-068</a:t>
            </a:r>
          </a:p>
        </p:txBody>
      </p:sp>
      <p:sp>
        <p:nvSpPr>
          <p:cNvPr id="13" name="文字_8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检测题16</a:t>
            </a:r>
          </a:p>
        </p:txBody>
      </p:sp>
      <p:sp>
        <p:nvSpPr>
          <p:cNvPr id="5" name="文字_P17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P172</a:t>
            </a:r>
          </a:p>
        </p:txBody>
      </p:sp>
      <p:sp>
        <p:nvSpPr>
          <p:cNvPr id="6" name="文字_将一小块金属钠分别投入下列物质的稀溶液中，有气体"/>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将一小块金属钠分别投入下列物质的稀溶液中，有气体放出，且溶液质量减轻的是</a:t>
            </a:r>
          </a:p>
        </p:txBody>
      </p:sp>
      <p:sp>
        <p:nvSpPr>
          <p:cNvPr id="7" name="文字_A. H₂SO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H₂SO₄</a:t>
            </a:r>
          </a:p>
        </p:txBody>
      </p:sp>
      <p:sp>
        <p:nvSpPr>
          <p:cNvPr id="8" name="文字_B. KN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KNO₃</a:t>
            </a:r>
          </a:p>
        </p:txBody>
      </p:sp>
      <p:sp>
        <p:nvSpPr>
          <p:cNvPr id="9" name="文字_C. MgCl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MgCl₂</a:t>
            </a:r>
          </a:p>
        </p:txBody>
      </p:sp>
      <p:sp>
        <p:nvSpPr>
          <p:cNvPr id="10" name="文字_D. NaOH"/>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NaOH</a:t>
            </a:r>
          </a:p>
        </p:txBody>
      </p:sp>
      <p:sp>
        <p:nvSpPr>
          <p:cNvPr id="11" name="文字_单选题  ·  08-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08-069</a:t>
            </a:r>
          </a:p>
        </p:txBody>
      </p:sp>
      <p:sp>
        <p:nvSpPr>
          <p:cNvPr id="12"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检测题17</a:t>
            </a:r>
          </a:p>
        </p:txBody>
      </p:sp>
      <p:sp>
        <p:nvSpPr>
          <p:cNvPr id="5" name="文字_P17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P172</a:t>
            </a:r>
          </a:p>
        </p:txBody>
      </p:sp>
      <p:sp>
        <p:nvSpPr>
          <p:cNvPr id="6" name="文字_利用下列装置和试剂进行实验，能达到实验目的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利用下列装置和试剂进行实验，能达到实验目的的是</a:t>
            </a:r>
          </a:p>
        </p:txBody>
      </p:sp>
      <p:pic>
        <p:nvPicPr>
          <p:cNvPr id="7" name="Picture 6" descr="image.png"/>
          <p:cNvPicPr>
            <a:picLocks noChangeAspect="1"/>
          </p:cNvPicPr>
          <p:nvPr/>
        </p:nvPicPr>
        <p:blipFill>
          <a:blip r:embed="rId3"/>
          <a:stretch>
            <a:fillRect/>
          </a:stretch>
        </p:blipFill>
        <p:spPr>
          <a:xfrm>
            <a:off x="502920" y="1517904"/>
            <a:ext cx="11064240" cy="1921885"/>
          </a:xfrm>
          <a:prstGeom prst="rect">
            <a:avLst/>
          </a:prstGeom>
        </p:spPr>
      </p:pic>
      <p:sp>
        <p:nvSpPr>
          <p:cNvPr id="8" name="原题文字_172_21"/>
          <p:cNvSpPr txBox="1"/>
          <p:nvPr/>
        </p:nvSpPr>
        <p:spPr>
          <a:xfrm>
            <a:off x="5824474" y="1549787"/>
            <a:ext cx="675073" cy="497699"/>
          </a:xfrm>
          <a:prstGeom prst="rect">
            <a:avLst/>
          </a:prstGeom>
          <a:noFill/>
        </p:spPr>
        <p:txBody>
          <a:bodyPr wrap="none" lIns="0" rIns="0" tIns="0" bIns="0">
            <a:spAutoFit/>
          </a:bodyPr>
          <a:lstStyle/>
          <a:p>
            <a:pPr>
              <a:lnSpc>
                <a:spcPct val="112000"/>
              </a:lnSpc>
              <a:spcBef>
                <a:spcPts val="0"/>
              </a:spcBef>
              <a:spcAft>
                <a:spcPts val="0"/>
              </a:spcAft>
              <a:defRPr sz="2411" b="0">
                <a:solidFill>
                  <a:srgbClr val="333333"/>
                </a:solidFill>
                <a:latin typeface="微软雅黑"/>
              </a:defRPr>
            </a:pPr>
            <a:r>
              <a:rPr>
                <a:ea typeface="微软雅黑"/>
              </a:rPr>
              <a:t>气体</a:t>
            </a:r>
          </a:p>
        </p:txBody>
      </p:sp>
      <p:sp>
        <p:nvSpPr>
          <p:cNvPr id="9" name="原题文字_172_22"/>
          <p:cNvSpPr txBox="1"/>
          <p:nvPr/>
        </p:nvSpPr>
        <p:spPr>
          <a:xfrm>
            <a:off x="1467691" y="2101085"/>
            <a:ext cx="636789"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干燥</a:t>
            </a:r>
          </a:p>
        </p:txBody>
      </p:sp>
      <p:sp>
        <p:nvSpPr>
          <p:cNvPr id="10" name="原题文字_172_23"/>
          <p:cNvSpPr txBox="1"/>
          <p:nvPr/>
        </p:nvSpPr>
        <p:spPr>
          <a:xfrm>
            <a:off x="2600914" y="2292508"/>
            <a:ext cx="828212"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浓硫酸</a:t>
            </a:r>
          </a:p>
        </p:txBody>
      </p:sp>
      <p:sp>
        <p:nvSpPr>
          <p:cNvPr id="11" name="原题文字_172_24"/>
          <p:cNvSpPr txBox="1"/>
          <p:nvPr/>
        </p:nvSpPr>
        <p:spPr>
          <a:xfrm>
            <a:off x="1475348" y="2384391"/>
            <a:ext cx="644446"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氯气</a:t>
            </a:r>
          </a:p>
        </p:txBody>
      </p:sp>
      <p:sp>
        <p:nvSpPr>
          <p:cNvPr id="12" name="原题文字_172_25"/>
          <p:cNvSpPr txBox="1"/>
          <p:nvPr/>
        </p:nvSpPr>
        <p:spPr>
          <a:xfrm>
            <a:off x="1475348" y="2744266"/>
            <a:ext cx="62147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鲜花</a:t>
            </a:r>
          </a:p>
        </p:txBody>
      </p:sp>
      <p:sp>
        <p:nvSpPr>
          <p:cNvPr id="13" name="原题文字_172_26"/>
          <p:cNvSpPr txBox="1"/>
          <p:nvPr/>
        </p:nvSpPr>
        <p:spPr>
          <a:xfrm>
            <a:off x="5732591" y="2805521"/>
            <a:ext cx="62147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饱和</a:t>
            </a:r>
          </a:p>
        </p:txBody>
      </p:sp>
      <p:sp>
        <p:nvSpPr>
          <p:cNvPr id="14" name="原题文字_172_27"/>
          <p:cNvSpPr txBox="1"/>
          <p:nvPr/>
        </p:nvSpPr>
        <p:spPr>
          <a:xfrm>
            <a:off x="2547315" y="2973973"/>
            <a:ext cx="414738"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水</a:t>
            </a:r>
          </a:p>
        </p:txBody>
      </p:sp>
      <p:sp>
        <p:nvSpPr>
          <p:cNvPr id="15" name="原题文字_172_28"/>
          <p:cNvSpPr txBox="1"/>
          <p:nvPr/>
        </p:nvSpPr>
        <p:spPr>
          <a:xfrm>
            <a:off x="5747905" y="3081170"/>
            <a:ext cx="812898"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食盐水</a:t>
            </a:r>
          </a:p>
        </p:txBody>
      </p:sp>
      <p:sp>
        <p:nvSpPr>
          <p:cNvPr id="16" name="文字_甲 ______ 乙 ______ 丙 ____"/>
          <p:cNvSpPr txBox="1"/>
          <p:nvPr/>
        </p:nvSpPr>
        <p:spPr>
          <a:xfrm>
            <a:off x="502920" y="351294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甲 ______ 乙 ______ 丙 ______ 丁</a:t>
            </a:r>
          </a:p>
        </p:txBody>
      </p:sp>
      <p:sp>
        <p:nvSpPr>
          <p:cNvPr id="17" name="文字_A. 利用甲装置验证干燥的氯气有无漂白性"/>
          <p:cNvSpPr txBox="1"/>
          <p:nvPr/>
        </p:nvSpPr>
        <p:spPr>
          <a:xfrm>
            <a:off x="502920" y="395185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利用甲装置验证干燥的氯气有无漂白性</a:t>
            </a:r>
          </a:p>
        </p:txBody>
      </p:sp>
      <p:sp>
        <p:nvSpPr>
          <p:cNvPr id="18" name="文字_B. 配制一定物质的量浓度的稀硫酸"/>
          <p:cNvSpPr txBox="1"/>
          <p:nvPr/>
        </p:nvSpPr>
        <p:spPr>
          <a:xfrm>
            <a:off x="502920" y="439076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配制一定物质的量浓度的稀硫酸</a:t>
            </a:r>
          </a:p>
        </p:txBody>
      </p:sp>
      <p:sp>
        <p:nvSpPr>
          <p:cNvPr id="19" name="文字_C. 利用丙装置检验草木灰中含有钾元素"/>
          <p:cNvSpPr txBox="1"/>
          <p:nvPr/>
        </p:nvSpPr>
        <p:spPr>
          <a:xfrm>
            <a:off x="502920" y="482967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利用丙装置检验草木灰中含有钾元素</a:t>
            </a:r>
          </a:p>
        </p:txBody>
      </p:sp>
      <p:sp>
        <p:nvSpPr>
          <p:cNvPr id="20" name="文字_D. 利用丁装置除去Cl₂中少量的HCl气体"/>
          <p:cNvSpPr txBox="1"/>
          <p:nvPr/>
        </p:nvSpPr>
        <p:spPr>
          <a:xfrm>
            <a:off x="502920" y="526858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利用丁装置除去Cl₂中少量的HCl气体</a:t>
            </a:r>
          </a:p>
        </p:txBody>
      </p:sp>
      <p:sp>
        <p:nvSpPr>
          <p:cNvPr id="21" name="文字_单选题  ·  08-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08-070</a:t>
            </a:r>
          </a:p>
        </p:txBody>
      </p:sp>
      <p:sp>
        <p:nvSpPr>
          <p:cNvPr id="22"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检测题18</a:t>
            </a:r>
          </a:p>
        </p:txBody>
      </p:sp>
      <p:sp>
        <p:nvSpPr>
          <p:cNvPr id="5" name="文字_P17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P172</a:t>
            </a:r>
          </a:p>
        </p:txBody>
      </p:sp>
      <p:sp>
        <p:nvSpPr>
          <p:cNvPr id="6" name="文字_下列有关物质的除杂方法或所选试剂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下列有关物质的除杂方法或所选试剂不正确的是</a:t>
            </a:r>
          </a:p>
        </p:txBody>
      </p:sp>
      <p:sp>
        <p:nvSpPr>
          <p:cNvPr id="7" name="文字_A. 除去铜粉中少量铁粉：加入过量稀硫酸，然后过"/>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除去铜粉中少量铁粉：加入过量稀硫酸，然后过滤、洗涤、干燥</a:t>
            </a:r>
          </a:p>
        </p:txBody>
      </p:sp>
      <p:sp>
        <p:nvSpPr>
          <p:cNvPr id="8" name="文字_B. 除去N₂气体中有少量O₂：将气体通过灼热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除去N₂气体中有少量O₂：将气体通过灼热的铜网</a:t>
            </a:r>
          </a:p>
        </p:txBody>
      </p:sp>
      <p:sp>
        <p:nvSpPr>
          <p:cNvPr id="9" name="文字_C. 除去NaCl溶液中少量的BaCl₂：加入足"/>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除去NaCl溶液中少量的BaCl₂：加入足量的Na₂CO₃，过滤，滤液中加入稀盐</a:t>
            </a:r>
          </a:p>
          <a:p>
            <a:pPr>
              <a:lnSpc>
                <a:spcPct val="112000"/>
              </a:lnSpc>
              <a:spcBef>
                <a:spcPts val="0"/>
              </a:spcBef>
              <a:spcAft>
                <a:spcPts val="0"/>
              </a:spcAft>
              <a:defRPr sz="2400" b="0">
                <a:solidFill>
                  <a:srgbClr val="333333"/>
                </a:solidFill>
                <a:latin typeface="微软雅黑"/>
              </a:defRPr>
            </a:pPr>
            <a:r>
              <a:rPr>
                <a:ea typeface="微软雅黑"/>
              </a:rPr>
              <a:t>酸至中性</a:t>
            </a:r>
          </a:p>
        </p:txBody>
      </p:sp>
      <p:sp>
        <p:nvSpPr>
          <p:cNvPr id="10" name="文字_D. 除去FeCl₃溶液中的Fe(OH)₃胶体："/>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除去FeCl₃溶液中的Fe(OH)₃胶体：用滤纸过滤</a:t>
            </a:r>
          </a:p>
        </p:txBody>
      </p:sp>
      <p:sp>
        <p:nvSpPr>
          <p:cNvPr id="11" name="文字_单选题  ·  08-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08-071</a:t>
            </a:r>
          </a:p>
        </p:txBody>
      </p:sp>
      <p:sp>
        <p:nvSpPr>
          <p:cNvPr id="12"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1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检测题19</a:t>
            </a:r>
          </a:p>
        </p:txBody>
      </p:sp>
      <p:sp>
        <p:nvSpPr>
          <p:cNvPr id="5" name="文字_P17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P173</a:t>
            </a:r>
          </a:p>
        </p:txBody>
      </p:sp>
      <p:sp>
        <p:nvSpPr>
          <p:cNvPr id="6" name="文字_某白色粉末可能含有Ba(NO₃)₂、CaCl₂、"/>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某白色粉末可能含有Ba(NO₃)₂、CaCl₂、K₂CO₃，对其进行如下实验操作</a:t>
            </a:r>
          </a:p>
        </p:txBody>
      </p:sp>
      <p:sp>
        <p:nvSpPr>
          <p:cNvPr id="7" name="文字_(1)将部分粉末加入水中，振荡，有白色不溶物存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(1)将部分粉末加入水中，振荡，有白色不溶物存在；</a:t>
            </a:r>
          </a:p>
        </p:txBody>
      </p:sp>
      <p:sp>
        <p:nvSpPr>
          <p:cNvPr id="8" name="文字_(2)向(1)的悬浊液中加入过量稀盐酸，白色不溶"/>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(2)向(1)的悬浊液中加入过量稀盐酸，白色不溶物消失，并有气泡产生；</a:t>
            </a:r>
          </a:p>
        </p:txBody>
      </p:sp>
      <p:sp>
        <p:nvSpPr>
          <p:cNvPr id="9" name="文字_(3)取少量(2)的溶液滴入AgNO₃溶液，有白"/>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(3)取少量(2)的溶液滴入AgNO₃溶液，有白色沉淀生成。</a:t>
            </a:r>
          </a:p>
        </p:txBody>
      </p:sp>
      <p:sp>
        <p:nvSpPr>
          <p:cNvPr id="10" name="文字_下列相关判断正确的是"/>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下列相关判断正确的是</a:t>
            </a:r>
          </a:p>
        </p:txBody>
      </p:sp>
      <p:sp>
        <p:nvSpPr>
          <p:cNvPr id="11" name="文字_A. 白色粉末中肯定含有CaCl₂和K₂CO₃"/>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白色粉末中肯定含有CaCl₂和K₂CO₃</a:t>
            </a:r>
          </a:p>
        </p:txBody>
      </p:sp>
      <p:sp>
        <p:nvSpPr>
          <p:cNvPr id="12" name="文字_B. 步骤(2)中发生的离子反应一定是: BaC"/>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步骤(2)中发生的离子反应一定是: BaCO₃ + 2H+ = Ba²⁺ + H₂O + CO₂ ↑</a:t>
            </a:r>
          </a:p>
        </p:txBody>
      </p:sp>
      <p:sp>
        <p:nvSpPr>
          <p:cNvPr id="13" name="文字_C. 通过步骤(3)可以确定白色粉末中肯定含有C"/>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通过步骤(3)可以确定白色粉末中肯定含有CaCl₂</a:t>
            </a:r>
          </a:p>
        </p:txBody>
      </p:sp>
      <p:sp>
        <p:nvSpPr>
          <p:cNvPr id="14" name="文字_D. 通过现有实验无法确认白色粉末具体成分"/>
          <p:cNvSpPr txBox="1"/>
          <p:nvPr/>
        </p:nvSpPr>
        <p:spPr>
          <a:xfrm>
            <a:off x="502920" y="45902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通过现有实验无法确认白色粉末具体成分</a:t>
            </a:r>
          </a:p>
        </p:txBody>
      </p:sp>
      <p:sp>
        <p:nvSpPr>
          <p:cNvPr id="15" name="文字_单选题  ·  08-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08-072</a:t>
            </a:r>
          </a:p>
        </p:txBody>
      </p:sp>
      <p:sp>
        <p:nvSpPr>
          <p:cNvPr id="16" name="文字_8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检测题20</a:t>
            </a:r>
          </a:p>
        </p:txBody>
      </p:sp>
      <p:sp>
        <p:nvSpPr>
          <p:cNvPr id="5" name="文字_P17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P173</a:t>
            </a:r>
          </a:p>
        </p:txBody>
      </p:sp>
      <p:sp>
        <p:nvSpPr>
          <p:cNvPr id="6" name="文字_高铁酸钠(Na₂FeO₄)是一种新型绿色消毒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高铁酸钠(Na₂FeO₄)是一种新型绿色消毒剂，主要用于饮水处理。工业上制备高</a:t>
            </a:r>
          </a:p>
          <a:p>
            <a:pPr>
              <a:lnSpc>
                <a:spcPct val="112000"/>
              </a:lnSpc>
              <a:spcBef>
                <a:spcPts val="0"/>
              </a:spcBef>
              <a:spcAft>
                <a:spcPts val="0"/>
              </a:spcAft>
              <a:defRPr sz="2400" b="0">
                <a:solidFill>
                  <a:srgbClr val="333333"/>
                </a:solidFill>
                <a:latin typeface="微软雅黑"/>
              </a:defRPr>
            </a:pPr>
            <a:r>
              <a:rPr>
                <a:ea typeface="微软雅黑"/>
              </a:rPr>
              <a:t>铁酸钠有多种方法，下述流程是其中一种方法，有关描述正确的是</a:t>
            </a:r>
          </a:p>
        </p:txBody>
      </p:sp>
      <p:pic>
        <p:nvPicPr>
          <p:cNvPr id="7" name="Picture 6" descr="image.png"/>
          <p:cNvPicPr>
            <a:picLocks noChangeAspect="1"/>
          </p:cNvPicPr>
          <p:nvPr/>
        </p:nvPicPr>
        <p:blipFill>
          <a:blip r:embed="rId3"/>
          <a:stretch>
            <a:fillRect/>
          </a:stretch>
        </p:blipFill>
        <p:spPr>
          <a:xfrm>
            <a:off x="502920" y="1880616"/>
            <a:ext cx="11064240" cy="1140880"/>
          </a:xfrm>
          <a:prstGeom prst="rect">
            <a:avLst/>
          </a:prstGeom>
        </p:spPr>
      </p:pic>
      <p:sp>
        <p:nvSpPr>
          <p:cNvPr id="8" name="原题文字_173_17"/>
          <p:cNvSpPr txBox="1"/>
          <p:nvPr/>
        </p:nvSpPr>
        <p:spPr>
          <a:xfrm>
            <a:off x="656058" y="1996725"/>
            <a:ext cx="805241" cy="477791"/>
          </a:xfrm>
          <a:prstGeom prst="rect">
            <a:avLst/>
          </a:prstGeom>
          <a:noFill/>
        </p:spPr>
        <p:txBody>
          <a:bodyPr wrap="none" lIns="0" rIns="0" tIns="0" bIns="0">
            <a:spAutoFit/>
          </a:bodyPr>
          <a:lstStyle/>
          <a:p>
            <a:pPr>
              <a:lnSpc>
                <a:spcPct val="112000"/>
              </a:lnSpc>
              <a:spcBef>
                <a:spcPts val="0"/>
              </a:spcBef>
              <a:spcAft>
                <a:spcPts val="0"/>
              </a:spcAft>
              <a:defRPr sz="2103" b="0">
                <a:solidFill>
                  <a:srgbClr val="333333"/>
                </a:solidFill>
                <a:latin typeface="微软雅黑"/>
              </a:defRPr>
            </a:pPr>
            <a:r>
              <a:rPr>
                <a:ea typeface="微软雅黑"/>
              </a:rPr>
              <a:t>稀盐酸</a:t>
            </a:r>
          </a:p>
        </p:txBody>
      </p:sp>
      <p:sp>
        <p:nvSpPr>
          <p:cNvPr id="9" name="原题文字_173_18"/>
          <p:cNvSpPr txBox="1"/>
          <p:nvPr/>
        </p:nvSpPr>
        <p:spPr>
          <a:xfrm>
            <a:off x="1406435" y="1950784"/>
            <a:ext cx="36879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Fe</a:t>
            </a:r>
          </a:p>
        </p:txBody>
      </p:sp>
      <p:sp>
        <p:nvSpPr>
          <p:cNvPr id="10" name="原题文字_173_19"/>
          <p:cNvSpPr txBox="1"/>
          <p:nvPr/>
        </p:nvSpPr>
        <p:spPr>
          <a:xfrm>
            <a:off x="1888821" y="2035010"/>
            <a:ext cx="728672"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溶液A</a:t>
            </a:r>
          </a:p>
        </p:txBody>
      </p:sp>
      <p:sp>
        <p:nvSpPr>
          <p:cNvPr id="11" name="原题文字_173_20"/>
          <p:cNvSpPr txBox="1"/>
          <p:nvPr/>
        </p:nvSpPr>
        <p:spPr>
          <a:xfrm>
            <a:off x="2608571" y="1912499"/>
            <a:ext cx="629132"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氯气</a:t>
            </a:r>
          </a:p>
        </p:txBody>
      </p:sp>
      <p:sp>
        <p:nvSpPr>
          <p:cNvPr id="12" name="原题文字_173_21"/>
          <p:cNvSpPr txBox="1"/>
          <p:nvPr/>
        </p:nvSpPr>
        <p:spPr>
          <a:xfrm>
            <a:off x="3244095" y="2027353"/>
            <a:ext cx="71335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溶液B</a:t>
            </a:r>
          </a:p>
        </p:txBody>
      </p:sp>
      <p:sp>
        <p:nvSpPr>
          <p:cNvPr id="13" name="原题文字_173_22"/>
          <p:cNvSpPr txBox="1"/>
          <p:nvPr/>
        </p:nvSpPr>
        <p:spPr>
          <a:xfrm>
            <a:off x="4055727" y="2111579"/>
            <a:ext cx="1157459" cy="418067"/>
          </a:xfrm>
          <a:prstGeom prst="rect">
            <a:avLst/>
          </a:prstGeom>
          <a:noFill/>
        </p:spPr>
        <p:txBody>
          <a:bodyPr wrap="none" lIns="0" rIns="0" tIns="0" bIns="0">
            <a:spAutoFit/>
          </a:bodyPr>
          <a:lstStyle/>
          <a:p>
            <a:pPr>
              <a:lnSpc>
                <a:spcPct val="112000"/>
              </a:lnSpc>
              <a:spcBef>
                <a:spcPts val="0"/>
              </a:spcBef>
              <a:spcAft>
                <a:spcPts val="0"/>
              </a:spcAft>
              <a:defRPr sz="1840" b="0">
                <a:solidFill>
                  <a:srgbClr val="333333"/>
                </a:solidFill>
                <a:latin typeface="微软雅黑"/>
              </a:defRPr>
            </a:pPr>
            <a:r>
              <a:rPr>
                <a:ea typeface="微软雅黑"/>
              </a:rPr>
              <a:t>NaOH溶液</a:t>
            </a:r>
          </a:p>
        </p:txBody>
      </p:sp>
      <p:sp>
        <p:nvSpPr>
          <p:cNvPr id="14" name="原题文字_173_23"/>
          <p:cNvSpPr txBox="1"/>
          <p:nvPr/>
        </p:nvSpPr>
        <p:spPr>
          <a:xfrm>
            <a:off x="6812216" y="2111579"/>
            <a:ext cx="935409" cy="457883"/>
          </a:xfrm>
          <a:prstGeom prst="rect">
            <a:avLst/>
          </a:prstGeom>
          <a:noFill/>
        </p:spPr>
        <p:txBody>
          <a:bodyPr wrap="none" lIns="0" rIns="0" tIns="0" bIns="0">
            <a:spAutoFit/>
          </a:bodyPr>
          <a:lstStyle/>
          <a:p>
            <a:pPr>
              <a:lnSpc>
                <a:spcPct val="112000"/>
              </a:lnSpc>
              <a:spcBef>
                <a:spcPts val="0"/>
              </a:spcBef>
              <a:spcAft>
                <a:spcPts val="0"/>
              </a:spcAft>
              <a:defRPr sz="1571" b="0">
                <a:solidFill>
                  <a:srgbClr val="333333"/>
                </a:solidFill>
                <a:latin typeface="微软雅黑"/>
              </a:defRPr>
            </a:pPr>
            <a:r>
              <a:rPr>
                <a:ea typeface="微软雅黑"/>
              </a:rPr>
              <a:t>Na₂FeO₄</a:t>
            </a:r>
          </a:p>
        </p:txBody>
      </p:sp>
      <p:sp>
        <p:nvSpPr>
          <p:cNvPr id="15" name="原题文字_173_24"/>
          <p:cNvSpPr txBox="1"/>
          <p:nvPr/>
        </p:nvSpPr>
        <p:spPr>
          <a:xfrm>
            <a:off x="2593257" y="2417856"/>
            <a:ext cx="64444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氯气</a:t>
            </a:r>
          </a:p>
        </p:txBody>
      </p:sp>
      <p:sp>
        <p:nvSpPr>
          <p:cNvPr id="16" name="原题文字_173_25"/>
          <p:cNvSpPr txBox="1"/>
          <p:nvPr/>
        </p:nvSpPr>
        <p:spPr>
          <a:xfrm>
            <a:off x="5242549" y="2303002"/>
            <a:ext cx="743986"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溶液D</a:t>
            </a:r>
          </a:p>
        </p:txBody>
      </p:sp>
      <p:sp>
        <p:nvSpPr>
          <p:cNvPr id="17" name="原题文字_173_26"/>
          <p:cNvSpPr txBox="1"/>
          <p:nvPr/>
        </p:nvSpPr>
        <p:spPr>
          <a:xfrm>
            <a:off x="7011296" y="2371914"/>
            <a:ext cx="583191"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晶体</a:t>
            </a:r>
          </a:p>
        </p:txBody>
      </p:sp>
      <p:sp>
        <p:nvSpPr>
          <p:cNvPr id="18" name="原题文字_173_27"/>
          <p:cNvSpPr txBox="1"/>
          <p:nvPr/>
        </p:nvSpPr>
        <p:spPr>
          <a:xfrm>
            <a:off x="1513632" y="2540366"/>
            <a:ext cx="1126831" cy="388205"/>
          </a:xfrm>
          <a:prstGeom prst="rect">
            <a:avLst/>
          </a:prstGeom>
          <a:noFill/>
        </p:spPr>
        <p:txBody>
          <a:bodyPr wrap="none" lIns="0" rIns="0" tIns="0" bIns="0">
            <a:spAutoFit/>
          </a:bodyPr>
          <a:lstStyle/>
          <a:p>
            <a:pPr>
              <a:lnSpc>
                <a:spcPct val="112000"/>
              </a:lnSpc>
              <a:spcBef>
                <a:spcPts val="0"/>
              </a:spcBef>
              <a:spcAft>
                <a:spcPts val="0"/>
              </a:spcAft>
              <a:defRPr sz="1809" b="0">
                <a:solidFill>
                  <a:srgbClr val="333333"/>
                </a:solidFill>
                <a:latin typeface="微软雅黑"/>
              </a:defRPr>
            </a:pPr>
            <a:r>
              <a:rPr>
                <a:ea typeface="微软雅黑"/>
              </a:rPr>
              <a:t>NaOH溶液</a:t>
            </a:r>
          </a:p>
        </p:txBody>
      </p:sp>
      <p:sp>
        <p:nvSpPr>
          <p:cNvPr id="19" name="原题文字_173_28"/>
          <p:cNvSpPr txBox="1"/>
          <p:nvPr/>
        </p:nvSpPr>
        <p:spPr>
          <a:xfrm>
            <a:off x="3205810" y="2525052"/>
            <a:ext cx="74398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溶液C</a:t>
            </a:r>
          </a:p>
        </p:txBody>
      </p:sp>
      <p:sp>
        <p:nvSpPr>
          <p:cNvPr id="20" name="原题文字_173_29"/>
          <p:cNvSpPr txBox="1"/>
          <p:nvPr/>
        </p:nvSpPr>
        <p:spPr>
          <a:xfrm>
            <a:off x="2616228" y="2670534"/>
            <a:ext cx="575534"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常温</a:t>
            </a:r>
          </a:p>
        </p:txBody>
      </p:sp>
      <p:sp>
        <p:nvSpPr>
          <p:cNvPr id="21" name="文字_A. 高铁酸钠中铁元素的化合价为+3价"/>
          <p:cNvSpPr txBox="1"/>
          <p:nvPr/>
        </p:nvSpPr>
        <p:spPr>
          <a:xfrm>
            <a:off x="502920" y="309464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高铁酸钠中铁元素的化合价为+3价</a:t>
            </a:r>
          </a:p>
        </p:txBody>
      </p:sp>
      <p:sp>
        <p:nvSpPr>
          <p:cNvPr id="22" name="文字_B. 上述流程中涉及3个氧化还原反应"/>
          <p:cNvSpPr txBox="1"/>
          <p:nvPr/>
        </p:nvSpPr>
        <p:spPr>
          <a:xfrm>
            <a:off x="502920" y="353356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上述流程中涉及3个氧化还原反应</a:t>
            </a:r>
          </a:p>
        </p:txBody>
      </p:sp>
      <p:sp>
        <p:nvSpPr>
          <p:cNvPr id="23" name="文字_C. 制备溶液A也可以将铁粉直接与过量氯气反应得"/>
          <p:cNvSpPr txBox="1"/>
          <p:nvPr/>
        </p:nvSpPr>
        <p:spPr>
          <a:xfrm>
            <a:off x="502920" y="397247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制备溶液A也可以将铁粉直接与过量氯气反应得到的固体溶于水</a:t>
            </a:r>
          </a:p>
        </p:txBody>
      </p:sp>
      <p:sp>
        <p:nvSpPr>
          <p:cNvPr id="24" name="文字_D. 溶液B与溶液C混合发生的反应为：3ClO⁻"/>
          <p:cNvSpPr txBox="1"/>
          <p:nvPr/>
        </p:nvSpPr>
        <p:spPr>
          <a:xfrm>
            <a:off x="502920" y="441138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溶液B与溶液C混合发生的反应为：3ClO⁻ + 2Fe³⁺ + 10OH⁻ = 2FeO₂⁻ + </a:t>
            </a:r>
          </a:p>
          <a:p>
            <a:pPr>
              <a:lnSpc>
                <a:spcPct val="112000"/>
              </a:lnSpc>
              <a:spcBef>
                <a:spcPts val="0"/>
              </a:spcBef>
              <a:spcAft>
                <a:spcPts val="0"/>
              </a:spcAft>
              <a:defRPr sz="2400" b="0">
                <a:solidFill>
                  <a:srgbClr val="333333"/>
                </a:solidFill>
                <a:latin typeface="微软雅黑"/>
              </a:defRPr>
            </a:pPr>
            <a:r>
              <a:rPr>
                <a:ea typeface="微软雅黑"/>
              </a:rPr>
              <a:t>3Cl⁻ + 5H₂O</a:t>
            </a:r>
          </a:p>
        </p:txBody>
      </p:sp>
      <p:sp>
        <p:nvSpPr>
          <p:cNvPr id="25" name="文字_单选题  ·  08-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08-073</a:t>
            </a:r>
          </a:p>
        </p:txBody>
      </p:sp>
      <p:sp>
        <p:nvSpPr>
          <p:cNvPr id="26" name="文字_8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检测题21</a:t>
            </a:r>
          </a:p>
        </p:txBody>
      </p:sp>
      <p:sp>
        <p:nvSpPr>
          <p:cNvPr id="5" name="文字_P17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P173</a:t>
            </a:r>
          </a:p>
        </p:txBody>
      </p:sp>
      <p:sp>
        <p:nvSpPr>
          <p:cNvPr id="6" name="文字_一定量的金属钠与氧气反应得到过氧化钠和氧化钠的混"/>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一定量的金属钠与氧气反应得到过氧化钠和氧化钠的混合物，下列方法不能确定混</a:t>
            </a:r>
          </a:p>
          <a:p>
            <a:pPr>
              <a:lnSpc>
                <a:spcPct val="112000"/>
              </a:lnSpc>
              <a:spcBef>
                <a:spcPts val="0"/>
              </a:spcBef>
              <a:spcAft>
                <a:spcPts val="0"/>
              </a:spcAft>
              <a:defRPr sz="2400" b="0">
                <a:solidFill>
                  <a:srgbClr val="333333"/>
                </a:solidFill>
                <a:latin typeface="微软雅黑"/>
              </a:defRPr>
            </a:pPr>
            <a:r>
              <a:rPr>
                <a:ea typeface="微软雅黑"/>
              </a:rPr>
              <a:t>合物中过氧化钠质量分数的是</a:t>
            </a:r>
          </a:p>
        </p:txBody>
      </p:sp>
      <p:sp>
        <p:nvSpPr>
          <p:cNvPr id="7" name="文字_A. 取a g混合物，通入过量CO₂，充分反应后"/>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取a g混合物，通入过量CO₂，充分反应后得到b g固体</a:t>
            </a:r>
          </a:p>
        </p:txBody>
      </p:sp>
      <p:sp>
        <p:nvSpPr>
          <p:cNvPr id="8" name="文字_B. 取ag混合物，与足量稀盐酸充分反应后，加热"/>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取ag混合物，与足量稀盐酸充分反应后，加热蒸干得到bg干燥固体</a:t>
            </a:r>
          </a:p>
        </p:txBody>
      </p:sp>
      <p:sp>
        <p:nvSpPr>
          <p:cNvPr id="9" name="文字_C. 取ag混合物，加入足量水让固体溶解，得到b"/>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取ag混合物，加入足量水让固体溶解，得到bg溶液</a:t>
            </a:r>
          </a:p>
        </p:txBody>
      </p:sp>
      <p:sp>
        <p:nvSpPr>
          <p:cNvPr id="10" name="文字_D. 取ag混合物，加入足量水，收集到VL(换算"/>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取ag混合物，加入足量水，收集到VL(换算成标准状况)气体</a:t>
            </a:r>
          </a:p>
        </p:txBody>
      </p:sp>
      <p:sp>
        <p:nvSpPr>
          <p:cNvPr id="11" name="文字_单选题  ·  08-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08-074</a:t>
            </a:r>
          </a:p>
        </p:txBody>
      </p:sp>
      <p:sp>
        <p:nvSpPr>
          <p:cNvPr id="12"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检测题22</a:t>
            </a:r>
          </a:p>
        </p:txBody>
      </p:sp>
      <p:sp>
        <p:nvSpPr>
          <p:cNvPr id="5" name="文字_P17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P174</a:t>
            </a:r>
          </a:p>
        </p:txBody>
      </p:sp>
      <p:pic>
        <p:nvPicPr>
          <p:cNvPr id="6" name="Picture 5" descr="image.png"/>
          <p:cNvPicPr>
            <a:picLocks noChangeAspect="1"/>
          </p:cNvPicPr>
          <p:nvPr/>
        </p:nvPicPr>
        <p:blipFill>
          <a:blip r:embed="rId3"/>
          <a:stretch>
            <a:fillRect/>
          </a:stretch>
        </p:blipFill>
        <p:spPr>
          <a:xfrm>
            <a:off x="502920" y="1078992"/>
            <a:ext cx="9175750" cy="5041900"/>
          </a:xfrm>
          <a:prstGeom prst="rect">
            <a:avLst/>
          </a:prstGeom>
        </p:spPr>
      </p:pic>
      <p:sp>
        <p:nvSpPr>
          <p:cNvPr id="7" name="原题文字_174_3"/>
          <p:cNvSpPr txBox="1"/>
          <p:nvPr/>
        </p:nvSpPr>
        <p:spPr>
          <a:xfrm>
            <a:off x="579120" y="1085291"/>
            <a:ext cx="737006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图像能帮助我们分析理解变化过程，有助于直观的判断某些变化的量。下列图像分析正确的是</a:t>
            </a:r>
          </a:p>
        </p:txBody>
      </p:sp>
      <p:sp>
        <p:nvSpPr>
          <p:cNvPr id="8" name="原题文字_174_4"/>
          <p:cNvSpPr txBox="1"/>
          <p:nvPr/>
        </p:nvSpPr>
        <p:spPr>
          <a:xfrm>
            <a:off x="2522220" y="1466291"/>
            <a:ext cx="31521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pH</a:t>
            </a:r>
          </a:p>
        </p:txBody>
      </p:sp>
      <p:sp>
        <p:nvSpPr>
          <p:cNvPr id="9" name="原题文字_174_5"/>
          <p:cNvSpPr txBox="1"/>
          <p:nvPr/>
        </p:nvSpPr>
        <p:spPr>
          <a:xfrm>
            <a:off x="642620" y="2018741"/>
            <a:ext cx="505714" cy="189865"/>
          </a:xfrm>
          <a:prstGeom prst="rect">
            <a:avLst/>
          </a:prstGeom>
          <a:noFill/>
        </p:spPr>
        <p:txBody>
          <a:bodyPr wrap="none" lIns="0" rIns="0" tIns="0" bIns="0">
            <a:spAutoFit/>
          </a:bodyPr>
          <a:lstStyle/>
          <a:p>
            <a:pPr>
              <a:lnSpc>
                <a:spcPct val="112000"/>
              </a:lnSpc>
              <a:spcBef>
                <a:spcPts val="0"/>
              </a:spcBef>
              <a:spcAft>
                <a:spcPts val="0"/>
              </a:spcAft>
              <a:defRPr sz="799" b="0">
                <a:solidFill>
                  <a:srgbClr val="333333"/>
                </a:solidFill>
                <a:latin typeface="微软雅黑"/>
              </a:defRPr>
            </a:pPr>
            <a:r>
              <a:rPr>
                <a:ea typeface="微软雅黑"/>
              </a:rPr>
              <a:t>与电源正极</a:t>
            </a:r>
          </a:p>
        </p:txBody>
      </p:sp>
      <p:sp>
        <p:nvSpPr>
          <p:cNvPr id="10" name="原题文字_174_6"/>
          <p:cNvSpPr txBox="1"/>
          <p:nvPr/>
        </p:nvSpPr>
        <p:spPr>
          <a:xfrm>
            <a:off x="1963420" y="2031441"/>
            <a:ext cx="486664" cy="165100"/>
          </a:xfrm>
          <a:prstGeom prst="rect">
            <a:avLst/>
          </a:prstGeom>
          <a:noFill/>
        </p:spPr>
        <p:txBody>
          <a:bodyPr wrap="none" lIns="0" rIns="0" tIns="0" bIns="0">
            <a:spAutoFit/>
          </a:bodyPr>
          <a:lstStyle/>
          <a:p>
            <a:pPr>
              <a:lnSpc>
                <a:spcPct val="112000"/>
              </a:lnSpc>
              <a:spcBef>
                <a:spcPts val="0"/>
              </a:spcBef>
              <a:spcAft>
                <a:spcPts val="0"/>
              </a:spcAft>
              <a:defRPr sz="752" b="0">
                <a:solidFill>
                  <a:srgbClr val="333333"/>
                </a:solidFill>
                <a:latin typeface="微软雅黑"/>
              </a:defRPr>
            </a:pPr>
            <a:r>
              <a:rPr>
                <a:ea typeface="微软雅黑"/>
              </a:rPr>
              <a:t>与电源负极</a:t>
            </a:r>
          </a:p>
        </p:txBody>
      </p:sp>
      <p:sp>
        <p:nvSpPr>
          <p:cNvPr id="11" name="原题文字_174_7"/>
          <p:cNvSpPr txBox="1"/>
          <p:nvPr/>
        </p:nvSpPr>
        <p:spPr>
          <a:xfrm>
            <a:off x="642620" y="2120341"/>
            <a:ext cx="505714" cy="189865"/>
          </a:xfrm>
          <a:prstGeom prst="rect">
            <a:avLst/>
          </a:prstGeom>
          <a:noFill/>
        </p:spPr>
        <p:txBody>
          <a:bodyPr wrap="none" lIns="0" rIns="0" tIns="0" bIns="0">
            <a:spAutoFit/>
          </a:bodyPr>
          <a:lstStyle/>
          <a:p>
            <a:pPr>
              <a:lnSpc>
                <a:spcPct val="112000"/>
              </a:lnSpc>
              <a:spcBef>
                <a:spcPts val="0"/>
              </a:spcBef>
              <a:spcAft>
                <a:spcPts val="0"/>
              </a:spcAft>
              <a:defRPr sz="799" b="0">
                <a:solidFill>
                  <a:srgbClr val="333333"/>
                </a:solidFill>
                <a:latin typeface="微软雅黑"/>
              </a:defRPr>
            </a:pPr>
            <a:r>
              <a:rPr>
                <a:ea typeface="微软雅黑"/>
              </a:rPr>
              <a:t>相连的电极</a:t>
            </a:r>
          </a:p>
        </p:txBody>
      </p:sp>
      <p:sp>
        <p:nvSpPr>
          <p:cNvPr id="12" name="原题文字_174_8"/>
          <p:cNvSpPr txBox="1"/>
          <p:nvPr/>
        </p:nvSpPr>
        <p:spPr>
          <a:xfrm>
            <a:off x="1957070" y="2120341"/>
            <a:ext cx="499364" cy="189865"/>
          </a:xfrm>
          <a:prstGeom prst="rect">
            <a:avLst/>
          </a:prstGeom>
          <a:noFill/>
        </p:spPr>
        <p:txBody>
          <a:bodyPr wrap="none" lIns="0" rIns="0" tIns="0" bIns="0">
            <a:spAutoFit/>
          </a:bodyPr>
          <a:lstStyle/>
          <a:p>
            <a:pPr>
              <a:lnSpc>
                <a:spcPct val="112000"/>
              </a:lnSpc>
              <a:spcBef>
                <a:spcPts val="0"/>
              </a:spcBef>
              <a:spcAft>
                <a:spcPts val="0"/>
              </a:spcAft>
              <a:defRPr sz="789" b="0">
                <a:solidFill>
                  <a:srgbClr val="333333"/>
                </a:solidFill>
                <a:latin typeface="微软雅黑"/>
              </a:defRPr>
            </a:pPr>
            <a:r>
              <a:rPr>
                <a:ea typeface="微软雅黑"/>
              </a:rPr>
              <a:t>相连的电极</a:t>
            </a:r>
          </a:p>
        </p:txBody>
      </p:sp>
      <p:sp>
        <p:nvSpPr>
          <p:cNvPr id="13" name="原题文字_174_9"/>
          <p:cNvSpPr txBox="1"/>
          <p:nvPr/>
        </p:nvSpPr>
        <p:spPr>
          <a:xfrm>
            <a:off x="1499870" y="2482291"/>
            <a:ext cx="16916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Cl</a:t>
            </a:r>
          </a:p>
        </p:txBody>
      </p:sp>
      <p:sp>
        <p:nvSpPr>
          <p:cNvPr id="14" name="原题文字_174_10"/>
          <p:cNvSpPr txBox="1"/>
          <p:nvPr/>
        </p:nvSpPr>
        <p:spPr>
          <a:xfrm>
            <a:off x="2731770" y="2545791"/>
            <a:ext cx="169164" cy="189865"/>
          </a:xfrm>
          <a:prstGeom prst="rect">
            <a:avLst/>
          </a:prstGeom>
          <a:noFill/>
        </p:spPr>
        <p:txBody>
          <a:bodyPr wrap="none" lIns="0" rIns="0" tIns="0" bIns="0">
            <a:spAutoFit/>
          </a:bodyPr>
          <a:lstStyle/>
          <a:p>
            <a:pPr>
              <a:lnSpc>
                <a:spcPct val="112000"/>
              </a:lnSpc>
              <a:spcBef>
                <a:spcPts val="0"/>
              </a:spcBef>
              <a:spcAft>
                <a:spcPts val="0"/>
              </a:spcAft>
              <a:defRPr sz="920" b="0">
                <a:solidFill>
                  <a:srgbClr val="333333"/>
                </a:solidFill>
                <a:latin typeface="微软雅黑"/>
              </a:defRPr>
            </a:pPr>
            <a:r>
              <a:rPr>
                <a:ea typeface="微软雅黑"/>
              </a:rPr>
              <a:t>0</a:t>
            </a:r>
          </a:p>
        </p:txBody>
      </p:sp>
      <p:sp>
        <p:nvSpPr>
          <p:cNvPr id="15" name="原题文字_174_11"/>
          <p:cNvSpPr txBox="1"/>
          <p:nvPr/>
        </p:nvSpPr>
        <p:spPr>
          <a:xfrm>
            <a:off x="3074670" y="2533091"/>
            <a:ext cx="258064" cy="222885"/>
          </a:xfrm>
          <a:prstGeom prst="rect">
            <a:avLst/>
          </a:prstGeom>
          <a:noFill/>
        </p:spPr>
        <p:txBody>
          <a:bodyPr wrap="none" lIns="0" rIns="0" tIns="0" bIns="0">
            <a:spAutoFit/>
          </a:bodyPr>
          <a:lstStyle/>
          <a:p>
            <a:pPr>
              <a:lnSpc>
                <a:spcPct val="112000"/>
              </a:lnSpc>
              <a:spcBef>
                <a:spcPts val="0"/>
              </a:spcBef>
              <a:spcAft>
                <a:spcPts val="0"/>
              </a:spcAft>
              <a:defRPr sz="1080" b="0">
                <a:solidFill>
                  <a:srgbClr val="333333"/>
                </a:solidFill>
                <a:latin typeface="微软雅黑"/>
              </a:defRPr>
            </a:pPr>
            <a:r>
              <a:rPr>
                <a:ea typeface="微软雅黑"/>
              </a:rPr>
              <a:t>50</a:t>
            </a:r>
          </a:p>
        </p:txBody>
      </p:sp>
      <p:sp>
        <p:nvSpPr>
          <p:cNvPr id="16" name="原题文字_174_12"/>
          <p:cNvSpPr txBox="1"/>
          <p:nvPr/>
        </p:nvSpPr>
        <p:spPr>
          <a:xfrm>
            <a:off x="3430270" y="2539441"/>
            <a:ext cx="346964" cy="206375"/>
          </a:xfrm>
          <a:prstGeom prst="rect">
            <a:avLst/>
          </a:prstGeom>
          <a:noFill/>
        </p:spPr>
        <p:txBody>
          <a:bodyPr wrap="none" lIns="0" rIns="0" tIns="0" bIns="0">
            <a:spAutoFit/>
          </a:bodyPr>
          <a:lstStyle/>
          <a:p>
            <a:pPr>
              <a:lnSpc>
                <a:spcPct val="112000"/>
              </a:lnSpc>
              <a:spcBef>
                <a:spcPts val="0"/>
              </a:spcBef>
              <a:spcAft>
                <a:spcPts val="0"/>
              </a:spcAft>
              <a:defRPr sz="1000" b="0">
                <a:solidFill>
                  <a:srgbClr val="333333"/>
                </a:solidFill>
                <a:latin typeface="微软雅黑"/>
              </a:defRPr>
            </a:pPr>
            <a:r>
              <a:rPr>
                <a:ea typeface="微软雅黑"/>
              </a:rPr>
              <a:t>100</a:t>
            </a:r>
          </a:p>
        </p:txBody>
      </p:sp>
      <p:sp>
        <p:nvSpPr>
          <p:cNvPr id="17" name="原题文字_174_13"/>
          <p:cNvSpPr txBox="1"/>
          <p:nvPr/>
        </p:nvSpPr>
        <p:spPr>
          <a:xfrm>
            <a:off x="3677920" y="2526741"/>
            <a:ext cx="467614" cy="231140"/>
          </a:xfrm>
          <a:prstGeom prst="rect">
            <a:avLst/>
          </a:prstGeom>
          <a:noFill/>
        </p:spPr>
        <p:txBody>
          <a:bodyPr wrap="none" lIns="0" rIns="0" tIns="0" bIns="0">
            <a:spAutoFit/>
          </a:bodyPr>
          <a:lstStyle/>
          <a:p>
            <a:pPr>
              <a:lnSpc>
                <a:spcPct val="112000"/>
              </a:lnSpc>
              <a:spcBef>
                <a:spcPts val="0"/>
              </a:spcBef>
              <a:spcAft>
                <a:spcPts val="0"/>
              </a:spcAft>
              <a:defRPr sz="1120" b="0">
                <a:solidFill>
                  <a:srgbClr val="333333"/>
                </a:solidFill>
                <a:latin typeface="微软雅黑"/>
              </a:defRPr>
            </a:pPr>
            <a:r>
              <a:rPr>
                <a:ea typeface="微软雅黑"/>
              </a:rPr>
              <a:t>150</a:t>
            </a:r>
          </a:p>
        </p:txBody>
      </p:sp>
      <p:sp>
        <p:nvSpPr>
          <p:cNvPr id="18" name="原题文字_174_14"/>
          <p:cNvSpPr txBox="1"/>
          <p:nvPr/>
        </p:nvSpPr>
        <p:spPr>
          <a:xfrm>
            <a:off x="3646170" y="2698191"/>
            <a:ext cx="50571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时间/s</a:t>
            </a:r>
          </a:p>
        </p:txBody>
      </p:sp>
      <p:sp>
        <p:nvSpPr>
          <p:cNvPr id="19" name="原题文字_174_15"/>
          <p:cNvSpPr txBox="1"/>
          <p:nvPr/>
        </p:nvSpPr>
        <p:spPr>
          <a:xfrm>
            <a:off x="629920" y="3002991"/>
            <a:ext cx="1839214" cy="255905"/>
          </a:xfrm>
          <a:prstGeom prst="rect">
            <a:avLst/>
          </a:prstGeom>
          <a:noFill/>
        </p:spPr>
        <p:txBody>
          <a:bodyPr wrap="none" lIns="0" rIns="0" tIns="0" bIns="0">
            <a:spAutoFit/>
          </a:bodyPr>
          <a:lstStyle/>
          <a:p>
            <a:pPr>
              <a:lnSpc>
                <a:spcPct val="112000"/>
              </a:lnSpc>
              <a:spcBef>
                <a:spcPts val="0"/>
              </a:spcBef>
              <a:spcAft>
                <a:spcPts val="0"/>
              </a:spcAft>
              <a:defRPr sz="1240" b="0">
                <a:solidFill>
                  <a:srgbClr val="333333"/>
                </a:solidFill>
                <a:latin typeface="微软雅黑"/>
              </a:defRPr>
            </a:pPr>
            <a:r>
              <a:rPr>
                <a:ea typeface="微软雅黑"/>
              </a:rPr>
              <a:t>A. 熔融的NaCl能够导</a:t>
            </a:r>
          </a:p>
        </p:txBody>
      </p:sp>
      <p:sp>
        <p:nvSpPr>
          <p:cNvPr id="20" name="原题文字_174_16"/>
          <p:cNvSpPr txBox="1"/>
          <p:nvPr/>
        </p:nvSpPr>
        <p:spPr>
          <a:xfrm>
            <a:off x="2350770" y="2983941"/>
            <a:ext cx="195351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B. 新制氯水久置体系</a:t>
            </a:r>
          </a:p>
        </p:txBody>
      </p:sp>
      <p:sp>
        <p:nvSpPr>
          <p:cNvPr id="21" name="原题文字_174_17"/>
          <p:cNvSpPr txBox="1"/>
          <p:nvPr/>
        </p:nvSpPr>
        <p:spPr>
          <a:xfrm>
            <a:off x="610870" y="3282391"/>
            <a:ext cx="289814" cy="313690"/>
          </a:xfrm>
          <a:prstGeom prst="rect">
            <a:avLst/>
          </a:prstGeom>
          <a:noFill/>
        </p:spPr>
        <p:txBody>
          <a:bodyPr wrap="none" lIns="0" rIns="0" tIns="0" bIns="0">
            <a:spAutoFit/>
          </a:bodyPr>
          <a:lstStyle/>
          <a:p>
            <a:pPr>
              <a:lnSpc>
                <a:spcPct val="112000"/>
              </a:lnSpc>
              <a:spcBef>
                <a:spcPts val="0"/>
              </a:spcBef>
              <a:spcAft>
                <a:spcPts val="0"/>
              </a:spcAft>
              <a:defRPr sz="1520" b="0">
                <a:solidFill>
                  <a:srgbClr val="333333"/>
                </a:solidFill>
                <a:latin typeface="微软雅黑"/>
              </a:defRPr>
            </a:pPr>
            <a:r>
              <a:rPr>
                <a:ea typeface="微软雅黑"/>
              </a:rPr>
              <a:t>电</a:t>
            </a:r>
          </a:p>
        </p:txBody>
      </p:sp>
      <p:sp>
        <p:nvSpPr>
          <p:cNvPr id="22" name="原题文字_174_18"/>
          <p:cNvSpPr txBox="1"/>
          <p:nvPr/>
        </p:nvSpPr>
        <p:spPr>
          <a:xfrm>
            <a:off x="2509520" y="3295091"/>
            <a:ext cx="15407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中pH随时间的变化</a:t>
            </a:r>
          </a:p>
        </p:txBody>
      </p:sp>
      <p:sp>
        <p:nvSpPr>
          <p:cNvPr id="23" name="原题文字_174_19"/>
          <p:cNvSpPr txBox="1"/>
          <p:nvPr/>
        </p:nvSpPr>
        <p:spPr>
          <a:xfrm>
            <a:off x="2496820" y="3777691"/>
            <a:ext cx="245363" cy="784225"/>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导电能力</a:t>
            </a:r>
          </a:p>
        </p:txBody>
      </p:sp>
      <p:sp>
        <p:nvSpPr>
          <p:cNvPr id="24" name="原题文字_174_20"/>
          <p:cNvSpPr txBox="1"/>
          <p:nvPr/>
        </p:nvSpPr>
        <p:spPr>
          <a:xfrm>
            <a:off x="642620" y="3942791"/>
            <a:ext cx="448564" cy="165100"/>
          </a:xfrm>
          <a:prstGeom prst="rect">
            <a:avLst/>
          </a:prstGeom>
          <a:noFill/>
        </p:spPr>
        <p:txBody>
          <a:bodyPr wrap="none" lIns="0" rIns="0" tIns="0" bIns="0">
            <a:spAutoFit/>
          </a:bodyPr>
          <a:lstStyle/>
          <a:p>
            <a:pPr>
              <a:lnSpc>
                <a:spcPct val="112000"/>
              </a:lnSpc>
              <a:spcBef>
                <a:spcPts val="0"/>
              </a:spcBef>
              <a:spcAft>
                <a:spcPts val="0"/>
              </a:spcAft>
              <a:defRPr sz="692" b="0">
                <a:solidFill>
                  <a:srgbClr val="333333"/>
                </a:solidFill>
                <a:latin typeface="微软雅黑"/>
              </a:defRPr>
            </a:pPr>
            <a:r>
              <a:rPr>
                <a:ea typeface="微软雅黑"/>
              </a:rPr>
              <a:t>水合钠离子</a:t>
            </a:r>
          </a:p>
        </p:txBody>
      </p:sp>
      <p:sp>
        <p:nvSpPr>
          <p:cNvPr id="25" name="原题文字_174_21"/>
          <p:cNvSpPr txBox="1"/>
          <p:nvPr/>
        </p:nvSpPr>
        <p:spPr>
          <a:xfrm>
            <a:off x="1912620" y="3955491"/>
            <a:ext cx="448564" cy="173355"/>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水合氯离子</a:t>
            </a:r>
          </a:p>
        </p:txBody>
      </p:sp>
      <p:sp>
        <p:nvSpPr>
          <p:cNvPr id="26" name="原题文字_174_22"/>
          <p:cNvSpPr txBox="1"/>
          <p:nvPr/>
        </p:nvSpPr>
        <p:spPr>
          <a:xfrm>
            <a:off x="1906270" y="4298391"/>
            <a:ext cx="429514" cy="198120"/>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水分子</a:t>
            </a:r>
          </a:p>
        </p:txBody>
      </p:sp>
      <p:sp>
        <p:nvSpPr>
          <p:cNvPr id="27" name="原题文字_174_23"/>
          <p:cNvSpPr txBox="1"/>
          <p:nvPr/>
        </p:nvSpPr>
        <p:spPr>
          <a:xfrm>
            <a:off x="1918970" y="4438091"/>
            <a:ext cx="404114" cy="173355"/>
          </a:xfrm>
          <a:prstGeom prst="rect">
            <a:avLst/>
          </a:prstGeom>
          <a:noFill/>
        </p:spPr>
        <p:txBody>
          <a:bodyPr wrap="none" lIns="0" rIns="0" tIns="0" bIns="0">
            <a:spAutoFit/>
          </a:bodyPr>
          <a:lstStyle/>
          <a:p>
            <a:pPr>
              <a:lnSpc>
                <a:spcPct val="112000"/>
              </a:lnSpc>
              <a:spcBef>
                <a:spcPts val="0"/>
              </a:spcBef>
              <a:spcAft>
                <a:spcPts val="0"/>
              </a:spcAft>
              <a:defRPr sz="840" b="0">
                <a:solidFill>
                  <a:srgbClr val="333333"/>
                </a:solidFill>
                <a:latin typeface="微软雅黑"/>
              </a:defRPr>
            </a:pPr>
            <a:r>
              <a:rPr>
                <a:ea typeface="微软雅黑"/>
              </a:rPr>
              <a:t>钠离子</a:t>
            </a:r>
          </a:p>
        </p:txBody>
      </p:sp>
      <p:sp>
        <p:nvSpPr>
          <p:cNvPr id="28" name="原题文字_174_24"/>
          <p:cNvSpPr txBox="1"/>
          <p:nvPr/>
        </p:nvSpPr>
        <p:spPr>
          <a:xfrm>
            <a:off x="2001520" y="4558741"/>
            <a:ext cx="334264" cy="165100"/>
          </a:xfrm>
          <a:prstGeom prst="rect">
            <a:avLst/>
          </a:prstGeom>
          <a:noFill/>
        </p:spPr>
        <p:txBody>
          <a:bodyPr wrap="none" lIns="0" rIns="0" tIns="0" bIns="0">
            <a:spAutoFit/>
          </a:bodyPr>
          <a:lstStyle/>
          <a:p>
            <a:pPr>
              <a:lnSpc>
                <a:spcPct val="112000"/>
              </a:lnSpc>
              <a:spcBef>
                <a:spcPts val="0"/>
              </a:spcBef>
              <a:spcAft>
                <a:spcPts val="0"/>
              </a:spcAft>
              <a:defRPr sz="800" b="0">
                <a:solidFill>
                  <a:srgbClr val="333333"/>
                </a:solidFill>
                <a:latin typeface="微软雅黑"/>
              </a:defRPr>
            </a:pPr>
            <a:r>
              <a:rPr>
                <a:ea typeface="微软雅黑"/>
              </a:rPr>
              <a:t>氯离子</a:t>
            </a:r>
          </a:p>
        </p:txBody>
      </p:sp>
      <p:sp>
        <p:nvSpPr>
          <p:cNvPr id="29" name="原题文字_174_25"/>
          <p:cNvSpPr txBox="1"/>
          <p:nvPr/>
        </p:nvSpPr>
        <p:spPr>
          <a:xfrm>
            <a:off x="2623820" y="4704791"/>
            <a:ext cx="143764" cy="140335"/>
          </a:xfrm>
          <a:prstGeom prst="rect">
            <a:avLst/>
          </a:prstGeom>
          <a:noFill/>
        </p:spPr>
        <p:txBody>
          <a:bodyPr wrap="none" lIns="0" rIns="0" tIns="0" bIns="0">
            <a:spAutoFit/>
          </a:bodyPr>
          <a:lstStyle/>
          <a:p>
            <a:pPr>
              <a:lnSpc>
                <a:spcPct val="112000"/>
              </a:lnSpc>
              <a:spcBef>
                <a:spcPts val="0"/>
              </a:spcBef>
              <a:spcAft>
                <a:spcPts val="0"/>
              </a:spcAft>
              <a:defRPr sz="680" b="0">
                <a:solidFill>
                  <a:srgbClr val="333333"/>
                </a:solidFill>
                <a:latin typeface="微软雅黑"/>
              </a:defRPr>
            </a:pPr>
            <a:r>
              <a:rPr>
                <a:ea typeface="微软雅黑"/>
              </a:rPr>
              <a:t>0</a:t>
            </a:r>
          </a:p>
        </p:txBody>
      </p:sp>
      <p:sp>
        <p:nvSpPr>
          <p:cNvPr id="30" name="原题文字_174_26"/>
          <p:cNvSpPr txBox="1"/>
          <p:nvPr/>
        </p:nvSpPr>
        <p:spPr>
          <a:xfrm>
            <a:off x="3690620" y="4666691"/>
            <a:ext cx="518414" cy="297180"/>
          </a:xfrm>
          <a:prstGeom prst="rect">
            <a:avLst/>
          </a:prstGeom>
          <a:noFill/>
        </p:spPr>
        <p:txBody>
          <a:bodyPr wrap="none" lIns="0" rIns="0" tIns="0" bIns="0">
            <a:spAutoFit/>
          </a:bodyPr>
          <a:lstStyle/>
          <a:p>
            <a:pPr>
              <a:lnSpc>
                <a:spcPct val="112000"/>
              </a:lnSpc>
              <a:spcBef>
                <a:spcPts val="0"/>
              </a:spcBef>
              <a:spcAft>
                <a:spcPts val="0"/>
              </a:spcAft>
              <a:defRPr sz="1166" b="0">
                <a:solidFill>
                  <a:srgbClr val="333333"/>
                </a:solidFill>
                <a:latin typeface="微软雅黑"/>
              </a:defRPr>
            </a:pPr>
            <a:r>
              <a:rPr>
                <a:ea typeface="微软雅黑"/>
              </a:rPr>
              <a:t>V(CO₂)</a:t>
            </a:r>
          </a:p>
        </p:txBody>
      </p:sp>
      <p:sp>
        <p:nvSpPr>
          <p:cNvPr id="31" name="原题文字_174_27"/>
          <p:cNvSpPr txBox="1"/>
          <p:nvPr/>
        </p:nvSpPr>
        <p:spPr>
          <a:xfrm>
            <a:off x="2496820" y="4933391"/>
            <a:ext cx="1820164" cy="313690"/>
          </a:xfrm>
          <a:prstGeom prst="rect">
            <a:avLst/>
          </a:prstGeom>
          <a:noFill/>
        </p:spPr>
        <p:txBody>
          <a:bodyPr wrap="none" lIns="0" rIns="0" tIns="0" bIns="0">
            <a:spAutoFit/>
          </a:bodyPr>
          <a:lstStyle/>
          <a:p>
            <a:pPr>
              <a:lnSpc>
                <a:spcPct val="112000"/>
              </a:lnSpc>
              <a:spcBef>
                <a:spcPts val="0"/>
              </a:spcBef>
              <a:spcAft>
                <a:spcPts val="0"/>
              </a:spcAft>
              <a:defRPr sz="1520" b="0">
                <a:solidFill>
                  <a:srgbClr val="333333"/>
                </a:solidFill>
                <a:latin typeface="微软雅黑"/>
              </a:defRPr>
            </a:pPr>
            <a:r>
              <a:rPr>
                <a:ea typeface="微软雅黑"/>
              </a:rPr>
              <a:t>D. Ba(OH)₂溶液的导</a:t>
            </a:r>
          </a:p>
        </p:txBody>
      </p:sp>
      <p:sp>
        <p:nvSpPr>
          <p:cNvPr id="32" name="原题文字_174_28"/>
          <p:cNvSpPr txBox="1"/>
          <p:nvPr/>
        </p:nvSpPr>
        <p:spPr>
          <a:xfrm>
            <a:off x="604520" y="5066741"/>
            <a:ext cx="1832864" cy="313690"/>
          </a:xfrm>
          <a:prstGeom prst="rect">
            <a:avLst/>
          </a:prstGeom>
          <a:noFill/>
        </p:spPr>
        <p:txBody>
          <a:bodyPr wrap="none" lIns="0" rIns="0" tIns="0" bIns="0">
            <a:spAutoFit/>
          </a:bodyPr>
          <a:lstStyle/>
          <a:p>
            <a:pPr>
              <a:lnSpc>
                <a:spcPct val="112000"/>
              </a:lnSpc>
              <a:spcBef>
                <a:spcPts val="0"/>
              </a:spcBef>
              <a:spcAft>
                <a:spcPts val="0"/>
              </a:spcAft>
              <a:defRPr sz="1520" b="0">
                <a:solidFill>
                  <a:srgbClr val="333333"/>
                </a:solidFill>
                <a:latin typeface="微软雅黑"/>
              </a:defRPr>
            </a:pPr>
            <a:r>
              <a:rPr>
                <a:ea typeface="微软雅黑"/>
              </a:rPr>
              <a:t>C. 氯化钠固体溶于水</a:t>
            </a:r>
          </a:p>
        </p:txBody>
      </p:sp>
      <p:sp>
        <p:nvSpPr>
          <p:cNvPr id="33" name="原题文字_174_29"/>
          <p:cNvSpPr txBox="1"/>
          <p:nvPr/>
        </p:nvSpPr>
        <p:spPr>
          <a:xfrm>
            <a:off x="2515870" y="5244541"/>
            <a:ext cx="182651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电能力随通入CO₂的体</a:t>
            </a:r>
          </a:p>
        </p:txBody>
      </p:sp>
      <p:sp>
        <p:nvSpPr>
          <p:cNvPr id="34" name="原题文字_174_30"/>
          <p:cNvSpPr txBox="1"/>
          <p:nvPr/>
        </p:nvSpPr>
        <p:spPr>
          <a:xfrm>
            <a:off x="598170" y="5384241"/>
            <a:ext cx="1007364" cy="297180"/>
          </a:xfrm>
          <a:prstGeom prst="rect">
            <a:avLst/>
          </a:prstGeom>
          <a:noFill/>
        </p:spPr>
        <p:txBody>
          <a:bodyPr wrap="none" lIns="0" rIns="0" tIns="0" bIns="0">
            <a:spAutoFit/>
          </a:bodyPr>
          <a:lstStyle/>
          <a:p>
            <a:pPr>
              <a:lnSpc>
                <a:spcPct val="112000"/>
              </a:lnSpc>
              <a:spcBef>
                <a:spcPts val="0"/>
              </a:spcBef>
              <a:spcAft>
                <a:spcPts val="0"/>
              </a:spcAft>
              <a:defRPr sz="1440" b="0">
                <a:solidFill>
                  <a:srgbClr val="333333"/>
                </a:solidFill>
                <a:latin typeface="微软雅黑"/>
              </a:defRPr>
            </a:pPr>
            <a:r>
              <a:rPr>
                <a:ea typeface="微软雅黑"/>
              </a:rPr>
              <a:t>的微观过程</a:t>
            </a:r>
          </a:p>
        </p:txBody>
      </p:sp>
      <p:sp>
        <p:nvSpPr>
          <p:cNvPr id="35" name="原题文字_174_31"/>
          <p:cNvSpPr txBox="1"/>
          <p:nvPr/>
        </p:nvSpPr>
        <p:spPr>
          <a:xfrm>
            <a:off x="2477770" y="5523941"/>
            <a:ext cx="670814" cy="338455"/>
          </a:xfrm>
          <a:prstGeom prst="rect">
            <a:avLst/>
          </a:prstGeom>
          <a:noFill/>
        </p:spPr>
        <p:txBody>
          <a:bodyPr wrap="none" lIns="0" rIns="0" tIns="0" bIns="0">
            <a:spAutoFit/>
          </a:bodyPr>
          <a:lstStyle/>
          <a:p>
            <a:pPr>
              <a:lnSpc>
                <a:spcPct val="112000"/>
              </a:lnSpc>
              <a:spcBef>
                <a:spcPts val="0"/>
              </a:spcBef>
              <a:spcAft>
                <a:spcPts val="0"/>
              </a:spcAft>
              <a:defRPr sz="1640" b="0">
                <a:solidFill>
                  <a:srgbClr val="333333"/>
                </a:solidFill>
                <a:latin typeface="微软雅黑"/>
              </a:defRPr>
            </a:pPr>
            <a:r>
              <a:rPr>
                <a:ea typeface="微软雅黑"/>
              </a:rPr>
              <a:t>积变化</a:t>
            </a:r>
          </a:p>
        </p:txBody>
      </p:sp>
      <p:sp>
        <p:nvSpPr>
          <p:cNvPr id="36" name="原题文字_174_32"/>
          <p:cNvSpPr txBox="1"/>
          <p:nvPr/>
        </p:nvSpPr>
        <p:spPr>
          <a:xfrm>
            <a:off x="553720" y="5911291"/>
            <a:ext cx="52476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A. A</a:t>
            </a:r>
          </a:p>
        </p:txBody>
      </p:sp>
      <p:sp>
        <p:nvSpPr>
          <p:cNvPr id="37" name="原题文字_174_33"/>
          <p:cNvSpPr txBox="1"/>
          <p:nvPr/>
        </p:nvSpPr>
        <p:spPr>
          <a:xfrm>
            <a:off x="2776220" y="5911291"/>
            <a:ext cx="51206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B. B</a:t>
            </a:r>
          </a:p>
        </p:txBody>
      </p:sp>
      <p:sp>
        <p:nvSpPr>
          <p:cNvPr id="38" name="原题文字_174_34"/>
          <p:cNvSpPr txBox="1"/>
          <p:nvPr/>
        </p:nvSpPr>
        <p:spPr>
          <a:xfrm>
            <a:off x="5011420" y="5904941"/>
            <a:ext cx="52476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C. C</a:t>
            </a:r>
          </a:p>
        </p:txBody>
      </p:sp>
      <p:sp>
        <p:nvSpPr>
          <p:cNvPr id="39" name="原题文字_174_35"/>
          <p:cNvSpPr txBox="1"/>
          <p:nvPr/>
        </p:nvSpPr>
        <p:spPr>
          <a:xfrm>
            <a:off x="7233920" y="5904941"/>
            <a:ext cx="53111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D. D</a:t>
            </a:r>
          </a:p>
        </p:txBody>
      </p:sp>
      <p:sp>
        <p:nvSpPr>
          <p:cNvPr id="40" name="文字_单选题  ·  08-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08-075</a:t>
            </a:r>
          </a:p>
        </p:txBody>
      </p:sp>
      <p:sp>
        <p:nvSpPr>
          <p:cNvPr id="41"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检测题23</a:t>
            </a:r>
          </a:p>
        </p:txBody>
      </p:sp>
      <p:sp>
        <p:nvSpPr>
          <p:cNvPr id="5" name="文字_P17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P174</a:t>
            </a:r>
          </a:p>
        </p:txBody>
      </p:sp>
      <p:sp>
        <p:nvSpPr>
          <p:cNvPr id="6" name="文字_向含有0.02 molFeSO₄的溶液中加入50"/>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向含有0.02 molFeSO₄的溶液中加入50 mL₀.4 mol·L-1NaNO₂溶液后，恰好能</a:t>
            </a:r>
          </a:p>
          <a:p>
            <a:pPr>
              <a:lnSpc>
                <a:spcPct val="112000"/>
              </a:lnSpc>
              <a:spcBef>
                <a:spcPts val="0"/>
              </a:spcBef>
              <a:spcAft>
                <a:spcPts val="0"/>
              </a:spcAft>
              <a:defRPr sz="2400" b="0">
                <a:solidFill>
                  <a:srgbClr val="333333"/>
                </a:solidFill>
                <a:latin typeface="微软雅黑"/>
              </a:defRPr>
            </a:pPr>
            <a:r>
              <a:rPr>
                <a:ea typeface="微软雅黑"/>
              </a:rPr>
              <a:t>将溶液中的铁元素全部转化为Fe³⁺，氮元素全部转化为NxO,气体逸出，则该气体</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A. N₂O"/>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N₂O</a:t>
            </a:r>
          </a:p>
        </p:txBody>
      </p:sp>
      <p:sp>
        <p:nvSpPr>
          <p:cNvPr id="8" name="文字_B. NO"/>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NO</a:t>
            </a:r>
          </a:p>
        </p:txBody>
      </p:sp>
      <p:sp>
        <p:nvSpPr>
          <p:cNvPr id="9" name="文字_C. N₂O₃"/>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N₂O₃</a:t>
            </a:r>
          </a:p>
        </p:txBody>
      </p:sp>
      <p:sp>
        <p:nvSpPr>
          <p:cNvPr id="10" name="文字_D. NO₂"/>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NO₂</a:t>
            </a:r>
          </a:p>
        </p:txBody>
      </p:sp>
      <p:sp>
        <p:nvSpPr>
          <p:cNvPr id="11" name="文字_单选题  ·  08-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08-076</a:t>
            </a:r>
          </a:p>
        </p:txBody>
      </p:sp>
      <p:sp>
        <p:nvSpPr>
          <p:cNvPr id="12"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检测题24</a:t>
            </a:r>
          </a:p>
        </p:txBody>
      </p:sp>
      <p:sp>
        <p:nvSpPr>
          <p:cNvPr id="5" name="文字_P17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P174</a:t>
            </a:r>
          </a:p>
        </p:txBody>
      </p:sp>
      <p:sp>
        <p:nvSpPr>
          <p:cNvPr id="6" name="文字_“类比”是学习化学的一种重要方法，下列类比正确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“类比”是学习化学的一种重要方法，下列类比正确的是</a:t>
            </a:r>
          </a:p>
        </p:txBody>
      </p:sp>
      <p:sp>
        <p:nvSpPr>
          <p:cNvPr id="7" name="文字_A. HCI的水溶液导电，HCl是电解质，CO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HCI的水溶液导电，HCl是电解质，CO₂水溶液导电，则CO₂也是电解质</a:t>
            </a:r>
          </a:p>
        </p:txBody>
      </p:sp>
      <p:sp>
        <p:nvSpPr>
          <p:cNvPr id="8" name="文字_B. 非金属氧化物SO₂是酸性氧化物，则非金属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非金属氧化物SO₂是酸性氧化物，则非金属氧化物SO₃也是酸性氧化物</a:t>
            </a:r>
          </a:p>
        </p:txBody>
      </p:sp>
      <p:sp>
        <p:nvSpPr>
          <p:cNvPr id="9" name="文字_C. Na₂O与盐酸反应生成氯化钠和水，则Na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Na₂O与盐酸反应生成氯化钠和水，则Na₂O₂与盐酸反应也只生成氯化钠和水</a:t>
            </a:r>
          </a:p>
        </p:txBody>
      </p:sp>
      <p:sp>
        <p:nvSpPr>
          <p:cNvPr id="10" name="文字_D. 同温同压下氧气和氮气的密度比等于其摩尔质量"/>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同温同压下氧气和氮气的密度比等于其摩尔质量之比，则同温同压下金属钠与</a:t>
            </a:r>
          </a:p>
          <a:p>
            <a:pPr>
              <a:lnSpc>
                <a:spcPct val="112000"/>
              </a:lnSpc>
              <a:spcBef>
                <a:spcPts val="0"/>
              </a:spcBef>
              <a:spcAft>
                <a:spcPts val="0"/>
              </a:spcAft>
              <a:defRPr sz="2400" b="0">
                <a:solidFill>
                  <a:srgbClr val="333333"/>
                </a:solidFill>
                <a:latin typeface="微软雅黑"/>
              </a:defRPr>
            </a:pPr>
            <a:r>
              <a:rPr>
                <a:ea typeface="微软雅黑"/>
              </a:rPr>
              <a:t>钾的密度比也等于其摩尔质量之比</a:t>
            </a:r>
          </a:p>
        </p:txBody>
      </p:sp>
      <p:sp>
        <p:nvSpPr>
          <p:cNvPr id="11" name="文字_单选题  ·  08-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08-077</a:t>
            </a:r>
          </a:p>
        </p:txBody>
      </p:sp>
      <p:sp>
        <p:nvSpPr>
          <p:cNvPr id="12" name="文字_9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检测题25</a:t>
            </a:r>
          </a:p>
        </p:txBody>
      </p:sp>
      <p:sp>
        <p:nvSpPr>
          <p:cNvPr id="5" name="文字_P17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P175</a:t>
            </a:r>
          </a:p>
        </p:txBody>
      </p:sp>
      <p:pic>
        <p:nvPicPr>
          <p:cNvPr id="6" name="Picture 5" descr="image.png"/>
          <p:cNvPicPr>
            <a:picLocks noChangeAspect="1"/>
          </p:cNvPicPr>
          <p:nvPr/>
        </p:nvPicPr>
        <p:blipFill>
          <a:blip r:embed="rId3"/>
          <a:stretch>
            <a:fillRect/>
          </a:stretch>
        </p:blipFill>
        <p:spPr>
          <a:xfrm>
            <a:off x="502920" y="1078992"/>
            <a:ext cx="11064240" cy="4226616"/>
          </a:xfrm>
          <a:prstGeom prst="rect">
            <a:avLst/>
          </a:prstGeom>
        </p:spPr>
      </p:pic>
      <p:sp>
        <p:nvSpPr>
          <p:cNvPr id="7" name="原题文字_175_3"/>
          <p:cNvSpPr txBox="1"/>
          <p:nvPr/>
        </p:nvSpPr>
        <p:spPr>
          <a:xfrm>
            <a:off x="594802" y="1087905"/>
            <a:ext cx="521562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根据实验目的，下列实验操作、现象及结论都正确的是</a:t>
            </a:r>
          </a:p>
        </p:txBody>
      </p:sp>
      <p:sp>
        <p:nvSpPr>
          <p:cNvPr id="8" name="原题文字_175_4"/>
          <p:cNvSpPr txBox="1"/>
          <p:nvPr/>
        </p:nvSpPr>
        <p:spPr>
          <a:xfrm>
            <a:off x="594802" y="1486064"/>
            <a:ext cx="613818"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选项</a:t>
            </a:r>
          </a:p>
        </p:txBody>
      </p:sp>
      <p:sp>
        <p:nvSpPr>
          <p:cNvPr id="9" name="原题文字_175_5"/>
          <p:cNvSpPr txBox="1"/>
          <p:nvPr/>
        </p:nvSpPr>
        <p:spPr>
          <a:xfrm>
            <a:off x="1383465" y="1493721"/>
            <a:ext cx="99666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实验目的</a:t>
            </a:r>
          </a:p>
        </p:txBody>
      </p:sp>
      <p:sp>
        <p:nvSpPr>
          <p:cNvPr id="10" name="原题文字_175_6"/>
          <p:cNvSpPr txBox="1"/>
          <p:nvPr/>
        </p:nvSpPr>
        <p:spPr>
          <a:xfrm>
            <a:off x="3045015" y="1532006"/>
            <a:ext cx="158624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实验操作或现象</a:t>
            </a:r>
          </a:p>
        </p:txBody>
      </p:sp>
      <p:sp>
        <p:nvSpPr>
          <p:cNvPr id="11" name="原题文字_175_7"/>
          <p:cNvSpPr txBox="1"/>
          <p:nvPr/>
        </p:nvSpPr>
        <p:spPr>
          <a:xfrm>
            <a:off x="6689706" y="1486064"/>
            <a:ext cx="613818"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结论</a:t>
            </a:r>
          </a:p>
        </p:txBody>
      </p:sp>
      <p:sp>
        <p:nvSpPr>
          <p:cNvPr id="12" name="原题文字_175_8"/>
          <p:cNvSpPr txBox="1"/>
          <p:nvPr/>
        </p:nvSpPr>
        <p:spPr>
          <a:xfrm>
            <a:off x="3052672" y="1937822"/>
            <a:ext cx="356173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用干燥洁净的玻璃棒蘸取氯水滴在pH</a:t>
            </a:r>
          </a:p>
        </p:txBody>
      </p:sp>
      <p:sp>
        <p:nvSpPr>
          <p:cNvPr id="13" name="原题文字_175_9"/>
          <p:cNvSpPr txBox="1"/>
          <p:nvPr/>
        </p:nvSpPr>
        <p:spPr>
          <a:xfrm>
            <a:off x="625430" y="2144559"/>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a:t>
            </a:r>
          </a:p>
        </p:txBody>
      </p:sp>
      <p:sp>
        <p:nvSpPr>
          <p:cNvPr id="14" name="原题文字_175_10"/>
          <p:cNvSpPr txBox="1"/>
          <p:nvPr/>
        </p:nvSpPr>
        <p:spPr>
          <a:xfrm>
            <a:off x="1375808" y="2075646"/>
            <a:ext cx="1264656" cy="428021"/>
          </a:xfrm>
          <a:prstGeom prst="rect">
            <a:avLst/>
          </a:prstGeom>
          <a:noFill/>
        </p:spPr>
        <p:txBody>
          <a:bodyPr wrap="none" lIns="0" rIns="0" tIns="0" bIns="0">
            <a:spAutoFit/>
          </a:bodyPr>
          <a:lstStyle/>
          <a:p>
            <a:pPr>
              <a:lnSpc>
                <a:spcPct val="112000"/>
              </a:lnSpc>
              <a:spcBef>
                <a:spcPts val="0"/>
              </a:spcBef>
              <a:spcAft>
                <a:spcPts val="0"/>
              </a:spcAft>
              <a:defRPr sz="1847" b="0">
                <a:solidFill>
                  <a:srgbClr val="333333"/>
                </a:solidFill>
                <a:latin typeface="微软雅黑"/>
              </a:defRPr>
            </a:pPr>
            <a:r>
              <a:rPr>
                <a:ea typeface="微软雅黑"/>
              </a:rPr>
              <a:t>测氯水的pH</a:t>
            </a:r>
          </a:p>
        </p:txBody>
      </p:sp>
      <p:sp>
        <p:nvSpPr>
          <p:cNvPr id="15" name="原题文字_175_11"/>
          <p:cNvSpPr txBox="1"/>
          <p:nvPr/>
        </p:nvSpPr>
        <p:spPr>
          <a:xfrm>
            <a:off x="6750961" y="2106274"/>
            <a:ext cx="116511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氯水显酸性</a:t>
            </a:r>
          </a:p>
        </p:txBody>
      </p:sp>
      <p:sp>
        <p:nvSpPr>
          <p:cNvPr id="16" name="原题文字_175_12"/>
          <p:cNvSpPr txBox="1"/>
          <p:nvPr/>
        </p:nvSpPr>
        <p:spPr>
          <a:xfrm>
            <a:off x="3045015" y="2297697"/>
            <a:ext cx="352344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试纸，变色稳定后与标准比色卡对比</a:t>
            </a:r>
          </a:p>
        </p:txBody>
      </p:sp>
      <p:sp>
        <p:nvSpPr>
          <p:cNvPr id="17" name="原题文字_175_13"/>
          <p:cNvSpPr txBox="1"/>
          <p:nvPr/>
        </p:nvSpPr>
        <p:spPr>
          <a:xfrm>
            <a:off x="1391121" y="2703513"/>
            <a:ext cx="1593903" cy="398159"/>
          </a:xfrm>
          <a:prstGeom prst="rect">
            <a:avLst/>
          </a:prstGeom>
          <a:noFill/>
        </p:spPr>
        <p:txBody>
          <a:bodyPr wrap="none" lIns="0" rIns="0" tIns="0" bIns="0">
            <a:spAutoFit/>
          </a:bodyPr>
          <a:lstStyle/>
          <a:p>
            <a:pPr>
              <a:lnSpc>
                <a:spcPct val="112000"/>
              </a:lnSpc>
              <a:spcBef>
                <a:spcPts val="0"/>
              </a:spcBef>
              <a:spcAft>
                <a:spcPts val="0"/>
              </a:spcAft>
              <a:defRPr sz="1789" b="0">
                <a:solidFill>
                  <a:srgbClr val="333333"/>
                </a:solidFill>
                <a:latin typeface="微软雅黑"/>
              </a:defRPr>
            </a:pPr>
            <a:r>
              <a:rPr>
                <a:ea typeface="微软雅黑"/>
              </a:rPr>
              <a:t>制备Fe(OH)₃胶</a:t>
            </a:r>
          </a:p>
        </p:txBody>
      </p:sp>
      <p:sp>
        <p:nvSpPr>
          <p:cNvPr id="18" name="原题文字_175_14"/>
          <p:cNvSpPr txBox="1"/>
          <p:nvPr/>
        </p:nvSpPr>
        <p:spPr>
          <a:xfrm>
            <a:off x="3029701" y="2718827"/>
            <a:ext cx="366127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将饱和FeCl₃溶液逐滴加到沸水中，继</a:t>
            </a:r>
          </a:p>
        </p:txBody>
      </p:sp>
      <p:sp>
        <p:nvSpPr>
          <p:cNvPr id="19" name="原题文字_175_15"/>
          <p:cNvSpPr txBox="1"/>
          <p:nvPr/>
        </p:nvSpPr>
        <p:spPr>
          <a:xfrm>
            <a:off x="6712676" y="2726484"/>
            <a:ext cx="212223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FeCl₃与水反应生成了</a:t>
            </a:r>
          </a:p>
        </p:txBody>
      </p:sp>
      <p:sp>
        <p:nvSpPr>
          <p:cNvPr id="20" name="原题文字_175_16"/>
          <p:cNvSpPr txBox="1"/>
          <p:nvPr/>
        </p:nvSpPr>
        <p:spPr>
          <a:xfrm>
            <a:off x="625430" y="2917907"/>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B</a:t>
            </a:r>
          </a:p>
        </p:txBody>
      </p:sp>
      <p:sp>
        <p:nvSpPr>
          <p:cNvPr id="21" name="原题文字_175_17"/>
          <p:cNvSpPr txBox="1"/>
          <p:nvPr/>
        </p:nvSpPr>
        <p:spPr>
          <a:xfrm>
            <a:off x="1368151" y="3040417"/>
            <a:ext cx="37645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体</a:t>
            </a:r>
          </a:p>
        </p:txBody>
      </p:sp>
      <p:sp>
        <p:nvSpPr>
          <p:cNvPr id="22" name="原题文字_175_18"/>
          <p:cNvSpPr txBox="1"/>
          <p:nvPr/>
        </p:nvSpPr>
        <p:spPr>
          <a:xfrm>
            <a:off x="3037358" y="3071045"/>
            <a:ext cx="354641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续煮沸至液体变成红褐色，停止加热</a:t>
            </a:r>
          </a:p>
        </p:txBody>
      </p:sp>
      <p:sp>
        <p:nvSpPr>
          <p:cNvPr id="23" name="原题文字_175_19"/>
          <p:cNvSpPr txBox="1"/>
          <p:nvPr/>
        </p:nvSpPr>
        <p:spPr>
          <a:xfrm>
            <a:off x="6697363" y="3055731"/>
            <a:ext cx="1410137" cy="418067"/>
          </a:xfrm>
          <a:prstGeom prst="rect">
            <a:avLst/>
          </a:prstGeom>
          <a:noFill/>
        </p:spPr>
        <p:txBody>
          <a:bodyPr wrap="none" lIns="0" rIns="0" tIns="0" bIns="0">
            <a:spAutoFit/>
          </a:bodyPr>
          <a:lstStyle/>
          <a:p>
            <a:pPr>
              <a:lnSpc>
                <a:spcPct val="112000"/>
              </a:lnSpc>
              <a:spcBef>
                <a:spcPts val="0"/>
              </a:spcBef>
              <a:spcAft>
                <a:spcPts val="0"/>
              </a:spcAft>
              <a:defRPr sz="1846" b="0">
                <a:solidFill>
                  <a:srgbClr val="333333"/>
                </a:solidFill>
                <a:latin typeface="微软雅黑"/>
              </a:defRPr>
            </a:pPr>
            <a:r>
              <a:rPr>
                <a:ea typeface="微软雅黑"/>
              </a:rPr>
              <a:t>Fe(OH)₃胶体</a:t>
            </a:r>
          </a:p>
        </p:txBody>
      </p:sp>
      <p:sp>
        <p:nvSpPr>
          <p:cNvPr id="24" name="原题文字_175_20"/>
          <p:cNvSpPr txBox="1"/>
          <p:nvPr/>
        </p:nvSpPr>
        <p:spPr>
          <a:xfrm>
            <a:off x="1398778" y="3476862"/>
            <a:ext cx="139482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检验溶液中的</a:t>
            </a:r>
          </a:p>
        </p:txBody>
      </p:sp>
      <p:sp>
        <p:nvSpPr>
          <p:cNvPr id="25" name="原题文字_175_21"/>
          <p:cNvSpPr txBox="1"/>
          <p:nvPr/>
        </p:nvSpPr>
        <p:spPr>
          <a:xfrm>
            <a:off x="3029701" y="3461548"/>
            <a:ext cx="3569387" cy="388205"/>
          </a:xfrm>
          <a:prstGeom prst="rect">
            <a:avLst/>
          </a:prstGeom>
          <a:noFill/>
        </p:spPr>
        <p:txBody>
          <a:bodyPr wrap="none" lIns="0" rIns="0" tIns="0" bIns="0">
            <a:spAutoFit/>
          </a:bodyPr>
          <a:lstStyle/>
          <a:p>
            <a:pPr>
              <a:lnSpc>
                <a:spcPct val="112000"/>
              </a:lnSpc>
              <a:spcBef>
                <a:spcPts val="0"/>
              </a:spcBef>
              <a:spcAft>
                <a:spcPts val="0"/>
              </a:spcAft>
              <a:defRPr sz="1709" b="0">
                <a:solidFill>
                  <a:srgbClr val="333333"/>
                </a:solidFill>
                <a:latin typeface="微软雅黑"/>
              </a:defRPr>
            </a:pPr>
            <a:r>
              <a:rPr>
                <a:ea typeface="微软雅黑"/>
              </a:rPr>
              <a:t>取少量待测液，加入AgNO₃溶液，出</a:t>
            </a:r>
          </a:p>
        </p:txBody>
      </p:sp>
      <p:sp>
        <p:nvSpPr>
          <p:cNvPr id="26" name="原题文字_175_22"/>
          <p:cNvSpPr txBox="1"/>
          <p:nvPr/>
        </p:nvSpPr>
        <p:spPr>
          <a:xfrm>
            <a:off x="633087" y="3691255"/>
            <a:ext cx="23862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C</a:t>
            </a:r>
          </a:p>
        </p:txBody>
      </p:sp>
      <p:sp>
        <p:nvSpPr>
          <p:cNvPr id="27" name="原题文字_175_23"/>
          <p:cNvSpPr txBox="1"/>
          <p:nvPr/>
        </p:nvSpPr>
        <p:spPr>
          <a:xfrm>
            <a:off x="6720333" y="3645314"/>
            <a:ext cx="1731728" cy="378251"/>
          </a:xfrm>
          <a:prstGeom prst="rect">
            <a:avLst/>
          </a:prstGeom>
          <a:noFill/>
        </p:spPr>
        <p:txBody>
          <a:bodyPr wrap="none" lIns="0" rIns="0" tIns="0" bIns="0">
            <a:spAutoFit/>
          </a:bodyPr>
          <a:lstStyle/>
          <a:p>
            <a:pPr>
              <a:lnSpc>
                <a:spcPct val="112000"/>
              </a:lnSpc>
              <a:spcBef>
                <a:spcPts val="0"/>
              </a:spcBef>
              <a:spcAft>
                <a:spcPts val="0"/>
              </a:spcAft>
              <a:defRPr sz="1807" b="0">
                <a:solidFill>
                  <a:srgbClr val="333333"/>
                </a:solidFill>
                <a:latin typeface="微软雅黑"/>
              </a:defRPr>
            </a:pPr>
            <a:r>
              <a:rPr>
                <a:ea typeface="微软雅黑"/>
              </a:rPr>
              <a:t>溶液中肯定有Cl⁻</a:t>
            </a:r>
          </a:p>
        </p:txBody>
      </p:sp>
      <p:sp>
        <p:nvSpPr>
          <p:cNvPr id="28" name="原题文字_175_24"/>
          <p:cNvSpPr txBox="1"/>
          <p:nvPr/>
        </p:nvSpPr>
        <p:spPr>
          <a:xfrm>
            <a:off x="1391121" y="3852050"/>
            <a:ext cx="46068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Cl⁻</a:t>
            </a:r>
          </a:p>
        </p:txBody>
      </p:sp>
      <p:sp>
        <p:nvSpPr>
          <p:cNvPr id="29" name="原题文字_175_25"/>
          <p:cNvSpPr txBox="1"/>
          <p:nvPr/>
        </p:nvSpPr>
        <p:spPr>
          <a:xfrm>
            <a:off x="3029701" y="3829080"/>
            <a:ext cx="1188087"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现白色沉淀</a:t>
            </a:r>
          </a:p>
        </p:txBody>
      </p:sp>
      <p:sp>
        <p:nvSpPr>
          <p:cNvPr id="30" name="原题文字_175_26"/>
          <p:cNvSpPr txBox="1"/>
          <p:nvPr/>
        </p:nvSpPr>
        <p:spPr>
          <a:xfrm>
            <a:off x="1421749" y="4265524"/>
            <a:ext cx="502420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比较Na与Cu的还将一小块金属Na放入CuSO₄溶液中，</a:t>
            </a:r>
          </a:p>
        </p:txBody>
      </p:sp>
      <p:sp>
        <p:nvSpPr>
          <p:cNvPr id="31" name="原题文字_175_27"/>
          <p:cNvSpPr txBox="1"/>
          <p:nvPr/>
        </p:nvSpPr>
        <p:spPr>
          <a:xfrm>
            <a:off x="656058" y="4502888"/>
            <a:ext cx="215659"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D</a:t>
            </a:r>
          </a:p>
        </p:txBody>
      </p:sp>
      <p:sp>
        <p:nvSpPr>
          <p:cNvPr id="32" name="原题文字_175_28"/>
          <p:cNvSpPr txBox="1"/>
          <p:nvPr/>
        </p:nvSpPr>
        <p:spPr>
          <a:xfrm>
            <a:off x="6727990" y="4449290"/>
            <a:ext cx="187720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Na的还原性比Cu弱</a:t>
            </a:r>
          </a:p>
        </p:txBody>
      </p:sp>
      <p:sp>
        <p:nvSpPr>
          <p:cNvPr id="33" name="原题文字_175_29"/>
          <p:cNvSpPr txBox="1"/>
          <p:nvPr/>
        </p:nvSpPr>
        <p:spPr>
          <a:xfrm>
            <a:off x="1383465" y="4602428"/>
            <a:ext cx="99666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原性强弱</a:t>
            </a:r>
          </a:p>
        </p:txBody>
      </p:sp>
      <p:sp>
        <p:nvSpPr>
          <p:cNvPr id="34" name="原题文字_175_30"/>
          <p:cNvSpPr txBox="1"/>
          <p:nvPr/>
        </p:nvSpPr>
        <p:spPr>
          <a:xfrm>
            <a:off x="3037358" y="4617742"/>
            <a:ext cx="181595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没有出现红色固体</a:t>
            </a:r>
          </a:p>
        </p:txBody>
      </p:sp>
      <p:sp>
        <p:nvSpPr>
          <p:cNvPr id="35" name="原题文字_175_31"/>
          <p:cNvSpPr txBox="1"/>
          <p:nvPr/>
        </p:nvSpPr>
        <p:spPr>
          <a:xfrm>
            <a:off x="556518" y="5046529"/>
            <a:ext cx="62913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A. A</a:t>
            </a:r>
          </a:p>
        </p:txBody>
      </p:sp>
      <p:sp>
        <p:nvSpPr>
          <p:cNvPr id="36" name="原题文字_175_32"/>
          <p:cNvSpPr txBox="1"/>
          <p:nvPr/>
        </p:nvSpPr>
        <p:spPr>
          <a:xfrm>
            <a:off x="3236438" y="5054186"/>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37" name="原题文字_175_33"/>
          <p:cNvSpPr txBox="1"/>
          <p:nvPr/>
        </p:nvSpPr>
        <p:spPr>
          <a:xfrm>
            <a:off x="5924014" y="5023558"/>
            <a:ext cx="64444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38" name="原题文字_175_34"/>
          <p:cNvSpPr txBox="1"/>
          <p:nvPr/>
        </p:nvSpPr>
        <p:spPr>
          <a:xfrm>
            <a:off x="8619248" y="5054186"/>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39" name="文字_单选题  ·  08-07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08-078</a:t>
            </a:r>
          </a:p>
        </p:txBody>
      </p:sp>
      <p:sp>
        <p:nvSpPr>
          <p:cNvPr id="40" name="文字_9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检测题26</a:t>
            </a:r>
          </a:p>
        </p:txBody>
      </p:sp>
      <p:sp>
        <p:nvSpPr>
          <p:cNvPr id="5" name="文字_P17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P175</a:t>
            </a:r>
          </a:p>
        </p:txBody>
      </p:sp>
      <p:sp>
        <p:nvSpPr>
          <p:cNvPr id="6" name="文字_填空"/>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填空</a:t>
            </a:r>
          </a:p>
        </p:txBody>
      </p:sp>
      <p:sp>
        <p:nvSpPr>
          <p:cNvPr id="7" name="文字_(1)写出小苏打的化学式 ______ O"/>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(1)写出小苏打的化学式 ______ O</a:t>
            </a:r>
          </a:p>
        </p:txBody>
      </p:sp>
      <p:sp>
        <p:nvSpPr>
          <p:cNvPr id="8" name="文字_(2)写出Ca(ClO)₂溶于水的电离方程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(2)写出Ca(ClO)₂溶于水的电离方程式</a:t>
            </a:r>
          </a:p>
        </p:txBody>
      </p:sp>
      <p:sp>
        <p:nvSpPr>
          <p:cNvPr id="9" name="文字_(3)写出新制氯水在光照下产生气泡的化学方程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(3)写出新制氯水在光照下产生气泡的化学方程式</a:t>
            </a:r>
          </a:p>
        </p:txBody>
      </p:sp>
      <p:sp>
        <p:nvSpPr>
          <p:cNvPr id="10" name="文字_(4)NaH(H为-1价)与水反应生成一种气体单"/>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(4)NaH(H为-1价)与水反应生成一种气体单质，该反应的化学方程式 ______ ，其中</a:t>
            </a:r>
          </a:p>
          <a:p>
            <a:pPr>
              <a:lnSpc>
                <a:spcPct val="112000"/>
              </a:lnSpc>
              <a:spcBef>
                <a:spcPts val="0"/>
              </a:spcBef>
              <a:spcAft>
                <a:spcPts val="0"/>
              </a:spcAft>
              <a:defRPr sz="2400" b="0">
                <a:solidFill>
                  <a:srgbClr val="333333"/>
                </a:solidFill>
                <a:latin typeface="微软雅黑"/>
              </a:defRPr>
            </a:pPr>
            <a:r>
              <a:rPr>
                <a:ea typeface="微软雅黑"/>
              </a:rPr>
              <a:t>氧化产物和还原产物的物质的</a:t>
            </a:r>
          </a:p>
        </p:txBody>
      </p:sp>
      <p:pic>
        <p:nvPicPr>
          <p:cNvPr id="11" name="Picture 10" descr="image.png"/>
          <p:cNvPicPr>
            <a:picLocks noChangeAspect="1"/>
          </p:cNvPicPr>
          <p:nvPr/>
        </p:nvPicPr>
        <p:blipFill>
          <a:blip r:embed="rId3"/>
          <a:stretch>
            <a:fillRect/>
          </a:stretch>
        </p:blipFill>
        <p:spPr>
          <a:xfrm>
            <a:off x="502920" y="3636264"/>
            <a:ext cx="11064240" cy="842260"/>
          </a:xfrm>
          <a:prstGeom prst="rect">
            <a:avLst/>
          </a:prstGeom>
        </p:spPr>
      </p:pic>
      <p:sp>
        <p:nvSpPr>
          <p:cNvPr id="12" name="原题文字_175_49"/>
          <p:cNvSpPr txBox="1"/>
          <p:nvPr/>
        </p:nvSpPr>
        <p:spPr>
          <a:xfrm>
            <a:off x="1100159" y="3668147"/>
            <a:ext cx="98900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量之比为</a:t>
            </a:r>
          </a:p>
        </p:txBody>
      </p:sp>
      <p:sp>
        <p:nvSpPr>
          <p:cNvPr id="13" name="原题文字_175_50"/>
          <p:cNvSpPr txBox="1"/>
          <p:nvPr/>
        </p:nvSpPr>
        <p:spPr>
          <a:xfrm>
            <a:off x="2646855" y="3813629"/>
            <a:ext cx="154403" cy="179171"/>
          </a:xfrm>
          <a:prstGeom prst="rect">
            <a:avLst/>
          </a:prstGeom>
          <a:noFill/>
        </p:spPr>
        <p:txBody>
          <a:bodyPr wrap="none" lIns="0" rIns="0" tIns="0" bIns="0">
            <a:spAutoFit/>
          </a:bodyPr>
          <a:lstStyle/>
          <a:p>
            <a:pPr>
              <a:lnSpc>
                <a:spcPct val="112000"/>
              </a:lnSpc>
              <a:spcBef>
                <a:spcPts val="0"/>
              </a:spcBef>
              <a:spcAft>
                <a:spcPts val="0"/>
              </a:spcAft>
              <a:defRPr sz="868" b="0">
                <a:solidFill>
                  <a:srgbClr val="333333"/>
                </a:solidFill>
                <a:latin typeface="微软雅黑"/>
              </a:defRPr>
            </a:pPr>
            <a:r>
              <a:rPr>
                <a:ea typeface="微软雅黑"/>
              </a:rPr>
              <a:t>0</a:t>
            </a:r>
          </a:p>
        </p:txBody>
      </p:sp>
      <p:sp>
        <p:nvSpPr>
          <p:cNvPr id="14" name="原题文字_175_51"/>
          <p:cNvSpPr txBox="1"/>
          <p:nvPr/>
        </p:nvSpPr>
        <p:spPr>
          <a:xfrm>
            <a:off x="564175" y="4158190"/>
            <a:ext cx="49130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(5)</a:t>
            </a:r>
          </a:p>
        </p:txBody>
      </p:sp>
      <p:sp>
        <p:nvSpPr>
          <p:cNvPr id="15" name="原题文字_175_52"/>
          <p:cNvSpPr txBox="1"/>
          <p:nvPr/>
        </p:nvSpPr>
        <p:spPr>
          <a:xfrm>
            <a:off x="1077188" y="4142876"/>
            <a:ext cx="428913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补齐所缺物质或离子并配平下列离子方程式:</a:t>
            </a:r>
          </a:p>
        </p:txBody>
      </p:sp>
      <p:sp>
        <p:nvSpPr>
          <p:cNvPr id="16" name="原题文字_175_53"/>
          <p:cNvSpPr txBox="1"/>
          <p:nvPr/>
        </p:nvSpPr>
        <p:spPr>
          <a:xfrm>
            <a:off x="6092466" y="4303671"/>
            <a:ext cx="146746"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O</a:t>
            </a:r>
          </a:p>
        </p:txBody>
      </p:sp>
      <p:sp>
        <p:nvSpPr>
          <p:cNvPr id="17" name="文字_MnO−+C₂O₂⁻+=Mn²⁺+CO₂↑+_"/>
          <p:cNvSpPr txBox="1"/>
          <p:nvPr/>
        </p:nvSpPr>
        <p:spPr>
          <a:xfrm>
            <a:off x="502920" y="45516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MnO−+C₂O₂⁻+=Mn²⁺+CO₂↑+_</a:t>
            </a:r>
          </a:p>
        </p:txBody>
      </p:sp>
      <p:sp>
        <p:nvSpPr>
          <p:cNvPr id="18" name="文字_填空题  ·  08-07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08-079</a:t>
            </a:r>
          </a:p>
        </p:txBody>
      </p:sp>
      <p:sp>
        <p:nvSpPr>
          <p:cNvPr id="19" name="文字_9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检测题27</a:t>
            </a:r>
          </a:p>
        </p:txBody>
      </p:sp>
      <p:sp>
        <p:nvSpPr>
          <p:cNvPr id="5" name="文字_P17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P175</a:t>
            </a:r>
          </a:p>
        </p:txBody>
      </p:sp>
      <p:sp>
        <p:nvSpPr>
          <p:cNvPr id="6" name="文字_氯及其化合物都是生产生活中十分常见的物质，根据所"/>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氯及其化合物都是生产生活中十分常见的物质，根据所学知识回答下列问题：</a:t>
            </a:r>
          </a:p>
        </p:txBody>
      </p:sp>
      <p:sp>
        <p:nvSpPr>
          <p:cNvPr id="7" name="文字_(1)在常温下，将氯气通入NaOH溶液中，可以得"/>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(1)在常温下，将氯气通入NaOH溶液中，可以得到一种漂白液，上述反应的离子方</a:t>
            </a:r>
          </a:p>
          <a:p>
            <a:pPr>
              <a:lnSpc>
                <a:spcPct val="112000"/>
              </a:lnSpc>
              <a:spcBef>
                <a:spcPts val="0"/>
              </a:spcBef>
              <a:spcAft>
                <a:spcPts val="0"/>
              </a:spcAft>
              <a:defRPr sz="2400" b="0">
                <a:solidFill>
                  <a:srgbClr val="333333"/>
                </a:solidFill>
                <a:latin typeface="微软雅黑"/>
              </a:defRPr>
            </a:pPr>
            <a:r>
              <a:rPr>
                <a:ea typeface="微软雅黑"/>
              </a:rPr>
              <a:t>程式为 ______ ，该漂白液的有效成分为 ______ (填名称)。</a:t>
            </a:r>
          </a:p>
        </p:txBody>
      </p:sp>
      <p:sp>
        <p:nvSpPr>
          <p:cNvPr id="8" name="文字_(2)氢气在氯气中燃烧，现象为 ______ O"/>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(2)氢气在氯气中燃烧，现象为 ______ O</a:t>
            </a:r>
          </a:p>
        </p:txBody>
      </p:sp>
      <p:sp>
        <p:nvSpPr>
          <p:cNvPr id="9" name="文字_(3) 为了增强漂白粉溶液的漂白能力，可向其中加"/>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 为了增强漂白粉溶液的漂白能力，可向其中加入下列物质中的_(填字母)</a:t>
            </a:r>
          </a:p>
        </p:txBody>
      </p:sp>
      <p:sp>
        <p:nvSpPr>
          <p:cNvPr id="10" name="文字_A. Na₂CO₃"/>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Na₂CO₃</a:t>
            </a:r>
          </a:p>
        </p:txBody>
      </p:sp>
      <p:sp>
        <p:nvSpPr>
          <p:cNvPr id="11" name="文字_B. 浓盐酸"/>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浓盐酸</a:t>
            </a:r>
          </a:p>
        </p:txBody>
      </p:sp>
      <p:sp>
        <p:nvSpPr>
          <p:cNvPr id="12" name="文字_C. CO₂"/>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CO₂</a:t>
            </a:r>
          </a:p>
        </p:txBody>
      </p:sp>
      <p:sp>
        <p:nvSpPr>
          <p:cNvPr id="13" name="文字_D. NaOH"/>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NaOH</a:t>
            </a:r>
          </a:p>
        </p:txBody>
      </p:sp>
      <p:sp>
        <p:nvSpPr>
          <p:cNvPr id="14" name="文字_(4) 因氯气消毒可能会产生对人体有害的有机氯，"/>
          <p:cNvSpPr txBox="1"/>
          <p:nvPr/>
        </p:nvSpPr>
        <p:spPr>
          <a:xfrm>
            <a:off x="502920" y="4953000"/>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 因氯气消毒可能会产生对人体有害的有机氯，现各国已开始使用新的自来水消</a:t>
            </a:r>
          </a:p>
          <a:p>
            <a:pPr>
              <a:lnSpc>
                <a:spcPct val="112000"/>
              </a:lnSpc>
              <a:spcBef>
                <a:spcPts val="0"/>
              </a:spcBef>
              <a:spcAft>
                <a:spcPts val="0"/>
              </a:spcAft>
              <a:defRPr sz="2400" b="0">
                <a:solidFill>
                  <a:srgbClr val="333333"/>
                </a:solidFill>
                <a:latin typeface="微软雅黑"/>
              </a:defRPr>
            </a:pPr>
            <a:r>
              <a:rPr>
                <a:ea typeface="微软雅黑"/>
              </a:rPr>
              <a:t>毒剂，如C₁O₂。我国使用经干燥空气稀释的氯气，通入填有固体亚氯酸钠(化学式</a:t>
            </a:r>
          </a:p>
          <a:p>
            <a:pPr>
              <a:lnSpc>
                <a:spcPct val="112000"/>
              </a:lnSpc>
              <a:spcBef>
                <a:spcPts val="0"/>
              </a:spcBef>
              <a:spcAft>
                <a:spcPts val="0"/>
              </a:spcAft>
              <a:defRPr sz="2400" b="0">
                <a:solidFill>
                  <a:srgbClr val="333333"/>
                </a:solidFill>
                <a:latin typeface="微软雅黑"/>
              </a:defRPr>
            </a:pPr>
            <a:r>
              <a:rPr>
                <a:ea typeface="微软雅黑"/>
              </a:rPr>
              <a:t>为NaClO₂)的柱内制得(空气不参与反应)，该反应的化学方程式为：</a:t>
            </a:r>
          </a:p>
        </p:txBody>
      </p:sp>
      <p:sp>
        <p:nvSpPr>
          <p:cNvPr id="15" name="文字_填空题  ·  08-08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08-080</a:t>
            </a:r>
          </a:p>
        </p:txBody>
      </p:sp>
      <p:sp>
        <p:nvSpPr>
          <p:cNvPr id="16"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检测题28</a:t>
            </a:r>
          </a:p>
        </p:txBody>
      </p:sp>
      <p:sp>
        <p:nvSpPr>
          <p:cNvPr id="5" name="文字_P17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P176</a:t>
            </a:r>
          </a:p>
        </p:txBody>
      </p:sp>
      <p:sp>
        <p:nvSpPr>
          <p:cNvPr id="6" name="文字_过氧化钠可作为呼吸面具和潜水艇中供氧剂。某研究性"/>
          <p:cNvSpPr txBox="1"/>
          <p:nvPr/>
        </p:nvSpPr>
        <p:spPr>
          <a:xfrm>
            <a:off x="502920" y="1078992"/>
            <a:ext cx="11064240" cy="450913"/>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过氧化钠可作为呼吸面具和潜水艇中供氧剂。某研究性学习小组选用适当的化学试剂和实验仪器，用下图中的实验装置进行实验，证明过氧化钠可</a:t>
            </a:r>
          </a:p>
          <a:p>
            <a:pPr>
              <a:lnSpc>
                <a:spcPct val="112000"/>
              </a:lnSpc>
              <a:spcBef>
                <a:spcPts val="0"/>
              </a:spcBef>
              <a:spcAft>
                <a:spcPts val="0"/>
              </a:spcAft>
              <a:defRPr sz="1350" b="0">
                <a:solidFill>
                  <a:srgbClr val="333333"/>
                </a:solidFill>
                <a:latin typeface="微软雅黑"/>
              </a:defRPr>
            </a:pPr>
            <a:r>
              <a:rPr>
                <a:ea typeface="微软雅黑"/>
              </a:rPr>
              <a:t>作供氧剂。</a:t>
            </a:r>
          </a:p>
        </p:txBody>
      </p:sp>
      <p:pic>
        <p:nvPicPr>
          <p:cNvPr id="7" name="Picture 6" descr="image.png"/>
          <p:cNvPicPr>
            <a:picLocks noChangeAspect="1"/>
          </p:cNvPicPr>
          <p:nvPr/>
        </p:nvPicPr>
        <p:blipFill>
          <a:blip r:embed="rId3"/>
          <a:stretch>
            <a:fillRect/>
          </a:stretch>
        </p:blipFill>
        <p:spPr>
          <a:xfrm>
            <a:off x="502920" y="1529905"/>
            <a:ext cx="8542939" cy="1809093"/>
          </a:xfrm>
          <a:prstGeom prst="rect">
            <a:avLst/>
          </a:prstGeom>
        </p:spPr>
      </p:pic>
      <p:sp>
        <p:nvSpPr>
          <p:cNvPr id="8" name="原题文字_176_5"/>
          <p:cNvSpPr txBox="1"/>
          <p:nvPr/>
        </p:nvSpPr>
        <p:spPr>
          <a:xfrm>
            <a:off x="4682752" y="1635834"/>
            <a:ext cx="184929"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F</a:t>
            </a:r>
          </a:p>
        </p:txBody>
      </p:sp>
      <p:sp>
        <p:nvSpPr>
          <p:cNvPr id="9" name="原题文字_176_6"/>
          <p:cNvSpPr txBox="1"/>
          <p:nvPr/>
        </p:nvSpPr>
        <p:spPr>
          <a:xfrm>
            <a:off x="4919235" y="1966909"/>
            <a:ext cx="338643" cy="338170"/>
          </a:xfrm>
          <a:prstGeom prst="rect">
            <a:avLst/>
          </a:prstGeom>
          <a:noFill/>
        </p:spPr>
        <p:txBody>
          <a:bodyPr wrap="none" lIns="0" rIns="0" tIns="0" bIns="0">
            <a:spAutoFit/>
          </a:bodyPr>
          <a:lstStyle/>
          <a:p>
            <a:pPr>
              <a:lnSpc>
                <a:spcPct val="112000"/>
              </a:lnSpc>
              <a:spcBef>
                <a:spcPts val="0"/>
              </a:spcBef>
              <a:spcAft>
                <a:spcPts val="0"/>
              </a:spcAft>
              <a:defRPr sz="1638" b="0">
                <a:solidFill>
                  <a:srgbClr val="333333"/>
                </a:solidFill>
                <a:latin typeface="微软雅黑"/>
              </a:defRPr>
            </a:pPr>
            <a:r>
              <a:rPr>
                <a:ea typeface="微软雅黑"/>
              </a:rPr>
              <a:t>-水</a:t>
            </a:r>
          </a:p>
        </p:txBody>
      </p:sp>
      <p:sp>
        <p:nvSpPr>
          <p:cNvPr id="10" name="原题文字_176_7"/>
          <p:cNvSpPr txBox="1"/>
          <p:nvPr/>
        </p:nvSpPr>
        <p:spPr>
          <a:xfrm>
            <a:off x="798523" y="2138359"/>
            <a:ext cx="320907" cy="292056"/>
          </a:xfrm>
          <a:prstGeom prst="rect">
            <a:avLst/>
          </a:prstGeom>
          <a:noFill/>
        </p:spPr>
        <p:txBody>
          <a:bodyPr wrap="none" lIns="0" rIns="0" tIns="0" bIns="0">
            <a:spAutoFit/>
          </a:bodyPr>
          <a:lstStyle/>
          <a:p>
            <a:pPr>
              <a:lnSpc>
                <a:spcPct val="112000"/>
              </a:lnSpc>
              <a:spcBef>
                <a:spcPts val="0"/>
              </a:spcBef>
              <a:spcAft>
                <a:spcPts val="0"/>
              </a:spcAft>
              <a:defRPr sz="1415" b="0">
                <a:solidFill>
                  <a:srgbClr val="333333"/>
                </a:solidFill>
                <a:latin typeface="微软雅黑"/>
              </a:defRPr>
            </a:pPr>
            <a:r>
              <a:rPr>
                <a:ea typeface="微软雅黑"/>
              </a:rPr>
              <a:t>1</a:t>
            </a:r>
          </a:p>
        </p:txBody>
      </p:sp>
      <p:sp>
        <p:nvSpPr>
          <p:cNvPr id="11" name="原题文字_176_8"/>
          <p:cNvSpPr txBox="1"/>
          <p:nvPr/>
        </p:nvSpPr>
        <p:spPr>
          <a:xfrm>
            <a:off x="2229244" y="2238865"/>
            <a:ext cx="232226"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司</a:t>
            </a:r>
          </a:p>
        </p:txBody>
      </p:sp>
      <p:sp>
        <p:nvSpPr>
          <p:cNvPr id="12" name="原题文字_176_9"/>
          <p:cNvSpPr txBox="1"/>
          <p:nvPr/>
        </p:nvSpPr>
        <p:spPr>
          <a:xfrm>
            <a:off x="2625352" y="2250689"/>
            <a:ext cx="214489" cy="199827"/>
          </a:xfrm>
          <a:prstGeom prst="rect">
            <a:avLst/>
          </a:prstGeom>
          <a:noFill/>
        </p:spPr>
        <p:txBody>
          <a:bodyPr wrap="none" lIns="0" rIns="0" tIns="0" bIns="0">
            <a:spAutoFit/>
          </a:bodyPr>
          <a:lstStyle/>
          <a:p>
            <a:pPr>
              <a:lnSpc>
                <a:spcPct val="112000"/>
              </a:lnSpc>
              <a:spcBef>
                <a:spcPts val="0"/>
              </a:spcBef>
              <a:spcAft>
                <a:spcPts val="0"/>
              </a:spcAft>
              <a:defRPr sz="968" b="0">
                <a:solidFill>
                  <a:srgbClr val="333333"/>
                </a:solidFill>
                <a:latin typeface="微软雅黑"/>
              </a:defRPr>
            </a:pPr>
            <a:r>
              <a:rPr>
                <a:ea typeface="微软雅黑"/>
              </a:rPr>
              <a:t>音</a:t>
            </a:r>
          </a:p>
        </p:txBody>
      </p:sp>
      <p:sp>
        <p:nvSpPr>
          <p:cNvPr id="13" name="原题文字_176_10"/>
          <p:cNvSpPr txBox="1"/>
          <p:nvPr/>
        </p:nvSpPr>
        <p:spPr>
          <a:xfrm>
            <a:off x="851732" y="3107939"/>
            <a:ext cx="238138" cy="253627"/>
          </a:xfrm>
          <a:prstGeom prst="rect">
            <a:avLst/>
          </a:prstGeom>
          <a:noFill/>
        </p:spPr>
        <p:txBody>
          <a:bodyPr wrap="none" lIns="0" rIns="0" tIns="0" bIns="0">
            <a:spAutoFit/>
          </a:bodyPr>
          <a:lstStyle/>
          <a:p>
            <a:pPr>
              <a:lnSpc>
                <a:spcPct val="112000"/>
              </a:lnSpc>
              <a:spcBef>
                <a:spcPts val="0"/>
              </a:spcBef>
              <a:spcAft>
                <a:spcPts val="0"/>
              </a:spcAft>
              <a:defRPr sz="1228" b="0">
                <a:solidFill>
                  <a:srgbClr val="333333"/>
                </a:solidFill>
                <a:latin typeface="微软雅黑"/>
              </a:defRPr>
            </a:pPr>
            <a:r>
              <a:rPr>
                <a:ea typeface="微软雅黑"/>
              </a:rPr>
              <a:t>A</a:t>
            </a:r>
          </a:p>
        </p:txBody>
      </p:sp>
      <p:sp>
        <p:nvSpPr>
          <p:cNvPr id="14" name="原题文字_176_11"/>
          <p:cNvSpPr txBox="1"/>
          <p:nvPr/>
        </p:nvSpPr>
        <p:spPr>
          <a:xfrm>
            <a:off x="1643949" y="3102027"/>
            <a:ext cx="232226"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B</a:t>
            </a:r>
          </a:p>
        </p:txBody>
      </p:sp>
      <p:sp>
        <p:nvSpPr>
          <p:cNvPr id="15" name="原题文字_176_12"/>
          <p:cNvSpPr txBox="1"/>
          <p:nvPr/>
        </p:nvSpPr>
        <p:spPr>
          <a:xfrm>
            <a:off x="2418430" y="3102027"/>
            <a:ext cx="238138"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C</a:t>
            </a:r>
          </a:p>
        </p:txBody>
      </p:sp>
      <p:sp>
        <p:nvSpPr>
          <p:cNvPr id="16" name="原题文字_176_13"/>
          <p:cNvSpPr txBox="1"/>
          <p:nvPr/>
        </p:nvSpPr>
        <p:spPr>
          <a:xfrm>
            <a:off x="3234295" y="3107939"/>
            <a:ext cx="244050" cy="238256"/>
          </a:xfrm>
          <a:prstGeom prst="rect">
            <a:avLst/>
          </a:prstGeom>
          <a:noFill/>
        </p:spPr>
        <p:txBody>
          <a:bodyPr wrap="none" lIns="0" rIns="0" tIns="0" bIns="0">
            <a:spAutoFit/>
          </a:bodyPr>
          <a:lstStyle/>
          <a:p>
            <a:pPr>
              <a:lnSpc>
                <a:spcPct val="112000"/>
              </a:lnSpc>
              <a:spcBef>
                <a:spcPts val="0"/>
              </a:spcBef>
              <a:spcAft>
                <a:spcPts val="0"/>
              </a:spcAft>
              <a:defRPr sz="1154" b="0">
                <a:solidFill>
                  <a:srgbClr val="333333"/>
                </a:solidFill>
                <a:latin typeface="微软雅黑"/>
              </a:defRPr>
            </a:pPr>
            <a:r>
              <a:rPr>
                <a:ea typeface="微软雅黑"/>
              </a:rPr>
              <a:t>D</a:t>
            </a:r>
          </a:p>
        </p:txBody>
      </p:sp>
      <p:sp>
        <p:nvSpPr>
          <p:cNvPr id="17" name="原题文字_176_14"/>
          <p:cNvSpPr txBox="1"/>
          <p:nvPr/>
        </p:nvSpPr>
        <p:spPr>
          <a:xfrm>
            <a:off x="4469918" y="3102027"/>
            <a:ext cx="226314"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E</a:t>
            </a:r>
          </a:p>
        </p:txBody>
      </p:sp>
      <p:sp>
        <p:nvSpPr>
          <p:cNvPr id="18" name="文字_(1)A是制取CO₂的装置，上方装有稀盐酸的仪器"/>
          <p:cNvSpPr txBox="1"/>
          <p:nvPr/>
        </p:nvSpPr>
        <p:spPr>
          <a:xfrm>
            <a:off x="502920" y="3412150"/>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(1)A是制取CO₂的装置，上方装有稀盐酸的仪器名称为 ______ ，锥形瓶内固体物质为CaCO₃，写出A中发生反应的离子方程式：</a:t>
            </a:r>
          </a:p>
        </p:txBody>
      </p:sp>
      <p:pic>
        <p:nvPicPr>
          <p:cNvPr id="19" name="Picture 18" descr="image.png"/>
          <p:cNvPicPr>
            <a:picLocks noChangeAspect="1"/>
          </p:cNvPicPr>
          <p:nvPr/>
        </p:nvPicPr>
        <p:blipFill>
          <a:blip r:embed="rId4"/>
          <a:stretch>
            <a:fillRect/>
          </a:stretch>
        </p:blipFill>
        <p:spPr>
          <a:xfrm>
            <a:off x="502920" y="3659038"/>
            <a:ext cx="8542939" cy="1383424"/>
          </a:xfrm>
          <a:prstGeom prst="rect">
            <a:avLst/>
          </a:prstGeom>
        </p:spPr>
      </p:pic>
      <p:sp>
        <p:nvSpPr>
          <p:cNvPr id="20" name="原题文字_176_19"/>
          <p:cNvSpPr txBox="1"/>
          <p:nvPr/>
        </p:nvSpPr>
        <p:spPr>
          <a:xfrm>
            <a:off x="556128" y="3699934"/>
            <a:ext cx="326819"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(2)</a:t>
            </a:r>
          </a:p>
        </p:txBody>
      </p:sp>
      <p:sp>
        <p:nvSpPr>
          <p:cNvPr id="21" name="原题文字_176_20"/>
          <p:cNvSpPr txBox="1"/>
          <p:nvPr/>
        </p:nvSpPr>
        <p:spPr>
          <a:xfrm>
            <a:off x="952237" y="3682198"/>
            <a:ext cx="3436567" cy="253627"/>
          </a:xfrm>
          <a:prstGeom prst="rect">
            <a:avLst/>
          </a:prstGeom>
          <a:noFill/>
        </p:spPr>
        <p:txBody>
          <a:bodyPr wrap="none" lIns="0" rIns="0" tIns="0" bIns="0">
            <a:spAutoFit/>
          </a:bodyPr>
          <a:lstStyle/>
          <a:p>
            <a:pPr>
              <a:lnSpc>
                <a:spcPct val="112000"/>
              </a:lnSpc>
              <a:spcBef>
                <a:spcPts val="0"/>
              </a:spcBef>
              <a:spcAft>
                <a:spcPts val="0"/>
              </a:spcAft>
              <a:defRPr sz="1228" b="0">
                <a:solidFill>
                  <a:srgbClr val="333333"/>
                </a:solidFill>
                <a:latin typeface="微软雅黑"/>
              </a:defRPr>
            </a:pPr>
            <a:r>
              <a:rPr>
                <a:ea typeface="微软雅黑"/>
              </a:rPr>
              <a:t>已知C中固体物质为过氧化钠，填写表中空格：</a:t>
            </a:r>
          </a:p>
        </p:txBody>
      </p:sp>
      <p:sp>
        <p:nvSpPr>
          <p:cNvPr id="22" name="原题文字_176_21"/>
          <p:cNvSpPr txBox="1"/>
          <p:nvPr/>
        </p:nvSpPr>
        <p:spPr>
          <a:xfrm>
            <a:off x="993621" y="3983713"/>
            <a:ext cx="480532" cy="322798"/>
          </a:xfrm>
          <a:prstGeom prst="rect">
            <a:avLst/>
          </a:prstGeom>
          <a:noFill/>
        </p:spPr>
        <p:txBody>
          <a:bodyPr wrap="none" lIns="0" rIns="0" tIns="0" bIns="0">
            <a:spAutoFit/>
          </a:bodyPr>
          <a:lstStyle/>
          <a:p>
            <a:pPr>
              <a:lnSpc>
                <a:spcPct val="112000"/>
              </a:lnSpc>
              <a:spcBef>
                <a:spcPts val="0"/>
              </a:spcBef>
              <a:spcAft>
                <a:spcPts val="0"/>
              </a:spcAft>
              <a:defRPr sz="1564" b="0">
                <a:solidFill>
                  <a:srgbClr val="333333"/>
                </a:solidFill>
                <a:latin typeface="微软雅黑"/>
              </a:defRPr>
            </a:pPr>
            <a:r>
              <a:rPr>
                <a:ea typeface="微软雅黑"/>
              </a:rPr>
              <a:t>仪器</a:t>
            </a:r>
          </a:p>
        </p:txBody>
      </p:sp>
      <p:sp>
        <p:nvSpPr>
          <p:cNvPr id="23" name="原题文字_176_22"/>
          <p:cNvSpPr txBox="1"/>
          <p:nvPr/>
        </p:nvSpPr>
        <p:spPr>
          <a:xfrm>
            <a:off x="2767242" y="3995537"/>
            <a:ext cx="782048" cy="299741"/>
          </a:xfrm>
          <a:prstGeom prst="rect">
            <a:avLst/>
          </a:prstGeom>
          <a:noFill/>
        </p:spPr>
        <p:txBody>
          <a:bodyPr wrap="none" lIns="0" rIns="0" tIns="0" bIns="0">
            <a:spAutoFit/>
          </a:bodyPr>
          <a:lstStyle/>
          <a:p>
            <a:pPr>
              <a:lnSpc>
                <a:spcPct val="112000"/>
              </a:lnSpc>
              <a:spcBef>
                <a:spcPts val="0"/>
              </a:spcBef>
              <a:spcAft>
                <a:spcPts val="0"/>
              </a:spcAft>
              <a:defRPr sz="1452" b="0">
                <a:solidFill>
                  <a:srgbClr val="333333"/>
                </a:solidFill>
                <a:latin typeface="微软雅黑"/>
              </a:defRPr>
            </a:pPr>
            <a:r>
              <a:rPr>
                <a:ea typeface="微软雅黑"/>
              </a:rPr>
              <a:t>加入试剂</a:t>
            </a:r>
          </a:p>
        </p:txBody>
      </p:sp>
      <p:sp>
        <p:nvSpPr>
          <p:cNvPr id="24" name="原题文字_176_23"/>
          <p:cNvSpPr txBox="1"/>
          <p:nvPr/>
        </p:nvSpPr>
        <p:spPr>
          <a:xfrm>
            <a:off x="4546775" y="4007361"/>
            <a:ext cx="1408727" cy="268999"/>
          </a:xfrm>
          <a:prstGeom prst="rect">
            <a:avLst/>
          </a:prstGeom>
          <a:noFill/>
        </p:spPr>
        <p:txBody>
          <a:bodyPr wrap="none" lIns="0" rIns="0" tIns="0" bIns="0">
            <a:spAutoFit/>
          </a:bodyPr>
          <a:lstStyle/>
          <a:p>
            <a:pPr>
              <a:lnSpc>
                <a:spcPct val="112000"/>
              </a:lnSpc>
              <a:spcBef>
                <a:spcPts val="0"/>
              </a:spcBef>
              <a:spcAft>
                <a:spcPts val="0"/>
              </a:spcAft>
              <a:defRPr sz="1303" b="0">
                <a:solidFill>
                  <a:srgbClr val="333333"/>
                </a:solidFill>
                <a:latin typeface="微软雅黑"/>
              </a:defRPr>
            </a:pPr>
            <a:r>
              <a:rPr>
                <a:ea typeface="微软雅黑"/>
              </a:rPr>
              <a:t>加入该试剂的目的</a:t>
            </a:r>
          </a:p>
        </p:txBody>
      </p:sp>
      <p:sp>
        <p:nvSpPr>
          <p:cNvPr id="25" name="原题文字_176_24"/>
          <p:cNvSpPr txBox="1"/>
          <p:nvPr/>
        </p:nvSpPr>
        <p:spPr>
          <a:xfrm>
            <a:off x="999533" y="4338437"/>
            <a:ext cx="226314"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B</a:t>
            </a:r>
          </a:p>
        </p:txBody>
      </p:sp>
      <p:sp>
        <p:nvSpPr>
          <p:cNvPr id="26" name="原题文字_176_25"/>
          <p:cNvSpPr txBox="1"/>
          <p:nvPr/>
        </p:nvSpPr>
        <p:spPr>
          <a:xfrm>
            <a:off x="2773154" y="4314789"/>
            <a:ext cx="1408727" cy="292056"/>
          </a:xfrm>
          <a:prstGeom prst="rect">
            <a:avLst/>
          </a:prstGeom>
          <a:noFill/>
        </p:spPr>
        <p:txBody>
          <a:bodyPr wrap="none" lIns="0" rIns="0" tIns="0" bIns="0">
            <a:spAutoFit/>
          </a:bodyPr>
          <a:lstStyle/>
          <a:p>
            <a:pPr>
              <a:lnSpc>
                <a:spcPct val="112000"/>
              </a:lnSpc>
              <a:spcBef>
                <a:spcPts val="0"/>
              </a:spcBef>
              <a:spcAft>
                <a:spcPts val="0"/>
              </a:spcAft>
              <a:defRPr sz="1332" b="0">
                <a:solidFill>
                  <a:srgbClr val="333333"/>
                </a:solidFill>
                <a:latin typeface="微软雅黑"/>
              </a:defRPr>
            </a:pPr>
            <a:r>
              <a:rPr>
                <a:ea typeface="微软雅黑"/>
              </a:rPr>
              <a:t>饱和NaHCO₃溶液</a:t>
            </a:r>
          </a:p>
        </p:txBody>
      </p:sp>
      <p:sp>
        <p:nvSpPr>
          <p:cNvPr id="27" name="原题文字_176_26"/>
          <p:cNvSpPr txBox="1"/>
          <p:nvPr/>
        </p:nvSpPr>
        <p:spPr>
          <a:xfrm>
            <a:off x="999533" y="4675425"/>
            <a:ext cx="238138"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D</a:t>
            </a:r>
          </a:p>
        </p:txBody>
      </p:sp>
      <p:sp>
        <p:nvSpPr>
          <p:cNvPr id="28" name="原题文字_176_27"/>
          <p:cNvSpPr txBox="1"/>
          <p:nvPr/>
        </p:nvSpPr>
        <p:spPr>
          <a:xfrm>
            <a:off x="2773154" y="4651777"/>
            <a:ext cx="1030355" cy="276684"/>
          </a:xfrm>
          <a:prstGeom prst="rect">
            <a:avLst/>
          </a:prstGeom>
          <a:noFill/>
        </p:spPr>
        <p:txBody>
          <a:bodyPr wrap="none" lIns="0" rIns="0" tIns="0" bIns="0">
            <a:spAutoFit/>
          </a:bodyPr>
          <a:lstStyle/>
          <a:p>
            <a:pPr>
              <a:lnSpc>
                <a:spcPct val="112000"/>
              </a:lnSpc>
              <a:spcBef>
                <a:spcPts val="0"/>
              </a:spcBef>
              <a:spcAft>
                <a:spcPts val="0"/>
              </a:spcAft>
              <a:defRPr sz="1340" b="0">
                <a:solidFill>
                  <a:srgbClr val="333333"/>
                </a:solidFill>
                <a:latin typeface="微软雅黑"/>
              </a:defRPr>
            </a:pPr>
            <a:r>
              <a:rPr>
                <a:ea typeface="微软雅黑"/>
              </a:rPr>
              <a:t>浓NaOH溶液</a:t>
            </a:r>
          </a:p>
        </p:txBody>
      </p:sp>
      <p:sp>
        <p:nvSpPr>
          <p:cNvPr id="29" name="文字_(3) 写出过氧化钠与二氧化碳反应的化学方程式："/>
          <p:cNvSpPr txBox="1"/>
          <p:nvPr/>
        </p:nvSpPr>
        <p:spPr>
          <a:xfrm>
            <a:off x="502920" y="5115614"/>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(3) 写出过氧化钠与二氧化碳反应的化学方程式： ______ 。若产生的氧气在标准状况下体积为4.48L，则该反应转移电子的数目为</a:t>
            </a:r>
          </a:p>
        </p:txBody>
      </p:sp>
      <p:sp>
        <p:nvSpPr>
          <p:cNvPr id="30" name="文字_(4) 该研究性学习小组的同学在Na₂O₂和H₂"/>
          <p:cNvSpPr txBox="1"/>
          <p:nvPr/>
        </p:nvSpPr>
        <p:spPr>
          <a:xfrm>
            <a:off x="502920" y="5362502"/>
            <a:ext cx="11064240" cy="450913"/>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(4) 该研究性学习小组的同学在Na₂O₂和H₂O反应后的溶液中滴加酚酞，发现溶液先变红色，后红色褪去，猜想可能生成了有漂白能力的H₂O₂，</a:t>
            </a:r>
          </a:p>
          <a:p>
            <a:pPr>
              <a:lnSpc>
                <a:spcPct val="112000"/>
              </a:lnSpc>
              <a:spcBef>
                <a:spcPts val="0"/>
              </a:spcBef>
              <a:spcAft>
                <a:spcPts val="0"/>
              </a:spcAft>
              <a:defRPr sz="1350" b="0">
                <a:solidFill>
                  <a:srgbClr val="333333"/>
                </a:solidFill>
                <a:latin typeface="微软雅黑"/>
              </a:defRPr>
            </a:pPr>
            <a:r>
              <a:rPr>
                <a:ea typeface="微软雅黑"/>
              </a:rPr>
              <a:t>现请你设计一个简单的实验证明Na₂O₂和足量的H₂O充分反应后的溶液中有H₂O₂存在。</a:t>
            </a:r>
          </a:p>
        </p:txBody>
      </p:sp>
      <p:sp>
        <p:nvSpPr>
          <p:cNvPr id="31" name="文字_所需试剂:"/>
          <p:cNvSpPr txBox="1"/>
          <p:nvPr/>
        </p:nvSpPr>
        <p:spPr>
          <a:xfrm>
            <a:off x="502920" y="5813416"/>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所需试剂:</a:t>
            </a:r>
          </a:p>
        </p:txBody>
      </p:sp>
      <p:sp>
        <p:nvSpPr>
          <p:cNvPr id="32" name="文字_操作及现象："/>
          <p:cNvSpPr txBox="1"/>
          <p:nvPr/>
        </p:nvSpPr>
        <p:spPr>
          <a:xfrm>
            <a:off x="502920" y="6060304"/>
            <a:ext cx="11064240" cy="246887"/>
          </a:xfrm>
          <a:prstGeom prst="rect">
            <a:avLst/>
          </a:prstGeom>
          <a:noFill/>
        </p:spPr>
        <p:txBody>
          <a:bodyPr wrap="squar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操作及现象：</a:t>
            </a:r>
          </a:p>
        </p:txBody>
      </p:sp>
      <p:sp>
        <p:nvSpPr>
          <p:cNvPr id="33" name="文字_解答题  ·  08-08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08-081</a:t>
            </a:r>
          </a:p>
        </p:txBody>
      </p:sp>
      <p:sp>
        <p:nvSpPr>
          <p:cNvPr id="34" name="文字_9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2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检测题29</a:t>
            </a:r>
          </a:p>
        </p:txBody>
      </p:sp>
      <p:sp>
        <p:nvSpPr>
          <p:cNvPr id="5" name="文字_P17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P177</a:t>
            </a:r>
          </a:p>
        </p:txBody>
      </p:sp>
      <p:sp>
        <p:nvSpPr>
          <p:cNvPr id="6" name="文字_某实验小组的三位同学欲在实验室分别配制浓度为0."/>
          <p:cNvSpPr txBox="1"/>
          <p:nvPr/>
        </p:nvSpPr>
        <p:spPr>
          <a:xfrm>
            <a:off x="502920" y="107899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某实验小组的三位同学欲在实验室分别配制浓度为0.250mol·L-1100 mL的CuSO₄溶液用于实验</a:t>
            </a:r>
          </a:p>
        </p:txBody>
      </p:sp>
      <p:sp>
        <p:nvSpPr>
          <p:cNvPr id="7" name="文字_(1) 他们需用电子天平称量CuSO₄·5H₂O"/>
          <p:cNvSpPr txBox="1"/>
          <p:nvPr/>
        </p:nvSpPr>
        <p:spPr>
          <a:xfrm>
            <a:off x="502920" y="135331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(1) 他们需用电子天平称量CuSO₄·5H₂O的质量为 ______ go</a:t>
            </a:r>
          </a:p>
        </p:txBody>
      </p:sp>
      <p:sp>
        <p:nvSpPr>
          <p:cNvPr id="8" name="文字_(2)实验步骤如下图，将它们按正确顺序排列(填字"/>
          <p:cNvSpPr txBox="1"/>
          <p:nvPr/>
        </p:nvSpPr>
        <p:spPr>
          <a:xfrm>
            <a:off x="502920" y="162763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(2)实验步骤如下图，将它们按正确顺序排列(填字母):</a:t>
            </a:r>
          </a:p>
        </p:txBody>
      </p:sp>
      <p:sp>
        <p:nvSpPr>
          <p:cNvPr id="9" name="文字_a→g→ ______ →b."/>
          <p:cNvSpPr txBox="1"/>
          <p:nvPr/>
        </p:nvSpPr>
        <p:spPr>
          <a:xfrm>
            <a:off x="502920" y="1901952"/>
            <a:ext cx="11064240" cy="274320"/>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a→g→ ______ →b.</a:t>
            </a:r>
          </a:p>
        </p:txBody>
      </p:sp>
      <p:pic>
        <p:nvPicPr>
          <p:cNvPr id="10" name="Picture 9" descr="image.png"/>
          <p:cNvPicPr>
            <a:picLocks noChangeAspect="1"/>
          </p:cNvPicPr>
          <p:nvPr/>
        </p:nvPicPr>
        <p:blipFill>
          <a:blip r:embed="rId3"/>
          <a:stretch>
            <a:fillRect/>
          </a:stretch>
        </p:blipFill>
        <p:spPr>
          <a:xfrm>
            <a:off x="502920" y="2176272"/>
            <a:ext cx="9492155" cy="3455275"/>
          </a:xfrm>
          <a:prstGeom prst="rect">
            <a:avLst/>
          </a:prstGeom>
        </p:spPr>
      </p:pic>
      <p:sp>
        <p:nvSpPr>
          <p:cNvPr id="11" name="原题文字_177_11"/>
          <p:cNvSpPr txBox="1"/>
          <p:nvPr/>
        </p:nvSpPr>
        <p:spPr>
          <a:xfrm>
            <a:off x="2302816" y="2609991"/>
            <a:ext cx="258501" cy="1033298"/>
          </a:xfrm>
          <a:prstGeom prst="rect">
            <a:avLst/>
          </a:prstGeom>
          <a:noFill/>
        </p:spPr>
        <p:txBody>
          <a:bodyPr wrap="none" lIns="0" rIns="0" tIns="0" bIns="0">
            <a:spAutoFit/>
          </a:bodyPr>
          <a:lstStyle/>
          <a:p>
            <a:pPr>
              <a:lnSpc>
                <a:spcPct val="112000"/>
              </a:lnSpc>
              <a:spcBef>
                <a:spcPts val="0"/>
              </a:spcBef>
              <a:spcAft>
                <a:spcPts val="0"/>
              </a:spcAft>
              <a:defRPr sz="3304" b="0">
                <a:solidFill>
                  <a:srgbClr val="333333"/>
                </a:solidFill>
                <a:latin typeface="微软雅黑"/>
              </a:defRPr>
            </a:pPr>
            <a:r>
              <a:rPr>
                <a:ea typeface="微软雅黑"/>
              </a:rPr>
              <a:t>98898888</a:t>
            </a:r>
          </a:p>
        </p:txBody>
      </p:sp>
      <p:sp>
        <p:nvSpPr>
          <p:cNvPr id="12" name="原题文字_177_12"/>
          <p:cNvSpPr txBox="1"/>
          <p:nvPr/>
        </p:nvSpPr>
        <p:spPr>
          <a:xfrm>
            <a:off x="1074420" y="2925302"/>
            <a:ext cx="271639"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a.</a:t>
            </a:r>
          </a:p>
        </p:txBody>
      </p:sp>
      <p:sp>
        <p:nvSpPr>
          <p:cNvPr id="13" name="原题文字_177_13"/>
          <p:cNvSpPr txBox="1"/>
          <p:nvPr/>
        </p:nvSpPr>
        <p:spPr>
          <a:xfrm>
            <a:off x="2020351" y="2905595"/>
            <a:ext cx="265070" cy="734410"/>
          </a:xfrm>
          <a:prstGeom prst="rect">
            <a:avLst/>
          </a:prstGeom>
          <a:noFill/>
        </p:spPr>
        <p:txBody>
          <a:bodyPr wrap="none" lIns="0" rIns="0" tIns="0" bIns="0">
            <a:spAutoFit/>
          </a:bodyPr>
          <a:lstStyle/>
          <a:p>
            <a:pPr>
              <a:lnSpc>
                <a:spcPct val="112000"/>
              </a:lnSpc>
              <a:spcBef>
                <a:spcPts val="0"/>
              </a:spcBef>
              <a:spcAft>
                <a:spcPts val="0"/>
              </a:spcAft>
              <a:defRPr sz="2348" b="0">
                <a:solidFill>
                  <a:srgbClr val="333333"/>
                </a:solidFill>
                <a:latin typeface="微软雅黑"/>
              </a:defRPr>
            </a:pPr>
            <a:r>
              <a:rPr>
                <a:ea typeface="微软雅黑"/>
              </a:rPr>
              <a:t>蒸馏水</a:t>
            </a:r>
          </a:p>
        </p:txBody>
      </p:sp>
      <p:sp>
        <p:nvSpPr>
          <p:cNvPr id="14" name="原题文字_177_14"/>
          <p:cNvSpPr txBox="1"/>
          <p:nvPr/>
        </p:nvSpPr>
        <p:spPr>
          <a:xfrm>
            <a:off x="3570626" y="2859612"/>
            <a:ext cx="284777" cy="307427"/>
          </a:xfrm>
          <a:prstGeom prst="rect">
            <a:avLst/>
          </a:prstGeom>
          <a:noFill/>
        </p:spPr>
        <p:txBody>
          <a:bodyPr wrap="none" lIns="0" rIns="0" tIns="0" bIns="0">
            <a:spAutoFit/>
          </a:bodyPr>
          <a:lstStyle/>
          <a:p>
            <a:pPr>
              <a:lnSpc>
                <a:spcPct val="112000"/>
              </a:lnSpc>
              <a:spcBef>
                <a:spcPts val="0"/>
              </a:spcBef>
              <a:spcAft>
                <a:spcPts val="0"/>
              </a:spcAft>
              <a:defRPr sz="1489" b="0">
                <a:solidFill>
                  <a:srgbClr val="333333"/>
                </a:solidFill>
                <a:latin typeface="微软雅黑"/>
              </a:defRPr>
            </a:pPr>
            <a:r>
              <a:rPr>
                <a:ea typeface="微软雅黑"/>
              </a:rPr>
              <a:t>b.</a:t>
            </a:r>
          </a:p>
        </p:txBody>
      </p:sp>
      <p:sp>
        <p:nvSpPr>
          <p:cNvPr id="15" name="原题文字_177_15"/>
          <p:cNvSpPr txBox="1"/>
          <p:nvPr/>
        </p:nvSpPr>
        <p:spPr>
          <a:xfrm>
            <a:off x="5009230" y="2925302"/>
            <a:ext cx="232226"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C.</a:t>
            </a:r>
          </a:p>
        </p:txBody>
      </p:sp>
      <p:sp>
        <p:nvSpPr>
          <p:cNvPr id="16" name="原题文字_177_16"/>
          <p:cNvSpPr txBox="1"/>
          <p:nvPr/>
        </p:nvSpPr>
        <p:spPr>
          <a:xfrm>
            <a:off x="4470575" y="3798974"/>
            <a:ext cx="166536" cy="230570"/>
          </a:xfrm>
          <a:prstGeom prst="rect">
            <a:avLst/>
          </a:prstGeom>
          <a:noFill/>
        </p:spPr>
        <p:txBody>
          <a:bodyPr wrap="none" lIns="0" rIns="0" tIns="0" bIns="0">
            <a:spAutoFit/>
          </a:bodyPr>
          <a:lstStyle/>
          <a:p>
            <a:pPr>
              <a:lnSpc>
                <a:spcPct val="112000"/>
              </a:lnSpc>
              <a:spcBef>
                <a:spcPts val="0"/>
              </a:spcBef>
              <a:spcAft>
                <a:spcPts val="0"/>
              </a:spcAft>
              <a:defRPr sz="1117" b="0">
                <a:solidFill>
                  <a:srgbClr val="333333"/>
                </a:solidFill>
                <a:latin typeface="微软雅黑"/>
              </a:defRPr>
            </a:pPr>
            <a:r>
              <a:rPr>
                <a:ea typeface="微软雅黑"/>
              </a:rPr>
              <a:t>C</a:t>
            </a:r>
          </a:p>
        </p:txBody>
      </p:sp>
      <p:sp>
        <p:nvSpPr>
          <p:cNvPr id="17" name="原题文字_177_17"/>
          <p:cNvSpPr txBox="1"/>
          <p:nvPr/>
        </p:nvSpPr>
        <p:spPr>
          <a:xfrm>
            <a:off x="1107264" y="4554405"/>
            <a:ext cx="284777" cy="307427"/>
          </a:xfrm>
          <a:prstGeom prst="rect">
            <a:avLst/>
          </a:prstGeom>
          <a:noFill/>
        </p:spPr>
        <p:txBody>
          <a:bodyPr wrap="none" lIns="0" rIns="0" tIns="0" bIns="0">
            <a:spAutoFit/>
          </a:bodyPr>
          <a:lstStyle/>
          <a:p>
            <a:pPr>
              <a:lnSpc>
                <a:spcPct val="112000"/>
              </a:lnSpc>
              <a:spcBef>
                <a:spcPts val="0"/>
              </a:spcBef>
              <a:spcAft>
                <a:spcPts val="0"/>
              </a:spcAft>
              <a:defRPr sz="1489" b="0">
                <a:solidFill>
                  <a:srgbClr val="333333"/>
                </a:solidFill>
                <a:latin typeface="微软雅黑"/>
              </a:defRPr>
            </a:pPr>
            <a:r>
              <a:rPr>
                <a:ea typeface="微软雅黑"/>
              </a:rPr>
              <a:t>d.</a:t>
            </a:r>
          </a:p>
        </p:txBody>
      </p:sp>
      <p:sp>
        <p:nvSpPr>
          <p:cNvPr id="18" name="原题文字_177_18"/>
          <p:cNvSpPr txBox="1"/>
          <p:nvPr/>
        </p:nvSpPr>
        <p:spPr>
          <a:xfrm>
            <a:off x="2926868" y="4613526"/>
            <a:ext cx="225657" cy="204951"/>
          </a:xfrm>
          <a:prstGeom prst="rect">
            <a:avLst/>
          </a:prstGeom>
          <a:noFill/>
        </p:spPr>
        <p:txBody>
          <a:bodyPr wrap="none" lIns="0" rIns="0" tIns="0" bIns="0">
            <a:spAutoFit/>
          </a:bodyPr>
          <a:lstStyle/>
          <a:p>
            <a:pPr>
              <a:lnSpc>
                <a:spcPct val="112000"/>
              </a:lnSpc>
              <a:spcBef>
                <a:spcPts val="0"/>
              </a:spcBef>
              <a:spcAft>
                <a:spcPts val="0"/>
              </a:spcAft>
              <a:defRPr sz="993" b="0">
                <a:solidFill>
                  <a:srgbClr val="333333"/>
                </a:solidFill>
                <a:latin typeface="微软雅黑"/>
              </a:defRPr>
            </a:pPr>
            <a:r>
              <a:rPr>
                <a:ea typeface="微软雅黑"/>
              </a:rPr>
              <a:t>e.</a:t>
            </a:r>
          </a:p>
        </p:txBody>
      </p:sp>
      <p:sp>
        <p:nvSpPr>
          <p:cNvPr id="19" name="原题文字_177_19"/>
          <p:cNvSpPr txBox="1"/>
          <p:nvPr/>
        </p:nvSpPr>
        <p:spPr>
          <a:xfrm>
            <a:off x="4050161" y="4567543"/>
            <a:ext cx="205950" cy="264729"/>
          </a:xfrm>
          <a:prstGeom prst="rect">
            <a:avLst/>
          </a:prstGeom>
          <a:noFill/>
        </p:spPr>
        <p:txBody>
          <a:bodyPr wrap="none" lIns="0" rIns="0" tIns="0" bIns="0">
            <a:spAutoFit/>
          </a:bodyPr>
          <a:lstStyle/>
          <a:p>
            <a:pPr>
              <a:lnSpc>
                <a:spcPct val="112000"/>
              </a:lnSpc>
              <a:spcBef>
                <a:spcPts val="0"/>
              </a:spcBef>
              <a:spcAft>
                <a:spcPts val="0"/>
              </a:spcAft>
              <a:defRPr sz="1282" b="0">
                <a:solidFill>
                  <a:srgbClr val="333333"/>
                </a:solidFill>
                <a:latin typeface="微软雅黑"/>
              </a:defRPr>
            </a:pPr>
            <a:r>
              <a:rPr>
                <a:ea typeface="微软雅黑"/>
              </a:rPr>
              <a:t>f.</a:t>
            </a:r>
          </a:p>
        </p:txBody>
      </p:sp>
      <p:sp>
        <p:nvSpPr>
          <p:cNvPr id="20" name="原题文字_177_20"/>
          <p:cNvSpPr txBox="1"/>
          <p:nvPr/>
        </p:nvSpPr>
        <p:spPr>
          <a:xfrm>
            <a:off x="5285126" y="4666078"/>
            <a:ext cx="205950" cy="170793"/>
          </a:xfrm>
          <a:prstGeom prst="rect">
            <a:avLst/>
          </a:prstGeom>
          <a:noFill/>
        </p:spPr>
        <p:txBody>
          <a:bodyPr wrap="none" lIns="0" rIns="0" tIns="0" bIns="0">
            <a:spAutoFit/>
          </a:bodyPr>
          <a:lstStyle/>
          <a:p>
            <a:pPr>
              <a:lnSpc>
                <a:spcPct val="112000"/>
              </a:lnSpc>
              <a:spcBef>
                <a:spcPts val="0"/>
              </a:spcBef>
              <a:spcAft>
                <a:spcPts val="0"/>
              </a:spcAft>
              <a:defRPr sz="827" b="0">
                <a:solidFill>
                  <a:srgbClr val="333333"/>
                </a:solidFill>
                <a:latin typeface="微软雅黑"/>
              </a:defRPr>
            </a:pPr>
            <a:r>
              <a:rPr>
                <a:ea typeface="微软雅黑"/>
              </a:rPr>
              <a:t>D</a:t>
            </a:r>
          </a:p>
        </p:txBody>
      </p:sp>
      <p:sp>
        <p:nvSpPr>
          <p:cNvPr id="21" name="原题文字_177_21"/>
          <p:cNvSpPr txBox="1"/>
          <p:nvPr/>
        </p:nvSpPr>
        <p:spPr>
          <a:xfrm>
            <a:off x="5652988" y="4613526"/>
            <a:ext cx="251932" cy="264729"/>
          </a:xfrm>
          <a:prstGeom prst="rect">
            <a:avLst/>
          </a:prstGeom>
          <a:noFill/>
        </p:spPr>
        <p:txBody>
          <a:bodyPr wrap="none" lIns="0" rIns="0" tIns="0" bIns="0">
            <a:spAutoFit/>
          </a:bodyPr>
          <a:lstStyle/>
          <a:p>
            <a:pPr>
              <a:lnSpc>
                <a:spcPct val="112000"/>
              </a:lnSpc>
              <a:spcBef>
                <a:spcPts val="0"/>
              </a:spcBef>
              <a:spcAft>
                <a:spcPts val="0"/>
              </a:spcAft>
              <a:defRPr sz="1282" b="0">
                <a:solidFill>
                  <a:srgbClr val="333333"/>
                </a:solidFill>
                <a:latin typeface="微软雅黑"/>
              </a:defRPr>
            </a:pPr>
            <a:r>
              <a:rPr>
                <a:ea typeface="微软雅黑"/>
              </a:rPr>
              <a:t>g.</a:t>
            </a:r>
          </a:p>
        </p:txBody>
      </p:sp>
      <p:sp>
        <p:nvSpPr>
          <p:cNvPr id="22" name="原题文字_177_22"/>
          <p:cNvSpPr txBox="1"/>
          <p:nvPr/>
        </p:nvSpPr>
        <p:spPr>
          <a:xfrm>
            <a:off x="4805592" y="5145612"/>
            <a:ext cx="731467" cy="307427"/>
          </a:xfrm>
          <a:prstGeom prst="rect">
            <a:avLst/>
          </a:prstGeom>
          <a:noFill/>
        </p:spPr>
        <p:txBody>
          <a:bodyPr wrap="none" lIns="0" rIns="0" tIns="0" bIns="0">
            <a:spAutoFit/>
          </a:bodyPr>
          <a:lstStyle/>
          <a:p>
            <a:pPr>
              <a:lnSpc>
                <a:spcPct val="112000"/>
              </a:lnSpc>
              <a:spcBef>
                <a:spcPts val="0"/>
              </a:spcBef>
              <a:spcAft>
                <a:spcPts val="0"/>
              </a:spcAft>
              <a:defRPr sz="1489" b="0">
                <a:solidFill>
                  <a:srgbClr val="333333"/>
                </a:solidFill>
                <a:latin typeface="微软雅黑"/>
              </a:defRPr>
            </a:pPr>
            <a:r>
              <a:rPr>
                <a:ea typeface="微软雅黑"/>
              </a:rPr>
              <a:t>-100mL</a:t>
            </a:r>
          </a:p>
        </p:txBody>
      </p:sp>
      <p:sp>
        <p:nvSpPr>
          <p:cNvPr id="23" name="原题文字_177_23"/>
          <p:cNvSpPr txBox="1"/>
          <p:nvPr/>
        </p:nvSpPr>
        <p:spPr>
          <a:xfrm>
            <a:off x="1613075" y="5263853"/>
            <a:ext cx="455570" cy="222031"/>
          </a:xfrm>
          <a:prstGeom prst="rect">
            <a:avLst/>
          </a:prstGeom>
          <a:noFill/>
        </p:spPr>
        <p:txBody>
          <a:bodyPr wrap="none" lIns="0" rIns="0" tIns="0" bIns="0">
            <a:spAutoFit/>
          </a:bodyPr>
          <a:lstStyle/>
          <a:p>
            <a:pPr>
              <a:lnSpc>
                <a:spcPct val="112000"/>
              </a:lnSpc>
              <a:spcBef>
                <a:spcPts val="0"/>
              </a:spcBef>
              <a:spcAft>
                <a:spcPts val="0"/>
              </a:spcAft>
              <a:defRPr sz="1075" b="0">
                <a:solidFill>
                  <a:srgbClr val="333333"/>
                </a:solidFill>
                <a:latin typeface="微软雅黑"/>
              </a:defRPr>
            </a:pPr>
            <a:r>
              <a:rPr>
                <a:ea typeface="微软雅黑"/>
              </a:rPr>
              <a:t>蒸馏水</a:t>
            </a:r>
          </a:p>
        </p:txBody>
      </p:sp>
      <p:sp>
        <p:nvSpPr>
          <p:cNvPr id="24" name="文字_(3) 同学甲在配制溶液过程中不小心将洗涤玻璃棒"/>
          <p:cNvSpPr txBox="1"/>
          <p:nvPr/>
        </p:nvSpPr>
        <p:spPr>
          <a:xfrm>
            <a:off x="502920" y="5704699"/>
            <a:ext cx="11064240" cy="501014"/>
          </a:xfrm>
          <a:prstGeom prst="rect">
            <a:avLst/>
          </a:prstGeom>
          <a:noFill/>
        </p:spPr>
        <p:txBody>
          <a:bodyPr wrap="squar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(3) 同学甲在配制溶液过程中不小心将洗涤玻璃棒和烧杯的洗涤液倒入了废液缸，他应该采取的措施为同学乙在定容时俯视容量瓶的</a:t>
            </a:r>
          </a:p>
          <a:p>
            <a:pPr>
              <a:lnSpc>
                <a:spcPct val="112000"/>
              </a:lnSpc>
              <a:spcBef>
                <a:spcPts val="0"/>
              </a:spcBef>
              <a:spcAft>
                <a:spcPts val="0"/>
              </a:spcAft>
              <a:defRPr sz="1500" b="0">
                <a:solidFill>
                  <a:srgbClr val="333333"/>
                </a:solidFill>
                <a:latin typeface="微软雅黑"/>
              </a:defRPr>
            </a:pPr>
            <a:r>
              <a:rPr>
                <a:ea typeface="微软雅黑"/>
              </a:rPr>
              <a:t>刻度线，所得溶液浓度 ______ (填“偏大”“偏小”或“无影响”，下同)；同学丙所使用的容量瓶未充分干燥，所得溶液浓度</a:t>
            </a:r>
          </a:p>
        </p:txBody>
      </p:sp>
      <p:sp>
        <p:nvSpPr>
          <p:cNvPr id="25" name="文字_填空题  ·  08-08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08-082</a:t>
            </a:r>
          </a:p>
        </p:txBody>
      </p:sp>
      <p:sp>
        <p:nvSpPr>
          <p:cNvPr id="26" name="文字_9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阶段检测（一） · 检测题3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阶段检测（一） · 检测题30</a:t>
            </a:r>
          </a:p>
        </p:txBody>
      </p:sp>
      <p:sp>
        <p:nvSpPr>
          <p:cNvPr id="5" name="文字_P17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P177</a:t>
            </a:r>
          </a:p>
        </p:txBody>
      </p:sp>
      <p:sp>
        <p:nvSpPr>
          <p:cNvPr id="6" name="文字_取8.54 g含有Na₂CO₃、NaOH、Ba("/>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取8.54 g含有Na₂CO₃、NaOH、Ba(NO₃)₂的固体混合物溶于足量水中，向反应</a:t>
            </a:r>
          </a:p>
          <a:p>
            <a:pPr>
              <a:lnSpc>
                <a:spcPct val="112000"/>
              </a:lnSpc>
              <a:spcBef>
                <a:spcPts val="0"/>
              </a:spcBef>
              <a:spcAft>
                <a:spcPts val="0"/>
              </a:spcAft>
              <a:defRPr sz="2400" b="0">
                <a:solidFill>
                  <a:srgbClr val="333333"/>
                </a:solidFill>
                <a:latin typeface="微软雅黑"/>
              </a:defRPr>
            </a:pPr>
            <a:r>
              <a:rPr>
                <a:ea typeface="微软雅黑"/>
              </a:rPr>
              <a:t>后的试管中逐滴滴加1.00 mol·L-1的盐酸，加入盐酸的体积和沉淀质量的关系如图</a:t>
            </a:r>
          </a:p>
          <a:p>
            <a:pPr>
              <a:lnSpc>
                <a:spcPct val="112000"/>
              </a:lnSpc>
              <a:spcBef>
                <a:spcPts val="0"/>
              </a:spcBef>
              <a:spcAft>
                <a:spcPts val="0"/>
              </a:spcAft>
              <a:defRPr sz="2400" b="0">
                <a:solidFill>
                  <a:srgbClr val="333333"/>
                </a:solidFill>
                <a:latin typeface="微软雅黑"/>
              </a:defRPr>
            </a:pPr>
            <a:r>
              <a:rPr>
                <a:ea typeface="微软雅黑"/>
              </a:rPr>
              <a:t>所示。</a:t>
            </a:r>
          </a:p>
        </p:txBody>
      </p:sp>
      <p:sp>
        <p:nvSpPr>
          <p:cNvPr id="7" name="文字_↑m(沉淀)/g"/>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↑m(沉淀)/g</a:t>
            </a:r>
          </a:p>
        </p:txBody>
      </p:sp>
      <p:pic>
        <p:nvPicPr>
          <p:cNvPr id="8" name="Picture 7" descr="image.png"/>
          <p:cNvPicPr>
            <a:picLocks noChangeAspect="1"/>
          </p:cNvPicPr>
          <p:nvPr/>
        </p:nvPicPr>
        <p:blipFill>
          <a:blip r:embed="rId3"/>
          <a:stretch>
            <a:fillRect/>
          </a:stretch>
        </p:blipFill>
        <p:spPr>
          <a:xfrm>
            <a:off x="502920" y="2682240"/>
            <a:ext cx="11064240" cy="1156193"/>
          </a:xfrm>
          <a:prstGeom prst="rect">
            <a:avLst/>
          </a:prstGeom>
        </p:spPr>
      </p:pic>
      <p:sp>
        <p:nvSpPr>
          <p:cNvPr id="9" name="原题文字_177_35"/>
          <p:cNvSpPr txBox="1"/>
          <p:nvPr/>
        </p:nvSpPr>
        <p:spPr>
          <a:xfrm>
            <a:off x="633087" y="2714123"/>
            <a:ext cx="71335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3.940</a:t>
            </a:r>
          </a:p>
        </p:txBody>
      </p:sp>
      <p:sp>
        <p:nvSpPr>
          <p:cNvPr id="10" name="原题文字_177_36"/>
          <p:cNvSpPr txBox="1"/>
          <p:nvPr/>
        </p:nvSpPr>
        <p:spPr>
          <a:xfrm>
            <a:off x="1146100" y="3449187"/>
            <a:ext cx="23862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a:t>
            </a:r>
          </a:p>
        </p:txBody>
      </p:sp>
      <p:sp>
        <p:nvSpPr>
          <p:cNvPr id="11" name="原题文字_177_37"/>
          <p:cNvSpPr txBox="1"/>
          <p:nvPr/>
        </p:nvSpPr>
        <p:spPr>
          <a:xfrm>
            <a:off x="2064930" y="3449187"/>
            <a:ext cx="28457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X</a:t>
            </a:r>
          </a:p>
        </p:txBody>
      </p:sp>
      <p:sp>
        <p:nvSpPr>
          <p:cNvPr id="12" name="原题文字_177_38"/>
          <p:cNvSpPr txBox="1"/>
          <p:nvPr/>
        </p:nvSpPr>
        <p:spPr>
          <a:xfrm>
            <a:off x="2715768" y="3495128"/>
            <a:ext cx="1302940"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V(盐酸)/mL</a:t>
            </a:r>
          </a:p>
        </p:txBody>
      </p:sp>
      <p:sp>
        <p:nvSpPr>
          <p:cNvPr id="13" name="文字_(1)沉淀化学式为 ______ ，该沉淀的物质"/>
          <p:cNvSpPr txBox="1"/>
          <p:nvPr/>
        </p:nvSpPr>
        <p:spPr>
          <a:xfrm>
            <a:off x="502920" y="39115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(1)沉淀化学式为 ______ ，该沉淀的物质的量为 ______ mol。</a:t>
            </a:r>
          </a:p>
        </p:txBody>
      </p:sp>
      <p:sp>
        <p:nvSpPr>
          <p:cNvPr id="14" name="文字_(2)X的最大值为 ______ 在该情况下加盐"/>
          <p:cNvSpPr txBox="1"/>
          <p:nvPr/>
        </p:nvSpPr>
        <p:spPr>
          <a:xfrm>
            <a:off x="502920" y="4350497"/>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(2)X的最大值为 ______ 在该情况下加盐酸将沉淀恰好溶解，然后用水稀释至</a:t>
            </a:r>
          </a:p>
          <a:p>
            <a:pPr>
              <a:lnSpc>
                <a:spcPct val="112000"/>
              </a:lnSpc>
              <a:spcBef>
                <a:spcPts val="0"/>
              </a:spcBef>
              <a:spcAft>
                <a:spcPts val="0"/>
              </a:spcAft>
              <a:defRPr sz="2400" b="0">
                <a:solidFill>
                  <a:srgbClr val="333333"/>
                </a:solidFill>
                <a:latin typeface="微软雅黑"/>
              </a:defRPr>
            </a:pPr>
            <a:r>
              <a:rPr>
                <a:ea typeface="微软雅黑"/>
              </a:rPr>
              <a:t>500mL，溶液中Na+的浓度为</a:t>
            </a:r>
          </a:p>
        </p:txBody>
      </p:sp>
      <p:sp>
        <p:nvSpPr>
          <p:cNvPr id="15" name="文字_mol·L-1"/>
          <p:cNvSpPr txBox="1"/>
          <p:nvPr/>
        </p:nvSpPr>
        <p:spPr>
          <a:xfrm>
            <a:off x="502920" y="515212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mol·L-1</a:t>
            </a:r>
          </a:p>
        </p:txBody>
      </p:sp>
      <p:sp>
        <p:nvSpPr>
          <p:cNvPr id="16" name="文字_填空题  ·  08-08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08-083</a:t>
            </a:r>
          </a:p>
        </p:txBody>
      </p:sp>
      <p:sp>
        <p:nvSpPr>
          <p:cNvPr id="17" name="文字_9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物质的量浓度</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
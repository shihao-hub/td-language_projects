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P210；PDF 文件第 212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P210；PDF 文件第 212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P210；PDF 文件第 212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P211；PDF 文件第 213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P211；PDF 文件第 213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例题 1 / 单选题</a:t>
            </a:r>
          </a:p>
          <a:p>
            <a:r>
              <a:t>讲义印刷页：P211</a:t>
            </a:r>
          </a:p>
          <a:p>
            <a:r>
              <a:t>PDF 文件页：213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P211：)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例题 2 / 单选题</a:t>
            </a:r>
          </a:p>
          <a:p>
            <a:r>
              <a:t>讲义印刷页：P212</a:t>
            </a:r>
          </a:p>
          <a:p>
            <a:r>
              <a:t>PDF 文件页：214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例题 3 / 单选题</a:t>
            </a:r>
          </a:p>
          <a:p>
            <a:r>
              <a:t>讲义印刷页：P212</a:t>
            </a:r>
          </a:p>
          <a:p>
            <a:r>
              <a:t>PDF 文件页：214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例题 4 / 单选题</a:t>
            </a:r>
          </a:p>
          <a:p>
            <a:r>
              <a:t>讲义印刷页：P212</a:t>
            </a:r>
          </a:p>
          <a:p>
            <a:r>
              <a:t>PDF 文件页：214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P212：ⅡI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例题 5 / 填空题</a:t>
            </a:r>
          </a:p>
          <a:p>
            <a:r>
              <a:t>讲义印刷页：P212</a:t>
            </a:r>
          </a:p>
          <a:p>
            <a:r>
              <a:t>PDF 文件页：214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P212：⑦</a:t>
            </a:r>
          </a:p>
          <a:p>
            <a:r>
              <a:t>P212：Al(OH)3</a:t>
            </a:r>
          </a:p>
          <a:p>
            <a:r>
              <a:t>P212：Al₂O₃</a:t>
            </a:r>
          </a:p>
          <a:p>
            <a:r>
              <a:t>P212：⑥</a:t>
            </a:r>
          </a:p>
          <a:p>
            <a:r>
              <a:t>P212：o</a:t>
            </a:r>
          </a:p>
          <a:p>
            <a:r>
              <a:t>P212：o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1 / 单选题</a:t>
            </a:r>
          </a:p>
          <a:p>
            <a:r>
              <a:t>讲义印刷页：P213</a:t>
            </a:r>
          </a:p>
          <a:p>
            <a:r>
              <a:t>PDF 文件页：215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2 / 单选题</a:t>
            </a:r>
          </a:p>
          <a:p>
            <a:r>
              <a:t>讲义印刷页：P213</a:t>
            </a:r>
          </a:p>
          <a:p>
            <a:r>
              <a:t>PDF 文件页：215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3 / 单选题</a:t>
            </a:r>
          </a:p>
          <a:p>
            <a:r>
              <a:t>讲义印刷页：P213</a:t>
            </a:r>
          </a:p>
          <a:p>
            <a:r>
              <a:t>PDF 文件页：215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4 / 单选题</a:t>
            </a:r>
          </a:p>
          <a:p>
            <a:r>
              <a:t>讲义印刷页：P213</a:t>
            </a:r>
          </a:p>
          <a:p>
            <a:r>
              <a:t>PDF 文件页：215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P213：W</a:t>
            </a:r>
          </a:p>
          <a:p>
            <a:r>
              <a:t>P213：Al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5 / 推断题</a:t>
            </a:r>
          </a:p>
          <a:p>
            <a:r>
              <a:t>讲义印刷页：P214</a:t>
            </a:r>
          </a:p>
          <a:p>
            <a:r>
              <a:t>PDF 文件页：216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P214：o</a:t>
            </a:r>
          </a:p>
          <a:p>
            <a:r>
              <a:t>P214：④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1 / 单选题</a:t>
            </a:r>
          </a:p>
          <a:p>
            <a:r>
              <a:t>讲义印刷页：P214</a:t>
            </a:r>
          </a:p>
          <a:p>
            <a:r>
              <a:t>PDF 文件页：216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2 / 单选题</a:t>
            </a:r>
          </a:p>
          <a:p>
            <a:r>
              <a:t>讲义印刷页：P214</a:t>
            </a:r>
          </a:p>
          <a:p>
            <a:r>
              <a:t>PDF 文件页：216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P214：()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3 / 单选题</a:t>
            </a:r>
          </a:p>
          <a:p>
            <a:r>
              <a:t>讲义印刷页：P214</a:t>
            </a:r>
          </a:p>
          <a:p>
            <a:r>
              <a:t>PDF 文件页：216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4 / 单选题</a:t>
            </a:r>
          </a:p>
          <a:p>
            <a:r>
              <a:t>讲义印刷页：P215</a:t>
            </a:r>
          </a:p>
          <a:p>
            <a:r>
              <a:t>PDF 文件页：217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5 / 单选题</a:t>
            </a:r>
          </a:p>
          <a:p>
            <a:r>
              <a:t>讲义印刷页：P215</a:t>
            </a:r>
          </a:p>
          <a:p>
            <a:r>
              <a:t>PDF 文件页：217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6 / 单选题</a:t>
            </a:r>
          </a:p>
          <a:p>
            <a:r>
              <a:t>讲义印刷页：P215</a:t>
            </a:r>
          </a:p>
          <a:p>
            <a:r>
              <a:t>PDF 文件页：217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P215：C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P216；PDF 文件第 218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7 / 填空题</a:t>
            </a:r>
          </a:p>
          <a:p>
            <a:r>
              <a:t>讲义印刷页：P216</a:t>
            </a:r>
          </a:p>
          <a:p>
            <a:r>
              <a:t>PDF 文件页：218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原题定位：知识点2铝的化合物的性质 / 变式 8 / 填空题</a:t>
            </a:r>
          </a:p>
          <a:p>
            <a:r>
              <a:t>讲义印刷页：P216</a:t>
            </a:r>
          </a:p>
          <a:p>
            <a:r>
              <a:t>PDF 文件页：218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P216：o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P217；PDF 文件第 219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例题 1 / 判断题</a:t>
            </a:r>
          </a:p>
          <a:p>
            <a:r>
              <a:t>讲义印刷页：P218</a:t>
            </a:r>
          </a:p>
          <a:p>
            <a:r>
              <a:t>PDF 文件页：220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例题 2 / 单选题</a:t>
            </a:r>
          </a:p>
          <a:p>
            <a:r>
              <a:t>讲义印刷页：P218</a:t>
            </a:r>
          </a:p>
          <a:p>
            <a:r>
              <a:t>PDF 文件页：220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例题 3 / 单选题</a:t>
            </a:r>
          </a:p>
          <a:p>
            <a:r>
              <a:t>讲义印刷页：P218</a:t>
            </a:r>
          </a:p>
          <a:p>
            <a:r>
              <a:t>PDF 文件页：220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例题 4 / 单选题</a:t>
            </a:r>
          </a:p>
          <a:p>
            <a:r>
              <a:t>讲义印刷页：P219</a:t>
            </a:r>
          </a:p>
          <a:p>
            <a:r>
              <a:t>PDF 文件页：221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例题 5 / 填空题</a:t>
            </a:r>
          </a:p>
          <a:p>
            <a:r>
              <a:t>讲义印刷页：P219</a:t>
            </a:r>
          </a:p>
          <a:p>
            <a:r>
              <a:t>PDF 文件页：221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P219：o</a:t>
            </a:r>
          </a:p>
          <a:p>
            <a:r>
              <a:t>P219：强它的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变式 1 / 单选题</a:t>
            </a:r>
          </a:p>
          <a:p>
            <a:r>
              <a:t>讲义印刷页：P219</a:t>
            </a:r>
          </a:p>
          <a:p>
            <a:r>
              <a:t>PDF 文件页：221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变式 2 / 单选题</a:t>
            </a:r>
          </a:p>
          <a:p>
            <a:r>
              <a:t>讲义印刷页：P219</a:t>
            </a:r>
          </a:p>
          <a:p>
            <a:r>
              <a:t>PDF 文件页：221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变式 3 / 单选题</a:t>
            </a:r>
          </a:p>
          <a:p>
            <a:r>
              <a:t>讲义印刷页：P220</a:t>
            </a:r>
          </a:p>
          <a:p>
            <a:r>
              <a:t>PDF 文件页：222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变式 4 / 单选题</a:t>
            </a:r>
          </a:p>
          <a:p>
            <a:r>
              <a:t>讲义印刷页：P220</a:t>
            </a:r>
          </a:p>
          <a:p>
            <a:r>
              <a:t>PDF 文件页：222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变式 5 / 填空题</a:t>
            </a:r>
          </a:p>
          <a:p>
            <a:r>
              <a:t>讲义印刷页：P220</a:t>
            </a:r>
          </a:p>
          <a:p>
            <a:r>
              <a:t>PDF 文件页：222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1 / 单选题</a:t>
            </a:r>
          </a:p>
          <a:p>
            <a:r>
              <a:t>讲义印刷页：P220</a:t>
            </a:r>
          </a:p>
          <a:p>
            <a:r>
              <a:t>PDF 文件页：222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2 / 单选题</a:t>
            </a:r>
          </a:p>
          <a:p>
            <a:r>
              <a:t>讲义印刷页：P221</a:t>
            </a:r>
          </a:p>
          <a:p>
            <a:r>
              <a:t>PDF 文件页：223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3 / 单选题</a:t>
            </a:r>
          </a:p>
          <a:p>
            <a:r>
              <a:t>讲义印刷页：P221</a:t>
            </a:r>
          </a:p>
          <a:p>
            <a:r>
              <a:t>PDF 文件页：223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4 / 单选题</a:t>
            </a:r>
          </a:p>
          <a:p>
            <a:r>
              <a:t>讲义印刷页：P221</a:t>
            </a:r>
          </a:p>
          <a:p>
            <a:r>
              <a:t>PDF 文件页：223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5 / 单选题</a:t>
            </a:r>
          </a:p>
          <a:p>
            <a:r>
              <a:t>讲义印刷页：P221</a:t>
            </a:r>
          </a:p>
          <a:p>
            <a:r>
              <a:t>PDF 文件页：223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原题定位：知识点3合金 / 巩固 6 / 单选题</a:t>
            </a:r>
          </a:p>
          <a:p>
            <a:r>
              <a:t>讲义印刷页：P221</a:t>
            </a:r>
          </a:p>
          <a:p>
            <a:r>
              <a:t>PDF 文件页：223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金属材料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金属材料</a:t>
            </a:r>
          </a:p>
        </p:txBody>
      </p:sp>
      <p:sp>
        <p:nvSpPr>
          <p:cNvPr id="4" name="文字_第 10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10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210–221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P210–221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铝：结构与性质总览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铝：结构与性质总览</a:t>
            </a:r>
          </a:p>
        </p:txBody>
      </p:sp>
      <p:sp>
        <p:nvSpPr>
          <p:cNvPr id="5" name="文字_知识梳理 · 讲义 P210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铝：结构与性质总览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铝：结构与性质总览</a:t>
            </a:r>
          </a:p>
        </p:txBody>
      </p:sp>
      <p:sp>
        <p:nvSpPr>
          <p:cNvPr id="5" name="文字_知识讲解 · P21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第 3 周期 ⅢA 族；地壳中含量最高的金属元素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第 3 周期 ⅢA 族；地壳中含量最高的金属元素，全部以化合态存在。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银白色金属，密度小、质软，良好的延展性、导电导热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银白色金属，密度小、质软，良好的延展性、导电导热性。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 O₂：4Al + 3O₂ = 2Al₂O₃（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 O₂：4Al + 3O₂ = 2Al₂O₃（致密氧化膜，抗腐蚀）。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与 Cl₂：2Al + 3Cl₂ —点燃→ 2A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 Cl₂：2Al + 3Cl₂ —点燃→ 2AlCl₃。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工业制备：2Al₂O₃(熔融) —电解→ 4Al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工业制备：2Al₂O₃(熔融) —电解→ 4Al + 3O₂↑。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铝是活泼金属，但氧化膜使其耐腐蚀；这解释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铝是活泼金属，但氧化膜使其耐腐蚀；这解释了铝制餐具的耐用性。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铝的两性：与酸、碱都反应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铝的两性：与酸、碱都反应</a:t>
            </a:r>
          </a:p>
        </p:txBody>
      </p:sp>
      <p:sp>
        <p:nvSpPr>
          <p:cNvPr id="5" name="文字_知识讲解 · P21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与非氧化性酸：2Al + 6H⁺ = 2Al³⁺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与非氧化性酸：2Al + 6H⁺ = 2Al³⁺ + 3H₂↑。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常温下遇浓硫酸、浓硝酸钝化（生成致密氧化膜）。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常温下遇浓硫酸、浓硝酸钝化（生成致密氧化膜）。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强碱：2Al + 2OH⁻ + 2H₂O = 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与强碱：2Al + 2OH⁻ + 2H₂O = 2AlO₂⁻ + 3H₂↑。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与稀硝酸：Al + 4HNO₃(稀) = Al(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与稀硝酸：Al + 4HNO₃(稀) = Al(NO₃)₃ + NO↑ + 2H₂O。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既与酸又与碱反应放出氢气，但铝不是两性金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既与酸又与碱反应放出氢气，但铝不是两性金属（两性指氧化物/氢氧化物的性质）。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铝热反应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铝热反应</a:t>
            </a:r>
          </a:p>
        </p:txBody>
      </p:sp>
      <p:sp>
        <p:nvSpPr>
          <p:cNvPr id="5" name="文字_知识讲解 · P21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原理：利用铝的还原性，把难熔金属从其氧化物中置换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原理：利用铝的还原性，把难熔金属从其氧化物中置换出来。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2Al + Fe₂O₃ —高温→ 2Fe + A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2Al + Fe₂O₃ —高温→ 2Fe + Al₂O₃，放出大量热，用于野外焊接铁轨。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反应本质是氧化还原：Al 作还原剂，被氧化为 A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反应本质是氧化还原：Al 作还原剂，被氧化为 Al₂O₃。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引发剂为镁条和氯酸钾，需要高温引发。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引发剂为镁条和氯酸钾，需要高温引发。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铝热反应放出大量热使生成金属呈熔融态，与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铝热反应放出大量热使生成金属呈熔融态，与"置换反应"同时成立。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氧化铝与氢氧化铝的比较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氧化铝与氢氧化铝的比较</a:t>
            </a:r>
          </a:p>
        </p:txBody>
      </p:sp>
      <p:sp>
        <p:nvSpPr>
          <p:cNvPr id="5" name="文字_知识梳理 · 讲义 P211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铝与氢氧化铝的比较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氧化铝与氢氧化铝的比较</a:t>
            </a:r>
          </a:p>
        </p:txBody>
      </p:sp>
      <p:sp>
        <p:nvSpPr>
          <p:cNvPr id="5" name="文字_知识讲解 · P21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423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Al₂O₃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Al(OH)₃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物理性质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白色固体，熔点很高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白色胶状固体，难溶于水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与酸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Al₂O₃ + 6H⁺ = 2Al³⁺ + 3H₂O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Al(OH)₃ + 3H⁺ = Al³⁺ + 3H₂O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与碱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Al₂O₃ + 2OH⁻ = 2AlO₂⁻ + H₂O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Al(OH)₃ + OH⁻ = AlO₂⁻ + 2H₂O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受热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不分解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2Al(OH)₃ —加热→ Al₂O₃ + 3H₂O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耐火材料、冶炼铝的原料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制药（胃酸中和）、净水吸附剂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61457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两者都是两性化合物；Al(OH)₃ 只溶"/>
          <p:cNvSpPr txBox="1"/>
          <p:nvPr/>
        </p:nvSpPr>
        <p:spPr>
          <a:xfrm>
            <a:off x="630936" y="62052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两者都是两性化合物；Al(OH)₃ 只溶于强碱，不溶于氨水。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Al(OH)₃ 的三种制备方法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Al(OH)₃ 的三种制备方法</a:t>
            </a:r>
          </a:p>
        </p:txBody>
      </p:sp>
      <p:sp>
        <p:nvSpPr>
          <p:cNvPr id="5" name="文字_知识讲解 · P21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铝盐 + 氨水：Al³⁺ + 3NH₃·H₂O 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铝盐 + 氨水：Al³⁺ + 3NH₃·H₂O = Al(OH)₃↓ + 3NH₄⁺（氨水过量沉淀也不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溶解）。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偏铝酸盐 + CO₂：AlO₂⁻ + CO₂ +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偏铝酸盐 + CO₂：AlO₂⁻ + CO₂ + 2H₂O = Al(OH)₃↓ + HCO₃⁻。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铝盐与偏铝酸盐混合：Al³⁺ + 3AlO₂⁻ 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铝盐与偏铝酸盐混合：Al³⁺ + 3AlO₂⁻ + 6H₂O = 4Al(OH)₃↓。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制取时避免使用强酸或强碱，防止沉淀溶解。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制取时避免使用强酸或强碱，防止沉淀溶解。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沉淀图像题：向 AlCl₃ 中滴加 Na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沉淀图像题：向 AlCl₃ 中滴加 NaOH，沉淀先增后减；NaOH 过量后沉淀完全溶解。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例题1</a:t>
            </a:r>
          </a:p>
        </p:txBody>
      </p:sp>
      <p:sp>
        <p:nvSpPr>
          <p:cNvPr id="5" name="文字_P21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P211</a:t>
            </a:r>
          </a:p>
        </p:txBody>
      </p:sp>
      <p:sp>
        <p:nvSpPr>
          <p:cNvPr id="6" name="文字_金属铝应用广泛。下列有关说法正确的是（)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金属铝应用广泛。下列有关说法正确的是（)</a:t>
            </a:r>
          </a:p>
        </p:txBody>
      </p:sp>
      <p:sp>
        <p:nvSpPr>
          <p:cNvPr id="7" name="文字_A. 铝导电性能较差，不可用作导线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铝导电性能较差，不可用作导线</a:t>
            </a:r>
          </a:p>
        </p:txBody>
      </p:sp>
      <p:sp>
        <p:nvSpPr>
          <p:cNvPr id="8" name="文字_B. 它有致密的氧化物保护膜，能耐酸碱腐蚀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它有致密的氧化物保护膜，能耐酸碱腐蚀</a:t>
            </a:r>
          </a:p>
        </p:txBody>
      </p:sp>
      <p:sp>
        <p:nvSpPr>
          <p:cNvPr id="9" name="文字_C. 1molAl与足量盐酸反应可产生1.5NA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1molAl与足量盐酸反应可产生1.5NA个H₂分子</a:t>
            </a:r>
          </a:p>
        </p:txBody>
      </p:sp>
      <p:sp>
        <p:nvSpPr>
          <p:cNvPr id="10" name="文字_D. 它可形成用途广泛的铝合金，是人类最早使用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它可形成用途广泛的铝合金，是人类最早使用的合金</a:t>
            </a:r>
          </a:p>
        </p:txBody>
      </p:sp>
      <p:sp>
        <p:nvSpPr>
          <p:cNvPr id="11" name="文字_单选题  ·  10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10-001</a:t>
            </a:r>
          </a:p>
        </p:txBody>
      </p:sp>
      <p:sp>
        <p:nvSpPr>
          <p:cNvPr id="12" name="文字_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例题2</a:t>
            </a:r>
          </a:p>
        </p:txBody>
      </p:sp>
      <p:sp>
        <p:nvSpPr>
          <p:cNvPr id="5" name="文字_P21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P212</a:t>
            </a:r>
          </a:p>
        </p:txBody>
      </p:sp>
      <p:sp>
        <p:nvSpPr>
          <p:cNvPr id="6" name="文字_下列关于铝及其化合物的说法错误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下列关于铝及其化合物的说法错误的是（）</a:t>
            </a:r>
          </a:p>
        </p:txBody>
      </p:sp>
      <p:sp>
        <p:nvSpPr>
          <p:cNvPr id="7" name="文字_A. 铁粉中混有少量铝粉，可以用氢氧化钠溶液除去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铁粉中混有少量铝粉，可以用氢氧化钠溶液除去铝粉</a:t>
            </a:r>
          </a:p>
        </p:txBody>
      </p:sp>
      <p:sp>
        <p:nvSpPr>
          <p:cNvPr id="8" name="文字_B. 金属铝与NaOH溶液反应生成氢气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金属铝与NaOH溶液反应生成氢气</a:t>
            </a:r>
          </a:p>
        </p:txBody>
      </p:sp>
      <p:sp>
        <p:nvSpPr>
          <p:cNvPr id="9" name="文字_C. Al₂O₃是两性氧化物，Al(OH)₃是两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Al₂O₃是两性氧化物，Al(OH)₃是两性氢氧化物</a:t>
            </a:r>
          </a:p>
        </p:txBody>
      </p:sp>
      <p:sp>
        <p:nvSpPr>
          <p:cNvPr id="10" name="文字_D. 铝制餐具不宜用来蒸煮或长时间存放酸性或碱性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铝制餐具不宜用来蒸煮或长时间存放酸性或碱性食物</a:t>
            </a:r>
          </a:p>
        </p:txBody>
      </p:sp>
      <p:sp>
        <p:nvSpPr>
          <p:cNvPr id="11" name="文字_单选题  ·  10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10-002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例题3</a:t>
            </a:r>
          </a:p>
        </p:txBody>
      </p:sp>
      <p:sp>
        <p:nvSpPr>
          <p:cNvPr id="5" name="文字_P21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P212</a:t>
            </a:r>
          </a:p>
        </p:txBody>
      </p:sp>
      <p:sp>
        <p:nvSpPr>
          <p:cNvPr id="6" name="文字_下列物质的转化能一步实现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下列物质的转化能一步实现的是</a:t>
            </a:r>
          </a:p>
        </p:txBody>
      </p:sp>
      <p:sp>
        <p:nvSpPr>
          <p:cNvPr id="7" name="文字_A. A₁ → Al₁₂O₃ → Al(OH)3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A₁ → Al₁₂O₃ → Al(OH)3</a:t>
            </a:r>
          </a:p>
        </p:txBody>
      </p:sp>
      <p:sp>
        <p:nvSpPr>
          <p:cNvPr id="8" name="文字_B. Cl₂ → FeCl₂ → Fe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Cl₂ → FeCl₂ → Fe</a:t>
            </a:r>
          </a:p>
        </p:txBody>
      </p:sp>
      <p:sp>
        <p:nvSpPr>
          <p:cNvPr id="9" name="文字_C. Na₂O₂ → Na₂CO₃ → NaOH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Na₂O₂ → Na₂CO₃ → NaOH</a:t>
            </a:r>
          </a:p>
        </p:txBody>
      </p:sp>
      <p:sp>
        <p:nvSpPr>
          <p:cNvPr id="10" name="文字_D. CaCl₂ → CaCO₃ → Ca(OH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CaCl₂ → CaCO₃ → Ca(OH)₂</a:t>
            </a:r>
          </a:p>
        </p:txBody>
      </p:sp>
      <p:sp>
        <p:nvSpPr>
          <p:cNvPr id="11" name="文字_单选题  ·  10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10-003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例题4</a:t>
            </a:r>
          </a:p>
        </p:txBody>
      </p:sp>
      <p:sp>
        <p:nvSpPr>
          <p:cNvPr id="5" name="文字_P21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P212</a:t>
            </a:r>
          </a:p>
        </p:txBody>
      </p:sp>
      <p:sp>
        <p:nvSpPr>
          <p:cNvPr id="6" name="文字_取两块大小一样的铝片，进行如下图的实验：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取两块大小一样的铝片，进行如下图的实验：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508411"/>
          </a:xfrm>
          <a:prstGeom prst="rect">
            <a:avLst/>
          </a:prstGeom>
        </p:spPr>
      </p:pic>
      <p:sp>
        <p:nvSpPr>
          <p:cNvPr id="8" name="原题文字_212_20"/>
          <p:cNvSpPr txBox="1"/>
          <p:nvPr/>
        </p:nvSpPr>
        <p:spPr>
          <a:xfrm>
            <a:off x="2218068" y="1679955"/>
            <a:ext cx="223316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9" name="原题文字_212_21"/>
          <p:cNvSpPr txBox="1"/>
          <p:nvPr/>
        </p:nvSpPr>
        <p:spPr>
          <a:xfrm>
            <a:off x="3129241" y="1656984"/>
            <a:ext cx="276914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ⅡI</a:t>
            </a:r>
          </a:p>
        </p:txBody>
      </p:sp>
      <p:sp>
        <p:nvSpPr>
          <p:cNvPr id="10" name="原题文字_212_22"/>
          <p:cNvSpPr txBox="1"/>
          <p:nvPr/>
        </p:nvSpPr>
        <p:spPr>
          <a:xfrm>
            <a:off x="610116" y="2001545"/>
            <a:ext cx="1387166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未打磨的铝片</a:t>
            </a:r>
          </a:p>
        </p:txBody>
      </p:sp>
      <p:sp>
        <p:nvSpPr>
          <p:cNvPr id="11" name="原题文字_212_23"/>
          <p:cNvSpPr txBox="1"/>
          <p:nvPr/>
        </p:nvSpPr>
        <p:spPr>
          <a:xfrm>
            <a:off x="3580999" y="1963261"/>
            <a:ext cx="1394823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刚打磨的铝片</a:t>
            </a:r>
          </a:p>
        </p:txBody>
      </p:sp>
      <p:sp>
        <p:nvSpPr>
          <p:cNvPr id="12" name="原题文字_212_24"/>
          <p:cNvSpPr txBox="1"/>
          <p:nvPr/>
        </p:nvSpPr>
        <p:spPr>
          <a:xfrm>
            <a:off x="2256353" y="2445646"/>
            <a:ext cx="110386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NaOH溶液</a:t>
            </a:r>
          </a:p>
        </p:txBody>
      </p:sp>
      <p:sp>
        <p:nvSpPr>
          <p:cNvPr id="13" name="原题文字_212_25"/>
          <p:cNvSpPr txBox="1"/>
          <p:nvPr/>
        </p:nvSpPr>
        <p:spPr>
          <a:xfrm>
            <a:off x="587146" y="2728952"/>
            <a:ext cx="330139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根据该实验，下列说法不正确的是</a:t>
            </a:r>
          </a:p>
        </p:txBody>
      </p:sp>
      <p:sp>
        <p:nvSpPr>
          <p:cNvPr id="14" name="文字_A. 氧化铝有保护作用，因此烧杯I中没有反应发生"/>
          <p:cNvSpPr txBox="1"/>
          <p:nvPr/>
        </p:nvSpPr>
        <p:spPr>
          <a:xfrm>
            <a:off x="502920" y="309946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氧化铝有保护作用，因此烧杯I中没有反应发生</a:t>
            </a:r>
          </a:p>
        </p:txBody>
      </p:sp>
      <p:sp>
        <p:nvSpPr>
          <p:cNvPr id="15" name="文字_B. 烧杯I中开始没有气泡，一段时间后才产生气泡"/>
          <p:cNvSpPr txBox="1"/>
          <p:nvPr/>
        </p:nvSpPr>
        <p:spPr>
          <a:xfrm>
            <a:off x="502920" y="353837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烧杯I中开始没有气泡，一段时间后才产生气泡；烧杯Ⅱ中立即产生气泡</a:t>
            </a:r>
          </a:p>
        </p:txBody>
      </p:sp>
      <p:sp>
        <p:nvSpPr>
          <p:cNvPr id="16" name="文字_C. 两个烧杯中均发生反应: 2Al + 2Na"/>
          <p:cNvSpPr txBox="1"/>
          <p:nvPr/>
        </p:nvSpPr>
        <p:spPr>
          <a:xfrm>
            <a:off x="502920" y="397729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两个烧杯中均发生反应: 2Al + 2NaOH + 6H₂O = 2Na [Al(OH)₄] + 3H₂ ↑</a:t>
            </a:r>
          </a:p>
        </p:txBody>
      </p:sp>
      <p:sp>
        <p:nvSpPr>
          <p:cNvPr id="17" name="文字_D. 铝制餐具不宜长时间存放碱性食物"/>
          <p:cNvSpPr txBox="1"/>
          <p:nvPr/>
        </p:nvSpPr>
        <p:spPr>
          <a:xfrm>
            <a:off x="502920" y="441620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铝制餐具不宜长时间存放碱性食物</a:t>
            </a:r>
          </a:p>
        </p:txBody>
      </p:sp>
      <p:sp>
        <p:nvSpPr>
          <p:cNvPr id="18" name="文字_单选题  ·  10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10-004</a:t>
            </a:r>
          </a:p>
        </p:txBody>
      </p:sp>
      <p:sp>
        <p:nvSpPr>
          <p:cNvPr id="19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例题5</a:t>
            </a:r>
          </a:p>
        </p:txBody>
      </p:sp>
      <p:sp>
        <p:nvSpPr>
          <p:cNvPr id="5" name="文字_P21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P212</a:t>
            </a:r>
          </a:p>
        </p:txBody>
      </p:sp>
      <p:sp>
        <p:nvSpPr>
          <p:cNvPr id="6" name="文字_铝是一种很重要的金属，可以发生一系列反应制备物质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铝是一种很重要的金属，可以发生一系列反应制备物质(如下图所示)。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2373643"/>
          </a:xfrm>
          <a:prstGeom prst="rect">
            <a:avLst/>
          </a:prstGeom>
        </p:spPr>
      </p:pic>
      <p:sp>
        <p:nvSpPr>
          <p:cNvPr id="8" name="原题文字_212_34"/>
          <p:cNvSpPr txBox="1"/>
          <p:nvPr/>
        </p:nvSpPr>
        <p:spPr>
          <a:xfrm>
            <a:off x="1276268" y="1549787"/>
            <a:ext cx="897124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①Fe₃O₄</a:t>
            </a:r>
          </a:p>
        </p:txBody>
      </p:sp>
      <p:sp>
        <p:nvSpPr>
          <p:cNvPr id="9" name="原题文字_212_35"/>
          <p:cNvSpPr txBox="1"/>
          <p:nvPr/>
        </p:nvSpPr>
        <p:spPr>
          <a:xfrm>
            <a:off x="2241039" y="1779495"/>
            <a:ext cx="37645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</a:t>
            </a:r>
          </a:p>
        </p:txBody>
      </p:sp>
      <p:sp>
        <p:nvSpPr>
          <p:cNvPr id="10" name="原题文字_212_36"/>
          <p:cNvSpPr txBox="1"/>
          <p:nvPr/>
        </p:nvSpPr>
        <p:spPr>
          <a:xfrm>
            <a:off x="1421749" y="1932633"/>
            <a:ext cx="590847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11" name="原题文字_212_37"/>
          <p:cNvSpPr txBox="1"/>
          <p:nvPr/>
        </p:nvSpPr>
        <p:spPr>
          <a:xfrm>
            <a:off x="1276268" y="2315479"/>
            <a:ext cx="91243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②NaOH</a:t>
            </a:r>
          </a:p>
        </p:txBody>
      </p:sp>
      <p:sp>
        <p:nvSpPr>
          <p:cNvPr id="12" name="原题文字_212_38"/>
          <p:cNvSpPr txBox="1"/>
          <p:nvPr/>
        </p:nvSpPr>
        <p:spPr>
          <a:xfrm>
            <a:off x="3052672" y="2269537"/>
            <a:ext cx="1172773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9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④足量CO₂</a:t>
            </a:r>
          </a:p>
        </p:txBody>
      </p:sp>
      <p:sp>
        <p:nvSpPr>
          <p:cNvPr id="13" name="原题文字_212_39"/>
          <p:cNvSpPr txBox="1"/>
          <p:nvPr/>
        </p:nvSpPr>
        <p:spPr>
          <a:xfrm>
            <a:off x="5234892" y="2284851"/>
            <a:ext cx="56022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⑤△</a:t>
            </a:r>
          </a:p>
        </p:txBody>
      </p:sp>
      <p:sp>
        <p:nvSpPr>
          <p:cNvPr id="14" name="原题文字_212_40"/>
          <p:cNvSpPr txBox="1"/>
          <p:nvPr/>
        </p:nvSpPr>
        <p:spPr>
          <a:xfrm>
            <a:off x="6536567" y="2323136"/>
            <a:ext cx="292228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</a:t>
            </a:r>
          </a:p>
        </p:txBody>
      </p:sp>
      <p:sp>
        <p:nvSpPr>
          <p:cNvPr id="15" name="原题文字_212_41"/>
          <p:cNvSpPr txBox="1"/>
          <p:nvPr/>
        </p:nvSpPr>
        <p:spPr>
          <a:xfrm>
            <a:off x="663715" y="2491588"/>
            <a:ext cx="39176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</a:t>
            </a:r>
          </a:p>
        </p:txBody>
      </p:sp>
      <p:sp>
        <p:nvSpPr>
          <p:cNvPr id="16" name="原题文字_212_42"/>
          <p:cNvSpPr txBox="1"/>
          <p:nvPr/>
        </p:nvSpPr>
        <p:spPr>
          <a:xfrm>
            <a:off x="2195097" y="2483931"/>
            <a:ext cx="90478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NaAlO₂</a:t>
            </a:r>
          </a:p>
        </p:txBody>
      </p:sp>
      <p:sp>
        <p:nvSpPr>
          <p:cNvPr id="17" name="原题文字_212_43"/>
          <p:cNvSpPr txBox="1"/>
          <p:nvPr/>
        </p:nvSpPr>
        <p:spPr>
          <a:xfrm>
            <a:off x="4270121" y="2468617"/>
            <a:ext cx="927752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3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Al(OH)3</a:t>
            </a:r>
          </a:p>
        </p:txBody>
      </p:sp>
      <p:sp>
        <p:nvSpPr>
          <p:cNvPr id="18" name="原题文字_212_44"/>
          <p:cNvSpPr txBox="1"/>
          <p:nvPr/>
        </p:nvSpPr>
        <p:spPr>
          <a:xfrm>
            <a:off x="5770876" y="2460960"/>
            <a:ext cx="721015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Al₂O₃</a:t>
            </a:r>
          </a:p>
        </p:txBody>
      </p:sp>
      <p:sp>
        <p:nvSpPr>
          <p:cNvPr id="19" name="原题文字_212_45"/>
          <p:cNvSpPr txBox="1"/>
          <p:nvPr/>
        </p:nvSpPr>
        <p:spPr>
          <a:xfrm>
            <a:off x="6881128" y="2499245"/>
            <a:ext cx="36114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</a:t>
            </a:r>
          </a:p>
        </p:txBody>
      </p:sp>
      <p:sp>
        <p:nvSpPr>
          <p:cNvPr id="20" name="原题文字_212_46"/>
          <p:cNvSpPr txBox="1"/>
          <p:nvPr/>
        </p:nvSpPr>
        <p:spPr>
          <a:xfrm>
            <a:off x="1253297" y="2989287"/>
            <a:ext cx="950722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③H₂SO₄</a:t>
            </a:r>
          </a:p>
        </p:txBody>
      </p:sp>
      <p:sp>
        <p:nvSpPr>
          <p:cNvPr id="21" name="原题文字_212_47"/>
          <p:cNvSpPr txBox="1"/>
          <p:nvPr/>
        </p:nvSpPr>
        <p:spPr>
          <a:xfrm>
            <a:off x="3443174" y="3027572"/>
            <a:ext cx="29988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</a:t>
            </a:r>
          </a:p>
        </p:txBody>
      </p:sp>
      <p:sp>
        <p:nvSpPr>
          <p:cNvPr id="22" name="原题文字_212_48"/>
          <p:cNvSpPr txBox="1"/>
          <p:nvPr/>
        </p:nvSpPr>
        <p:spPr>
          <a:xfrm>
            <a:off x="2332922" y="3196024"/>
            <a:ext cx="989007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Al₂(SO₄)₃₃</a:t>
            </a:r>
          </a:p>
        </p:txBody>
      </p:sp>
      <p:sp>
        <p:nvSpPr>
          <p:cNvPr id="23" name="原题文字_212_49"/>
          <p:cNvSpPr txBox="1"/>
          <p:nvPr/>
        </p:nvSpPr>
        <p:spPr>
          <a:xfrm>
            <a:off x="594802" y="3578869"/>
            <a:ext cx="269649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(1)推测反应①的化学方程式</a:t>
            </a:r>
          </a:p>
        </p:txBody>
      </p:sp>
      <p:sp>
        <p:nvSpPr>
          <p:cNvPr id="24" name="原题文字_212_50"/>
          <p:cNvSpPr txBox="1"/>
          <p:nvPr/>
        </p:nvSpPr>
        <p:spPr>
          <a:xfrm>
            <a:off x="3864305" y="3709037"/>
            <a:ext cx="154403" cy="1592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</a:t>
            </a:r>
          </a:p>
        </p:txBody>
      </p:sp>
      <p:sp>
        <p:nvSpPr>
          <p:cNvPr id="25" name="文字_(2)②③反应产生等量氢气消耗的NaOH与H₂S"/>
          <p:cNvSpPr txBox="1"/>
          <p:nvPr/>
        </p:nvSpPr>
        <p:spPr>
          <a:xfrm>
            <a:off x="502920" y="396469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(2)②③反应产生等量氢气消耗的NaOH与H₂SO₄的物质的量之比为</a:t>
            </a:r>
          </a:p>
        </p:txBody>
      </p:sp>
      <p:sp>
        <p:nvSpPr>
          <p:cNvPr id="26" name="文字_(3)反应②的离子反应的方程式为 ______ "/>
          <p:cNvSpPr txBox="1"/>
          <p:nvPr/>
        </p:nvSpPr>
        <p:spPr>
          <a:xfrm>
            <a:off x="502920" y="440361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(3)反应②的离子反应的方程式为 ______ o</a:t>
            </a:r>
          </a:p>
        </p:txBody>
      </p:sp>
      <p:sp>
        <p:nvSpPr>
          <p:cNvPr id="27" name="文字_(4)用反应⑥制备A₁(OH)₃，最好是向Al₂"/>
          <p:cNvSpPr txBox="1"/>
          <p:nvPr/>
        </p:nvSpPr>
        <p:spPr>
          <a:xfrm>
            <a:off x="502920" y="4842523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(4)用反应⑥制备A₁(OH)₃，最好是向Al₂(SO₄)₃溶液中滴加过量的氨水，写出该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离子方程式</a:t>
            </a:r>
          </a:p>
        </p:txBody>
      </p:sp>
      <p:sp>
        <p:nvSpPr>
          <p:cNvPr id="28" name="文字_填空题  ·  10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10-005</a:t>
            </a:r>
          </a:p>
        </p:txBody>
      </p:sp>
      <p:sp>
        <p:nvSpPr>
          <p:cNvPr id="29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变式1</a:t>
            </a:r>
          </a:p>
        </p:txBody>
      </p:sp>
      <p:sp>
        <p:nvSpPr>
          <p:cNvPr id="5" name="文字_P21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P213</a:t>
            </a:r>
          </a:p>
        </p:txBody>
      </p:sp>
      <p:sp>
        <p:nvSpPr>
          <p:cNvPr id="6" name="文字_下列铝和其他化合物之间的转化不可能一步实现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下列铝和其他化合物之间的转化不可能一步实现的是</a:t>
            </a:r>
          </a:p>
        </p:txBody>
      </p:sp>
      <p:sp>
        <p:nvSpPr>
          <p:cNvPr id="7" name="文字_A. Al³⁺→Al(OH)3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Al³⁺→Al(OH)3</a:t>
            </a:r>
          </a:p>
        </p:txBody>
      </p:sp>
      <p:sp>
        <p:nvSpPr>
          <p:cNvPr id="8" name="文字_B. Al₂O₃→A₁(OH)₃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Al₂O₃→A₁(OH)₃</a:t>
            </a:r>
          </a:p>
        </p:txBody>
      </p:sp>
      <p:sp>
        <p:nvSpPr>
          <p:cNvPr id="9" name="文字_C. Al(OH)₃→Al₂O₃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Al(OH)₃→Al₂O₃</a:t>
            </a:r>
          </a:p>
        </p:txBody>
      </p:sp>
      <p:sp>
        <p:nvSpPr>
          <p:cNvPr id="10" name="文字_D. Al→Al(OH)−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Al→Al(OH)−</a:t>
            </a:r>
          </a:p>
        </p:txBody>
      </p:sp>
      <p:sp>
        <p:nvSpPr>
          <p:cNvPr id="11" name="文字_单选题  ·  10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10-006</a:t>
            </a:r>
          </a:p>
        </p:txBody>
      </p:sp>
      <p:sp>
        <p:nvSpPr>
          <p:cNvPr id="12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变式2</a:t>
            </a:r>
          </a:p>
        </p:txBody>
      </p:sp>
      <p:sp>
        <p:nvSpPr>
          <p:cNvPr id="5" name="文字_P21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P213</a:t>
            </a:r>
          </a:p>
        </p:txBody>
      </p:sp>
      <p:sp>
        <p:nvSpPr>
          <p:cNvPr id="6" name="文字_下列有关化学反应的叙述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下列有关化学反应的叙述正确的是</a:t>
            </a:r>
          </a:p>
        </p:txBody>
      </p:sp>
      <p:sp>
        <p:nvSpPr>
          <p:cNvPr id="7" name="文字_A. Na在空气中加热反应生成Na₂O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Na在空气中加热反应生成Na₂O</a:t>
            </a:r>
          </a:p>
        </p:txBody>
      </p:sp>
      <p:sp>
        <p:nvSpPr>
          <p:cNvPr id="8" name="文字_B. Al与NaOH溶液反应可生成NaAl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Al与NaOH溶液反应可生成NaAlO₂</a:t>
            </a:r>
          </a:p>
        </p:txBody>
      </p:sp>
      <p:sp>
        <p:nvSpPr>
          <p:cNvPr id="9" name="文字_C. 常温下，A₁与氧化铁反应可生成铁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常温下，A₁与氧化铁反应可生成铁</a:t>
            </a:r>
          </a:p>
        </p:txBody>
      </p:sp>
      <p:sp>
        <p:nvSpPr>
          <p:cNvPr id="10" name="文字_D. 常温下，Cu与氯气反应生成CuCl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常温下，Cu与氯气反应生成CuCl₂</a:t>
            </a:r>
          </a:p>
        </p:txBody>
      </p:sp>
      <p:sp>
        <p:nvSpPr>
          <p:cNvPr id="11" name="文字_单选题  ·  10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10-007</a:t>
            </a:r>
          </a:p>
        </p:txBody>
      </p:sp>
      <p:sp>
        <p:nvSpPr>
          <p:cNvPr id="12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变式3</a:t>
            </a:r>
          </a:p>
        </p:txBody>
      </p:sp>
      <p:sp>
        <p:nvSpPr>
          <p:cNvPr id="5" name="文字_P21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P213</a:t>
            </a:r>
          </a:p>
        </p:txBody>
      </p:sp>
      <p:sp>
        <p:nvSpPr>
          <p:cNvPr id="6" name="文字_下列关于铝及其化合物的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下列关于铝及其化合物的说法正确的是（）</a:t>
            </a:r>
          </a:p>
        </p:txBody>
      </p:sp>
      <p:sp>
        <p:nvSpPr>
          <p:cNvPr id="7" name="文字_A. 铝是地壳中含量最多的元素，铝以游离态和化合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铝是地壳中含量最多的元素，铝以游离态和化合态两种形式存在于地壳中</a:t>
            </a:r>
          </a:p>
        </p:txBody>
      </p:sp>
      <p:sp>
        <p:nvSpPr>
          <p:cNvPr id="8" name="文字_B. 铝制品在空气中有很强的抗腐蚀性是因为铝的化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铝制品在空气中有很强的抗腐蚀性是因为铝的化学性质很稳定</a:t>
            </a:r>
          </a:p>
        </p:txBody>
      </p:sp>
      <p:sp>
        <p:nvSpPr>
          <p:cNvPr id="9" name="文字_C. 用酒精灯加热铝箔，铝会融化成液滴掉下来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用酒精灯加热铝箔，铝会融化成液滴掉下来</a:t>
            </a:r>
          </a:p>
        </p:txBody>
      </p:sp>
      <p:sp>
        <p:nvSpPr>
          <p:cNvPr id="10" name="文字_D. 铝热反应是强烈的放热反应，常用于野外焊接铁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铝热反应是强烈的放热反应，常用于野外焊接铁轨</a:t>
            </a:r>
          </a:p>
        </p:txBody>
      </p:sp>
      <p:sp>
        <p:nvSpPr>
          <p:cNvPr id="11" name="文字_单选题  ·  10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10-008</a:t>
            </a:r>
          </a:p>
        </p:txBody>
      </p:sp>
      <p:sp>
        <p:nvSpPr>
          <p:cNvPr id="12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变式4</a:t>
            </a:r>
          </a:p>
        </p:txBody>
      </p:sp>
      <p:sp>
        <p:nvSpPr>
          <p:cNvPr id="5" name="文字_P21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064240" cy="2779459"/>
          </a:xfrm>
          <a:prstGeom prst="rect">
            <a:avLst/>
          </a:prstGeom>
        </p:spPr>
      </p:pic>
      <p:sp>
        <p:nvSpPr>
          <p:cNvPr id="7" name="原题文字_213_27"/>
          <p:cNvSpPr txBox="1"/>
          <p:nvPr/>
        </p:nvSpPr>
        <p:spPr>
          <a:xfrm>
            <a:off x="602459" y="1087905"/>
            <a:ext cx="714516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下列各组物质中，满足表中图示物质在通常条件下能一步转化的全部组合是</a:t>
            </a:r>
          </a:p>
        </p:txBody>
      </p:sp>
      <p:sp>
        <p:nvSpPr>
          <p:cNvPr id="8" name="原题文字_213_28"/>
          <p:cNvSpPr txBox="1"/>
          <p:nvPr/>
        </p:nvSpPr>
        <p:spPr>
          <a:xfrm>
            <a:off x="617773" y="1463093"/>
            <a:ext cx="583191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序号</a:t>
            </a:r>
          </a:p>
        </p:txBody>
      </p:sp>
      <p:sp>
        <p:nvSpPr>
          <p:cNvPr id="9" name="原题文字_213_29"/>
          <p:cNvSpPr txBox="1"/>
          <p:nvPr/>
        </p:nvSpPr>
        <p:spPr>
          <a:xfrm>
            <a:off x="1842879" y="1493721"/>
            <a:ext cx="315199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0" name="原题文字_213_30"/>
          <p:cNvSpPr txBox="1"/>
          <p:nvPr/>
        </p:nvSpPr>
        <p:spPr>
          <a:xfrm>
            <a:off x="3098613" y="1509035"/>
            <a:ext cx="284571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Y</a:t>
            </a:r>
          </a:p>
        </p:txBody>
      </p:sp>
      <p:sp>
        <p:nvSpPr>
          <p:cNvPr id="11" name="原题文字_213_31"/>
          <p:cNvSpPr txBox="1"/>
          <p:nvPr/>
        </p:nvSpPr>
        <p:spPr>
          <a:xfrm>
            <a:off x="5081754" y="1486064"/>
            <a:ext cx="299885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Z</a:t>
            </a:r>
          </a:p>
        </p:txBody>
      </p:sp>
      <p:sp>
        <p:nvSpPr>
          <p:cNvPr id="12" name="原题文字_213_32"/>
          <p:cNvSpPr txBox="1"/>
          <p:nvPr/>
        </p:nvSpPr>
        <p:spPr>
          <a:xfrm>
            <a:off x="7110836" y="1493721"/>
            <a:ext cx="34582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W</a:t>
            </a:r>
          </a:p>
        </p:txBody>
      </p:sp>
      <p:sp>
        <p:nvSpPr>
          <p:cNvPr id="13" name="原题文字_213_33"/>
          <p:cNvSpPr txBox="1"/>
          <p:nvPr/>
        </p:nvSpPr>
        <p:spPr>
          <a:xfrm>
            <a:off x="1850536" y="1930165"/>
            <a:ext cx="353483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</a:t>
            </a:r>
          </a:p>
        </p:txBody>
      </p:sp>
      <p:sp>
        <p:nvSpPr>
          <p:cNvPr id="14" name="原题文字_213_34"/>
          <p:cNvSpPr txBox="1"/>
          <p:nvPr/>
        </p:nvSpPr>
        <p:spPr>
          <a:xfrm>
            <a:off x="3075642" y="1930165"/>
            <a:ext cx="84352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4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NaAlO₂</a:t>
            </a:r>
          </a:p>
        </p:txBody>
      </p:sp>
      <p:sp>
        <p:nvSpPr>
          <p:cNvPr id="15" name="原题文字_213_35"/>
          <p:cNvSpPr txBox="1"/>
          <p:nvPr/>
        </p:nvSpPr>
        <p:spPr>
          <a:xfrm>
            <a:off x="5097068" y="1922508"/>
            <a:ext cx="889467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A₁(OH)₃</a:t>
            </a:r>
          </a:p>
        </p:txBody>
      </p:sp>
      <p:sp>
        <p:nvSpPr>
          <p:cNvPr id="16" name="原题文字_213_36"/>
          <p:cNvSpPr txBox="1"/>
          <p:nvPr/>
        </p:nvSpPr>
        <p:spPr>
          <a:xfrm>
            <a:off x="7103179" y="1922508"/>
            <a:ext cx="68273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Al₂O₃</a:t>
            </a:r>
          </a:p>
        </p:txBody>
      </p:sp>
      <p:sp>
        <p:nvSpPr>
          <p:cNvPr id="17" name="原题文字_213_37"/>
          <p:cNvSpPr txBox="1"/>
          <p:nvPr/>
        </p:nvSpPr>
        <p:spPr>
          <a:xfrm>
            <a:off x="663715" y="2335981"/>
            <a:ext cx="28457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18" name="原题文字_213_38"/>
          <p:cNvSpPr txBox="1"/>
          <p:nvPr/>
        </p:nvSpPr>
        <p:spPr>
          <a:xfrm>
            <a:off x="1842879" y="2343638"/>
            <a:ext cx="40708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</a:t>
            </a:r>
          </a:p>
        </p:txBody>
      </p:sp>
      <p:sp>
        <p:nvSpPr>
          <p:cNvPr id="19" name="原题文字_213_39"/>
          <p:cNvSpPr txBox="1"/>
          <p:nvPr/>
        </p:nvSpPr>
        <p:spPr>
          <a:xfrm>
            <a:off x="3090956" y="2335981"/>
            <a:ext cx="698044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20" name="原题文字_213_40"/>
          <p:cNvSpPr txBox="1"/>
          <p:nvPr/>
        </p:nvSpPr>
        <p:spPr>
          <a:xfrm>
            <a:off x="5074097" y="2305354"/>
            <a:ext cx="881810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Na₂CO₃</a:t>
            </a:r>
          </a:p>
        </p:txBody>
      </p:sp>
      <p:sp>
        <p:nvSpPr>
          <p:cNvPr id="21" name="原题文字_213_41"/>
          <p:cNvSpPr txBox="1"/>
          <p:nvPr/>
        </p:nvSpPr>
        <p:spPr>
          <a:xfrm>
            <a:off x="7095522" y="2328325"/>
            <a:ext cx="621475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</a:t>
            </a:r>
          </a:p>
        </p:txBody>
      </p:sp>
      <p:sp>
        <p:nvSpPr>
          <p:cNvPr id="22" name="原题文字_213_42"/>
          <p:cNvSpPr txBox="1"/>
          <p:nvPr/>
        </p:nvSpPr>
        <p:spPr>
          <a:xfrm>
            <a:off x="663715" y="2757112"/>
            <a:ext cx="276914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23" name="原题文字_213_43"/>
          <p:cNvSpPr txBox="1"/>
          <p:nvPr/>
        </p:nvSpPr>
        <p:spPr>
          <a:xfrm>
            <a:off x="1850536" y="2757112"/>
            <a:ext cx="276914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24" name="原题文字_213_44"/>
          <p:cNvSpPr txBox="1"/>
          <p:nvPr/>
        </p:nvSpPr>
        <p:spPr>
          <a:xfrm>
            <a:off x="3098613" y="2741798"/>
            <a:ext cx="430052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</a:t>
            </a:r>
          </a:p>
        </p:txBody>
      </p:sp>
      <p:sp>
        <p:nvSpPr>
          <p:cNvPr id="25" name="原题文字_213_45"/>
          <p:cNvSpPr txBox="1"/>
          <p:nvPr/>
        </p:nvSpPr>
        <p:spPr>
          <a:xfrm>
            <a:off x="5081754" y="2718827"/>
            <a:ext cx="552563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</a:t>
            </a:r>
          </a:p>
        </p:txBody>
      </p:sp>
      <p:sp>
        <p:nvSpPr>
          <p:cNvPr id="26" name="原题文字_213_46"/>
          <p:cNvSpPr txBox="1"/>
          <p:nvPr/>
        </p:nvSpPr>
        <p:spPr>
          <a:xfrm>
            <a:off x="7095522" y="2757112"/>
            <a:ext cx="76695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H₂CO₃</a:t>
            </a:r>
          </a:p>
        </p:txBody>
      </p:sp>
      <p:sp>
        <p:nvSpPr>
          <p:cNvPr id="27" name="原题文字_213_47"/>
          <p:cNvSpPr txBox="1"/>
          <p:nvPr/>
        </p:nvSpPr>
        <p:spPr>
          <a:xfrm>
            <a:off x="656058" y="3170585"/>
            <a:ext cx="284571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</a:t>
            </a:r>
          </a:p>
        </p:txBody>
      </p:sp>
      <p:sp>
        <p:nvSpPr>
          <p:cNvPr id="28" name="原题文字_213_48"/>
          <p:cNvSpPr txBox="1"/>
          <p:nvPr/>
        </p:nvSpPr>
        <p:spPr>
          <a:xfrm>
            <a:off x="1835222" y="3170585"/>
            <a:ext cx="368797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</a:t>
            </a:r>
          </a:p>
        </p:txBody>
      </p:sp>
      <p:sp>
        <p:nvSpPr>
          <p:cNvPr id="29" name="原题文字_213_49"/>
          <p:cNvSpPr txBox="1"/>
          <p:nvPr/>
        </p:nvSpPr>
        <p:spPr>
          <a:xfrm>
            <a:off x="3075642" y="3162928"/>
            <a:ext cx="652103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FeCl₃</a:t>
            </a:r>
          </a:p>
        </p:txBody>
      </p:sp>
      <p:sp>
        <p:nvSpPr>
          <p:cNvPr id="30" name="原题文字_213_50"/>
          <p:cNvSpPr txBox="1"/>
          <p:nvPr/>
        </p:nvSpPr>
        <p:spPr>
          <a:xfrm>
            <a:off x="5074097" y="3139957"/>
            <a:ext cx="68273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5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FeCl₂</a:t>
            </a:r>
          </a:p>
        </p:txBody>
      </p:sp>
      <p:sp>
        <p:nvSpPr>
          <p:cNvPr id="31" name="原题文字_213_51"/>
          <p:cNvSpPr txBox="1"/>
          <p:nvPr/>
        </p:nvSpPr>
        <p:spPr>
          <a:xfrm>
            <a:off x="7087865" y="3162928"/>
            <a:ext cx="920095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Fe(OH)2</a:t>
            </a:r>
          </a:p>
        </p:txBody>
      </p:sp>
      <p:sp>
        <p:nvSpPr>
          <p:cNvPr id="32" name="原题文字_213_52"/>
          <p:cNvSpPr txBox="1"/>
          <p:nvPr/>
        </p:nvSpPr>
        <p:spPr>
          <a:xfrm>
            <a:off x="564175" y="3568744"/>
            <a:ext cx="88181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</a:t>
            </a:r>
          </a:p>
        </p:txBody>
      </p:sp>
      <p:sp>
        <p:nvSpPr>
          <p:cNvPr id="33" name="原题文字_213_53"/>
          <p:cNvSpPr txBox="1"/>
          <p:nvPr/>
        </p:nvSpPr>
        <p:spPr>
          <a:xfrm>
            <a:off x="3244095" y="3568744"/>
            <a:ext cx="108089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①③④</a:t>
            </a:r>
          </a:p>
        </p:txBody>
      </p:sp>
      <p:sp>
        <p:nvSpPr>
          <p:cNvPr id="34" name="原题文字_213_54"/>
          <p:cNvSpPr txBox="1"/>
          <p:nvPr/>
        </p:nvSpPr>
        <p:spPr>
          <a:xfrm>
            <a:off x="5939328" y="3568744"/>
            <a:ext cx="88181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</a:t>
            </a:r>
          </a:p>
        </p:txBody>
      </p:sp>
      <p:sp>
        <p:nvSpPr>
          <p:cNvPr id="35" name="原题文字_213_55"/>
          <p:cNvSpPr txBox="1"/>
          <p:nvPr/>
        </p:nvSpPr>
        <p:spPr>
          <a:xfrm>
            <a:off x="8626905" y="3561088"/>
            <a:ext cx="881810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①④</a:t>
            </a:r>
          </a:p>
        </p:txBody>
      </p:sp>
      <p:sp>
        <p:nvSpPr>
          <p:cNvPr id="36" name="文字_单选题  ·  10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10-009</a:t>
            </a:r>
          </a:p>
        </p:txBody>
      </p:sp>
      <p:sp>
        <p:nvSpPr>
          <p:cNvPr id="37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变式5</a:t>
            </a:r>
          </a:p>
        </p:txBody>
      </p:sp>
      <p:sp>
        <p:nvSpPr>
          <p:cNvPr id="5" name="文字_P21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P214</a:t>
            </a:r>
          </a:p>
        </p:txBody>
      </p:sp>
      <p:sp>
        <p:nvSpPr>
          <p:cNvPr id="6" name="文字_某混合物A，含有KAl(SO₄)₂、Al₂O₃和"/>
          <p:cNvSpPr txBox="1"/>
          <p:nvPr/>
        </p:nvSpPr>
        <p:spPr>
          <a:xfrm>
            <a:off x="502920" y="1078992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某混合物A，含有KAl(SO₄)₂、Al₂O₃和Fe₂O₃，在一定条件下可实现如图所示的物质之间的变化：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62456"/>
            <a:ext cx="9808560" cy="2138198"/>
          </a:xfrm>
          <a:prstGeom prst="rect">
            <a:avLst/>
          </a:prstGeom>
        </p:spPr>
      </p:pic>
      <p:sp>
        <p:nvSpPr>
          <p:cNvPr id="8" name="原题文字_214_4"/>
          <p:cNvSpPr txBox="1"/>
          <p:nvPr/>
        </p:nvSpPr>
        <p:spPr>
          <a:xfrm>
            <a:off x="3224880" y="1389994"/>
            <a:ext cx="618262" cy="335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沉淀D</a:t>
            </a:r>
          </a:p>
        </p:txBody>
      </p:sp>
      <p:sp>
        <p:nvSpPr>
          <p:cNvPr id="9" name="原题文字_214_5"/>
          <p:cNvSpPr txBox="1"/>
          <p:nvPr/>
        </p:nvSpPr>
        <p:spPr>
          <a:xfrm>
            <a:off x="1507533" y="1749755"/>
            <a:ext cx="625050" cy="335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沉淀C</a:t>
            </a:r>
          </a:p>
        </p:txBody>
      </p:sp>
      <p:sp>
        <p:nvSpPr>
          <p:cNvPr id="10" name="原题文字_214_6"/>
          <p:cNvSpPr txBox="1"/>
          <p:nvPr/>
        </p:nvSpPr>
        <p:spPr>
          <a:xfrm>
            <a:off x="2057356" y="1668300"/>
            <a:ext cx="957658" cy="34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1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NaOH溶液</a:t>
            </a:r>
          </a:p>
        </p:txBody>
      </p:sp>
      <p:sp>
        <p:nvSpPr>
          <p:cNvPr id="11" name="原题文字_214_7"/>
          <p:cNvSpPr txBox="1"/>
          <p:nvPr/>
        </p:nvSpPr>
        <p:spPr>
          <a:xfrm>
            <a:off x="2953363" y="1763331"/>
            <a:ext cx="333169" cy="308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III</a:t>
            </a:r>
          </a:p>
        </p:txBody>
      </p:sp>
      <p:sp>
        <p:nvSpPr>
          <p:cNvPr id="12" name="原题文字_214_8"/>
          <p:cNvSpPr txBox="1"/>
          <p:nvPr/>
        </p:nvSpPr>
        <p:spPr>
          <a:xfrm>
            <a:off x="3781490" y="1837998"/>
            <a:ext cx="849051" cy="34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适量盐酸</a:t>
            </a:r>
          </a:p>
        </p:txBody>
      </p:sp>
      <p:sp>
        <p:nvSpPr>
          <p:cNvPr id="13" name="原题文字_214_9"/>
          <p:cNvSpPr txBox="1"/>
          <p:nvPr/>
        </p:nvSpPr>
        <p:spPr>
          <a:xfrm>
            <a:off x="4887923" y="1675087"/>
            <a:ext cx="496079" cy="34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4" name="原题文字_214_10"/>
          <p:cNvSpPr txBox="1"/>
          <p:nvPr/>
        </p:nvSpPr>
        <p:spPr>
          <a:xfrm>
            <a:off x="665830" y="2163818"/>
            <a:ext cx="265289" cy="29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5" name="原题文字_214_11"/>
          <p:cNvSpPr txBox="1"/>
          <p:nvPr/>
        </p:nvSpPr>
        <p:spPr>
          <a:xfrm>
            <a:off x="944135" y="2041636"/>
            <a:ext cx="333169" cy="308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水</a:t>
            </a:r>
          </a:p>
        </p:txBody>
      </p:sp>
      <p:sp>
        <p:nvSpPr>
          <p:cNvPr id="16" name="原题文字_214_12"/>
          <p:cNvSpPr txBox="1"/>
          <p:nvPr/>
        </p:nvSpPr>
        <p:spPr>
          <a:xfrm>
            <a:off x="1297107" y="2163818"/>
            <a:ext cx="217774" cy="273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7" name="原题文字_214_13"/>
          <p:cNvSpPr txBox="1"/>
          <p:nvPr/>
        </p:nvSpPr>
        <p:spPr>
          <a:xfrm>
            <a:off x="2417116" y="1926241"/>
            <a:ext cx="265289" cy="2647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8" name="原题文字_214_14"/>
          <p:cNvSpPr txBox="1"/>
          <p:nvPr/>
        </p:nvSpPr>
        <p:spPr>
          <a:xfrm>
            <a:off x="3252032" y="1953393"/>
            <a:ext cx="496079" cy="352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9" name="原题文字_214_15"/>
          <p:cNvSpPr txBox="1"/>
          <p:nvPr/>
        </p:nvSpPr>
        <p:spPr>
          <a:xfrm>
            <a:off x="4019068" y="2123091"/>
            <a:ext cx="272077" cy="2647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20" name="原题文字_214_16"/>
          <p:cNvSpPr txBox="1"/>
          <p:nvPr/>
        </p:nvSpPr>
        <p:spPr>
          <a:xfrm>
            <a:off x="4650345" y="1980544"/>
            <a:ext cx="312805" cy="29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IV</a:t>
            </a:r>
          </a:p>
        </p:txBody>
      </p:sp>
      <p:sp>
        <p:nvSpPr>
          <p:cNvPr id="21" name="原题文字_214_17"/>
          <p:cNvSpPr txBox="1"/>
          <p:nvPr/>
        </p:nvSpPr>
        <p:spPr>
          <a:xfrm>
            <a:off x="4881135" y="2204546"/>
            <a:ext cx="502867" cy="352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沉淀</a:t>
            </a:r>
          </a:p>
        </p:txBody>
      </p:sp>
      <p:sp>
        <p:nvSpPr>
          <p:cNvPr id="22" name="原题文字_214_18"/>
          <p:cNvSpPr txBox="1"/>
          <p:nvPr/>
        </p:nvSpPr>
        <p:spPr>
          <a:xfrm>
            <a:off x="5417382" y="2089151"/>
            <a:ext cx="265289" cy="273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△</a:t>
            </a:r>
          </a:p>
        </p:txBody>
      </p:sp>
      <p:sp>
        <p:nvSpPr>
          <p:cNvPr id="23" name="原题文字_214_19"/>
          <p:cNvSpPr txBox="1"/>
          <p:nvPr/>
        </p:nvSpPr>
        <p:spPr>
          <a:xfrm>
            <a:off x="5797506" y="2204546"/>
            <a:ext cx="618262" cy="335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固体B</a:t>
            </a:r>
          </a:p>
        </p:txBody>
      </p:sp>
      <p:sp>
        <p:nvSpPr>
          <p:cNvPr id="24" name="原题文字_214_20"/>
          <p:cNvSpPr txBox="1"/>
          <p:nvPr/>
        </p:nvSpPr>
        <p:spPr>
          <a:xfrm>
            <a:off x="5417382" y="2333517"/>
            <a:ext cx="265289" cy="2735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</a:t>
            </a:r>
          </a:p>
        </p:txBody>
      </p:sp>
      <p:sp>
        <p:nvSpPr>
          <p:cNvPr id="25" name="原题文字_214_21"/>
          <p:cNvSpPr txBox="1"/>
          <p:nvPr/>
        </p:nvSpPr>
        <p:spPr>
          <a:xfrm>
            <a:off x="2036992" y="2476063"/>
            <a:ext cx="502867" cy="34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过量</a:t>
            </a:r>
          </a:p>
        </p:txBody>
      </p:sp>
      <p:sp>
        <p:nvSpPr>
          <p:cNvPr id="26" name="原题文字_214_22"/>
          <p:cNvSpPr txBox="1"/>
          <p:nvPr/>
        </p:nvSpPr>
        <p:spPr>
          <a:xfrm>
            <a:off x="1521109" y="2577882"/>
            <a:ext cx="502867" cy="34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27" name="原题文字_214_23"/>
          <p:cNvSpPr txBox="1"/>
          <p:nvPr/>
        </p:nvSpPr>
        <p:spPr>
          <a:xfrm>
            <a:off x="2607178" y="2605034"/>
            <a:ext cx="258501" cy="2647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II</a:t>
            </a:r>
          </a:p>
        </p:txBody>
      </p:sp>
      <p:sp>
        <p:nvSpPr>
          <p:cNvPr id="28" name="原题文字_214_24"/>
          <p:cNvSpPr txBox="1"/>
          <p:nvPr/>
        </p:nvSpPr>
        <p:spPr>
          <a:xfrm>
            <a:off x="2036992" y="2686489"/>
            <a:ext cx="502867" cy="379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氨水</a:t>
            </a:r>
          </a:p>
        </p:txBody>
      </p:sp>
      <p:sp>
        <p:nvSpPr>
          <p:cNvPr id="29" name="原题文字_214_25"/>
          <p:cNvSpPr txBox="1"/>
          <p:nvPr/>
        </p:nvSpPr>
        <p:spPr>
          <a:xfrm>
            <a:off x="2138811" y="2930855"/>
            <a:ext cx="312805" cy="29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30" name="原题文字_214_26"/>
          <p:cNvSpPr txBox="1"/>
          <p:nvPr/>
        </p:nvSpPr>
        <p:spPr>
          <a:xfrm>
            <a:off x="2810816" y="2890127"/>
            <a:ext cx="597898" cy="335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溶液E</a:t>
            </a:r>
          </a:p>
        </p:txBody>
      </p:sp>
      <p:sp>
        <p:nvSpPr>
          <p:cNvPr id="31" name="原题文字_214_27"/>
          <p:cNvSpPr txBox="1"/>
          <p:nvPr/>
        </p:nvSpPr>
        <p:spPr>
          <a:xfrm>
            <a:off x="564011" y="3229524"/>
            <a:ext cx="1690755" cy="300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5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据此回答下列问题:</a:t>
            </a:r>
          </a:p>
        </p:txBody>
      </p:sp>
      <p:sp>
        <p:nvSpPr>
          <p:cNvPr id="32" name="文字_(1)I、Ⅱ、Ⅲ、IV四步中对于溶液和沉淀的分离"/>
          <p:cNvSpPr txBox="1"/>
          <p:nvPr/>
        </p:nvSpPr>
        <p:spPr>
          <a:xfrm>
            <a:off x="502920" y="3573806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(1)I、Ⅱ、Ⅲ、IV四步中对于溶液和沉淀的分离采取的方法是</a:t>
            </a:r>
          </a:p>
        </p:txBody>
      </p:sp>
      <p:sp>
        <p:nvSpPr>
          <p:cNvPr id="33" name="文字_(2）根据上述框图反应关系，写出下列B、C、D、"/>
          <p:cNvSpPr txBox="1"/>
          <p:nvPr/>
        </p:nvSpPr>
        <p:spPr>
          <a:xfrm>
            <a:off x="502920" y="3857270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(2）根据上述框图反应关系，写出下列B、C、D、E所含物质的化学式</a:t>
            </a:r>
          </a:p>
        </p:txBody>
      </p:sp>
      <p:sp>
        <p:nvSpPr>
          <p:cNvPr id="34" name="文字_固体B ______ ；沉淀C ______ ；"/>
          <p:cNvSpPr txBox="1"/>
          <p:nvPr/>
        </p:nvSpPr>
        <p:spPr>
          <a:xfrm>
            <a:off x="502920" y="4140734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固体B ______ ；沉淀C ______ ；沉淀D ______ ；溶液E ______ o</a:t>
            </a:r>
          </a:p>
        </p:txBody>
      </p:sp>
      <p:sp>
        <p:nvSpPr>
          <p:cNvPr id="35" name="文字_(3)写出①、②、③、④四个反应的化学方程式或离"/>
          <p:cNvSpPr txBox="1"/>
          <p:nvPr/>
        </p:nvSpPr>
        <p:spPr>
          <a:xfrm>
            <a:off x="502920" y="4424198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(3)写出①、②、③、④四个反应的化学方程式或离子方程式</a:t>
            </a:r>
          </a:p>
        </p:txBody>
      </p:sp>
      <p:sp>
        <p:nvSpPr>
          <p:cNvPr id="36" name="文字_①"/>
          <p:cNvSpPr txBox="1"/>
          <p:nvPr/>
        </p:nvSpPr>
        <p:spPr>
          <a:xfrm>
            <a:off x="502920" y="4707662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37" name="文字_②"/>
          <p:cNvSpPr txBox="1"/>
          <p:nvPr/>
        </p:nvSpPr>
        <p:spPr>
          <a:xfrm>
            <a:off x="502920" y="4991126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38" name="文字_③"/>
          <p:cNvSpPr txBox="1"/>
          <p:nvPr/>
        </p:nvSpPr>
        <p:spPr>
          <a:xfrm>
            <a:off x="502920" y="5274590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39" name="文字_④"/>
          <p:cNvSpPr txBox="1"/>
          <p:nvPr/>
        </p:nvSpPr>
        <p:spPr>
          <a:xfrm>
            <a:off x="502920" y="5558054"/>
            <a:ext cx="110642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841518"/>
            <a:ext cx="9808560" cy="407275"/>
          </a:xfrm>
          <a:prstGeom prst="rect">
            <a:avLst/>
          </a:prstGeom>
        </p:spPr>
      </p:pic>
      <p:sp>
        <p:nvSpPr>
          <p:cNvPr id="41" name="原题文字_214_40"/>
          <p:cNvSpPr txBox="1"/>
          <p:nvPr/>
        </p:nvSpPr>
        <p:spPr>
          <a:xfrm>
            <a:off x="1107045" y="5902996"/>
            <a:ext cx="1405662" cy="370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【计算、图像】</a:t>
            </a:r>
          </a:p>
        </p:txBody>
      </p:sp>
      <p:sp>
        <p:nvSpPr>
          <p:cNvPr id="42" name="文字_推断题  ·  10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推断题  ·  10-010</a:t>
            </a:r>
          </a:p>
        </p:txBody>
      </p:sp>
      <p:sp>
        <p:nvSpPr>
          <p:cNvPr id="43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变式1</a:t>
            </a:r>
          </a:p>
        </p:txBody>
      </p:sp>
      <p:sp>
        <p:nvSpPr>
          <p:cNvPr id="5" name="文字_P21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P214</a:t>
            </a:r>
          </a:p>
        </p:txBody>
      </p:sp>
      <p:sp>
        <p:nvSpPr>
          <p:cNvPr id="6" name="文字_质量相同的两份铝分别和足量的盐酸和烧碱溶液反应，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质量相同的两份铝分别和足量的盐酸和烧碱溶液反应，二者放出气体的质量（）</a:t>
            </a:r>
          </a:p>
        </p:txBody>
      </p:sp>
      <p:sp>
        <p:nvSpPr>
          <p:cNvPr id="7" name="文字_A. 不同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不同</a:t>
            </a:r>
          </a:p>
        </p:txBody>
      </p:sp>
      <p:sp>
        <p:nvSpPr>
          <p:cNvPr id="8" name="文字_B. 一定相同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一定相同</a:t>
            </a:r>
          </a:p>
        </p:txBody>
      </p:sp>
      <p:sp>
        <p:nvSpPr>
          <p:cNvPr id="9" name="文字_C. 可能相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可能相同</a:t>
            </a:r>
          </a:p>
        </p:txBody>
      </p:sp>
      <p:sp>
        <p:nvSpPr>
          <p:cNvPr id="10" name="文字_D. 不能比较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不能比较</a:t>
            </a:r>
          </a:p>
        </p:txBody>
      </p:sp>
      <p:sp>
        <p:nvSpPr>
          <p:cNvPr id="11" name="文字_单选题  ·  10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10-011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变式2</a:t>
            </a:r>
          </a:p>
        </p:txBody>
      </p:sp>
      <p:sp>
        <p:nvSpPr>
          <p:cNvPr id="5" name="文字_P21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P214</a:t>
            </a:r>
          </a:p>
        </p:txBody>
      </p:sp>
      <p:sp>
        <p:nvSpPr>
          <p:cNvPr id="6" name="文字_甲、乙两个烧杯中分别盛有100 mL 4.0 m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甲、乙两个烧杯中分别盛有100 mL 4.0 mol·L-1的盐酸和100 mL 4.0 mol·L-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1NaOH溶液，向两个烧杯中均加入5.4 g铝粉，在相同状况下产生气体的体积比为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(()</a:t>
            </a:r>
          </a:p>
        </p:txBody>
      </p:sp>
      <p:sp>
        <p:nvSpPr>
          <p:cNvPr id="7" name="文字_A. 1 : 1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 : 1</a:t>
            </a:r>
          </a:p>
        </p:txBody>
      </p:sp>
      <p:sp>
        <p:nvSpPr>
          <p:cNvPr id="8" name="文字_B. 2:3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2:3</a:t>
            </a:r>
          </a:p>
        </p:txBody>
      </p:sp>
      <p:sp>
        <p:nvSpPr>
          <p:cNvPr id="9" name="文字_C. 3: 2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3: 2</a:t>
            </a:r>
          </a:p>
        </p:txBody>
      </p:sp>
      <p:sp>
        <p:nvSpPr>
          <p:cNvPr id="10" name="文字_D. 3 : 1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 : 1</a:t>
            </a:r>
          </a:p>
        </p:txBody>
      </p:sp>
      <p:sp>
        <p:nvSpPr>
          <p:cNvPr id="11" name="文字_单选题  ·  10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10-012</a:t>
            </a:r>
          </a:p>
        </p:txBody>
      </p:sp>
      <p:sp>
        <p:nvSpPr>
          <p:cNvPr id="12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变式3</a:t>
            </a:r>
          </a:p>
        </p:txBody>
      </p:sp>
      <p:sp>
        <p:nvSpPr>
          <p:cNvPr id="5" name="文字_P21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P214</a:t>
            </a:r>
          </a:p>
        </p:txBody>
      </p:sp>
      <p:sp>
        <p:nvSpPr>
          <p:cNvPr id="6" name="文字_向0.1mol/L的Al₂（SO₄）₃溶液中滴加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向0.1mol/L的Al₂（SO₄）₃溶液中滴加1.0mol/L的NaOH溶液，滴加过程中溶液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pH随NaOH溶液体积变化的曲线如图所示． 下列分析不正确的是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2013768"/>
          </a:xfrm>
          <a:prstGeom prst="rect">
            <a:avLst/>
          </a:prstGeom>
        </p:spPr>
      </p:pic>
      <p:sp>
        <p:nvSpPr>
          <p:cNvPr id="8" name="原题文字_214_64"/>
          <p:cNvSpPr txBox="1"/>
          <p:nvPr/>
        </p:nvSpPr>
        <p:spPr>
          <a:xfrm>
            <a:off x="556518" y="1981411"/>
            <a:ext cx="4541815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a点pH&lt;7的原因：Al³⁺+3H₂O⇒Al(OH)₃ + 3H+</a:t>
            </a:r>
          </a:p>
        </p:txBody>
      </p:sp>
      <p:sp>
        <p:nvSpPr>
          <p:cNvPr id="9" name="原题文字_214_65"/>
          <p:cNvSpPr txBox="1"/>
          <p:nvPr/>
        </p:nvSpPr>
        <p:spPr>
          <a:xfrm>
            <a:off x="8979123" y="1912499"/>
            <a:ext cx="521935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</a:t>
            </a:r>
          </a:p>
        </p:txBody>
      </p:sp>
      <p:sp>
        <p:nvSpPr>
          <p:cNvPr id="10" name="原题文字_214_66"/>
          <p:cNvSpPr txBox="1"/>
          <p:nvPr/>
        </p:nvSpPr>
        <p:spPr>
          <a:xfrm>
            <a:off x="556518" y="2371914"/>
            <a:ext cx="441930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bc段发生的主要反应：Al³⁺+3OH=Al(OH)3</a:t>
            </a:r>
          </a:p>
        </p:txBody>
      </p:sp>
      <p:sp>
        <p:nvSpPr>
          <p:cNvPr id="11" name="原题文字_214_67"/>
          <p:cNvSpPr txBox="1"/>
          <p:nvPr/>
        </p:nvSpPr>
        <p:spPr>
          <a:xfrm>
            <a:off x="9063349" y="2348943"/>
            <a:ext cx="35348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10-</a:t>
            </a:r>
          </a:p>
        </p:txBody>
      </p:sp>
      <p:sp>
        <p:nvSpPr>
          <p:cNvPr id="12" name="原题文字_214_68"/>
          <p:cNvSpPr txBox="1"/>
          <p:nvPr/>
        </p:nvSpPr>
        <p:spPr>
          <a:xfrm>
            <a:off x="9147575" y="2655220"/>
            <a:ext cx="24628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  <p:sp>
        <p:nvSpPr>
          <p:cNvPr id="13" name="原题文字_214_69"/>
          <p:cNvSpPr txBox="1"/>
          <p:nvPr/>
        </p:nvSpPr>
        <p:spPr>
          <a:xfrm>
            <a:off x="564175" y="2762417"/>
            <a:ext cx="5031857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ef段发生的主要反应：Al(OH)₃ + OH=A₁O₂ + 2H₂O</a:t>
            </a:r>
          </a:p>
        </p:txBody>
      </p:sp>
      <p:sp>
        <p:nvSpPr>
          <p:cNvPr id="14" name="原题文字_214_70"/>
          <p:cNvSpPr txBox="1"/>
          <p:nvPr/>
        </p:nvSpPr>
        <p:spPr>
          <a:xfrm>
            <a:off x="9155232" y="2907898"/>
            <a:ext cx="230973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15" name="原题文字_214_71"/>
          <p:cNvSpPr txBox="1"/>
          <p:nvPr/>
        </p:nvSpPr>
        <p:spPr>
          <a:xfrm>
            <a:off x="548861" y="3122292"/>
            <a:ext cx="5131397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d点，溶液中大量存在的离子是Na+、A₁O₂和SO₄²⁻</a:t>
            </a:r>
          </a:p>
        </p:txBody>
      </p:sp>
      <p:sp>
        <p:nvSpPr>
          <p:cNvPr id="16" name="原题文字_214_72"/>
          <p:cNvSpPr txBox="1"/>
          <p:nvPr/>
        </p:nvSpPr>
        <p:spPr>
          <a:xfrm>
            <a:off x="9170546" y="3482167"/>
            <a:ext cx="200345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7" name="原题文字_214_73"/>
          <p:cNvSpPr txBox="1"/>
          <p:nvPr/>
        </p:nvSpPr>
        <p:spPr>
          <a:xfrm>
            <a:off x="10250170" y="3597020"/>
            <a:ext cx="1142145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V(NaOH)/mL</a:t>
            </a:r>
          </a:p>
        </p:txBody>
      </p:sp>
      <p:sp>
        <p:nvSpPr>
          <p:cNvPr id="18" name="文字_单选题  ·  10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10-013</a:t>
            </a:r>
          </a:p>
        </p:txBody>
      </p:sp>
      <p:sp>
        <p:nvSpPr>
          <p:cNvPr id="19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变式4</a:t>
            </a:r>
          </a:p>
        </p:txBody>
      </p:sp>
      <p:sp>
        <p:nvSpPr>
          <p:cNvPr id="5" name="文字_P21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P215</a:t>
            </a:r>
          </a:p>
        </p:txBody>
      </p:sp>
      <p:sp>
        <p:nvSpPr>
          <p:cNvPr id="6" name="文字_在200mL含Mg²⁺、Al³⁺、NH₄⁺、H+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在200mL含Mg²⁺、Al³⁺、NH₄⁺、H+、Cl一等离子的溶液中，逐滴加入5mol·L-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1的氢氧化钠溶液，所加氢氧化钠溶液的体积(mL)与产生沉淀的物质的量(mol)关系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如图所示。下列叙述正确的是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2251132"/>
          </a:xfrm>
          <a:prstGeom prst="rect">
            <a:avLst/>
          </a:prstGeom>
        </p:spPr>
      </p:pic>
      <p:sp>
        <p:nvSpPr>
          <p:cNvPr id="8" name="原题文字_215_5"/>
          <p:cNvSpPr txBox="1"/>
          <p:nvPr/>
        </p:nvSpPr>
        <p:spPr>
          <a:xfrm>
            <a:off x="6283889" y="2275211"/>
            <a:ext cx="1417794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↑n(沉淀)/mol</a:t>
            </a:r>
          </a:p>
        </p:txBody>
      </p:sp>
      <p:sp>
        <p:nvSpPr>
          <p:cNvPr id="9" name="原题文字_215_6"/>
          <p:cNvSpPr txBox="1"/>
          <p:nvPr/>
        </p:nvSpPr>
        <p:spPr>
          <a:xfrm>
            <a:off x="587146" y="2351780"/>
            <a:ext cx="2428507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x与y的差值为0.02mol</a:t>
            </a:r>
          </a:p>
        </p:txBody>
      </p:sp>
      <p:sp>
        <p:nvSpPr>
          <p:cNvPr id="10" name="原题文字_215_7"/>
          <p:cNvSpPr txBox="1"/>
          <p:nvPr/>
        </p:nvSpPr>
        <p:spPr>
          <a:xfrm>
            <a:off x="556518" y="2703998"/>
            <a:ext cx="3255453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原溶液中c(Cl—)=0.75mol·L-1</a:t>
            </a:r>
          </a:p>
        </p:txBody>
      </p:sp>
      <p:sp>
        <p:nvSpPr>
          <p:cNvPr id="11" name="原题文字_215_8"/>
          <p:cNvSpPr txBox="1"/>
          <p:nvPr/>
        </p:nvSpPr>
        <p:spPr>
          <a:xfrm>
            <a:off x="6184349" y="2742283"/>
            <a:ext cx="246286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2" name="原题文字_215_9"/>
          <p:cNvSpPr txBox="1"/>
          <p:nvPr/>
        </p:nvSpPr>
        <p:spPr>
          <a:xfrm>
            <a:off x="564175" y="3102158"/>
            <a:ext cx="1892523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原溶液的pH=1</a:t>
            </a:r>
          </a:p>
        </p:txBody>
      </p:sp>
      <p:sp>
        <p:nvSpPr>
          <p:cNvPr id="13" name="原题文字_215_10"/>
          <p:cNvSpPr txBox="1"/>
          <p:nvPr/>
        </p:nvSpPr>
        <p:spPr>
          <a:xfrm>
            <a:off x="6153722" y="3002618"/>
            <a:ext cx="27691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y</a:t>
            </a:r>
          </a:p>
        </p:txBody>
      </p:sp>
      <p:sp>
        <p:nvSpPr>
          <p:cNvPr id="14" name="原题文字_215_11"/>
          <p:cNvSpPr txBox="1"/>
          <p:nvPr/>
        </p:nvSpPr>
        <p:spPr>
          <a:xfrm>
            <a:off x="564175" y="3485004"/>
            <a:ext cx="366127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原溶液中n(Mg²⁺)：n(Al³⁺)=5：2</a:t>
            </a:r>
          </a:p>
        </p:txBody>
      </p:sp>
      <p:sp>
        <p:nvSpPr>
          <p:cNvPr id="15" name="原题文字_215_12"/>
          <p:cNvSpPr txBox="1"/>
          <p:nvPr/>
        </p:nvSpPr>
        <p:spPr>
          <a:xfrm>
            <a:off x="6222634" y="4112871"/>
            <a:ext cx="238629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6" name="原题文字_215_13"/>
          <p:cNvSpPr txBox="1"/>
          <p:nvPr/>
        </p:nvSpPr>
        <p:spPr>
          <a:xfrm>
            <a:off x="6727990" y="4120527"/>
            <a:ext cx="246286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17" name="原题文字_215_14"/>
          <p:cNvSpPr txBox="1"/>
          <p:nvPr/>
        </p:nvSpPr>
        <p:spPr>
          <a:xfrm>
            <a:off x="8489080" y="4097557"/>
            <a:ext cx="1165116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30 33 35</a:t>
            </a:r>
          </a:p>
        </p:txBody>
      </p:sp>
      <p:sp>
        <p:nvSpPr>
          <p:cNvPr id="18" name="原题文字_215_15"/>
          <p:cNvSpPr txBox="1"/>
          <p:nvPr/>
        </p:nvSpPr>
        <p:spPr>
          <a:xfrm>
            <a:off x="10035777" y="4189440"/>
            <a:ext cx="130294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V(NaOH)/mL</a:t>
            </a:r>
          </a:p>
        </p:txBody>
      </p:sp>
      <p:sp>
        <p:nvSpPr>
          <p:cNvPr id="19" name="文字_单选题  ·  10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10-014</a:t>
            </a:r>
          </a:p>
        </p:txBody>
      </p:sp>
      <p:sp>
        <p:nvSpPr>
          <p:cNvPr id="20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变式5</a:t>
            </a:r>
          </a:p>
        </p:txBody>
      </p:sp>
      <p:sp>
        <p:nvSpPr>
          <p:cNvPr id="5" name="文字_P21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P215</a:t>
            </a:r>
          </a:p>
        </p:txBody>
      </p:sp>
      <p:sp>
        <p:nvSpPr>
          <p:cNvPr id="6" name="文字_向含Na₂CO₃、NaA₁O₂的混合溶液中逐滴加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向含Na₂CO₃、NaA₁O₂的混合溶液中逐滴加入150mL₁mol·L-1的HCl溶液，测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得溶液中的某几种离子物质的量的变化如图所示，则下列说法正确的是</a:t>
            </a:r>
          </a:p>
        </p:txBody>
      </p:sp>
      <p:sp>
        <p:nvSpPr>
          <p:cNvPr id="7" name="文字_A. b曲线表示的离子方程式为：AlO₂ + H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b曲线表示的离子方程式为：AlO₂ + H++H₂O=Al(OH)3↓ ______ ↑n/mol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2044395"/>
          </a:xfrm>
          <a:prstGeom prst="rect">
            <a:avLst/>
          </a:prstGeom>
        </p:spPr>
      </p:pic>
      <p:sp>
        <p:nvSpPr>
          <p:cNvPr id="9" name="原题文字_215_23"/>
          <p:cNvSpPr txBox="1"/>
          <p:nvPr/>
        </p:nvSpPr>
        <p:spPr>
          <a:xfrm>
            <a:off x="571832" y="2374382"/>
            <a:ext cx="3615328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d和c曲线表示的离子反应是相同的</a:t>
            </a:r>
          </a:p>
        </p:txBody>
      </p:sp>
      <p:sp>
        <p:nvSpPr>
          <p:cNvPr id="10" name="原题文字_215_24"/>
          <p:cNvSpPr txBox="1"/>
          <p:nvPr/>
        </p:nvSpPr>
        <p:spPr>
          <a:xfrm>
            <a:off x="6398743" y="2351411"/>
            <a:ext cx="728672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1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0.05</a:t>
            </a:r>
          </a:p>
        </p:txBody>
      </p:sp>
      <p:sp>
        <p:nvSpPr>
          <p:cNvPr id="11" name="原题文字_215_25"/>
          <p:cNvSpPr txBox="1"/>
          <p:nvPr/>
        </p:nvSpPr>
        <p:spPr>
          <a:xfrm>
            <a:off x="8244059" y="2550491"/>
            <a:ext cx="368797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2" name="原题文字_215_26"/>
          <p:cNvSpPr txBox="1"/>
          <p:nvPr/>
        </p:nvSpPr>
        <p:spPr>
          <a:xfrm>
            <a:off x="564175" y="2749571"/>
            <a:ext cx="328608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M点时Al(OH)₃的质量等于3.9g</a:t>
            </a:r>
          </a:p>
        </p:txBody>
      </p:sp>
      <p:sp>
        <p:nvSpPr>
          <p:cNvPr id="13" name="原题文字_215_27"/>
          <p:cNvSpPr txBox="1"/>
          <p:nvPr/>
        </p:nvSpPr>
        <p:spPr>
          <a:xfrm>
            <a:off x="7493682" y="2695972"/>
            <a:ext cx="29222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4" name="原题文字_215_28"/>
          <p:cNvSpPr txBox="1"/>
          <p:nvPr/>
        </p:nvSpPr>
        <p:spPr>
          <a:xfrm>
            <a:off x="9323684" y="2787855"/>
            <a:ext cx="27691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5" name="原题文字_215_29"/>
          <p:cNvSpPr txBox="1"/>
          <p:nvPr/>
        </p:nvSpPr>
        <p:spPr>
          <a:xfrm>
            <a:off x="571832" y="3147730"/>
            <a:ext cx="5223280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原混合溶液中的CO₂与A₁O₂的物质的量之比为1：2</a:t>
            </a:r>
          </a:p>
        </p:txBody>
      </p:sp>
      <p:sp>
        <p:nvSpPr>
          <p:cNvPr id="16" name="原题文字_215_30"/>
          <p:cNvSpPr txBox="1"/>
          <p:nvPr/>
        </p:nvSpPr>
        <p:spPr>
          <a:xfrm>
            <a:off x="9048035" y="3323839"/>
            <a:ext cx="475994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</a:t>
            </a:r>
          </a:p>
        </p:txBody>
      </p:sp>
      <p:sp>
        <p:nvSpPr>
          <p:cNvPr id="17" name="原题文字_215_31"/>
          <p:cNvSpPr txBox="1"/>
          <p:nvPr/>
        </p:nvSpPr>
        <p:spPr>
          <a:xfrm>
            <a:off x="6988325" y="3936392"/>
            <a:ext cx="276914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8" name="原题文字_215_32"/>
          <p:cNvSpPr txBox="1"/>
          <p:nvPr/>
        </p:nvSpPr>
        <p:spPr>
          <a:xfrm>
            <a:off x="7815272" y="3921079"/>
            <a:ext cx="47599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50</a:t>
            </a:r>
          </a:p>
        </p:txBody>
      </p:sp>
      <p:sp>
        <p:nvSpPr>
          <p:cNvPr id="19" name="原题文字_215_33"/>
          <p:cNvSpPr txBox="1"/>
          <p:nvPr/>
        </p:nvSpPr>
        <p:spPr>
          <a:xfrm>
            <a:off x="8626905" y="3921079"/>
            <a:ext cx="60616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100</a:t>
            </a:r>
          </a:p>
        </p:txBody>
      </p:sp>
      <p:sp>
        <p:nvSpPr>
          <p:cNvPr id="20" name="原题文字_215_34"/>
          <p:cNvSpPr txBox="1"/>
          <p:nvPr/>
        </p:nvSpPr>
        <p:spPr>
          <a:xfrm>
            <a:off x="9423224" y="3913422"/>
            <a:ext cx="62147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150</a:t>
            </a:r>
          </a:p>
        </p:txBody>
      </p:sp>
      <p:sp>
        <p:nvSpPr>
          <p:cNvPr id="21" name="原题文字_215_35"/>
          <p:cNvSpPr txBox="1"/>
          <p:nvPr/>
        </p:nvSpPr>
        <p:spPr>
          <a:xfrm>
            <a:off x="10005149" y="3913422"/>
            <a:ext cx="1371853" cy="5872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1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盐酸/mL</a:t>
            </a:r>
          </a:p>
        </p:txBody>
      </p:sp>
      <p:sp>
        <p:nvSpPr>
          <p:cNvPr id="22" name="文字_单选题  ·  10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10-015</a:t>
            </a:r>
          </a:p>
        </p:txBody>
      </p:sp>
      <p:sp>
        <p:nvSpPr>
          <p:cNvPr id="23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变式6</a:t>
            </a:r>
          </a:p>
        </p:txBody>
      </p:sp>
      <p:sp>
        <p:nvSpPr>
          <p:cNvPr id="5" name="文字_P21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P215</a:t>
            </a:r>
          </a:p>
        </p:txBody>
      </p:sp>
      <p:sp>
        <p:nvSpPr>
          <p:cNvPr id="6" name="文字_向100 mL 0.1 mol·L-1硫酸铝铵[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向100 mL 0.1 mol·L-1硫酸铝铵[NH₄A₁(SO₄)₂]溶液中逐滴滴入0.1 mol·L-1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Ba(OH)₂溶液。随着 Ba(OH)₂溶液体积V的变化，沉淀总物质的量n的变化如图所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示。则下列说法中正确的是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1830002"/>
          </a:xfrm>
          <a:prstGeom prst="rect">
            <a:avLst/>
          </a:prstGeom>
        </p:spPr>
      </p:pic>
      <p:sp>
        <p:nvSpPr>
          <p:cNvPr id="8" name="原题文字_215_41"/>
          <p:cNvSpPr txBox="1"/>
          <p:nvPr/>
        </p:nvSpPr>
        <p:spPr>
          <a:xfrm>
            <a:off x="556518" y="2275211"/>
            <a:ext cx="780366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a点发生反应的离子方程式是: Al³⁺+2SO₄²⁻+2Ba²⁺+3OH=Al(OH)₃↓+2BaSO₄↓</a:t>
            </a:r>
          </a:p>
        </p:txBody>
      </p:sp>
      <p:sp>
        <p:nvSpPr>
          <p:cNvPr id="9" name="原题文字_215_42"/>
          <p:cNvSpPr txBox="1"/>
          <p:nvPr/>
        </p:nvSpPr>
        <p:spPr>
          <a:xfrm>
            <a:off x="8458453" y="2282868"/>
            <a:ext cx="927752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n/mol</a:t>
            </a:r>
          </a:p>
        </p:txBody>
      </p:sp>
      <p:sp>
        <p:nvSpPr>
          <p:cNvPr id="10" name="原题文字_215_43"/>
          <p:cNvSpPr txBox="1"/>
          <p:nvPr/>
        </p:nvSpPr>
        <p:spPr>
          <a:xfrm>
            <a:off x="9576362" y="2420693"/>
            <a:ext cx="26160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1" name="原题文字_215_44"/>
          <p:cNvSpPr txBox="1"/>
          <p:nvPr/>
        </p:nvSpPr>
        <p:spPr>
          <a:xfrm>
            <a:off x="571832" y="2688685"/>
            <a:ext cx="245913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沉淀的质量：a点&gt;c点</a:t>
            </a:r>
          </a:p>
        </p:txBody>
      </p:sp>
      <p:sp>
        <p:nvSpPr>
          <p:cNvPr id="12" name="原题文字_215_45"/>
          <p:cNvSpPr txBox="1"/>
          <p:nvPr/>
        </p:nvSpPr>
        <p:spPr>
          <a:xfrm>
            <a:off x="9063349" y="2795881"/>
            <a:ext cx="230973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3" name="原题文字_215_46"/>
          <p:cNvSpPr txBox="1"/>
          <p:nvPr/>
        </p:nvSpPr>
        <p:spPr>
          <a:xfrm>
            <a:off x="10089375" y="2887764"/>
            <a:ext cx="230973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4" name="原题文字_215_47"/>
          <p:cNvSpPr txBox="1"/>
          <p:nvPr/>
        </p:nvSpPr>
        <p:spPr>
          <a:xfrm>
            <a:off x="556518" y="3048560"/>
            <a:ext cx="7742405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从a→b、b→c点过程中发生反应的离子方程式依次为：NH₄⁺+OH=NH₃·H₂O，</a:t>
            </a:r>
          </a:p>
        </p:txBody>
      </p:sp>
      <p:sp>
        <p:nvSpPr>
          <p:cNvPr id="15" name="原题文字_215_48"/>
          <p:cNvSpPr txBox="1"/>
          <p:nvPr/>
        </p:nvSpPr>
        <p:spPr>
          <a:xfrm>
            <a:off x="908736" y="3400778"/>
            <a:ext cx="2750097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Al(OH)3 + OH− = Al(OH)−</a:t>
            </a:r>
          </a:p>
        </p:txBody>
      </p:sp>
      <p:sp>
        <p:nvSpPr>
          <p:cNvPr id="16" name="原题文字_215_49"/>
          <p:cNvSpPr txBox="1"/>
          <p:nvPr/>
        </p:nvSpPr>
        <p:spPr>
          <a:xfrm>
            <a:off x="10571761" y="3553916"/>
            <a:ext cx="766956" cy="48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V/mL</a:t>
            </a:r>
          </a:p>
        </p:txBody>
      </p:sp>
      <p:sp>
        <p:nvSpPr>
          <p:cNvPr id="17" name="原题文字_215_50"/>
          <p:cNvSpPr txBox="1"/>
          <p:nvPr/>
        </p:nvSpPr>
        <p:spPr>
          <a:xfrm>
            <a:off x="571832" y="3768309"/>
            <a:ext cx="3691897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b点消耗Ba(OH)₂溶液体积为200mL</a:t>
            </a:r>
          </a:p>
        </p:txBody>
      </p:sp>
      <p:sp>
        <p:nvSpPr>
          <p:cNvPr id="18" name="文字_单选题  ·  10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10-016</a:t>
            </a:r>
          </a:p>
        </p:txBody>
      </p:sp>
      <p:sp>
        <p:nvSpPr>
          <p:cNvPr id="19" name="文字_2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3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4" name="文字_合金的概念与性质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合金的概念与性质</a:t>
            </a:r>
          </a:p>
        </p:txBody>
      </p:sp>
      <p:sp>
        <p:nvSpPr>
          <p:cNvPr id="5" name="文字_知识梳理 · 讲义 P216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合金的概念与性质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合金的概念与性质</a:t>
            </a:r>
          </a:p>
        </p:txBody>
      </p:sp>
      <p:sp>
        <p:nvSpPr>
          <p:cNvPr id="5" name="文字_知识讲解 · P21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合金：两种或两种以上金属（或金属与非金属）熔合而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合金：两种或两种以上金属（或金属与非金属）熔合而成的、具有金属特性的物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合金一定是混合物；成分含量影响性能。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合金一定是混合物；成分含量影响性能。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纯金属相比：硬度更大、熔点更低、导电导热性略差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与纯金属相比：硬度更大、熔点更低、导电导热性略差。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生铁含碳 2%～4.3%；钢含碳 0.03%～2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生铁含碳 2%～4.3%；钢含碳 0.03%～2%。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不锈钢是含铬 12%～30% 的合金钢，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不锈钢是含铬 12%～30% 的合金钢，加铬镍防锈。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变式7</a:t>
            </a:r>
          </a:p>
        </p:txBody>
      </p:sp>
      <p:sp>
        <p:nvSpPr>
          <p:cNvPr id="5" name="文字_P21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P216</a:t>
            </a:r>
          </a:p>
        </p:txBody>
      </p:sp>
      <p:sp>
        <p:nvSpPr>
          <p:cNvPr id="6" name="文字_向20mLA₁Cl₃溶液中滴入2mol·L-1N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向20mLA₁Cl₃溶液中滴入2mol·L-1NaOH溶液时，沉淀质量与所滴加NaOH溶液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体积(mL)关系如图所示：</a:t>
            </a:r>
          </a:p>
        </p:txBody>
      </p:sp>
      <p:sp>
        <p:nvSpPr>
          <p:cNvPr id="7" name="文字_↑沉淀的量（g）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↑沉淀的量（g）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1929542"/>
          </a:xfrm>
          <a:prstGeom prst="rect">
            <a:avLst/>
          </a:prstGeom>
        </p:spPr>
      </p:pic>
      <p:sp>
        <p:nvSpPr>
          <p:cNvPr id="9" name="原题文字_216_5"/>
          <p:cNvSpPr txBox="1"/>
          <p:nvPr/>
        </p:nvSpPr>
        <p:spPr>
          <a:xfrm>
            <a:off x="571832" y="2351411"/>
            <a:ext cx="613818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0. 78</a:t>
            </a:r>
          </a:p>
        </p:txBody>
      </p:sp>
      <p:sp>
        <p:nvSpPr>
          <p:cNvPr id="10" name="原题文字_216_6"/>
          <p:cNvSpPr txBox="1"/>
          <p:nvPr/>
        </p:nvSpPr>
        <p:spPr>
          <a:xfrm>
            <a:off x="2286980" y="2359068"/>
            <a:ext cx="200345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1" name="原题文字_216_7"/>
          <p:cNvSpPr txBox="1"/>
          <p:nvPr/>
        </p:nvSpPr>
        <p:spPr>
          <a:xfrm>
            <a:off x="2585600" y="3683714"/>
            <a:ext cx="307542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2" name="原题文字_216_8"/>
          <p:cNvSpPr txBox="1"/>
          <p:nvPr/>
        </p:nvSpPr>
        <p:spPr>
          <a:xfrm>
            <a:off x="1123129" y="3944049"/>
            <a:ext cx="230973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3" name="原题文字_216_9"/>
          <p:cNvSpPr txBox="1"/>
          <p:nvPr/>
        </p:nvSpPr>
        <p:spPr>
          <a:xfrm>
            <a:off x="3106270" y="3974677"/>
            <a:ext cx="1524991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NaOH溶液（mL）</a:t>
            </a:r>
          </a:p>
        </p:txBody>
      </p:sp>
      <p:sp>
        <p:nvSpPr>
          <p:cNvPr id="14" name="文字_(1)OA段离子方程式"/>
          <p:cNvSpPr txBox="1"/>
          <p:nvPr/>
        </p:nvSpPr>
        <p:spPr>
          <a:xfrm>
            <a:off x="502920" y="432222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(1)OA段离子方程式</a:t>
            </a:r>
          </a:p>
        </p:txBody>
      </p:sp>
      <p:sp>
        <p:nvSpPr>
          <p:cNvPr id="15" name="文字_(2)AB段离子方程式"/>
          <p:cNvSpPr txBox="1"/>
          <p:nvPr/>
        </p:nvSpPr>
        <p:spPr>
          <a:xfrm>
            <a:off x="502920" y="476113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(2)AB段离子方程式</a:t>
            </a:r>
          </a:p>
        </p:txBody>
      </p:sp>
      <p:sp>
        <p:nvSpPr>
          <p:cNvPr id="16" name="文字_(3) 假设溶液中有Al(OH)₃沉淀0.39g"/>
          <p:cNvSpPr txBox="1"/>
          <p:nvPr/>
        </p:nvSpPr>
        <p:spPr>
          <a:xfrm>
            <a:off x="502920" y="520004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假设溶液中有Al(OH)₃沉淀0.39g，则此时用去NaOH溶液的体积为</a:t>
            </a:r>
          </a:p>
        </p:txBody>
      </p:sp>
      <p:sp>
        <p:nvSpPr>
          <p:cNvPr id="17" name="文字_填空题  ·  10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10-017</a:t>
            </a:r>
          </a:p>
        </p:txBody>
      </p:sp>
      <p:sp>
        <p:nvSpPr>
          <p:cNvPr id="18" name="文字_2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铝的化合物的性质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铝的化合物的性质 · 变式8</a:t>
            </a:r>
          </a:p>
        </p:txBody>
      </p:sp>
      <p:sp>
        <p:nvSpPr>
          <p:cNvPr id="5" name="文字_P21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P216</a:t>
            </a:r>
          </a:p>
        </p:txBody>
      </p:sp>
      <p:sp>
        <p:nvSpPr>
          <p:cNvPr id="6" name="文字_完成下列计算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完成下列计算。</a:t>
            </a:r>
          </a:p>
        </p:txBody>
      </p:sp>
      <p:sp>
        <p:nvSpPr>
          <p:cNvPr id="7" name="文字_(1)把10.2g镁铝合金的粉末放入过量的盐酸中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(1)把10.2g镁铝合金的粉末放入过量的盐酸中，得到11.2LH₂（标准状况下)，试计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算合金中镁的质量分数为</a:t>
            </a:r>
          </a:p>
        </p:txBody>
      </p:sp>
      <p:sp>
        <p:nvSpPr>
          <p:cNvPr id="8" name="文字_o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</a:t>
            </a:r>
          </a:p>
        </p:txBody>
      </p:sp>
      <p:sp>
        <p:nvSpPr>
          <p:cNvPr id="9" name="文字_(2) 把等量的合金放入过量的NaOH溶液中，消"/>
          <p:cNvSpPr txBox="1"/>
          <p:nvPr/>
        </p:nvSpPr>
        <p:spPr>
          <a:xfrm>
            <a:off x="502920" y="27584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把等量的合金放入过量的NaOH溶液中，消耗的NaOH的物质的量为 ______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molo</a:t>
            </a:r>
          </a:p>
        </p:txBody>
      </p:sp>
      <p:sp>
        <p:nvSpPr>
          <p:cNvPr id="10" name="文字_填空题  ·  10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10-018</a:t>
            </a:r>
          </a:p>
        </p:txBody>
      </p:sp>
      <p:sp>
        <p:nvSpPr>
          <p:cNvPr id="11" name="文字_2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4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4" name="文字_常见合金的分类与用途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常见合金的分类与用途</a:t>
            </a:r>
          </a:p>
        </p:txBody>
      </p:sp>
      <p:sp>
        <p:nvSpPr>
          <p:cNvPr id="5" name="文字_知识梳理 · 讲义 P21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P217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常见合金的分类与用途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常见合金的分类与用途</a:t>
            </a:r>
          </a:p>
        </p:txBody>
      </p:sp>
      <p:sp>
        <p:nvSpPr>
          <p:cNvPr id="5" name="文字_知识讲解 · P21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357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代表组成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主要用途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铁合金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生铁、碳素钢、合金钢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建筑、机械、不锈钢餐具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铝合金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硬铝：Cu 4%、Mg 0.5%、Mn 0.5%、Si 0.7%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飞机、火箭、轮船制造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钛合金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含铝 6%、钒 4%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航空、宇航、化工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铜合金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青铜（锡铅）、黄铜（Cu-Zn）、白铜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精密仪器、装饰品、机械零件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金合金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金加银、铜、稀土等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首饰、电子元件、笔尖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54853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黄铜外观似金（古代称&quot;药金&quot;），但密度比"/>
          <p:cNvSpPr txBox="1"/>
          <p:nvPr/>
        </p:nvSpPr>
        <p:spPr>
          <a:xfrm>
            <a:off x="630936" y="55448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黄铜外观似金（古代称"药金"），但密度比黄金小，可据此鉴别。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例题1</a:t>
            </a:r>
          </a:p>
        </p:txBody>
      </p:sp>
      <p:sp>
        <p:nvSpPr>
          <p:cNvPr id="5" name="文字_P21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P218</a:t>
            </a:r>
          </a:p>
        </p:txBody>
      </p:sp>
      <p:sp>
        <p:nvSpPr>
          <p:cNvPr id="6" name="文字_（1）钢制品、铝制品在日常生活中被广泛应用是因为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（1）钢制品、铝制品在日常生活中被广泛应用是因为铁、铝为活泼金属（）</a:t>
            </a:r>
          </a:p>
        </p:txBody>
      </p:sp>
      <p:sp>
        <p:nvSpPr>
          <p:cNvPr id="7" name="文字_（2）铝合金可用于高铁建设、航空工业（）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（2）铝合金可用于高铁建设、航空工业（）</a:t>
            </a:r>
          </a:p>
        </p:txBody>
      </p:sp>
      <p:sp>
        <p:nvSpPr>
          <p:cNvPr id="8" name="文字_(3）铁合金包括生铁和钢，二者均含碳元素（）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(3）铁合金包括生铁和钢，二者均含碳元素（）</a:t>
            </a:r>
          </a:p>
        </p:txBody>
      </p:sp>
      <p:sp>
        <p:nvSpPr>
          <p:cNvPr id="9" name="文字_(4）合金的熔点和硬度均比其成分金属的高或大（）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(4）合金的熔点和硬度均比其成分金属的高或大（）</a:t>
            </a:r>
          </a:p>
        </p:txBody>
      </p:sp>
      <p:sp>
        <p:nvSpPr>
          <p:cNvPr id="10" name="文字_(5）合金一定是不同金属熔合而成的具有金属特性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(5）合金一定是不同金属熔合而成的具有金属特性的化合物（）</a:t>
            </a:r>
          </a:p>
        </p:txBody>
      </p:sp>
      <p:sp>
        <p:nvSpPr>
          <p:cNvPr id="11" name="文字_(6)目前我国流通的硬币是由合金材料制造的（)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(6)目前我国流通的硬币是由合金材料制造的（)</a:t>
            </a:r>
          </a:p>
        </p:txBody>
      </p:sp>
      <p:sp>
        <p:nvSpPr>
          <p:cNvPr id="12" name="文字_(7) 组成元素相同的合金性能相同（）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 组成元素相同的合金性能相同（）</a:t>
            </a:r>
          </a:p>
        </p:txBody>
      </p:sp>
      <p:sp>
        <p:nvSpPr>
          <p:cNvPr id="13" name="文字_(8）储氢合金是一类能够大量吸收氢气，并与氢气结"/>
          <p:cNvSpPr txBox="1"/>
          <p:nvPr/>
        </p:nvSpPr>
        <p:spPr>
          <a:xfrm>
            <a:off x="502920" y="415137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(8）储氢合金是一类能够大量吸收氢气，并与氢气结合成金属氢化物的新型合金材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料（）</a:t>
            </a:r>
          </a:p>
        </p:txBody>
      </p:sp>
      <p:sp>
        <p:nvSpPr>
          <p:cNvPr id="14" name="文字_(9)储氢合金形成的金属氢化物性质稳定，高温条件"/>
          <p:cNvSpPr txBox="1"/>
          <p:nvPr/>
        </p:nvSpPr>
        <p:spPr>
          <a:xfrm>
            <a:off x="502920" y="49530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(9)储氢合金形成的金属氢化物性质稳定，高温条件下也不易分解</a:t>
            </a:r>
          </a:p>
        </p:txBody>
      </p:sp>
      <p:sp>
        <p:nvSpPr>
          <p:cNvPr id="15" name="文字_(10）记忆合金的形状变化属于化学变化（）"/>
          <p:cNvSpPr txBox="1"/>
          <p:nvPr/>
        </p:nvSpPr>
        <p:spPr>
          <a:xfrm>
            <a:off x="502920" y="53919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(10）记忆合金的形状变化属于化学变化（）</a:t>
            </a:r>
          </a:p>
        </p:txBody>
      </p:sp>
      <p:sp>
        <p:nvSpPr>
          <p:cNvPr id="16" name="文字_判断题  ·  10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判断题  ·  10-019</a:t>
            </a:r>
          </a:p>
        </p:txBody>
      </p:sp>
      <p:sp>
        <p:nvSpPr>
          <p:cNvPr id="17" name="文字_3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例题2</a:t>
            </a:r>
          </a:p>
        </p:txBody>
      </p:sp>
      <p:sp>
        <p:nvSpPr>
          <p:cNvPr id="5" name="文字_P21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P218</a:t>
            </a:r>
          </a:p>
        </p:txBody>
      </p:sp>
      <p:sp>
        <p:nvSpPr>
          <p:cNvPr id="6" name="文字_下列关于合金的说法中，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下列关于合金的说法中，不正确的是（）</a:t>
            </a:r>
          </a:p>
        </p:txBody>
      </p:sp>
      <p:sp>
        <p:nvSpPr>
          <p:cNvPr id="7" name="文字_A. 合金与各成分金属相比，具有许多优良的物理、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合金与各成分金属相比，具有许多优良的物理、化学或机械性能</a:t>
            </a:r>
          </a:p>
        </p:txBody>
      </p:sp>
      <p:sp>
        <p:nvSpPr>
          <p:cNvPr id="8" name="文字_B. 钢的含碳量为0.03%～2%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钢的含碳量为0.03%～2%</a:t>
            </a:r>
          </a:p>
        </p:txBody>
      </p:sp>
      <p:sp>
        <p:nvSpPr>
          <p:cNvPr id="9" name="文字_C. 铝合金是目前用量最大、用途最广的合金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铝合金是目前用量最大、用途最广的合金</a:t>
            </a:r>
          </a:p>
        </p:txBody>
      </p:sp>
      <p:sp>
        <p:nvSpPr>
          <p:cNvPr id="10" name="文字_D. 在合金中加入适量的稀土金属，能大大改善合金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在合金中加入适量的稀土金属，能大大改善合金的性能</a:t>
            </a:r>
          </a:p>
        </p:txBody>
      </p:sp>
      <p:sp>
        <p:nvSpPr>
          <p:cNvPr id="11" name="文字_单选题  ·  10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10-020</a:t>
            </a:r>
          </a:p>
        </p:txBody>
      </p:sp>
      <p:sp>
        <p:nvSpPr>
          <p:cNvPr id="12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例题3</a:t>
            </a:r>
          </a:p>
        </p:txBody>
      </p:sp>
      <p:sp>
        <p:nvSpPr>
          <p:cNvPr id="5" name="文字_P21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P218</a:t>
            </a:r>
          </a:p>
        </p:txBody>
      </p:sp>
      <p:sp>
        <p:nvSpPr>
          <p:cNvPr id="6" name="文字_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</a:t>
            </a:r>
          </a:p>
        </p:txBody>
      </p:sp>
      <p:sp>
        <p:nvSpPr>
          <p:cNvPr id="7" name="文字_A. 生铁和钢都属于铁合金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生铁和钢都属于铁合金</a:t>
            </a:r>
          </a:p>
        </p:txBody>
      </p:sp>
      <p:sp>
        <p:nvSpPr>
          <p:cNvPr id="8" name="文字_B. 铝合金是用途最广的合金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铝合金是用途最广的合金</a:t>
            </a:r>
          </a:p>
        </p:txBody>
      </p:sp>
      <p:sp>
        <p:nvSpPr>
          <p:cNvPr id="9" name="文字_C. 钠钾合金的熔点比钠低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钠钾合金的熔点比钠低</a:t>
            </a:r>
          </a:p>
        </p:txBody>
      </p:sp>
      <p:sp>
        <p:nvSpPr>
          <p:cNvPr id="10" name="文字_D. 不锈钢的硬度比纯铁大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不锈钢的硬度比纯铁大</a:t>
            </a:r>
          </a:p>
        </p:txBody>
      </p:sp>
      <p:sp>
        <p:nvSpPr>
          <p:cNvPr id="11" name="文字_单选题  ·  10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10-021</a:t>
            </a:r>
          </a:p>
        </p:txBody>
      </p:sp>
      <p:sp>
        <p:nvSpPr>
          <p:cNvPr id="12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例题4</a:t>
            </a:r>
          </a:p>
        </p:txBody>
      </p:sp>
      <p:sp>
        <p:nvSpPr>
          <p:cNvPr id="5" name="文字_P21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P219</a:t>
            </a:r>
          </a:p>
        </p:txBody>
      </p:sp>
      <p:sp>
        <p:nvSpPr>
          <p:cNvPr id="6" name="文字_新型镁合金被大量应用于制成笔记本电脑外壳、竞赛自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新型镁合金被大量应用于制成笔记本电脑外壳、竞赛自行车框架等，这说明镁合金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具有的优异性能是</a:t>
            </a:r>
          </a:p>
        </p:txBody>
      </p:sp>
      <p:sp>
        <p:nvSpPr>
          <p:cNvPr id="7" name="文字_①熔点低 ②硬度大 ③延展性好 ④导电性强 ⑤密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①熔点低 ②硬度大 ③延展性好 ④导电性强 ⑤密度小 ⑥耐腐蚀</a:t>
            </a:r>
          </a:p>
        </p:txBody>
      </p:sp>
      <p:sp>
        <p:nvSpPr>
          <p:cNvPr id="8" name="文字_A. ①②③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①②③</a:t>
            </a:r>
          </a:p>
        </p:txBody>
      </p:sp>
      <p:sp>
        <p:nvSpPr>
          <p:cNvPr id="9" name="文字_B. ②③④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②③④</a:t>
            </a:r>
          </a:p>
        </p:txBody>
      </p:sp>
      <p:sp>
        <p:nvSpPr>
          <p:cNvPr id="10" name="文字_C. ①③⑥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①③⑥</a:t>
            </a:r>
          </a:p>
        </p:txBody>
      </p:sp>
      <p:sp>
        <p:nvSpPr>
          <p:cNvPr id="11" name="文字_D. ②⑤⑥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②⑤⑥</a:t>
            </a:r>
          </a:p>
        </p:txBody>
      </p:sp>
      <p:sp>
        <p:nvSpPr>
          <p:cNvPr id="12" name="文字_单选题  ·  10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10-022</a:t>
            </a:r>
          </a:p>
        </p:txBody>
      </p:sp>
      <p:sp>
        <p:nvSpPr>
          <p:cNvPr id="13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例题5</a:t>
            </a:r>
          </a:p>
        </p:txBody>
      </p:sp>
      <p:sp>
        <p:nvSpPr>
          <p:cNvPr id="5" name="文字_P21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P219</a:t>
            </a:r>
          </a:p>
        </p:txBody>
      </p:sp>
      <p:sp>
        <p:nvSpPr>
          <p:cNvPr id="6" name="文字_金属材料与我们生活息息相关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金属材料与我们生活息息相关。</a:t>
            </a:r>
          </a:p>
        </p:txBody>
      </p:sp>
      <p:sp>
        <p:nvSpPr>
          <p:cNvPr id="7" name="文字_(1） 从物质分类角度看，合金属于 ______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 从物质分类角度看，合金属于 ______ (填“纯净物”或“混合物”)。</a:t>
            </a:r>
          </a:p>
        </p:txBody>
      </p:sp>
      <p:sp>
        <p:nvSpPr>
          <p:cNvPr id="8" name="文字_(2) 将硬铝片和铝片互相刻画， ______ 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将硬铝片和铝片互相刻画， ______ (填“硬铝”或“铝”）片上留下明显划痕。</a:t>
            </a:r>
          </a:p>
        </p:txBody>
      </p:sp>
      <p:sp>
        <p:nvSpPr>
          <p:cNvPr id="9" name="文字_(3)“辽宁”号航母舰体外壳涂上防锈漆可防止生锈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(3)“辽宁”号航母舰体外壳涂上防锈漆可防止生锈，其原理是 ______ o</a:t>
            </a:r>
          </a:p>
        </p:txBody>
      </p:sp>
      <p:sp>
        <p:nvSpPr>
          <p:cNvPr id="10" name="文字_(4）C₉₁₉大飞机制造中，用纯铝太软，在铝中加"/>
          <p:cNvSpPr txBox="1"/>
          <p:nvPr/>
        </p:nvSpPr>
        <p:spPr>
          <a:xfrm>
            <a:off x="502920" y="28346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(4）C₉₁₉大飞机制造中，用纯铝太软，在铝中加入了少量的锂（Li）等金属熔成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合金，这样既轻便，又能增强它的 ______ 和抗腐蚀性。</a:t>
            </a:r>
          </a:p>
        </p:txBody>
      </p:sp>
      <p:sp>
        <p:nvSpPr>
          <p:cNvPr id="11" name="文字_(5）锂电池广泛用于手机和笔记本电脑等电子产品中"/>
          <p:cNvSpPr txBox="1"/>
          <p:nvPr/>
        </p:nvSpPr>
        <p:spPr>
          <a:xfrm>
            <a:off x="502920" y="363626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(5）锂电池广泛用于手机和笔记本电脑等电子产品中。锂-氯化银电池反应的化学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方程式为：</a:t>
            </a:r>
          </a:p>
        </p:txBody>
      </p:sp>
      <p:sp>
        <p:nvSpPr>
          <p:cNvPr id="12" name="文字_Li + AgCl=LiCl + Ag，可知Li"/>
          <p:cNvSpPr txBox="1"/>
          <p:nvPr/>
        </p:nvSpPr>
        <p:spPr>
          <a:xfrm>
            <a:off x="502920" y="44378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Li + AgCl=LiCl + Ag，可知Li的金属活动性比Ag的 ______ (填“强”或“弱”)。</a:t>
            </a:r>
          </a:p>
        </p:txBody>
      </p:sp>
      <p:sp>
        <p:nvSpPr>
          <p:cNvPr id="13" name="文字_(6)回收利用废旧的铁锅、铝锅的意义是 ____"/>
          <p:cNvSpPr txBox="1"/>
          <p:nvPr/>
        </p:nvSpPr>
        <p:spPr>
          <a:xfrm>
            <a:off x="502920" y="48768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(6)回收利用废旧的铁锅、铝锅的意义是 ______ 。(答一点即可)</a:t>
            </a:r>
          </a:p>
        </p:txBody>
      </p:sp>
      <p:sp>
        <p:nvSpPr>
          <p:cNvPr id="14" name="文字_填空题  ·  10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10-023</a:t>
            </a:r>
          </a:p>
        </p:txBody>
      </p:sp>
      <p:sp>
        <p:nvSpPr>
          <p:cNvPr id="15" name="文字_3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变式1</a:t>
            </a:r>
          </a:p>
        </p:txBody>
      </p:sp>
      <p:sp>
        <p:nvSpPr>
          <p:cNvPr id="5" name="文字_P21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P219</a:t>
            </a:r>
          </a:p>
        </p:txBody>
      </p:sp>
      <p:sp>
        <p:nvSpPr>
          <p:cNvPr id="6" name="文字_东晋《华阳国志·南中志》卷四中有关于白铜的记载，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东晋《华阳国志·南中志》卷四中有关于白铜的记载，云南镍白铜（铜镍合金）闻名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中外，曾主要用于造币，亦可用于制作仿银饰品。下列说法正确的是（）</a:t>
            </a:r>
          </a:p>
        </p:txBody>
      </p:sp>
      <p:sp>
        <p:nvSpPr>
          <p:cNvPr id="7" name="文字_A. 镍白铜是纯净物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镍白铜是纯净物</a:t>
            </a:r>
          </a:p>
        </p:txBody>
      </p:sp>
      <p:sp>
        <p:nvSpPr>
          <p:cNvPr id="8" name="文字_B. 镍白铜硬度小于纯铜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镍白铜硬度小于纯铜</a:t>
            </a:r>
          </a:p>
        </p:txBody>
      </p:sp>
      <p:sp>
        <p:nvSpPr>
          <p:cNvPr id="9" name="文字_C. 镍白铜熔点高于纯铜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镍白铜熔点高于纯铜</a:t>
            </a:r>
          </a:p>
        </p:txBody>
      </p:sp>
      <p:sp>
        <p:nvSpPr>
          <p:cNvPr id="10" name="文字_D. 镍白铜和青铜都是铜合金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镍白铜和青铜都是铜合金</a:t>
            </a:r>
          </a:p>
        </p:txBody>
      </p:sp>
      <p:sp>
        <p:nvSpPr>
          <p:cNvPr id="11" name="文字_单选题  ·  10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10-024</a:t>
            </a:r>
          </a:p>
        </p:txBody>
      </p:sp>
      <p:sp>
        <p:nvSpPr>
          <p:cNvPr id="12" name="文字_3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变式2</a:t>
            </a:r>
          </a:p>
        </p:txBody>
      </p:sp>
      <p:sp>
        <p:nvSpPr>
          <p:cNvPr id="5" name="文字_P21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P219</a:t>
            </a:r>
          </a:p>
        </p:txBody>
      </p:sp>
      <p:sp>
        <p:nvSpPr>
          <p:cNvPr id="6" name="文字_化学与生产、生活密切相关，下列说法错误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化学与生产、生活密切相关，下列说法错误的是</a:t>
            </a:r>
          </a:p>
        </p:txBody>
      </p:sp>
      <p:sp>
        <p:nvSpPr>
          <p:cNvPr id="7" name="文字_A. “超级钢”属于合金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“超级钢”属于合金</a:t>
            </a:r>
          </a:p>
        </p:txBody>
      </p:sp>
      <p:sp>
        <p:nvSpPr>
          <p:cNvPr id="8" name="文字_B. 合金的熔点比各成分金属的高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合金的熔点比各成分金属的高</a:t>
            </a:r>
          </a:p>
        </p:txBody>
      </p:sp>
      <p:sp>
        <p:nvSpPr>
          <p:cNvPr id="9" name="文字_C. 储氢金属可用于解决氢能储存和运输难题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储氢金属可用于解决氢能储存和运输难题</a:t>
            </a:r>
          </a:p>
        </p:txBody>
      </p:sp>
      <p:sp>
        <p:nvSpPr>
          <p:cNvPr id="10" name="文字_D. 不锈钢在大气中比较稳定，不容易生锈，有很强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不锈钢在大气中比较稳定，不容易生锈，有很强的抗腐蚀性能</a:t>
            </a:r>
          </a:p>
        </p:txBody>
      </p:sp>
      <p:sp>
        <p:nvSpPr>
          <p:cNvPr id="11" name="文字_单选题  ·  10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10-025</a:t>
            </a:r>
          </a:p>
        </p:txBody>
      </p:sp>
      <p:sp>
        <p:nvSpPr>
          <p:cNvPr id="12" name="文字_3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变式3</a:t>
            </a:r>
          </a:p>
        </p:txBody>
      </p:sp>
      <p:sp>
        <p:nvSpPr>
          <p:cNvPr id="5" name="文字_P22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P220</a:t>
            </a:r>
          </a:p>
        </p:txBody>
      </p:sp>
      <p:sp>
        <p:nvSpPr>
          <p:cNvPr id="6" name="文字_金属、金属材料的性质在很大程度上决定了它们的用途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金属、金属材料的性质在很大程度上决定了它们的用途。下列相关说法中不正确的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是（）</a:t>
            </a:r>
          </a:p>
        </p:txBody>
      </p:sp>
      <p:sp>
        <p:nvSpPr>
          <p:cNvPr id="7" name="文字_A. 钛合金与人体具有很好的“相容性”，可以用来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钛合金与人体具有很好的“相容性”，可以用来制造人造骨酪</a:t>
            </a:r>
          </a:p>
        </p:txBody>
      </p:sp>
      <p:sp>
        <p:nvSpPr>
          <p:cNvPr id="8" name="文字_B. 铁具有良好的导热性，可以用于制造炊具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铁具有良好的导热性，可以用于制造炊具</a:t>
            </a:r>
          </a:p>
        </p:txBody>
      </p:sp>
      <p:sp>
        <p:nvSpPr>
          <p:cNvPr id="9" name="文字_C. 不锈钢抗腐蚀性好，常用于制造医疗器械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不锈钢抗腐蚀性好，常用于制造医疗器械</a:t>
            </a:r>
          </a:p>
        </p:txBody>
      </p:sp>
      <p:sp>
        <p:nvSpPr>
          <p:cNvPr id="10" name="文字_D. 铝合金熔点低，可用于高铁建设、航空工业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铝合金熔点低，可用于高铁建设、航空工业</a:t>
            </a:r>
          </a:p>
        </p:txBody>
      </p:sp>
      <p:sp>
        <p:nvSpPr>
          <p:cNvPr id="11" name="文字_单选题  ·  10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10-026</a:t>
            </a:r>
          </a:p>
        </p:txBody>
      </p:sp>
      <p:sp>
        <p:nvSpPr>
          <p:cNvPr id="12" name="文字_3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变式4</a:t>
            </a:r>
          </a:p>
        </p:txBody>
      </p:sp>
      <p:sp>
        <p:nvSpPr>
          <p:cNvPr id="5" name="文字_P22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P220</a:t>
            </a:r>
          </a:p>
        </p:txBody>
      </p:sp>
      <p:sp>
        <p:nvSpPr>
          <p:cNvPr id="6" name="文字_合金比纯金属制成的金属材料的优点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合金比纯金属制成的金属材料的优点是（）</a:t>
            </a:r>
          </a:p>
        </p:txBody>
      </p:sp>
      <p:sp>
        <p:nvSpPr>
          <p:cNvPr id="7" name="文字_①合金的硬度一般比它的各成分金属的大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①合金的硬度一般比它的各成分金属的大</a:t>
            </a:r>
          </a:p>
        </p:txBody>
      </p:sp>
      <p:sp>
        <p:nvSpPr>
          <p:cNvPr id="8" name="文字_②一般地，合金的熔点比它的各成分金属的更低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②一般地，合金的熔点比它的各成分金属的更低</a:t>
            </a:r>
          </a:p>
        </p:txBody>
      </p:sp>
      <p:sp>
        <p:nvSpPr>
          <p:cNvPr id="9" name="文字_③改变原料的配比、改变生成合金的条件，得到有不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③改变原料的配比、改变生成合金的条件，得到有不同性能的合金</a:t>
            </a:r>
          </a:p>
        </p:txBody>
      </p:sp>
      <p:sp>
        <p:nvSpPr>
          <p:cNvPr id="10" name="文字_④合金比纯金属的导电性更强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④合金比纯金属的导电性更强</a:t>
            </a:r>
          </a:p>
        </p:txBody>
      </p:sp>
      <p:sp>
        <p:nvSpPr>
          <p:cNvPr id="11" name="文字_⑤合金比纯金属的应用范围更广泛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⑤合金比纯金属的应用范围更广泛</a:t>
            </a:r>
          </a:p>
        </p:txBody>
      </p:sp>
      <p:sp>
        <p:nvSpPr>
          <p:cNvPr id="12" name="文字_A. ①②③⑤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①②③⑤</a:t>
            </a:r>
          </a:p>
        </p:txBody>
      </p:sp>
      <p:sp>
        <p:nvSpPr>
          <p:cNvPr id="13" name="文字_B. ②③④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②③④</a:t>
            </a:r>
          </a:p>
        </p:txBody>
      </p:sp>
      <p:sp>
        <p:nvSpPr>
          <p:cNvPr id="14" name="文字_C. ①②④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①②④</a:t>
            </a:r>
          </a:p>
        </p:txBody>
      </p:sp>
      <p:sp>
        <p:nvSpPr>
          <p:cNvPr id="15" name="文字_D. ①②④⑤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①②④⑤</a:t>
            </a:r>
          </a:p>
        </p:txBody>
      </p:sp>
      <p:sp>
        <p:nvSpPr>
          <p:cNvPr id="16" name="文字_单选题  ·  10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10-027</a:t>
            </a:r>
          </a:p>
        </p:txBody>
      </p:sp>
      <p:sp>
        <p:nvSpPr>
          <p:cNvPr id="17" name="文字_3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变式5</a:t>
            </a:r>
          </a:p>
        </p:txBody>
      </p:sp>
      <p:sp>
        <p:nvSpPr>
          <p:cNvPr id="5" name="文字_P22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P220</a:t>
            </a:r>
          </a:p>
        </p:txBody>
      </p:sp>
      <p:sp>
        <p:nvSpPr>
          <p:cNvPr id="6" name="文字_我国第四套人民币硬币从1999年开始发行，一元币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我国第四套人民币硬币从1999年开始发行，一元币为钢芯镀镍(Ni),伍角币为钢芯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镀铜合金，一角币为铝合金或不锈钢。</a:t>
            </a:r>
          </a:p>
        </p:txBody>
      </p:sp>
      <p:sp>
        <p:nvSpPr>
          <p:cNvPr id="7" name="文字_(1)铸造以上硬币用到的材料都是 ______ 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(1)铸造以上硬币用到的材料都是 ______ (填“合成材料”或“金属材料”)。</a:t>
            </a:r>
          </a:p>
        </p:txBody>
      </p:sp>
      <p:sp>
        <p:nvSpPr>
          <p:cNvPr id="8" name="文字_(2)选择铸造硬币的材料不需要考虑的因素是 __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(2)选择铸造硬币的材料不需要考虑的因素是 ______ (填序号)。</a:t>
            </a:r>
          </a:p>
        </p:txBody>
      </p:sp>
      <p:sp>
        <p:nvSpPr>
          <p:cNvPr id="9" name="文字_A. 金属的导电性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金属的导电性</a:t>
            </a:r>
          </a:p>
        </p:txBody>
      </p:sp>
      <p:sp>
        <p:nvSpPr>
          <p:cNvPr id="10" name="文字_B. 金属的耐腐蚀性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金属的耐腐蚀性</a:t>
            </a:r>
          </a:p>
        </p:txBody>
      </p:sp>
      <p:sp>
        <p:nvSpPr>
          <p:cNvPr id="11" name="文字_C. 金属的硬度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金属的硬度</a:t>
            </a:r>
          </a:p>
        </p:txBody>
      </p:sp>
      <p:sp>
        <p:nvSpPr>
          <p:cNvPr id="12" name="文字_D. 金属价格与硬币面值的吻合度"/>
          <p:cNvSpPr txBox="1"/>
          <p:nvPr/>
        </p:nvSpPr>
        <p:spPr>
          <a:xfrm>
            <a:off x="502920" y="40751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金属价格与硬币面值的吻合度</a:t>
            </a:r>
          </a:p>
        </p:txBody>
      </p:sp>
      <p:sp>
        <p:nvSpPr>
          <p:cNvPr id="13" name="文字_(3)以上硬币涉及到Fe、Cu、A₁、Ni(镍)"/>
          <p:cNvSpPr txBox="1"/>
          <p:nvPr/>
        </p:nvSpPr>
        <p:spPr>
          <a:xfrm>
            <a:off x="502920" y="4514088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(3)以上硬币涉及到Fe、Cu、A₁、Ni(镍)，已知Ni能够发生如下反应：Ni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H₂SO₄=NiSO₄ + H₂↑ Fe +  NiCl ₂= Ni +FeCl₂ 这两个反应的基本类型都是 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____ 。四种金属活动性由强到弱的顺序为 ______ (用元素符号表示)。</a:t>
            </a:r>
          </a:p>
        </p:txBody>
      </p:sp>
      <p:sp>
        <p:nvSpPr>
          <p:cNvPr id="14" name="文字_填空题  ·  10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10-028</a:t>
            </a:r>
          </a:p>
        </p:txBody>
      </p:sp>
      <p:sp>
        <p:nvSpPr>
          <p:cNvPr id="15" name="文字_4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巩固1</a:t>
            </a:r>
          </a:p>
        </p:txBody>
      </p:sp>
      <p:sp>
        <p:nvSpPr>
          <p:cNvPr id="5" name="文字_P22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P220</a:t>
            </a:r>
          </a:p>
        </p:txBody>
      </p:sp>
      <p:sp>
        <p:nvSpPr>
          <p:cNvPr id="6" name="文字_足量下列物质与相同质量的铝反应，放出氢气且消耗溶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足量下列物质与相同质量的铝反应，放出氢气且消耗溶质物质的量最少的是(</a:t>
            </a:r>
          </a:p>
        </p:txBody>
      </p:sp>
      <p:sp>
        <p:nvSpPr>
          <p:cNvPr id="7" name="文字_A. 盐酸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盐酸</a:t>
            </a:r>
          </a:p>
        </p:txBody>
      </p:sp>
      <p:sp>
        <p:nvSpPr>
          <p:cNvPr id="8" name="文字_B. 稀硫酸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稀硫酸</a:t>
            </a:r>
          </a:p>
        </p:txBody>
      </p:sp>
      <p:sp>
        <p:nvSpPr>
          <p:cNvPr id="9" name="文字_C. 氢氧化钠溶液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氢氧化钠溶液</a:t>
            </a:r>
          </a:p>
        </p:txBody>
      </p:sp>
      <p:sp>
        <p:nvSpPr>
          <p:cNvPr id="10" name="文字_D. 氯化钠溶液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氯化钠溶液</a:t>
            </a:r>
          </a:p>
        </p:txBody>
      </p:sp>
      <p:sp>
        <p:nvSpPr>
          <p:cNvPr id="11" name="文字_单选题  ·  10-02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10-029</a:t>
            </a:r>
          </a:p>
        </p:txBody>
      </p:sp>
      <p:sp>
        <p:nvSpPr>
          <p:cNvPr id="12" name="文字_4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巩固2</a:t>
            </a:r>
          </a:p>
        </p:txBody>
      </p:sp>
      <p:sp>
        <p:nvSpPr>
          <p:cNvPr id="5" name="文字_P22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P221</a:t>
            </a:r>
          </a:p>
        </p:txBody>
      </p:sp>
      <p:sp>
        <p:nvSpPr>
          <p:cNvPr id="6" name="文字_合金的应用促进了人类社会的发展。下列不属于合金的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合金的应用促进了人类社会的发展。下列不属于合金的是（）</a:t>
            </a:r>
          </a:p>
        </p:txBody>
      </p:sp>
      <p:sp>
        <p:nvSpPr>
          <p:cNvPr id="7" name="文字_A. 铝合金硬币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铝合金硬币</a:t>
            </a:r>
          </a:p>
        </p:txBody>
      </p:sp>
      <p:sp>
        <p:nvSpPr>
          <p:cNvPr id="8" name="文字_B. 青花瓷瓶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青花瓷瓶</a:t>
            </a:r>
          </a:p>
        </p:txBody>
      </p:sp>
      <p:sp>
        <p:nvSpPr>
          <p:cNvPr id="9" name="文字_C. 钛合金鱼竿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钛合金鱼竿</a:t>
            </a:r>
          </a:p>
        </p:txBody>
      </p:sp>
      <p:sp>
        <p:nvSpPr>
          <p:cNvPr id="10" name="文字_D. 不锈钢盆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不锈钢盆</a:t>
            </a:r>
          </a:p>
        </p:txBody>
      </p:sp>
      <p:sp>
        <p:nvSpPr>
          <p:cNvPr id="11" name="文字_单选题  ·  10-03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10-030</a:t>
            </a:r>
          </a:p>
        </p:txBody>
      </p:sp>
      <p:sp>
        <p:nvSpPr>
          <p:cNvPr id="12" name="文字_4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巩固3</a:t>
            </a:r>
          </a:p>
        </p:txBody>
      </p:sp>
      <p:sp>
        <p:nvSpPr>
          <p:cNvPr id="5" name="文字_P22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P221</a:t>
            </a:r>
          </a:p>
        </p:txBody>
      </p:sp>
      <p:sp>
        <p:nvSpPr>
          <p:cNvPr id="6" name="文字_“灌钢法”是我国古代劳动人民对钢铁冶炼技术的重大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“灌钢法”是我国古代劳动人民对钢铁冶炼技术的重大贡献。“灌钢法”主要是将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生铁和熟铁(含碳量约0.1%)混合加热，生铁熔化灌入熟铁，再锻打成钢。下列说法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不正确的是</a:t>
            </a:r>
          </a:p>
        </p:txBody>
      </p:sp>
      <p:sp>
        <p:nvSpPr>
          <p:cNvPr id="7" name="文字_A. 生铁的硬度比纯铁的大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生铁的硬度比纯铁的大</a:t>
            </a:r>
          </a:p>
        </p:txBody>
      </p:sp>
      <p:sp>
        <p:nvSpPr>
          <p:cNvPr id="8" name="文字_B. 熟铁比生铁的含碳量高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熟铁比生铁的含碳量高</a:t>
            </a:r>
          </a:p>
        </p:txBody>
      </p:sp>
      <p:sp>
        <p:nvSpPr>
          <p:cNvPr id="9" name="文字_C. 生铁和钢是含碳量不同的两种铁碳合金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生铁和钢是含碳量不同的两种铁碳合金</a:t>
            </a:r>
          </a:p>
        </p:txBody>
      </p:sp>
      <p:sp>
        <p:nvSpPr>
          <p:cNvPr id="10" name="文字_D. 冶炼铁的原料之一赤铁矿的主要成分为Fe₂O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冶炼铁的原料之一赤铁矿的主要成分为Fe₂O₃</a:t>
            </a:r>
          </a:p>
        </p:txBody>
      </p:sp>
      <p:sp>
        <p:nvSpPr>
          <p:cNvPr id="11" name="文字_单选题  ·  10-03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10-031</a:t>
            </a:r>
          </a:p>
        </p:txBody>
      </p:sp>
      <p:sp>
        <p:nvSpPr>
          <p:cNvPr id="12" name="文字_4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巩固4</a:t>
            </a:r>
          </a:p>
        </p:txBody>
      </p:sp>
      <p:sp>
        <p:nvSpPr>
          <p:cNvPr id="5" name="文字_P22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P221</a:t>
            </a:r>
          </a:p>
        </p:txBody>
      </p:sp>
      <p:sp>
        <p:nvSpPr>
          <p:cNvPr id="6" name="文字_下列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下列说法正确的是（）</a:t>
            </a:r>
          </a:p>
        </p:txBody>
      </p:sp>
      <p:sp>
        <p:nvSpPr>
          <p:cNvPr id="7" name="文字_A. Al₂O₃能与水剧烈反应，生成Al(OH)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Al₂O₃能与水剧烈反应，生成Al(OH)₃</a:t>
            </a:r>
          </a:p>
        </p:txBody>
      </p:sp>
      <p:sp>
        <p:nvSpPr>
          <p:cNvPr id="8" name="文字_B. Al₂₂O₃是碱性氧化物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Al₂₂O₃是碱性氧化物</a:t>
            </a:r>
          </a:p>
        </p:txBody>
      </p:sp>
      <p:sp>
        <p:nvSpPr>
          <p:cNvPr id="9" name="文字_C. A₁(OH)₃能跟所有的酸、碱溶液反应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A₁(OH)₃能跟所有的酸、碱溶液反应</a:t>
            </a:r>
          </a:p>
        </p:txBody>
      </p:sp>
      <p:sp>
        <p:nvSpPr>
          <p:cNvPr id="10" name="文字_D. Al₂O₃能跟强酸、强碱溶液反应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Al₂O₃能跟强酸、强碱溶液反应</a:t>
            </a:r>
          </a:p>
        </p:txBody>
      </p:sp>
      <p:sp>
        <p:nvSpPr>
          <p:cNvPr id="11" name="文字_单选题  ·  10-03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10-032</a:t>
            </a:r>
          </a:p>
        </p:txBody>
      </p:sp>
      <p:sp>
        <p:nvSpPr>
          <p:cNvPr id="12" name="文字_4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巩固5</a:t>
            </a:r>
          </a:p>
        </p:txBody>
      </p:sp>
      <p:sp>
        <p:nvSpPr>
          <p:cNvPr id="5" name="文字_P22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P221</a:t>
            </a:r>
          </a:p>
        </p:txBody>
      </p:sp>
      <p:sp>
        <p:nvSpPr>
          <p:cNvPr id="6" name="文字_下列有关Al₂O₃和A₁(OH)₃的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下列有关Al₂O₃和A₁(OH)₃的说法正确的是（）</a:t>
            </a:r>
          </a:p>
        </p:txBody>
      </p:sp>
      <p:sp>
        <p:nvSpPr>
          <p:cNvPr id="7" name="文字_A. 酸或碱会破坏铝表面的氧化膜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酸或碱会破坏铝表面的氧化膜</a:t>
            </a:r>
          </a:p>
        </p:txBody>
      </p:sp>
      <p:sp>
        <p:nvSpPr>
          <p:cNvPr id="8" name="文字_B. 可以用氨水和盐酸除去A₁Cl₃溶液中的Fe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可以用氨水和盐酸除去A₁Cl₃溶液中的Fe³⁺</a:t>
            </a:r>
          </a:p>
        </p:txBody>
      </p:sp>
      <p:sp>
        <p:nvSpPr>
          <p:cNvPr id="9" name="文字_C. 实验室加热熔化氢氧化钠时，应选用氧化铝坩埚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实验室加热熔化氢氧化钠时，应选用氧化铝坩埚</a:t>
            </a:r>
          </a:p>
        </p:txBody>
      </p:sp>
      <p:sp>
        <p:nvSpPr>
          <p:cNvPr id="10" name="文字_D. 明矾溶液中加入氢氧化钠溶液可以制备氢氧化铝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明矾溶液中加入氢氧化钠溶液可以制备氢氧化铝胶体用于净水</a:t>
            </a:r>
          </a:p>
        </p:txBody>
      </p:sp>
      <p:sp>
        <p:nvSpPr>
          <p:cNvPr id="11" name="文字_单选题  ·  10-03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10-033</a:t>
            </a:r>
          </a:p>
        </p:txBody>
      </p:sp>
      <p:sp>
        <p:nvSpPr>
          <p:cNvPr id="12" name="文字_4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合金 · 巩固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合金 · 巩固6</a:t>
            </a:r>
          </a:p>
        </p:txBody>
      </p:sp>
      <p:sp>
        <p:nvSpPr>
          <p:cNvPr id="5" name="文字_P22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P221</a:t>
            </a:r>
          </a:p>
        </p:txBody>
      </p:sp>
      <p:sp>
        <p:nvSpPr>
          <p:cNvPr id="6" name="文字_某同学在实验室利用氢氧化钠溶液、盐酸分离铁粉和铝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某同学在实验室利用氢氧化钠溶液、盐酸分离铁粉和铝粉的混合物，物质转化关系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如图所示：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378244"/>
          </a:xfrm>
          <a:prstGeom prst="rect">
            <a:avLst/>
          </a:prstGeom>
        </p:spPr>
      </p:pic>
      <p:sp>
        <p:nvSpPr>
          <p:cNvPr id="8" name="原题文字_221_37"/>
          <p:cNvSpPr txBox="1"/>
          <p:nvPr/>
        </p:nvSpPr>
        <p:spPr>
          <a:xfrm>
            <a:off x="3741794" y="1912499"/>
            <a:ext cx="120340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适量试剂Y</a:t>
            </a:r>
          </a:p>
        </p:txBody>
      </p:sp>
      <p:sp>
        <p:nvSpPr>
          <p:cNvPr id="9" name="原题文字_221_38"/>
          <p:cNvSpPr txBox="1"/>
          <p:nvPr/>
        </p:nvSpPr>
        <p:spPr>
          <a:xfrm>
            <a:off x="1988361" y="2318316"/>
            <a:ext cx="812898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试剂X</a:t>
            </a:r>
          </a:p>
        </p:txBody>
      </p:sp>
      <p:sp>
        <p:nvSpPr>
          <p:cNvPr id="10" name="原题文字_221_39"/>
          <p:cNvSpPr txBox="1"/>
          <p:nvPr/>
        </p:nvSpPr>
        <p:spPr>
          <a:xfrm>
            <a:off x="3504430" y="2180491"/>
            <a:ext cx="208002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1" name="原题文字_221_40"/>
          <p:cNvSpPr txBox="1"/>
          <p:nvPr/>
        </p:nvSpPr>
        <p:spPr>
          <a:xfrm>
            <a:off x="3933217" y="2249403"/>
            <a:ext cx="636789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过滤</a:t>
            </a:r>
          </a:p>
        </p:txBody>
      </p:sp>
      <p:sp>
        <p:nvSpPr>
          <p:cNvPr id="12" name="原题文字_221_41"/>
          <p:cNvSpPr txBox="1"/>
          <p:nvPr/>
        </p:nvSpPr>
        <p:spPr>
          <a:xfrm>
            <a:off x="4905645" y="2149864"/>
            <a:ext cx="215659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3" name="原题文字_221_42"/>
          <p:cNvSpPr txBox="1"/>
          <p:nvPr/>
        </p:nvSpPr>
        <p:spPr>
          <a:xfrm>
            <a:off x="6850501" y="2134550"/>
            <a:ext cx="521935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</a:t>
            </a:r>
          </a:p>
        </p:txBody>
      </p:sp>
      <p:sp>
        <p:nvSpPr>
          <p:cNvPr id="14" name="原题文字_221_43"/>
          <p:cNvSpPr txBox="1"/>
          <p:nvPr/>
        </p:nvSpPr>
        <p:spPr>
          <a:xfrm>
            <a:off x="640744" y="2532709"/>
            <a:ext cx="1287627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铁铝混合物</a:t>
            </a:r>
          </a:p>
        </p:txBody>
      </p:sp>
      <p:sp>
        <p:nvSpPr>
          <p:cNvPr id="15" name="原题文字_221_44"/>
          <p:cNvSpPr txBox="1"/>
          <p:nvPr/>
        </p:nvSpPr>
        <p:spPr>
          <a:xfrm>
            <a:off x="2011331" y="2701161"/>
            <a:ext cx="636789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过滤</a:t>
            </a:r>
          </a:p>
        </p:txBody>
      </p:sp>
      <p:sp>
        <p:nvSpPr>
          <p:cNvPr id="16" name="原题文字_221_45"/>
          <p:cNvSpPr txBox="1"/>
          <p:nvPr/>
        </p:nvSpPr>
        <p:spPr>
          <a:xfrm>
            <a:off x="3244095" y="2946183"/>
            <a:ext cx="56022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→Fe</a:t>
            </a:r>
          </a:p>
        </p:txBody>
      </p:sp>
      <p:sp>
        <p:nvSpPr>
          <p:cNvPr id="17" name="文字_下列说法不正确的是()"/>
          <p:cNvSpPr txBox="1"/>
          <p:nvPr/>
        </p:nvSpPr>
        <p:spPr>
          <a:xfrm>
            <a:off x="502920" y="33320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下列说法不正确的是()</a:t>
            </a:r>
          </a:p>
        </p:txBody>
      </p:sp>
      <p:sp>
        <p:nvSpPr>
          <p:cNvPr id="18" name="文字_A. X为NaOH溶液，Y为盐酸"/>
          <p:cNvSpPr txBox="1"/>
          <p:nvPr/>
        </p:nvSpPr>
        <p:spPr>
          <a:xfrm>
            <a:off x="502920" y="37709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X为NaOH溶液，Y为盐酸</a:t>
            </a:r>
          </a:p>
        </p:txBody>
      </p:sp>
      <p:sp>
        <p:nvSpPr>
          <p:cNvPr id="19" name="文字_B. a、b、c既能与酸又能与碱反应"/>
          <p:cNvSpPr txBox="1"/>
          <p:nvPr/>
        </p:nvSpPr>
        <p:spPr>
          <a:xfrm>
            <a:off x="502920" y="420983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a、b、c既能与酸又能与碱反应</a:t>
            </a:r>
          </a:p>
        </p:txBody>
      </p:sp>
      <p:sp>
        <p:nvSpPr>
          <p:cNvPr id="20" name="文字_C. b→c→Al的反应条件分别为：加热、电解"/>
          <p:cNvSpPr txBox="1"/>
          <p:nvPr/>
        </p:nvSpPr>
        <p:spPr>
          <a:xfrm>
            <a:off x="502920" y="464874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b→c→Al的反应条件分别为：加热、电解</a:t>
            </a:r>
          </a:p>
        </p:txBody>
      </p:sp>
      <p:sp>
        <p:nvSpPr>
          <p:cNvPr id="21" name="文字_D. a→b发生的反应为AlO₂ +H++H₂O"/>
          <p:cNvSpPr txBox="1"/>
          <p:nvPr/>
        </p:nvSpPr>
        <p:spPr>
          <a:xfrm>
            <a:off x="502920" y="508766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a→b发生的反应为AlO₂ +H++H₂O=Al(OH)3↓</a:t>
            </a:r>
          </a:p>
        </p:txBody>
      </p:sp>
      <p:sp>
        <p:nvSpPr>
          <p:cNvPr id="22" name="文字_单选题  ·  10-03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10-034</a:t>
            </a:r>
          </a:p>
        </p:txBody>
      </p:sp>
      <p:sp>
        <p:nvSpPr>
          <p:cNvPr id="23" name="文字_4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金属材料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
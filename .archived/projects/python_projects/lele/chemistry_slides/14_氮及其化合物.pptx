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P297；PDF 文件第 299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P297；PDF 文件第 299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P298；PDF 文件第 300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例题 1 / 单选题</a:t>
            </a:r>
          </a:p>
          <a:p>
            <a:r>
              <a:t>讲义印刷页：P298</a:t>
            </a:r>
          </a:p>
          <a:p>
            <a:r>
              <a:t>PDF 文件页：300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例题 2 / 单选题</a:t>
            </a:r>
          </a:p>
          <a:p>
            <a:r>
              <a:t>讲义印刷页：P299</a:t>
            </a:r>
          </a:p>
          <a:p>
            <a:r>
              <a:t>PDF 文件页：301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例题 3 / 单选题</a:t>
            </a:r>
          </a:p>
          <a:p>
            <a:r>
              <a:t>讲义印刷页：P299</a:t>
            </a:r>
          </a:p>
          <a:p>
            <a:r>
              <a:t>PDF 文件页：301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例题 4 / 单选题</a:t>
            </a:r>
          </a:p>
          <a:p>
            <a:r>
              <a:t>讲义印刷页：P299</a:t>
            </a:r>
          </a:p>
          <a:p>
            <a:r>
              <a:t>PDF 文件页：301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例题 5 / 单选题</a:t>
            </a:r>
          </a:p>
          <a:p>
            <a:r>
              <a:t>讲义印刷页：P299</a:t>
            </a:r>
          </a:p>
          <a:p>
            <a:r>
              <a:t>PDF 文件页：301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例题 6 / 解答题</a:t>
            </a:r>
          </a:p>
          <a:p>
            <a:r>
              <a:t>讲义印刷页：P300</a:t>
            </a:r>
          </a:p>
          <a:p>
            <a:r>
              <a:t>PDF 文件页：302</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P300：N₂</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变式 1 / 单选题</a:t>
            </a:r>
          </a:p>
          <a:p>
            <a:r>
              <a:t>讲义印刷页：P300</a:t>
            </a:r>
          </a:p>
          <a:p>
            <a:r>
              <a:t>PDF 文件页：302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变式 2 / 单选题</a:t>
            </a:r>
          </a:p>
          <a:p>
            <a:r>
              <a:t>讲义印刷页：P301</a:t>
            </a:r>
          </a:p>
          <a:p>
            <a:r>
              <a:t>PDF 文件页：303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变式 3 / 单选题</a:t>
            </a:r>
          </a:p>
          <a:p>
            <a:r>
              <a:t>讲义印刷页：P301</a:t>
            </a:r>
          </a:p>
          <a:p>
            <a:r>
              <a:t>PDF 文件页：303</a:t>
            </a:r>
          </a:p>
          <a:p>
            <a:r>
              <a:t>题目保留原题空白；未补充答案。文字为可编辑内容，图形保留原图线条。</a:t>
            </a:r>
          </a:p>
          <a:p>
            <a:r>
              <a:t>OCR 重点复核位置（请对照原讲义检查公式、上下标和字符）：</a:t>
            </a:r>
          </a:p>
          <a:p>
            <a:r>
              <a:t>P301：503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变式 4 / 单选题</a:t>
            </a:r>
          </a:p>
          <a:p>
            <a:r>
              <a:t>讲义印刷页：P301</a:t>
            </a:r>
          </a:p>
          <a:p>
            <a:r>
              <a:t>PDF 文件页：303</a:t>
            </a:r>
          </a:p>
          <a:p>
            <a:r>
              <a:t>题目保留原题空白；未补充答案。文字为可编辑内容，图形保留原图线条。</a:t>
            </a:r>
          </a:p>
          <a:p>
            <a:r>
              <a:t>OCR 重点复核位置（请对照原讲义检查公式、上下标和字符）：</a:t>
            </a:r>
          </a:p>
          <a:p>
            <a:r>
              <a:t>P301：++ ++ +</a:t>
            </a:r>
          </a:p>
          <a:p>
            <a:r>
              <a:t>P301：ic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变式 5 / 单选题</a:t>
            </a:r>
          </a:p>
          <a:p>
            <a:r>
              <a:t>讲义印刷页：P301</a:t>
            </a:r>
          </a:p>
          <a:p>
            <a:r>
              <a:t>PDF 文件页：303</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原题定位：知识点1氮循环及氮氧化物 / 变式 6 / 解答题</a:t>
            </a:r>
          </a:p>
          <a:p>
            <a:r>
              <a:t>讲义印刷页：P302</a:t>
            </a:r>
          </a:p>
          <a:p>
            <a:r>
              <a:t>PDF 文件页：304</a:t>
            </a:r>
          </a:p>
          <a:p>
            <a:r>
              <a:t>题目保留原题空白；未补充答案。文字为可编辑内容，图形保留原图线条。</a:t>
            </a:r>
          </a:p>
          <a:p>
            <a:r>
              <a:t>OCR 重点复核位置（请对照原讲义检查公式、上下标和字符）：</a:t>
            </a:r>
          </a:p>
          <a:p>
            <a:r>
              <a:t>P302：K</a:t>
            </a:r>
          </a:p>
          <a:p>
            <a:r>
              <a:t>P302：IF</a:t>
            </a:r>
          </a:p>
          <a:p>
            <a:r>
              <a:t>P302：F</a:t>
            </a:r>
          </a:p>
          <a:p>
            <a:r>
              <a:t>P302：HE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P303；PDF 文件第 305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P303；PDF 文件第 305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P304；PDF 文件第 306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P304；PDF 文件第 306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P304；PDF 文件第 306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例题 1 / 单选题</a:t>
            </a:r>
          </a:p>
          <a:p>
            <a:r>
              <a:t>讲义印刷页：P305</a:t>
            </a:r>
          </a:p>
          <a:p>
            <a:r>
              <a:t>PDF 文件页：307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例题 2 / 单选题</a:t>
            </a:r>
          </a:p>
          <a:p>
            <a:r>
              <a:t>讲义印刷页：P305</a:t>
            </a:r>
          </a:p>
          <a:p>
            <a:r>
              <a:t>PDF 文件页：307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例题 3 / 单选题</a:t>
            </a:r>
          </a:p>
          <a:p>
            <a:r>
              <a:t>讲义印刷页：P305</a:t>
            </a:r>
          </a:p>
          <a:p>
            <a:r>
              <a:t>PDF 文件页：307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例题 4 / 单选题</a:t>
            </a:r>
          </a:p>
          <a:p>
            <a:r>
              <a:t>讲义印刷页：P305</a:t>
            </a:r>
          </a:p>
          <a:p>
            <a:r>
              <a:t>PDF 文件页：307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例题 5 / 单选题</a:t>
            </a:r>
          </a:p>
          <a:p>
            <a:r>
              <a:t>讲义印刷页：P306</a:t>
            </a:r>
          </a:p>
          <a:p>
            <a:r>
              <a:t>PDF 文件页：308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例题 6 / 单选题</a:t>
            </a:r>
          </a:p>
          <a:p>
            <a:r>
              <a:t>讲义印刷页：P306</a:t>
            </a:r>
          </a:p>
          <a:p>
            <a:r>
              <a:t>PDF 文件页：308</a:t>
            </a:r>
          </a:p>
          <a:p>
            <a:r>
              <a:t>题目保留原题空白；未补充答案。文字为可编辑内容，图形保留原图线条。</a:t>
            </a:r>
          </a:p>
          <a:p>
            <a:r>
              <a:t>排版提示：本题原文较长，按要求保持一题一页；可按教学需要自行调整字号与布局。</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例题 7 / 单选题</a:t>
            </a:r>
          </a:p>
          <a:p>
            <a:r>
              <a:t>讲义印刷页：P306</a:t>
            </a:r>
          </a:p>
          <a:p>
            <a:r>
              <a:t>PDF 文件页：308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例题 8 / 单选题</a:t>
            </a:r>
          </a:p>
          <a:p>
            <a:r>
              <a:t>讲义印刷页：P307</a:t>
            </a:r>
          </a:p>
          <a:p>
            <a:r>
              <a:t>PDF 文件页：309</a:t>
            </a:r>
          </a:p>
          <a:p>
            <a:r>
              <a:t>题目保留原题空白；未补充答案。文字为可编辑内容，图形保留原图线条。</a:t>
            </a:r>
          </a:p>
          <a:p>
            <a:r>
              <a:t>OCR 重点复核位置（请对照原讲义检查公式、上下标和字符）：</a:t>
            </a:r>
          </a:p>
          <a:p>
            <a:r>
              <a:t>P307：S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例题 9 / 填空题</a:t>
            </a:r>
          </a:p>
          <a:p>
            <a:r>
              <a:t>讲义印刷页：P307</a:t>
            </a:r>
          </a:p>
          <a:p>
            <a:r>
              <a:t>PDF 文件页：309</a:t>
            </a:r>
          </a:p>
          <a:p>
            <a:r>
              <a:t>题目保留原题空白；未补充答案。文字为可编辑内容，图形保留原图线条。</a:t>
            </a:r>
          </a:p>
          <a:p>
            <a:r>
              <a:t>OCR 重点复核位置（请对照原讲义检查公式、上下标和字符）：</a:t>
            </a:r>
          </a:p>
          <a:p>
            <a:r>
              <a:t>P307：3F</a:t>
            </a:r>
          </a:p>
          <a:p>
            <a:r>
              <a:t>P307：o</a:t>
            </a:r>
          </a:p>
          <a:p>
            <a:r>
              <a:t>P307：二</a:t>
            </a:r>
          </a:p>
          <a:p>
            <a:r>
              <a:t>P307：φ</a:t>
            </a:r>
          </a:p>
          <a:p>
            <a:r>
              <a:t>P307：元</a:t>
            </a:r>
          </a:p>
          <a:p>
            <a:r>
              <a:t>P307：溶液\</a:t>
            </a:r>
          </a:p>
          <a:p>
            <a:r>
              <a:t>P307：o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1 / 单选题</a:t>
            </a:r>
          </a:p>
          <a:p>
            <a:r>
              <a:t>讲义印刷页：P308</a:t>
            </a:r>
          </a:p>
          <a:p>
            <a:r>
              <a:t>PDF 文件页：310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2 / 单选题</a:t>
            </a:r>
          </a:p>
          <a:p>
            <a:r>
              <a:t>讲义印刷页：P308</a:t>
            </a:r>
          </a:p>
          <a:p>
            <a:r>
              <a:t>PDF 文件页：310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3 / 单选题</a:t>
            </a:r>
          </a:p>
          <a:p>
            <a:r>
              <a:t>讲义印刷页：P308</a:t>
            </a:r>
          </a:p>
          <a:p>
            <a:r>
              <a:t>PDF 文件页：310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4 / 单选题</a:t>
            </a:r>
          </a:p>
          <a:p>
            <a:r>
              <a:t>讲义印刷页：P308</a:t>
            </a:r>
          </a:p>
          <a:p>
            <a:r>
              <a:t>PDF 文件页：310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5 / 单选题</a:t>
            </a:r>
          </a:p>
          <a:p>
            <a:r>
              <a:t>讲义印刷页：P308</a:t>
            </a:r>
          </a:p>
          <a:p>
            <a:r>
              <a:t>PDF 文件页：310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6 / 单选题</a:t>
            </a:r>
          </a:p>
          <a:p>
            <a:r>
              <a:t>讲义印刷页：P309</a:t>
            </a:r>
          </a:p>
          <a:p>
            <a:r>
              <a:t>PDF 文件页：311</a:t>
            </a:r>
          </a:p>
          <a:p>
            <a:r>
              <a:t>题目保留原题空白；未补充答案。文字为可编辑内容，图形保留原图线条。</a:t>
            </a:r>
          </a:p>
          <a:p>
            <a:r>
              <a:t>OCR 重点复核位置（请对照原讲义检查公式、上下标和字符）：</a:t>
            </a:r>
          </a:p>
          <a:p>
            <a:r>
              <a:t>P309：NH₃</a:t>
            </a:r>
          </a:p>
          <a:p>
            <a:r>
              <a:t>P309：工I</a:t>
            </a:r>
          </a:p>
          <a:p>
            <a:r>
              <a:t>P309：H</a:t>
            </a:r>
          </a:p>
          <a:p>
            <a:r>
              <a:t>P309：I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7 / 单选题</a:t>
            </a:r>
          </a:p>
          <a:p>
            <a:r>
              <a:t>讲义印刷页：P309</a:t>
            </a:r>
          </a:p>
          <a:p>
            <a:r>
              <a:t>PDF 文件页：311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8 / 单选题</a:t>
            </a:r>
          </a:p>
          <a:p>
            <a:r>
              <a:t>讲义印刷页：P309</a:t>
            </a:r>
          </a:p>
          <a:p>
            <a:r>
              <a:t>PDF 文件页：311</a:t>
            </a:r>
          </a:p>
          <a:p>
            <a:r>
              <a:t>题目保留原题空白；未补充答案。文字为可编辑内容，图形保留原图线条。</a:t>
            </a:r>
          </a:p>
          <a:p>
            <a:r>
              <a:t>OCR 重点复核位置（请对照原讲义检查公式、上下标和字符）：</a:t>
            </a:r>
          </a:p>
          <a:p>
            <a:r>
              <a:t>P309：P_2O₅</a:t>
            </a:r>
          </a:p>
          <a:p>
            <a:r>
              <a:t>P309：=E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9 / 解答题</a:t>
            </a:r>
          </a:p>
          <a:p>
            <a:r>
              <a:t>讲义印刷页：P310</a:t>
            </a:r>
          </a:p>
          <a:p>
            <a:r>
              <a:t>PDF 文件页：312</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10 / 推断题</a:t>
            </a:r>
          </a:p>
          <a:p>
            <a:r>
              <a:t>讲义印刷页：P310</a:t>
            </a:r>
          </a:p>
          <a:p>
            <a:r>
              <a:t>PDF 文件页：312</a:t>
            </a:r>
          </a:p>
          <a:p>
            <a:r>
              <a:t>题目保留原题空白；未补充答案。文字为可编辑内容，图形保留原图线条。</a:t>
            </a:r>
          </a:p>
          <a:p>
            <a:r>
              <a:t>OCR 重点复核位置（请对照原讲义检查公式、上下标和字符）：</a:t>
            </a:r>
          </a:p>
          <a:p>
            <a:r>
              <a:t>P310：X</a:t>
            </a:r>
          </a:p>
          <a:p>
            <a:r>
              <a:t>P310：D₂</a:t>
            </a:r>
          </a:p>
          <a:p>
            <a:r>
              <a:t>P310：O</a:t>
            </a:r>
          </a:p>
          <a:p>
            <a:r>
              <a:t>P310：O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原题定位：知识点1氨气及铵盐的物理 / 变式 11 / 填空题</a:t>
            </a:r>
          </a:p>
          <a:p>
            <a:r>
              <a:t>讲义印刷页：P311</a:t>
            </a:r>
          </a:p>
          <a:p>
            <a:r>
              <a:t>PDF 文件页：313</a:t>
            </a:r>
          </a:p>
          <a:p>
            <a:r>
              <a:t>题目保留原题空白；未补充答案。文字为可编辑内容，图形保留原图线条。</a:t>
            </a:r>
          </a:p>
          <a:p>
            <a:r>
              <a:t>OCR 重点复核位置（请对照原讲义检查公式、上下标和字符）：</a:t>
            </a:r>
          </a:p>
          <a:p>
            <a:r>
              <a:t>P311：0 K</a:t>
            </a:r>
          </a:p>
          <a:p>
            <a:r>
              <a:t>P311：o</a:t>
            </a:r>
          </a:p>
          <a:p>
            <a:r>
              <a:t>P311：一</a:t>
            </a:r>
          </a:p>
          <a:p>
            <a:r>
              <a:t>P311：O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P312；PDF 文件第 314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P313；PDF 文件第 315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例题 1 / 单选题</a:t>
            </a:r>
          </a:p>
          <a:p>
            <a:r>
              <a:t>讲义印刷页：P313</a:t>
            </a:r>
          </a:p>
          <a:p>
            <a:r>
              <a:t>PDF 文件页：315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例题 2 / 单选题</a:t>
            </a:r>
          </a:p>
          <a:p>
            <a:r>
              <a:t>讲义印刷页：P314</a:t>
            </a:r>
          </a:p>
          <a:p>
            <a:r>
              <a:t>PDF 文件页：316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例题 3 / 单选题</a:t>
            </a:r>
          </a:p>
          <a:p>
            <a:r>
              <a:t>讲义印刷页：P314</a:t>
            </a:r>
          </a:p>
          <a:p>
            <a:r>
              <a:t>PDF 文件页：316</a:t>
            </a:r>
          </a:p>
          <a:p>
            <a:r>
              <a:t>题目保留原题空白；未补充答案。文字为可编辑内容，图形保留原图线条。</a:t>
            </a:r>
          </a:p>
          <a:p>
            <a:r>
              <a:t>OCR 重点复核位置（请对照原讲义检查公式、上下标和字符）：</a:t>
            </a:r>
          </a:p>
          <a:p>
            <a:r>
              <a:t>P314：一</a:t>
            </a:r>
          </a:p>
          <a:p>
            <a:r>
              <a:t>P314：1</a:t>
            </a:r>
          </a:p>
          <a:p>
            <a:r>
              <a:t>P314：1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例题 4 / 填空题</a:t>
            </a:r>
          </a:p>
          <a:p>
            <a:r>
              <a:t>讲义印刷页：P314</a:t>
            </a:r>
          </a:p>
          <a:p>
            <a:r>
              <a:t>PDF 文件页：316</a:t>
            </a:r>
          </a:p>
          <a:p>
            <a:r>
              <a:t>题目保留原题空白；未补充答案。文字为可编辑内容，图形保留原图线条。</a:t>
            </a:r>
          </a:p>
          <a:p>
            <a:r>
              <a:t>OCR 重点复核位置（请对照原讲义检查公式、上下标和字符）：</a:t>
            </a:r>
          </a:p>
          <a:p>
            <a:r>
              <a:t>P314：o</a:t>
            </a:r>
          </a:p>
          <a:p>
            <a:r>
              <a:t>P314：O</a:t>
            </a:r>
          </a:p>
          <a:p>
            <a:r>
              <a:t>P314：o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例题 5 / 解答题</a:t>
            </a:r>
          </a:p>
          <a:p>
            <a:r>
              <a:t>讲义印刷页：P315</a:t>
            </a:r>
          </a:p>
          <a:p>
            <a:r>
              <a:t>PDF 文件页：317</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P315：C</a:t>
            </a:r>
          </a:p>
          <a:p>
            <a:r>
              <a:t>P315：o</a:t>
            </a:r>
          </a:p>
          <a:p>
            <a:r>
              <a:t>P315：o</a:t>
            </a:r>
          </a:p>
          <a:p>
            <a:r>
              <a:t>P315：o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例题 6 / 解答题</a:t>
            </a:r>
          </a:p>
          <a:p>
            <a:r>
              <a:t>讲义印刷页：P315</a:t>
            </a:r>
          </a:p>
          <a:p>
            <a:r>
              <a:t>PDF 文件页：317</a:t>
            </a:r>
          </a:p>
          <a:p>
            <a:r>
              <a:t>题目保留原题空白；未补充答案。文字为可编辑内容，图形保留原图线条。</a:t>
            </a:r>
          </a:p>
          <a:p>
            <a:r>
              <a:t>OCR 重点复核位置（请对照原讲义检查公式、上下标和字符）：</a:t>
            </a:r>
          </a:p>
          <a:p>
            <a:r>
              <a:t>P315：1</a:t>
            </a:r>
          </a:p>
          <a:p>
            <a:r>
              <a:t>P315：kE</a:t>
            </a:r>
          </a:p>
          <a:p>
            <a:r>
              <a:t>P315：o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变式 1 / 单选题</a:t>
            </a:r>
          </a:p>
          <a:p>
            <a:r>
              <a:t>讲义印刷页：P316</a:t>
            </a:r>
          </a:p>
          <a:p>
            <a:r>
              <a:t>PDF 文件页：318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变式 2 / 单选题</a:t>
            </a:r>
          </a:p>
          <a:p>
            <a:r>
              <a:t>讲义印刷页：P316</a:t>
            </a:r>
          </a:p>
          <a:p>
            <a:r>
              <a:t>PDF 文件页：318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变式 3 / 单选题</a:t>
            </a:r>
          </a:p>
          <a:p>
            <a:r>
              <a:t>讲义印刷页：P316</a:t>
            </a:r>
          </a:p>
          <a:p>
            <a:r>
              <a:t>PDF 文件页：318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变式 4 / 解答题</a:t>
            </a:r>
          </a:p>
          <a:p>
            <a:r>
              <a:t>讲义印刷页：P317</a:t>
            </a:r>
          </a:p>
          <a:p>
            <a:r>
              <a:t>PDF 文件页：319</a:t>
            </a:r>
          </a:p>
          <a:p>
            <a:r>
              <a:t>题目保留原题空白；未补充答案。文字为可编辑内容，图形保留原图线条。</a:t>
            </a:r>
          </a:p>
          <a:p>
            <a:r>
              <a:t>排版提示：本题原文较长，按要求保持一题一页；可按教学需要自行调整字号与布局。</a:t>
            </a:r>
          </a:p>
          <a:p>
            <a:r>
              <a:t>OCR 重点复核位置（请对照原讲义检查公式、上下标和字符）：</a:t>
            </a:r>
          </a:p>
          <a:p>
            <a:r>
              <a:t>P317：文试管</a:t>
            </a:r>
          </a:p>
          <a:p>
            <a:r>
              <a:t>P317：O</a:t>
            </a:r>
          </a:p>
          <a:p>
            <a:r>
              <a:t>P317：O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变式 5 / 解答题</a:t>
            </a:r>
          </a:p>
          <a:p>
            <a:r>
              <a:t>讲义印刷页：P318</a:t>
            </a:r>
          </a:p>
          <a:p>
            <a:r>
              <a:t>PDF 文件页：320</a:t>
            </a:r>
          </a:p>
          <a:p>
            <a:r>
              <a:t>题目保留原题空白；未补充答案。文字为可编辑内容，图形保留原图线条。</a:t>
            </a:r>
          </a:p>
          <a:p>
            <a:r>
              <a:t>OCR 重点复核位置（请对照原讲义检查公式、上下标和字符）：</a:t>
            </a:r>
          </a:p>
          <a:p>
            <a:r>
              <a:t>P318：C</a:t>
            </a:r>
          </a:p>
          <a:p>
            <a:r>
              <a:t>P318：o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1 / 单选题</a:t>
            </a:r>
          </a:p>
          <a:p>
            <a:r>
              <a:t>讲义印刷页：P318</a:t>
            </a:r>
          </a:p>
          <a:p>
            <a:r>
              <a:t>PDF 文件页：320</a:t>
            </a:r>
          </a:p>
          <a:p>
            <a:r>
              <a:t>题目保留原题空白；未补充答案。文字为可编辑内容，图形保留原图线条。</a:t>
            </a:r>
          </a:p>
          <a:p>
            <a:r>
              <a:t>OCR 重点复核位置（请对照原讲义检查公式、上下标和字符）：</a:t>
            </a:r>
          </a:p>
          <a:p>
            <a:r>
              <a:t>P318：……硝酸根</a:t>
            </a:r>
          </a:p>
          <a:p>
            <a:r>
              <a:t>P318：氟肥</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2 / 单选题</a:t>
            </a:r>
          </a:p>
          <a:p>
            <a:r>
              <a:t>讲义印刷页：P318</a:t>
            </a:r>
          </a:p>
          <a:p>
            <a:r>
              <a:t>PDF 文件页：320</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3 / 单选题</a:t>
            </a:r>
          </a:p>
          <a:p>
            <a:r>
              <a:t>讲义印刷页：P319</a:t>
            </a:r>
          </a:p>
          <a:p>
            <a:r>
              <a:t>PDF 文件页：321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4 / 单选题</a:t>
            </a:r>
          </a:p>
          <a:p>
            <a:r>
              <a:t>讲义印刷页：P319</a:t>
            </a:r>
          </a:p>
          <a:p>
            <a:r>
              <a:t>PDF 文件页：321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5 / 单选题</a:t>
            </a:r>
          </a:p>
          <a:p>
            <a:r>
              <a:t>讲义印刷页：P319</a:t>
            </a:r>
          </a:p>
          <a:p>
            <a:r>
              <a:t>PDF 文件页：321</a:t>
            </a:r>
          </a:p>
          <a:p>
            <a:r>
              <a:t>题目保留原题空白；未补充答案。文字为可编辑内容，图形保留原图线条。</a:t>
            </a:r>
          </a:p>
          <a:p>
            <a:r>
              <a:t>OCR 重点复核位置（请对照原讲义检查公式、上下标和字符）：</a:t>
            </a:r>
          </a:p>
          <a:p>
            <a:r>
              <a:t>P319：V</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6 / 单选题</a:t>
            </a:r>
          </a:p>
          <a:p>
            <a:r>
              <a:t>讲义印刷页：P319</a:t>
            </a:r>
          </a:p>
          <a:p>
            <a:r>
              <a:t>PDF 文件页：321</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7 / 解答题</a:t>
            </a:r>
          </a:p>
          <a:p>
            <a:r>
              <a:t>讲义印刷页：P320</a:t>
            </a:r>
          </a:p>
          <a:p>
            <a:r>
              <a:t>PDF 文件页：322</a:t>
            </a:r>
          </a:p>
          <a:p>
            <a:r>
              <a:t>题目保留原题空白；未补充答案。文字为可编辑内容，图形保留原图线条。</a:t>
            </a:r>
          </a:p>
          <a:p>
            <a:r>
              <a:t>OCR 重点复核位置（请对照原讲义检查公式、上下标和字符）：</a:t>
            </a:r>
          </a:p>
          <a:p>
            <a:r>
              <a:t>P320：O</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8 / 解答题</a:t>
            </a:r>
          </a:p>
          <a:p>
            <a:r>
              <a:t>讲义印刷页：P320</a:t>
            </a:r>
          </a:p>
          <a:p>
            <a:r>
              <a:t>PDF 文件页：322</a:t>
            </a:r>
          </a:p>
          <a:p>
            <a:r>
              <a:t>题目保留原题空白；未补充答案。文字为可编辑内容，图形保留原图线条。</a:t>
            </a:r>
          </a:p>
          <a:p>
            <a:r>
              <a:t>OCR 重点复核位置（请对照原讲义检查公式、上下标和字符）：</a:t>
            </a:r>
          </a:p>
          <a:p>
            <a:r>
              <a:t>P320：o;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9 / 解答题</a:t>
            </a:r>
          </a:p>
          <a:p>
            <a:r>
              <a:t>讲义印刷页：P321</a:t>
            </a:r>
          </a:p>
          <a:p>
            <a:r>
              <a:t>PDF 文件页：323</a:t>
            </a:r>
          </a:p>
          <a:p>
            <a:r>
              <a:t>题目保留原题空白；未补充答案。文字为可编辑内容，图形保留原图线条。</a:t>
            </a:r>
          </a:p>
          <a:p>
            <a:r>
              <a:t>OCR 重点复核位置（请对照原讲义检查公式、上下标和字符）：</a:t>
            </a:r>
          </a:p>
          <a:p>
            <a:r>
              <a:t>P321：H⁺</a:t>
            </a:r>
          </a:p>
          <a:p>
            <a:r>
              <a:t>P321：NO₃⁻</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原题定位：知识点1硝酸性质、保存 / 巩固 10 / 填空题</a:t>
            </a:r>
          </a:p>
          <a:p>
            <a:r>
              <a:t>讲义印刷页：P321</a:t>
            </a:r>
          </a:p>
          <a:p>
            <a:r>
              <a:t>PDF 文件页：323</a:t>
            </a:r>
          </a:p>
          <a:p>
            <a:r>
              <a:t>题目保留原题空白；未补充答案。文字为可编辑内容，图形保留原图线条。</a:t>
            </a:r>
          </a:p>
          <a:p>
            <a:r>
              <a:t>OCR 重点复核位置（请对照原讲义检查公式、上下标和字符）：</a:t>
            </a:r>
          </a:p>
          <a:p>
            <a:r>
              <a:t>P321：0</a:t>
            </a:r>
          </a:p>
          <a:p>
            <a:r>
              <a:t>P321：O</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知识讲解；讲义印刷页 P322；PDF 文件第 324 页。知识点已补全，例题答案另由教师讲解。</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1 / 单选题</a:t>
            </a:r>
          </a:p>
          <a:p>
            <a:r>
              <a:t>讲义印刷页：P322</a:t>
            </a:r>
          </a:p>
          <a:p>
            <a:r>
              <a:t>PDF 文件页：324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2 / 单选题</a:t>
            </a:r>
          </a:p>
          <a:p>
            <a:r>
              <a:t>讲义印刷页：P322</a:t>
            </a:r>
          </a:p>
          <a:p>
            <a:r>
              <a:t>PDF 文件页：324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3 / 单选题</a:t>
            </a:r>
          </a:p>
          <a:p>
            <a:r>
              <a:t>讲义印刷页：P322</a:t>
            </a:r>
          </a:p>
          <a:p>
            <a:r>
              <a:t>PDF 文件页：324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4 / 单选题</a:t>
            </a:r>
          </a:p>
          <a:p>
            <a:r>
              <a:t>讲义印刷页：P322</a:t>
            </a:r>
          </a:p>
          <a:p>
            <a:r>
              <a:t>PDF 文件页：324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5 / 多选题</a:t>
            </a:r>
          </a:p>
          <a:p>
            <a:r>
              <a:t>讲义印刷页：P322</a:t>
            </a:r>
          </a:p>
          <a:p>
            <a:r>
              <a:t>PDF 文件页：324</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6 / 单选题</a:t>
            </a:r>
          </a:p>
          <a:p>
            <a:r>
              <a:t>讲义印刷页：P323</a:t>
            </a:r>
          </a:p>
          <a:p>
            <a:r>
              <a:t>PDF 文件页：325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1 / 单选题</a:t>
            </a:r>
          </a:p>
          <a:p>
            <a:r>
              <a:t>讲义印刷页：P323</a:t>
            </a:r>
          </a:p>
          <a:p>
            <a:r>
              <a:t>PDF 文件页：325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2 / 单选题</a:t>
            </a:r>
          </a:p>
          <a:p>
            <a:r>
              <a:t>讲义印刷页：P323</a:t>
            </a:r>
          </a:p>
          <a:p>
            <a:r>
              <a:t>PDF 文件页：325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3 / 单选题</a:t>
            </a:r>
          </a:p>
          <a:p>
            <a:r>
              <a:t>讲义印刷页：P323</a:t>
            </a:r>
          </a:p>
          <a:p>
            <a:r>
              <a:t>PDF 文件页：325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1 / 单选题</a:t>
            </a:r>
          </a:p>
          <a:p>
            <a:r>
              <a:t>讲义印刷页：P323</a:t>
            </a:r>
          </a:p>
          <a:p>
            <a:r>
              <a:t>PDF 文件页：325</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2 / 单选题</a:t>
            </a:r>
          </a:p>
          <a:p>
            <a:r>
              <a:t>讲义印刷页：P324</a:t>
            </a:r>
          </a:p>
          <a:p>
            <a:r>
              <a:t>PDF 文件页：326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3 / 单选题</a:t>
            </a:r>
          </a:p>
          <a:p>
            <a:r>
              <a:t>讲义印刷页：P324</a:t>
            </a:r>
          </a:p>
          <a:p>
            <a:r>
              <a:t>PDF 文件页：326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4 / 单选题</a:t>
            </a:r>
          </a:p>
          <a:p>
            <a:r>
              <a:t>讲义印刷页：P324</a:t>
            </a:r>
          </a:p>
          <a:p>
            <a:r>
              <a:t>PDF 文件页：326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5 / 单选题</a:t>
            </a:r>
          </a:p>
          <a:p>
            <a:r>
              <a:t>讲义印刷页：P324</a:t>
            </a:r>
          </a:p>
          <a:p>
            <a:r>
              <a:t>PDF 文件页：326</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6 / 单选题</a:t>
            </a:r>
          </a:p>
          <a:p>
            <a:r>
              <a:t>讲义印刷页：P325</a:t>
            </a:r>
          </a:p>
          <a:p>
            <a:r>
              <a:t>PDF 文件页：327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7 / 单选题</a:t>
            </a:r>
          </a:p>
          <a:p>
            <a:r>
              <a:t>讲义印刷页：P325</a:t>
            </a:r>
          </a:p>
          <a:p>
            <a:r>
              <a:t>PDF 文件页：327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例题 8 / 单选题</a:t>
            </a:r>
          </a:p>
          <a:p>
            <a:r>
              <a:t>讲义印刷页：P325</a:t>
            </a:r>
          </a:p>
          <a:p>
            <a:r>
              <a:t>PDF 文件页：327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综合 1 / 单选题</a:t>
            </a:r>
          </a:p>
          <a:p>
            <a:r>
              <a:t>讲义印刷页：P325</a:t>
            </a:r>
          </a:p>
          <a:p>
            <a:r>
              <a:t>PDF 文件页：327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综合 2 / 单选题</a:t>
            </a:r>
          </a:p>
          <a:p>
            <a:r>
              <a:t>讲义印刷页：P325</a:t>
            </a:r>
          </a:p>
          <a:p>
            <a:r>
              <a:t>PDF 文件页：327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综合 3 / 解答题</a:t>
            </a:r>
          </a:p>
          <a:p>
            <a:r>
              <a:t>讲义印刷页：P325</a:t>
            </a:r>
          </a:p>
          <a:p>
            <a:r>
              <a:t>PDF 文件页：327</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综合 4 / 填空题</a:t>
            </a:r>
          </a:p>
          <a:p>
            <a:r>
              <a:t>讲义印刷页：P326</a:t>
            </a:r>
          </a:p>
          <a:p>
            <a:r>
              <a:t>PDF 文件页：328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综合 5 / 解答题</a:t>
            </a:r>
          </a:p>
          <a:p>
            <a:r>
              <a:t>讲义印刷页：P326</a:t>
            </a:r>
          </a:p>
          <a:p>
            <a:r>
              <a:t>PDF 文件页：328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综合 6 / 解答题</a:t>
            </a:r>
          </a:p>
          <a:p>
            <a:r>
              <a:t>讲义印刷页：P326</a:t>
            </a:r>
          </a:p>
          <a:p>
            <a:r>
              <a:t>PDF 文件页：328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原题定位：知识点5氮的计算 / 综合 7 / 单选题</a:t>
            </a:r>
          </a:p>
          <a:p>
            <a:r>
              <a:t>讲义印刷页：P326</a:t>
            </a:r>
          </a:p>
          <a:p>
            <a:r>
              <a:t>PDF 文件页：328</a:t>
            </a:r>
          </a:p>
          <a:p>
            <a:r>
              <a:t>题目保留原题空白；未补充答案。文字为可编辑内容，图形保留原图线条。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4.png"/><Relationship Id="rId4"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0.png"/><Relationship Id="rId4"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1.png"/><Relationship Id="rId4"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2.png"/><Relationship Id="rId4"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3.png"/><Relationship Id="rId4" Type="http://schemas.openxmlformats.org/officeDocument/2006/relationships/notesSlide" Target="../notesSlides/notesSlide5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4.png"/><Relationship Id="rId4" Type="http://schemas.openxmlformats.org/officeDocument/2006/relationships/notesSlide" Target="../notesSlides/notesSlide5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5.png"/><Relationship Id="rId4" Type="http://schemas.openxmlformats.org/officeDocument/2006/relationships/notesSlide" Target="../notesSlides/notesSlide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6.png"/><Relationship Id="rId4" Type="http://schemas.openxmlformats.org/officeDocument/2006/relationships/notesSlide" Target="../notesSlides/notesSlide6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7.png"/><Relationship Id="rId4" Type="http://schemas.openxmlformats.org/officeDocument/2006/relationships/notesSlide" Target="../notesSlides/notesSlide6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8.png"/><Relationship Id="rId4" Type="http://schemas.openxmlformats.org/officeDocument/2006/relationships/notesSlide" Target="../notesSlides/notesSl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9.png"/><Relationship Id="rId4" Type="http://schemas.openxmlformats.org/officeDocument/2006/relationships/notesSlide" Target="../notesSlides/notesSlide6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0.png"/><Relationship Id="rId4"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氮及其化合物"/>
          <p:cNvSpPr txBox="1"/>
          <p:nvPr/>
        </p:nvSpPr>
        <p:spPr>
          <a:xfrm>
            <a:off x="713232" y="2103120"/>
            <a:ext cx="10744200" cy="1234440"/>
          </a:xfrm>
          <a:prstGeom prst="rect">
            <a:avLst/>
          </a:prstGeom>
          <a:noFill/>
        </p:spPr>
        <p:txBody>
          <a:bodyPr wrap="square" lIns="0" rIns="0" tIns="0" bIns="0">
            <a:spAutoFit/>
          </a:bodyPr>
          <a:lstStyle/>
          <a:p>
            <a:pPr>
              <a:lnSpc>
                <a:spcPct val="112000"/>
              </a:lnSpc>
              <a:spcBef>
                <a:spcPts val="0"/>
              </a:spcBef>
              <a:spcAft>
                <a:spcPts val="0"/>
              </a:spcAft>
              <a:defRPr sz="4400" b="1">
                <a:solidFill>
                  <a:srgbClr val="F1922F"/>
                </a:solidFill>
                <a:latin typeface="微软雅黑"/>
              </a:defRPr>
            </a:pPr>
            <a:r>
              <a:rPr>
                <a:ea typeface="微软雅黑"/>
              </a:rPr>
              <a:t>氮及其化合物</a:t>
            </a:r>
          </a:p>
        </p:txBody>
      </p:sp>
      <p:sp>
        <p:nvSpPr>
          <p:cNvPr id="4" name="文字_第 14 章  ·  高一化学"/>
          <p:cNvSpPr txBox="1"/>
          <p:nvPr/>
        </p:nvSpPr>
        <p:spPr>
          <a:xfrm>
            <a:off x="777240" y="1517904"/>
            <a:ext cx="10058400" cy="457200"/>
          </a:xfrm>
          <a:prstGeom prst="rect">
            <a:avLst/>
          </a:prstGeom>
          <a:noFill/>
        </p:spPr>
        <p:txBody>
          <a:bodyPr wrap="square" lIns="0" rIns="0" tIns="0" bIns="0">
            <a:spAutoFit/>
          </a:bodyPr>
          <a:lstStyle/>
          <a:p>
            <a:pPr>
              <a:lnSpc>
                <a:spcPct val="112000"/>
              </a:lnSpc>
              <a:spcBef>
                <a:spcPts val="0"/>
              </a:spcBef>
              <a:spcAft>
                <a:spcPts val="0"/>
              </a:spcAft>
              <a:defRPr sz="2400" b="0">
                <a:solidFill>
                  <a:srgbClr val="777777"/>
                </a:solidFill>
                <a:latin typeface="微软雅黑"/>
              </a:defRPr>
            </a:pPr>
            <a:r>
              <a:rPr>
                <a:ea typeface="微软雅黑"/>
              </a:rPr>
              <a:t>第 14 章  ·  高一化学</a:t>
            </a:r>
          </a:p>
        </p:txBody>
      </p:sp>
      <p:sp>
        <p:nvSpPr>
          <p:cNvPr id="5" name="文字_知识讲解  ·  例题与变式  ·  综合练习"/>
          <p:cNvSpPr txBox="1"/>
          <p:nvPr/>
        </p:nvSpPr>
        <p:spPr>
          <a:xfrm>
            <a:off x="777240" y="3474720"/>
            <a:ext cx="10607040" cy="548640"/>
          </a:xfrm>
          <a:prstGeom prst="rect">
            <a:avLst/>
          </a:prstGeom>
          <a:noFill/>
        </p:spPr>
        <p:txBody>
          <a:bodyPr wrap="square" lIns="0" rIns="0" tIns="0" bIns="0">
            <a:spAutoFit/>
          </a:bodyPr>
          <a:lstStyle/>
          <a:p>
            <a:pPr>
              <a:lnSpc>
                <a:spcPct val="112000"/>
              </a:lnSpc>
              <a:spcBef>
                <a:spcPts val="0"/>
              </a:spcBef>
              <a:spcAft>
                <a:spcPts val="0"/>
              </a:spcAft>
              <a:defRPr sz="2600" b="0">
                <a:solidFill>
                  <a:srgbClr val="333333"/>
                </a:solidFill>
                <a:latin typeface="微软雅黑"/>
              </a:defRPr>
            </a:pPr>
            <a:r>
              <a:rPr>
                <a:ea typeface="微软雅黑"/>
              </a:rPr>
              <a:t>知识讲解  ·  例题与变式  ·  综合练习</a:t>
            </a:r>
          </a:p>
        </p:txBody>
      </p:sp>
      <p:sp>
        <p:nvSpPr>
          <p:cNvPr id="6" name="文字_讲义 P297–326"/>
          <p:cNvSpPr txBox="1"/>
          <p:nvPr/>
        </p:nvSpPr>
        <p:spPr>
          <a:xfrm>
            <a:off x="804672" y="4892040"/>
            <a:ext cx="10058400" cy="457200"/>
          </a:xfrm>
          <a:prstGeom prst="rect">
            <a:avLst/>
          </a:prstGeom>
          <a:noFill/>
        </p:spPr>
        <p:txBody>
          <a:bodyPr wrap="square" lIns="0" rIns="0" tIns="0" bIns="0">
            <a:spAutoFit/>
          </a:bodyPr>
          <a:lstStyle/>
          <a:p>
            <a:pPr>
              <a:lnSpc>
                <a:spcPct val="112000"/>
              </a:lnSpc>
              <a:spcBef>
                <a:spcPts val="0"/>
              </a:spcBef>
              <a:spcAft>
                <a:spcPts val="0"/>
              </a:spcAft>
              <a:defRPr sz="2000" b="0">
                <a:solidFill>
                  <a:srgbClr val="777777"/>
                </a:solidFill>
                <a:latin typeface="微软雅黑"/>
              </a:defRPr>
            </a:pPr>
            <a:r>
              <a:rPr>
                <a:ea typeface="微软雅黑"/>
              </a:rPr>
              <a:t>讲义 P297–326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1"/>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01</a:t>
            </a:r>
          </a:p>
        </p:txBody>
      </p:sp>
      <p:sp>
        <p:nvSpPr>
          <p:cNvPr id="4" name="文字_氮的固定与氮循环"/>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氮的固定与氮循环</a:t>
            </a:r>
          </a:p>
        </p:txBody>
      </p:sp>
      <p:sp>
        <p:nvSpPr>
          <p:cNvPr id="5" name="文字_知识梳理 · 讲义 P297"/>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P297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氮的固定与氮循环"/>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氮的固定与氮循环</a:t>
            </a:r>
          </a:p>
        </p:txBody>
      </p:sp>
      <p:sp>
        <p:nvSpPr>
          <p:cNvPr id="5" name="文字_知识讲解 · P297"/>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P297</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氮的固定：将空气中游离态的氮（N₂）转化为含氮化"/>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氮的固定：将空气中游离态的氮（N₂）转化为含氮化合物的过程。</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自然固氮：雷雨放电 N₂ + O₂ = 2NO；"/>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自然固氮：雷雨放电 N₂ + O₂ = 2NO；豆科植物根瘤菌固氮。</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人工固氮：工业合成氨 N₂ + 3H₂ ⇌(催化"/>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人工固氮：工业合成氨 N₂ + 3H₂ ⇌(催化剂、高温高压) 2NH₃。</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氮在自然界主要以 N₂ 形式存在；N₂ 分子含 "/>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氮在自然界主要以 N₂ 形式存在；N₂ 分子含 N≡N 三键，性质稳定。</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氮循环：游离态 → 化合态（固氮）→ 生物蛋白质"/>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氮循环：游离态 → 化合态（固氮）→ 生物蛋白质 → 分解回归自然界。</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氮的固定只限&quot;游离态变化合态&quot;；把氮气液"/>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氮的固定只限"游离态变化合态"；把氮气液化、固化不是固氮。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氮气与氮氧化物概述"/>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氮气与氮氧化物概述</a:t>
            </a:r>
          </a:p>
        </p:txBody>
      </p:sp>
      <p:sp>
        <p:nvSpPr>
          <p:cNvPr id="5" name="文字_知识讲解 · P297"/>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P297</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N₂：无色无味、难溶于水；常温稳定，高温或放电下"/>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N₂：无色无味、难溶于水；常温稳定，高温或放电下与 O₂、H₂、Mg 反应。</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用途：保护气、焊接金属、充氮保存粮食、化工原料。"/>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用途：保护气、焊接金属、充氮保存粮食、化工原料。</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工业制 N₂：液化空气分馏。"/>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工业制 N₂：液化空气分馏。</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氮氧化物：N₂O、NO、NO₂、N₂O₃、N₂O"/>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氮氧化物：N₂O、NO、NO₂、N₂O₃、N₂O₄、N₂O₅ 等。</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NO、NO₂ 是主要污染物，参与光化学烟雾和酸雨"/>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NO、NO₂ 是主要污染物，参与光化学烟雾和酸雨的形成。</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汽车尾气中的 NOx 主要来自 N₂ +"/>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汽车尾气中的 NOx 主要来自 N₂ + O₂ = 2NO（发动机高温条件）。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2"/>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02</a:t>
            </a:r>
          </a:p>
        </p:txBody>
      </p:sp>
      <p:sp>
        <p:nvSpPr>
          <p:cNvPr id="4" name="文字_NO 与 NO₂ 的性质对比"/>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NO 与 NO₂ 的性质对比</a:t>
            </a:r>
          </a:p>
        </p:txBody>
      </p:sp>
      <p:sp>
        <p:nvSpPr>
          <p:cNvPr id="5" name="文字_知识梳理 · 讲义 P298"/>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P298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NO 与 NO₂ 的性质对比"/>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NO 与 NO₂ 的性质对比</a:t>
            </a:r>
          </a:p>
        </p:txBody>
      </p:sp>
      <p:sp>
        <p:nvSpPr>
          <p:cNvPr id="5" name="文字_知识讲解 · P298"/>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P298</a:t>
            </a:r>
          </a:p>
        </p:txBody>
      </p:sp>
      <p:graphicFrame>
        <p:nvGraphicFramePr>
          <p:cNvPr id="6" name="Table 5"/>
          <p:cNvGraphicFramePr>
            <a:graphicFrameLocks noGrp="1"/>
          </p:cNvGraphicFramePr>
          <p:nvPr/>
        </p:nvGraphicFramePr>
        <p:xfrm>
          <a:off x="502920" y="1773936"/>
          <a:ext cx="11109960" cy="4059936"/>
        </p:xfrm>
        <a:graphic>
          <a:graphicData uri="http://schemas.openxmlformats.org/drawingml/2006/table">
            <a:tbl>
              <a:tblPr firstRow="1" bandRow="1">
                <a:tableStyleId>{5C22544A-7EE6-4342-B048-85BDC9FD1C3A}</a:tableStyleId>
              </a:tblPr>
              <a:tblGrid>
                <a:gridCol w="3703320"/>
                <a:gridCol w="3703320"/>
                <a:gridCol w="3703320"/>
              </a:tblGrid>
              <a:tr h="485648">
                <a:tc>
                  <a:txBody>
                    <a:bodyPr/>
                    <a:lstStyle/>
                    <a:p>
                      <a:pPr>
                        <a:defRPr sz="2000" b="1">
                          <a:solidFill>
                            <a:srgbClr val="FFFFFF"/>
                          </a:solidFill>
                          <a:latin typeface="微软雅黑"/>
                        </a:defRPr>
                      </a:pPr>
                      <a:r>
                        <a:t>项目</a:t>
                      </a:r>
                    </a:p>
                  </a:txBody>
                  <a:tcPr marL="91440" marR="91440" marT="45720" marB="45720" anchor="ctr">
                    <a:solidFill>
                      <a:srgbClr val="F1922F"/>
                    </a:solidFill>
                  </a:tcPr>
                </a:tc>
                <a:tc>
                  <a:txBody>
                    <a:bodyPr/>
                    <a:lstStyle/>
                    <a:p>
                      <a:pPr>
                        <a:defRPr sz="2000" b="1">
                          <a:solidFill>
                            <a:srgbClr val="FFFFFF"/>
                          </a:solidFill>
                          <a:latin typeface="微软雅黑"/>
                        </a:defRPr>
                      </a:pPr>
                      <a:r>
                        <a:t>NO</a:t>
                      </a:r>
                    </a:p>
                  </a:txBody>
                  <a:tcPr marL="91440" marR="91440" marT="45720" marB="45720" anchor="ctr">
                    <a:solidFill>
                      <a:srgbClr val="F1922F"/>
                    </a:solidFill>
                  </a:tcPr>
                </a:tc>
                <a:tc>
                  <a:txBody>
                    <a:bodyPr/>
                    <a:lstStyle/>
                    <a:p>
                      <a:pPr>
                        <a:defRPr sz="2000" b="1">
                          <a:solidFill>
                            <a:srgbClr val="FFFFFF"/>
                          </a:solidFill>
                          <a:latin typeface="微软雅黑"/>
                        </a:defRPr>
                      </a:pPr>
                      <a:r>
                        <a:t>NO₂</a:t>
                      </a:r>
                    </a:p>
                  </a:txBody>
                  <a:tcPr marL="91440" marR="91440" marT="45720" marB="45720" anchor="ctr">
                    <a:solidFill>
                      <a:srgbClr val="F1922F"/>
                    </a:solidFill>
                  </a:tcPr>
                </a:tc>
              </a:tr>
              <a:tr h="485648">
                <a:tc>
                  <a:txBody>
                    <a:bodyPr/>
                    <a:lstStyle/>
                    <a:p>
                      <a:pPr>
                        <a:defRPr sz="2000" b="0">
                          <a:solidFill>
                            <a:srgbClr val="333333"/>
                          </a:solidFill>
                          <a:latin typeface="微软雅黑"/>
                        </a:defRPr>
                      </a:pPr>
                      <a:r>
                        <a:t>颜色气味</a:t>
                      </a:r>
                    </a:p>
                  </a:txBody>
                  <a:tcPr marL="91440" marR="91440" marT="45720" marB="45720" anchor="ctr">
                    <a:solidFill>
                      <a:srgbClr val="FDF2E3"/>
                    </a:solidFill>
                  </a:tcPr>
                </a:tc>
                <a:tc>
                  <a:txBody>
                    <a:bodyPr/>
                    <a:lstStyle/>
                    <a:p>
                      <a:pPr>
                        <a:defRPr sz="2000" b="0">
                          <a:solidFill>
                            <a:srgbClr val="333333"/>
                          </a:solidFill>
                          <a:latin typeface="微软雅黑"/>
                        </a:defRPr>
                      </a:pPr>
                      <a:r>
                        <a:t>无色、无味</a:t>
                      </a:r>
                    </a:p>
                  </a:txBody>
                  <a:tcPr marL="91440" marR="91440" marT="45720" marB="45720" anchor="ctr">
                    <a:solidFill>
                      <a:srgbClr val="FDF2E3"/>
                    </a:solidFill>
                  </a:tcPr>
                </a:tc>
                <a:tc>
                  <a:txBody>
                    <a:bodyPr/>
                    <a:lstStyle/>
                    <a:p>
                      <a:pPr>
                        <a:defRPr sz="2000" b="0">
                          <a:solidFill>
                            <a:srgbClr val="333333"/>
                          </a:solidFill>
                          <a:latin typeface="微软雅黑"/>
                        </a:defRPr>
                      </a:pPr>
                      <a:r>
                        <a:t>红棕色、刺激性气味</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水溶性</a:t>
                      </a:r>
                    </a:p>
                  </a:txBody>
                  <a:tcPr marL="91440" marR="91440" marT="45720" marB="45720" anchor="ctr">
                    <a:solidFill>
                      <a:srgbClr val="FFFFFF"/>
                    </a:solidFill>
                  </a:tcPr>
                </a:tc>
                <a:tc>
                  <a:txBody>
                    <a:bodyPr/>
                    <a:lstStyle/>
                    <a:p>
                      <a:pPr>
                        <a:defRPr sz="2000" b="0">
                          <a:solidFill>
                            <a:srgbClr val="333333"/>
                          </a:solidFill>
                          <a:latin typeface="微软雅黑"/>
                        </a:defRPr>
                      </a:pPr>
                      <a:r>
                        <a:t>难溶于水</a:t>
                      </a:r>
                    </a:p>
                  </a:txBody>
                  <a:tcPr marL="91440" marR="91440" marT="45720" marB="45720" anchor="ctr">
                    <a:solidFill>
                      <a:srgbClr val="FFFFFF"/>
                    </a:solidFill>
                  </a:tcPr>
                </a:tc>
                <a:tc>
                  <a:txBody>
                    <a:bodyPr/>
                    <a:lstStyle/>
                    <a:p>
                      <a:pPr>
                        <a:defRPr sz="2000" b="0">
                          <a:solidFill>
                            <a:srgbClr val="333333"/>
                          </a:solidFill>
                          <a:latin typeface="微软雅黑"/>
                        </a:defRPr>
                      </a:pPr>
                      <a:r>
                        <a:t>易溶于水并与水反应</a:t>
                      </a:r>
                    </a:p>
                  </a:txBody>
                  <a:tcPr marL="91440" marR="91440" marT="45720" marB="45720" anchor="ctr">
                    <a:solidFill>
                      <a:srgbClr val="FFFFFF"/>
                    </a:solidFill>
                  </a:tcPr>
                </a:tc>
              </a:tr>
              <a:tr h="815848">
                <a:tc>
                  <a:txBody>
                    <a:bodyPr/>
                    <a:lstStyle/>
                    <a:p>
                      <a:pPr>
                        <a:defRPr sz="2000" b="0">
                          <a:solidFill>
                            <a:srgbClr val="333333"/>
                          </a:solidFill>
                          <a:latin typeface="微软雅黑"/>
                        </a:defRPr>
                      </a:pPr>
                      <a:r>
                        <a:t>与水</a:t>
                      </a:r>
                    </a:p>
                  </a:txBody>
                  <a:tcPr marL="91440" marR="91440" marT="45720" marB="45720" anchor="ctr">
                    <a:solidFill>
                      <a:srgbClr val="FDF2E3"/>
                    </a:solidFill>
                  </a:tcPr>
                </a:tc>
                <a:tc>
                  <a:txBody>
                    <a:bodyPr/>
                    <a:lstStyle/>
                    <a:p>
                      <a:pPr>
                        <a:defRPr sz="2000" b="0">
                          <a:solidFill>
                            <a:srgbClr val="333333"/>
                          </a:solidFill>
                          <a:latin typeface="微软雅黑"/>
                        </a:defRPr>
                      </a:pPr>
                      <a:r>
                        <a:t>不反应</a:t>
                      </a:r>
                    </a:p>
                  </a:txBody>
                  <a:tcPr marL="91440" marR="91440" marT="45720" marB="45720" anchor="ctr">
                    <a:solidFill>
                      <a:srgbClr val="FDF2E3"/>
                    </a:solidFill>
                  </a:tcPr>
                </a:tc>
                <a:tc>
                  <a:txBody>
                    <a:bodyPr/>
                    <a:lstStyle/>
                    <a:p>
                      <a:pPr>
                        <a:defRPr sz="2000" b="0">
                          <a:solidFill>
                            <a:srgbClr val="333333"/>
                          </a:solidFill>
                          <a:latin typeface="微软雅黑"/>
                        </a:defRPr>
                      </a:pPr>
                      <a:r>
                        <a:t>3NO₂ + H₂O = 2HNO₃ + NO</a:t>
                      </a:r>
                    </a:p>
                  </a:txBody>
                  <a:tcPr marL="91440" marR="91440" marT="45720" marB="45720" anchor="ctr">
                    <a:solidFill>
                      <a:srgbClr val="FDF2E3"/>
                    </a:solidFill>
                  </a:tcPr>
                </a:tc>
              </a:tr>
              <a:tr h="815848">
                <a:tc>
                  <a:txBody>
                    <a:bodyPr/>
                    <a:lstStyle/>
                    <a:p>
                      <a:pPr>
                        <a:defRPr sz="2000" b="0">
                          <a:solidFill>
                            <a:srgbClr val="333333"/>
                          </a:solidFill>
                          <a:latin typeface="微软雅黑"/>
                        </a:defRPr>
                      </a:pPr>
                      <a:r>
                        <a:t>与氧气</a:t>
                      </a:r>
                    </a:p>
                  </a:txBody>
                  <a:tcPr marL="91440" marR="91440" marT="45720" marB="45720" anchor="ctr">
                    <a:solidFill>
                      <a:srgbClr val="FFFFFF"/>
                    </a:solidFill>
                  </a:tcPr>
                </a:tc>
                <a:tc>
                  <a:txBody>
                    <a:bodyPr/>
                    <a:lstStyle/>
                    <a:p>
                      <a:pPr>
                        <a:defRPr sz="2000" b="0">
                          <a:solidFill>
                            <a:srgbClr val="333333"/>
                          </a:solidFill>
                          <a:latin typeface="微软雅黑"/>
                        </a:defRPr>
                      </a:pPr>
                      <a:r>
                        <a:t>2NO + O₂ = 2NO₂（常温迅速）</a:t>
                      </a:r>
                    </a:p>
                  </a:txBody>
                  <a:tcPr marL="91440" marR="91440" marT="45720" marB="45720" anchor="ctr">
                    <a:solidFill>
                      <a:srgbClr val="FFFFFF"/>
                    </a:solidFill>
                  </a:tcPr>
                </a:tc>
                <a:tc>
                  <a:txBody>
                    <a:bodyPr/>
                    <a:lstStyle/>
                    <a:p>
                      <a:pPr>
                        <a:defRPr sz="2000" b="0">
                          <a:solidFill>
                            <a:srgbClr val="333333"/>
                          </a:solidFill>
                          <a:latin typeface="微软雅黑"/>
                        </a:defRPr>
                      </a:pPr>
                      <a:r>
                        <a:t>不与 O₂ 直接反应</a:t>
                      </a:r>
                    </a:p>
                  </a:txBody>
                  <a:tcPr marL="91440" marR="91440" marT="45720" marB="45720" anchor="ctr">
                    <a:solidFill>
                      <a:srgbClr val="FFFFFF"/>
                    </a:solidFill>
                  </a:tcPr>
                </a:tc>
              </a:tr>
              <a:tr h="485648">
                <a:tc>
                  <a:txBody>
                    <a:bodyPr/>
                    <a:lstStyle/>
                    <a:p>
                      <a:pPr>
                        <a:defRPr sz="2000" b="0">
                          <a:solidFill>
                            <a:srgbClr val="333333"/>
                          </a:solidFill>
                          <a:latin typeface="微软雅黑"/>
                        </a:defRPr>
                      </a:pPr>
                      <a:r>
                        <a:t>收集方法</a:t>
                      </a:r>
                    </a:p>
                  </a:txBody>
                  <a:tcPr marL="91440" marR="91440" marT="45720" marB="45720" anchor="ctr">
                    <a:solidFill>
                      <a:srgbClr val="FDF2E3"/>
                    </a:solidFill>
                  </a:tcPr>
                </a:tc>
                <a:tc>
                  <a:txBody>
                    <a:bodyPr/>
                    <a:lstStyle/>
                    <a:p>
                      <a:pPr>
                        <a:defRPr sz="2000" b="0">
                          <a:solidFill>
                            <a:srgbClr val="333333"/>
                          </a:solidFill>
                          <a:latin typeface="微软雅黑"/>
                        </a:defRPr>
                      </a:pPr>
                      <a:r>
                        <a:t>只能排水法</a:t>
                      </a:r>
                    </a:p>
                  </a:txBody>
                  <a:tcPr marL="91440" marR="91440" marT="45720" marB="45720" anchor="ctr">
                    <a:solidFill>
                      <a:srgbClr val="FDF2E3"/>
                    </a:solidFill>
                  </a:tcPr>
                </a:tc>
                <a:tc>
                  <a:txBody>
                    <a:bodyPr/>
                    <a:lstStyle/>
                    <a:p>
                      <a:pPr>
                        <a:defRPr sz="2000" b="0">
                          <a:solidFill>
                            <a:srgbClr val="333333"/>
                          </a:solidFill>
                          <a:latin typeface="微软雅黑"/>
                        </a:defRPr>
                      </a:pPr>
                      <a:r>
                        <a:t>只能向上排空气法</a:t>
                      </a:r>
                    </a:p>
                  </a:txBody>
                  <a:tcPr marL="91440" marR="91440" marT="45720" marB="45720" anchor="ctr">
                    <a:solidFill>
                      <a:srgbClr val="FDF2E3"/>
                    </a:solidFill>
                  </a:tcPr>
                </a:tc>
              </a:tr>
              <a:tr h="485648">
                <a:tc>
                  <a:txBody>
                    <a:bodyPr/>
                    <a:lstStyle/>
                    <a:p>
                      <a:pPr>
                        <a:defRPr sz="2000" b="0">
                          <a:solidFill>
                            <a:srgbClr val="333333"/>
                          </a:solidFill>
                          <a:latin typeface="微软雅黑"/>
                        </a:defRPr>
                      </a:pPr>
                      <a:r>
                        <a:t>毒性</a:t>
                      </a:r>
                    </a:p>
                  </a:txBody>
                  <a:tcPr marL="91440" marR="91440" marT="45720" marB="45720" anchor="ctr">
                    <a:solidFill>
                      <a:srgbClr val="FFFFFF"/>
                    </a:solidFill>
                  </a:tcPr>
                </a:tc>
                <a:tc>
                  <a:txBody>
                    <a:bodyPr/>
                    <a:lstStyle/>
                    <a:p>
                      <a:pPr>
                        <a:defRPr sz="2000" b="0">
                          <a:solidFill>
                            <a:srgbClr val="333333"/>
                          </a:solidFill>
                          <a:latin typeface="微软雅黑"/>
                        </a:defRPr>
                      </a:pPr>
                      <a:r>
                        <a:t>有毒，与血红蛋白结合</a:t>
                      </a:r>
                    </a:p>
                  </a:txBody>
                  <a:tcPr marL="91440" marR="91440" marT="45720" marB="45720" anchor="ctr">
                    <a:solidFill>
                      <a:srgbClr val="FFFFFF"/>
                    </a:solidFill>
                  </a:tcPr>
                </a:tc>
                <a:tc>
                  <a:txBody>
                    <a:bodyPr/>
                    <a:lstStyle/>
                    <a:p>
                      <a:pPr>
                        <a:defRPr sz="2000" b="0">
                          <a:solidFill>
                            <a:srgbClr val="333333"/>
                          </a:solidFill>
                          <a:latin typeface="微软雅黑"/>
                        </a:defRPr>
                      </a:pPr>
                      <a:r>
                        <a:t>有毒</a:t>
                      </a:r>
                    </a:p>
                  </a:txBody>
                  <a:tcPr marL="91440" marR="91440" marT="45720" marB="45720" anchor="ctr">
                    <a:solidFill>
                      <a:srgbClr val="FFFFFF"/>
                    </a:solidFill>
                  </a:tcPr>
                </a:tc>
              </a:tr>
            </a:tbl>
          </a:graphicData>
        </a:graphic>
      </p:graphicFrame>
      <p:sp>
        <p:nvSpPr>
          <p:cNvPr id="7" name="Rectangle 6"/>
          <p:cNvSpPr/>
          <p:nvPr/>
        </p:nvSpPr>
        <p:spPr>
          <a:xfrm>
            <a:off x="493776" y="5971031"/>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文字_提示  计算常用总反应：4NO₂ + O₂ + "/>
          <p:cNvSpPr txBox="1"/>
          <p:nvPr/>
        </p:nvSpPr>
        <p:spPr>
          <a:xfrm>
            <a:off x="630936" y="603046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计算常用总反应：4NO₂ + O₂ + 2H₂O = 4HNO₃；4NO + 3O₂ + 2H₂O = 4HNO₃。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例题1</a:t>
            </a:r>
          </a:p>
        </p:txBody>
      </p:sp>
      <p:sp>
        <p:nvSpPr>
          <p:cNvPr id="5" name="文字_P29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P298</a:t>
            </a:r>
          </a:p>
        </p:txBody>
      </p:sp>
      <p:sp>
        <p:nvSpPr>
          <p:cNvPr id="6" name="文字_中华传统文化中蕴含着很多化学知识，下列说法错误的"/>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中华传统文化中蕴含着很多化学知识，下列说法错误的是</a:t>
            </a:r>
          </a:p>
        </p:txBody>
      </p:sp>
      <p:sp>
        <p:nvSpPr>
          <p:cNvPr id="7" name="文字_A.“落红不是无情物，化作春泥更护花”蕴含着自然"/>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A.“落红不是无情物，化作春泥更护花”蕴含着自然界中的碳、氮循环</a:t>
            </a:r>
          </a:p>
        </p:txBody>
      </p:sp>
      <p:sp>
        <p:nvSpPr>
          <p:cNvPr id="8" name="文字_B.“雷蟠电掣云滔滔，夜半载雨输亭皋”涉及化学反"/>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B.“雷蟠电掣云滔滔，夜半载雨输亭皋”涉及化学反应N₂ + O₂放电2NO</a:t>
            </a:r>
          </a:p>
        </p:txBody>
      </p:sp>
      <p:sp>
        <p:nvSpPr>
          <p:cNvPr id="9" name="文字_C. 《天工开物》“至于矾现五金色之形硫为群石之"/>
          <p:cNvSpPr txBox="1"/>
          <p:nvPr/>
        </p:nvSpPr>
        <p:spPr>
          <a:xfrm>
            <a:off x="502920" y="23957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《天工开物》“至于矾现五金色之形硫为群石之将，皆变化于烈火”，其矾指的</a:t>
            </a:r>
          </a:p>
          <a:p>
            <a:pPr>
              <a:lnSpc>
                <a:spcPct val="112000"/>
              </a:lnSpc>
              <a:spcBef>
                <a:spcPts val="0"/>
              </a:spcBef>
              <a:spcAft>
                <a:spcPts val="0"/>
              </a:spcAft>
              <a:defRPr sz="2400" b="0">
                <a:solidFill>
                  <a:srgbClr val="333333"/>
                </a:solidFill>
                <a:latin typeface="微软雅黑"/>
              </a:defRPr>
            </a:pPr>
            <a:r>
              <a:rPr>
                <a:ea typeface="微软雅黑"/>
              </a:rPr>
              <a:t>是金属硫酸盐</a:t>
            </a:r>
          </a:p>
        </p:txBody>
      </p:sp>
      <p:sp>
        <p:nvSpPr>
          <p:cNvPr id="10" name="文字_D. 《天工开物》“凡火药，硫为纯阳”，其中硫为"/>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《天工开物》“凡火药，硫为纯阳”，其中硫为浓硫酸</a:t>
            </a:r>
          </a:p>
        </p:txBody>
      </p:sp>
      <p:sp>
        <p:nvSpPr>
          <p:cNvPr id="11" name="文字_单选题  ·  14-00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14-001</a:t>
            </a:r>
          </a:p>
        </p:txBody>
      </p:sp>
      <p:sp>
        <p:nvSpPr>
          <p:cNvPr id="12" name="文字_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例题2</a:t>
            </a:r>
          </a:p>
        </p:txBody>
      </p:sp>
      <p:sp>
        <p:nvSpPr>
          <p:cNvPr id="5" name="文字_P2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P299</a:t>
            </a:r>
          </a:p>
        </p:txBody>
      </p:sp>
      <p:sp>
        <p:nvSpPr>
          <p:cNvPr id="6" name="文字_下列关于氮气的说法错误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下列关于氮气的说法错误的是</a:t>
            </a:r>
          </a:p>
        </p:txBody>
      </p:sp>
      <p:sp>
        <p:nvSpPr>
          <p:cNvPr id="7" name="文字_A. 氮的固定能够将氮气转化为可被人类利用的形式"/>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氮的固定能够将氮气转化为可被人类利用的形式，比如将氮气液化或固化</a:t>
            </a:r>
          </a:p>
        </p:txBody>
      </p:sp>
      <p:sp>
        <p:nvSpPr>
          <p:cNvPr id="8" name="文字_B. 氮气分子因存在氮氮三键而具有很稳定的化学性"/>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氮气分子因存在氮氮三键而具有很稳定的化学性质</a:t>
            </a:r>
          </a:p>
        </p:txBody>
      </p:sp>
      <p:sp>
        <p:nvSpPr>
          <p:cNvPr id="9" name="文字_C. 汽车尾气中的氮氧化物来自反应N₂ +  O"/>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汽车尾气中的氮氧化物来自反应N₂ +  O₂高温2NO</a:t>
            </a:r>
          </a:p>
        </p:txBody>
      </p:sp>
      <p:sp>
        <p:nvSpPr>
          <p:cNvPr id="10" name="文字_D. 氮气在化学反应中既可以作氧化剂又可以作还原"/>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氮气在化学反应中既可以作氧化剂又可以作还原剂</a:t>
            </a:r>
          </a:p>
        </p:txBody>
      </p:sp>
      <p:sp>
        <p:nvSpPr>
          <p:cNvPr id="11" name="文字_单选题  ·  14-00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14-002</a:t>
            </a:r>
          </a:p>
        </p:txBody>
      </p:sp>
      <p:sp>
        <p:nvSpPr>
          <p:cNvPr id="12" name="文字_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例题3</a:t>
            </a:r>
          </a:p>
        </p:txBody>
      </p:sp>
      <p:sp>
        <p:nvSpPr>
          <p:cNvPr id="5" name="文字_P2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P299</a:t>
            </a:r>
          </a:p>
        </p:txBody>
      </p:sp>
      <p:sp>
        <p:nvSpPr>
          <p:cNvPr id="6" name="文字_以下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以下说法正确的是（）</a:t>
            </a:r>
          </a:p>
        </p:txBody>
      </p:sp>
      <p:sp>
        <p:nvSpPr>
          <p:cNvPr id="7" name="文字_A. 活性炭、SO₂、Na₂O₂都能使品红溶液褪"/>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活性炭、SO₂、Na₂O₂都能使品红溶液褪色，原理不同</a:t>
            </a:r>
          </a:p>
        </p:txBody>
      </p:sp>
      <p:sp>
        <p:nvSpPr>
          <p:cNvPr id="8" name="文字_B. N₂性质稳定，可用作镁等金属的焊接保护气"/>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N₂性质稳定，可用作镁等金属的焊接保护气</a:t>
            </a:r>
          </a:p>
        </p:txBody>
      </p:sp>
      <p:sp>
        <p:nvSpPr>
          <p:cNvPr id="9" name="文字_C. 硫化钠和亚硫酸钠固体长期暴露在空气中不会变"/>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硫化钠和亚硫酸钠固体长期暴露在空气中不会变质</a:t>
            </a:r>
          </a:p>
        </p:txBody>
      </p:sp>
      <p:sp>
        <p:nvSpPr>
          <p:cNvPr id="10" name="文字_D. NO能与H₂O反应生成HNO₃"/>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NO能与H₂O反应生成HNO₃</a:t>
            </a:r>
          </a:p>
        </p:txBody>
      </p:sp>
      <p:sp>
        <p:nvSpPr>
          <p:cNvPr id="11" name="文字_单选题  ·  14-00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14-003</a:t>
            </a:r>
          </a:p>
        </p:txBody>
      </p:sp>
      <p:sp>
        <p:nvSpPr>
          <p:cNvPr id="12" name="文字_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例题4</a:t>
            </a:r>
          </a:p>
        </p:txBody>
      </p:sp>
      <p:sp>
        <p:nvSpPr>
          <p:cNvPr id="5" name="文字_P2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P299</a:t>
            </a:r>
          </a:p>
        </p:txBody>
      </p:sp>
      <p:sp>
        <p:nvSpPr>
          <p:cNvPr id="6" name="文字_下列转化通过一步反应不能直接完成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下列转化通过一步反应不能直接完成的是</a:t>
            </a:r>
          </a:p>
        </p:txBody>
      </p:sp>
      <p:sp>
        <p:nvSpPr>
          <p:cNvPr id="7" name="文字_①N₂ → NO₂ ②NO₂ → NO ③NH₃"/>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①N₂ → NO₂ ②NO₂ → NO ③NH₃ → NO ④S → SO₃ ⑤Cu → Cu(NO₃)₂ ⑥</a:t>
            </a:r>
          </a:p>
          <a:p>
            <a:pPr>
              <a:lnSpc>
                <a:spcPct val="112000"/>
              </a:lnSpc>
              <a:spcBef>
                <a:spcPts val="0"/>
              </a:spcBef>
              <a:spcAft>
                <a:spcPts val="0"/>
              </a:spcAft>
              <a:defRPr sz="2400" b="0">
                <a:solidFill>
                  <a:srgbClr val="333333"/>
                </a:solidFill>
                <a:latin typeface="微软雅黑"/>
              </a:defRPr>
            </a:pPr>
            <a:r>
              <a:rPr>
                <a:ea typeface="微软雅黑"/>
              </a:rPr>
              <a:t>HNO₃ → NO₂ ⑦HNO₃ → NO</a:t>
            </a:r>
          </a:p>
        </p:txBody>
      </p:sp>
      <p:sp>
        <p:nvSpPr>
          <p:cNvPr id="8" name="文字_A. ①④"/>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①④</a:t>
            </a:r>
          </a:p>
        </p:txBody>
      </p:sp>
      <p:sp>
        <p:nvSpPr>
          <p:cNvPr id="9" name="文字_B. ②⑤⑦"/>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②⑤⑦</a:t>
            </a:r>
          </a:p>
        </p:txBody>
      </p:sp>
      <p:sp>
        <p:nvSpPr>
          <p:cNvPr id="10" name="文字_C. ③④⑥"/>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③④⑥</a:t>
            </a:r>
          </a:p>
        </p:txBody>
      </p:sp>
      <p:sp>
        <p:nvSpPr>
          <p:cNvPr id="11" name="文字_D. ①"/>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①</a:t>
            </a:r>
          </a:p>
        </p:txBody>
      </p:sp>
      <p:sp>
        <p:nvSpPr>
          <p:cNvPr id="12" name="文字_单选题  ·  14-00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14-004</a:t>
            </a:r>
          </a:p>
        </p:txBody>
      </p:sp>
      <p:sp>
        <p:nvSpPr>
          <p:cNvPr id="13" name="文字_1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例题5</a:t>
            </a:r>
          </a:p>
        </p:txBody>
      </p:sp>
      <p:sp>
        <p:nvSpPr>
          <p:cNvPr id="5" name="文字_P29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P299</a:t>
            </a:r>
          </a:p>
        </p:txBody>
      </p:sp>
      <p:sp>
        <p:nvSpPr>
          <p:cNvPr id="6" name="文字_氮及其化合物的价类二维图如图所示，下列有关说法正"/>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氮及其化合物的价类二维图如图所示，下列有关说法正确的是</a:t>
            </a:r>
          </a:p>
        </p:txBody>
      </p:sp>
      <p:pic>
        <p:nvPicPr>
          <p:cNvPr id="7" name="Picture 6" descr="image.png"/>
          <p:cNvPicPr>
            <a:picLocks noChangeAspect="1"/>
          </p:cNvPicPr>
          <p:nvPr/>
        </p:nvPicPr>
        <p:blipFill>
          <a:blip r:embed="rId3"/>
          <a:stretch>
            <a:fillRect/>
          </a:stretch>
        </p:blipFill>
        <p:spPr>
          <a:xfrm>
            <a:off x="502920" y="1517904"/>
            <a:ext cx="11064240" cy="2473183"/>
          </a:xfrm>
          <a:prstGeom prst="rect">
            <a:avLst/>
          </a:prstGeom>
        </p:spPr>
      </p:pic>
      <p:sp>
        <p:nvSpPr>
          <p:cNvPr id="8" name="原题文字_299_36"/>
          <p:cNvSpPr txBox="1"/>
          <p:nvPr/>
        </p:nvSpPr>
        <p:spPr>
          <a:xfrm>
            <a:off x="587146" y="1549787"/>
            <a:ext cx="402114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实验室NH₃可由NH₄NO₃固体分解制取</a:t>
            </a:r>
          </a:p>
        </p:txBody>
      </p:sp>
      <p:sp>
        <p:nvSpPr>
          <p:cNvPr id="9" name="原题文字_299_37"/>
          <p:cNvSpPr txBox="1"/>
          <p:nvPr/>
        </p:nvSpPr>
        <p:spPr>
          <a:xfrm>
            <a:off x="10089375" y="1748867"/>
            <a:ext cx="920095" cy="228941"/>
          </a:xfrm>
          <a:prstGeom prst="rect">
            <a:avLst/>
          </a:prstGeom>
          <a:noFill/>
        </p:spPr>
        <p:txBody>
          <a:bodyPr wrap="none" lIns="0" rIns="0" tIns="0" bIns="0">
            <a:spAutoFit/>
          </a:bodyPr>
          <a:lstStyle/>
          <a:p>
            <a:pPr>
              <a:lnSpc>
                <a:spcPct val="112000"/>
              </a:lnSpc>
              <a:spcBef>
                <a:spcPts val="0"/>
              </a:spcBef>
              <a:spcAft>
                <a:spcPts val="0"/>
              </a:spcAft>
              <a:defRPr sz="941" b="0">
                <a:solidFill>
                  <a:srgbClr val="333333"/>
                </a:solidFill>
                <a:latin typeface="微软雅黑"/>
              </a:defRPr>
            </a:pPr>
            <a:r>
              <a:rPr>
                <a:ea typeface="微软雅黑"/>
              </a:rPr>
              <a:t>HNO₃NH₄NO₃</a:t>
            </a:r>
          </a:p>
        </p:txBody>
      </p:sp>
      <p:sp>
        <p:nvSpPr>
          <p:cNvPr id="10" name="原题文字_299_38"/>
          <p:cNvSpPr txBox="1"/>
          <p:nvPr/>
        </p:nvSpPr>
        <p:spPr>
          <a:xfrm>
            <a:off x="571832" y="1940290"/>
            <a:ext cx="345453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N₂生成NH₃的过程属于氮的固定</a:t>
            </a:r>
          </a:p>
        </p:txBody>
      </p:sp>
      <p:sp>
        <p:nvSpPr>
          <p:cNvPr id="11" name="原题文字_299_39"/>
          <p:cNvSpPr txBox="1"/>
          <p:nvPr/>
        </p:nvSpPr>
        <p:spPr>
          <a:xfrm>
            <a:off x="571832" y="2315479"/>
            <a:ext cx="3990517"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C. 常温下铝制品不能盛装HNO₃的浓溶液</a:t>
            </a:r>
          </a:p>
        </p:txBody>
      </p:sp>
      <p:sp>
        <p:nvSpPr>
          <p:cNvPr id="12" name="原题文字_299_40"/>
          <p:cNvSpPr txBox="1"/>
          <p:nvPr/>
        </p:nvSpPr>
        <p:spPr>
          <a:xfrm>
            <a:off x="564175" y="2690667"/>
            <a:ext cx="7673492" cy="358343"/>
          </a:xfrm>
          <a:prstGeom prst="rect">
            <a:avLst/>
          </a:prstGeom>
          <a:noFill/>
        </p:spPr>
        <p:txBody>
          <a:bodyPr wrap="none" lIns="0" rIns="0" tIns="0" bIns="0">
            <a:spAutoFit/>
          </a:bodyPr>
          <a:lstStyle/>
          <a:p>
            <a:pPr>
              <a:lnSpc>
                <a:spcPct val="112000"/>
              </a:lnSpc>
              <a:spcBef>
                <a:spcPts val="0"/>
              </a:spcBef>
              <a:spcAft>
                <a:spcPts val="0"/>
              </a:spcAft>
              <a:defRPr sz="1723" b="0">
                <a:solidFill>
                  <a:srgbClr val="333333"/>
                </a:solidFill>
                <a:latin typeface="微软雅黑"/>
              </a:defRPr>
            </a:pPr>
            <a:r>
              <a:rPr>
                <a:ea typeface="微软雅黑"/>
              </a:rPr>
              <a:t>D. 向浓HNO₃中投入红热的木炭，产生红棕色气体，一定可以证明NO₂产生于木</a:t>
            </a:r>
          </a:p>
        </p:txBody>
      </p:sp>
      <p:sp>
        <p:nvSpPr>
          <p:cNvPr id="13" name="原题文字_299_41"/>
          <p:cNvSpPr txBox="1"/>
          <p:nvPr/>
        </p:nvSpPr>
        <p:spPr>
          <a:xfrm>
            <a:off x="916393" y="3027572"/>
            <a:ext cx="197674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炭与浓HNO₃的反应</a:t>
            </a:r>
          </a:p>
        </p:txBody>
      </p:sp>
      <p:sp>
        <p:nvSpPr>
          <p:cNvPr id="14" name="原题文字_299_42"/>
          <p:cNvSpPr txBox="1"/>
          <p:nvPr/>
        </p:nvSpPr>
        <p:spPr>
          <a:xfrm>
            <a:off x="9009750" y="3494643"/>
            <a:ext cx="361140" cy="258803"/>
          </a:xfrm>
          <a:prstGeom prst="rect">
            <a:avLst/>
          </a:prstGeom>
          <a:noFill/>
        </p:spPr>
        <p:txBody>
          <a:bodyPr wrap="none" lIns="0" rIns="0" tIns="0" bIns="0">
            <a:spAutoFit/>
          </a:bodyPr>
          <a:lstStyle/>
          <a:p>
            <a:pPr>
              <a:lnSpc>
                <a:spcPct val="112000"/>
              </a:lnSpc>
              <a:spcBef>
                <a:spcPts val="0"/>
              </a:spcBef>
              <a:spcAft>
                <a:spcPts val="0"/>
              </a:spcAft>
              <a:defRPr sz="1241" b="0">
                <a:solidFill>
                  <a:srgbClr val="333333"/>
                </a:solidFill>
                <a:latin typeface="微软雅黑"/>
              </a:defRPr>
            </a:pPr>
            <a:r>
              <a:rPr>
                <a:ea typeface="微软雅黑"/>
              </a:rPr>
              <a:t>NH₃</a:t>
            </a:r>
          </a:p>
        </p:txBody>
      </p:sp>
      <p:sp>
        <p:nvSpPr>
          <p:cNvPr id="15" name="原题文字_299_43"/>
          <p:cNvSpPr txBox="1"/>
          <p:nvPr/>
        </p:nvSpPr>
        <p:spPr>
          <a:xfrm>
            <a:off x="8894897" y="3762635"/>
            <a:ext cx="1578589"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氢化物单质氧化物酸</a:t>
            </a:r>
          </a:p>
        </p:txBody>
      </p:sp>
      <p:sp>
        <p:nvSpPr>
          <p:cNvPr id="16" name="原题文字_299_44"/>
          <p:cNvSpPr txBox="1"/>
          <p:nvPr/>
        </p:nvSpPr>
        <p:spPr>
          <a:xfrm>
            <a:off x="10510505" y="3754978"/>
            <a:ext cx="912438"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盐物质类别</a:t>
            </a:r>
          </a:p>
        </p:txBody>
      </p:sp>
      <p:sp>
        <p:nvSpPr>
          <p:cNvPr id="17" name="文字_单选题  ·  14-00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14-005</a:t>
            </a:r>
          </a:p>
        </p:txBody>
      </p:sp>
      <p:sp>
        <p:nvSpPr>
          <p:cNvPr id="18" name="文字_1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例题6</a:t>
            </a:r>
          </a:p>
        </p:txBody>
      </p:sp>
      <p:sp>
        <p:nvSpPr>
          <p:cNvPr id="5" name="文字_P30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P300</a:t>
            </a:r>
          </a:p>
        </p:txBody>
      </p:sp>
      <p:sp>
        <p:nvSpPr>
          <p:cNvPr id="6" name="文字_亚硝酸钠（NaNO₂）是一种白色固体，在生活中应"/>
          <p:cNvSpPr txBox="1"/>
          <p:nvPr/>
        </p:nvSpPr>
        <p:spPr>
          <a:xfrm>
            <a:off x="502920" y="1078992"/>
            <a:ext cx="11064240" cy="417512"/>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亚硝酸钠（NaNO₂）是一种白色固体，在生活中应用广泛：少量可做食品的护色剂，可防止肉毒杆菌在肉类食品中生长等。某兴趣小组利用下列装置进行了干</a:t>
            </a:r>
          </a:p>
          <a:p>
            <a:pPr>
              <a:lnSpc>
                <a:spcPct val="112000"/>
              </a:lnSpc>
              <a:spcBef>
                <a:spcPts val="0"/>
              </a:spcBef>
              <a:spcAft>
                <a:spcPts val="0"/>
              </a:spcAft>
              <a:defRPr sz="1250" b="0">
                <a:solidFill>
                  <a:srgbClr val="333333"/>
                </a:solidFill>
                <a:latin typeface="微软雅黑"/>
              </a:defRPr>
            </a:pPr>
            <a:r>
              <a:rPr>
                <a:ea typeface="微软雅黑"/>
              </a:rPr>
              <a:t>燥NaNO₂的制备（夹持及加热装置略去）及相关实验探究。</a:t>
            </a:r>
          </a:p>
        </p:txBody>
      </p:sp>
      <p:sp>
        <p:nvSpPr>
          <p:cNvPr id="7" name="文字_查阅资料可知:"/>
          <p:cNvSpPr txBox="1"/>
          <p:nvPr/>
        </p:nvSpPr>
        <p:spPr>
          <a:xfrm>
            <a:off x="502920" y="1496504"/>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查阅资料可知:</a:t>
            </a:r>
          </a:p>
        </p:txBody>
      </p:sp>
      <p:sp>
        <p:nvSpPr>
          <p:cNvPr id="8" name="文字_① 2 NO + Na₂O₂ =2 NaNO₂;"/>
          <p:cNvSpPr txBox="1"/>
          <p:nvPr/>
        </p:nvSpPr>
        <p:spPr>
          <a:xfrm>
            <a:off x="502920" y="1725104"/>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① 2 NO + Na₂O₂ =2 NaNO₂; 2 NO₂ + Na₂O₂ =2 NaNO₃。</a:t>
            </a:r>
          </a:p>
        </p:txBody>
      </p:sp>
      <p:pic>
        <p:nvPicPr>
          <p:cNvPr id="9" name="Picture 8" descr="image.png"/>
          <p:cNvPicPr>
            <a:picLocks noChangeAspect="1"/>
          </p:cNvPicPr>
          <p:nvPr/>
        </p:nvPicPr>
        <p:blipFill>
          <a:blip r:embed="rId3"/>
          <a:stretch>
            <a:fillRect/>
          </a:stretch>
        </p:blipFill>
        <p:spPr>
          <a:xfrm>
            <a:off x="502920" y="1953704"/>
            <a:ext cx="7910129" cy="2715172"/>
          </a:xfrm>
          <a:prstGeom prst="rect">
            <a:avLst/>
          </a:prstGeom>
        </p:spPr>
      </p:pic>
      <p:sp>
        <p:nvSpPr>
          <p:cNvPr id="10" name="原题文字_300_7"/>
          <p:cNvSpPr txBox="1"/>
          <p:nvPr/>
        </p:nvSpPr>
        <p:spPr>
          <a:xfrm>
            <a:off x="552187" y="1974674"/>
            <a:ext cx="3853915" cy="291771"/>
          </a:xfrm>
          <a:prstGeom prst="rect">
            <a:avLst/>
          </a:prstGeom>
          <a:noFill/>
        </p:spPr>
        <p:txBody>
          <a:bodyPr wrap="none" lIns="0" rIns="0" tIns="0" bIns="0">
            <a:spAutoFit/>
          </a:bodyPr>
          <a:lstStyle/>
          <a:p>
            <a:pPr>
              <a:lnSpc>
                <a:spcPct val="112000"/>
              </a:lnSpc>
              <a:spcBef>
                <a:spcPts val="0"/>
              </a:spcBef>
              <a:spcAft>
                <a:spcPts val="0"/>
              </a:spcAft>
              <a:defRPr sz="1138" b="0">
                <a:solidFill>
                  <a:srgbClr val="333333"/>
                </a:solidFill>
                <a:latin typeface="微软雅黑"/>
              </a:defRPr>
            </a:pPr>
            <a:r>
              <a:rPr>
                <a:ea typeface="微软雅黑"/>
              </a:rPr>
              <a:t>②酸性K₂Cr₂O₇能把NO氧化成NO₃，自身被还原成Cr³⁺。</a:t>
            </a:r>
          </a:p>
        </p:txBody>
      </p:sp>
      <p:sp>
        <p:nvSpPr>
          <p:cNvPr id="11" name="原题文字_300_8"/>
          <p:cNvSpPr txBox="1"/>
          <p:nvPr/>
        </p:nvSpPr>
        <p:spPr>
          <a:xfrm>
            <a:off x="1417101" y="2253855"/>
            <a:ext cx="186243" cy="185025"/>
          </a:xfrm>
          <a:prstGeom prst="rect">
            <a:avLst/>
          </a:prstGeom>
          <a:noFill/>
        </p:spPr>
        <p:txBody>
          <a:bodyPr wrap="none" lIns="0" rIns="0" tIns="0" bIns="0">
            <a:spAutoFit/>
          </a:bodyPr>
          <a:lstStyle/>
          <a:p>
            <a:pPr>
              <a:lnSpc>
                <a:spcPct val="112000"/>
              </a:lnSpc>
              <a:spcBef>
                <a:spcPts val="0"/>
              </a:spcBef>
              <a:spcAft>
                <a:spcPts val="0"/>
              </a:spcAft>
              <a:defRPr sz="896" b="0">
                <a:solidFill>
                  <a:srgbClr val="333333"/>
                </a:solidFill>
                <a:latin typeface="微软雅黑"/>
              </a:defRPr>
            </a:pPr>
            <a:r>
              <a:rPr>
                <a:ea typeface="微软雅黑"/>
              </a:rPr>
              <a:t>a</a:t>
            </a:r>
          </a:p>
        </p:txBody>
      </p:sp>
      <p:sp>
        <p:nvSpPr>
          <p:cNvPr id="12" name="原题文字_300_9"/>
          <p:cNvSpPr txBox="1"/>
          <p:nvPr/>
        </p:nvSpPr>
        <p:spPr>
          <a:xfrm>
            <a:off x="2199902" y="2472820"/>
            <a:ext cx="629648" cy="284655"/>
          </a:xfrm>
          <a:prstGeom prst="rect">
            <a:avLst/>
          </a:prstGeom>
          <a:noFill/>
        </p:spPr>
        <p:txBody>
          <a:bodyPr wrap="none" lIns="0" rIns="0" tIns="0" bIns="0">
            <a:spAutoFit/>
          </a:bodyPr>
          <a:lstStyle/>
          <a:p>
            <a:pPr>
              <a:lnSpc>
                <a:spcPct val="112000"/>
              </a:lnSpc>
              <a:spcBef>
                <a:spcPts val="0"/>
              </a:spcBef>
              <a:spcAft>
                <a:spcPts val="0"/>
              </a:spcAft>
              <a:defRPr sz="1379" b="0">
                <a:solidFill>
                  <a:srgbClr val="333333"/>
                </a:solidFill>
                <a:latin typeface="微软雅黑"/>
              </a:defRPr>
            </a:pPr>
            <a:r>
              <a:rPr>
                <a:ea typeface="微软雅黑"/>
              </a:rPr>
              <a:t>浓硝酸</a:t>
            </a:r>
          </a:p>
        </p:txBody>
      </p:sp>
      <p:sp>
        <p:nvSpPr>
          <p:cNvPr id="13" name="原题文字_300_10"/>
          <p:cNvSpPr txBox="1"/>
          <p:nvPr/>
        </p:nvSpPr>
        <p:spPr>
          <a:xfrm>
            <a:off x="5648609" y="2576829"/>
            <a:ext cx="766501" cy="277538"/>
          </a:xfrm>
          <a:prstGeom prst="rect">
            <a:avLst/>
          </a:prstGeom>
          <a:noFill/>
        </p:spPr>
        <p:txBody>
          <a:bodyPr wrap="none" lIns="0" rIns="0" tIns="0" bIns="0">
            <a:spAutoFit/>
          </a:bodyPr>
          <a:lstStyle/>
          <a:p>
            <a:pPr>
              <a:lnSpc>
                <a:spcPct val="112000"/>
              </a:lnSpc>
              <a:spcBef>
                <a:spcPts val="0"/>
              </a:spcBef>
              <a:spcAft>
                <a:spcPts val="0"/>
              </a:spcAft>
              <a:defRPr sz="1344" b="0">
                <a:solidFill>
                  <a:srgbClr val="333333"/>
                </a:solidFill>
                <a:latin typeface="微软雅黑"/>
              </a:defRPr>
            </a:pPr>
            <a:r>
              <a:rPr>
                <a:ea typeface="微软雅黑"/>
              </a:rPr>
              <a:t>Na₂O₂粉</a:t>
            </a:r>
          </a:p>
        </p:txBody>
      </p:sp>
      <p:sp>
        <p:nvSpPr>
          <p:cNvPr id="14" name="原题文字_300_11"/>
          <p:cNvSpPr txBox="1"/>
          <p:nvPr/>
        </p:nvSpPr>
        <p:spPr>
          <a:xfrm>
            <a:off x="579557" y="2817691"/>
            <a:ext cx="284777" cy="241956"/>
          </a:xfrm>
          <a:prstGeom prst="rect">
            <a:avLst/>
          </a:prstGeom>
          <a:noFill/>
        </p:spPr>
        <p:txBody>
          <a:bodyPr wrap="none" lIns="0" rIns="0" tIns="0" bIns="0">
            <a:spAutoFit/>
          </a:bodyPr>
          <a:lstStyle/>
          <a:p>
            <a:pPr>
              <a:lnSpc>
                <a:spcPct val="112000"/>
              </a:lnSpc>
              <a:spcBef>
                <a:spcPts val="0"/>
              </a:spcBef>
              <a:spcAft>
                <a:spcPts val="0"/>
              </a:spcAft>
              <a:defRPr sz="1172" b="0">
                <a:solidFill>
                  <a:srgbClr val="333333"/>
                </a:solidFill>
                <a:latin typeface="微软雅黑"/>
              </a:defRPr>
            </a:pPr>
            <a:r>
              <a:rPr>
                <a:ea typeface="微软雅黑"/>
              </a:rPr>
              <a:t>N₂</a:t>
            </a:r>
          </a:p>
        </p:txBody>
      </p:sp>
      <p:sp>
        <p:nvSpPr>
          <p:cNvPr id="15" name="原题文字_300_12"/>
          <p:cNvSpPr txBox="1"/>
          <p:nvPr/>
        </p:nvSpPr>
        <p:spPr>
          <a:xfrm>
            <a:off x="875161" y="3184458"/>
            <a:ext cx="596803" cy="291771"/>
          </a:xfrm>
          <a:prstGeom prst="rect">
            <a:avLst/>
          </a:prstGeom>
          <a:noFill/>
        </p:spPr>
        <p:txBody>
          <a:bodyPr wrap="none" lIns="0" rIns="0" tIns="0" bIns="0">
            <a:spAutoFit/>
          </a:bodyPr>
          <a:lstStyle/>
          <a:p>
            <a:pPr>
              <a:lnSpc>
                <a:spcPct val="112000"/>
              </a:lnSpc>
              <a:spcBef>
                <a:spcPts val="0"/>
              </a:spcBef>
              <a:spcAft>
                <a:spcPts val="0"/>
              </a:spcAft>
              <a:defRPr sz="1413" b="0">
                <a:solidFill>
                  <a:srgbClr val="333333"/>
                </a:solidFill>
                <a:latin typeface="微软雅黑"/>
              </a:defRPr>
            </a:pPr>
            <a:r>
              <a:rPr>
                <a:ea typeface="微软雅黑"/>
              </a:rPr>
              <a:t>弹簧夹</a:t>
            </a:r>
          </a:p>
        </p:txBody>
      </p:sp>
      <p:sp>
        <p:nvSpPr>
          <p:cNvPr id="16" name="原题文字_300_13"/>
          <p:cNvSpPr txBox="1"/>
          <p:nvPr/>
        </p:nvSpPr>
        <p:spPr>
          <a:xfrm>
            <a:off x="1077704" y="3622389"/>
            <a:ext cx="323096" cy="256189"/>
          </a:xfrm>
          <a:prstGeom prst="rect">
            <a:avLst/>
          </a:prstGeom>
          <a:noFill/>
        </p:spPr>
        <p:txBody>
          <a:bodyPr wrap="none" lIns="0" rIns="0" tIns="0" bIns="0">
            <a:spAutoFit/>
          </a:bodyPr>
          <a:lstStyle/>
          <a:p>
            <a:pPr>
              <a:lnSpc>
                <a:spcPct val="112000"/>
              </a:lnSpc>
              <a:spcBef>
                <a:spcPts val="0"/>
              </a:spcBef>
              <a:spcAft>
                <a:spcPts val="0"/>
              </a:spcAft>
              <a:defRPr sz="1241" b="0">
                <a:solidFill>
                  <a:srgbClr val="333333"/>
                </a:solidFill>
                <a:latin typeface="微软雅黑"/>
              </a:defRPr>
            </a:pPr>
            <a:r>
              <a:rPr>
                <a:ea typeface="微软雅黑"/>
              </a:rPr>
              <a:t>Cu</a:t>
            </a:r>
          </a:p>
        </p:txBody>
      </p:sp>
      <p:sp>
        <p:nvSpPr>
          <p:cNvPr id="17" name="原题文字_300_14"/>
          <p:cNvSpPr txBox="1"/>
          <p:nvPr/>
        </p:nvSpPr>
        <p:spPr>
          <a:xfrm>
            <a:off x="6841971" y="3622389"/>
            <a:ext cx="454476" cy="306004"/>
          </a:xfrm>
          <a:prstGeom prst="rect">
            <a:avLst/>
          </a:prstGeom>
          <a:noFill/>
        </p:spPr>
        <p:txBody>
          <a:bodyPr wrap="none" lIns="0" rIns="0" tIns="0" bIns="0">
            <a:spAutoFit/>
          </a:bodyPr>
          <a:lstStyle/>
          <a:p>
            <a:pPr>
              <a:lnSpc>
                <a:spcPct val="112000"/>
              </a:lnSpc>
              <a:spcBef>
                <a:spcPts val="0"/>
              </a:spcBef>
              <a:spcAft>
                <a:spcPts val="0"/>
              </a:spcAft>
              <a:defRPr sz="1482" b="0">
                <a:solidFill>
                  <a:srgbClr val="333333"/>
                </a:solidFill>
                <a:latin typeface="微软雅黑"/>
              </a:defRPr>
            </a:pPr>
            <a:r>
              <a:rPr>
                <a:ea typeface="微软雅黑"/>
              </a:rPr>
              <a:t>酸性</a:t>
            </a:r>
          </a:p>
        </p:txBody>
      </p:sp>
      <p:sp>
        <p:nvSpPr>
          <p:cNvPr id="18" name="原题文字_300_15"/>
          <p:cNvSpPr txBox="1"/>
          <p:nvPr/>
        </p:nvSpPr>
        <p:spPr>
          <a:xfrm>
            <a:off x="6743437" y="3868726"/>
            <a:ext cx="728182" cy="306004"/>
          </a:xfrm>
          <a:prstGeom prst="rect">
            <a:avLst/>
          </a:prstGeom>
          <a:noFill/>
        </p:spPr>
        <p:txBody>
          <a:bodyPr wrap="none" lIns="0" rIns="0" tIns="0" bIns="0">
            <a:spAutoFit/>
          </a:bodyPr>
          <a:lstStyle/>
          <a:p>
            <a:pPr>
              <a:lnSpc>
                <a:spcPct val="112000"/>
              </a:lnSpc>
              <a:spcBef>
                <a:spcPts val="0"/>
              </a:spcBef>
              <a:spcAft>
                <a:spcPts val="0"/>
              </a:spcAft>
              <a:defRPr sz="1271" b="0">
                <a:solidFill>
                  <a:srgbClr val="333333"/>
                </a:solidFill>
                <a:latin typeface="微软雅黑"/>
              </a:defRPr>
            </a:pPr>
            <a:r>
              <a:rPr>
                <a:ea typeface="微软雅黑"/>
              </a:rPr>
              <a:t>K₂Cr₂O₇</a:t>
            </a:r>
          </a:p>
        </p:txBody>
      </p:sp>
      <p:sp>
        <p:nvSpPr>
          <p:cNvPr id="19" name="原题文字_300_16"/>
          <p:cNvSpPr txBox="1"/>
          <p:nvPr/>
        </p:nvSpPr>
        <p:spPr>
          <a:xfrm>
            <a:off x="2227273" y="3967260"/>
            <a:ext cx="793872" cy="306004"/>
          </a:xfrm>
          <a:prstGeom prst="rect">
            <a:avLst/>
          </a:prstGeom>
          <a:noFill/>
        </p:spPr>
        <p:txBody>
          <a:bodyPr wrap="none" lIns="0" rIns="0" tIns="0" bIns="0">
            <a:spAutoFit/>
          </a:bodyPr>
          <a:lstStyle/>
          <a:p>
            <a:pPr>
              <a:lnSpc>
                <a:spcPct val="112000"/>
              </a:lnSpc>
              <a:spcBef>
                <a:spcPts val="0"/>
              </a:spcBef>
              <a:spcAft>
                <a:spcPts val="0"/>
              </a:spcAft>
              <a:defRPr sz="1318" b="0">
                <a:solidFill>
                  <a:srgbClr val="333333"/>
                </a:solidFill>
                <a:latin typeface="微软雅黑"/>
              </a:defRPr>
            </a:pPr>
            <a:r>
              <a:rPr>
                <a:ea typeface="微软雅黑"/>
              </a:rPr>
              <a:t>Fe(NO₃)₂</a:t>
            </a:r>
          </a:p>
        </p:txBody>
      </p:sp>
      <p:sp>
        <p:nvSpPr>
          <p:cNvPr id="20" name="原题文字_300_17"/>
          <p:cNvSpPr txBox="1"/>
          <p:nvPr/>
        </p:nvSpPr>
        <p:spPr>
          <a:xfrm>
            <a:off x="6841971" y="4065795"/>
            <a:ext cx="459950" cy="306004"/>
          </a:xfrm>
          <a:prstGeom prst="rect">
            <a:avLst/>
          </a:prstGeom>
          <a:noFill/>
        </p:spPr>
        <p:txBody>
          <a:bodyPr wrap="none" lIns="0" rIns="0" tIns="0" bIns="0">
            <a:spAutoFit/>
          </a:bodyPr>
          <a:lstStyle/>
          <a:p>
            <a:pPr>
              <a:lnSpc>
                <a:spcPct val="112000"/>
              </a:lnSpc>
              <a:spcBef>
                <a:spcPts val="0"/>
              </a:spcBef>
              <a:spcAft>
                <a:spcPts val="0"/>
              </a:spcAft>
              <a:defRPr sz="1482" b="0">
                <a:solidFill>
                  <a:srgbClr val="333333"/>
                </a:solidFill>
                <a:latin typeface="微软雅黑"/>
              </a:defRPr>
            </a:pPr>
            <a:r>
              <a:rPr>
                <a:ea typeface="微软雅黑"/>
              </a:rPr>
              <a:t>溶液</a:t>
            </a:r>
          </a:p>
        </p:txBody>
      </p:sp>
      <p:sp>
        <p:nvSpPr>
          <p:cNvPr id="21" name="原题文字_300_18"/>
          <p:cNvSpPr txBox="1"/>
          <p:nvPr/>
        </p:nvSpPr>
        <p:spPr>
          <a:xfrm>
            <a:off x="2386023" y="4158855"/>
            <a:ext cx="454476" cy="306004"/>
          </a:xfrm>
          <a:prstGeom prst="rect">
            <a:avLst/>
          </a:prstGeom>
          <a:noFill/>
        </p:spPr>
        <p:txBody>
          <a:bodyPr wrap="none" lIns="0" rIns="0" tIns="0" bIns="0">
            <a:spAutoFit/>
          </a:bodyPr>
          <a:lstStyle/>
          <a:p>
            <a:pPr>
              <a:lnSpc>
                <a:spcPct val="112000"/>
              </a:lnSpc>
              <a:spcBef>
                <a:spcPts val="0"/>
              </a:spcBef>
              <a:spcAft>
                <a:spcPts val="0"/>
              </a:spcAft>
              <a:defRPr sz="1482" b="0">
                <a:solidFill>
                  <a:srgbClr val="333333"/>
                </a:solidFill>
                <a:latin typeface="微软雅黑"/>
              </a:defRPr>
            </a:pPr>
            <a:r>
              <a:rPr>
                <a:ea typeface="微软雅黑"/>
              </a:rPr>
              <a:t>溶液</a:t>
            </a:r>
          </a:p>
        </p:txBody>
      </p:sp>
      <p:sp>
        <p:nvSpPr>
          <p:cNvPr id="22" name="原题文字_300_19"/>
          <p:cNvSpPr txBox="1"/>
          <p:nvPr/>
        </p:nvSpPr>
        <p:spPr>
          <a:xfrm>
            <a:off x="1811238" y="4438036"/>
            <a:ext cx="240984" cy="256189"/>
          </a:xfrm>
          <a:prstGeom prst="rect">
            <a:avLst/>
          </a:prstGeom>
          <a:noFill/>
        </p:spPr>
        <p:txBody>
          <a:bodyPr wrap="none" lIns="0" rIns="0" tIns="0" bIns="0">
            <a:spAutoFit/>
          </a:bodyPr>
          <a:lstStyle/>
          <a:p>
            <a:pPr>
              <a:lnSpc>
                <a:spcPct val="112000"/>
              </a:lnSpc>
              <a:spcBef>
                <a:spcPts val="0"/>
              </a:spcBef>
              <a:spcAft>
                <a:spcPts val="0"/>
              </a:spcAft>
              <a:defRPr sz="1241" b="0">
                <a:solidFill>
                  <a:srgbClr val="333333"/>
                </a:solidFill>
                <a:latin typeface="微软雅黑"/>
              </a:defRPr>
            </a:pPr>
            <a:r>
              <a:rPr>
                <a:ea typeface="微软雅黑"/>
              </a:rPr>
              <a:t>A</a:t>
            </a:r>
          </a:p>
        </p:txBody>
      </p:sp>
      <p:sp>
        <p:nvSpPr>
          <p:cNvPr id="23" name="原题文字_300_20"/>
          <p:cNvSpPr txBox="1"/>
          <p:nvPr/>
        </p:nvSpPr>
        <p:spPr>
          <a:xfrm>
            <a:off x="3234514" y="4443510"/>
            <a:ext cx="213614" cy="227724"/>
          </a:xfrm>
          <a:prstGeom prst="rect">
            <a:avLst/>
          </a:prstGeom>
          <a:noFill/>
        </p:spPr>
        <p:txBody>
          <a:bodyPr wrap="none" lIns="0" rIns="0" tIns="0" bIns="0">
            <a:spAutoFit/>
          </a:bodyPr>
          <a:lstStyle/>
          <a:p>
            <a:pPr>
              <a:lnSpc>
                <a:spcPct val="112000"/>
              </a:lnSpc>
              <a:spcBef>
                <a:spcPts val="0"/>
              </a:spcBef>
              <a:spcAft>
                <a:spcPts val="0"/>
              </a:spcAft>
              <a:defRPr sz="1103" b="0">
                <a:solidFill>
                  <a:srgbClr val="333333"/>
                </a:solidFill>
                <a:latin typeface="微软雅黑"/>
              </a:defRPr>
            </a:pPr>
            <a:r>
              <a:rPr>
                <a:ea typeface="微软雅黑"/>
              </a:rPr>
              <a:t>B</a:t>
            </a:r>
          </a:p>
        </p:txBody>
      </p:sp>
      <p:sp>
        <p:nvSpPr>
          <p:cNvPr id="24" name="原题文字_300_21"/>
          <p:cNvSpPr txBox="1"/>
          <p:nvPr/>
        </p:nvSpPr>
        <p:spPr>
          <a:xfrm>
            <a:off x="4241756" y="4438036"/>
            <a:ext cx="219088" cy="234840"/>
          </a:xfrm>
          <a:prstGeom prst="rect">
            <a:avLst/>
          </a:prstGeom>
          <a:noFill/>
        </p:spPr>
        <p:txBody>
          <a:bodyPr wrap="none" lIns="0" rIns="0" tIns="0" bIns="0">
            <a:spAutoFit/>
          </a:bodyPr>
          <a:lstStyle/>
          <a:p>
            <a:pPr>
              <a:lnSpc>
                <a:spcPct val="112000"/>
              </a:lnSpc>
              <a:spcBef>
                <a:spcPts val="0"/>
              </a:spcBef>
              <a:spcAft>
                <a:spcPts val="0"/>
              </a:spcAft>
              <a:defRPr sz="1137" b="0">
                <a:solidFill>
                  <a:srgbClr val="333333"/>
                </a:solidFill>
                <a:latin typeface="微软雅黑"/>
              </a:defRPr>
            </a:pPr>
            <a:r>
              <a:rPr>
                <a:ea typeface="微软雅黑"/>
              </a:rPr>
              <a:t>C</a:t>
            </a:r>
          </a:p>
        </p:txBody>
      </p:sp>
      <p:sp>
        <p:nvSpPr>
          <p:cNvPr id="25" name="原题文字_300_22"/>
          <p:cNvSpPr txBox="1"/>
          <p:nvPr/>
        </p:nvSpPr>
        <p:spPr>
          <a:xfrm>
            <a:off x="5916842" y="4448984"/>
            <a:ext cx="224562" cy="213491"/>
          </a:xfrm>
          <a:prstGeom prst="rect">
            <a:avLst/>
          </a:prstGeom>
          <a:noFill/>
        </p:spPr>
        <p:txBody>
          <a:bodyPr wrap="none" lIns="0" rIns="0" tIns="0" bIns="0">
            <a:spAutoFit/>
          </a:bodyPr>
          <a:lstStyle/>
          <a:p>
            <a:pPr>
              <a:lnSpc>
                <a:spcPct val="112000"/>
              </a:lnSpc>
              <a:spcBef>
                <a:spcPts val="0"/>
              </a:spcBef>
              <a:spcAft>
                <a:spcPts val="0"/>
              </a:spcAft>
              <a:defRPr sz="1034" b="0">
                <a:solidFill>
                  <a:srgbClr val="333333"/>
                </a:solidFill>
                <a:latin typeface="微软雅黑"/>
              </a:defRPr>
            </a:pPr>
            <a:r>
              <a:rPr>
                <a:ea typeface="微软雅黑"/>
              </a:rPr>
              <a:t>D</a:t>
            </a:r>
          </a:p>
        </p:txBody>
      </p:sp>
      <p:sp>
        <p:nvSpPr>
          <p:cNvPr id="26" name="原题文字_300_23"/>
          <p:cNvSpPr txBox="1"/>
          <p:nvPr/>
        </p:nvSpPr>
        <p:spPr>
          <a:xfrm>
            <a:off x="7712359" y="4438036"/>
            <a:ext cx="213614" cy="234840"/>
          </a:xfrm>
          <a:prstGeom prst="rect">
            <a:avLst/>
          </a:prstGeom>
          <a:noFill/>
        </p:spPr>
        <p:txBody>
          <a:bodyPr wrap="none" lIns="0" rIns="0" tIns="0" bIns="0">
            <a:spAutoFit/>
          </a:bodyPr>
          <a:lstStyle/>
          <a:p>
            <a:pPr>
              <a:lnSpc>
                <a:spcPct val="112000"/>
              </a:lnSpc>
              <a:spcBef>
                <a:spcPts val="0"/>
              </a:spcBef>
              <a:spcAft>
                <a:spcPts val="0"/>
              </a:spcAft>
              <a:defRPr sz="1137" b="0">
                <a:solidFill>
                  <a:srgbClr val="333333"/>
                </a:solidFill>
                <a:latin typeface="微软雅黑"/>
              </a:defRPr>
            </a:pPr>
            <a:r>
              <a:rPr>
                <a:ea typeface="微软雅黑"/>
              </a:rPr>
              <a:t>E</a:t>
            </a:r>
          </a:p>
        </p:txBody>
      </p:sp>
      <p:sp>
        <p:nvSpPr>
          <p:cNvPr id="27" name="文字_(1)仪器a的名称为 ______ ，装置A中发"/>
          <p:cNvSpPr txBox="1"/>
          <p:nvPr/>
        </p:nvSpPr>
        <p:spPr>
          <a:xfrm>
            <a:off x="502920" y="4742028"/>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(1)仪器a的名称为 ______ ，装置A中发生的离子方程式为</a:t>
            </a:r>
          </a:p>
        </p:txBody>
      </p:sp>
      <p:sp>
        <p:nvSpPr>
          <p:cNvPr id="28" name="文字_(2)装置B中观察到的主要现象是"/>
          <p:cNvSpPr txBox="1"/>
          <p:nvPr/>
        </p:nvSpPr>
        <p:spPr>
          <a:xfrm>
            <a:off x="502920" y="4970628"/>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(2)装置B中观察到的主要现象是</a:t>
            </a:r>
          </a:p>
        </p:txBody>
      </p:sp>
      <p:sp>
        <p:nvSpPr>
          <p:cNvPr id="29" name="文字_(3) 为保证制得的亚硝酸钠的纯度，装置C的作用"/>
          <p:cNvSpPr txBox="1"/>
          <p:nvPr/>
        </p:nvSpPr>
        <p:spPr>
          <a:xfrm>
            <a:off x="502920" y="5199228"/>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(3) 为保证制得的亚硝酸钠的纯度，装置C的作用是除去</a:t>
            </a:r>
          </a:p>
        </p:txBody>
      </p:sp>
      <p:sp>
        <p:nvSpPr>
          <p:cNvPr id="30" name="文字_(4) 实验完成后，继续通N₂的原因是"/>
          <p:cNvSpPr txBox="1"/>
          <p:nvPr/>
        </p:nvSpPr>
        <p:spPr>
          <a:xfrm>
            <a:off x="502920" y="5427828"/>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(4) 实验完成后，继续通N₂的原因是</a:t>
            </a:r>
          </a:p>
        </p:txBody>
      </p:sp>
      <p:sp>
        <p:nvSpPr>
          <p:cNvPr id="31" name="文字_(5) 装置E发生反应的离子方程式为"/>
          <p:cNvSpPr txBox="1"/>
          <p:nvPr/>
        </p:nvSpPr>
        <p:spPr>
          <a:xfrm>
            <a:off x="502920" y="5656428"/>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(5) 装置E发生反应的离子方程式为</a:t>
            </a:r>
          </a:p>
        </p:txBody>
      </p:sp>
      <p:sp>
        <p:nvSpPr>
          <p:cNvPr id="32" name="文字_(6) 亚硝酸钠性质探究：亚硝酸钠中氮的化合价为"/>
          <p:cNvSpPr txBox="1"/>
          <p:nvPr/>
        </p:nvSpPr>
        <p:spPr>
          <a:xfrm>
            <a:off x="502920" y="5885028"/>
            <a:ext cx="11064240" cy="417512"/>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(6) 亚硝酸钠性质探究：亚硝酸钠中氮的化合价为+3价，处于中间价态，除有氧化性外还有还原性，请设计实验探究亚硝酸钠的氧化性（可选择的试剂：</a:t>
            </a:r>
          </a:p>
          <a:p>
            <a:pPr>
              <a:lnSpc>
                <a:spcPct val="112000"/>
              </a:lnSpc>
              <a:spcBef>
                <a:spcPts val="0"/>
              </a:spcBef>
              <a:spcAft>
                <a:spcPts val="0"/>
              </a:spcAft>
              <a:defRPr sz="1250" b="0">
                <a:solidFill>
                  <a:srgbClr val="333333"/>
                </a:solidFill>
                <a:latin typeface="微软雅黑"/>
              </a:defRPr>
            </a:pPr>
            <a:r>
              <a:rPr>
                <a:ea typeface="微软雅黑"/>
              </a:rPr>
              <a:t>K₂Cr₂O₇溶液、KI、酒精溶液、淀粉溶液、H₂SO₄），取少量亚硝酸钠溶于水， ______ (补充完操作、现象)。</a:t>
            </a:r>
          </a:p>
        </p:txBody>
      </p:sp>
      <p:sp>
        <p:nvSpPr>
          <p:cNvPr id="33" name="文字_解答题  ·  14-00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14-006</a:t>
            </a:r>
          </a:p>
        </p:txBody>
      </p:sp>
      <p:sp>
        <p:nvSpPr>
          <p:cNvPr id="34" name="文字_1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变式1</a:t>
            </a:r>
          </a:p>
        </p:txBody>
      </p:sp>
      <p:sp>
        <p:nvSpPr>
          <p:cNvPr id="5" name="文字_P30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P300</a:t>
            </a:r>
          </a:p>
        </p:txBody>
      </p:sp>
      <p:sp>
        <p:nvSpPr>
          <p:cNvPr id="6" name="文字_在NO₂与水的反应中，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在NO₂与水的反应中，下列说法正确的是</a:t>
            </a:r>
          </a:p>
        </p:txBody>
      </p:sp>
      <p:sp>
        <p:nvSpPr>
          <p:cNvPr id="7" name="文字_A. 氮元素化合价不发生改变"/>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氮元素化合价不发生改变</a:t>
            </a:r>
          </a:p>
        </p:txBody>
      </p:sp>
      <p:sp>
        <p:nvSpPr>
          <p:cNvPr id="8" name="文字_B. 氧化剂和还原剂的物质的量之比为2:1"/>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氧化剂和还原剂的物质的量之比为2:1</a:t>
            </a:r>
          </a:p>
        </p:txBody>
      </p:sp>
      <p:sp>
        <p:nvSpPr>
          <p:cNvPr id="9" name="文字_C. 标况下 67.2L NO₂ 参与反应转移电"/>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标况下 67.2L NO₂ 参与反应转移电子数为 4NA</a:t>
            </a:r>
          </a:p>
        </p:txBody>
      </p:sp>
      <p:sp>
        <p:nvSpPr>
          <p:cNvPr id="10" name="文字_D. NO₂既是氧化剂，又是还原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NO₂既是氧化剂，又是还原剂</a:t>
            </a:r>
          </a:p>
        </p:txBody>
      </p:sp>
      <p:sp>
        <p:nvSpPr>
          <p:cNvPr id="11" name="文字_单选题  ·  14-00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14-007</a:t>
            </a:r>
          </a:p>
        </p:txBody>
      </p:sp>
      <p:sp>
        <p:nvSpPr>
          <p:cNvPr id="12" name="文字_1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变式2</a:t>
            </a:r>
          </a:p>
        </p:txBody>
      </p:sp>
      <p:sp>
        <p:nvSpPr>
          <p:cNvPr id="5" name="文字_P30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P301</a:t>
            </a:r>
          </a:p>
        </p:txBody>
      </p:sp>
      <p:sp>
        <p:nvSpPr>
          <p:cNvPr id="6" name="文字_将装有50mLNO₂、NO混合气体的量筒倒置在水"/>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将装有50mLNO₂、NO混合气体的量筒倒置在水槽中，放置片刻后气体体积缩小</a:t>
            </a:r>
          </a:p>
          <a:p>
            <a:pPr>
              <a:lnSpc>
                <a:spcPct val="112000"/>
              </a:lnSpc>
              <a:spcBef>
                <a:spcPts val="0"/>
              </a:spcBef>
              <a:spcAft>
                <a:spcPts val="0"/>
              </a:spcAft>
              <a:defRPr sz="2400" b="0">
                <a:solidFill>
                  <a:srgbClr val="333333"/>
                </a:solidFill>
                <a:latin typeface="微软雅黑"/>
              </a:defRPr>
            </a:pPr>
            <a:r>
              <a:rPr>
                <a:ea typeface="微软雅黑"/>
              </a:rPr>
              <a:t>了30mL，则原混合气体中NO₂和NO的体积比是</a:t>
            </a:r>
          </a:p>
        </p:txBody>
      </p:sp>
      <p:sp>
        <p:nvSpPr>
          <p:cNvPr id="7" name="文字_A. 2:3"/>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2:3</a:t>
            </a:r>
          </a:p>
        </p:txBody>
      </p:sp>
      <p:sp>
        <p:nvSpPr>
          <p:cNvPr id="8" name="文字_B. 3: 2"/>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3: 2</a:t>
            </a:r>
          </a:p>
        </p:txBody>
      </p:sp>
      <p:sp>
        <p:nvSpPr>
          <p:cNvPr id="9" name="文字_C. 9:1"/>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9:1</a:t>
            </a:r>
          </a:p>
        </p:txBody>
      </p:sp>
      <p:sp>
        <p:nvSpPr>
          <p:cNvPr id="10" name="文字_D. 1:4"/>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1:4</a:t>
            </a:r>
          </a:p>
        </p:txBody>
      </p:sp>
      <p:sp>
        <p:nvSpPr>
          <p:cNvPr id="11" name="文字_单选题  ·  14-00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14-008</a:t>
            </a:r>
          </a:p>
        </p:txBody>
      </p:sp>
      <p:sp>
        <p:nvSpPr>
          <p:cNvPr id="12" name="文字_1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变式3</a:t>
            </a:r>
          </a:p>
        </p:txBody>
      </p:sp>
      <p:sp>
        <p:nvSpPr>
          <p:cNvPr id="5" name="文字_P30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P301</a:t>
            </a:r>
          </a:p>
        </p:txBody>
      </p:sp>
      <p:sp>
        <p:nvSpPr>
          <p:cNvPr id="6" name="文字_价类二维图是学习氮元素及其化合物性质的重要视角。"/>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价类二维图是学习氮元素及其化合物性质的重要视角。下列说法不正确的是</a:t>
            </a:r>
          </a:p>
        </p:txBody>
      </p:sp>
      <p:sp>
        <p:nvSpPr>
          <p:cNvPr id="7" name="文字_氮元素"/>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氮元素</a:t>
            </a:r>
          </a:p>
        </p:txBody>
      </p:sp>
      <p:pic>
        <p:nvPicPr>
          <p:cNvPr id="8" name="Picture 7" descr="image.png"/>
          <p:cNvPicPr>
            <a:picLocks noChangeAspect="1"/>
          </p:cNvPicPr>
          <p:nvPr/>
        </p:nvPicPr>
        <p:blipFill>
          <a:blip r:embed="rId3"/>
          <a:stretch>
            <a:fillRect/>
          </a:stretch>
        </p:blipFill>
        <p:spPr>
          <a:xfrm>
            <a:off x="502920" y="1956816"/>
            <a:ext cx="11064240" cy="1730462"/>
          </a:xfrm>
          <a:prstGeom prst="rect">
            <a:avLst/>
          </a:prstGeom>
        </p:spPr>
      </p:pic>
      <p:sp>
        <p:nvSpPr>
          <p:cNvPr id="9" name="原题文字_301_13"/>
          <p:cNvSpPr txBox="1"/>
          <p:nvPr/>
        </p:nvSpPr>
        <p:spPr>
          <a:xfrm>
            <a:off x="587146" y="1820247"/>
            <a:ext cx="343921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一定条件下a能与O₂反应生成NO</a:t>
            </a:r>
          </a:p>
        </p:txBody>
      </p:sp>
      <p:sp>
        <p:nvSpPr>
          <p:cNvPr id="10" name="原题文字_301_15"/>
          <p:cNvSpPr txBox="1"/>
          <p:nvPr/>
        </p:nvSpPr>
        <p:spPr>
          <a:xfrm>
            <a:off x="7937783" y="1988699"/>
            <a:ext cx="751643" cy="408113"/>
          </a:xfrm>
          <a:prstGeom prst="rect">
            <a:avLst/>
          </a:prstGeom>
          <a:noFill/>
        </p:spPr>
        <p:txBody>
          <a:bodyPr wrap="none" lIns="0" rIns="0" tIns="0" bIns="0">
            <a:spAutoFit/>
          </a:bodyPr>
          <a:lstStyle/>
          <a:p>
            <a:pPr>
              <a:lnSpc>
                <a:spcPct val="112000"/>
              </a:lnSpc>
              <a:spcBef>
                <a:spcPts val="0"/>
              </a:spcBef>
              <a:spcAft>
                <a:spcPts val="0"/>
              </a:spcAft>
              <a:defRPr sz="1976" b="0">
                <a:solidFill>
                  <a:srgbClr val="333333"/>
                </a:solidFill>
                <a:latin typeface="微软雅黑"/>
              </a:defRPr>
            </a:pPr>
            <a:r>
              <a:rPr>
                <a:ea typeface="微软雅黑"/>
              </a:rPr>
              <a:t>化合价</a:t>
            </a:r>
          </a:p>
        </p:txBody>
      </p:sp>
      <p:sp>
        <p:nvSpPr>
          <p:cNvPr id="11" name="原题文字_301_16"/>
          <p:cNvSpPr txBox="1"/>
          <p:nvPr/>
        </p:nvSpPr>
        <p:spPr>
          <a:xfrm>
            <a:off x="571832" y="2203093"/>
            <a:ext cx="395988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B. 可以用氢氧化钠吸收b，防止空气污染</a:t>
            </a:r>
          </a:p>
        </p:txBody>
      </p:sp>
      <p:sp>
        <p:nvSpPr>
          <p:cNvPr id="12" name="原题文字_301_17"/>
          <p:cNvSpPr txBox="1"/>
          <p:nvPr/>
        </p:nvSpPr>
        <p:spPr>
          <a:xfrm>
            <a:off x="8267030" y="2317947"/>
            <a:ext cx="598504" cy="1672269"/>
          </a:xfrm>
          <a:prstGeom prst="rect">
            <a:avLst/>
          </a:prstGeom>
          <a:noFill/>
        </p:spPr>
        <p:txBody>
          <a:bodyPr wrap="none" lIns="0" rIns="0" tIns="0" bIns="0">
            <a:spAutoFit/>
          </a:bodyPr>
          <a:lstStyle/>
          <a:p>
            <a:pPr>
              <a:lnSpc>
                <a:spcPct val="112000"/>
              </a:lnSpc>
              <a:spcBef>
                <a:spcPts val="0"/>
              </a:spcBef>
              <a:spcAft>
                <a:spcPts val="0"/>
              </a:spcAft>
              <a:defRPr sz="5348" b="0">
                <a:solidFill>
                  <a:srgbClr val="333333"/>
                </a:solidFill>
                <a:latin typeface="微软雅黑"/>
              </a:defRPr>
            </a:pPr>
            <a:r>
              <a:rPr>
                <a:ea typeface="微软雅黑"/>
              </a:rPr>
              <a:t>503</a:t>
            </a:r>
          </a:p>
        </p:txBody>
      </p:sp>
      <p:sp>
        <p:nvSpPr>
          <p:cNvPr id="13" name="原题文字_301_18"/>
          <p:cNvSpPr txBox="1"/>
          <p:nvPr/>
        </p:nvSpPr>
        <p:spPr>
          <a:xfrm>
            <a:off x="587146" y="2585939"/>
            <a:ext cx="202269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c可为红棕色气体</a:t>
            </a:r>
          </a:p>
        </p:txBody>
      </p:sp>
      <p:sp>
        <p:nvSpPr>
          <p:cNvPr id="14" name="原题文字_301_19"/>
          <p:cNvSpPr txBox="1"/>
          <p:nvPr/>
        </p:nvSpPr>
        <p:spPr>
          <a:xfrm>
            <a:off x="571832" y="2976441"/>
            <a:ext cx="3760810"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d的浓溶液见光或者受热会发生分解</a:t>
            </a:r>
          </a:p>
        </p:txBody>
      </p:sp>
      <p:sp>
        <p:nvSpPr>
          <p:cNvPr id="15" name="原题文字_301_20"/>
          <p:cNvSpPr txBox="1"/>
          <p:nvPr/>
        </p:nvSpPr>
        <p:spPr>
          <a:xfrm>
            <a:off x="8703474" y="3397571"/>
            <a:ext cx="265821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氢化物单质氧化物 酸类别</a:t>
            </a:r>
          </a:p>
        </p:txBody>
      </p:sp>
      <p:sp>
        <p:nvSpPr>
          <p:cNvPr id="16" name="文字_单选题  ·  14-00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14-009</a:t>
            </a:r>
          </a:p>
        </p:txBody>
      </p:sp>
      <p:sp>
        <p:nvSpPr>
          <p:cNvPr id="17" name="文字_1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变式4</a:t>
            </a:r>
          </a:p>
        </p:txBody>
      </p:sp>
      <p:sp>
        <p:nvSpPr>
          <p:cNvPr id="5" name="文字_P30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P301</a:t>
            </a:r>
          </a:p>
        </p:txBody>
      </p:sp>
      <p:sp>
        <p:nvSpPr>
          <p:cNvPr id="6" name="文字_以物质的类别为横坐标，元素化合价为纵坐标，可以绘"/>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以物质的类别为横坐标，元素化合价为纵坐标，可以绘制某一元素的“价-类”二</a:t>
            </a:r>
          </a:p>
          <a:p>
            <a:pPr>
              <a:lnSpc>
                <a:spcPct val="112000"/>
              </a:lnSpc>
              <a:spcBef>
                <a:spcPts val="0"/>
              </a:spcBef>
              <a:spcAft>
                <a:spcPts val="0"/>
              </a:spcAft>
              <a:defRPr sz="2400" b="0">
                <a:solidFill>
                  <a:srgbClr val="333333"/>
                </a:solidFill>
                <a:latin typeface="微软雅黑"/>
              </a:defRPr>
            </a:pPr>
            <a:r>
              <a:rPr>
                <a:ea typeface="微软雅黑"/>
              </a:rPr>
              <a:t>维图。氮元素的“价-类”二维图如图所示，c为红棕色气体。下列有关说法不正确</a:t>
            </a:r>
          </a:p>
          <a:p>
            <a:pPr>
              <a:lnSpc>
                <a:spcPct val="112000"/>
              </a:lnSpc>
              <a:spcBef>
                <a:spcPts val="0"/>
              </a:spcBef>
              <a:spcAft>
                <a:spcPts val="0"/>
              </a:spcAft>
              <a:defRPr sz="2400" b="0">
                <a:solidFill>
                  <a:srgbClr val="333333"/>
                </a:solidFill>
                <a:latin typeface="微软雅黑"/>
              </a:defRPr>
            </a:pPr>
            <a:r>
              <a:rPr>
                <a:ea typeface="微软雅黑"/>
              </a:rPr>
              <a:t>的是</a:t>
            </a:r>
          </a:p>
        </p:txBody>
      </p:sp>
      <p:pic>
        <p:nvPicPr>
          <p:cNvPr id="7" name="Picture 6" descr="image.png"/>
          <p:cNvPicPr>
            <a:picLocks noChangeAspect="1"/>
          </p:cNvPicPr>
          <p:nvPr/>
        </p:nvPicPr>
        <p:blipFill>
          <a:blip r:embed="rId3"/>
          <a:stretch>
            <a:fillRect/>
          </a:stretch>
        </p:blipFill>
        <p:spPr>
          <a:xfrm>
            <a:off x="502920" y="2243328"/>
            <a:ext cx="11064240" cy="2679919"/>
          </a:xfrm>
          <a:prstGeom prst="rect">
            <a:avLst/>
          </a:prstGeom>
        </p:spPr>
      </p:pic>
      <p:sp>
        <p:nvSpPr>
          <p:cNvPr id="8" name="原题文字_301_26"/>
          <p:cNvSpPr txBox="1"/>
          <p:nvPr/>
        </p:nvSpPr>
        <p:spPr>
          <a:xfrm>
            <a:off x="587146" y="2313496"/>
            <a:ext cx="593537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实验室用铜制取c，生成0.25 mol气体c，消耗铜的质量为8 g</a:t>
            </a:r>
          </a:p>
        </p:txBody>
      </p:sp>
      <p:sp>
        <p:nvSpPr>
          <p:cNvPr id="9" name="原题文字_301_27"/>
          <p:cNvSpPr txBox="1"/>
          <p:nvPr/>
        </p:nvSpPr>
        <p:spPr>
          <a:xfrm>
            <a:off x="7600878" y="2275211"/>
            <a:ext cx="958379"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化合价</a:t>
            </a:r>
          </a:p>
        </p:txBody>
      </p:sp>
      <p:sp>
        <p:nvSpPr>
          <p:cNvPr id="10" name="原题文字_301_28"/>
          <p:cNvSpPr txBox="1"/>
          <p:nvPr/>
        </p:nvSpPr>
        <p:spPr>
          <a:xfrm>
            <a:off x="7256317" y="2443663"/>
            <a:ext cx="529592" cy="1692177"/>
          </a:xfrm>
          <a:prstGeom prst="rect">
            <a:avLst/>
          </a:prstGeom>
          <a:noFill/>
        </p:spPr>
        <p:txBody>
          <a:bodyPr wrap="none" lIns="0" rIns="0" tIns="0" bIns="0">
            <a:spAutoFit/>
          </a:bodyPr>
          <a:lstStyle/>
          <a:p>
            <a:pPr>
              <a:lnSpc>
                <a:spcPct val="112000"/>
              </a:lnSpc>
              <a:spcBef>
                <a:spcPts val="0"/>
              </a:spcBef>
              <a:spcAft>
                <a:spcPts val="0"/>
              </a:spcAft>
              <a:defRPr sz="5411" b="0">
                <a:solidFill>
                  <a:srgbClr val="333333"/>
                </a:solidFill>
                <a:latin typeface="微软雅黑"/>
              </a:defRPr>
            </a:pPr>
            <a:r>
              <a:rPr>
                <a:ea typeface="微软雅黑"/>
              </a:rPr>
              <a:t>++ ++ +</a:t>
            </a:r>
          </a:p>
        </p:txBody>
      </p:sp>
      <p:sp>
        <p:nvSpPr>
          <p:cNvPr id="11" name="原题文字_301_29"/>
          <p:cNvSpPr txBox="1"/>
          <p:nvPr/>
        </p:nvSpPr>
        <p:spPr>
          <a:xfrm>
            <a:off x="9499793" y="2504919"/>
            <a:ext cx="238629"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e</a:t>
            </a:r>
          </a:p>
        </p:txBody>
      </p:sp>
      <p:sp>
        <p:nvSpPr>
          <p:cNvPr id="12" name="原题文字_301_30"/>
          <p:cNvSpPr txBox="1"/>
          <p:nvPr/>
        </p:nvSpPr>
        <p:spPr>
          <a:xfrm>
            <a:off x="556518" y="2673371"/>
            <a:ext cx="6747006" cy="378251"/>
          </a:xfrm>
          <a:prstGeom prst="rect">
            <a:avLst/>
          </a:prstGeom>
          <a:noFill/>
        </p:spPr>
        <p:txBody>
          <a:bodyPr wrap="none" lIns="0" rIns="0" tIns="0" bIns="0">
            <a:spAutoFit/>
          </a:bodyPr>
          <a:lstStyle/>
          <a:p>
            <a:pPr>
              <a:lnSpc>
                <a:spcPct val="112000"/>
              </a:lnSpc>
              <a:spcBef>
                <a:spcPts val="0"/>
              </a:spcBef>
              <a:spcAft>
                <a:spcPts val="0"/>
              </a:spcAft>
              <a:defRPr sz="1748" b="0">
                <a:solidFill>
                  <a:srgbClr val="333333"/>
                </a:solidFill>
                <a:latin typeface="微软雅黑"/>
              </a:defRPr>
            </a:pPr>
            <a:r>
              <a:rPr>
                <a:ea typeface="微软雅黑"/>
              </a:rPr>
              <a:t>B. 1L₁mol·L−1a的水溶液中，含NH₃·H₂O、NH+、NH₃的物质的量</a:t>
            </a:r>
          </a:p>
        </p:txBody>
      </p:sp>
      <p:sp>
        <p:nvSpPr>
          <p:cNvPr id="13" name="原题文字_301_31"/>
          <p:cNvSpPr txBox="1"/>
          <p:nvPr/>
        </p:nvSpPr>
        <p:spPr>
          <a:xfrm>
            <a:off x="8856612" y="2703998"/>
            <a:ext cx="246286"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ic</a:t>
            </a:r>
          </a:p>
        </p:txBody>
      </p:sp>
      <p:sp>
        <p:nvSpPr>
          <p:cNvPr id="14" name="原题文字_301_32"/>
          <p:cNvSpPr txBox="1"/>
          <p:nvPr/>
        </p:nvSpPr>
        <p:spPr>
          <a:xfrm>
            <a:off x="885765" y="3002618"/>
            <a:ext cx="1264656"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之和为1 mol</a:t>
            </a:r>
          </a:p>
        </p:txBody>
      </p:sp>
      <p:sp>
        <p:nvSpPr>
          <p:cNvPr id="15" name="原题文字_301_33"/>
          <p:cNvSpPr txBox="1"/>
          <p:nvPr/>
        </p:nvSpPr>
        <p:spPr>
          <a:xfrm>
            <a:off x="10104689" y="2987304"/>
            <a:ext cx="230973"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f</a:t>
            </a:r>
          </a:p>
        </p:txBody>
      </p:sp>
      <p:sp>
        <p:nvSpPr>
          <p:cNvPr id="16" name="原题文字_301_34"/>
          <p:cNvSpPr txBox="1"/>
          <p:nvPr/>
        </p:nvSpPr>
        <p:spPr>
          <a:xfrm>
            <a:off x="587146" y="3393121"/>
            <a:ext cx="660918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将c、d同时通入NaOH溶液中仅生成f一种盐，反应的离子方程式为</a:t>
            </a:r>
          </a:p>
        </p:txBody>
      </p:sp>
      <p:sp>
        <p:nvSpPr>
          <p:cNvPr id="17" name="原题文字_301_35"/>
          <p:cNvSpPr txBox="1"/>
          <p:nvPr/>
        </p:nvSpPr>
        <p:spPr>
          <a:xfrm>
            <a:off x="7470711" y="3615171"/>
            <a:ext cx="25394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0</a:t>
            </a:r>
          </a:p>
        </p:txBody>
      </p:sp>
      <p:sp>
        <p:nvSpPr>
          <p:cNvPr id="18" name="原题文字_301_36"/>
          <p:cNvSpPr txBox="1"/>
          <p:nvPr/>
        </p:nvSpPr>
        <p:spPr>
          <a:xfrm>
            <a:off x="885765" y="3737682"/>
            <a:ext cx="3439219" cy="338435"/>
          </a:xfrm>
          <a:prstGeom prst="rect">
            <a:avLst/>
          </a:prstGeom>
          <a:noFill/>
        </p:spPr>
        <p:txBody>
          <a:bodyPr wrap="none" lIns="0" rIns="0" tIns="0" bIns="0">
            <a:spAutoFit/>
          </a:bodyPr>
          <a:lstStyle/>
          <a:p>
            <a:pPr>
              <a:lnSpc>
                <a:spcPct val="112000"/>
              </a:lnSpc>
              <a:spcBef>
                <a:spcPts val="0"/>
              </a:spcBef>
              <a:spcAft>
                <a:spcPts val="0"/>
              </a:spcAft>
              <a:defRPr sz="1625" b="0">
                <a:solidFill>
                  <a:srgbClr val="333333"/>
                </a:solidFill>
                <a:latin typeface="微软雅黑"/>
              </a:defRPr>
            </a:pPr>
            <a:r>
              <a:rPr>
                <a:ea typeface="微软雅黑"/>
              </a:rPr>
              <a:t>NO + NO₂ + 2OH−= 2NO₂ + H₂O</a:t>
            </a:r>
          </a:p>
        </p:txBody>
      </p:sp>
      <p:sp>
        <p:nvSpPr>
          <p:cNvPr id="19" name="原题文字_301_37"/>
          <p:cNvSpPr txBox="1"/>
          <p:nvPr/>
        </p:nvSpPr>
        <p:spPr>
          <a:xfrm>
            <a:off x="571832" y="4097557"/>
            <a:ext cx="525390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D. e的浓溶液具有强氧化性，常温下能溶解金属铜和铁</a:t>
            </a:r>
          </a:p>
        </p:txBody>
      </p:sp>
      <p:sp>
        <p:nvSpPr>
          <p:cNvPr id="20" name="原题文字_301_38"/>
          <p:cNvSpPr txBox="1"/>
          <p:nvPr/>
        </p:nvSpPr>
        <p:spPr>
          <a:xfrm>
            <a:off x="7378828" y="4220067"/>
            <a:ext cx="345826"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-3</a:t>
            </a:r>
          </a:p>
        </p:txBody>
      </p:sp>
      <p:sp>
        <p:nvSpPr>
          <p:cNvPr id="21" name="原题文字_301_39"/>
          <p:cNvSpPr txBox="1"/>
          <p:nvPr/>
        </p:nvSpPr>
        <p:spPr>
          <a:xfrm>
            <a:off x="7692761" y="4602913"/>
            <a:ext cx="1976749"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氢化物氧化物酸</a:t>
            </a:r>
          </a:p>
        </p:txBody>
      </p:sp>
      <p:sp>
        <p:nvSpPr>
          <p:cNvPr id="22" name="原题文字_301_40"/>
          <p:cNvSpPr txBox="1"/>
          <p:nvPr/>
        </p:nvSpPr>
        <p:spPr>
          <a:xfrm>
            <a:off x="9905609" y="4595256"/>
            <a:ext cx="1402480"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盐物质类别</a:t>
            </a:r>
          </a:p>
        </p:txBody>
      </p:sp>
      <p:sp>
        <p:nvSpPr>
          <p:cNvPr id="23" name="文字_单选题  ·  14-01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14-010</a:t>
            </a:r>
          </a:p>
        </p:txBody>
      </p:sp>
      <p:sp>
        <p:nvSpPr>
          <p:cNvPr id="24" name="文字_1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变式5</a:t>
            </a:r>
          </a:p>
        </p:txBody>
      </p:sp>
      <p:sp>
        <p:nvSpPr>
          <p:cNvPr id="5" name="文字_P30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P301</a:t>
            </a:r>
          </a:p>
        </p:txBody>
      </p:sp>
      <p:sp>
        <p:nvSpPr>
          <p:cNvPr id="6" name="文字_某种综合处理含NH废水和工业废气(主要含有NO、"/>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某种综合处理含NH废水和工业废气(主要含有NO、CO、CO₂、SO₂、N₂)的流程</a:t>
            </a:r>
          </a:p>
          <a:p>
            <a:pPr>
              <a:lnSpc>
                <a:spcPct val="112000"/>
              </a:lnSpc>
              <a:spcBef>
                <a:spcPts val="0"/>
              </a:spcBef>
              <a:spcAft>
                <a:spcPts val="0"/>
              </a:spcAft>
              <a:defRPr sz="2400" b="0">
                <a:solidFill>
                  <a:srgbClr val="333333"/>
                </a:solidFill>
                <a:latin typeface="微软雅黑"/>
              </a:defRPr>
            </a:pPr>
            <a:r>
              <a:rPr>
                <a:ea typeface="微软雅黑"/>
              </a:rPr>
              <a:t>如图所示，下列说法正确的是</a:t>
            </a:r>
          </a:p>
        </p:txBody>
      </p:sp>
      <p:pic>
        <p:nvPicPr>
          <p:cNvPr id="7" name="Picture 6" descr="image.png"/>
          <p:cNvPicPr>
            <a:picLocks noChangeAspect="1"/>
          </p:cNvPicPr>
          <p:nvPr/>
        </p:nvPicPr>
        <p:blipFill>
          <a:blip r:embed="rId3"/>
          <a:stretch>
            <a:fillRect/>
          </a:stretch>
        </p:blipFill>
        <p:spPr>
          <a:xfrm>
            <a:off x="502920" y="1880616"/>
            <a:ext cx="11064240" cy="2258789"/>
          </a:xfrm>
          <a:prstGeom prst="rect">
            <a:avLst/>
          </a:prstGeom>
        </p:spPr>
      </p:pic>
      <p:sp>
        <p:nvSpPr>
          <p:cNvPr id="8" name="原题文字_301_45"/>
          <p:cNvSpPr txBox="1"/>
          <p:nvPr/>
        </p:nvSpPr>
        <p:spPr>
          <a:xfrm>
            <a:off x="6306860" y="1912499"/>
            <a:ext cx="1180430"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含NH废水</a:t>
            </a:r>
          </a:p>
        </p:txBody>
      </p:sp>
      <p:sp>
        <p:nvSpPr>
          <p:cNvPr id="9" name="原题文字_301_46"/>
          <p:cNvSpPr txBox="1"/>
          <p:nvPr/>
        </p:nvSpPr>
        <p:spPr>
          <a:xfrm>
            <a:off x="5005185" y="2080951"/>
            <a:ext cx="1226371" cy="418067"/>
          </a:xfrm>
          <a:prstGeom prst="rect">
            <a:avLst/>
          </a:prstGeom>
          <a:noFill/>
        </p:spPr>
        <p:txBody>
          <a:bodyPr wrap="none" lIns="0" rIns="0" tIns="0" bIns="0">
            <a:spAutoFit/>
          </a:bodyPr>
          <a:lstStyle/>
          <a:p>
            <a:pPr>
              <a:lnSpc>
                <a:spcPct val="112000"/>
              </a:lnSpc>
              <a:spcBef>
                <a:spcPts val="0"/>
              </a:spcBef>
              <a:spcAft>
                <a:spcPts val="0"/>
              </a:spcAft>
              <a:defRPr sz="1695" b="0">
                <a:solidFill>
                  <a:srgbClr val="333333"/>
                </a:solidFill>
                <a:latin typeface="微软雅黑"/>
              </a:defRPr>
            </a:pPr>
            <a:r>
              <a:rPr>
                <a:ea typeface="微软雅黑"/>
              </a:rPr>
              <a:t>NaNO₂溶液</a:t>
            </a:r>
          </a:p>
        </p:txBody>
      </p:sp>
      <p:sp>
        <p:nvSpPr>
          <p:cNvPr id="10" name="原题文字_301_47"/>
          <p:cNvSpPr txBox="1"/>
          <p:nvPr/>
        </p:nvSpPr>
        <p:spPr>
          <a:xfrm>
            <a:off x="3251751" y="2310659"/>
            <a:ext cx="145607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XNaOH溶液</a:t>
            </a:r>
          </a:p>
        </p:txBody>
      </p:sp>
      <p:sp>
        <p:nvSpPr>
          <p:cNvPr id="11" name="原题文字_301_48"/>
          <p:cNvSpPr txBox="1"/>
          <p:nvPr/>
        </p:nvSpPr>
        <p:spPr>
          <a:xfrm>
            <a:off x="1421749" y="2456140"/>
            <a:ext cx="606161"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过量</a:t>
            </a:r>
          </a:p>
        </p:txBody>
      </p:sp>
      <p:sp>
        <p:nvSpPr>
          <p:cNvPr id="12" name="原题文字_301_49"/>
          <p:cNvSpPr txBox="1"/>
          <p:nvPr/>
        </p:nvSpPr>
        <p:spPr>
          <a:xfrm>
            <a:off x="2470746" y="2456140"/>
            <a:ext cx="69804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气体1</a:t>
            </a:r>
          </a:p>
        </p:txBody>
      </p:sp>
      <p:sp>
        <p:nvSpPr>
          <p:cNvPr id="13" name="原题文字_301_50"/>
          <p:cNvSpPr txBox="1"/>
          <p:nvPr/>
        </p:nvSpPr>
        <p:spPr>
          <a:xfrm>
            <a:off x="6911756" y="2624592"/>
            <a:ext cx="1211057"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无污染气体</a:t>
            </a:r>
          </a:p>
        </p:txBody>
      </p:sp>
      <p:sp>
        <p:nvSpPr>
          <p:cNvPr id="14" name="原题文字_301_51"/>
          <p:cNvSpPr txBox="1"/>
          <p:nvPr/>
        </p:nvSpPr>
        <p:spPr>
          <a:xfrm>
            <a:off x="747941" y="2724132"/>
            <a:ext cx="583191"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工业</a:t>
            </a:r>
          </a:p>
        </p:txBody>
      </p:sp>
      <p:sp>
        <p:nvSpPr>
          <p:cNvPr id="15" name="原题文字_301_52"/>
          <p:cNvSpPr txBox="1"/>
          <p:nvPr/>
        </p:nvSpPr>
        <p:spPr>
          <a:xfrm>
            <a:off x="1406435" y="2724132"/>
            <a:ext cx="78992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石灰乳</a:t>
            </a:r>
          </a:p>
        </p:txBody>
      </p:sp>
      <p:sp>
        <p:nvSpPr>
          <p:cNvPr id="16" name="原题文字_301_53"/>
          <p:cNvSpPr txBox="1"/>
          <p:nvPr/>
        </p:nvSpPr>
        <p:spPr>
          <a:xfrm>
            <a:off x="5028155" y="2823672"/>
            <a:ext cx="751643" cy="487745"/>
          </a:xfrm>
          <a:prstGeom prst="rect">
            <a:avLst/>
          </a:prstGeom>
          <a:noFill/>
        </p:spPr>
        <p:txBody>
          <a:bodyPr wrap="none" lIns="0" rIns="0" tIns="0" bIns="0">
            <a:spAutoFit/>
          </a:bodyPr>
          <a:lstStyle/>
          <a:p>
            <a:pPr>
              <a:lnSpc>
                <a:spcPct val="112000"/>
              </a:lnSpc>
              <a:spcBef>
                <a:spcPts val="0"/>
              </a:spcBef>
              <a:spcAft>
                <a:spcPts val="0"/>
              </a:spcAft>
              <a:defRPr sz="2265" b="0">
                <a:solidFill>
                  <a:srgbClr val="333333"/>
                </a:solidFill>
                <a:latin typeface="微软雅黑"/>
              </a:defRPr>
            </a:pPr>
            <a:r>
              <a:rPr>
                <a:ea typeface="微软雅黑"/>
              </a:rPr>
              <a:t>气体2</a:t>
            </a:r>
          </a:p>
        </p:txBody>
      </p:sp>
      <p:sp>
        <p:nvSpPr>
          <p:cNvPr id="17" name="原题文字_301_54"/>
          <p:cNvSpPr txBox="1"/>
          <p:nvPr/>
        </p:nvSpPr>
        <p:spPr>
          <a:xfrm>
            <a:off x="5924014" y="2785387"/>
            <a:ext cx="736329"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捕获剂</a:t>
            </a:r>
          </a:p>
        </p:txBody>
      </p:sp>
      <p:sp>
        <p:nvSpPr>
          <p:cNvPr id="18" name="原题文字_301_55"/>
          <p:cNvSpPr txBox="1"/>
          <p:nvPr/>
        </p:nvSpPr>
        <p:spPr>
          <a:xfrm>
            <a:off x="747941" y="2961496"/>
            <a:ext cx="598504"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废气</a:t>
            </a:r>
          </a:p>
        </p:txBody>
      </p:sp>
      <p:sp>
        <p:nvSpPr>
          <p:cNvPr id="19" name="原题文字_301_56"/>
          <p:cNvSpPr txBox="1"/>
          <p:nvPr/>
        </p:nvSpPr>
        <p:spPr>
          <a:xfrm>
            <a:off x="6927070" y="3129949"/>
            <a:ext cx="1019635" cy="437975"/>
          </a:xfrm>
          <a:prstGeom prst="rect">
            <a:avLst/>
          </a:prstGeom>
          <a:noFill/>
        </p:spPr>
        <p:txBody>
          <a:bodyPr wrap="none" lIns="0" rIns="0" tIns="0" bIns="0">
            <a:spAutoFit/>
          </a:bodyPr>
          <a:lstStyle/>
          <a:p>
            <a:pPr>
              <a:lnSpc>
                <a:spcPct val="112000"/>
              </a:lnSpc>
              <a:spcBef>
                <a:spcPts val="0"/>
              </a:spcBef>
              <a:spcAft>
                <a:spcPts val="0"/>
              </a:spcAft>
              <a:defRPr sz="2010" b="0">
                <a:solidFill>
                  <a:srgbClr val="333333"/>
                </a:solidFill>
                <a:latin typeface="微软雅黑"/>
              </a:defRPr>
            </a:pPr>
            <a:r>
              <a:rPr>
                <a:ea typeface="微软雅黑"/>
              </a:rPr>
              <a:t>捕获产物</a:t>
            </a:r>
          </a:p>
        </p:txBody>
      </p:sp>
      <p:sp>
        <p:nvSpPr>
          <p:cNvPr id="20" name="原题文字_301_57"/>
          <p:cNvSpPr txBox="1"/>
          <p:nvPr/>
        </p:nvSpPr>
        <p:spPr>
          <a:xfrm>
            <a:off x="2486060" y="3382627"/>
            <a:ext cx="682730"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固体1</a:t>
            </a:r>
          </a:p>
        </p:txBody>
      </p:sp>
      <p:sp>
        <p:nvSpPr>
          <p:cNvPr id="21" name="原题文字_301_58"/>
          <p:cNvSpPr txBox="1"/>
          <p:nvPr/>
        </p:nvSpPr>
        <p:spPr>
          <a:xfrm>
            <a:off x="571832" y="3788443"/>
            <a:ext cx="8753117" cy="398159"/>
          </a:xfrm>
          <a:prstGeom prst="rect">
            <a:avLst/>
          </a:prstGeom>
          <a:noFill/>
        </p:spPr>
        <p:txBody>
          <a:bodyPr wrap="none" lIns="0" rIns="0" tIns="0" bIns="0">
            <a:spAutoFit/>
          </a:bodyPr>
          <a:lstStyle/>
          <a:p>
            <a:pPr>
              <a:lnSpc>
                <a:spcPct val="112000"/>
              </a:lnSpc>
              <a:spcBef>
                <a:spcPts val="0"/>
              </a:spcBef>
              <a:spcAft>
                <a:spcPts val="0"/>
              </a:spcAft>
              <a:defRPr sz="1604" b="0">
                <a:solidFill>
                  <a:srgbClr val="333333"/>
                </a:solidFill>
                <a:latin typeface="微软雅黑"/>
              </a:defRPr>
            </a:pPr>
            <a:r>
              <a:rPr>
                <a:ea typeface="微软雅黑"/>
              </a:rPr>
              <a:t>已知: NO + NO₂ + 2NaOH = 2NaNO₂ + H₂O 2NO₂ + 2NaOH = NaNO₃ + NaNO₂ + H₂O</a:t>
            </a:r>
          </a:p>
        </p:txBody>
      </p:sp>
      <p:sp>
        <p:nvSpPr>
          <p:cNvPr id="22" name="文字_A. 固体1的主要成分是Ca(OH)₂和CaCO"/>
          <p:cNvSpPr txBox="1"/>
          <p:nvPr/>
        </p:nvSpPr>
        <p:spPr>
          <a:xfrm>
            <a:off x="502920" y="421255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固体1的主要成分是Ca(OH)₂和CaCO₃</a:t>
            </a:r>
          </a:p>
        </p:txBody>
      </p:sp>
      <p:sp>
        <p:nvSpPr>
          <p:cNvPr id="23" name="文字_B. 物质X为过量的NO₂"/>
          <p:cNvSpPr txBox="1"/>
          <p:nvPr/>
        </p:nvSpPr>
        <p:spPr>
          <a:xfrm>
            <a:off x="502920" y="465146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物质X为过量的NO₂</a:t>
            </a:r>
          </a:p>
        </p:txBody>
      </p:sp>
      <p:sp>
        <p:nvSpPr>
          <p:cNvPr id="24" name="文字_C. NaNO₂与含NH+废水反应的离子方程式为"/>
          <p:cNvSpPr txBox="1"/>
          <p:nvPr/>
        </p:nvSpPr>
        <p:spPr>
          <a:xfrm>
            <a:off x="502920" y="509038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NaNO₂与含NH+废水反应的离子方程式为：NO₂ + NH+ = N₂↑ +2H₂O</a:t>
            </a:r>
          </a:p>
        </p:txBody>
      </p:sp>
      <p:sp>
        <p:nvSpPr>
          <p:cNvPr id="25" name="文字_D. 气体2的主要成分是CO和SO₂"/>
          <p:cNvSpPr txBox="1"/>
          <p:nvPr/>
        </p:nvSpPr>
        <p:spPr>
          <a:xfrm>
            <a:off x="502920" y="552929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气体2的主要成分是CO和SO₂</a:t>
            </a:r>
          </a:p>
        </p:txBody>
      </p:sp>
      <p:sp>
        <p:nvSpPr>
          <p:cNvPr id="26" name="文字_单选题  ·  14-01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14-011</a:t>
            </a:r>
          </a:p>
        </p:txBody>
      </p:sp>
      <p:sp>
        <p:nvSpPr>
          <p:cNvPr id="27" name="文字_1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循环及氮氧化物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氮循环及氮氧化物 · 变式6</a:t>
            </a:r>
          </a:p>
        </p:txBody>
      </p:sp>
      <p:sp>
        <p:nvSpPr>
          <p:cNvPr id="5" name="文字_P30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P302</a:t>
            </a:r>
          </a:p>
        </p:txBody>
      </p:sp>
      <p:sp>
        <p:nvSpPr>
          <p:cNvPr id="6" name="文字_为探究NO、NO₂能否与Na₂O₂反应，某实验小"/>
          <p:cNvSpPr txBox="1"/>
          <p:nvPr/>
        </p:nvSpPr>
        <p:spPr>
          <a:xfrm>
            <a:off x="502920" y="1078992"/>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为探究NO、NO₂能否与Na₂O₂反应，某实验小组同学设计下图装置进行实验(反应前K₁、K₂为关闭状态)。</a:t>
            </a:r>
          </a:p>
        </p:txBody>
      </p:sp>
      <p:pic>
        <p:nvPicPr>
          <p:cNvPr id="7" name="Picture 6" descr="image.png"/>
          <p:cNvPicPr>
            <a:picLocks noChangeAspect="1"/>
          </p:cNvPicPr>
          <p:nvPr/>
        </p:nvPicPr>
        <p:blipFill>
          <a:blip r:embed="rId3"/>
          <a:stretch>
            <a:fillRect/>
          </a:stretch>
        </p:blipFill>
        <p:spPr>
          <a:xfrm>
            <a:off x="502920" y="1371600"/>
            <a:ext cx="10124965" cy="2438400"/>
          </a:xfrm>
          <a:prstGeom prst="rect">
            <a:avLst/>
          </a:prstGeom>
        </p:spPr>
      </p:pic>
      <p:sp>
        <p:nvSpPr>
          <p:cNvPr id="8" name="原题文字_302_4"/>
          <p:cNvSpPr txBox="1"/>
          <p:nvPr/>
        </p:nvSpPr>
        <p:spPr>
          <a:xfrm>
            <a:off x="3004382" y="1442275"/>
            <a:ext cx="363167" cy="582973"/>
          </a:xfrm>
          <a:prstGeom prst="rect">
            <a:avLst/>
          </a:prstGeom>
          <a:noFill/>
        </p:spPr>
        <p:txBody>
          <a:bodyPr wrap="none" lIns="0" rIns="0" tIns="0" bIns="0">
            <a:spAutoFit/>
          </a:bodyPr>
          <a:lstStyle/>
          <a:p>
            <a:pPr>
              <a:lnSpc>
                <a:spcPct val="112000"/>
              </a:lnSpc>
              <a:spcBef>
                <a:spcPts val="0"/>
              </a:spcBef>
              <a:spcAft>
                <a:spcPts val="0"/>
              </a:spcAft>
              <a:defRPr sz="2824" b="0">
                <a:solidFill>
                  <a:srgbClr val="333333"/>
                </a:solidFill>
                <a:latin typeface="微软雅黑"/>
              </a:defRPr>
            </a:pPr>
            <a:r>
              <a:rPr>
                <a:ea typeface="微软雅黑"/>
              </a:rPr>
              <a:t>K</a:t>
            </a:r>
          </a:p>
        </p:txBody>
      </p:sp>
      <p:sp>
        <p:nvSpPr>
          <p:cNvPr id="9" name="原题文字_302_5"/>
          <p:cNvSpPr txBox="1"/>
          <p:nvPr/>
        </p:nvSpPr>
        <p:spPr>
          <a:xfrm>
            <a:off x="3894257" y="1400233"/>
            <a:ext cx="944739" cy="309704"/>
          </a:xfrm>
          <a:prstGeom prst="rect">
            <a:avLst/>
          </a:prstGeom>
          <a:noFill/>
        </p:spPr>
        <p:txBody>
          <a:bodyPr wrap="none" lIns="0" rIns="0" tIns="0" bIns="0">
            <a:spAutoFit/>
          </a:bodyPr>
          <a:lstStyle/>
          <a:p>
            <a:pPr>
              <a:lnSpc>
                <a:spcPct val="112000"/>
              </a:lnSpc>
              <a:spcBef>
                <a:spcPts val="0"/>
              </a:spcBef>
              <a:spcAft>
                <a:spcPts val="0"/>
              </a:spcAft>
              <a:defRPr sz="1324" b="0">
                <a:solidFill>
                  <a:srgbClr val="333333"/>
                </a:solidFill>
                <a:latin typeface="微软雅黑"/>
              </a:defRPr>
            </a:pPr>
            <a:r>
              <a:rPr>
                <a:ea typeface="微软雅黑"/>
              </a:rPr>
              <a:t>Na₂O₂粉末</a:t>
            </a:r>
          </a:p>
        </p:txBody>
      </p:sp>
      <p:sp>
        <p:nvSpPr>
          <p:cNvPr id="10" name="原题文字_302_6"/>
          <p:cNvSpPr txBox="1"/>
          <p:nvPr/>
        </p:nvSpPr>
        <p:spPr>
          <a:xfrm>
            <a:off x="1259664" y="1680509"/>
            <a:ext cx="734532" cy="364358"/>
          </a:xfrm>
          <a:prstGeom prst="rect">
            <a:avLst/>
          </a:prstGeom>
          <a:noFill/>
        </p:spPr>
        <p:txBody>
          <a:bodyPr wrap="none" lIns="0" rIns="0" tIns="0" bIns="0">
            <a:spAutoFit/>
          </a:bodyPr>
          <a:lstStyle/>
          <a:p>
            <a:pPr>
              <a:lnSpc>
                <a:spcPct val="112000"/>
              </a:lnSpc>
              <a:spcBef>
                <a:spcPts val="0"/>
              </a:spcBef>
              <a:spcAft>
                <a:spcPts val="0"/>
              </a:spcAft>
              <a:defRPr sz="1765" b="0">
                <a:solidFill>
                  <a:srgbClr val="333333"/>
                </a:solidFill>
                <a:latin typeface="微软雅黑"/>
              </a:defRPr>
            </a:pPr>
            <a:r>
              <a:rPr>
                <a:ea typeface="微软雅黑"/>
              </a:rPr>
              <a:t>稀硫酸</a:t>
            </a:r>
          </a:p>
        </p:txBody>
      </p:sp>
      <p:sp>
        <p:nvSpPr>
          <p:cNvPr id="11" name="原题文字_302_7"/>
          <p:cNvSpPr txBox="1"/>
          <p:nvPr/>
        </p:nvSpPr>
        <p:spPr>
          <a:xfrm>
            <a:off x="3719085" y="1694523"/>
            <a:ext cx="251057" cy="236833"/>
          </a:xfrm>
          <a:prstGeom prst="rect">
            <a:avLst/>
          </a:prstGeom>
          <a:noFill/>
        </p:spPr>
        <p:txBody>
          <a:bodyPr wrap="none" lIns="0" rIns="0" tIns="0" bIns="0">
            <a:spAutoFit/>
          </a:bodyPr>
          <a:lstStyle/>
          <a:p>
            <a:pPr>
              <a:lnSpc>
                <a:spcPct val="112000"/>
              </a:lnSpc>
              <a:spcBef>
                <a:spcPts val="0"/>
              </a:spcBef>
              <a:spcAft>
                <a:spcPts val="0"/>
              </a:spcAft>
              <a:defRPr sz="1147" b="0">
                <a:solidFill>
                  <a:srgbClr val="333333"/>
                </a:solidFill>
                <a:latin typeface="微软雅黑"/>
              </a:defRPr>
            </a:pPr>
            <a:r>
              <a:rPr>
                <a:ea typeface="微软雅黑"/>
              </a:rPr>
              <a:t>IF</a:t>
            </a:r>
          </a:p>
        </p:txBody>
      </p:sp>
      <p:sp>
        <p:nvSpPr>
          <p:cNvPr id="12" name="原题文字_302_8"/>
          <p:cNvSpPr txBox="1"/>
          <p:nvPr/>
        </p:nvSpPr>
        <p:spPr>
          <a:xfrm>
            <a:off x="4055416" y="1862688"/>
            <a:ext cx="230036" cy="236833"/>
          </a:xfrm>
          <a:prstGeom prst="rect">
            <a:avLst/>
          </a:prstGeom>
          <a:noFill/>
        </p:spPr>
        <p:txBody>
          <a:bodyPr wrap="none" lIns="0" rIns="0" tIns="0" bIns="0">
            <a:spAutoFit/>
          </a:bodyPr>
          <a:lstStyle/>
          <a:p>
            <a:pPr>
              <a:lnSpc>
                <a:spcPct val="112000"/>
              </a:lnSpc>
              <a:spcBef>
                <a:spcPts val="0"/>
              </a:spcBef>
              <a:spcAft>
                <a:spcPts val="0"/>
              </a:spcAft>
              <a:defRPr sz="1147" b="0">
                <a:solidFill>
                  <a:srgbClr val="333333"/>
                </a:solidFill>
                <a:latin typeface="微软雅黑"/>
              </a:defRPr>
            </a:pPr>
            <a:r>
              <a:rPr>
                <a:ea typeface="微软雅黑"/>
              </a:rPr>
              <a:t>C</a:t>
            </a:r>
          </a:p>
        </p:txBody>
      </p:sp>
      <p:sp>
        <p:nvSpPr>
          <p:cNvPr id="13" name="原题文字_302_9"/>
          <p:cNvSpPr txBox="1"/>
          <p:nvPr/>
        </p:nvSpPr>
        <p:spPr>
          <a:xfrm>
            <a:off x="4840188" y="1960785"/>
            <a:ext cx="930726" cy="364358"/>
          </a:xfrm>
          <a:prstGeom prst="rect">
            <a:avLst/>
          </a:prstGeom>
          <a:noFill/>
        </p:spPr>
        <p:txBody>
          <a:bodyPr wrap="none" lIns="0" rIns="0" tIns="0" bIns="0">
            <a:spAutoFit/>
          </a:bodyPr>
          <a:lstStyle/>
          <a:p>
            <a:pPr>
              <a:lnSpc>
                <a:spcPct val="112000"/>
              </a:lnSpc>
              <a:spcBef>
                <a:spcPts val="0"/>
              </a:spcBef>
              <a:spcAft>
                <a:spcPts val="0"/>
              </a:spcAft>
              <a:defRPr sz="1525" b="0">
                <a:solidFill>
                  <a:srgbClr val="333333"/>
                </a:solidFill>
                <a:latin typeface="微软雅黑"/>
              </a:defRPr>
            </a:pPr>
            <a:r>
              <a:rPr>
                <a:ea typeface="微软雅黑"/>
              </a:rPr>
              <a:t>无水CaCl₂</a:t>
            </a:r>
          </a:p>
        </p:txBody>
      </p:sp>
      <p:sp>
        <p:nvSpPr>
          <p:cNvPr id="14" name="原题文字_302_10"/>
          <p:cNvSpPr txBox="1"/>
          <p:nvPr/>
        </p:nvSpPr>
        <p:spPr>
          <a:xfrm>
            <a:off x="643057" y="2044868"/>
            <a:ext cx="272077" cy="218615"/>
          </a:xfrm>
          <a:prstGeom prst="rect">
            <a:avLst/>
          </a:prstGeom>
          <a:noFill/>
        </p:spPr>
        <p:txBody>
          <a:bodyPr wrap="none" lIns="0" rIns="0" tIns="0" bIns="0">
            <a:spAutoFit/>
          </a:bodyPr>
          <a:lstStyle/>
          <a:p>
            <a:pPr>
              <a:lnSpc>
                <a:spcPct val="112000"/>
              </a:lnSpc>
              <a:spcBef>
                <a:spcPts val="0"/>
              </a:spcBef>
              <a:spcAft>
                <a:spcPts val="0"/>
              </a:spcAft>
              <a:defRPr sz="1059" b="0">
                <a:solidFill>
                  <a:srgbClr val="333333"/>
                </a:solidFill>
                <a:latin typeface="微软雅黑"/>
              </a:defRPr>
            </a:pPr>
            <a:r>
              <a:rPr>
                <a:ea typeface="微软雅黑"/>
              </a:rPr>
              <a:t>N₂</a:t>
            </a:r>
          </a:p>
        </p:txBody>
      </p:sp>
      <p:sp>
        <p:nvSpPr>
          <p:cNvPr id="15" name="原题文字_302_11"/>
          <p:cNvSpPr txBox="1"/>
          <p:nvPr/>
        </p:nvSpPr>
        <p:spPr>
          <a:xfrm>
            <a:off x="3459830" y="2058881"/>
            <a:ext cx="356160" cy="309704"/>
          </a:xfrm>
          <a:prstGeom prst="rect">
            <a:avLst/>
          </a:prstGeom>
          <a:noFill/>
        </p:spPr>
        <p:txBody>
          <a:bodyPr wrap="none" lIns="0" rIns="0" tIns="0" bIns="0">
            <a:spAutoFit/>
          </a:bodyPr>
          <a:lstStyle/>
          <a:p>
            <a:pPr>
              <a:lnSpc>
                <a:spcPct val="112000"/>
              </a:lnSpc>
              <a:spcBef>
                <a:spcPts val="0"/>
              </a:spcBef>
              <a:spcAft>
                <a:spcPts val="0"/>
              </a:spcAft>
              <a:defRPr sz="1366" b="0">
                <a:solidFill>
                  <a:srgbClr val="333333"/>
                </a:solidFill>
                <a:latin typeface="微软雅黑"/>
              </a:defRPr>
            </a:pPr>
            <a:r>
              <a:rPr>
                <a:ea typeface="微软雅黑"/>
              </a:rPr>
              <a:t>↓O₂</a:t>
            </a:r>
          </a:p>
        </p:txBody>
      </p:sp>
      <p:sp>
        <p:nvSpPr>
          <p:cNvPr id="16" name="原题文字_302_12"/>
          <p:cNvSpPr txBox="1"/>
          <p:nvPr/>
        </p:nvSpPr>
        <p:spPr>
          <a:xfrm>
            <a:off x="1624023" y="2311130"/>
            <a:ext cx="930726" cy="327922"/>
          </a:xfrm>
          <a:prstGeom prst="rect">
            <a:avLst/>
          </a:prstGeom>
          <a:noFill/>
        </p:spPr>
        <p:txBody>
          <a:bodyPr wrap="none" lIns="0" rIns="0" tIns="0" bIns="0">
            <a:spAutoFit/>
          </a:bodyPr>
          <a:lstStyle/>
          <a:p>
            <a:pPr>
              <a:lnSpc>
                <a:spcPct val="112000"/>
              </a:lnSpc>
              <a:spcBef>
                <a:spcPts val="0"/>
              </a:spcBef>
              <a:spcAft>
                <a:spcPts val="0"/>
              </a:spcAft>
              <a:defRPr sz="1527" b="0">
                <a:solidFill>
                  <a:srgbClr val="333333"/>
                </a:solidFill>
                <a:latin typeface="微软雅黑"/>
              </a:defRPr>
            </a:pPr>
            <a:r>
              <a:rPr>
                <a:ea typeface="微软雅黑"/>
              </a:rPr>
              <a:t>无水CaCl₂</a:t>
            </a:r>
          </a:p>
        </p:txBody>
      </p:sp>
      <p:sp>
        <p:nvSpPr>
          <p:cNvPr id="17" name="原题文字_302_13"/>
          <p:cNvSpPr txBox="1"/>
          <p:nvPr/>
        </p:nvSpPr>
        <p:spPr>
          <a:xfrm>
            <a:off x="3726092" y="2367185"/>
            <a:ext cx="244050" cy="227724"/>
          </a:xfrm>
          <a:prstGeom prst="rect">
            <a:avLst/>
          </a:prstGeom>
          <a:noFill/>
        </p:spPr>
        <p:txBody>
          <a:bodyPr wrap="none" lIns="0" rIns="0" tIns="0" bIns="0">
            <a:spAutoFit/>
          </a:bodyPr>
          <a:lstStyle/>
          <a:p>
            <a:pPr>
              <a:lnSpc>
                <a:spcPct val="112000"/>
              </a:lnSpc>
              <a:spcBef>
                <a:spcPts val="0"/>
              </a:spcBef>
              <a:spcAft>
                <a:spcPts val="0"/>
              </a:spcAft>
              <a:defRPr sz="1103" b="0">
                <a:solidFill>
                  <a:srgbClr val="333333"/>
                </a:solidFill>
                <a:latin typeface="微软雅黑"/>
              </a:defRPr>
            </a:pPr>
            <a:r>
              <a:rPr>
                <a:ea typeface="微软雅黑"/>
              </a:rPr>
              <a:t>F</a:t>
            </a:r>
          </a:p>
        </p:txBody>
      </p:sp>
      <p:sp>
        <p:nvSpPr>
          <p:cNvPr id="18" name="原题文字_302_14"/>
          <p:cNvSpPr txBox="1"/>
          <p:nvPr/>
        </p:nvSpPr>
        <p:spPr>
          <a:xfrm>
            <a:off x="4854202" y="2360178"/>
            <a:ext cx="440243" cy="236833"/>
          </a:xfrm>
          <a:prstGeom prst="rect">
            <a:avLst/>
          </a:prstGeom>
          <a:noFill/>
        </p:spPr>
        <p:txBody>
          <a:bodyPr wrap="none" lIns="0" rIns="0" tIns="0" bIns="0">
            <a:spAutoFit/>
          </a:bodyPr>
          <a:lstStyle/>
          <a:p>
            <a:pPr>
              <a:lnSpc>
                <a:spcPct val="112000"/>
              </a:lnSpc>
              <a:spcBef>
                <a:spcPts val="0"/>
              </a:spcBef>
              <a:spcAft>
                <a:spcPts val="0"/>
              </a:spcAft>
              <a:defRPr sz="1147" b="0">
                <a:solidFill>
                  <a:srgbClr val="333333"/>
                </a:solidFill>
                <a:latin typeface="微软雅黑"/>
              </a:defRPr>
            </a:pPr>
            <a:r>
              <a:rPr>
                <a:ea typeface="微软雅黑"/>
              </a:rPr>
              <a:t>HE</a:t>
            </a:r>
          </a:p>
        </p:txBody>
      </p:sp>
      <p:sp>
        <p:nvSpPr>
          <p:cNvPr id="19" name="原题文字_302_15"/>
          <p:cNvSpPr txBox="1"/>
          <p:nvPr/>
        </p:nvSpPr>
        <p:spPr>
          <a:xfrm>
            <a:off x="4055416" y="2556371"/>
            <a:ext cx="230036" cy="227724"/>
          </a:xfrm>
          <a:prstGeom prst="rect">
            <a:avLst/>
          </a:prstGeom>
          <a:noFill/>
        </p:spPr>
        <p:txBody>
          <a:bodyPr wrap="none" lIns="0" rIns="0" tIns="0" bIns="0">
            <a:spAutoFit/>
          </a:bodyPr>
          <a:lstStyle/>
          <a:p>
            <a:pPr>
              <a:lnSpc>
                <a:spcPct val="112000"/>
              </a:lnSpc>
              <a:spcBef>
                <a:spcPts val="0"/>
              </a:spcBef>
              <a:spcAft>
                <a:spcPts val="0"/>
              </a:spcAft>
              <a:defRPr sz="1103" b="0">
                <a:solidFill>
                  <a:srgbClr val="333333"/>
                </a:solidFill>
                <a:latin typeface="微软雅黑"/>
              </a:defRPr>
            </a:pPr>
            <a:r>
              <a:rPr>
                <a:ea typeface="微软雅黑"/>
              </a:rPr>
              <a:t>D</a:t>
            </a:r>
          </a:p>
        </p:txBody>
      </p:sp>
      <p:sp>
        <p:nvSpPr>
          <p:cNvPr id="20" name="原题文字_302_16"/>
          <p:cNvSpPr txBox="1"/>
          <p:nvPr/>
        </p:nvSpPr>
        <p:spPr>
          <a:xfrm>
            <a:off x="1511913" y="2633447"/>
            <a:ext cx="1035829" cy="364358"/>
          </a:xfrm>
          <a:prstGeom prst="rect">
            <a:avLst/>
          </a:prstGeom>
          <a:noFill/>
        </p:spPr>
        <p:txBody>
          <a:bodyPr wrap="none" lIns="0" rIns="0" tIns="0" bIns="0">
            <a:spAutoFit/>
          </a:bodyPr>
          <a:lstStyle/>
          <a:p>
            <a:pPr>
              <a:lnSpc>
                <a:spcPct val="112000"/>
              </a:lnSpc>
              <a:spcBef>
                <a:spcPts val="0"/>
              </a:spcBef>
              <a:spcAft>
                <a:spcPts val="0"/>
              </a:spcAft>
              <a:defRPr sz="1441" b="0">
                <a:solidFill>
                  <a:srgbClr val="333333"/>
                </a:solidFill>
                <a:latin typeface="微软雅黑"/>
              </a:defRPr>
            </a:pPr>
            <a:r>
              <a:rPr>
                <a:ea typeface="微软雅黑"/>
              </a:rPr>
              <a:t>饱和NaNO₂</a:t>
            </a:r>
          </a:p>
        </p:txBody>
      </p:sp>
      <p:sp>
        <p:nvSpPr>
          <p:cNvPr id="21" name="原题文字_302_17"/>
          <p:cNvSpPr txBox="1"/>
          <p:nvPr/>
        </p:nvSpPr>
        <p:spPr>
          <a:xfrm>
            <a:off x="1504906" y="2850661"/>
            <a:ext cx="510312" cy="346140"/>
          </a:xfrm>
          <a:prstGeom prst="rect">
            <a:avLst/>
          </a:prstGeom>
          <a:noFill/>
        </p:spPr>
        <p:txBody>
          <a:bodyPr wrap="none" lIns="0" rIns="0" tIns="0" bIns="0">
            <a:spAutoFit/>
          </a:bodyPr>
          <a:lstStyle/>
          <a:p>
            <a:pPr>
              <a:lnSpc>
                <a:spcPct val="112000"/>
              </a:lnSpc>
              <a:spcBef>
                <a:spcPts val="0"/>
              </a:spcBef>
              <a:spcAft>
                <a:spcPts val="0"/>
              </a:spcAft>
              <a:defRPr sz="1677" b="0">
                <a:solidFill>
                  <a:srgbClr val="333333"/>
                </a:solidFill>
                <a:latin typeface="微软雅黑"/>
              </a:defRPr>
            </a:pPr>
            <a:r>
              <a:rPr>
                <a:ea typeface="微软雅黑"/>
              </a:rPr>
              <a:t>溶液</a:t>
            </a:r>
          </a:p>
        </p:txBody>
      </p:sp>
      <p:sp>
        <p:nvSpPr>
          <p:cNvPr id="22" name="原题文字_302_18"/>
          <p:cNvSpPr txBox="1"/>
          <p:nvPr/>
        </p:nvSpPr>
        <p:spPr>
          <a:xfrm>
            <a:off x="5071416" y="2787599"/>
            <a:ext cx="692491" cy="327922"/>
          </a:xfrm>
          <a:prstGeom prst="rect">
            <a:avLst/>
          </a:prstGeom>
          <a:noFill/>
        </p:spPr>
        <p:txBody>
          <a:bodyPr wrap="none" lIns="0" rIns="0" tIns="0" bIns="0">
            <a:spAutoFit/>
          </a:bodyPr>
          <a:lstStyle/>
          <a:p>
            <a:pPr>
              <a:lnSpc>
                <a:spcPct val="112000"/>
              </a:lnSpc>
              <a:spcBef>
                <a:spcPts val="0"/>
              </a:spcBef>
              <a:spcAft>
                <a:spcPts val="0"/>
              </a:spcAft>
              <a:defRPr sz="1295" b="0">
                <a:solidFill>
                  <a:srgbClr val="333333"/>
                </a:solidFill>
                <a:latin typeface="微软雅黑"/>
              </a:defRPr>
            </a:pPr>
            <a:r>
              <a:rPr>
                <a:ea typeface="微软雅黑"/>
              </a:rPr>
              <a:t>Na₂CO₃</a:t>
            </a:r>
          </a:p>
        </p:txBody>
      </p:sp>
      <p:sp>
        <p:nvSpPr>
          <p:cNvPr id="23" name="原题文字_302_19"/>
          <p:cNvSpPr txBox="1"/>
          <p:nvPr/>
        </p:nvSpPr>
        <p:spPr>
          <a:xfrm>
            <a:off x="5092437" y="2990799"/>
            <a:ext cx="517319" cy="318813"/>
          </a:xfrm>
          <a:prstGeom prst="rect">
            <a:avLst/>
          </a:prstGeom>
          <a:noFill/>
        </p:spPr>
        <p:txBody>
          <a:bodyPr wrap="none" lIns="0" rIns="0" tIns="0" bIns="0">
            <a:spAutoFit/>
          </a:bodyPr>
          <a:lstStyle/>
          <a:p>
            <a:pPr>
              <a:lnSpc>
                <a:spcPct val="112000"/>
              </a:lnSpc>
              <a:spcBef>
                <a:spcPts val="0"/>
              </a:spcBef>
              <a:spcAft>
                <a:spcPts val="0"/>
              </a:spcAft>
              <a:defRPr sz="1544" b="0">
                <a:solidFill>
                  <a:srgbClr val="333333"/>
                </a:solidFill>
                <a:latin typeface="微软雅黑"/>
              </a:defRPr>
            </a:pPr>
            <a:r>
              <a:rPr>
                <a:ea typeface="微软雅黑"/>
              </a:rPr>
              <a:t>溶液</a:t>
            </a:r>
          </a:p>
        </p:txBody>
      </p:sp>
      <p:sp>
        <p:nvSpPr>
          <p:cNvPr id="24" name="原题文字_302_20"/>
          <p:cNvSpPr txBox="1"/>
          <p:nvPr/>
        </p:nvSpPr>
        <p:spPr>
          <a:xfrm>
            <a:off x="1189595" y="3271075"/>
            <a:ext cx="230036" cy="245942"/>
          </a:xfrm>
          <a:prstGeom prst="rect">
            <a:avLst/>
          </a:prstGeom>
          <a:noFill/>
        </p:spPr>
        <p:txBody>
          <a:bodyPr wrap="none" lIns="0" rIns="0" tIns="0" bIns="0">
            <a:spAutoFit/>
          </a:bodyPr>
          <a:lstStyle/>
          <a:p>
            <a:pPr>
              <a:lnSpc>
                <a:spcPct val="112000"/>
              </a:lnSpc>
              <a:spcBef>
                <a:spcPts val="0"/>
              </a:spcBef>
              <a:spcAft>
                <a:spcPts val="0"/>
              </a:spcAft>
              <a:defRPr sz="1191" b="0">
                <a:solidFill>
                  <a:srgbClr val="333333"/>
                </a:solidFill>
                <a:latin typeface="微软雅黑"/>
              </a:defRPr>
            </a:pPr>
            <a:r>
              <a:rPr>
                <a:ea typeface="微软雅黑"/>
              </a:rPr>
              <a:t>A</a:t>
            </a:r>
          </a:p>
        </p:txBody>
      </p:sp>
      <p:sp>
        <p:nvSpPr>
          <p:cNvPr id="25" name="原题文字_302_21"/>
          <p:cNvSpPr txBox="1"/>
          <p:nvPr/>
        </p:nvSpPr>
        <p:spPr>
          <a:xfrm>
            <a:off x="3382754" y="3250054"/>
            <a:ext cx="258064" cy="291486"/>
          </a:xfrm>
          <a:prstGeom prst="rect">
            <a:avLst/>
          </a:prstGeom>
          <a:noFill/>
        </p:spPr>
        <p:txBody>
          <a:bodyPr wrap="none" lIns="0" rIns="0" tIns="0" bIns="0">
            <a:spAutoFit/>
          </a:bodyPr>
          <a:lstStyle/>
          <a:p>
            <a:pPr>
              <a:lnSpc>
                <a:spcPct val="112000"/>
              </a:lnSpc>
              <a:spcBef>
                <a:spcPts val="0"/>
              </a:spcBef>
              <a:spcAft>
                <a:spcPts val="0"/>
              </a:spcAft>
              <a:defRPr sz="1412" b="0">
                <a:solidFill>
                  <a:srgbClr val="333333"/>
                </a:solidFill>
                <a:latin typeface="微软雅黑"/>
              </a:defRPr>
            </a:pPr>
            <a:r>
              <a:rPr>
                <a:ea typeface="微软雅黑"/>
              </a:rPr>
              <a:t>B</a:t>
            </a:r>
          </a:p>
        </p:txBody>
      </p:sp>
      <p:sp>
        <p:nvSpPr>
          <p:cNvPr id="26" name="原题文字_302_22"/>
          <p:cNvSpPr txBox="1"/>
          <p:nvPr/>
        </p:nvSpPr>
        <p:spPr>
          <a:xfrm>
            <a:off x="5856188" y="3250054"/>
            <a:ext cx="258064" cy="291486"/>
          </a:xfrm>
          <a:prstGeom prst="rect">
            <a:avLst/>
          </a:prstGeom>
          <a:noFill/>
        </p:spPr>
        <p:txBody>
          <a:bodyPr wrap="none" lIns="0" rIns="0" tIns="0" bIns="0">
            <a:spAutoFit/>
          </a:bodyPr>
          <a:lstStyle/>
          <a:p>
            <a:pPr>
              <a:lnSpc>
                <a:spcPct val="112000"/>
              </a:lnSpc>
              <a:spcBef>
                <a:spcPts val="0"/>
              </a:spcBef>
              <a:spcAft>
                <a:spcPts val="0"/>
              </a:spcAft>
              <a:defRPr sz="1412" b="0">
                <a:solidFill>
                  <a:srgbClr val="333333"/>
                </a:solidFill>
                <a:latin typeface="微软雅黑"/>
              </a:defRPr>
            </a:pPr>
            <a:r>
              <a:rPr>
                <a:ea typeface="微软雅黑"/>
              </a:rPr>
              <a:t>E</a:t>
            </a:r>
          </a:p>
        </p:txBody>
      </p:sp>
      <p:sp>
        <p:nvSpPr>
          <p:cNvPr id="27" name="原题文字_302_23"/>
          <p:cNvSpPr txBox="1"/>
          <p:nvPr/>
        </p:nvSpPr>
        <p:spPr>
          <a:xfrm>
            <a:off x="579995" y="3488288"/>
            <a:ext cx="5197926" cy="364358"/>
          </a:xfrm>
          <a:prstGeom prst="rect">
            <a:avLst/>
          </a:prstGeom>
          <a:noFill/>
        </p:spPr>
        <p:txBody>
          <a:bodyPr wrap="none" lIns="0" rIns="0" tIns="0" bIns="0">
            <a:spAutoFit/>
          </a:bodyPr>
          <a:lstStyle/>
          <a:p>
            <a:pPr>
              <a:lnSpc>
                <a:spcPct val="112000"/>
              </a:lnSpc>
              <a:spcBef>
                <a:spcPts val="0"/>
              </a:spcBef>
              <a:spcAft>
                <a:spcPts val="0"/>
              </a:spcAft>
              <a:defRPr sz="1502" b="0">
                <a:solidFill>
                  <a:srgbClr val="333333"/>
                </a:solidFill>
                <a:latin typeface="微软雅黑"/>
              </a:defRPr>
            </a:pPr>
            <a:r>
              <a:rPr>
                <a:ea typeface="微软雅黑"/>
              </a:rPr>
              <a:t>已知：酸性条件下，NO₂能与MnO₄反应生成NO₃和Mn²⁺。</a:t>
            </a:r>
          </a:p>
        </p:txBody>
      </p:sp>
      <p:sp>
        <p:nvSpPr>
          <p:cNvPr id="28" name="文字_回答下列问题："/>
          <p:cNvSpPr txBox="1"/>
          <p:nvPr/>
        </p:nvSpPr>
        <p:spPr>
          <a:xfrm>
            <a:off x="502920" y="3883151"/>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回答下列问题：</a:t>
            </a:r>
          </a:p>
        </p:txBody>
      </p:sp>
      <p:sp>
        <p:nvSpPr>
          <p:cNvPr id="29" name="文字_(1)装置A用来制取NO，发生反应: 3NaNO"/>
          <p:cNvSpPr txBox="1"/>
          <p:nvPr/>
        </p:nvSpPr>
        <p:spPr>
          <a:xfrm>
            <a:off x="502920" y="4175760"/>
            <a:ext cx="11064240"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(1)装置A用来制取NO，发生反应: 3NaNO₂ + H₂SO₄ = Na₂SO₄ + 2NO ↑ +X + H₂O，X的化学式为滴加稀硫酸前，需</a:t>
            </a:r>
          </a:p>
          <a:p>
            <a:pPr>
              <a:lnSpc>
                <a:spcPct val="112000"/>
              </a:lnSpc>
              <a:spcBef>
                <a:spcPts val="0"/>
              </a:spcBef>
              <a:spcAft>
                <a:spcPts val="0"/>
              </a:spcAft>
              <a:defRPr sz="1600" b="0">
                <a:solidFill>
                  <a:srgbClr val="333333"/>
                </a:solidFill>
                <a:latin typeface="微软雅黑"/>
              </a:defRPr>
            </a:pPr>
            <a:r>
              <a:rPr>
                <a:ea typeface="微软雅黑"/>
              </a:rPr>
              <a:t>进行的操作是打开K₁通入一段时间N₂的目的是</a:t>
            </a:r>
          </a:p>
        </p:txBody>
      </p:sp>
      <p:sp>
        <p:nvSpPr>
          <p:cNvPr id="30" name="文字_(2)打开K₁，装置C中淡黄色固体逐渐变为白色。"/>
          <p:cNvSpPr txBox="1"/>
          <p:nvPr/>
        </p:nvSpPr>
        <p:spPr>
          <a:xfrm>
            <a:off x="502920" y="4710176"/>
            <a:ext cx="11064240"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(2)打开K₁，装置C中淡黄色固体逐渐变为白色。取装置C中少量白色固体溶于水，向其中滴加硫酸酸化的KMnO₄溶液，观</a:t>
            </a:r>
          </a:p>
          <a:p>
            <a:pPr>
              <a:lnSpc>
                <a:spcPct val="112000"/>
              </a:lnSpc>
              <a:spcBef>
                <a:spcPts val="0"/>
              </a:spcBef>
              <a:spcAft>
                <a:spcPts val="0"/>
              </a:spcAft>
              <a:defRPr sz="1600" b="0">
                <a:solidFill>
                  <a:srgbClr val="333333"/>
                </a:solidFill>
                <a:latin typeface="微软雅黑"/>
              </a:defRPr>
            </a:pPr>
            <a:r>
              <a:rPr>
                <a:ea typeface="微软雅黑"/>
              </a:rPr>
              <a:t>察到 ______ (填实验现象)，说明NO与Na₂O₂反应生成NaNO₂；若装置C中Na₂O₂的质量为</a:t>
            </a:r>
          </a:p>
        </p:txBody>
      </p:sp>
      <p:sp>
        <p:nvSpPr>
          <p:cNvPr id="31" name="文字_3.9g，则其完全反应时，所需标准状况下NO的体"/>
          <p:cNvSpPr txBox="1"/>
          <p:nvPr/>
        </p:nvSpPr>
        <p:spPr>
          <a:xfrm>
            <a:off x="502920" y="5244592"/>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3.9g，则其完全反应时，所需标准状况下NO的体积为 ______ Lo</a:t>
            </a:r>
          </a:p>
        </p:txBody>
      </p:sp>
      <p:sp>
        <p:nvSpPr>
          <p:cNvPr id="32" name="文字_(3)向装置B中持续通入足量O₂，打开K₂，向A"/>
          <p:cNvSpPr txBox="1"/>
          <p:nvPr/>
        </p:nvSpPr>
        <p:spPr>
          <a:xfrm>
            <a:off x="502920" y="5537200"/>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(3)向装置B中持续通入足量O₂，打开K₂，向A中滴入稀硫酸后，装置B中发生反应的化学方程式为</a:t>
            </a:r>
          </a:p>
        </p:txBody>
      </p:sp>
      <p:sp>
        <p:nvSpPr>
          <p:cNvPr id="33" name="文字_(4)装置D中淡黄色固体逐渐变为白色，红棕色气体"/>
          <p:cNvSpPr txBox="1"/>
          <p:nvPr/>
        </p:nvSpPr>
        <p:spPr>
          <a:xfrm>
            <a:off x="502920" y="5829808"/>
            <a:ext cx="11064240"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(4)装置D中淡黄色固体逐渐变为白色，红棕色气体变为无色，说明NO₂也能与Na₂O₂反应，若生成物唯一，则该生成物为</a:t>
            </a:r>
          </a:p>
        </p:txBody>
      </p:sp>
      <p:sp>
        <p:nvSpPr>
          <p:cNvPr id="34" name="文字_解答题  ·  14-01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14-012</a:t>
            </a:r>
          </a:p>
        </p:txBody>
      </p:sp>
      <p:sp>
        <p:nvSpPr>
          <p:cNvPr id="35" name="文字_1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3"/>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03</a:t>
            </a:r>
          </a:p>
        </p:txBody>
      </p:sp>
      <p:sp>
        <p:nvSpPr>
          <p:cNvPr id="4" name="文字_氨气的物理性质与分子结构"/>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氨气的物理性质与分子结构</a:t>
            </a:r>
          </a:p>
        </p:txBody>
      </p:sp>
      <p:sp>
        <p:nvSpPr>
          <p:cNvPr id="5" name="文字_知识梳理 · 讲义 P303"/>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P303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氨气的物理性质与分子结构"/>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氨气的物理性质与分子结构</a:t>
            </a:r>
          </a:p>
        </p:txBody>
      </p:sp>
      <p:sp>
        <p:nvSpPr>
          <p:cNvPr id="5" name="文字_知识讲解 · P303"/>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P303</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无色、刺激性气味气体；密度比空气小；极易溶于水（"/>
          <p:cNvSpPr txBox="1"/>
          <p:nvPr/>
        </p:nvSpPr>
        <p:spPr>
          <a:xfrm>
            <a:off x="722376" y="1773936"/>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无色、刺激性气味气体；密度比空气小；极易溶于水（1:700，可做喷泉实验）</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8" name="Rectangle 7"/>
          <p:cNvSpPr/>
          <p:nvPr/>
        </p:nvSpPr>
        <p:spPr>
          <a:xfrm>
            <a:off x="512064" y="281025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易液化；液氨汽化吸热，用作制冷剂。"/>
          <p:cNvSpPr txBox="1"/>
          <p:nvPr/>
        </p:nvSpPr>
        <p:spPr>
          <a:xfrm>
            <a:off x="722376" y="272796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易液化；液氨汽化吸热，用作制冷剂。</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分子结构：N 与 3 个 H 成键，还有一对孤对"/>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分子结构：N 与 3 个 H 成键，还有一对孤对电子，呈三角锥形，极性分子。</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氨对粘膜有刺激，接触后应立即吸入新鲜空气并用大量"/>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氨对粘膜有刺激，接触后应立即吸入新鲜空气并用大量水冲洗。</a:t>
            </a:r>
          </a:p>
        </p:txBody>
      </p:sp>
      <p:sp>
        <p:nvSpPr>
          <p:cNvPr id="14" name="Rectangle 13"/>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提示  喷泉实验证明了氨&quot;极易溶于水&quot;，是物理性"/>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喷泉实验证明了氨"极易溶于水"，是物理性质的经典考察。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氨水：组成、性质与计算"/>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氨水：组成、性质与计算</a:t>
            </a:r>
          </a:p>
        </p:txBody>
      </p:sp>
      <p:sp>
        <p:nvSpPr>
          <p:cNvPr id="5" name="文字_知识讲解 · P303"/>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P303</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NH₃ + H₂O ⇌ NH₃·H₂O ⇌ NH"/>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NH₃ + H₂O ⇌ NH₃·H₂O ⇌ NH₄⁺ + OH⁻；NH₃·H₂O 是弱电解质。</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氨水显弱碱性：酚酞变红、红色石蕊变蓝。"/>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氨水显弱碱性：酚酞变红、红色石蕊变蓝。</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三种分子：NH₃、NH₃·H₂O、H₂O；三种离"/>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三种分子：NH₃、NH₃·H₂O、H₂O；三种离子：NH₄⁺、OH⁻、H⁺。</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浓度越大密度越小（反常）。"/>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浓度越大密度越小（反常）。</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计算浓度时溶质按 NH₃ 计算；不能用金属容器长"/>
          <p:cNvSpPr txBox="1"/>
          <p:nvPr/>
        </p:nvSpPr>
        <p:spPr>
          <a:xfrm>
            <a:off x="722376" y="4102607"/>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计算浓度时溶质按 NH₃ 计算；不能用金属容器长期盛装，用玻璃、橡胶、陶瓷</a:t>
            </a:r>
          </a:p>
          <a:p>
            <a:pPr>
              <a:lnSpc>
                <a:spcPct val="112000"/>
              </a:lnSpc>
              <a:spcBef>
                <a:spcPts val="0"/>
              </a:spcBef>
              <a:spcAft>
                <a:spcPts val="0"/>
              </a:spcAft>
              <a:defRPr sz="2400" b="0">
                <a:solidFill>
                  <a:srgbClr val="333333"/>
                </a:solidFill>
                <a:latin typeface="微软雅黑"/>
              </a:defRPr>
            </a:pPr>
            <a:r>
              <a:rPr>
                <a:ea typeface="微软雅黑"/>
              </a:rPr>
              <a:t>容器。</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氨水是混合物，液氨是纯净物；两者组成和性"/>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氨水是混合物，液氨是纯净物；两者组成和性质都不同。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4"/>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04</a:t>
            </a:r>
          </a:p>
        </p:txBody>
      </p:sp>
      <p:sp>
        <p:nvSpPr>
          <p:cNvPr id="4" name="文字_氨的化学性质"/>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氨的化学性质</a:t>
            </a:r>
          </a:p>
        </p:txBody>
      </p:sp>
      <p:sp>
        <p:nvSpPr>
          <p:cNvPr id="5" name="文字_知识梳理 · 讲义 P304"/>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P304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氨的化学性质"/>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氨的化学性质</a:t>
            </a:r>
          </a:p>
        </p:txBody>
      </p:sp>
      <p:sp>
        <p:nvSpPr>
          <p:cNvPr id="5" name="文字_知识讲解 · P304"/>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P304</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与酸：NH₃ + HCl = NH₄Cl，产生白"/>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与酸：NH₃ + HCl = NH₄Cl，产生白烟（检验氨气的方法）。</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与挥发性酸（浓盐酸、浓硝酸）冒白烟；与不挥发性酸"/>
          <p:cNvSpPr txBox="1"/>
          <p:nvPr/>
        </p:nvSpPr>
        <p:spPr>
          <a:xfrm>
            <a:off x="722376" y="235610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与挥发性酸（浓盐酸、浓硝酸）冒白烟；与不挥发性酸（浓硫酸、磷酸）无白烟</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催化氧化：4NH₃ + 5O₂ —催化剂、Δ→ "/>
          <p:cNvSpPr txBox="1"/>
          <p:nvPr/>
        </p:nvSpPr>
        <p:spPr>
          <a:xfrm>
            <a:off x="722376" y="3310128"/>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催化氧化：4NH₃ + 5O₂ —催化剂、Δ→ 4NO + 6H₂O，工业制硝酸的第一步</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2" name="Rectangle 11"/>
          <p:cNvSpPr/>
          <p:nvPr/>
        </p:nvSpPr>
        <p:spPr>
          <a:xfrm>
            <a:off x="512064" y="434644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氨作还原剂，N 从 −3 升至 +2。"/>
          <p:cNvSpPr txBox="1"/>
          <p:nvPr/>
        </p:nvSpPr>
        <p:spPr>
          <a:xfrm>
            <a:off x="722376" y="426415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氨作还原剂，N 从 −3 升至 +2。</a:t>
            </a:r>
          </a:p>
        </p:txBody>
      </p:sp>
      <p:sp>
        <p:nvSpPr>
          <p:cNvPr id="14" name="Rectangle 13"/>
          <p:cNvSpPr/>
          <p:nvPr/>
        </p:nvSpPr>
        <p:spPr>
          <a:xfrm>
            <a:off x="512064" y="492861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用途：化肥、制硝酸、铵盐、纯碱、尿素与合成纤维的"/>
          <p:cNvSpPr txBox="1"/>
          <p:nvPr/>
        </p:nvSpPr>
        <p:spPr>
          <a:xfrm>
            <a:off x="722376" y="484632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用途：化肥、制硝酸、铵盐、纯碱、尿素与合成纤维的原料。</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检验 NH₄⁺：加碱加热，用湿润红色石蕊"/>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检验 NH₄⁺：加碱加热，用湿润红色石蕊试纸变蓝验证。</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氨气的实验室制法"/>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氨气的实验室制法</a:t>
            </a:r>
          </a:p>
        </p:txBody>
      </p:sp>
      <p:sp>
        <p:nvSpPr>
          <p:cNvPr id="5" name="文字_知识讲解 · P304"/>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P304</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药品：NH₄Cl 与 Ca(OH)₂ 固体混合加"/>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药品：NH₄Cl 与 Ca(OH)₂ 固体混合加热。</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原理：2NH₄Cl + Ca(OH)₂ —加热→"/>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原理：2NH₄Cl + Ca(OH)₂ —加热→ CaCl₂ + 2NH₃↑ + 2H₂O。</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装置：固固加热型（同制 O₂）；试管口略向下倾斜"/>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装置：固固加热型（同制 O₂）；试管口略向下倾斜。</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干燥：碱石灰（不能用浓硫酸或无水 CaCl₂）。"/>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干燥：碱石灰（不能用浓硫酸或无水 CaCl₂）。</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收集：向下排空气法；试管口塞棉花防止对流（不能堵"/>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收集：向下排空气法；试管口塞棉花防止对流（不能堵死）。</a:t>
            </a:r>
          </a:p>
        </p:txBody>
      </p:sp>
      <p:sp>
        <p:nvSpPr>
          <p:cNvPr id="16" name="Rectangle 15"/>
          <p:cNvSpPr/>
          <p:nvPr/>
        </p:nvSpPr>
        <p:spPr>
          <a:xfrm>
            <a:off x="512064" y="476707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验满：湿润红色石蕊试纸变蓝，或蘸浓盐酸玻璃棒靠近"/>
          <p:cNvSpPr txBox="1"/>
          <p:nvPr/>
        </p:nvSpPr>
        <p:spPr>
          <a:xfrm>
            <a:off x="722376" y="468477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验满：湿润红色石蕊试纸变蓝，或蘸浓盐酸玻璃棒靠近产生白烟。</a:t>
            </a:r>
          </a:p>
        </p:txBody>
      </p:sp>
      <p:sp>
        <p:nvSpPr>
          <p:cNvPr id="18" name="Rectangle 17"/>
          <p:cNvSpPr/>
          <p:nvPr/>
        </p:nvSpPr>
        <p:spPr>
          <a:xfrm>
            <a:off x="512064" y="534924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文字_尾气：用水或稀酸吸收，注意防倒吸。"/>
          <p:cNvSpPr txBox="1"/>
          <p:nvPr/>
        </p:nvSpPr>
        <p:spPr>
          <a:xfrm>
            <a:off x="722376" y="526694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尾气：用水或稀酸吸收，注意防倒吸。</a:t>
            </a:r>
          </a:p>
        </p:txBody>
      </p:sp>
      <p:sp>
        <p:nvSpPr>
          <p:cNvPr id="20" name="Rectangle 19"/>
          <p:cNvSpPr/>
          <p:nvPr/>
        </p:nvSpPr>
        <p:spPr>
          <a:xfrm>
            <a:off x="493776" y="574243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文字_提示  干燥剂要避开酸性干燥剂和 CaCl₂（与"/>
          <p:cNvSpPr txBox="1"/>
          <p:nvPr/>
        </p:nvSpPr>
        <p:spPr>
          <a:xfrm>
            <a:off x="630936" y="580186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干燥剂要避开酸性干燥剂和 CaCl₂（与 NH₃ 作用）。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铵盐的性质"/>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铵盐的性质</a:t>
            </a:r>
          </a:p>
        </p:txBody>
      </p:sp>
      <p:sp>
        <p:nvSpPr>
          <p:cNvPr id="5" name="文字_知识讲解 · P304"/>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P304</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铵盐都是白色晶体，易溶于水；NH₄NO₃ 等溶解"/>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铵盐都是白色晶体，易溶于水；NH₄NO₃ 等溶解吸热。</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不稳定性：NH₄Cl —加热→ NH₃↑ + H"/>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不稳定性：NH₄Cl —加热→ NH₃↑ + HCl↑（遇冷重新化合，"升华"假象）。</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NH₄HCO₃ —加热→ NH₃↑ + H₂O↑"/>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NH₄HCO₃ —加热→ NH₃↑ + H₂O↑ + CO₂↑（完全分解）。</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与碱反应：NH₄⁺ + OH⁻ —加热→ NH₃"/>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与碱反应：NH₄⁺ + OH⁻ —加热→ NH₃↑ + H₂O（检验或实验室制氨）。</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铵态氮肥不能与碱性物质（草木灰、熟石灰）混用。"/>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铵态氮肥不能与碱性物质（草木灰、熟石灰）混用。</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NH₄Cl 受热是&quot;分解—化合&quot;的化学变"/>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NH₄Cl 受热是"分解—化合"的化学变化，与碘升华的物理变化本质不同。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例题1</a:t>
            </a:r>
          </a:p>
        </p:txBody>
      </p:sp>
      <p:sp>
        <p:nvSpPr>
          <p:cNvPr id="5" name="文字_P3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P305</a:t>
            </a:r>
          </a:p>
        </p:txBody>
      </p:sp>
      <p:sp>
        <p:nvSpPr>
          <p:cNvPr id="6" name="文字_下列有关氨气的说法，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下列有关氨气的说法，不正确的是</a:t>
            </a:r>
          </a:p>
        </p:txBody>
      </p:sp>
      <p:sp>
        <p:nvSpPr>
          <p:cNvPr id="7" name="文字_A. 氨气有刺激性味道"/>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氨气有刺激性味道</a:t>
            </a:r>
          </a:p>
        </p:txBody>
      </p:sp>
      <p:sp>
        <p:nvSpPr>
          <p:cNvPr id="8" name="文字_B. 氨气是弱电解质"/>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氨气是弱电解质</a:t>
            </a:r>
          </a:p>
        </p:txBody>
      </p:sp>
      <p:sp>
        <p:nvSpPr>
          <p:cNvPr id="9" name="文字_C. 氨气遇挥发性酸时产生白烟"/>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氨气遇挥发性酸时产生白烟</a:t>
            </a:r>
          </a:p>
        </p:txBody>
      </p:sp>
      <p:sp>
        <p:nvSpPr>
          <p:cNvPr id="10" name="文字_D. 氨气易液化，液氨常用作制冷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氨气易液化，液氨常用作制冷剂</a:t>
            </a:r>
          </a:p>
        </p:txBody>
      </p:sp>
      <p:sp>
        <p:nvSpPr>
          <p:cNvPr id="11" name="文字_单选题  ·  14-01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14-013</a:t>
            </a:r>
          </a:p>
        </p:txBody>
      </p:sp>
      <p:sp>
        <p:nvSpPr>
          <p:cNvPr id="12" name="文字_2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例题2</a:t>
            </a:r>
          </a:p>
        </p:txBody>
      </p:sp>
      <p:sp>
        <p:nvSpPr>
          <p:cNvPr id="5" name="文字_P3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P305</a:t>
            </a:r>
          </a:p>
        </p:txBody>
      </p:sp>
      <p:sp>
        <p:nvSpPr>
          <p:cNvPr id="6" name="文字_如图是实验室进行“喷泉”实验的一种装置，应用下列"/>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如图是实验室进行“喷泉”实验的一种装置，应用下列气体和液体一定不会出现“</a:t>
            </a:r>
          </a:p>
          <a:p>
            <a:pPr>
              <a:lnSpc>
                <a:spcPct val="112000"/>
              </a:lnSpc>
              <a:spcBef>
                <a:spcPts val="0"/>
              </a:spcBef>
              <a:spcAft>
                <a:spcPts val="0"/>
              </a:spcAft>
              <a:defRPr sz="2400" b="0">
                <a:solidFill>
                  <a:srgbClr val="333333"/>
                </a:solidFill>
                <a:latin typeface="微软雅黑"/>
              </a:defRPr>
            </a:pPr>
            <a:r>
              <a:rPr>
                <a:ea typeface="微软雅黑"/>
              </a:rPr>
              <a:t>喷泉”现象的是</a:t>
            </a:r>
          </a:p>
        </p:txBody>
      </p:sp>
      <p:pic>
        <p:nvPicPr>
          <p:cNvPr id="7" name="Picture 6" descr="image.png"/>
          <p:cNvPicPr>
            <a:picLocks noChangeAspect="1"/>
          </p:cNvPicPr>
          <p:nvPr/>
        </p:nvPicPr>
        <p:blipFill>
          <a:blip r:embed="rId3"/>
          <a:stretch>
            <a:fillRect/>
          </a:stretch>
        </p:blipFill>
        <p:spPr>
          <a:xfrm>
            <a:off x="502920" y="1880616"/>
            <a:ext cx="11064240" cy="2136278"/>
          </a:xfrm>
          <a:prstGeom prst="rect">
            <a:avLst/>
          </a:prstGeom>
        </p:spPr>
      </p:pic>
      <p:sp>
        <p:nvSpPr>
          <p:cNvPr id="8" name="原题文字_305_13"/>
          <p:cNvSpPr txBox="1"/>
          <p:nvPr/>
        </p:nvSpPr>
        <p:spPr>
          <a:xfrm>
            <a:off x="571832" y="1981411"/>
            <a:ext cx="165515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A. HCl气体和水</a:t>
            </a:r>
          </a:p>
        </p:txBody>
      </p:sp>
      <p:sp>
        <p:nvSpPr>
          <p:cNvPr id="9" name="原题文字_305_14"/>
          <p:cNvSpPr txBox="1"/>
          <p:nvPr/>
        </p:nvSpPr>
        <p:spPr>
          <a:xfrm>
            <a:off x="10456907" y="2073294"/>
            <a:ext cx="751643"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气体A</a:t>
            </a:r>
          </a:p>
        </p:txBody>
      </p:sp>
      <p:sp>
        <p:nvSpPr>
          <p:cNvPr id="10" name="原题文字_305_15"/>
          <p:cNvSpPr txBox="1"/>
          <p:nvPr/>
        </p:nvSpPr>
        <p:spPr>
          <a:xfrm>
            <a:off x="571832" y="2364257"/>
            <a:ext cx="1984406"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B. SO₂和NaOH溶液</a:t>
            </a:r>
          </a:p>
        </p:txBody>
      </p:sp>
      <p:sp>
        <p:nvSpPr>
          <p:cNvPr id="11" name="原题文字_305_16"/>
          <p:cNvSpPr txBox="1"/>
          <p:nvPr/>
        </p:nvSpPr>
        <p:spPr>
          <a:xfrm>
            <a:off x="10334396" y="2540366"/>
            <a:ext cx="759300"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液体B</a:t>
            </a:r>
          </a:p>
        </p:txBody>
      </p:sp>
      <p:sp>
        <p:nvSpPr>
          <p:cNvPr id="12" name="原题文字_305_17"/>
          <p:cNvSpPr txBox="1"/>
          <p:nvPr/>
        </p:nvSpPr>
        <p:spPr>
          <a:xfrm>
            <a:off x="587146" y="2747103"/>
            <a:ext cx="199206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Cl₂和饱和食盐水</a:t>
            </a:r>
          </a:p>
        </p:txBody>
      </p:sp>
      <p:sp>
        <p:nvSpPr>
          <p:cNvPr id="13" name="原题文字_305_18"/>
          <p:cNvSpPr txBox="1"/>
          <p:nvPr/>
        </p:nvSpPr>
        <p:spPr>
          <a:xfrm>
            <a:off x="10395652" y="3007438"/>
            <a:ext cx="851183"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止水夹</a:t>
            </a:r>
          </a:p>
        </p:txBody>
      </p:sp>
      <p:sp>
        <p:nvSpPr>
          <p:cNvPr id="14" name="原题文字_305_19"/>
          <p:cNvSpPr txBox="1"/>
          <p:nvPr/>
        </p:nvSpPr>
        <p:spPr>
          <a:xfrm>
            <a:off x="587146" y="3145262"/>
            <a:ext cx="1670472"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D. NH₃和稀盐酸</a:t>
            </a:r>
          </a:p>
        </p:txBody>
      </p:sp>
      <p:sp>
        <p:nvSpPr>
          <p:cNvPr id="15" name="原题文字_305_20"/>
          <p:cNvSpPr txBox="1"/>
          <p:nvPr/>
        </p:nvSpPr>
        <p:spPr>
          <a:xfrm>
            <a:off x="10449250" y="3436225"/>
            <a:ext cx="78992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-液体B</a:t>
            </a:r>
          </a:p>
        </p:txBody>
      </p:sp>
      <p:sp>
        <p:nvSpPr>
          <p:cNvPr id="16" name="文字_单选题  ·  14-01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14-014</a:t>
            </a:r>
          </a:p>
        </p:txBody>
      </p:sp>
      <p:sp>
        <p:nvSpPr>
          <p:cNvPr id="17" name="文字_2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例题3</a:t>
            </a:r>
          </a:p>
        </p:txBody>
      </p:sp>
      <p:sp>
        <p:nvSpPr>
          <p:cNvPr id="5" name="文字_P3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P305</a:t>
            </a:r>
          </a:p>
        </p:txBody>
      </p:sp>
      <p:sp>
        <p:nvSpPr>
          <p:cNvPr id="6" name="文字_下列有关物质的性质与用途具有对应关系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下列有关物质的性质与用途具有对应关系的是</a:t>
            </a:r>
          </a:p>
        </p:txBody>
      </p:sp>
      <p:sp>
        <p:nvSpPr>
          <p:cNvPr id="7" name="文字_A. 氨水具有碱性，可用于去除烟气中的SO₂"/>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氨水具有碱性，可用于去除烟气中的SO₂</a:t>
            </a:r>
          </a:p>
        </p:txBody>
      </p:sp>
      <p:sp>
        <p:nvSpPr>
          <p:cNvPr id="8" name="文字_B. N₂性质稳定，工业生产金属镁时，为防止其氧"/>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N₂性质稳定，工业生产金属镁时，为防止其氧化，可以用N₂作保护气</a:t>
            </a:r>
          </a:p>
        </p:txBody>
      </p:sp>
      <p:sp>
        <p:nvSpPr>
          <p:cNvPr id="9" name="文字_C. HNO₃具有酸性，能与铜反应制NO"/>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HNO₃具有酸性，能与铜反应制NO</a:t>
            </a:r>
          </a:p>
        </p:txBody>
      </p:sp>
      <p:sp>
        <p:nvSpPr>
          <p:cNvPr id="10" name="文字_D. NH₃易溶于水，可用作制冷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NH₃易溶于水，可用作制冷剂</a:t>
            </a:r>
          </a:p>
        </p:txBody>
      </p:sp>
      <p:sp>
        <p:nvSpPr>
          <p:cNvPr id="11" name="文字_单选题  ·  14-01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14-015</a:t>
            </a:r>
          </a:p>
        </p:txBody>
      </p:sp>
      <p:sp>
        <p:nvSpPr>
          <p:cNvPr id="12" name="文字_2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例题4</a:t>
            </a:r>
          </a:p>
        </p:txBody>
      </p:sp>
      <p:sp>
        <p:nvSpPr>
          <p:cNvPr id="5" name="文字_P30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P305</a:t>
            </a:r>
          </a:p>
        </p:txBody>
      </p:sp>
      <p:sp>
        <p:nvSpPr>
          <p:cNvPr id="6" name="文字_实验室为了更简便地制取干燥的NH₃，适合的方法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实验室为了更简便地制取干燥的NH₃，适合的方法是（）</a:t>
            </a:r>
          </a:p>
        </p:txBody>
      </p:sp>
      <p:sp>
        <p:nvSpPr>
          <p:cNvPr id="7" name="文字_A. NH₄Cl与浓H₂SO₄混合共热，生成的气"/>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NH₄Cl与浓H₂SO₄混合共热，生成的气体用碱石灰进行干燥</a:t>
            </a:r>
          </a:p>
        </p:txBody>
      </p:sp>
      <p:pic>
        <p:nvPicPr>
          <p:cNvPr id="8" name="Picture 7" descr="image.png"/>
          <p:cNvPicPr>
            <a:picLocks noChangeAspect="1"/>
          </p:cNvPicPr>
          <p:nvPr/>
        </p:nvPicPr>
        <p:blipFill>
          <a:blip r:embed="rId3"/>
          <a:stretch>
            <a:fillRect/>
          </a:stretch>
        </p:blipFill>
        <p:spPr>
          <a:xfrm>
            <a:off x="502920" y="1956816"/>
            <a:ext cx="11064240" cy="1378244"/>
          </a:xfrm>
          <a:prstGeom prst="rect">
            <a:avLst/>
          </a:prstGeom>
        </p:spPr>
      </p:pic>
      <p:sp>
        <p:nvSpPr>
          <p:cNvPr id="9" name="原题文字_305_34"/>
          <p:cNvSpPr txBox="1"/>
          <p:nvPr/>
        </p:nvSpPr>
        <p:spPr>
          <a:xfrm>
            <a:off x="1605515" y="1988699"/>
            <a:ext cx="912438" cy="338435"/>
          </a:xfrm>
          <a:prstGeom prst="rect">
            <a:avLst/>
          </a:prstGeom>
          <a:noFill/>
        </p:spPr>
        <p:txBody>
          <a:bodyPr wrap="none" lIns="0" rIns="0" tIns="0" bIns="0">
            <a:spAutoFit/>
          </a:bodyPr>
          <a:lstStyle/>
          <a:p>
            <a:pPr>
              <a:lnSpc>
                <a:spcPct val="112000"/>
              </a:lnSpc>
              <a:spcBef>
                <a:spcPts val="0"/>
              </a:spcBef>
              <a:spcAft>
                <a:spcPts val="0"/>
              </a:spcAft>
              <a:defRPr sz="1457" b="0">
                <a:solidFill>
                  <a:srgbClr val="333333"/>
                </a:solidFill>
                <a:latin typeface="微软雅黑"/>
              </a:defRPr>
            </a:pPr>
            <a:r>
              <a:rPr>
                <a:ea typeface="微软雅黑"/>
              </a:rPr>
              <a:t>高温、高压</a:t>
            </a:r>
          </a:p>
        </p:txBody>
      </p:sp>
      <p:sp>
        <p:nvSpPr>
          <p:cNvPr id="10" name="原题文字_305_35"/>
          <p:cNvSpPr txBox="1"/>
          <p:nvPr/>
        </p:nvSpPr>
        <p:spPr>
          <a:xfrm>
            <a:off x="564175" y="2157151"/>
            <a:ext cx="1142145" cy="348389"/>
          </a:xfrm>
          <a:prstGeom prst="rect">
            <a:avLst/>
          </a:prstGeom>
          <a:noFill/>
        </p:spPr>
        <p:txBody>
          <a:bodyPr wrap="none" lIns="0" rIns="0" tIns="0" bIns="0">
            <a:spAutoFit/>
          </a:bodyPr>
          <a:lstStyle/>
          <a:p>
            <a:pPr>
              <a:lnSpc>
                <a:spcPct val="112000"/>
              </a:lnSpc>
              <a:spcBef>
                <a:spcPts val="0"/>
              </a:spcBef>
              <a:spcAft>
                <a:spcPts val="0"/>
              </a:spcAft>
              <a:defRPr sz="1498" b="0">
                <a:solidFill>
                  <a:srgbClr val="333333"/>
                </a:solidFill>
                <a:latin typeface="微软雅黑"/>
              </a:defRPr>
            </a:pPr>
            <a:r>
              <a:rPr>
                <a:ea typeface="微软雅黑"/>
              </a:rPr>
              <a:t>B. N₂ + 3H₂</a:t>
            </a:r>
          </a:p>
        </p:txBody>
      </p:sp>
      <p:sp>
        <p:nvSpPr>
          <p:cNvPr id="11" name="原题文字_305_36"/>
          <p:cNvSpPr txBox="1"/>
          <p:nvPr/>
        </p:nvSpPr>
        <p:spPr>
          <a:xfrm>
            <a:off x="2386520" y="2118867"/>
            <a:ext cx="3416249" cy="398159"/>
          </a:xfrm>
          <a:prstGeom prst="rect">
            <a:avLst/>
          </a:prstGeom>
          <a:noFill/>
        </p:spPr>
        <p:txBody>
          <a:bodyPr wrap="none" lIns="0" rIns="0" tIns="0" bIns="0">
            <a:spAutoFit/>
          </a:bodyPr>
          <a:lstStyle/>
          <a:p>
            <a:pPr>
              <a:lnSpc>
                <a:spcPct val="112000"/>
              </a:lnSpc>
              <a:spcBef>
                <a:spcPts val="0"/>
              </a:spcBef>
              <a:spcAft>
                <a:spcPts val="0"/>
              </a:spcAft>
              <a:defRPr sz="1716" b="0">
                <a:solidFill>
                  <a:srgbClr val="333333"/>
                </a:solidFill>
                <a:latin typeface="微软雅黑"/>
              </a:defRPr>
            </a:pPr>
            <a:r>
              <a:rPr>
                <a:ea typeface="微软雅黑"/>
              </a:rPr>
              <a:t>2NH₃，生成的气体用烧碱进行干燥</a:t>
            </a:r>
          </a:p>
        </p:txBody>
      </p:sp>
      <p:sp>
        <p:nvSpPr>
          <p:cNvPr id="12" name="原题文字_305_37"/>
          <p:cNvSpPr txBox="1"/>
          <p:nvPr/>
        </p:nvSpPr>
        <p:spPr>
          <a:xfrm>
            <a:off x="1766310" y="2317947"/>
            <a:ext cx="598504" cy="328481"/>
          </a:xfrm>
          <a:prstGeom prst="rect">
            <a:avLst/>
          </a:prstGeom>
          <a:noFill/>
        </p:spPr>
        <p:txBody>
          <a:bodyPr wrap="none" lIns="0" rIns="0" tIns="0" bIns="0">
            <a:spAutoFit/>
          </a:bodyPr>
          <a:lstStyle/>
          <a:p>
            <a:pPr>
              <a:lnSpc>
                <a:spcPct val="112000"/>
              </a:lnSpc>
              <a:spcBef>
                <a:spcPts val="0"/>
              </a:spcBef>
              <a:spcAft>
                <a:spcPts val="0"/>
              </a:spcAft>
              <a:defRPr sz="1588" b="0">
                <a:solidFill>
                  <a:srgbClr val="333333"/>
                </a:solidFill>
                <a:latin typeface="微软雅黑"/>
              </a:defRPr>
            </a:pPr>
            <a:r>
              <a:rPr>
                <a:ea typeface="微软雅黑"/>
              </a:rPr>
              <a:t>催化剂</a:t>
            </a:r>
          </a:p>
        </p:txBody>
      </p:sp>
      <p:sp>
        <p:nvSpPr>
          <p:cNvPr id="13" name="原题文字_305_38"/>
          <p:cNvSpPr txBox="1"/>
          <p:nvPr/>
        </p:nvSpPr>
        <p:spPr>
          <a:xfrm>
            <a:off x="587146" y="2639537"/>
            <a:ext cx="406708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加热浓氨水，生成的气体用碱石灰干燥</a:t>
            </a:r>
          </a:p>
        </p:txBody>
      </p:sp>
      <p:sp>
        <p:nvSpPr>
          <p:cNvPr id="14" name="原题文字_305_39"/>
          <p:cNvSpPr txBox="1"/>
          <p:nvPr/>
        </p:nvSpPr>
        <p:spPr>
          <a:xfrm>
            <a:off x="587146" y="3030040"/>
            <a:ext cx="4128341" cy="348389"/>
          </a:xfrm>
          <a:prstGeom prst="rect">
            <a:avLst/>
          </a:prstGeom>
          <a:noFill/>
        </p:spPr>
        <p:txBody>
          <a:bodyPr wrap="none" lIns="0" rIns="0" tIns="0" bIns="0">
            <a:spAutoFit/>
          </a:bodyPr>
          <a:lstStyle/>
          <a:p>
            <a:pPr>
              <a:lnSpc>
                <a:spcPct val="112000"/>
              </a:lnSpc>
              <a:spcBef>
                <a:spcPts val="0"/>
              </a:spcBef>
              <a:spcAft>
                <a:spcPts val="0"/>
              </a:spcAft>
              <a:defRPr sz="1627" b="0">
                <a:solidFill>
                  <a:srgbClr val="333333"/>
                </a:solidFill>
                <a:latin typeface="微软雅黑"/>
              </a:defRPr>
            </a:pPr>
            <a:r>
              <a:rPr>
                <a:ea typeface="微软雅黑"/>
              </a:rPr>
              <a:t>D. 加热NH₄HCO₃，生成的气体用P₂O₅干燥</a:t>
            </a:r>
          </a:p>
        </p:txBody>
      </p:sp>
      <p:sp>
        <p:nvSpPr>
          <p:cNvPr id="15" name="文字_单选题  ·  14-01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14-016</a:t>
            </a:r>
          </a:p>
        </p:txBody>
      </p:sp>
      <p:sp>
        <p:nvSpPr>
          <p:cNvPr id="16" name="文字_2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例题5</a:t>
            </a:r>
          </a:p>
        </p:txBody>
      </p:sp>
      <p:sp>
        <p:nvSpPr>
          <p:cNvPr id="5" name="文字_P30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P306</a:t>
            </a:r>
          </a:p>
        </p:txBody>
      </p:sp>
      <p:sp>
        <p:nvSpPr>
          <p:cNvPr id="6" name="文字_关于实验室制取氨气的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关于实验室制取氨气的说法正确的是</a:t>
            </a:r>
          </a:p>
        </p:txBody>
      </p:sp>
      <p:pic>
        <p:nvPicPr>
          <p:cNvPr id="7" name="Picture 6" descr="image.png"/>
          <p:cNvPicPr>
            <a:picLocks noChangeAspect="1"/>
          </p:cNvPicPr>
          <p:nvPr/>
        </p:nvPicPr>
        <p:blipFill>
          <a:blip r:embed="rId3"/>
          <a:stretch>
            <a:fillRect/>
          </a:stretch>
        </p:blipFill>
        <p:spPr>
          <a:xfrm>
            <a:off x="502920" y="1517904"/>
            <a:ext cx="11064240" cy="1531382"/>
          </a:xfrm>
          <a:prstGeom prst="rect">
            <a:avLst/>
          </a:prstGeom>
        </p:spPr>
      </p:pic>
      <p:sp>
        <p:nvSpPr>
          <p:cNvPr id="8" name="原题文字_306_4"/>
          <p:cNvSpPr txBox="1"/>
          <p:nvPr/>
        </p:nvSpPr>
        <p:spPr>
          <a:xfrm>
            <a:off x="587146" y="1626356"/>
            <a:ext cx="771943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虽然氨水受热分解可产生氨气，在实验室也不能用加热浓氨水的方法制取氨气</a:t>
            </a:r>
          </a:p>
        </p:txBody>
      </p:sp>
      <p:sp>
        <p:nvSpPr>
          <p:cNvPr id="9" name="原题文字_306_5"/>
          <p:cNvSpPr txBox="1"/>
          <p:nvPr/>
        </p:nvSpPr>
        <p:spPr>
          <a:xfrm>
            <a:off x="571832" y="2001545"/>
            <a:ext cx="4894033"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B. 用如图所示装置吸收NH₃，是为了防止发生倒吸</a:t>
            </a:r>
          </a:p>
        </p:txBody>
      </p:sp>
      <p:sp>
        <p:nvSpPr>
          <p:cNvPr id="10" name="原题文字_306_6"/>
          <p:cNvSpPr txBox="1"/>
          <p:nvPr/>
        </p:nvSpPr>
        <p:spPr>
          <a:xfrm>
            <a:off x="10763184" y="2055144"/>
            <a:ext cx="598504" cy="437975"/>
          </a:xfrm>
          <a:prstGeom prst="rect">
            <a:avLst/>
          </a:prstGeom>
          <a:noFill/>
        </p:spPr>
        <p:txBody>
          <a:bodyPr wrap="none" lIns="0" rIns="0" tIns="0" bIns="0">
            <a:spAutoFit/>
          </a:bodyPr>
          <a:lstStyle/>
          <a:p>
            <a:pPr>
              <a:lnSpc>
                <a:spcPct val="112000"/>
              </a:lnSpc>
              <a:spcBef>
                <a:spcPts val="0"/>
              </a:spcBef>
              <a:spcAft>
                <a:spcPts val="0"/>
              </a:spcAft>
              <a:defRPr sz="1743" b="0">
                <a:solidFill>
                  <a:srgbClr val="333333"/>
                </a:solidFill>
                <a:latin typeface="微软雅黑"/>
              </a:defRPr>
            </a:pPr>
            <a:r>
              <a:rPr>
                <a:ea typeface="微软雅黑"/>
              </a:rPr>
              <a:t>-H₂O</a:t>
            </a:r>
          </a:p>
        </p:txBody>
      </p:sp>
      <p:sp>
        <p:nvSpPr>
          <p:cNvPr id="11" name="原题文字_306_7"/>
          <p:cNvSpPr txBox="1"/>
          <p:nvPr/>
        </p:nvSpPr>
        <p:spPr>
          <a:xfrm>
            <a:off x="571832" y="2376734"/>
            <a:ext cx="5506586" cy="378251"/>
          </a:xfrm>
          <a:prstGeom prst="rect">
            <a:avLst/>
          </a:prstGeom>
          <a:noFill/>
        </p:spPr>
        <p:txBody>
          <a:bodyPr wrap="none" lIns="0" rIns="0" tIns="0" bIns="0">
            <a:spAutoFit/>
          </a:bodyPr>
          <a:lstStyle/>
          <a:p>
            <a:pPr>
              <a:lnSpc>
                <a:spcPct val="112000"/>
              </a:lnSpc>
              <a:spcBef>
                <a:spcPts val="0"/>
              </a:spcBef>
              <a:spcAft>
                <a:spcPts val="0"/>
              </a:spcAft>
              <a:defRPr sz="1709" b="0">
                <a:solidFill>
                  <a:srgbClr val="333333"/>
                </a:solidFill>
                <a:latin typeface="微软雅黑"/>
              </a:defRPr>
            </a:pPr>
            <a:r>
              <a:rPr>
                <a:ea typeface="微软雅黑"/>
              </a:rPr>
              <a:t>C. 既可用向下排空气法收集NH₃，又可用排水法收集NH₃</a:t>
            </a:r>
          </a:p>
        </p:txBody>
      </p:sp>
      <p:sp>
        <p:nvSpPr>
          <p:cNvPr id="12" name="原题文字_306_8"/>
          <p:cNvSpPr txBox="1"/>
          <p:nvPr/>
        </p:nvSpPr>
        <p:spPr>
          <a:xfrm>
            <a:off x="10786154" y="2537529"/>
            <a:ext cx="621475" cy="487745"/>
          </a:xfrm>
          <a:prstGeom prst="rect">
            <a:avLst/>
          </a:prstGeom>
          <a:noFill/>
        </p:spPr>
        <p:txBody>
          <a:bodyPr wrap="none" lIns="0" rIns="0" tIns="0" bIns="0">
            <a:spAutoFit/>
          </a:bodyPr>
          <a:lstStyle/>
          <a:p>
            <a:pPr>
              <a:lnSpc>
                <a:spcPct val="112000"/>
              </a:lnSpc>
              <a:spcBef>
                <a:spcPts val="0"/>
              </a:spcBef>
              <a:spcAft>
                <a:spcPts val="0"/>
              </a:spcAft>
              <a:defRPr sz="2110" b="0">
                <a:solidFill>
                  <a:srgbClr val="333333"/>
                </a:solidFill>
                <a:latin typeface="微软雅黑"/>
              </a:defRPr>
            </a:pPr>
            <a:r>
              <a:rPr>
                <a:ea typeface="微软雅黑"/>
              </a:rPr>
              <a:t>CCl₄</a:t>
            </a:r>
          </a:p>
        </p:txBody>
      </p:sp>
      <p:sp>
        <p:nvSpPr>
          <p:cNvPr id="13" name="原题文字_306_9"/>
          <p:cNvSpPr txBox="1"/>
          <p:nvPr/>
        </p:nvSpPr>
        <p:spPr>
          <a:xfrm>
            <a:off x="564175" y="2751923"/>
            <a:ext cx="5169682"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D. 通常可选择浓硫酸为干燥剂，除去氨气中的水蒸气</a:t>
            </a:r>
          </a:p>
        </p:txBody>
      </p:sp>
      <p:sp>
        <p:nvSpPr>
          <p:cNvPr id="14" name="文字_单选题  ·  14-01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14-017</a:t>
            </a:r>
          </a:p>
        </p:txBody>
      </p:sp>
      <p:sp>
        <p:nvSpPr>
          <p:cNvPr id="15" name="文字_3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例题6</a:t>
            </a:r>
          </a:p>
        </p:txBody>
      </p:sp>
      <p:sp>
        <p:nvSpPr>
          <p:cNvPr id="5" name="文字_P30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P306</a:t>
            </a:r>
          </a:p>
        </p:txBody>
      </p:sp>
      <p:sp>
        <p:nvSpPr>
          <p:cNvPr id="6" name="文字_利用点滴板探究氨气的性质(如图所示)，实验时向N"/>
          <p:cNvSpPr txBox="1"/>
          <p:nvPr/>
        </p:nvSpPr>
        <p:spPr>
          <a:xfrm>
            <a:off x="502920" y="1078992"/>
            <a:ext cx="11064240" cy="228600"/>
          </a:xfrm>
          <a:prstGeom prst="rect">
            <a:avLst/>
          </a:prstGeom>
          <a:noFill/>
        </p:spPr>
        <p:txBody>
          <a:bodyPr wrap="square" lIns="0" rIns="0" tIns="0" bIns="0">
            <a:spAutoFit/>
          </a:bodyPr>
          <a:lstStyle/>
          <a:p>
            <a:pPr>
              <a:lnSpc>
                <a:spcPct val="112000"/>
              </a:lnSpc>
              <a:spcBef>
                <a:spcPts val="0"/>
              </a:spcBef>
              <a:spcAft>
                <a:spcPts val="0"/>
              </a:spcAft>
              <a:defRPr sz="1250" b="0">
                <a:solidFill>
                  <a:srgbClr val="333333"/>
                </a:solidFill>
                <a:latin typeface="微软雅黑"/>
              </a:defRPr>
            </a:pPr>
            <a:r>
              <a:rPr>
                <a:ea typeface="微软雅黑"/>
              </a:rPr>
              <a:t>利用点滴板探究氨气的性质(如图所示)，实验时向NaOH固体上滴几滴浓氨水后，立即用表面皿扣住点滴板，下列对实验现象的解释正确的是</a:t>
            </a:r>
          </a:p>
        </p:txBody>
      </p:sp>
      <p:pic>
        <p:nvPicPr>
          <p:cNvPr id="7" name="Picture 6" descr="image.png"/>
          <p:cNvPicPr>
            <a:picLocks noChangeAspect="1"/>
          </p:cNvPicPr>
          <p:nvPr/>
        </p:nvPicPr>
        <p:blipFill>
          <a:blip r:embed="rId3"/>
          <a:stretch>
            <a:fillRect/>
          </a:stretch>
        </p:blipFill>
        <p:spPr>
          <a:xfrm>
            <a:off x="502920" y="1307592"/>
            <a:ext cx="7910129" cy="4795344"/>
          </a:xfrm>
          <a:prstGeom prst="rect">
            <a:avLst/>
          </a:prstGeom>
        </p:spPr>
      </p:pic>
      <p:sp>
        <p:nvSpPr>
          <p:cNvPr id="8" name="原题文字_306_15"/>
          <p:cNvSpPr txBox="1"/>
          <p:nvPr/>
        </p:nvSpPr>
        <p:spPr>
          <a:xfrm>
            <a:off x="601454" y="1328561"/>
            <a:ext cx="810295" cy="277538"/>
          </a:xfrm>
          <a:prstGeom prst="rect">
            <a:avLst/>
          </a:prstGeom>
          <a:noFill/>
        </p:spPr>
        <p:txBody>
          <a:bodyPr wrap="none" lIns="0" rIns="0" tIns="0" bIns="0">
            <a:spAutoFit/>
          </a:bodyPr>
          <a:lstStyle/>
          <a:p>
            <a:pPr>
              <a:lnSpc>
                <a:spcPct val="112000"/>
              </a:lnSpc>
              <a:spcBef>
                <a:spcPts val="0"/>
              </a:spcBef>
              <a:spcAft>
                <a:spcPts val="0"/>
              </a:spcAft>
              <a:defRPr sz="1344" b="0">
                <a:solidFill>
                  <a:srgbClr val="333333"/>
                </a:solidFill>
                <a:latin typeface="微软雅黑"/>
              </a:defRPr>
            </a:pPr>
            <a:r>
              <a:rPr>
                <a:ea typeface="微软雅黑"/>
              </a:rPr>
              <a:t>湿润红色</a:t>
            </a:r>
          </a:p>
        </p:txBody>
      </p:sp>
      <p:sp>
        <p:nvSpPr>
          <p:cNvPr id="9" name="原题文字_306_16"/>
          <p:cNvSpPr txBox="1"/>
          <p:nvPr/>
        </p:nvSpPr>
        <p:spPr>
          <a:xfrm>
            <a:off x="612402" y="1542053"/>
            <a:ext cx="810295" cy="277538"/>
          </a:xfrm>
          <a:prstGeom prst="rect">
            <a:avLst/>
          </a:prstGeom>
          <a:noFill/>
        </p:spPr>
        <p:txBody>
          <a:bodyPr wrap="none" lIns="0" rIns="0" tIns="0" bIns="0">
            <a:spAutoFit/>
          </a:bodyPr>
          <a:lstStyle/>
          <a:p>
            <a:pPr>
              <a:lnSpc>
                <a:spcPct val="112000"/>
              </a:lnSpc>
              <a:spcBef>
                <a:spcPts val="0"/>
              </a:spcBef>
              <a:spcAft>
                <a:spcPts val="0"/>
              </a:spcAft>
              <a:defRPr sz="1344" b="0">
                <a:solidFill>
                  <a:srgbClr val="333333"/>
                </a:solidFill>
                <a:latin typeface="微软雅黑"/>
              </a:defRPr>
            </a:pPr>
            <a:r>
              <a:rPr>
                <a:ea typeface="微软雅黑"/>
              </a:rPr>
              <a:t>石蕊试纸</a:t>
            </a:r>
          </a:p>
        </p:txBody>
      </p:sp>
      <p:sp>
        <p:nvSpPr>
          <p:cNvPr id="10" name="原题文字_306_17"/>
          <p:cNvSpPr txBox="1"/>
          <p:nvPr/>
        </p:nvSpPr>
        <p:spPr>
          <a:xfrm>
            <a:off x="2451713" y="1755544"/>
            <a:ext cx="678915" cy="313120"/>
          </a:xfrm>
          <a:prstGeom prst="rect">
            <a:avLst/>
          </a:prstGeom>
          <a:noFill/>
        </p:spPr>
        <p:txBody>
          <a:bodyPr wrap="none" lIns="0" rIns="0" tIns="0" bIns="0">
            <a:spAutoFit/>
          </a:bodyPr>
          <a:lstStyle/>
          <a:p>
            <a:pPr>
              <a:lnSpc>
                <a:spcPct val="112000"/>
              </a:lnSpc>
              <a:spcBef>
                <a:spcPts val="0"/>
              </a:spcBef>
              <a:spcAft>
                <a:spcPts val="0"/>
              </a:spcAft>
              <a:defRPr sz="1517" b="0">
                <a:solidFill>
                  <a:srgbClr val="333333"/>
                </a:solidFill>
                <a:latin typeface="微软雅黑"/>
              </a:defRPr>
            </a:pPr>
            <a:r>
              <a:rPr>
                <a:ea typeface="微软雅黑"/>
              </a:rPr>
              <a:t>浓硫酸</a:t>
            </a:r>
          </a:p>
        </p:txBody>
      </p:sp>
      <p:sp>
        <p:nvSpPr>
          <p:cNvPr id="11" name="原题文字_306_18"/>
          <p:cNvSpPr txBox="1"/>
          <p:nvPr/>
        </p:nvSpPr>
        <p:spPr>
          <a:xfrm>
            <a:off x="590506" y="1843130"/>
            <a:ext cx="580381" cy="291771"/>
          </a:xfrm>
          <a:prstGeom prst="rect">
            <a:avLst/>
          </a:prstGeom>
          <a:noFill/>
        </p:spPr>
        <p:txBody>
          <a:bodyPr wrap="none" lIns="0" rIns="0" tIns="0" bIns="0">
            <a:spAutoFit/>
          </a:bodyPr>
          <a:lstStyle/>
          <a:p>
            <a:pPr>
              <a:lnSpc>
                <a:spcPct val="112000"/>
              </a:lnSpc>
              <a:spcBef>
                <a:spcPts val="0"/>
              </a:spcBef>
              <a:spcAft>
                <a:spcPts val="0"/>
              </a:spcAft>
              <a:defRPr sz="1413" b="0">
                <a:solidFill>
                  <a:srgbClr val="333333"/>
                </a:solidFill>
                <a:latin typeface="微软雅黑"/>
              </a:defRPr>
            </a:pPr>
            <a:r>
              <a:rPr>
                <a:ea typeface="微软雅黑"/>
              </a:rPr>
              <a:t>NaOH</a:t>
            </a:r>
          </a:p>
        </p:txBody>
      </p:sp>
      <p:sp>
        <p:nvSpPr>
          <p:cNvPr id="12" name="原题文字_306_19"/>
          <p:cNvSpPr txBox="1"/>
          <p:nvPr/>
        </p:nvSpPr>
        <p:spPr>
          <a:xfrm>
            <a:off x="634299" y="2034725"/>
            <a:ext cx="503743" cy="334469"/>
          </a:xfrm>
          <a:prstGeom prst="rect">
            <a:avLst/>
          </a:prstGeom>
          <a:noFill/>
        </p:spPr>
        <p:txBody>
          <a:bodyPr wrap="none" lIns="0" rIns="0" tIns="0" bIns="0">
            <a:spAutoFit/>
          </a:bodyPr>
          <a:lstStyle/>
          <a:p>
            <a:pPr>
              <a:lnSpc>
                <a:spcPct val="112000"/>
              </a:lnSpc>
              <a:spcBef>
                <a:spcPts val="0"/>
              </a:spcBef>
              <a:spcAft>
                <a:spcPts val="0"/>
              </a:spcAft>
              <a:defRPr sz="1620" b="0">
                <a:solidFill>
                  <a:srgbClr val="333333"/>
                </a:solidFill>
                <a:latin typeface="微软雅黑"/>
              </a:defRPr>
            </a:pPr>
            <a:r>
              <a:rPr>
                <a:ea typeface="微软雅黑"/>
              </a:rPr>
              <a:t>固体</a:t>
            </a:r>
          </a:p>
        </p:txBody>
      </p:sp>
      <p:sp>
        <p:nvSpPr>
          <p:cNvPr id="13" name="原题文字_306_20"/>
          <p:cNvSpPr txBox="1"/>
          <p:nvPr/>
        </p:nvSpPr>
        <p:spPr>
          <a:xfrm>
            <a:off x="2451713" y="2029251"/>
            <a:ext cx="919777" cy="277538"/>
          </a:xfrm>
          <a:prstGeom prst="rect">
            <a:avLst/>
          </a:prstGeom>
          <a:noFill/>
        </p:spPr>
        <p:txBody>
          <a:bodyPr wrap="none" lIns="0" rIns="0" tIns="0" bIns="0">
            <a:spAutoFit/>
          </a:bodyPr>
          <a:lstStyle/>
          <a:p>
            <a:pPr>
              <a:lnSpc>
                <a:spcPct val="112000"/>
              </a:lnSpc>
              <a:spcBef>
                <a:spcPts val="0"/>
              </a:spcBef>
              <a:spcAft>
                <a:spcPts val="0"/>
              </a:spcAft>
              <a:defRPr sz="1344" b="0">
                <a:solidFill>
                  <a:srgbClr val="333333"/>
                </a:solidFill>
                <a:latin typeface="微软雅黑"/>
              </a:defRPr>
            </a:pPr>
            <a:r>
              <a:rPr>
                <a:ea typeface="微软雅黑"/>
              </a:rPr>
              <a:t>-FeCl₃溶液</a:t>
            </a:r>
          </a:p>
        </p:txBody>
      </p:sp>
      <p:sp>
        <p:nvSpPr>
          <p:cNvPr id="14" name="原题文字_306_21"/>
          <p:cNvSpPr txBox="1"/>
          <p:nvPr/>
        </p:nvSpPr>
        <p:spPr>
          <a:xfrm>
            <a:off x="2199902" y="2428863"/>
            <a:ext cx="678915" cy="313120"/>
          </a:xfrm>
          <a:prstGeom prst="rect">
            <a:avLst/>
          </a:prstGeom>
          <a:noFill/>
        </p:spPr>
        <p:txBody>
          <a:bodyPr wrap="none" lIns="0" rIns="0" tIns="0" bIns="0">
            <a:spAutoFit/>
          </a:bodyPr>
          <a:lstStyle/>
          <a:p>
            <a:pPr>
              <a:lnSpc>
                <a:spcPct val="112000"/>
              </a:lnSpc>
              <a:spcBef>
                <a:spcPts val="0"/>
              </a:spcBef>
              <a:spcAft>
                <a:spcPts val="0"/>
              </a:spcAft>
              <a:defRPr sz="1517" b="0">
                <a:solidFill>
                  <a:srgbClr val="333333"/>
                </a:solidFill>
                <a:latin typeface="微软雅黑"/>
              </a:defRPr>
            </a:pPr>
            <a:r>
              <a:rPr>
                <a:ea typeface="微软雅黑"/>
              </a:rPr>
              <a:t>浓盐酸</a:t>
            </a:r>
          </a:p>
        </p:txBody>
      </p:sp>
      <p:sp>
        <p:nvSpPr>
          <p:cNvPr id="15" name="原题文字_306_22"/>
          <p:cNvSpPr txBox="1"/>
          <p:nvPr/>
        </p:nvSpPr>
        <p:spPr>
          <a:xfrm>
            <a:off x="557661" y="2937958"/>
            <a:ext cx="470898" cy="334469"/>
          </a:xfrm>
          <a:prstGeom prst="rect">
            <a:avLst/>
          </a:prstGeom>
          <a:noFill/>
        </p:spPr>
        <p:txBody>
          <a:bodyPr wrap="none" lIns="0" rIns="0" tIns="0" bIns="0">
            <a:spAutoFit/>
          </a:bodyPr>
          <a:lstStyle/>
          <a:p>
            <a:pPr>
              <a:lnSpc>
                <a:spcPct val="112000"/>
              </a:lnSpc>
              <a:spcBef>
                <a:spcPts val="0"/>
              </a:spcBef>
              <a:spcAft>
                <a:spcPts val="0"/>
              </a:spcAft>
              <a:defRPr sz="1620" b="0">
                <a:solidFill>
                  <a:srgbClr val="333333"/>
                </a:solidFill>
                <a:latin typeface="微软雅黑"/>
              </a:defRPr>
            </a:pPr>
            <a:r>
              <a:rPr>
                <a:ea typeface="微软雅黑"/>
              </a:rPr>
              <a:t>选项</a:t>
            </a:r>
          </a:p>
        </p:txBody>
      </p:sp>
      <p:sp>
        <p:nvSpPr>
          <p:cNvPr id="16" name="原题文字_306_23"/>
          <p:cNvSpPr txBox="1"/>
          <p:nvPr/>
        </p:nvSpPr>
        <p:spPr>
          <a:xfrm>
            <a:off x="1033911" y="2959854"/>
            <a:ext cx="733657" cy="277538"/>
          </a:xfrm>
          <a:prstGeom prst="rect">
            <a:avLst/>
          </a:prstGeom>
          <a:noFill/>
        </p:spPr>
        <p:txBody>
          <a:bodyPr wrap="none" lIns="0" rIns="0" tIns="0" bIns="0">
            <a:spAutoFit/>
          </a:bodyPr>
          <a:lstStyle/>
          <a:p>
            <a:pPr>
              <a:lnSpc>
                <a:spcPct val="112000"/>
              </a:lnSpc>
              <a:spcBef>
                <a:spcPts val="0"/>
              </a:spcBef>
              <a:spcAft>
                <a:spcPts val="0"/>
              </a:spcAft>
              <a:defRPr sz="1344" b="0">
                <a:solidFill>
                  <a:srgbClr val="333333"/>
                </a:solidFill>
                <a:latin typeface="微软雅黑"/>
              </a:defRPr>
            </a:pPr>
            <a:r>
              <a:rPr>
                <a:ea typeface="微软雅黑"/>
              </a:rPr>
              <a:t>实验现象</a:t>
            </a:r>
          </a:p>
        </p:txBody>
      </p:sp>
      <p:sp>
        <p:nvSpPr>
          <p:cNvPr id="17" name="原题文字_306_24"/>
          <p:cNvSpPr txBox="1"/>
          <p:nvPr/>
        </p:nvSpPr>
        <p:spPr>
          <a:xfrm>
            <a:off x="3617704" y="2954380"/>
            <a:ext cx="449001" cy="298887"/>
          </a:xfrm>
          <a:prstGeom prst="rect">
            <a:avLst/>
          </a:prstGeom>
          <a:noFill/>
        </p:spPr>
        <p:txBody>
          <a:bodyPr wrap="none" lIns="0" rIns="0" tIns="0" bIns="0">
            <a:spAutoFit/>
          </a:bodyPr>
          <a:lstStyle/>
          <a:p>
            <a:pPr>
              <a:lnSpc>
                <a:spcPct val="112000"/>
              </a:lnSpc>
              <a:spcBef>
                <a:spcPts val="0"/>
              </a:spcBef>
              <a:spcAft>
                <a:spcPts val="0"/>
              </a:spcAft>
              <a:defRPr sz="1448" b="0">
                <a:solidFill>
                  <a:srgbClr val="333333"/>
                </a:solidFill>
                <a:latin typeface="微软雅黑"/>
              </a:defRPr>
            </a:pPr>
            <a:r>
              <a:rPr>
                <a:ea typeface="微软雅黑"/>
              </a:rPr>
              <a:t>解释</a:t>
            </a:r>
          </a:p>
        </p:txBody>
      </p:sp>
      <p:sp>
        <p:nvSpPr>
          <p:cNvPr id="18" name="原题文字_306_25"/>
          <p:cNvSpPr txBox="1"/>
          <p:nvPr/>
        </p:nvSpPr>
        <p:spPr>
          <a:xfrm>
            <a:off x="590506" y="3326622"/>
            <a:ext cx="213614" cy="227724"/>
          </a:xfrm>
          <a:prstGeom prst="rect">
            <a:avLst/>
          </a:prstGeom>
          <a:noFill/>
        </p:spPr>
        <p:txBody>
          <a:bodyPr wrap="none" lIns="0" rIns="0" tIns="0" bIns="0">
            <a:spAutoFit/>
          </a:bodyPr>
          <a:lstStyle/>
          <a:p>
            <a:pPr>
              <a:lnSpc>
                <a:spcPct val="112000"/>
              </a:lnSpc>
              <a:spcBef>
                <a:spcPts val="0"/>
              </a:spcBef>
              <a:spcAft>
                <a:spcPts val="0"/>
              </a:spcAft>
              <a:defRPr sz="1103" b="0">
                <a:solidFill>
                  <a:srgbClr val="333333"/>
                </a:solidFill>
                <a:latin typeface="微软雅黑"/>
              </a:defRPr>
            </a:pPr>
            <a:r>
              <a:rPr>
                <a:ea typeface="微软雅黑"/>
              </a:rPr>
              <a:t>A</a:t>
            </a:r>
          </a:p>
        </p:txBody>
      </p:sp>
      <p:sp>
        <p:nvSpPr>
          <p:cNvPr id="19" name="原题文字_306_26"/>
          <p:cNvSpPr txBox="1"/>
          <p:nvPr/>
        </p:nvSpPr>
        <p:spPr>
          <a:xfrm>
            <a:off x="1050333" y="3315673"/>
            <a:ext cx="1313915" cy="241956"/>
          </a:xfrm>
          <a:prstGeom prst="rect">
            <a:avLst/>
          </a:prstGeom>
          <a:noFill/>
        </p:spPr>
        <p:txBody>
          <a:bodyPr wrap="none" lIns="0" rIns="0" tIns="0" bIns="0">
            <a:spAutoFit/>
          </a:bodyPr>
          <a:lstStyle/>
          <a:p>
            <a:pPr>
              <a:lnSpc>
                <a:spcPct val="112000"/>
              </a:lnSpc>
              <a:spcBef>
                <a:spcPts val="0"/>
              </a:spcBef>
              <a:spcAft>
                <a:spcPts val="0"/>
              </a:spcAft>
              <a:defRPr sz="1172" b="0">
                <a:solidFill>
                  <a:srgbClr val="333333"/>
                </a:solidFill>
                <a:latin typeface="微软雅黑"/>
              </a:defRPr>
            </a:pPr>
            <a:r>
              <a:rPr>
                <a:ea typeface="微软雅黑"/>
              </a:rPr>
              <a:t>浓硫酸附近无白烟</a:t>
            </a:r>
          </a:p>
        </p:txBody>
      </p:sp>
      <p:sp>
        <p:nvSpPr>
          <p:cNvPr id="20" name="原题文字_306_27"/>
          <p:cNvSpPr txBox="1"/>
          <p:nvPr/>
        </p:nvSpPr>
        <p:spPr>
          <a:xfrm>
            <a:off x="3645075" y="3326622"/>
            <a:ext cx="1751846" cy="220607"/>
          </a:xfrm>
          <a:prstGeom prst="rect">
            <a:avLst/>
          </a:prstGeom>
          <a:noFill/>
        </p:spPr>
        <p:txBody>
          <a:bodyPr wrap="none" lIns="0" rIns="0" tIns="0" bIns="0">
            <a:spAutoFit/>
          </a:bodyPr>
          <a:lstStyle/>
          <a:p>
            <a:pPr>
              <a:lnSpc>
                <a:spcPct val="112000"/>
              </a:lnSpc>
              <a:spcBef>
                <a:spcPts val="0"/>
              </a:spcBef>
              <a:spcAft>
                <a:spcPts val="0"/>
              </a:spcAft>
              <a:defRPr sz="1068" b="0">
                <a:solidFill>
                  <a:srgbClr val="333333"/>
                </a:solidFill>
                <a:latin typeface="微软雅黑"/>
              </a:defRPr>
            </a:pPr>
            <a:r>
              <a:rPr>
                <a:ea typeface="微软雅黑"/>
              </a:rPr>
              <a:t>NH₃与浓硫酸不发生反应</a:t>
            </a:r>
          </a:p>
        </p:txBody>
      </p:sp>
      <p:sp>
        <p:nvSpPr>
          <p:cNvPr id="21" name="原题文字_306_28"/>
          <p:cNvSpPr txBox="1"/>
          <p:nvPr/>
        </p:nvSpPr>
        <p:spPr>
          <a:xfrm>
            <a:off x="590506" y="4005415"/>
            <a:ext cx="191717" cy="185025"/>
          </a:xfrm>
          <a:prstGeom prst="rect">
            <a:avLst/>
          </a:prstGeom>
          <a:noFill/>
        </p:spPr>
        <p:txBody>
          <a:bodyPr wrap="none" lIns="0" rIns="0" tIns="0" bIns="0">
            <a:spAutoFit/>
          </a:bodyPr>
          <a:lstStyle/>
          <a:p>
            <a:pPr>
              <a:lnSpc>
                <a:spcPct val="112000"/>
              </a:lnSpc>
              <a:spcBef>
                <a:spcPts val="0"/>
              </a:spcBef>
              <a:spcAft>
                <a:spcPts val="0"/>
              </a:spcAft>
              <a:defRPr sz="896" b="0">
                <a:solidFill>
                  <a:srgbClr val="333333"/>
                </a:solidFill>
                <a:latin typeface="微软雅黑"/>
              </a:defRPr>
            </a:pPr>
            <a:r>
              <a:rPr>
                <a:ea typeface="微软雅黑"/>
              </a:rPr>
              <a:t>B</a:t>
            </a:r>
          </a:p>
        </p:txBody>
      </p:sp>
      <p:sp>
        <p:nvSpPr>
          <p:cNvPr id="22" name="原题文字_306_29"/>
          <p:cNvSpPr txBox="1"/>
          <p:nvPr/>
        </p:nvSpPr>
        <p:spPr>
          <a:xfrm>
            <a:off x="1055807" y="3978044"/>
            <a:ext cx="1456243" cy="220607"/>
          </a:xfrm>
          <a:prstGeom prst="rect">
            <a:avLst/>
          </a:prstGeom>
          <a:noFill/>
        </p:spPr>
        <p:txBody>
          <a:bodyPr wrap="none" lIns="0" rIns="0" tIns="0" bIns="0">
            <a:spAutoFit/>
          </a:bodyPr>
          <a:lstStyle/>
          <a:p>
            <a:pPr>
              <a:lnSpc>
                <a:spcPct val="112000"/>
              </a:lnSpc>
              <a:spcBef>
                <a:spcPts val="0"/>
              </a:spcBef>
              <a:spcAft>
                <a:spcPts val="0"/>
              </a:spcAft>
              <a:defRPr sz="1068" b="0">
                <a:solidFill>
                  <a:srgbClr val="333333"/>
                </a:solidFill>
                <a:latin typeface="微软雅黑"/>
              </a:defRPr>
            </a:pPr>
            <a:r>
              <a:rPr>
                <a:ea typeface="微软雅黑"/>
              </a:rPr>
              <a:t>浓盐酸附近产生白烟</a:t>
            </a:r>
          </a:p>
        </p:txBody>
      </p:sp>
      <p:sp>
        <p:nvSpPr>
          <p:cNvPr id="23" name="原题文字_306_30"/>
          <p:cNvSpPr txBox="1"/>
          <p:nvPr/>
        </p:nvSpPr>
        <p:spPr>
          <a:xfrm>
            <a:off x="3628652" y="3967096"/>
            <a:ext cx="3306501" cy="263306"/>
          </a:xfrm>
          <a:prstGeom prst="rect">
            <a:avLst/>
          </a:prstGeom>
          <a:noFill/>
        </p:spPr>
        <p:txBody>
          <a:bodyPr wrap="none" lIns="0" rIns="0" tIns="0" bIns="0">
            <a:spAutoFit/>
          </a:bodyPr>
          <a:lstStyle/>
          <a:p>
            <a:pPr>
              <a:lnSpc>
                <a:spcPct val="112000"/>
              </a:lnSpc>
              <a:spcBef>
                <a:spcPts val="0"/>
              </a:spcBef>
              <a:spcAft>
                <a:spcPts val="0"/>
              </a:spcAft>
              <a:defRPr sz="1217" b="0">
                <a:solidFill>
                  <a:srgbClr val="333333"/>
                </a:solidFill>
                <a:latin typeface="微软雅黑"/>
              </a:defRPr>
            </a:pPr>
            <a:r>
              <a:rPr>
                <a:ea typeface="微软雅黑"/>
              </a:rPr>
              <a:t>NH₃与挥发出的HCl反应：NH₃ + HCl = NH₄Cl</a:t>
            </a:r>
          </a:p>
        </p:txBody>
      </p:sp>
      <p:sp>
        <p:nvSpPr>
          <p:cNvPr id="24" name="原题文字_306_31"/>
          <p:cNvSpPr txBox="1"/>
          <p:nvPr/>
        </p:nvSpPr>
        <p:spPr>
          <a:xfrm>
            <a:off x="1039385" y="4908648"/>
            <a:ext cx="2020079" cy="256189"/>
          </a:xfrm>
          <a:prstGeom prst="rect">
            <a:avLst/>
          </a:prstGeom>
          <a:noFill/>
        </p:spPr>
        <p:txBody>
          <a:bodyPr wrap="none" lIns="0" rIns="0" tIns="0" bIns="0">
            <a:spAutoFit/>
          </a:bodyPr>
          <a:lstStyle/>
          <a:p>
            <a:pPr>
              <a:lnSpc>
                <a:spcPct val="112000"/>
              </a:lnSpc>
              <a:spcBef>
                <a:spcPts val="0"/>
              </a:spcBef>
              <a:spcAft>
                <a:spcPts val="0"/>
              </a:spcAft>
              <a:defRPr sz="1241" b="0">
                <a:solidFill>
                  <a:srgbClr val="333333"/>
                </a:solidFill>
                <a:latin typeface="微软雅黑"/>
              </a:defRPr>
            </a:pPr>
            <a:r>
              <a:rPr>
                <a:ea typeface="微软雅黑"/>
              </a:rPr>
              <a:t>FeCl₃溶液中产生红褐色沉淀</a:t>
            </a:r>
          </a:p>
        </p:txBody>
      </p:sp>
      <p:sp>
        <p:nvSpPr>
          <p:cNvPr id="25" name="原题文字_306_32"/>
          <p:cNvSpPr txBox="1"/>
          <p:nvPr/>
        </p:nvSpPr>
        <p:spPr>
          <a:xfrm>
            <a:off x="3617704" y="4892225"/>
            <a:ext cx="3547364" cy="306004"/>
          </a:xfrm>
          <a:prstGeom prst="rect">
            <a:avLst/>
          </a:prstGeom>
          <a:noFill/>
        </p:spPr>
        <p:txBody>
          <a:bodyPr wrap="none" lIns="0" rIns="0" tIns="0" bIns="0">
            <a:spAutoFit/>
          </a:bodyPr>
          <a:lstStyle/>
          <a:p>
            <a:pPr>
              <a:lnSpc>
                <a:spcPct val="112000"/>
              </a:lnSpc>
              <a:spcBef>
                <a:spcPts val="0"/>
              </a:spcBef>
              <a:spcAft>
                <a:spcPts val="0"/>
              </a:spcAft>
              <a:defRPr sz="1231" b="0">
                <a:solidFill>
                  <a:srgbClr val="333333"/>
                </a:solidFill>
                <a:latin typeface="微软雅黑"/>
              </a:defRPr>
            </a:pPr>
            <a:r>
              <a:rPr>
                <a:ea typeface="微软雅黑"/>
              </a:rPr>
              <a:t>NH₃与FeCl₃溶液反应: Fe³⁺ + 3OH− = Fe(OH)3 ↓</a:t>
            </a:r>
          </a:p>
        </p:txBody>
      </p:sp>
      <p:sp>
        <p:nvSpPr>
          <p:cNvPr id="26" name="原题文字_306_33"/>
          <p:cNvSpPr txBox="1"/>
          <p:nvPr/>
        </p:nvSpPr>
        <p:spPr>
          <a:xfrm>
            <a:off x="595980" y="5603863"/>
            <a:ext cx="191717" cy="192142"/>
          </a:xfrm>
          <a:prstGeom prst="rect">
            <a:avLst/>
          </a:prstGeom>
          <a:noFill/>
        </p:spPr>
        <p:txBody>
          <a:bodyPr wrap="none" lIns="0" rIns="0" tIns="0" bIns="0">
            <a:spAutoFit/>
          </a:bodyPr>
          <a:lstStyle/>
          <a:p>
            <a:pPr>
              <a:lnSpc>
                <a:spcPct val="112000"/>
              </a:lnSpc>
              <a:spcBef>
                <a:spcPts val="0"/>
              </a:spcBef>
              <a:spcAft>
                <a:spcPts val="0"/>
              </a:spcAft>
              <a:defRPr sz="931" b="0">
                <a:solidFill>
                  <a:srgbClr val="333333"/>
                </a:solidFill>
                <a:latin typeface="微软雅黑"/>
              </a:defRPr>
            </a:pPr>
            <a:r>
              <a:rPr>
                <a:ea typeface="微软雅黑"/>
              </a:rPr>
              <a:t>D</a:t>
            </a:r>
          </a:p>
        </p:txBody>
      </p:sp>
      <p:sp>
        <p:nvSpPr>
          <p:cNvPr id="27" name="原题文字_306_34"/>
          <p:cNvSpPr txBox="1"/>
          <p:nvPr/>
        </p:nvSpPr>
        <p:spPr>
          <a:xfrm>
            <a:off x="1066756" y="5576492"/>
            <a:ext cx="1598570" cy="227724"/>
          </a:xfrm>
          <a:prstGeom prst="rect">
            <a:avLst/>
          </a:prstGeom>
          <a:noFill/>
        </p:spPr>
        <p:txBody>
          <a:bodyPr wrap="none" lIns="0" rIns="0" tIns="0" bIns="0">
            <a:spAutoFit/>
          </a:bodyPr>
          <a:lstStyle/>
          <a:p>
            <a:pPr>
              <a:lnSpc>
                <a:spcPct val="112000"/>
              </a:lnSpc>
              <a:spcBef>
                <a:spcPts val="0"/>
              </a:spcBef>
              <a:spcAft>
                <a:spcPts val="0"/>
              </a:spcAft>
              <a:defRPr sz="1103" b="0">
                <a:solidFill>
                  <a:srgbClr val="333333"/>
                </a:solidFill>
                <a:latin typeface="微软雅黑"/>
              </a:defRPr>
            </a:pPr>
            <a:r>
              <a:rPr>
                <a:ea typeface="微软雅黑"/>
              </a:rPr>
              <a:t>湿润红色石蕊试纸变蓝</a:t>
            </a:r>
          </a:p>
        </p:txBody>
      </p:sp>
      <p:sp>
        <p:nvSpPr>
          <p:cNvPr id="28" name="原题文字_306_35"/>
          <p:cNvSpPr txBox="1"/>
          <p:nvPr/>
        </p:nvSpPr>
        <p:spPr>
          <a:xfrm>
            <a:off x="3628652" y="5571018"/>
            <a:ext cx="1166114" cy="249073"/>
          </a:xfrm>
          <a:prstGeom prst="rect">
            <a:avLst/>
          </a:prstGeom>
          <a:noFill/>
        </p:spPr>
        <p:txBody>
          <a:bodyPr wrap="none" lIns="0" rIns="0" tIns="0" bIns="0">
            <a:spAutoFit/>
          </a:bodyPr>
          <a:lstStyle/>
          <a:p>
            <a:pPr>
              <a:lnSpc>
                <a:spcPct val="112000"/>
              </a:lnSpc>
              <a:spcBef>
                <a:spcPts val="0"/>
              </a:spcBef>
              <a:spcAft>
                <a:spcPts val="0"/>
              </a:spcAft>
              <a:defRPr sz="1206" b="0">
                <a:solidFill>
                  <a:srgbClr val="333333"/>
                </a:solidFill>
                <a:latin typeface="微软雅黑"/>
              </a:defRPr>
            </a:pPr>
            <a:r>
              <a:rPr>
                <a:ea typeface="微软雅黑"/>
              </a:rPr>
              <a:t>NH₃极易溶于水</a:t>
            </a:r>
          </a:p>
        </p:txBody>
      </p:sp>
      <p:sp>
        <p:nvSpPr>
          <p:cNvPr id="29" name="原题文字_306_36"/>
          <p:cNvSpPr txBox="1"/>
          <p:nvPr/>
        </p:nvSpPr>
        <p:spPr>
          <a:xfrm>
            <a:off x="546713" y="5921363"/>
            <a:ext cx="454476" cy="234840"/>
          </a:xfrm>
          <a:prstGeom prst="rect">
            <a:avLst/>
          </a:prstGeom>
          <a:noFill/>
        </p:spPr>
        <p:txBody>
          <a:bodyPr wrap="none" lIns="0" rIns="0" tIns="0" bIns="0">
            <a:spAutoFit/>
          </a:bodyPr>
          <a:lstStyle/>
          <a:p>
            <a:pPr>
              <a:lnSpc>
                <a:spcPct val="112000"/>
              </a:lnSpc>
              <a:spcBef>
                <a:spcPts val="0"/>
              </a:spcBef>
              <a:spcAft>
                <a:spcPts val="0"/>
              </a:spcAft>
              <a:defRPr sz="1137" b="0">
                <a:solidFill>
                  <a:srgbClr val="333333"/>
                </a:solidFill>
                <a:latin typeface="微软雅黑"/>
              </a:defRPr>
            </a:pPr>
            <a:r>
              <a:rPr>
                <a:ea typeface="微软雅黑"/>
              </a:rPr>
              <a:t>A. A</a:t>
            </a:r>
          </a:p>
        </p:txBody>
      </p:sp>
      <p:sp>
        <p:nvSpPr>
          <p:cNvPr id="30" name="原题文字_306_37"/>
          <p:cNvSpPr txBox="1"/>
          <p:nvPr/>
        </p:nvSpPr>
        <p:spPr>
          <a:xfrm>
            <a:off x="2457187" y="5921363"/>
            <a:ext cx="454476" cy="234840"/>
          </a:xfrm>
          <a:prstGeom prst="rect">
            <a:avLst/>
          </a:prstGeom>
          <a:noFill/>
        </p:spPr>
        <p:txBody>
          <a:bodyPr wrap="none" lIns="0" rIns="0" tIns="0" bIns="0">
            <a:spAutoFit/>
          </a:bodyPr>
          <a:lstStyle/>
          <a:p>
            <a:pPr>
              <a:lnSpc>
                <a:spcPct val="112000"/>
              </a:lnSpc>
              <a:spcBef>
                <a:spcPts val="0"/>
              </a:spcBef>
              <a:spcAft>
                <a:spcPts val="0"/>
              </a:spcAft>
              <a:defRPr sz="1137" b="0">
                <a:solidFill>
                  <a:srgbClr val="333333"/>
                </a:solidFill>
                <a:latin typeface="微软雅黑"/>
              </a:defRPr>
            </a:pPr>
            <a:r>
              <a:rPr>
                <a:ea typeface="微软雅黑"/>
              </a:rPr>
              <a:t>B. B</a:t>
            </a:r>
          </a:p>
        </p:txBody>
      </p:sp>
      <p:sp>
        <p:nvSpPr>
          <p:cNvPr id="31" name="原题文字_306_38"/>
          <p:cNvSpPr txBox="1"/>
          <p:nvPr/>
        </p:nvSpPr>
        <p:spPr>
          <a:xfrm>
            <a:off x="4378609" y="5899467"/>
            <a:ext cx="470898" cy="263306"/>
          </a:xfrm>
          <a:prstGeom prst="rect">
            <a:avLst/>
          </a:prstGeom>
          <a:noFill/>
        </p:spPr>
        <p:txBody>
          <a:bodyPr wrap="none" lIns="0" rIns="0" tIns="0" bIns="0">
            <a:spAutoFit/>
          </a:bodyPr>
          <a:lstStyle/>
          <a:p>
            <a:pPr>
              <a:lnSpc>
                <a:spcPct val="112000"/>
              </a:lnSpc>
              <a:spcBef>
                <a:spcPts val="0"/>
              </a:spcBef>
              <a:spcAft>
                <a:spcPts val="0"/>
              </a:spcAft>
              <a:defRPr sz="1275" b="0">
                <a:solidFill>
                  <a:srgbClr val="333333"/>
                </a:solidFill>
                <a:latin typeface="微软雅黑"/>
              </a:defRPr>
            </a:pPr>
            <a:r>
              <a:rPr>
                <a:ea typeface="微软雅黑"/>
              </a:rPr>
              <a:t>C. C</a:t>
            </a:r>
          </a:p>
        </p:txBody>
      </p:sp>
      <p:sp>
        <p:nvSpPr>
          <p:cNvPr id="32" name="原题文字_306_39"/>
          <p:cNvSpPr txBox="1"/>
          <p:nvPr/>
        </p:nvSpPr>
        <p:spPr>
          <a:xfrm>
            <a:off x="6300032" y="5915889"/>
            <a:ext cx="459950" cy="234840"/>
          </a:xfrm>
          <a:prstGeom prst="rect">
            <a:avLst/>
          </a:prstGeom>
          <a:noFill/>
        </p:spPr>
        <p:txBody>
          <a:bodyPr wrap="none" lIns="0" rIns="0" tIns="0" bIns="0">
            <a:spAutoFit/>
          </a:bodyPr>
          <a:lstStyle/>
          <a:p>
            <a:pPr>
              <a:lnSpc>
                <a:spcPct val="112000"/>
              </a:lnSpc>
              <a:spcBef>
                <a:spcPts val="0"/>
              </a:spcBef>
              <a:spcAft>
                <a:spcPts val="0"/>
              </a:spcAft>
              <a:defRPr sz="1137" b="0">
                <a:solidFill>
                  <a:srgbClr val="333333"/>
                </a:solidFill>
                <a:latin typeface="微软雅黑"/>
              </a:defRPr>
            </a:pPr>
            <a:r>
              <a:rPr>
                <a:ea typeface="微软雅黑"/>
              </a:rPr>
              <a:t>D. D</a:t>
            </a:r>
          </a:p>
        </p:txBody>
      </p:sp>
      <p:sp>
        <p:nvSpPr>
          <p:cNvPr id="33" name="文字_单选题  ·  14-01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14-018</a:t>
            </a:r>
          </a:p>
        </p:txBody>
      </p:sp>
      <p:sp>
        <p:nvSpPr>
          <p:cNvPr id="34" name="文字_3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例题7</a:t>
            </a:r>
          </a:p>
        </p:txBody>
      </p:sp>
      <p:sp>
        <p:nvSpPr>
          <p:cNvPr id="5" name="文字_P30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P306</a:t>
            </a:r>
          </a:p>
        </p:txBody>
      </p:sp>
      <p:sp>
        <p:nvSpPr>
          <p:cNvPr id="6" name="文字_对于铵盐的描述都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对于铵盐的描述都正确的是</a:t>
            </a:r>
          </a:p>
        </p:txBody>
      </p:sp>
      <p:sp>
        <p:nvSpPr>
          <p:cNvPr id="7" name="文字_①都溶于水②都是白色晶体③都有刺激性气味④加热后"/>
          <p:cNvSpPr txBox="1"/>
          <p:nvPr/>
        </p:nvSpPr>
        <p:spPr>
          <a:xfrm>
            <a:off x="502920" y="1517904"/>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①都溶于水②都是白色晶体③都有刺激性气味④加热后都有NH₃放出⑤与碱混合后</a:t>
            </a:r>
          </a:p>
          <a:p>
            <a:pPr>
              <a:lnSpc>
                <a:spcPct val="112000"/>
              </a:lnSpc>
              <a:spcBef>
                <a:spcPts val="0"/>
              </a:spcBef>
              <a:spcAft>
                <a:spcPts val="0"/>
              </a:spcAft>
              <a:defRPr sz="2400" b="0">
                <a:solidFill>
                  <a:srgbClr val="333333"/>
                </a:solidFill>
                <a:latin typeface="微软雅黑"/>
              </a:defRPr>
            </a:pPr>
            <a:r>
              <a:rPr>
                <a:ea typeface="微软雅黑"/>
              </a:rPr>
              <a:t>加热都有NH₃放出⑥都能使红色石蕊试纸变蓝</a:t>
            </a:r>
          </a:p>
        </p:txBody>
      </p:sp>
      <p:sp>
        <p:nvSpPr>
          <p:cNvPr id="8" name="文字_A. 全部"/>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全部</a:t>
            </a:r>
          </a:p>
        </p:txBody>
      </p:sp>
      <p:sp>
        <p:nvSpPr>
          <p:cNvPr id="9" name="文字_B. ①②⑤⑥"/>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①②⑤⑥</a:t>
            </a:r>
          </a:p>
        </p:txBody>
      </p:sp>
      <p:sp>
        <p:nvSpPr>
          <p:cNvPr id="10" name="文字_C. ①②⑤"/>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①②⑤</a:t>
            </a:r>
          </a:p>
        </p:txBody>
      </p:sp>
      <p:sp>
        <p:nvSpPr>
          <p:cNvPr id="11" name="文字_D. ③④⑤"/>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③④⑤</a:t>
            </a:r>
          </a:p>
        </p:txBody>
      </p:sp>
      <p:sp>
        <p:nvSpPr>
          <p:cNvPr id="12" name="文字_单选题  ·  14-01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14-019</a:t>
            </a:r>
          </a:p>
        </p:txBody>
      </p:sp>
      <p:sp>
        <p:nvSpPr>
          <p:cNvPr id="13" name="文字_3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例题8</a:t>
            </a:r>
          </a:p>
        </p:txBody>
      </p:sp>
      <p:sp>
        <p:nvSpPr>
          <p:cNvPr id="5" name="文字_P30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P307</a:t>
            </a:r>
          </a:p>
        </p:txBody>
      </p:sp>
      <p:sp>
        <p:nvSpPr>
          <p:cNvPr id="6" name="文字_阅读下列资料：氮及其化合物在生产生活中具有广泛应"/>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阅读下列资料：氮及其化合物在生产生活中具有广泛应用。氮气经过一系列的变化</a:t>
            </a:r>
          </a:p>
          <a:p>
            <a:pPr>
              <a:lnSpc>
                <a:spcPct val="112000"/>
              </a:lnSpc>
              <a:spcBef>
                <a:spcPts val="0"/>
              </a:spcBef>
              <a:spcAft>
                <a:spcPts val="0"/>
              </a:spcAft>
              <a:defRPr sz="2400" b="0">
                <a:solidFill>
                  <a:srgbClr val="333333"/>
                </a:solidFill>
                <a:latin typeface="微软雅黑"/>
              </a:defRPr>
            </a:pPr>
            <a:r>
              <a:rPr>
                <a:ea typeface="微软雅黑"/>
              </a:rPr>
              <a:t>可以生成氨、氮的氧化物、硝酸等重要的化工原料。</a:t>
            </a:r>
          </a:p>
        </p:txBody>
      </p:sp>
      <p:sp>
        <p:nvSpPr>
          <p:cNvPr id="7" name="文字_用如图所示装置制备氨气并验证氨气的还原性，其中能"/>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用如图所示装置制备氨气并验证氨气的还原性，其中能达到实验目的的是（</a:t>
            </a:r>
          </a:p>
        </p:txBody>
      </p:sp>
      <p:pic>
        <p:nvPicPr>
          <p:cNvPr id="8" name="Picture 7" descr="image.png"/>
          <p:cNvPicPr>
            <a:picLocks noChangeAspect="1"/>
          </p:cNvPicPr>
          <p:nvPr/>
        </p:nvPicPr>
        <p:blipFill>
          <a:blip r:embed="rId3"/>
          <a:stretch>
            <a:fillRect/>
          </a:stretch>
        </p:blipFill>
        <p:spPr>
          <a:xfrm>
            <a:off x="502920" y="2319528"/>
            <a:ext cx="11064240" cy="2365986"/>
          </a:xfrm>
          <a:prstGeom prst="rect">
            <a:avLst/>
          </a:prstGeom>
        </p:spPr>
      </p:pic>
      <p:sp>
        <p:nvSpPr>
          <p:cNvPr id="9" name="原题文字_307_6"/>
          <p:cNvSpPr txBox="1"/>
          <p:nvPr/>
        </p:nvSpPr>
        <p:spPr>
          <a:xfrm>
            <a:off x="594802" y="2427980"/>
            <a:ext cx="212988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 用装置甲生成氨气</a:t>
            </a:r>
          </a:p>
        </p:txBody>
      </p:sp>
      <p:sp>
        <p:nvSpPr>
          <p:cNvPr id="10" name="原题文字_307_7"/>
          <p:cNvSpPr txBox="1"/>
          <p:nvPr/>
        </p:nvSpPr>
        <p:spPr>
          <a:xfrm>
            <a:off x="7570251" y="2542834"/>
            <a:ext cx="1195744" cy="2578082"/>
          </a:xfrm>
          <a:prstGeom prst="rect">
            <a:avLst/>
          </a:prstGeom>
          <a:noFill/>
        </p:spPr>
        <p:txBody>
          <a:bodyPr wrap="none" lIns="0" rIns="0" tIns="0" bIns="0">
            <a:spAutoFit/>
          </a:bodyPr>
          <a:lstStyle/>
          <a:p>
            <a:pPr>
              <a:lnSpc>
                <a:spcPct val="112000"/>
              </a:lnSpc>
              <a:spcBef>
                <a:spcPts val="0"/>
              </a:spcBef>
              <a:spcAft>
                <a:spcPts val="0"/>
              </a:spcAft>
              <a:defRPr sz="12492" b="0">
                <a:solidFill>
                  <a:srgbClr val="333333"/>
                </a:solidFill>
                <a:latin typeface="微软雅黑"/>
              </a:defRPr>
            </a:pPr>
            <a:r>
              <a:rPr>
                <a:ea typeface="微软雅黑"/>
              </a:rPr>
              <a:t>S</a:t>
            </a:r>
          </a:p>
        </p:txBody>
      </p:sp>
      <p:sp>
        <p:nvSpPr>
          <p:cNvPr id="11" name="原题文字_307_8"/>
          <p:cNvSpPr txBox="1"/>
          <p:nvPr/>
        </p:nvSpPr>
        <p:spPr>
          <a:xfrm>
            <a:off x="587146" y="2818483"/>
            <a:ext cx="212988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B. 用装置乙干燥氨气</a:t>
            </a:r>
          </a:p>
        </p:txBody>
      </p:sp>
      <p:sp>
        <p:nvSpPr>
          <p:cNvPr id="12" name="原题文字_307_9"/>
          <p:cNvSpPr txBox="1"/>
          <p:nvPr/>
        </p:nvSpPr>
        <p:spPr>
          <a:xfrm>
            <a:off x="587146" y="3186015"/>
            <a:ext cx="2995118"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用装置丙验证氨气的还原性</a:t>
            </a:r>
          </a:p>
        </p:txBody>
      </p:sp>
      <p:sp>
        <p:nvSpPr>
          <p:cNvPr id="13" name="原题文字_307_10"/>
          <p:cNvSpPr txBox="1"/>
          <p:nvPr/>
        </p:nvSpPr>
        <p:spPr>
          <a:xfrm>
            <a:off x="587146" y="3584174"/>
            <a:ext cx="278072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D. 用装置丁吸收多余的氨气</a:t>
            </a:r>
          </a:p>
        </p:txBody>
      </p:sp>
      <p:sp>
        <p:nvSpPr>
          <p:cNvPr id="14" name="原题文字_307_11"/>
          <p:cNvSpPr txBox="1"/>
          <p:nvPr/>
        </p:nvSpPr>
        <p:spPr>
          <a:xfrm>
            <a:off x="8037322" y="4426435"/>
            <a:ext cx="276914"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乙</a:t>
            </a:r>
          </a:p>
        </p:txBody>
      </p:sp>
      <p:sp>
        <p:nvSpPr>
          <p:cNvPr id="15" name="原题文字_307_12"/>
          <p:cNvSpPr txBox="1"/>
          <p:nvPr/>
        </p:nvSpPr>
        <p:spPr>
          <a:xfrm>
            <a:off x="9254772" y="4434092"/>
            <a:ext cx="29988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丙</a:t>
            </a:r>
          </a:p>
        </p:txBody>
      </p:sp>
      <p:sp>
        <p:nvSpPr>
          <p:cNvPr id="16" name="文字_单选题  ·  14-02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14-020</a:t>
            </a:r>
          </a:p>
        </p:txBody>
      </p:sp>
      <p:sp>
        <p:nvSpPr>
          <p:cNvPr id="17" name="文字_3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例题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例题9</a:t>
            </a:r>
          </a:p>
        </p:txBody>
      </p:sp>
      <p:sp>
        <p:nvSpPr>
          <p:cNvPr id="5" name="文字_P30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P307</a:t>
            </a:r>
          </a:p>
        </p:txBody>
      </p:sp>
      <p:sp>
        <p:nvSpPr>
          <p:cNvPr id="6" name="文字_研究氮及其化合物的性质，可以有效改善人类的生存环"/>
          <p:cNvSpPr txBox="1"/>
          <p:nvPr/>
        </p:nvSpPr>
        <p:spPr>
          <a:xfrm>
            <a:off x="502920" y="1078992"/>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研究氮及其化合物的性质，可以有效改善人类的生存环境。</a:t>
            </a:r>
          </a:p>
        </p:txBody>
      </p:sp>
      <p:sp>
        <p:nvSpPr>
          <p:cNvPr id="7" name="文字_(1)实验室制备氨气，反应发生、气体收集和尾气处"/>
          <p:cNvSpPr txBox="1"/>
          <p:nvPr/>
        </p:nvSpPr>
        <p:spPr>
          <a:xfrm>
            <a:off x="502920" y="1371600"/>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(1)实验室制备氨气，反应发生、气体收集和尾气处理装置依</a:t>
            </a:r>
          </a:p>
          <a:p>
            <a:pPr>
              <a:lnSpc>
                <a:spcPct val="112000"/>
              </a:lnSpc>
              <a:spcBef>
                <a:spcPts val="0"/>
              </a:spcBef>
              <a:spcAft>
                <a:spcPts val="0"/>
              </a:spcAft>
              <a:defRPr sz="1600" b="0">
                <a:solidFill>
                  <a:srgbClr val="333333"/>
                </a:solidFill>
                <a:latin typeface="微软雅黑"/>
              </a:defRPr>
            </a:pPr>
            <a:r>
              <a:rPr>
                <a:ea typeface="微软雅黑"/>
              </a:rPr>
              <a:t>次为</a:t>
            </a:r>
          </a:p>
        </p:txBody>
      </p:sp>
      <p:pic>
        <p:nvPicPr>
          <p:cNvPr id="8" name="Picture 7" descr="image.png"/>
          <p:cNvPicPr>
            <a:picLocks noChangeAspect="1"/>
          </p:cNvPicPr>
          <p:nvPr/>
        </p:nvPicPr>
        <p:blipFill>
          <a:blip r:embed="rId3"/>
          <a:stretch>
            <a:fillRect/>
          </a:stretch>
        </p:blipFill>
        <p:spPr>
          <a:xfrm>
            <a:off x="502920" y="1906016"/>
            <a:ext cx="5376672" cy="718129"/>
          </a:xfrm>
          <a:prstGeom prst="rect">
            <a:avLst/>
          </a:prstGeom>
        </p:spPr>
      </p:pic>
      <p:sp>
        <p:nvSpPr>
          <p:cNvPr id="9" name="原题文字_307_18"/>
          <p:cNvSpPr txBox="1"/>
          <p:nvPr/>
        </p:nvSpPr>
        <p:spPr>
          <a:xfrm>
            <a:off x="1157794" y="2033566"/>
            <a:ext cx="244628"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3F</a:t>
            </a:r>
          </a:p>
        </p:txBody>
      </p:sp>
      <p:sp>
        <p:nvSpPr>
          <p:cNvPr id="10" name="原题文字_307_19"/>
          <p:cNvSpPr txBox="1"/>
          <p:nvPr/>
        </p:nvSpPr>
        <p:spPr>
          <a:xfrm>
            <a:off x="1064772" y="2498676"/>
            <a:ext cx="147886" cy="130602"/>
          </a:xfrm>
          <a:prstGeom prst="rect">
            <a:avLst/>
          </a:prstGeom>
          <a:noFill/>
        </p:spPr>
        <p:txBody>
          <a:bodyPr wrap="none" lIns="0" rIns="0" tIns="0" bIns="0">
            <a:spAutoFit/>
          </a:bodyPr>
          <a:lstStyle/>
          <a:p>
            <a:pPr>
              <a:lnSpc>
                <a:spcPct val="112000"/>
              </a:lnSpc>
              <a:spcBef>
                <a:spcPts val="0"/>
              </a:spcBef>
              <a:spcAft>
                <a:spcPts val="0"/>
              </a:spcAft>
              <a:defRPr sz="632" b="0">
                <a:solidFill>
                  <a:srgbClr val="333333"/>
                </a:solidFill>
                <a:latin typeface="微软雅黑"/>
              </a:defRPr>
            </a:pPr>
            <a:r>
              <a:rPr>
                <a:ea typeface="微软雅黑"/>
              </a:rPr>
              <a:t>A</a:t>
            </a:r>
          </a:p>
        </p:txBody>
      </p:sp>
      <p:sp>
        <p:nvSpPr>
          <p:cNvPr id="11" name="原题文字_307_20"/>
          <p:cNvSpPr txBox="1"/>
          <p:nvPr/>
        </p:nvSpPr>
        <p:spPr>
          <a:xfrm>
            <a:off x="1686159" y="2506118"/>
            <a:ext cx="133002" cy="111254"/>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B</a:t>
            </a:r>
          </a:p>
        </p:txBody>
      </p:sp>
      <p:sp>
        <p:nvSpPr>
          <p:cNvPr id="12" name="原题文字_307_21"/>
          <p:cNvSpPr txBox="1"/>
          <p:nvPr/>
        </p:nvSpPr>
        <p:spPr>
          <a:xfrm>
            <a:off x="2806144" y="2509839"/>
            <a:ext cx="133002"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D</a:t>
            </a:r>
          </a:p>
        </p:txBody>
      </p:sp>
      <p:sp>
        <p:nvSpPr>
          <p:cNvPr id="13" name="原题文字_307_22"/>
          <p:cNvSpPr txBox="1"/>
          <p:nvPr/>
        </p:nvSpPr>
        <p:spPr>
          <a:xfrm>
            <a:off x="3327068" y="2491235"/>
            <a:ext cx="144165" cy="140277"/>
          </a:xfrm>
          <a:prstGeom prst="rect">
            <a:avLst/>
          </a:prstGeom>
          <a:noFill/>
        </p:spPr>
        <p:txBody>
          <a:bodyPr wrap="none" lIns="0" rIns="0" tIns="0" bIns="0">
            <a:spAutoFit/>
          </a:bodyPr>
          <a:lstStyle/>
          <a:p>
            <a:pPr>
              <a:lnSpc>
                <a:spcPct val="112000"/>
              </a:lnSpc>
              <a:spcBef>
                <a:spcPts val="0"/>
              </a:spcBef>
              <a:spcAft>
                <a:spcPts val="0"/>
              </a:spcAft>
              <a:defRPr sz="679" b="0">
                <a:solidFill>
                  <a:srgbClr val="333333"/>
                </a:solidFill>
                <a:latin typeface="微软雅黑"/>
              </a:defRPr>
            </a:pPr>
            <a:r>
              <a:rPr>
                <a:ea typeface="微软雅黑"/>
              </a:rPr>
              <a:t>E</a:t>
            </a:r>
          </a:p>
        </p:txBody>
      </p:sp>
      <p:sp>
        <p:nvSpPr>
          <p:cNvPr id="14" name="原题文字_307_23"/>
          <p:cNvSpPr txBox="1"/>
          <p:nvPr/>
        </p:nvSpPr>
        <p:spPr>
          <a:xfrm>
            <a:off x="3810782" y="2494956"/>
            <a:ext cx="140444" cy="135440"/>
          </a:xfrm>
          <a:prstGeom prst="rect">
            <a:avLst/>
          </a:prstGeom>
          <a:noFill/>
        </p:spPr>
        <p:txBody>
          <a:bodyPr wrap="none" lIns="0" rIns="0" tIns="0" bIns="0">
            <a:spAutoFit/>
          </a:bodyPr>
          <a:lstStyle/>
          <a:p>
            <a:pPr>
              <a:lnSpc>
                <a:spcPct val="112000"/>
              </a:lnSpc>
              <a:spcBef>
                <a:spcPts val="0"/>
              </a:spcBef>
              <a:spcAft>
                <a:spcPts val="0"/>
              </a:spcAft>
              <a:defRPr sz="656" b="0">
                <a:solidFill>
                  <a:srgbClr val="333333"/>
                </a:solidFill>
                <a:latin typeface="微软雅黑"/>
              </a:defRPr>
            </a:pPr>
            <a:r>
              <a:rPr>
                <a:ea typeface="微软雅黑"/>
              </a:rPr>
              <a:t>F</a:t>
            </a:r>
          </a:p>
        </p:txBody>
      </p:sp>
      <p:sp>
        <p:nvSpPr>
          <p:cNvPr id="15" name="原题文字_307_24"/>
          <p:cNvSpPr txBox="1"/>
          <p:nvPr/>
        </p:nvSpPr>
        <p:spPr>
          <a:xfrm>
            <a:off x="4279613" y="2494956"/>
            <a:ext cx="144165" cy="130602"/>
          </a:xfrm>
          <a:prstGeom prst="rect">
            <a:avLst/>
          </a:prstGeom>
          <a:noFill/>
        </p:spPr>
        <p:txBody>
          <a:bodyPr wrap="none" lIns="0" rIns="0" tIns="0" bIns="0">
            <a:spAutoFit/>
          </a:bodyPr>
          <a:lstStyle/>
          <a:p>
            <a:pPr>
              <a:lnSpc>
                <a:spcPct val="112000"/>
              </a:lnSpc>
              <a:spcBef>
                <a:spcPts val="0"/>
              </a:spcBef>
              <a:spcAft>
                <a:spcPts val="0"/>
              </a:spcAft>
              <a:defRPr sz="632" b="0">
                <a:solidFill>
                  <a:srgbClr val="333333"/>
                </a:solidFill>
                <a:latin typeface="微软雅黑"/>
              </a:defRPr>
            </a:pPr>
            <a:r>
              <a:rPr>
                <a:ea typeface="微软雅黑"/>
              </a:rPr>
              <a:t>G</a:t>
            </a:r>
          </a:p>
        </p:txBody>
      </p:sp>
      <p:sp>
        <p:nvSpPr>
          <p:cNvPr id="16" name="原题文字_307_25"/>
          <p:cNvSpPr txBox="1"/>
          <p:nvPr/>
        </p:nvSpPr>
        <p:spPr>
          <a:xfrm>
            <a:off x="4733560" y="2494956"/>
            <a:ext cx="151606" cy="135440"/>
          </a:xfrm>
          <a:prstGeom prst="rect">
            <a:avLst/>
          </a:prstGeom>
          <a:noFill/>
        </p:spPr>
        <p:txBody>
          <a:bodyPr wrap="none" lIns="0" rIns="0" tIns="0" bIns="0">
            <a:spAutoFit/>
          </a:bodyPr>
          <a:lstStyle/>
          <a:p>
            <a:pPr>
              <a:lnSpc>
                <a:spcPct val="112000"/>
              </a:lnSpc>
              <a:spcBef>
                <a:spcPts val="0"/>
              </a:spcBef>
              <a:spcAft>
                <a:spcPts val="0"/>
              </a:spcAft>
              <a:defRPr sz="656" b="0">
                <a:solidFill>
                  <a:srgbClr val="333333"/>
                </a:solidFill>
                <a:latin typeface="微软雅黑"/>
              </a:defRPr>
            </a:pPr>
            <a:r>
              <a:rPr>
                <a:ea typeface="微软雅黑"/>
              </a:rPr>
              <a:t>H</a:t>
            </a:r>
          </a:p>
        </p:txBody>
      </p:sp>
      <p:sp>
        <p:nvSpPr>
          <p:cNvPr id="17" name="文字_(2) 氨气极易溶于水，可以利用如图装置进行喷泉"/>
          <p:cNvSpPr txBox="1"/>
          <p:nvPr/>
        </p:nvSpPr>
        <p:spPr>
          <a:xfrm>
            <a:off x="502920" y="2697297"/>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(2) 氨气极易溶于水，可以利用如图装置进行喷泉实验。</a:t>
            </a:r>
          </a:p>
        </p:txBody>
      </p:sp>
      <p:pic>
        <p:nvPicPr>
          <p:cNvPr id="18" name="Picture 17" descr="image.png"/>
          <p:cNvPicPr>
            <a:picLocks noChangeAspect="1"/>
          </p:cNvPicPr>
          <p:nvPr/>
        </p:nvPicPr>
        <p:blipFill>
          <a:blip r:embed="rId4"/>
          <a:stretch>
            <a:fillRect/>
          </a:stretch>
        </p:blipFill>
        <p:spPr>
          <a:xfrm>
            <a:off x="502920" y="2989905"/>
            <a:ext cx="5376672" cy="2094855"/>
          </a:xfrm>
          <a:prstGeom prst="rect">
            <a:avLst/>
          </a:prstGeom>
        </p:spPr>
      </p:pic>
      <p:sp>
        <p:nvSpPr>
          <p:cNvPr id="19" name="原题文字_307_28"/>
          <p:cNvSpPr txBox="1"/>
          <p:nvPr/>
        </p:nvSpPr>
        <p:spPr>
          <a:xfrm>
            <a:off x="811753" y="3035597"/>
            <a:ext cx="1252987"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①写出该实验操作的步骤:</a:t>
            </a:r>
          </a:p>
        </p:txBody>
      </p:sp>
      <p:sp>
        <p:nvSpPr>
          <p:cNvPr id="20" name="原题文字_307_29"/>
          <p:cNvSpPr txBox="1"/>
          <p:nvPr/>
        </p:nvSpPr>
        <p:spPr>
          <a:xfrm>
            <a:off x="5578200" y="3005830"/>
            <a:ext cx="129281"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A</a:t>
            </a:r>
          </a:p>
        </p:txBody>
      </p:sp>
      <p:sp>
        <p:nvSpPr>
          <p:cNvPr id="21" name="原题文字_307_30"/>
          <p:cNvSpPr txBox="1"/>
          <p:nvPr/>
        </p:nvSpPr>
        <p:spPr>
          <a:xfrm>
            <a:off x="2437777" y="3095131"/>
            <a:ext cx="106956"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o</a:t>
            </a:r>
          </a:p>
        </p:txBody>
      </p:sp>
      <p:sp>
        <p:nvSpPr>
          <p:cNvPr id="22" name="原题文字_307_31"/>
          <p:cNvSpPr txBox="1"/>
          <p:nvPr/>
        </p:nvSpPr>
        <p:spPr>
          <a:xfrm>
            <a:off x="5581921" y="3083968"/>
            <a:ext cx="259512" cy="145114"/>
          </a:xfrm>
          <a:prstGeom prst="rect">
            <a:avLst/>
          </a:prstGeom>
          <a:noFill/>
        </p:spPr>
        <p:txBody>
          <a:bodyPr wrap="none" lIns="0" rIns="0" tIns="0" bIns="0">
            <a:spAutoFit/>
          </a:bodyPr>
          <a:lstStyle/>
          <a:p>
            <a:pPr>
              <a:lnSpc>
                <a:spcPct val="112000"/>
              </a:lnSpc>
              <a:spcBef>
                <a:spcPts val="0"/>
              </a:spcBef>
              <a:spcAft>
                <a:spcPts val="0"/>
              </a:spcAft>
              <a:defRPr sz="703" b="0">
                <a:solidFill>
                  <a:srgbClr val="333333"/>
                </a:solidFill>
                <a:latin typeface="微软雅黑"/>
              </a:defRPr>
            </a:pPr>
            <a:r>
              <a:rPr>
                <a:ea typeface="微软雅黑"/>
              </a:rPr>
              <a:t>-NH₃</a:t>
            </a:r>
          </a:p>
        </p:txBody>
      </p:sp>
      <p:sp>
        <p:nvSpPr>
          <p:cNvPr id="23" name="原题文字_307_32"/>
          <p:cNvSpPr txBox="1"/>
          <p:nvPr/>
        </p:nvSpPr>
        <p:spPr>
          <a:xfrm>
            <a:off x="808032" y="3210478"/>
            <a:ext cx="1829723"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②下列组合中也能产生“喷泉”现象的是</a:t>
            </a:r>
          </a:p>
        </p:txBody>
      </p:sp>
      <p:sp>
        <p:nvSpPr>
          <p:cNvPr id="24" name="原题文字_307_33"/>
          <p:cNvSpPr txBox="1"/>
          <p:nvPr/>
        </p:nvSpPr>
        <p:spPr>
          <a:xfrm>
            <a:off x="2936375" y="3206757"/>
            <a:ext cx="512532" cy="198322"/>
          </a:xfrm>
          <a:prstGeom prst="rect">
            <a:avLst/>
          </a:prstGeom>
          <a:noFill/>
        </p:spPr>
        <p:txBody>
          <a:bodyPr wrap="none" lIns="0" rIns="0" tIns="0" bIns="0">
            <a:spAutoFit/>
          </a:bodyPr>
          <a:lstStyle/>
          <a:p>
            <a:pPr>
              <a:lnSpc>
                <a:spcPct val="112000"/>
              </a:lnSpc>
              <a:spcBef>
                <a:spcPts val="0"/>
              </a:spcBef>
              <a:spcAft>
                <a:spcPts val="0"/>
              </a:spcAft>
              <a:defRPr sz="865" b="0">
                <a:solidFill>
                  <a:srgbClr val="333333"/>
                </a:solidFill>
                <a:latin typeface="微软雅黑"/>
              </a:defRPr>
            </a:pPr>
            <a:r>
              <a:rPr>
                <a:ea typeface="微软雅黑"/>
              </a:rPr>
              <a:t>(填字母)。</a:t>
            </a:r>
          </a:p>
        </p:txBody>
      </p:sp>
      <p:sp>
        <p:nvSpPr>
          <p:cNvPr id="25" name="原题文字_307_34"/>
          <p:cNvSpPr txBox="1"/>
          <p:nvPr/>
        </p:nvSpPr>
        <p:spPr>
          <a:xfrm>
            <a:off x="5418202" y="3258850"/>
            <a:ext cx="147886" cy="290228"/>
          </a:xfrm>
          <a:prstGeom prst="rect">
            <a:avLst/>
          </a:prstGeom>
          <a:noFill/>
        </p:spPr>
        <p:txBody>
          <a:bodyPr wrap="none" lIns="0" rIns="0" tIns="0" bIns="0">
            <a:spAutoFit/>
          </a:bodyPr>
          <a:lstStyle/>
          <a:p>
            <a:pPr>
              <a:lnSpc>
                <a:spcPct val="112000"/>
              </a:lnSpc>
              <a:spcBef>
                <a:spcPts val="0"/>
              </a:spcBef>
              <a:spcAft>
                <a:spcPts val="0"/>
              </a:spcAft>
              <a:defRPr sz="1097" b="0">
                <a:solidFill>
                  <a:srgbClr val="333333"/>
                </a:solidFill>
                <a:latin typeface="微软雅黑"/>
              </a:defRPr>
            </a:pPr>
            <a:r>
              <a:rPr>
                <a:ea typeface="微软雅黑"/>
              </a:rPr>
              <a:t>二</a:t>
            </a:r>
          </a:p>
        </p:txBody>
      </p:sp>
      <p:sp>
        <p:nvSpPr>
          <p:cNvPr id="26" name="原题文字_307_35"/>
          <p:cNvSpPr txBox="1"/>
          <p:nvPr/>
        </p:nvSpPr>
        <p:spPr>
          <a:xfrm>
            <a:off x="5559596" y="3340709"/>
            <a:ext cx="181373" cy="140277"/>
          </a:xfrm>
          <a:prstGeom prst="rect">
            <a:avLst/>
          </a:prstGeom>
          <a:noFill/>
        </p:spPr>
        <p:txBody>
          <a:bodyPr wrap="none" lIns="0" rIns="0" tIns="0" bIns="0">
            <a:spAutoFit/>
          </a:bodyPr>
          <a:lstStyle/>
          <a:p>
            <a:pPr>
              <a:lnSpc>
                <a:spcPct val="112000"/>
              </a:lnSpc>
              <a:spcBef>
                <a:spcPts val="0"/>
              </a:spcBef>
              <a:spcAft>
                <a:spcPts val="0"/>
              </a:spcAft>
              <a:defRPr sz="679" b="0">
                <a:solidFill>
                  <a:srgbClr val="333333"/>
                </a:solidFill>
                <a:latin typeface="微软雅黑"/>
              </a:defRPr>
            </a:pPr>
            <a:r>
              <a:rPr>
                <a:ea typeface="微软雅黑"/>
              </a:rPr>
              <a:t>-水</a:t>
            </a:r>
          </a:p>
        </p:txBody>
      </p:sp>
      <p:sp>
        <p:nvSpPr>
          <p:cNvPr id="27" name="原题文字_307_36"/>
          <p:cNvSpPr txBox="1"/>
          <p:nvPr/>
        </p:nvSpPr>
        <p:spPr>
          <a:xfrm>
            <a:off x="800590" y="3400243"/>
            <a:ext cx="2577620"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A. HCl和AgNO₃溶液B. CO₂和饱和NaHCO₃溶液</a:t>
            </a:r>
          </a:p>
        </p:txBody>
      </p:sp>
      <p:sp>
        <p:nvSpPr>
          <p:cNvPr id="28" name="原题文字_307_37"/>
          <p:cNvSpPr txBox="1"/>
          <p:nvPr/>
        </p:nvSpPr>
        <p:spPr>
          <a:xfrm>
            <a:off x="800590" y="3578845"/>
            <a:ext cx="2406460"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C. H₂S和饱和CuSO₄溶液 D. Cl₂和饱和食盐水</a:t>
            </a:r>
          </a:p>
        </p:txBody>
      </p:sp>
      <p:sp>
        <p:nvSpPr>
          <p:cNvPr id="29" name="原题文字_307_38"/>
          <p:cNvSpPr txBox="1"/>
          <p:nvPr/>
        </p:nvSpPr>
        <p:spPr>
          <a:xfrm>
            <a:off x="5589363" y="3679309"/>
            <a:ext cx="162769" cy="1209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-水</a:t>
            </a:r>
          </a:p>
        </p:txBody>
      </p:sp>
      <p:sp>
        <p:nvSpPr>
          <p:cNvPr id="30" name="原题文字_307_39"/>
          <p:cNvSpPr txBox="1"/>
          <p:nvPr/>
        </p:nvSpPr>
        <p:spPr>
          <a:xfrm>
            <a:off x="536407" y="3913725"/>
            <a:ext cx="229745"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(3)</a:t>
            </a:r>
          </a:p>
        </p:txBody>
      </p:sp>
      <p:sp>
        <p:nvSpPr>
          <p:cNvPr id="31" name="原题文字_307_40"/>
          <p:cNvSpPr txBox="1"/>
          <p:nvPr/>
        </p:nvSpPr>
        <p:spPr>
          <a:xfrm>
            <a:off x="781986" y="3898841"/>
            <a:ext cx="3362726"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下图是快速制备氨气以及验证其性质的组合装置，部分固定装置未画出。</a:t>
            </a:r>
          </a:p>
        </p:txBody>
      </p:sp>
      <p:sp>
        <p:nvSpPr>
          <p:cNvPr id="32" name="原题文字_307_41"/>
          <p:cNvSpPr txBox="1"/>
          <p:nvPr/>
        </p:nvSpPr>
        <p:spPr>
          <a:xfrm>
            <a:off x="2184757" y="4099769"/>
            <a:ext cx="322767"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浓氨水</a:t>
            </a:r>
          </a:p>
        </p:txBody>
      </p:sp>
      <p:sp>
        <p:nvSpPr>
          <p:cNvPr id="33" name="原题文字_307_42"/>
          <p:cNvSpPr txBox="1"/>
          <p:nvPr/>
        </p:nvSpPr>
        <p:spPr>
          <a:xfrm>
            <a:off x="1492674" y="4241162"/>
            <a:ext cx="348813" cy="140277"/>
          </a:xfrm>
          <a:prstGeom prst="rect">
            <a:avLst/>
          </a:prstGeom>
          <a:noFill/>
        </p:spPr>
        <p:txBody>
          <a:bodyPr wrap="none" lIns="0" rIns="0" tIns="0" bIns="0">
            <a:spAutoFit/>
          </a:bodyPr>
          <a:lstStyle/>
          <a:p>
            <a:pPr>
              <a:lnSpc>
                <a:spcPct val="112000"/>
              </a:lnSpc>
              <a:spcBef>
                <a:spcPts val="0"/>
              </a:spcBef>
              <a:spcAft>
                <a:spcPts val="0"/>
              </a:spcAft>
              <a:defRPr sz="679" b="0">
                <a:solidFill>
                  <a:srgbClr val="333333"/>
                </a:solidFill>
                <a:latin typeface="微软雅黑"/>
              </a:defRPr>
            </a:pPr>
            <a:r>
              <a:rPr>
                <a:ea typeface="微软雅黑"/>
              </a:rPr>
              <a:t>弹簧夹2</a:t>
            </a:r>
          </a:p>
        </p:txBody>
      </p:sp>
      <p:sp>
        <p:nvSpPr>
          <p:cNvPr id="34" name="原题文字_307_43"/>
          <p:cNvSpPr txBox="1"/>
          <p:nvPr/>
        </p:nvSpPr>
        <p:spPr>
          <a:xfrm>
            <a:off x="2374522" y="4241162"/>
            <a:ext cx="345092" cy="140277"/>
          </a:xfrm>
          <a:prstGeom prst="rect">
            <a:avLst/>
          </a:prstGeom>
          <a:noFill/>
        </p:spPr>
        <p:txBody>
          <a:bodyPr wrap="none" lIns="0" rIns="0" tIns="0" bIns="0">
            <a:spAutoFit/>
          </a:bodyPr>
          <a:lstStyle/>
          <a:p>
            <a:pPr>
              <a:lnSpc>
                <a:spcPct val="112000"/>
              </a:lnSpc>
              <a:spcBef>
                <a:spcPts val="0"/>
              </a:spcBef>
              <a:spcAft>
                <a:spcPts val="0"/>
              </a:spcAft>
              <a:defRPr sz="679" b="0">
                <a:solidFill>
                  <a:srgbClr val="333333"/>
                </a:solidFill>
                <a:latin typeface="微软雅黑"/>
              </a:defRPr>
            </a:pPr>
            <a:r>
              <a:rPr>
                <a:ea typeface="微软雅黑"/>
              </a:rPr>
              <a:t>弹簧夹1</a:t>
            </a:r>
          </a:p>
        </p:txBody>
      </p:sp>
      <p:sp>
        <p:nvSpPr>
          <p:cNvPr id="35" name="原题文字_307_44"/>
          <p:cNvSpPr txBox="1"/>
          <p:nvPr/>
        </p:nvSpPr>
        <p:spPr>
          <a:xfrm>
            <a:off x="3338230" y="4256046"/>
            <a:ext cx="311604"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氧化铜</a:t>
            </a:r>
          </a:p>
        </p:txBody>
      </p:sp>
      <p:sp>
        <p:nvSpPr>
          <p:cNvPr id="36" name="原题文字_307_45"/>
          <p:cNvSpPr txBox="1"/>
          <p:nvPr/>
        </p:nvSpPr>
        <p:spPr>
          <a:xfrm>
            <a:off x="1608021" y="4349068"/>
            <a:ext cx="121839"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φ</a:t>
            </a:r>
          </a:p>
        </p:txBody>
      </p:sp>
      <p:sp>
        <p:nvSpPr>
          <p:cNvPr id="37" name="原题文字_307_46"/>
          <p:cNvSpPr txBox="1"/>
          <p:nvPr/>
        </p:nvSpPr>
        <p:spPr>
          <a:xfrm>
            <a:off x="2794982" y="4535112"/>
            <a:ext cx="133002"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B</a:t>
            </a:r>
          </a:p>
        </p:txBody>
      </p:sp>
      <p:sp>
        <p:nvSpPr>
          <p:cNvPr id="38" name="原题文字_307_47"/>
          <p:cNvSpPr txBox="1"/>
          <p:nvPr/>
        </p:nvSpPr>
        <p:spPr>
          <a:xfrm>
            <a:off x="4093569" y="4509066"/>
            <a:ext cx="136723"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元</a:t>
            </a:r>
          </a:p>
        </p:txBody>
      </p:sp>
      <p:sp>
        <p:nvSpPr>
          <p:cNvPr id="39" name="原题文字_307_48"/>
          <p:cNvSpPr txBox="1"/>
          <p:nvPr/>
        </p:nvSpPr>
        <p:spPr>
          <a:xfrm>
            <a:off x="4536354" y="4628134"/>
            <a:ext cx="389743"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溶有足量</a:t>
            </a:r>
          </a:p>
        </p:txBody>
      </p:sp>
      <p:sp>
        <p:nvSpPr>
          <p:cNvPr id="40" name="原题文字_307_49"/>
          <p:cNvSpPr txBox="1"/>
          <p:nvPr/>
        </p:nvSpPr>
        <p:spPr>
          <a:xfrm>
            <a:off x="826636" y="4695110"/>
            <a:ext cx="240908" cy="145114"/>
          </a:xfrm>
          <a:prstGeom prst="rect">
            <a:avLst/>
          </a:prstGeom>
          <a:noFill/>
        </p:spPr>
        <p:txBody>
          <a:bodyPr wrap="none" lIns="0" rIns="0" tIns="0" bIns="0">
            <a:spAutoFit/>
          </a:bodyPr>
          <a:lstStyle/>
          <a:p>
            <a:pPr>
              <a:lnSpc>
                <a:spcPct val="112000"/>
              </a:lnSpc>
              <a:spcBef>
                <a:spcPts val="0"/>
              </a:spcBef>
              <a:spcAft>
                <a:spcPts val="0"/>
              </a:spcAft>
              <a:defRPr sz="703" b="0">
                <a:solidFill>
                  <a:srgbClr val="333333"/>
                </a:solidFill>
                <a:latin typeface="微软雅黑"/>
              </a:defRPr>
            </a:pPr>
            <a:r>
              <a:rPr>
                <a:ea typeface="微软雅黑"/>
              </a:rPr>
              <a:t>烧碱</a:t>
            </a:r>
          </a:p>
        </p:txBody>
      </p:sp>
      <p:sp>
        <p:nvSpPr>
          <p:cNvPr id="41" name="原题文字_307_50"/>
          <p:cNvSpPr txBox="1"/>
          <p:nvPr/>
        </p:nvSpPr>
        <p:spPr>
          <a:xfrm>
            <a:off x="1254537" y="4754644"/>
            <a:ext cx="177653" cy="135440"/>
          </a:xfrm>
          <a:prstGeom prst="rect">
            <a:avLst/>
          </a:prstGeom>
          <a:noFill/>
        </p:spPr>
        <p:txBody>
          <a:bodyPr wrap="none" lIns="0" rIns="0" tIns="0" bIns="0">
            <a:spAutoFit/>
          </a:bodyPr>
          <a:lstStyle/>
          <a:p>
            <a:pPr>
              <a:lnSpc>
                <a:spcPct val="112000"/>
              </a:lnSpc>
              <a:spcBef>
                <a:spcPts val="0"/>
              </a:spcBef>
              <a:spcAft>
                <a:spcPts val="0"/>
              </a:spcAft>
              <a:defRPr sz="656" b="0">
                <a:solidFill>
                  <a:srgbClr val="333333"/>
                </a:solidFill>
                <a:latin typeface="微软雅黑"/>
              </a:defRPr>
            </a:pPr>
            <a:r>
              <a:rPr>
                <a:ea typeface="微软雅黑"/>
              </a:rPr>
              <a:t>Cl₂</a:t>
            </a:r>
          </a:p>
        </p:txBody>
      </p:sp>
      <p:sp>
        <p:nvSpPr>
          <p:cNvPr id="42" name="原题文字_307_51"/>
          <p:cNvSpPr txBox="1"/>
          <p:nvPr/>
        </p:nvSpPr>
        <p:spPr>
          <a:xfrm>
            <a:off x="4521470" y="4724877"/>
            <a:ext cx="438114" cy="149951"/>
          </a:xfrm>
          <a:prstGeom prst="rect">
            <a:avLst/>
          </a:prstGeom>
          <a:noFill/>
        </p:spPr>
        <p:txBody>
          <a:bodyPr wrap="none" lIns="0" rIns="0" tIns="0" bIns="0">
            <a:spAutoFit/>
          </a:bodyPr>
          <a:lstStyle/>
          <a:p>
            <a:pPr>
              <a:lnSpc>
                <a:spcPct val="112000"/>
              </a:lnSpc>
              <a:spcBef>
                <a:spcPts val="0"/>
              </a:spcBef>
              <a:spcAft>
                <a:spcPts val="0"/>
              </a:spcAft>
              <a:defRPr sz="701" b="0">
                <a:solidFill>
                  <a:srgbClr val="333333"/>
                </a:solidFill>
                <a:latin typeface="微软雅黑"/>
              </a:defRPr>
            </a:pPr>
            <a:r>
              <a:rPr>
                <a:ea typeface="微软雅黑"/>
              </a:rPr>
              <a:t>二氧化硫的</a:t>
            </a:r>
          </a:p>
        </p:txBody>
      </p:sp>
      <p:sp>
        <p:nvSpPr>
          <p:cNvPr id="43" name="原题文字_307_52"/>
          <p:cNvSpPr txBox="1"/>
          <p:nvPr/>
        </p:nvSpPr>
        <p:spPr>
          <a:xfrm>
            <a:off x="826636" y="4791852"/>
            <a:ext cx="244628" cy="145114"/>
          </a:xfrm>
          <a:prstGeom prst="rect">
            <a:avLst/>
          </a:prstGeom>
          <a:noFill/>
        </p:spPr>
        <p:txBody>
          <a:bodyPr wrap="none" lIns="0" rIns="0" tIns="0" bIns="0">
            <a:spAutoFit/>
          </a:bodyPr>
          <a:lstStyle/>
          <a:p>
            <a:pPr>
              <a:lnSpc>
                <a:spcPct val="112000"/>
              </a:lnSpc>
              <a:spcBef>
                <a:spcPts val="0"/>
              </a:spcBef>
              <a:spcAft>
                <a:spcPts val="0"/>
              </a:spcAft>
              <a:defRPr sz="703" b="0">
                <a:solidFill>
                  <a:srgbClr val="333333"/>
                </a:solidFill>
                <a:latin typeface="微软雅黑"/>
              </a:defRPr>
            </a:pPr>
            <a:r>
              <a:rPr>
                <a:ea typeface="微软雅黑"/>
              </a:rPr>
              <a:t>溶液\</a:t>
            </a:r>
          </a:p>
        </p:txBody>
      </p:sp>
      <p:sp>
        <p:nvSpPr>
          <p:cNvPr id="44" name="原题文字_307_53"/>
          <p:cNvSpPr txBox="1"/>
          <p:nvPr/>
        </p:nvSpPr>
        <p:spPr>
          <a:xfrm>
            <a:off x="4525191" y="4821619"/>
            <a:ext cx="415789" cy="149951"/>
          </a:xfrm>
          <a:prstGeom prst="rect">
            <a:avLst/>
          </a:prstGeom>
          <a:noFill/>
        </p:spPr>
        <p:txBody>
          <a:bodyPr wrap="none" lIns="0" rIns="0" tIns="0" bIns="0">
            <a:spAutoFit/>
          </a:bodyPr>
          <a:lstStyle/>
          <a:p>
            <a:pPr>
              <a:lnSpc>
                <a:spcPct val="112000"/>
              </a:lnSpc>
              <a:spcBef>
                <a:spcPts val="0"/>
              </a:spcBef>
              <a:spcAft>
                <a:spcPts val="0"/>
              </a:spcAft>
              <a:defRPr sz="684" b="0">
                <a:solidFill>
                  <a:srgbClr val="333333"/>
                </a:solidFill>
                <a:latin typeface="微软雅黑"/>
              </a:defRPr>
            </a:pPr>
            <a:r>
              <a:rPr>
                <a:ea typeface="微软雅黑"/>
              </a:rPr>
              <a:t>BaCl₂溶液</a:t>
            </a:r>
          </a:p>
        </p:txBody>
      </p:sp>
      <p:sp>
        <p:nvSpPr>
          <p:cNvPr id="45" name="原题文字_307_54"/>
          <p:cNvSpPr txBox="1"/>
          <p:nvPr/>
        </p:nvSpPr>
        <p:spPr>
          <a:xfrm>
            <a:off x="1697322" y="4858828"/>
            <a:ext cx="307883" cy="135440"/>
          </a:xfrm>
          <a:prstGeom prst="rect">
            <a:avLst/>
          </a:prstGeom>
          <a:noFill/>
        </p:spPr>
        <p:txBody>
          <a:bodyPr wrap="none" lIns="0" rIns="0" tIns="0" bIns="0">
            <a:spAutoFit/>
          </a:bodyPr>
          <a:lstStyle/>
          <a:p>
            <a:pPr>
              <a:lnSpc>
                <a:spcPct val="112000"/>
              </a:lnSpc>
              <a:spcBef>
                <a:spcPts val="0"/>
              </a:spcBef>
              <a:spcAft>
                <a:spcPts val="0"/>
              </a:spcAft>
              <a:defRPr sz="656" b="0">
                <a:solidFill>
                  <a:srgbClr val="333333"/>
                </a:solidFill>
                <a:latin typeface="微软雅黑"/>
              </a:defRPr>
            </a:pPr>
            <a:r>
              <a:rPr>
                <a:ea typeface="微软雅黑"/>
              </a:rPr>
              <a:t>生石灰</a:t>
            </a:r>
          </a:p>
        </p:txBody>
      </p:sp>
      <p:sp>
        <p:nvSpPr>
          <p:cNvPr id="46" name="原题文字_307_55"/>
          <p:cNvSpPr txBox="1"/>
          <p:nvPr/>
        </p:nvSpPr>
        <p:spPr>
          <a:xfrm>
            <a:off x="1090819" y="4970455"/>
            <a:ext cx="125560" cy="111254"/>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G</a:t>
            </a:r>
          </a:p>
        </p:txBody>
      </p:sp>
      <p:sp>
        <p:nvSpPr>
          <p:cNvPr id="47" name="原题文字_307_56"/>
          <p:cNvSpPr txBox="1"/>
          <p:nvPr/>
        </p:nvSpPr>
        <p:spPr>
          <a:xfrm>
            <a:off x="1448023" y="4963013"/>
            <a:ext cx="136723" cy="125765"/>
          </a:xfrm>
          <a:prstGeom prst="rect">
            <a:avLst/>
          </a:prstGeom>
          <a:noFill/>
        </p:spPr>
        <p:txBody>
          <a:bodyPr wrap="none" lIns="0" rIns="0" tIns="0" bIns="0">
            <a:spAutoFit/>
          </a:bodyPr>
          <a:lstStyle/>
          <a:p>
            <a:pPr>
              <a:lnSpc>
                <a:spcPct val="112000"/>
              </a:lnSpc>
              <a:spcBef>
                <a:spcPts val="0"/>
              </a:spcBef>
              <a:spcAft>
                <a:spcPts val="0"/>
              </a:spcAft>
              <a:defRPr sz="609" b="0">
                <a:solidFill>
                  <a:srgbClr val="333333"/>
                </a:solidFill>
                <a:latin typeface="微软雅黑"/>
              </a:defRPr>
            </a:pPr>
            <a:r>
              <a:rPr>
                <a:ea typeface="微软雅黑"/>
              </a:rPr>
              <a:t>F</a:t>
            </a:r>
          </a:p>
        </p:txBody>
      </p:sp>
      <p:sp>
        <p:nvSpPr>
          <p:cNvPr id="48" name="原题文字_307_57"/>
          <p:cNvSpPr txBox="1"/>
          <p:nvPr/>
        </p:nvSpPr>
        <p:spPr>
          <a:xfrm>
            <a:off x="2088014" y="4974176"/>
            <a:ext cx="125560"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A</a:t>
            </a:r>
          </a:p>
        </p:txBody>
      </p:sp>
      <p:sp>
        <p:nvSpPr>
          <p:cNvPr id="49" name="原题文字_307_58"/>
          <p:cNvSpPr txBox="1"/>
          <p:nvPr/>
        </p:nvSpPr>
        <p:spPr>
          <a:xfrm>
            <a:off x="3423811" y="4963013"/>
            <a:ext cx="140444" cy="125765"/>
          </a:xfrm>
          <a:prstGeom prst="rect">
            <a:avLst/>
          </a:prstGeom>
          <a:noFill/>
        </p:spPr>
        <p:txBody>
          <a:bodyPr wrap="none" lIns="0" rIns="0" tIns="0" bIns="0">
            <a:spAutoFit/>
          </a:bodyPr>
          <a:lstStyle/>
          <a:p>
            <a:pPr>
              <a:lnSpc>
                <a:spcPct val="112000"/>
              </a:lnSpc>
              <a:spcBef>
                <a:spcPts val="0"/>
              </a:spcBef>
              <a:spcAft>
                <a:spcPts val="0"/>
              </a:spcAft>
              <a:defRPr sz="609" b="0">
                <a:solidFill>
                  <a:srgbClr val="333333"/>
                </a:solidFill>
                <a:latin typeface="微软雅黑"/>
              </a:defRPr>
            </a:pPr>
            <a:r>
              <a:rPr>
                <a:ea typeface="微软雅黑"/>
              </a:rPr>
              <a:t>C</a:t>
            </a:r>
          </a:p>
        </p:txBody>
      </p:sp>
      <p:sp>
        <p:nvSpPr>
          <p:cNvPr id="50" name="原题文字_307_59"/>
          <p:cNvSpPr txBox="1"/>
          <p:nvPr/>
        </p:nvSpPr>
        <p:spPr>
          <a:xfrm>
            <a:off x="4093569" y="4974176"/>
            <a:ext cx="136723"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D</a:t>
            </a:r>
          </a:p>
        </p:txBody>
      </p:sp>
      <p:sp>
        <p:nvSpPr>
          <p:cNvPr id="51" name="原题文字_307_60"/>
          <p:cNvSpPr txBox="1"/>
          <p:nvPr/>
        </p:nvSpPr>
        <p:spPr>
          <a:xfrm>
            <a:off x="4394960" y="4970455"/>
            <a:ext cx="125560" cy="111254"/>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E</a:t>
            </a:r>
          </a:p>
        </p:txBody>
      </p:sp>
      <p:sp>
        <p:nvSpPr>
          <p:cNvPr id="52" name="文字_①B仪器名称是 ______ ，装置D的作用是"/>
          <p:cNvSpPr txBox="1"/>
          <p:nvPr/>
        </p:nvSpPr>
        <p:spPr>
          <a:xfrm>
            <a:off x="6263640" y="1078992"/>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①B仪器名称是 ______ ，装置D的作用是</a:t>
            </a:r>
          </a:p>
        </p:txBody>
      </p:sp>
      <p:sp>
        <p:nvSpPr>
          <p:cNvPr id="53" name="文字_②点燃C处酒精灯，关闭弹簧夹2，打开弹簧夹1，从"/>
          <p:cNvSpPr txBox="1"/>
          <p:nvPr/>
        </p:nvSpPr>
        <p:spPr>
          <a:xfrm>
            <a:off x="6263640" y="1371600"/>
            <a:ext cx="5376672" cy="1018032"/>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②点燃C处酒精灯，关闭弹簧夹2，打开弹簧夹1，从分液漏</a:t>
            </a:r>
          </a:p>
          <a:p>
            <a:pPr>
              <a:lnSpc>
                <a:spcPct val="112000"/>
              </a:lnSpc>
              <a:spcBef>
                <a:spcPts val="0"/>
              </a:spcBef>
              <a:spcAft>
                <a:spcPts val="0"/>
              </a:spcAft>
              <a:defRPr sz="1600" b="0">
                <a:solidFill>
                  <a:srgbClr val="333333"/>
                </a:solidFill>
                <a:latin typeface="微软雅黑"/>
              </a:defRPr>
            </a:pPr>
            <a:r>
              <a:rPr>
                <a:ea typeface="微软雅黑"/>
              </a:rPr>
              <a:t>斗放出浓氨水至浸没固体后关闭分液漏斗，稍候片刻，装置</a:t>
            </a:r>
          </a:p>
          <a:p>
            <a:pPr>
              <a:lnSpc>
                <a:spcPct val="112000"/>
              </a:lnSpc>
              <a:spcBef>
                <a:spcPts val="0"/>
              </a:spcBef>
              <a:spcAft>
                <a:spcPts val="0"/>
              </a:spcAft>
              <a:defRPr sz="1600" b="0">
                <a:solidFill>
                  <a:srgbClr val="333333"/>
                </a:solidFill>
                <a:latin typeface="微软雅黑"/>
              </a:defRPr>
            </a:pPr>
            <a:r>
              <a:rPr>
                <a:ea typeface="微软雅黑"/>
              </a:rPr>
              <a:t>C中黑色固体逐渐变紫红色，装置E中长导管处冒出大量气泡</a:t>
            </a:r>
          </a:p>
          <a:p>
            <a:pPr>
              <a:lnSpc>
                <a:spcPct val="112000"/>
              </a:lnSpc>
              <a:spcBef>
                <a:spcPts val="0"/>
              </a:spcBef>
              <a:spcAft>
                <a:spcPts val="0"/>
              </a:spcAft>
              <a:defRPr sz="1600" b="0">
                <a:solidFill>
                  <a:srgbClr val="333333"/>
                </a:solidFill>
                <a:latin typeface="微软雅黑"/>
              </a:defRPr>
            </a:pPr>
            <a:r>
              <a:rPr>
                <a:ea typeface="微软雅黑"/>
              </a:rPr>
              <a:t>，C中发生反应的化学方程式为</a:t>
            </a:r>
          </a:p>
        </p:txBody>
      </p:sp>
      <p:sp>
        <p:nvSpPr>
          <p:cNvPr id="54" name="文字_o"/>
          <p:cNvSpPr txBox="1"/>
          <p:nvPr/>
        </p:nvSpPr>
        <p:spPr>
          <a:xfrm>
            <a:off x="6263640" y="2389632"/>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o</a:t>
            </a:r>
          </a:p>
        </p:txBody>
      </p:sp>
      <p:sp>
        <p:nvSpPr>
          <p:cNvPr id="55" name="文字_③一段时间后，装置E中出现白色沉淀，该白色沉淀为"/>
          <p:cNvSpPr txBox="1"/>
          <p:nvPr/>
        </p:nvSpPr>
        <p:spPr>
          <a:xfrm>
            <a:off x="6263640" y="2682240"/>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③一段时间后，装置E中出现白色沉淀，该白色沉淀为 _____</a:t>
            </a:r>
          </a:p>
          <a:p>
            <a:pPr>
              <a:lnSpc>
                <a:spcPct val="112000"/>
              </a:lnSpc>
              <a:spcBef>
                <a:spcPts val="0"/>
              </a:spcBef>
              <a:spcAft>
                <a:spcPts val="0"/>
              </a:spcAft>
              <a:defRPr sz="1600" b="0">
                <a:solidFill>
                  <a:srgbClr val="333333"/>
                </a:solidFill>
                <a:latin typeface="微软雅黑"/>
              </a:defRPr>
            </a:pPr>
            <a:r>
              <a:rPr>
                <a:ea typeface="微软雅黑"/>
              </a:rPr>
              <a:t>_ (写名称);</a:t>
            </a:r>
          </a:p>
        </p:txBody>
      </p:sp>
      <p:sp>
        <p:nvSpPr>
          <p:cNvPr id="56" name="文字_④关闭弹簧夹1，打开弹簧夹2，残余气体进入F中，"/>
          <p:cNvSpPr txBox="1"/>
          <p:nvPr/>
        </p:nvSpPr>
        <p:spPr>
          <a:xfrm>
            <a:off x="6263640" y="3216655"/>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④关闭弹簧夹1，打开弹簧夹2，残余气体进入F中，装置F中</a:t>
            </a:r>
          </a:p>
          <a:p>
            <a:pPr>
              <a:lnSpc>
                <a:spcPct val="112000"/>
              </a:lnSpc>
              <a:spcBef>
                <a:spcPts val="0"/>
              </a:spcBef>
              <a:spcAft>
                <a:spcPts val="0"/>
              </a:spcAft>
              <a:defRPr sz="1600" b="0">
                <a:solidFill>
                  <a:srgbClr val="333333"/>
                </a:solidFill>
                <a:latin typeface="微软雅黑"/>
              </a:defRPr>
            </a:pPr>
            <a:r>
              <a:rPr>
                <a:ea typeface="微软雅黑"/>
              </a:rPr>
              <a:t>产生白烟，同时发现G中溶液迅速倒吸流入F，则F中参加该</a:t>
            </a:r>
          </a:p>
          <a:p>
            <a:pPr>
              <a:lnSpc>
                <a:spcPct val="112000"/>
              </a:lnSpc>
              <a:spcBef>
                <a:spcPts val="0"/>
              </a:spcBef>
              <a:spcAft>
                <a:spcPts val="0"/>
              </a:spcAft>
              <a:defRPr sz="1600" b="0">
                <a:solidFill>
                  <a:srgbClr val="333333"/>
                </a:solidFill>
                <a:latin typeface="微软雅黑"/>
              </a:defRPr>
            </a:pPr>
            <a:r>
              <a:rPr>
                <a:ea typeface="微软雅黑"/>
              </a:rPr>
              <a:t>反应的氧化剂和还原剂的物质的量之比为</a:t>
            </a:r>
          </a:p>
        </p:txBody>
      </p:sp>
      <p:sp>
        <p:nvSpPr>
          <p:cNvPr id="57" name="文字_填空题  ·  14-02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14-021</a:t>
            </a:r>
          </a:p>
        </p:txBody>
      </p:sp>
      <p:sp>
        <p:nvSpPr>
          <p:cNvPr id="58" name="文字_3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变式1</a:t>
            </a:r>
          </a:p>
        </p:txBody>
      </p:sp>
      <p:sp>
        <p:nvSpPr>
          <p:cNvPr id="5" name="文字_P3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P308</a:t>
            </a:r>
          </a:p>
        </p:txBody>
      </p:sp>
      <p:sp>
        <p:nvSpPr>
          <p:cNvPr id="6" name="文字_以下有关氨和铵盐的叙述中，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以下有关氨和铵盐的叙述中，不正确的是（）</a:t>
            </a:r>
          </a:p>
        </p:txBody>
      </p:sp>
      <p:sp>
        <p:nvSpPr>
          <p:cNvPr id="7" name="文字_A. 目前工业上用氢气和氮气直接合成氨"/>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目前工业上用氢气和氮气直接合成氨</a:t>
            </a:r>
          </a:p>
        </p:txBody>
      </p:sp>
      <p:sp>
        <p:nvSpPr>
          <p:cNvPr id="8" name="文字_B. 氨溶于水的喷泉实验体现了氨的氧化性"/>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氨溶于水的喷泉实验体现了氨的氧化性</a:t>
            </a:r>
          </a:p>
        </p:txBody>
      </p:sp>
      <p:sp>
        <p:nvSpPr>
          <p:cNvPr id="9" name="文字_C. 因为氨易液化，在汽化时会吸收大量的热量，所"/>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因为氨易液化，在汽化时会吸收大量的热量，所以可作制冷剂</a:t>
            </a:r>
          </a:p>
        </p:txBody>
      </p:sp>
      <p:sp>
        <p:nvSpPr>
          <p:cNvPr id="10" name="文字_D. 硫酸铵、碳酸氢铵、硝酸铵等铵盐在农业生产中"/>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硫酸铵、碳酸氢铵、硝酸铵等铵盐在农业生产中常用作化肥</a:t>
            </a:r>
          </a:p>
        </p:txBody>
      </p:sp>
      <p:sp>
        <p:nvSpPr>
          <p:cNvPr id="11" name="文字_单选题  ·  14-02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14-022</a:t>
            </a:r>
          </a:p>
        </p:txBody>
      </p:sp>
      <p:sp>
        <p:nvSpPr>
          <p:cNvPr id="12" name="文字_3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变式2</a:t>
            </a:r>
          </a:p>
        </p:txBody>
      </p:sp>
      <p:sp>
        <p:nvSpPr>
          <p:cNvPr id="5" name="文字_P3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P308</a:t>
            </a:r>
          </a:p>
        </p:txBody>
      </p:sp>
      <p:sp>
        <p:nvSpPr>
          <p:cNvPr id="6" name="文字_下列氮及其化合物的性质与用途具有对应关系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下列氮及其化合物的性质与用途具有对应关系的是</a:t>
            </a:r>
          </a:p>
        </p:txBody>
      </p:sp>
      <p:sp>
        <p:nvSpPr>
          <p:cNvPr id="7" name="文字_A. N₂难溶于水，可用作粮食保护气"/>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N₂难溶于水，可用作粮食保护气</a:t>
            </a:r>
          </a:p>
        </p:txBody>
      </p:sp>
      <p:sp>
        <p:nvSpPr>
          <p:cNvPr id="8" name="文字_B. 氨水具有碱性，可用于除去烟气中的SO₂"/>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氨水具有碱性，可用于除去烟气中的SO₂</a:t>
            </a:r>
          </a:p>
        </p:txBody>
      </p:sp>
      <p:sp>
        <p:nvSpPr>
          <p:cNvPr id="9" name="文字_C. NO₂具有还原性，与N₂H₄混合可用作火箭"/>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NO₂具有还原性，与N₂H₄混合可用作火箭推进剂</a:t>
            </a:r>
          </a:p>
        </p:txBody>
      </p:sp>
      <p:sp>
        <p:nvSpPr>
          <p:cNvPr id="10" name="文字_D. HNO₃具有氧化性，可用于生产氮肥"/>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HNO₃具有氧化性，可用于生产氮肥</a:t>
            </a:r>
          </a:p>
        </p:txBody>
      </p:sp>
      <p:sp>
        <p:nvSpPr>
          <p:cNvPr id="11" name="文字_单选题  ·  14-02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14-023</a:t>
            </a:r>
          </a:p>
        </p:txBody>
      </p:sp>
      <p:sp>
        <p:nvSpPr>
          <p:cNvPr id="12" name="文字_3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变式3</a:t>
            </a:r>
          </a:p>
        </p:txBody>
      </p:sp>
      <p:sp>
        <p:nvSpPr>
          <p:cNvPr id="5" name="文字_P3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P308</a:t>
            </a:r>
          </a:p>
        </p:txBody>
      </p:sp>
      <p:sp>
        <p:nvSpPr>
          <p:cNvPr id="6" name="文字_实验室制备氨气，下列方法中适宜选用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实验室制备氨气，下列方法中适宜选用的是（）</a:t>
            </a:r>
          </a:p>
        </p:txBody>
      </p:sp>
      <p:sp>
        <p:nvSpPr>
          <p:cNvPr id="7" name="文字_A. 固态氯化铵加热分解"/>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固态氯化铵加热分解</a:t>
            </a:r>
          </a:p>
        </p:txBody>
      </p:sp>
      <p:sp>
        <p:nvSpPr>
          <p:cNvPr id="8" name="文字_B. 固态氯化铵与氢氧化钠混合加热"/>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固态氯化铵与氢氧化钠混合加热</a:t>
            </a:r>
          </a:p>
        </p:txBody>
      </p:sp>
      <p:sp>
        <p:nvSpPr>
          <p:cNvPr id="9" name="文字_C. 加热硝酸铵固体"/>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加热硝酸铵固体</a:t>
            </a:r>
          </a:p>
        </p:txBody>
      </p:sp>
      <p:sp>
        <p:nvSpPr>
          <p:cNvPr id="10" name="文字_D. 固态氯化铵与氢氧化钙混合加热"/>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固态氯化铵与氢氧化钙混合加热</a:t>
            </a:r>
          </a:p>
        </p:txBody>
      </p:sp>
      <p:sp>
        <p:nvSpPr>
          <p:cNvPr id="11" name="文字_单选题  ·  14-02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14-024</a:t>
            </a:r>
          </a:p>
        </p:txBody>
      </p:sp>
      <p:sp>
        <p:nvSpPr>
          <p:cNvPr id="12" name="文字_3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变式4</a:t>
            </a:r>
          </a:p>
        </p:txBody>
      </p:sp>
      <p:sp>
        <p:nvSpPr>
          <p:cNvPr id="5" name="文字_P3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P308</a:t>
            </a:r>
          </a:p>
        </p:txBody>
      </p:sp>
      <p:sp>
        <p:nvSpPr>
          <p:cNvPr id="6" name="文字_下列物质性质与用途不对应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下列物质性质与用途不对应的是</a:t>
            </a:r>
          </a:p>
        </p:txBody>
      </p:sp>
      <p:sp>
        <p:nvSpPr>
          <p:cNvPr id="7" name="文字_A. 氧化铁呈红色，可用作红色油漆"/>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氧化铁呈红色，可用作红色油漆</a:t>
            </a:r>
          </a:p>
        </p:txBody>
      </p:sp>
      <p:sp>
        <p:nvSpPr>
          <p:cNvPr id="8" name="文字_B. 氯气具有强氧化性，可用于自来水杀菌消毒"/>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氯气具有强氧化性，可用于自来水杀菌消毒</a:t>
            </a:r>
          </a:p>
        </p:txBody>
      </p:sp>
      <p:sp>
        <p:nvSpPr>
          <p:cNvPr id="9" name="文字_C. 常温下铁能被浓硝酸钝化，可用铁制容器贮运浓"/>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常温下铁能被浓硝酸钝化，可用铁制容器贮运浓硝酸</a:t>
            </a:r>
          </a:p>
        </p:txBody>
      </p:sp>
      <p:sp>
        <p:nvSpPr>
          <p:cNvPr id="10" name="文字_D. 氨气极易溶于水，可用作制冷剂"/>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氨气极易溶于水，可用作制冷剂</a:t>
            </a:r>
          </a:p>
        </p:txBody>
      </p:sp>
      <p:sp>
        <p:nvSpPr>
          <p:cNvPr id="11" name="文字_单选题  ·  14-02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14-025</a:t>
            </a:r>
          </a:p>
        </p:txBody>
      </p:sp>
      <p:sp>
        <p:nvSpPr>
          <p:cNvPr id="12" name="文字_3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变式5</a:t>
            </a:r>
          </a:p>
        </p:txBody>
      </p:sp>
      <p:sp>
        <p:nvSpPr>
          <p:cNvPr id="5" name="文字_P30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P308</a:t>
            </a:r>
          </a:p>
        </p:txBody>
      </p:sp>
      <p:sp>
        <p:nvSpPr>
          <p:cNvPr id="6" name="文字_下列有关物质的说法中，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下列有关物质的说法中，正确的是：</a:t>
            </a:r>
          </a:p>
        </p:txBody>
      </p:sp>
      <p:sp>
        <p:nvSpPr>
          <p:cNvPr id="7" name="文字_A. 氯水、氨水、漂白粉都是混合物"/>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氯水、氨水、漂白粉都是混合物</a:t>
            </a:r>
          </a:p>
        </p:txBody>
      </p:sp>
      <p:sp>
        <p:nvSpPr>
          <p:cNvPr id="8" name="文字_B. Na₂O₂、Cl₂、SO₂都能使紫色石蕊溶"/>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Na₂O₂、Cl₂、SO₂都能使紫色石蕊溶液褪色</a:t>
            </a:r>
          </a:p>
        </p:txBody>
      </p:sp>
      <p:sp>
        <p:nvSpPr>
          <p:cNvPr id="9" name="文字_C. 常用胆矾晶体检验无水酒精中是否真的没有水"/>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常用胆矾晶体检验无水酒精中是否真的没有水</a:t>
            </a:r>
          </a:p>
        </p:txBody>
      </p:sp>
      <p:sp>
        <p:nvSpPr>
          <p:cNvPr id="10" name="文字_D. 浓硫酸不分解、不挥发，敞口放置在空气中质量"/>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浓硫酸不分解、不挥发，敞口放置在空气中质量不会发生变化</a:t>
            </a:r>
          </a:p>
        </p:txBody>
      </p:sp>
      <p:sp>
        <p:nvSpPr>
          <p:cNvPr id="11" name="文字_单选题  ·  14-02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14-026</a:t>
            </a:r>
          </a:p>
        </p:txBody>
      </p:sp>
      <p:sp>
        <p:nvSpPr>
          <p:cNvPr id="12" name="文字_3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变式6</a:t>
            </a:r>
          </a:p>
        </p:txBody>
      </p:sp>
      <p:sp>
        <p:nvSpPr>
          <p:cNvPr id="5" name="文字_P3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P309</a:t>
            </a:r>
          </a:p>
        </p:txBody>
      </p:sp>
      <p:sp>
        <p:nvSpPr>
          <p:cNvPr id="6" name="文字_喷泉的美，在于灵动如水，光影成诗。已知氨气极易溶"/>
          <p:cNvSpPr txBox="1"/>
          <p:nvPr/>
        </p:nvSpPr>
        <p:spPr>
          <a:xfrm>
            <a:off x="502920" y="1078992"/>
            <a:ext cx="11064240" cy="751522"/>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喷泉的美，在于灵动如水，光影成诗。已知氨气极易溶于水，如图是某同学设计的4组喷</a:t>
            </a:r>
          </a:p>
          <a:p>
            <a:pPr>
              <a:lnSpc>
                <a:spcPct val="112000"/>
              </a:lnSpc>
              <a:spcBef>
                <a:spcPts val="0"/>
              </a:spcBef>
              <a:spcAft>
                <a:spcPts val="0"/>
              </a:spcAft>
              <a:defRPr sz="2250" b="0">
                <a:solidFill>
                  <a:srgbClr val="333333"/>
                </a:solidFill>
                <a:latin typeface="微软雅黑"/>
              </a:defRPr>
            </a:pPr>
            <a:r>
              <a:rPr>
                <a:ea typeface="微软雅黑"/>
              </a:rPr>
              <a:t>泉实验方案，下列有关操</a:t>
            </a:r>
          </a:p>
        </p:txBody>
      </p:sp>
      <p:pic>
        <p:nvPicPr>
          <p:cNvPr id="7" name="Picture 6" descr="image.png"/>
          <p:cNvPicPr>
            <a:picLocks noChangeAspect="1"/>
          </p:cNvPicPr>
          <p:nvPr/>
        </p:nvPicPr>
        <p:blipFill>
          <a:blip r:embed="rId3"/>
          <a:stretch>
            <a:fillRect/>
          </a:stretch>
        </p:blipFill>
        <p:spPr>
          <a:xfrm>
            <a:off x="502920" y="1830514"/>
            <a:ext cx="11064240" cy="3284815"/>
          </a:xfrm>
          <a:prstGeom prst="rect">
            <a:avLst/>
          </a:prstGeom>
        </p:spPr>
      </p:pic>
      <p:sp>
        <p:nvSpPr>
          <p:cNvPr id="8" name="原题文字_309_4"/>
          <p:cNvSpPr txBox="1"/>
          <p:nvPr/>
        </p:nvSpPr>
        <p:spPr>
          <a:xfrm>
            <a:off x="587146" y="1862398"/>
            <a:ext cx="371486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作或说法错误的是(V为气体摩尔体积)</a:t>
            </a:r>
          </a:p>
        </p:txBody>
      </p:sp>
      <p:sp>
        <p:nvSpPr>
          <p:cNvPr id="9" name="原题文字_309_5"/>
          <p:cNvSpPr txBox="1"/>
          <p:nvPr/>
        </p:nvSpPr>
        <p:spPr>
          <a:xfrm>
            <a:off x="1414092" y="2444323"/>
            <a:ext cx="445366" cy="358343"/>
          </a:xfrm>
          <a:prstGeom prst="rect">
            <a:avLst/>
          </a:prstGeom>
          <a:noFill/>
        </p:spPr>
        <p:txBody>
          <a:bodyPr wrap="none" lIns="0" rIns="0" tIns="0" bIns="0">
            <a:spAutoFit/>
          </a:bodyPr>
          <a:lstStyle/>
          <a:p>
            <a:pPr>
              <a:lnSpc>
                <a:spcPct val="112000"/>
              </a:lnSpc>
              <a:spcBef>
                <a:spcPts val="0"/>
              </a:spcBef>
              <a:spcAft>
                <a:spcPts val="0"/>
              </a:spcAft>
              <a:defRPr sz="1656" b="0">
                <a:solidFill>
                  <a:srgbClr val="333333"/>
                </a:solidFill>
                <a:latin typeface="微软雅黑"/>
              </a:defRPr>
            </a:pPr>
            <a:r>
              <a:rPr>
                <a:ea typeface="微软雅黑"/>
              </a:rPr>
              <a:t>SO₂</a:t>
            </a:r>
          </a:p>
        </p:txBody>
      </p:sp>
      <p:sp>
        <p:nvSpPr>
          <p:cNvPr id="10" name="原题文字_309_6"/>
          <p:cNvSpPr txBox="1"/>
          <p:nvPr/>
        </p:nvSpPr>
        <p:spPr>
          <a:xfrm>
            <a:off x="3305350" y="2467294"/>
            <a:ext cx="43770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NO₂</a:t>
            </a:r>
          </a:p>
        </p:txBody>
      </p:sp>
      <p:sp>
        <p:nvSpPr>
          <p:cNvPr id="11" name="原题文字_309_7"/>
          <p:cNvSpPr txBox="1"/>
          <p:nvPr/>
        </p:nvSpPr>
        <p:spPr>
          <a:xfrm>
            <a:off x="5043469" y="2413696"/>
            <a:ext cx="567877"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NH₃</a:t>
            </a:r>
          </a:p>
        </p:txBody>
      </p:sp>
      <p:sp>
        <p:nvSpPr>
          <p:cNvPr id="12" name="原题文字_309_8"/>
          <p:cNvSpPr txBox="1"/>
          <p:nvPr/>
        </p:nvSpPr>
        <p:spPr>
          <a:xfrm>
            <a:off x="6712676" y="2429009"/>
            <a:ext cx="49130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HCl</a:t>
            </a:r>
          </a:p>
        </p:txBody>
      </p:sp>
      <p:sp>
        <p:nvSpPr>
          <p:cNvPr id="13" name="原题文字_309_9"/>
          <p:cNvSpPr txBox="1"/>
          <p:nvPr/>
        </p:nvSpPr>
        <p:spPr>
          <a:xfrm>
            <a:off x="2968446" y="2773570"/>
            <a:ext cx="261600" cy="408113"/>
          </a:xfrm>
          <a:prstGeom prst="rect">
            <a:avLst/>
          </a:prstGeom>
          <a:noFill/>
        </p:spPr>
        <p:txBody>
          <a:bodyPr wrap="none" lIns="0" rIns="0" tIns="0" bIns="0">
            <a:spAutoFit/>
          </a:bodyPr>
          <a:lstStyle/>
          <a:p>
            <a:pPr>
              <a:lnSpc>
                <a:spcPct val="112000"/>
              </a:lnSpc>
              <a:spcBef>
                <a:spcPts val="0"/>
              </a:spcBef>
              <a:spcAft>
                <a:spcPts val="0"/>
              </a:spcAft>
              <a:defRPr sz="1572" b="0">
                <a:solidFill>
                  <a:srgbClr val="333333"/>
                </a:solidFill>
                <a:latin typeface="微软雅黑"/>
              </a:defRPr>
            </a:pPr>
            <a:r>
              <a:rPr>
                <a:ea typeface="微软雅黑"/>
              </a:rPr>
              <a:t>工I</a:t>
            </a:r>
          </a:p>
        </p:txBody>
      </p:sp>
      <p:sp>
        <p:nvSpPr>
          <p:cNvPr id="14" name="原题文字_309_10"/>
          <p:cNvSpPr txBox="1"/>
          <p:nvPr/>
        </p:nvSpPr>
        <p:spPr>
          <a:xfrm>
            <a:off x="4836733" y="2735286"/>
            <a:ext cx="253943"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H</a:t>
            </a:r>
          </a:p>
        </p:txBody>
      </p:sp>
      <p:sp>
        <p:nvSpPr>
          <p:cNvPr id="15" name="原题文字_309_11"/>
          <p:cNvSpPr txBox="1"/>
          <p:nvPr/>
        </p:nvSpPr>
        <p:spPr>
          <a:xfrm>
            <a:off x="6429371" y="2697001"/>
            <a:ext cx="269257" cy="627101"/>
          </a:xfrm>
          <a:prstGeom prst="rect">
            <a:avLst/>
          </a:prstGeom>
          <a:noFill/>
        </p:spPr>
        <p:txBody>
          <a:bodyPr wrap="none" lIns="0" rIns="0" tIns="0" bIns="0">
            <a:spAutoFit/>
          </a:bodyPr>
          <a:lstStyle/>
          <a:p>
            <a:pPr>
              <a:lnSpc>
                <a:spcPct val="112000"/>
              </a:lnSpc>
              <a:spcBef>
                <a:spcPts val="0"/>
              </a:spcBef>
              <a:spcAft>
                <a:spcPts val="0"/>
              </a:spcAft>
              <a:defRPr sz="3038" b="0">
                <a:solidFill>
                  <a:srgbClr val="333333"/>
                </a:solidFill>
                <a:latin typeface="微软雅黑"/>
              </a:defRPr>
            </a:pPr>
            <a:r>
              <a:rPr>
                <a:ea typeface="微软雅黑"/>
              </a:rPr>
              <a:t>I</a:t>
            </a:r>
          </a:p>
        </p:txBody>
      </p:sp>
      <p:sp>
        <p:nvSpPr>
          <p:cNvPr id="16" name="原题文字_309_12"/>
          <p:cNvSpPr txBox="1"/>
          <p:nvPr/>
        </p:nvSpPr>
        <p:spPr>
          <a:xfrm>
            <a:off x="1498318" y="3263613"/>
            <a:ext cx="598504"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NaOH</a:t>
            </a:r>
          </a:p>
        </p:txBody>
      </p:sp>
      <p:sp>
        <p:nvSpPr>
          <p:cNvPr id="17" name="原题文字_309_13"/>
          <p:cNvSpPr txBox="1"/>
          <p:nvPr/>
        </p:nvSpPr>
        <p:spPr>
          <a:xfrm>
            <a:off x="3389576" y="3255956"/>
            <a:ext cx="590847"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NaOH</a:t>
            </a:r>
          </a:p>
        </p:txBody>
      </p:sp>
      <p:sp>
        <p:nvSpPr>
          <p:cNvPr id="18" name="原题文字_309_14"/>
          <p:cNvSpPr txBox="1"/>
          <p:nvPr/>
        </p:nvSpPr>
        <p:spPr>
          <a:xfrm>
            <a:off x="1505975" y="3462693"/>
            <a:ext cx="49130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溶液</a:t>
            </a:r>
          </a:p>
        </p:txBody>
      </p:sp>
      <p:sp>
        <p:nvSpPr>
          <p:cNvPr id="19" name="原题文字_309_15"/>
          <p:cNvSpPr txBox="1"/>
          <p:nvPr/>
        </p:nvSpPr>
        <p:spPr>
          <a:xfrm>
            <a:off x="3374262" y="3439722"/>
            <a:ext cx="498964"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溶液</a:t>
            </a:r>
          </a:p>
        </p:txBody>
      </p:sp>
      <p:sp>
        <p:nvSpPr>
          <p:cNvPr id="20" name="原题文字_309_16"/>
          <p:cNvSpPr txBox="1"/>
          <p:nvPr/>
        </p:nvSpPr>
        <p:spPr>
          <a:xfrm>
            <a:off x="5234892" y="3424408"/>
            <a:ext cx="29988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水</a:t>
            </a:r>
          </a:p>
        </p:txBody>
      </p:sp>
      <p:sp>
        <p:nvSpPr>
          <p:cNvPr id="21" name="原题文字_309_17"/>
          <p:cNvSpPr txBox="1"/>
          <p:nvPr/>
        </p:nvSpPr>
        <p:spPr>
          <a:xfrm>
            <a:off x="6888785" y="3355496"/>
            <a:ext cx="652103"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浓氨水</a:t>
            </a:r>
          </a:p>
        </p:txBody>
      </p:sp>
      <p:sp>
        <p:nvSpPr>
          <p:cNvPr id="22" name="原题文字_309_18"/>
          <p:cNvSpPr txBox="1"/>
          <p:nvPr/>
        </p:nvSpPr>
        <p:spPr>
          <a:xfrm>
            <a:off x="6927070" y="3623488"/>
            <a:ext cx="284571"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水</a:t>
            </a:r>
          </a:p>
        </p:txBody>
      </p:sp>
      <p:sp>
        <p:nvSpPr>
          <p:cNvPr id="23" name="原题文字_309_19"/>
          <p:cNvSpPr txBox="1"/>
          <p:nvPr/>
        </p:nvSpPr>
        <p:spPr>
          <a:xfrm>
            <a:off x="1107816" y="4044618"/>
            <a:ext cx="27691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甲</a:t>
            </a:r>
          </a:p>
        </p:txBody>
      </p:sp>
      <p:sp>
        <p:nvSpPr>
          <p:cNvPr id="24" name="原题文字_309_20"/>
          <p:cNvSpPr txBox="1"/>
          <p:nvPr/>
        </p:nvSpPr>
        <p:spPr>
          <a:xfrm>
            <a:off x="2976103" y="4044618"/>
            <a:ext cx="27691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乙</a:t>
            </a:r>
          </a:p>
        </p:txBody>
      </p:sp>
      <p:sp>
        <p:nvSpPr>
          <p:cNvPr id="25" name="原题文字_309_21"/>
          <p:cNvSpPr txBox="1"/>
          <p:nvPr/>
        </p:nvSpPr>
        <p:spPr>
          <a:xfrm>
            <a:off x="4790791" y="4044618"/>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丙</a:t>
            </a:r>
          </a:p>
        </p:txBody>
      </p:sp>
      <p:sp>
        <p:nvSpPr>
          <p:cNvPr id="26" name="原题文字_309_22"/>
          <p:cNvSpPr txBox="1"/>
          <p:nvPr/>
        </p:nvSpPr>
        <p:spPr>
          <a:xfrm>
            <a:off x="6459998" y="4052275"/>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丁</a:t>
            </a:r>
          </a:p>
        </p:txBody>
      </p:sp>
      <p:sp>
        <p:nvSpPr>
          <p:cNvPr id="27" name="原题文字_309_23"/>
          <p:cNvSpPr txBox="1"/>
          <p:nvPr/>
        </p:nvSpPr>
        <p:spPr>
          <a:xfrm>
            <a:off x="5097068" y="4220727"/>
            <a:ext cx="23862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1</a:t>
            </a:r>
          </a:p>
        </p:txBody>
      </p:sp>
      <p:sp>
        <p:nvSpPr>
          <p:cNvPr id="28" name="原题文字_309_24"/>
          <p:cNvSpPr txBox="1"/>
          <p:nvPr/>
        </p:nvSpPr>
        <p:spPr>
          <a:xfrm>
            <a:off x="594802" y="4350895"/>
            <a:ext cx="448056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 图甲中进行喷泉实验后所得溶液的浓度约为</a:t>
            </a:r>
          </a:p>
        </p:txBody>
      </p:sp>
      <p:sp>
        <p:nvSpPr>
          <p:cNvPr id="29" name="原题文字_309_25"/>
          <p:cNvSpPr txBox="1"/>
          <p:nvPr/>
        </p:nvSpPr>
        <p:spPr>
          <a:xfrm>
            <a:off x="5380373" y="4366208"/>
            <a:ext cx="293386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mol/L(假设SO₂能全部溶于水)</a:t>
            </a:r>
          </a:p>
        </p:txBody>
      </p:sp>
      <p:sp>
        <p:nvSpPr>
          <p:cNvPr id="30" name="原题文字_309_26"/>
          <p:cNvSpPr txBox="1"/>
          <p:nvPr/>
        </p:nvSpPr>
        <p:spPr>
          <a:xfrm>
            <a:off x="5020498" y="4488719"/>
            <a:ext cx="399425"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Vm</a:t>
            </a:r>
          </a:p>
        </p:txBody>
      </p:sp>
      <p:sp>
        <p:nvSpPr>
          <p:cNvPr id="31" name="原题文字_309_27"/>
          <p:cNvSpPr txBox="1"/>
          <p:nvPr/>
        </p:nvSpPr>
        <p:spPr>
          <a:xfrm>
            <a:off x="587146" y="4840937"/>
            <a:ext cx="7260019"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B. 图乙中用热毛巾捂住圆底烧瓶底部并打开止水夹，水会进入烧瓶形成喷泉</a:t>
            </a:r>
          </a:p>
        </p:txBody>
      </p:sp>
      <p:sp>
        <p:nvSpPr>
          <p:cNvPr id="32" name="文字_C. 图丙中喷泉停止后，圆底烧瓶内剩余少量气体，"/>
          <p:cNvSpPr txBox="1"/>
          <p:nvPr/>
        </p:nvSpPr>
        <p:spPr>
          <a:xfrm>
            <a:off x="502920" y="5188482"/>
            <a:ext cx="11064240" cy="411479"/>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C. 图丙中喷泉停止后，圆底烧瓶内剩余少量气体，可能是因为NH₃的溶解已达到饱和</a:t>
            </a:r>
          </a:p>
        </p:txBody>
      </p:sp>
      <p:sp>
        <p:nvSpPr>
          <p:cNvPr id="33" name="文字_D. 图丁中向水槽中慢慢加入足量生石灰并打开止水"/>
          <p:cNvSpPr txBox="1"/>
          <p:nvPr/>
        </p:nvSpPr>
        <p:spPr>
          <a:xfrm>
            <a:off x="502920" y="5599962"/>
            <a:ext cx="11064240" cy="751522"/>
          </a:xfrm>
          <a:prstGeom prst="rect">
            <a:avLst/>
          </a:prstGeom>
          <a:noFill/>
        </p:spPr>
        <p:txBody>
          <a:bodyPr wrap="square" lIns="0" rIns="0" tIns="0" bIns="0">
            <a:spAutoFit/>
          </a:bodyPr>
          <a:lstStyle/>
          <a:p>
            <a:pPr>
              <a:lnSpc>
                <a:spcPct val="112000"/>
              </a:lnSpc>
              <a:spcBef>
                <a:spcPts val="0"/>
              </a:spcBef>
              <a:spcAft>
                <a:spcPts val="0"/>
              </a:spcAft>
              <a:defRPr sz="2250" b="0">
                <a:solidFill>
                  <a:srgbClr val="333333"/>
                </a:solidFill>
                <a:latin typeface="微软雅黑"/>
              </a:defRPr>
            </a:pPr>
            <a:r>
              <a:rPr>
                <a:ea typeface="微软雅黑"/>
              </a:rPr>
              <a:t>D. 图丁中向水槽中慢慢加入足量生石灰并打开止水夹，可观察到烧瓶内先产生白烟后产</a:t>
            </a:r>
          </a:p>
          <a:p>
            <a:pPr>
              <a:lnSpc>
                <a:spcPct val="112000"/>
              </a:lnSpc>
              <a:spcBef>
                <a:spcPts val="0"/>
              </a:spcBef>
              <a:spcAft>
                <a:spcPts val="0"/>
              </a:spcAft>
              <a:defRPr sz="2250" b="0">
                <a:solidFill>
                  <a:srgbClr val="333333"/>
                </a:solidFill>
                <a:latin typeface="微软雅黑"/>
              </a:defRPr>
            </a:pPr>
            <a:r>
              <a:rPr>
                <a:ea typeface="微软雅黑"/>
              </a:rPr>
              <a:t>生喷泉</a:t>
            </a:r>
          </a:p>
        </p:txBody>
      </p:sp>
      <p:sp>
        <p:nvSpPr>
          <p:cNvPr id="34" name="文字_单选题  ·  14-02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14-027</a:t>
            </a:r>
          </a:p>
        </p:txBody>
      </p:sp>
      <p:sp>
        <p:nvSpPr>
          <p:cNvPr id="35" name="文字_4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变式7</a:t>
            </a:r>
          </a:p>
        </p:txBody>
      </p:sp>
      <p:sp>
        <p:nvSpPr>
          <p:cNvPr id="5" name="文字_P3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P309</a:t>
            </a:r>
          </a:p>
        </p:txBody>
      </p:sp>
      <p:sp>
        <p:nvSpPr>
          <p:cNvPr id="6" name="文字_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7" name="文字_A. 所有铵盐均易溶于水"/>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所有铵盐均易溶于水</a:t>
            </a:r>
          </a:p>
        </p:txBody>
      </p:sp>
      <p:sp>
        <p:nvSpPr>
          <p:cNvPr id="8" name="文字_B. 铵盐中的N不一定均呈-3价"/>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铵盐中的N不一定均呈-3价</a:t>
            </a:r>
          </a:p>
        </p:txBody>
      </p:sp>
      <p:sp>
        <p:nvSpPr>
          <p:cNvPr id="9" name="文字_C. 铵盐作氮肥时，与生石灰混用的效果更好"/>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铵盐作氮肥时，与生石灰混用的效果更好</a:t>
            </a:r>
          </a:p>
        </p:txBody>
      </p:sp>
      <p:sp>
        <p:nvSpPr>
          <p:cNvPr id="10" name="文字_D. 检验铵盐中含有NH±的操作是：取少量某盐放"/>
          <p:cNvSpPr txBox="1"/>
          <p:nvPr/>
        </p:nvSpPr>
        <p:spPr>
          <a:xfrm>
            <a:off x="502920" y="28346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检验铵盐中含有NH±的操作是：取少量某盐放入试管中，加入稀氢氧化钠溶液</a:t>
            </a:r>
          </a:p>
          <a:p>
            <a:pPr>
              <a:lnSpc>
                <a:spcPct val="112000"/>
              </a:lnSpc>
              <a:spcBef>
                <a:spcPts val="0"/>
              </a:spcBef>
              <a:spcAft>
                <a:spcPts val="0"/>
              </a:spcAft>
              <a:defRPr sz="2400" b="0">
                <a:solidFill>
                  <a:srgbClr val="333333"/>
                </a:solidFill>
                <a:latin typeface="微软雅黑"/>
              </a:defRPr>
            </a:pPr>
            <a:r>
              <a:rPr>
                <a:ea typeface="微软雅黑"/>
              </a:rPr>
              <a:t>，将湿润的红色石蕊试纸放在试管口</a:t>
            </a:r>
          </a:p>
        </p:txBody>
      </p:sp>
      <p:sp>
        <p:nvSpPr>
          <p:cNvPr id="11" name="文字_单选题  ·  14-02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14-028</a:t>
            </a:r>
          </a:p>
        </p:txBody>
      </p:sp>
      <p:sp>
        <p:nvSpPr>
          <p:cNvPr id="12" name="文字_4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变式8</a:t>
            </a:r>
          </a:p>
        </p:txBody>
      </p:sp>
      <p:sp>
        <p:nvSpPr>
          <p:cNvPr id="5" name="文字_P30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P309</a:t>
            </a:r>
          </a:p>
        </p:txBody>
      </p:sp>
      <p:sp>
        <p:nvSpPr>
          <p:cNvPr id="6" name="文字_1827年，英国科学家法拉第进行了NH₃喷泉实验"/>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1827年，英国科学家法拉第进行了NH₃喷泉实验。在此启发下，兴趣小组利用以</a:t>
            </a:r>
          </a:p>
          <a:p>
            <a:pPr>
              <a:lnSpc>
                <a:spcPct val="112000"/>
              </a:lnSpc>
              <a:spcBef>
                <a:spcPts val="0"/>
              </a:spcBef>
              <a:spcAft>
                <a:spcPts val="0"/>
              </a:spcAft>
              <a:defRPr sz="2400" b="0">
                <a:solidFill>
                  <a:srgbClr val="333333"/>
                </a:solidFill>
                <a:latin typeface="微软雅黑"/>
              </a:defRPr>
            </a:pPr>
            <a:r>
              <a:rPr>
                <a:ea typeface="微软雅黑"/>
              </a:rPr>
              <a:t>下装置，进行如下实验。其中，难以达到预期目的的是</a:t>
            </a:r>
          </a:p>
        </p:txBody>
      </p:sp>
      <p:pic>
        <p:nvPicPr>
          <p:cNvPr id="7" name="Picture 6" descr="image.png"/>
          <p:cNvPicPr>
            <a:picLocks noChangeAspect="1"/>
          </p:cNvPicPr>
          <p:nvPr/>
        </p:nvPicPr>
        <p:blipFill>
          <a:blip r:embed="rId3"/>
          <a:stretch>
            <a:fillRect/>
          </a:stretch>
        </p:blipFill>
        <p:spPr>
          <a:xfrm>
            <a:off x="502920" y="1880616"/>
            <a:ext cx="11064240" cy="1707491"/>
          </a:xfrm>
          <a:prstGeom prst="rect">
            <a:avLst/>
          </a:prstGeom>
        </p:spPr>
      </p:pic>
      <p:sp>
        <p:nvSpPr>
          <p:cNvPr id="8" name="原题文字_309_44"/>
          <p:cNvSpPr txBox="1"/>
          <p:nvPr/>
        </p:nvSpPr>
        <p:spPr>
          <a:xfrm>
            <a:off x="587146" y="2004382"/>
            <a:ext cx="181595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 图1：喷泉实验</a:t>
            </a:r>
          </a:p>
        </p:txBody>
      </p:sp>
      <p:sp>
        <p:nvSpPr>
          <p:cNvPr id="9" name="原题文字_309_45"/>
          <p:cNvSpPr txBox="1"/>
          <p:nvPr/>
        </p:nvSpPr>
        <p:spPr>
          <a:xfrm>
            <a:off x="7133807" y="2004382"/>
            <a:ext cx="399425" cy="298619"/>
          </a:xfrm>
          <a:prstGeom prst="rect">
            <a:avLst/>
          </a:prstGeom>
          <a:noFill/>
        </p:spPr>
        <p:txBody>
          <a:bodyPr wrap="none" lIns="0" rIns="0" tIns="0" bIns="0">
            <a:spAutoFit/>
          </a:bodyPr>
          <a:lstStyle/>
          <a:p>
            <a:pPr>
              <a:lnSpc>
                <a:spcPct val="112000"/>
              </a:lnSpc>
              <a:spcBef>
                <a:spcPts val="0"/>
              </a:spcBef>
              <a:spcAft>
                <a:spcPts val="0"/>
              </a:spcAft>
              <a:defRPr sz="1154" b="0">
                <a:solidFill>
                  <a:srgbClr val="333333"/>
                </a:solidFill>
                <a:latin typeface="微软雅黑"/>
              </a:defRPr>
            </a:pPr>
            <a:r>
              <a:rPr>
                <a:ea typeface="微软雅黑"/>
              </a:rPr>
              <a:t>-NH₃</a:t>
            </a:r>
          </a:p>
        </p:txBody>
      </p:sp>
      <p:sp>
        <p:nvSpPr>
          <p:cNvPr id="10" name="原题文字_309_46"/>
          <p:cNvSpPr txBox="1"/>
          <p:nvPr/>
        </p:nvSpPr>
        <p:spPr>
          <a:xfrm>
            <a:off x="8297657" y="2287688"/>
            <a:ext cx="430052" cy="338435"/>
          </a:xfrm>
          <a:prstGeom prst="rect">
            <a:avLst/>
          </a:prstGeom>
          <a:noFill/>
        </p:spPr>
        <p:txBody>
          <a:bodyPr wrap="none" lIns="0" rIns="0" tIns="0" bIns="0">
            <a:spAutoFit/>
          </a:bodyPr>
          <a:lstStyle/>
          <a:p>
            <a:pPr>
              <a:lnSpc>
                <a:spcPct val="112000"/>
              </a:lnSpc>
              <a:spcBef>
                <a:spcPts val="0"/>
              </a:spcBef>
              <a:spcAft>
                <a:spcPts val="0"/>
              </a:spcAft>
              <a:defRPr sz="1082" b="0">
                <a:solidFill>
                  <a:srgbClr val="333333"/>
                </a:solidFill>
                <a:latin typeface="微软雅黑"/>
              </a:defRPr>
            </a:pPr>
            <a:r>
              <a:rPr>
                <a:ea typeface="微软雅黑"/>
              </a:rPr>
              <a:t>P_2O₅</a:t>
            </a:r>
          </a:p>
        </p:txBody>
      </p:sp>
      <p:sp>
        <p:nvSpPr>
          <p:cNvPr id="11" name="原题文字_309_47"/>
          <p:cNvSpPr txBox="1"/>
          <p:nvPr/>
        </p:nvSpPr>
        <p:spPr>
          <a:xfrm>
            <a:off x="571832" y="2371914"/>
            <a:ext cx="181595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B. 图2：干燥NH₃</a:t>
            </a:r>
          </a:p>
        </p:txBody>
      </p:sp>
      <p:sp>
        <p:nvSpPr>
          <p:cNvPr id="12" name="原题文字_309_48"/>
          <p:cNvSpPr txBox="1"/>
          <p:nvPr/>
        </p:nvSpPr>
        <p:spPr>
          <a:xfrm>
            <a:off x="7049581" y="2632249"/>
            <a:ext cx="407082" cy="258803"/>
          </a:xfrm>
          <a:prstGeom prst="rect">
            <a:avLst/>
          </a:prstGeom>
          <a:noFill/>
        </p:spPr>
        <p:txBody>
          <a:bodyPr wrap="none" lIns="0" rIns="0" tIns="0" bIns="0">
            <a:spAutoFit/>
          </a:bodyPr>
          <a:lstStyle/>
          <a:p>
            <a:pPr>
              <a:lnSpc>
                <a:spcPct val="112000"/>
              </a:lnSpc>
              <a:spcBef>
                <a:spcPts val="0"/>
              </a:spcBef>
              <a:spcAft>
                <a:spcPts val="0"/>
              </a:spcAft>
              <a:defRPr sz="1172" b="0">
                <a:solidFill>
                  <a:srgbClr val="333333"/>
                </a:solidFill>
                <a:latin typeface="微软雅黑"/>
              </a:defRPr>
            </a:pPr>
            <a:r>
              <a:rPr>
                <a:ea typeface="微软雅黑"/>
              </a:rPr>
              <a:t>-H₂O</a:t>
            </a:r>
          </a:p>
        </p:txBody>
      </p:sp>
      <p:sp>
        <p:nvSpPr>
          <p:cNvPr id="13" name="原题文字_309_49"/>
          <p:cNvSpPr txBox="1"/>
          <p:nvPr/>
        </p:nvSpPr>
        <p:spPr>
          <a:xfrm>
            <a:off x="8006695" y="2578651"/>
            <a:ext cx="361140" cy="218987"/>
          </a:xfrm>
          <a:prstGeom prst="rect">
            <a:avLst/>
          </a:prstGeom>
          <a:noFill/>
        </p:spPr>
        <p:txBody>
          <a:bodyPr wrap="none" lIns="0" rIns="0" tIns="0" bIns="0">
            <a:spAutoFit/>
          </a:bodyPr>
          <a:lstStyle/>
          <a:p>
            <a:pPr>
              <a:lnSpc>
                <a:spcPct val="112000"/>
              </a:lnSpc>
              <a:spcBef>
                <a:spcPts val="0"/>
              </a:spcBef>
              <a:spcAft>
                <a:spcPts val="0"/>
              </a:spcAft>
              <a:defRPr sz="1061" b="0">
                <a:solidFill>
                  <a:srgbClr val="333333"/>
                </a:solidFill>
                <a:latin typeface="微软雅黑"/>
              </a:defRPr>
            </a:pPr>
            <a:r>
              <a:rPr>
                <a:ea typeface="微软雅黑"/>
              </a:rPr>
              <a:t>=E</a:t>
            </a:r>
          </a:p>
        </p:txBody>
      </p:sp>
      <p:sp>
        <p:nvSpPr>
          <p:cNvPr id="14" name="原题文字_309_50"/>
          <p:cNvSpPr txBox="1"/>
          <p:nvPr/>
        </p:nvSpPr>
        <p:spPr>
          <a:xfrm>
            <a:off x="564175" y="2747103"/>
            <a:ext cx="1831267" cy="378251"/>
          </a:xfrm>
          <a:prstGeom prst="rect">
            <a:avLst/>
          </a:prstGeom>
          <a:noFill/>
        </p:spPr>
        <p:txBody>
          <a:bodyPr wrap="none" lIns="0" rIns="0" tIns="0" bIns="0">
            <a:spAutoFit/>
          </a:bodyPr>
          <a:lstStyle/>
          <a:p>
            <a:pPr>
              <a:lnSpc>
                <a:spcPct val="112000"/>
              </a:lnSpc>
              <a:spcBef>
                <a:spcPts val="0"/>
              </a:spcBef>
              <a:spcAft>
                <a:spcPts val="0"/>
              </a:spcAft>
              <a:defRPr sz="1807" b="0">
                <a:solidFill>
                  <a:srgbClr val="333333"/>
                </a:solidFill>
                <a:latin typeface="微软雅黑"/>
              </a:defRPr>
            </a:pPr>
            <a:r>
              <a:rPr>
                <a:ea typeface="微软雅黑"/>
              </a:rPr>
              <a:t>C. 图3：收集NH₃</a:t>
            </a:r>
          </a:p>
        </p:txBody>
      </p:sp>
      <p:sp>
        <p:nvSpPr>
          <p:cNvPr id="15" name="原题文字_309_51"/>
          <p:cNvSpPr txBox="1"/>
          <p:nvPr/>
        </p:nvSpPr>
        <p:spPr>
          <a:xfrm>
            <a:off x="7110836" y="2930869"/>
            <a:ext cx="675073" cy="288665"/>
          </a:xfrm>
          <a:prstGeom prst="rect">
            <a:avLst/>
          </a:prstGeom>
          <a:noFill/>
        </p:spPr>
        <p:txBody>
          <a:bodyPr wrap="none" lIns="0" rIns="0" tIns="0" bIns="0">
            <a:spAutoFit/>
          </a:bodyPr>
          <a:lstStyle/>
          <a:p>
            <a:pPr>
              <a:lnSpc>
                <a:spcPct val="112000"/>
              </a:lnSpc>
              <a:spcBef>
                <a:spcPts val="0"/>
              </a:spcBef>
              <a:spcAft>
                <a:spcPts val="0"/>
              </a:spcAft>
              <a:defRPr sz="1358" b="0">
                <a:solidFill>
                  <a:srgbClr val="333333"/>
                </a:solidFill>
                <a:latin typeface="微软雅黑"/>
              </a:defRPr>
            </a:pPr>
            <a:r>
              <a:rPr>
                <a:ea typeface="微软雅黑"/>
              </a:rPr>
              <a:t>滴有酚酞</a:t>
            </a:r>
          </a:p>
        </p:txBody>
      </p:sp>
      <p:sp>
        <p:nvSpPr>
          <p:cNvPr id="16" name="原题文字_309_52"/>
          <p:cNvSpPr txBox="1"/>
          <p:nvPr/>
        </p:nvSpPr>
        <p:spPr>
          <a:xfrm>
            <a:off x="564175" y="3114635"/>
            <a:ext cx="1815954" cy="378251"/>
          </a:xfrm>
          <a:prstGeom prst="rect">
            <a:avLst/>
          </a:prstGeom>
          <a:noFill/>
        </p:spPr>
        <p:txBody>
          <a:bodyPr wrap="none" lIns="0" rIns="0" tIns="0" bIns="0">
            <a:spAutoFit/>
          </a:bodyPr>
          <a:lstStyle/>
          <a:p>
            <a:pPr>
              <a:lnSpc>
                <a:spcPct val="112000"/>
              </a:lnSpc>
              <a:spcBef>
                <a:spcPts val="0"/>
              </a:spcBef>
              <a:spcAft>
                <a:spcPts val="0"/>
              </a:spcAft>
              <a:defRPr sz="1774" b="0">
                <a:solidFill>
                  <a:srgbClr val="333333"/>
                </a:solidFill>
                <a:latin typeface="微软雅黑"/>
              </a:defRPr>
            </a:pPr>
            <a:r>
              <a:rPr>
                <a:ea typeface="微软雅黑"/>
              </a:rPr>
              <a:t>D. 图4：制备NH₃</a:t>
            </a:r>
          </a:p>
        </p:txBody>
      </p:sp>
      <p:sp>
        <p:nvSpPr>
          <p:cNvPr id="17" name="原题文字_309_53"/>
          <p:cNvSpPr txBox="1"/>
          <p:nvPr/>
        </p:nvSpPr>
        <p:spPr>
          <a:xfrm>
            <a:off x="7110836" y="3099321"/>
            <a:ext cx="675073" cy="288665"/>
          </a:xfrm>
          <a:prstGeom prst="rect">
            <a:avLst/>
          </a:prstGeom>
          <a:noFill/>
        </p:spPr>
        <p:txBody>
          <a:bodyPr wrap="none" lIns="0" rIns="0" tIns="0" bIns="0">
            <a:spAutoFit/>
          </a:bodyPr>
          <a:lstStyle/>
          <a:p>
            <a:pPr>
              <a:lnSpc>
                <a:spcPct val="112000"/>
              </a:lnSpc>
              <a:spcBef>
                <a:spcPts val="0"/>
              </a:spcBef>
              <a:spcAft>
                <a:spcPts val="0"/>
              </a:spcAft>
              <a:defRPr sz="1358" b="0">
                <a:solidFill>
                  <a:srgbClr val="333333"/>
                </a:solidFill>
                <a:latin typeface="微软雅黑"/>
              </a:defRPr>
            </a:pPr>
            <a:r>
              <a:rPr>
                <a:ea typeface="微软雅黑"/>
              </a:rPr>
              <a:t>的水溶液</a:t>
            </a:r>
          </a:p>
        </p:txBody>
      </p:sp>
      <p:sp>
        <p:nvSpPr>
          <p:cNvPr id="18" name="原题文字_309_54"/>
          <p:cNvSpPr txBox="1"/>
          <p:nvPr/>
        </p:nvSpPr>
        <p:spPr>
          <a:xfrm>
            <a:off x="9752471" y="3221831"/>
            <a:ext cx="376454"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CaÓ</a:t>
            </a:r>
          </a:p>
        </p:txBody>
      </p:sp>
      <p:sp>
        <p:nvSpPr>
          <p:cNvPr id="19" name="原题文字_309_55"/>
          <p:cNvSpPr txBox="1"/>
          <p:nvPr/>
        </p:nvSpPr>
        <p:spPr>
          <a:xfrm>
            <a:off x="10793811" y="3168233"/>
            <a:ext cx="552563"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浓氨水</a:t>
            </a:r>
          </a:p>
        </p:txBody>
      </p:sp>
      <p:sp>
        <p:nvSpPr>
          <p:cNvPr id="20" name="原题文字_309_56"/>
          <p:cNvSpPr txBox="1"/>
          <p:nvPr/>
        </p:nvSpPr>
        <p:spPr>
          <a:xfrm>
            <a:off x="6995982" y="3367313"/>
            <a:ext cx="330512"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图1</a:t>
            </a:r>
          </a:p>
        </p:txBody>
      </p:sp>
      <p:sp>
        <p:nvSpPr>
          <p:cNvPr id="21" name="原题文字_309_57"/>
          <p:cNvSpPr txBox="1"/>
          <p:nvPr/>
        </p:nvSpPr>
        <p:spPr>
          <a:xfrm>
            <a:off x="8244059" y="3374970"/>
            <a:ext cx="330512"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图2</a:t>
            </a:r>
          </a:p>
        </p:txBody>
      </p:sp>
      <p:sp>
        <p:nvSpPr>
          <p:cNvPr id="22" name="原题文字_309_58"/>
          <p:cNvSpPr txBox="1"/>
          <p:nvPr/>
        </p:nvSpPr>
        <p:spPr>
          <a:xfrm>
            <a:off x="9208830" y="3367313"/>
            <a:ext cx="330512"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图3</a:t>
            </a:r>
          </a:p>
        </p:txBody>
      </p:sp>
      <p:sp>
        <p:nvSpPr>
          <p:cNvPr id="23" name="原题文字_309_59"/>
          <p:cNvSpPr txBox="1"/>
          <p:nvPr/>
        </p:nvSpPr>
        <p:spPr>
          <a:xfrm>
            <a:off x="10334396" y="3367313"/>
            <a:ext cx="345826"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图4</a:t>
            </a:r>
          </a:p>
        </p:txBody>
      </p:sp>
      <p:sp>
        <p:nvSpPr>
          <p:cNvPr id="24" name="文字_单选题  ·  14-02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14-029</a:t>
            </a:r>
          </a:p>
        </p:txBody>
      </p:sp>
      <p:sp>
        <p:nvSpPr>
          <p:cNvPr id="25" name="文字_4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变式9</a:t>
            </a:r>
          </a:p>
        </p:txBody>
      </p:sp>
      <p:sp>
        <p:nvSpPr>
          <p:cNvPr id="5" name="文字_P31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P310</a:t>
            </a:r>
          </a:p>
        </p:txBody>
      </p:sp>
      <p:sp>
        <p:nvSpPr>
          <p:cNvPr id="6" name="文字_某课外活动小组在实验室用如图所示装置快速制取氨并"/>
          <p:cNvSpPr txBox="1"/>
          <p:nvPr/>
        </p:nvSpPr>
        <p:spPr>
          <a:xfrm>
            <a:off x="502920" y="1078992"/>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某课外活动小组在实验室用如图所示装置快速制取氨并验证氨的某些性质，同时收集少量纯净的氮气。</a:t>
            </a:r>
          </a:p>
        </p:txBody>
      </p:sp>
      <p:pic>
        <p:nvPicPr>
          <p:cNvPr id="7" name="Picture 6" descr="image.png"/>
          <p:cNvPicPr>
            <a:picLocks noChangeAspect="1"/>
          </p:cNvPicPr>
          <p:nvPr/>
        </p:nvPicPr>
        <p:blipFill>
          <a:blip r:embed="rId3"/>
          <a:stretch>
            <a:fillRect/>
          </a:stretch>
        </p:blipFill>
        <p:spPr>
          <a:xfrm>
            <a:off x="502920" y="1408176"/>
            <a:ext cx="11064240" cy="2695233"/>
          </a:xfrm>
          <a:prstGeom prst="rect">
            <a:avLst/>
          </a:prstGeom>
        </p:spPr>
      </p:pic>
      <p:sp>
        <p:nvSpPr>
          <p:cNvPr id="8" name="原题文字_310_4"/>
          <p:cNvSpPr txBox="1"/>
          <p:nvPr/>
        </p:nvSpPr>
        <p:spPr>
          <a:xfrm>
            <a:off x="1567230" y="1585541"/>
            <a:ext cx="26925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A</a:t>
            </a:r>
          </a:p>
        </p:txBody>
      </p:sp>
      <p:sp>
        <p:nvSpPr>
          <p:cNvPr id="9" name="原题文字_310_5"/>
          <p:cNvSpPr txBox="1"/>
          <p:nvPr/>
        </p:nvSpPr>
        <p:spPr>
          <a:xfrm>
            <a:off x="1796938" y="1715708"/>
            <a:ext cx="897124"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浓氨水</a:t>
            </a:r>
          </a:p>
        </p:txBody>
      </p:sp>
      <p:sp>
        <p:nvSpPr>
          <p:cNvPr id="10" name="原题文字_310_6"/>
          <p:cNvSpPr txBox="1"/>
          <p:nvPr/>
        </p:nvSpPr>
        <p:spPr>
          <a:xfrm>
            <a:off x="3672882" y="1999014"/>
            <a:ext cx="552563"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CuO</a:t>
            </a:r>
          </a:p>
        </p:txBody>
      </p:sp>
      <p:sp>
        <p:nvSpPr>
          <p:cNvPr id="11" name="原题文字_310_7"/>
          <p:cNvSpPr txBox="1"/>
          <p:nvPr/>
        </p:nvSpPr>
        <p:spPr>
          <a:xfrm>
            <a:off x="4568741" y="2014328"/>
            <a:ext cx="27691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C</a:t>
            </a:r>
          </a:p>
        </p:txBody>
      </p:sp>
      <p:sp>
        <p:nvSpPr>
          <p:cNvPr id="12" name="原题文字_310_8"/>
          <p:cNvSpPr txBox="1"/>
          <p:nvPr/>
        </p:nvSpPr>
        <p:spPr>
          <a:xfrm>
            <a:off x="2493717" y="2090897"/>
            <a:ext cx="27691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E</a:t>
            </a:r>
          </a:p>
        </p:txBody>
      </p:sp>
      <p:sp>
        <p:nvSpPr>
          <p:cNvPr id="13" name="原题文字_310_9"/>
          <p:cNvSpPr txBox="1"/>
          <p:nvPr/>
        </p:nvSpPr>
        <p:spPr>
          <a:xfrm>
            <a:off x="5380373" y="2121525"/>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F</a:t>
            </a:r>
          </a:p>
        </p:txBody>
      </p:sp>
      <p:sp>
        <p:nvSpPr>
          <p:cNvPr id="14" name="原题文字_310_10"/>
          <p:cNvSpPr txBox="1"/>
          <p:nvPr/>
        </p:nvSpPr>
        <p:spPr>
          <a:xfrm>
            <a:off x="2126185" y="2856588"/>
            <a:ext cx="889467"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碱石灰</a:t>
            </a:r>
          </a:p>
        </p:txBody>
      </p:sp>
      <p:sp>
        <p:nvSpPr>
          <p:cNvPr id="15" name="原题文字_310_11"/>
          <p:cNvSpPr txBox="1"/>
          <p:nvPr/>
        </p:nvSpPr>
        <p:spPr>
          <a:xfrm>
            <a:off x="4737193" y="2956128"/>
            <a:ext cx="1341225"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无水硫酸铜</a:t>
            </a:r>
          </a:p>
        </p:txBody>
      </p:sp>
      <p:sp>
        <p:nvSpPr>
          <p:cNvPr id="16" name="原题文字_310_12"/>
          <p:cNvSpPr txBox="1"/>
          <p:nvPr/>
        </p:nvSpPr>
        <p:spPr>
          <a:xfrm>
            <a:off x="1942419" y="3201149"/>
            <a:ext cx="26925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B</a:t>
            </a:r>
          </a:p>
        </p:txBody>
      </p:sp>
      <p:sp>
        <p:nvSpPr>
          <p:cNvPr id="17" name="原题文字_310_13"/>
          <p:cNvSpPr txBox="1"/>
          <p:nvPr/>
        </p:nvSpPr>
        <p:spPr>
          <a:xfrm>
            <a:off x="6927070" y="3162865"/>
            <a:ext cx="29988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D</a:t>
            </a:r>
          </a:p>
        </p:txBody>
      </p:sp>
      <p:sp>
        <p:nvSpPr>
          <p:cNvPr id="18" name="原题文字_310_14"/>
          <p:cNvSpPr txBox="1"/>
          <p:nvPr/>
        </p:nvSpPr>
        <p:spPr>
          <a:xfrm>
            <a:off x="1980704" y="3407886"/>
            <a:ext cx="881810"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生石灰</a:t>
            </a:r>
          </a:p>
        </p:txBody>
      </p:sp>
      <p:sp>
        <p:nvSpPr>
          <p:cNvPr id="19" name="原题文字_310_15"/>
          <p:cNvSpPr txBox="1"/>
          <p:nvPr/>
        </p:nvSpPr>
        <p:spPr>
          <a:xfrm>
            <a:off x="5319118" y="3622280"/>
            <a:ext cx="897124"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浓硫酸</a:t>
            </a:r>
          </a:p>
        </p:txBody>
      </p:sp>
      <p:sp>
        <p:nvSpPr>
          <p:cNvPr id="20" name="文字_(1)解释生石灰与浓氨水反应能够放出NH₃的原因"/>
          <p:cNvSpPr txBox="1"/>
          <p:nvPr/>
        </p:nvSpPr>
        <p:spPr>
          <a:xfrm>
            <a:off x="502920" y="4176561"/>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(1)解释生石灰与浓氨水反应能够放出NH₃的原因</a:t>
            </a:r>
          </a:p>
        </p:txBody>
      </p:sp>
      <p:sp>
        <p:nvSpPr>
          <p:cNvPr id="21" name="文字_(2)实验进行一段时间后，观察到硬质玻璃管内黑色"/>
          <p:cNvSpPr txBox="1"/>
          <p:nvPr/>
        </p:nvSpPr>
        <p:spPr>
          <a:xfrm>
            <a:off x="502920" y="4505745"/>
            <a:ext cx="11064240" cy="873251"/>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(2)实验进行一段时间后，观察到硬质玻璃管内黑色氧化铜粉末变为红色，盛无水硫酸铜的干燥管内出现蓝色，</a:t>
            </a:r>
          </a:p>
          <a:p>
            <a:pPr>
              <a:lnSpc>
                <a:spcPct val="112000"/>
              </a:lnSpc>
              <a:spcBef>
                <a:spcPts val="0"/>
              </a:spcBef>
              <a:spcAft>
                <a:spcPts val="0"/>
              </a:spcAft>
              <a:defRPr sz="1800" b="0">
                <a:solidFill>
                  <a:srgbClr val="333333"/>
                </a:solidFill>
                <a:latin typeface="微软雅黑"/>
              </a:defRPr>
            </a:pPr>
            <a:r>
              <a:rPr>
                <a:ea typeface="微软雅黑"/>
              </a:rPr>
              <a:t>并且在最后的出气导管口处收集到纯净、干燥的氮气。根据这些现象，写出在硬质玻璃管内发生反应的化学方</a:t>
            </a:r>
          </a:p>
          <a:p>
            <a:pPr>
              <a:lnSpc>
                <a:spcPct val="112000"/>
              </a:lnSpc>
              <a:spcBef>
                <a:spcPts val="0"/>
              </a:spcBef>
              <a:spcAft>
                <a:spcPts val="0"/>
              </a:spcAft>
              <a:defRPr sz="1800" b="0">
                <a:solidFill>
                  <a:srgbClr val="333333"/>
                </a:solidFill>
                <a:latin typeface="微软雅黑"/>
              </a:defRPr>
            </a:pPr>
            <a:r>
              <a:rPr>
                <a:ea typeface="微软雅黑"/>
              </a:rPr>
              <a:t>程式 ，这个反应说明氨具有 ______ (填字母)。</a:t>
            </a:r>
          </a:p>
        </p:txBody>
      </p:sp>
      <p:sp>
        <p:nvSpPr>
          <p:cNvPr id="22" name="文字_A. 碱性 B. 还原性 C. 氧化性 D. 不"/>
          <p:cNvSpPr txBox="1"/>
          <p:nvPr/>
        </p:nvSpPr>
        <p:spPr>
          <a:xfrm>
            <a:off x="502920" y="5378997"/>
            <a:ext cx="11064240" cy="329184"/>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A. 碱性 B. 还原性 C. 氧化性 D. 不稳定性</a:t>
            </a:r>
          </a:p>
        </p:txBody>
      </p:sp>
      <p:sp>
        <p:nvSpPr>
          <p:cNvPr id="23" name="文字_(3)装置E的作用是 ______ ，装置F的作"/>
          <p:cNvSpPr txBox="1"/>
          <p:nvPr/>
        </p:nvSpPr>
        <p:spPr>
          <a:xfrm>
            <a:off x="502920" y="5708181"/>
            <a:ext cx="11064240" cy="601218"/>
          </a:xfrm>
          <a:prstGeom prst="rect">
            <a:avLst/>
          </a:prstGeom>
          <a:noFill/>
        </p:spPr>
        <p:txBody>
          <a:bodyPr wrap="square" lIns="0" rIns="0" tIns="0" bIns="0">
            <a:spAutoFit/>
          </a:bodyPr>
          <a:lstStyle/>
          <a:p>
            <a:pPr>
              <a:lnSpc>
                <a:spcPct val="112000"/>
              </a:lnSpc>
              <a:spcBef>
                <a:spcPts val="0"/>
              </a:spcBef>
              <a:spcAft>
                <a:spcPts val="0"/>
              </a:spcAft>
              <a:defRPr sz="1800" b="0">
                <a:solidFill>
                  <a:srgbClr val="333333"/>
                </a:solidFill>
                <a:latin typeface="微软雅黑"/>
              </a:defRPr>
            </a:pPr>
            <a:r>
              <a:rPr>
                <a:ea typeface="微软雅黑"/>
              </a:rPr>
              <a:t>(3)装置E的作用是 ______ ，装置F的作用是 ______ 。装置E中的碱石灰 ______ (填“能”或“不能”)换成CaCl₂</a:t>
            </a:r>
          </a:p>
          <a:p>
            <a:pPr>
              <a:lnSpc>
                <a:spcPct val="112000"/>
              </a:lnSpc>
              <a:spcBef>
                <a:spcPts val="0"/>
              </a:spcBef>
              <a:spcAft>
                <a:spcPts val="0"/>
              </a:spcAft>
              <a:defRPr sz="1800" b="0">
                <a:solidFill>
                  <a:srgbClr val="333333"/>
                </a:solidFill>
                <a:latin typeface="微软雅黑"/>
              </a:defRPr>
            </a:pPr>
            <a:r>
              <a:rPr>
                <a:ea typeface="微软雅黑"/>
              </a:rPr>
              <a:t>。</a:t>
            </a:r>
          </a:p>
        </p:txBody>
      </p:sp>
      <p:sp>
        <p:nvSpPr>
          <p:cNvPr id="24" name="文字_解答题  ·  14-03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14-030</a:t>
            </a:r>
          </a:p>
        </p:txBody>
      </p:sp>
      <p:sp>
        <p:nvSpPr>
          <p:cNvPr id="25" name="文字_4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变式10</a:t>
            </a:r>
          </a:p>
        </p:txBody>
      </p:sp>
      <p:sp>
        <p:nvSpPr>
          <p:cNvPr id="5" name="文字_P31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P310</a:t>
            </a:r>
          </a:p>
        </p:txBody>
      </p:sp>
      <p:sp>
        <p:nvSpPr>
          <p:cNvPr id="6" name="文字_A、B、C、D为原子序数依次增大的短周期元素，其"/>
          <p:cNvSpPr txBox="1"/>
          <p:nvPr/>
        </p:nvSpPr>
        <p:spPr>
          <a:xfrm>
            <a:off x="502920" y="1078992"/>
            <a:ext cx="11064240" cy="1067308"/>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A、B、C、D为原子序数依次增大的短周期元素，其最外层电子数之和为16；A₂、B₂、</a:t>
            </a:r>
          </a:p>
          <a:p>
            <a:pPr>
              <a:lnSpc>
                <a:spcPct val="112000"/>
              </a:lnSpc>
              <a:spcBef>
                <a:spcPts val="0"/>
              </a:spcBef>
              <a:spcAft>
                <a:spcPts val="0"/>
              </a:spcAft>
              <a:defRPr sz="2200" b="0">
                <a:solidFill>
                  <a:srgbClr val="333333"/>
                </a:solidFill>
                <a:latin typeface="微软雅黑"/>
              </a:defRPr>
            </a:pPr>
            <a:r>
              <a:rPr>
                <a:ea typeface="微软雅黑"/>
              </a:rPr>
              <a:t>D₂为单质，X、Y、Z为化合物，其转化关系如右图所示，z的阴离子为18电子微粒。回答</a:t>
            </a:r>
          </a:p>
          <a:p>
            <a:pPr>
              <a:lnSpc>
                <a:spcPct val="112000"/>
              </a:lnSpc>
              <a:spcBef>
                <a:spcPts val="0"/>
              </a:spcBef>
              <a:spcAft>
                <a:spcPts val="0"/>
              </a:spcAft>
              <a:defRPr sz="2200" b="0">
                <a:solidFill>
                  <a:srgbClr val="333333"/>
                </a:solidFill>
                <a:latin typeface="微软雅黑"/>
              </a:defRPr>
            </a:pPr>
            <a:r>
              <a:rPr>
                <a:ea typeface="微软雅黑"/>
              </a:rPr>
              <a:t>以下问题：</a:t>
            </a:r>
          </a:p>
        </p:txBody>
      </p:sp>
      <p:pic>
        <p:nvPicPr>
          <p:cNvPr id="7" name="Picture 6" descr="image.png"/>
          <p:cNvPicPr>
            <a:picLocks noChangeAspect="1"/>
          </p:cNvPicPr>
          <p:nvPr/>
        </p:nvPicPr>
        <p:blipFill>
          <a:blip r:embed="rId3"/>
          <a:stretch>
            <a:fillRect/>
          </a:stretch>
        </p:blipFill>
        <p:spPr>
          <a:xfrm>
            <a:off x="502920" y="2146300"/>
            <a:ext cx="11064240" cy="1814688"/>
          </a:xfrm>
          <a:prstGeom prst="rect">
            <a:avLst/>
          </a:prstGeom>
        </p:spPr>
      </p:pic>
      <p:sp>
        <p:nvSpPr>
          <p:cNvPr id="8" name="原题文字_310_35"/>
          <p:cNvSpPr txBox="1"/>
          <p:nvPr/>
        </p:nvSpPr>
        <p:spPr>
          <a:xfrm>
            <a:off x="694342" y="2277723"/>
            <a:ext cx="422395"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B₂</a:t>
            </a:r>
          </a:p>
        </p:txBody>
      </p:sp>
      <p:sp>
        <p:nvSpPr>
          <p:cNvPr id="9" name="原题文字_310_36"/>
          <p:cNvSpPr txBox="1"/>
          <p:nvPr/>
        </p:nvSpPr>
        <p:spPr>
          <a:xfrm>
            <a:off x="1812252" y="2606970"/>
            <a:ext cx="368797"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X</a:t>
            </a:r>
          </a:p>
        </p:txBody>
      </p:sp>
      <p:sp>
        <p:nvSpPr>
          <p:cNvPr id="10" name="原题文字_310_37"/>
          <p:cNvSpPr txBox="1"/>
          <p:nvPr/>
        </p:nvSpPr>
        <p:spPr>
          <a:xfrm>
            <a:off x="648401" y="2890276"/>
            <a:ext cx="491308" cy="517607"/>
          </a:xfrm>
          <a:prstGeom prst="rect">
            <a:avLst/>
          </a:prstGeom>
          <a:noFill/>
        </p:spPr>
        <p:txBody>
          <a:bodyPr wrap="none" lIns="0" rIns="0" tIns="0" bIns="0">
            <a:spAutoFit/>
          </a:bodyPr>
          <a:lstStyle/>
          <a:p>
            <a:pPr>
              <a:lnSpc>
                <a:spcPct val="112000"/>
              </a:lnSpc>
              <a:spcBef>
                <a:spcPts val="0"/>
              </a:spcBef>
              <a:spcAft>
                <a:spcPts val="0"/>
              </a:spcAft>
              <a:defRPr sz="2508" b="0">
                <a:solidFill>
                  <a:srgbClr val="333333"/>
                </a:solidFill>
                <a:latin typeface="微软雅黑"/>
              </a:defRPr>
            </a:pPr>
            <a:r>
              <a:rPr>
                <a:ea typeface="微软雅黑"/>
              </a:rPr>
              <a:t>A₂</a:t>
            </a:r>
          </a:p>
        </p:txBody>
      </p:sp>
      <p:sp>
        <p:nvSpPr>
          <p:cNvPr id="11" name="原题文字_310_38"/>
          <p:cNvSpPr txBox="1"/>
          <p:nvPr/>
        </p:nvSpPr>
        <p:spPr>
          <a:xfrm>
            <a:off x="3006730" y="2966845"/>
            <a:ext cx="29222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Z</a:t>
            </a:r>
          </a:p>
        </p:txBody>
      </p:sp>
      <p:sp>
        <p:nvSpPr>
          <p:cNvPr id="12" name="原题文字_310_39"/>
          <p:cNvSpPr txBox="1"/>
          <p:nvPr/>
        </p:nvSpPr>
        <p:spPr>
          <a:xfrm>
            <a:off x="1873507" y="3296093"/>
            <a:ext cx="276914"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Y</a:t>
            </a:r>
          </a:p>
        </p:txBody>
      </p:sp>
      <p:sp>
        <p:nvSpPr>
          <p:cNvPr id="13" name="原题文字_310_40"/>
          <p:cNvSpPr txBox="1"/>
          <p:nvPr/>
        </p:nvSpPr>
        <p:spPr>
          <a:xfrm>
            <a:off x="656058" y="3556428"/>
            <a:ext cx="468337"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D₂</a:t>
            </a:r>
          </a:p>
        </p:txBody>
      </p:sp>
      <p:sp>
        <p:nvSpPr>
          <p:cNvPr id="14" name="文字_(1)元素C在周期表中的位置为 ______ ，"/>
          <p:cNvSpPr txBox="1"/>
          <p:nvPr/>
        </p:nvSpPr>
        <p:spPr>
          <a:xfrm>
            <a:off x="502920" y="4034140"/>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(1)元素C在周期表中的位置为 ______ ，z的电子式为</a:t>
            </a:r>
          </a:p>
        </p:txBody>
      </p:sp>
      <p:sp>
        <p:nvSpPr>
          <p:cNvPr id="15" name="文字_(2) B、C、D简单离子半径由大到小顺序为 _"/>
          <p:cNvSpPr txBox="1"/>
          <p:nvPr/>
        </p:nvSpPr>
        <p:spPr>
          <a:xfrm>
            <a:off x="502920" y="4436476"/>
            <a:ext cx="11064240" cy="734822"/>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(2) B、C、D简单离子半径由大到小顺序为 ______ (用元素符号表示)，C和D形成 ______ 化</a:t>
            </a:r>
          </a:p>
          <a:p>
            <a:pPr>
              <a:lnSpc>
                <a:spcPct val="112000"/>
              </a:lnSpc>
              <a:spcBef>
                <a:spcPts val="0"/>
              </a:spcBef>
              <a:spcAft>
                <a:spcPts val="0"/>
              </a:spcAft>
              <a:defRPr sz="2200" b="0">
                <a:solidFill>
                  <a:srgbClr val="333333"/>
                </a:solidFill>
                <a:latin typeface="微软雅黑"/>
              </a:defRPr>
            </a:pPr>
            <a:r>
              <a:rPr>
                <a:ea typeface="微软雅黑"/>
              </a:rPr>
              <a:t>合物(填“离子”或“共价”)。</a:t>
            </a:r>
          </a:p>
        </p:txBody>
      </p:sp>
      <p:sp>
        <p:nvSpPr>
          <p:cNvPr id="16" name="文字_(3) A与B形成的18电子微粒的化学式为 __"/>
          <p:cNvSpPr txBox="1"/>
          <p:nvPr/>
        </p:nvSpPr>
        <p:spPr>
          <a:xfrm>
            <a:off x="502920" y="5171298"/>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(3) A与B形成的18电子微粒的化学式为 ______ O</a:t>
            </a:r>
          </a:p>
        </p:txBody>
      </p:sp>
      <p:sp>
        <p:nvSpPr>
          <p:cNvPr id="17" name="文字_(4)实验室制备X的化学方程式为 ______ "/>
          <p:cNvSpPr txBox="1"/>
          <p:nvPr/>
        </p:nvSpPr>
        <p:spPr>
          <a:xfrm>
            <a:off x="502920" y="5573634"/>
            <a:ext cx="11064240" cy="734822"/>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(4)实验室制备X的化学方程式为 ______ 向C的氯化物溶液中加入过量X的水溶液，现象为 _</a:t>
            </a:r>
          </a:p>
          <a:p>
            <a:pPr>
              <a:lnSpc>
                <a:spcPct val="112000"/>
              </a:lnSpc>
              <a:spcBef>
                <a:spcPts val="0"/>
              </a:spcBef>
              <a:spcAft>
                <a:spcPts val="0"/>
              </a:spcAft>
              <a:defRPr sz="2200" b="0">
                <a:solidFill>
                  <a:srgbClr val="333333"/>
                </a:solidFill>
                <a:latin typeface="微软雅黑"/>
              </a:defRPr>
            </a:pPr>
            <a:r>
              <a:rPr>
                <a:ea typeface="微软雅黑"/>
              </a:rPr>
              <a:t>_____ ，离子方程式为 ______ O</a:t>
            </a:r>
          </a:p>
        </p:txBody>
      </p:sp>
      <p:sp>
        <p:nvSpPr>
          <p:cNvPr id="18" name="文字_推断题  ·  14-03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推断题  ·  14-031</a:t>
            </a:r>
          </a:p>
        </p:txBody>
      </p:sp>
      <p:sp>
        <p:nvSpPr>
          <p:cNvPr id="19" name="文字_4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氨气及铵盐的物理 · 变式1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氨气及铵盐的物理 · 变式11</a:t>
            </a:r>
          </a:p>
        </p:txBody>
      </p:sp>
      <p:sp>
        <p:nvSpPr>
          <p:cNvPr id="5" name="文字_P31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P311</a:t>
            </a:r>
          </a:p>
        </p:txBody>
      </p:sp>
      <p:sp>
        <p:nvSpPr>
          <p:cNvPr id="6" name="文字_NOx是主要的大气污染物。某小组认为一定条件下，"/>
          <p:cNvSpPr txBox="1"/>
          <p:nvPr/>
        </p:nvSpPr>
        <p:spPr>
          <a:xfrm>
            <a:off x="502920" y="1078992"/>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NOx是主要的大气污染物。某小组认为一定条件下，用NH₃</a:t>
            </a:r>
          </a:p>
          <a:p>
            <a:pPr>
              <a:lnSpc>
                <a:spcPct val="112000"/>
              </a:lnSpc>
              <a:spcBef>
                <a:spcPts val="0"/>
              </a:spcBef>
              <a:spcAft>
                <a:spcPts val="0"/>
              </a:spcAft>
              <a:defRPr sz="1600" b="0">
                <a:solidFill>
                  <a:srgbClr val="333333"/>
                </a:solidFill>
                <a:latin typeface="微软雅黑"/>
              </a:defRPr>
            </a:pPr>
            <a:r>
              <a:rPr>
                <a:ea typeface="微软雅黑"/>
              </a:rPr>
              <a:t>与NO₂反应转化为无污染物质可进行汽车尾气无害化处理。</a:t>
            </a:r>
          </a:p>
        </p:txBody>
      </p:sp>
      <p:sp>
        <p:nvSpPr>
          <p:cNvPr id="7" name="文字_(1)用下图装置制备、干燥、收集、检验氨气。"/>
          <p:cNvSpPr txBox="1"/>
          <p:nvPr/>
        </p:nvSpPr>
        <p:spPr>
          <a:xfrm>
            <a:off x="502920" y="1613408"/>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(1)用下图装置制备、干燥、收集、检验氨气。</a:t>
            </a:r>
          </a:p>
        </p:txBody>
      </p:sp>
      <p:pic>
        <p:nvPicPr>
          <p:cNvPr id="8" name="Picture 7" descr="image.png"/>
          <p:cNvPicPr>
            <a:picLocks noChangeAspect="1"/>
          </p:cNvPicPr>
          <p:nvPr/>
        </p:nvPicPr>
        <p:blipFill>
          <a:blip r:embed="rId3"/>
          <a:stretch>
            <a:fillRect/>
          </a:stretch>
        </p:blipFill>
        <p:spPr>
          <a:xfrm>
            <a:off x="502920" y="1906016"/>
            <a:ext cx="5376672" cy="1395330"/>
          </a:xfrm>
          <a:prstGeom prst="rect">
            <a:avLst/>
          </a:prstGeom>
        </p:spPr>
      </p:pic>
      <p:sp>
        <p:nvSpPr>
          <p:cNvPr id="9" name="原题文字_311_7"/>
          <p:cNvSpPr txBox="1"/>
          <p:nvPr/>
        </p:nvSpPr>
        <p:spPr>
          <a:xfrm>
            <a:off x="834078" y="2089380"/>
            <a:ext cx="486486" cy="164462"/>
          </a:xfrm>
          <a:prstGeom prst="rect">
            <a:avLst/>
          </a:prstGeom>
          <a:noFill/>
        </p:spPr>
        <p:txBody>
          <a:bodyPr wrap="none" lIns="0" rIns="0" tIns="0" bIns="0">
            <a:spAutoFit/>
          </a:bodyPr>
          <a:lstStyle/>
          <a:p>
            <a:pPr>
              <a:lnSpc>
                <a:spcPct val="112000"/>
              </a:lnSpc>
              <a:spcBef>
                <a:spcPts val="0"/>
              </a:spcBef>
              <a:spcAft>
                <a:spcPts val="0"/>
              </a:spcAft>
              <a:defRPr sz="777" b="0">
                <a:solidFill>
                  <a:srgbClr val="333333"/>
                </a:solidFill>
                <a:latin typeface="微软雅黑"/>
              </a:defRPr>
            </a:pPr>
            <a:r>
              <a:rPr>
                <a:ea typeface="微软雅黑"/>
              </a:rPr>
              <a:t>Ca(OH)₂和</a:t>
            </a:r>
          </a:p>
        </p:txBody>
      </p:sp>
      <p:sp>
        <p:nvSpPr>
          <p:cNvPr id="10" name="原题文字_311_8"/>
          <p:cNvSpPr txBox="1"/>
          <p:nvPr/>
        </p:nvSpPr>
        <p:spPr>
          <a:xfrm>
            <a:off x="834078" y="2178681"/>
            <a:ext cx="319046"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NH₄Cl</a:t>
            </a:r>
          </a:p>
        </p:txBody>
      </p:sp>
      <p:sp>
        <p:nvSpPr>
          <p:cNvPr id="11" name="原题文字_311_9"/>
          <p:cNvSpPr txBox="1"/>
          <p:nvPr/>
        </p:nvSpPr>
        <p:spPr>
          <a:xfrm>
            <a:off x="2426615" y="2316353"/>
            <a:ext cx="240908" cy="178974"/>
          </a:xfrm>
          <a:prstGeom prst="rect">
            <a:avLst/>
          </a:prstGeom>
          <a:noFill/>
        </p:spPr>
        <p:txBody>
          <a:bodyPr wrap="none" lIns="0" rIns="0" tIns="0" bIns="0">
            <a:spAutoFit/>
          </a:bodyPr>
          <a:lstStyle/>
          <a:p>
            <a:pPr>
              <a:lnSpc>
                <a:spcPct val="112000"/>
              </a:lnSpc>
              <a:spcBef>
                <a:spcPts val="0"/>
              </a:spcBef>
              <a:spcAft>
                <a:spcPts val="0"/>
              </a:spcAft>
              <a:defRPr sz="867" b="0">
                <a:solidFill>
                  <a:srgbClr val="333333"/>
                </a:solidFill>
                <a:latin typeface="微软雅黑"/>
              </a:defRPr>
            </a:pPr>
            <a:r>
              <a:rPr>
                <a:ea typeface="微软雅黑"/>
              </a:rPr>
              <a:t>0 K</a:t>
            </a:r>
          </a:p>
        </p:txBody>
      </p:sp>
      <p:sp>
        <p:nvSpPr>
          <p:cNvPr id="12" name="原题文字_311_10"/>
          <p:cNvSpPr txBox="1"/>
          <p:nvPr/>
        </p:nvSpPr>
        <p:spPr>
          <a:xfrm>
            <a:off x="2861958" y="2963786"/>
            <a:ext cx="170211" cy="246694"/>
          </a:xfrm>
          <a:prstGeom prst="rect">
            <a:avLst/>
          </a:prstGeom>
          <a:noFill/>
        </p:spPr>
        <p:txBody>
          <a:bodyPr wrap="none" lIns="0" rIns="0" tIns="0" bIns="0">
            <a:spAutoFit/>
          </a:bodyPr>
          <a:lstStyle/>
          <a:p>
            <a:pPr>
              <a:lnSpc>
                <a:spcPct val="112000"/>
              </a:lnSpc>
              <a:spcBef>
                <a:spcPts val="0"/>
              </a:spcBef>
              <a:spcAft>
                <a:spcPts val="0"/>
              </a:spcAft>
              <a:defRPr sz="788" b="0">
                <a:solidFill>
                  <a:srgbClr val="333333"/>
                </a:solidFill>
                <a:latin typeface="微软雅黑"/>
              </a:defRPr>
            </a:pPr>
            <a:r>
              <a:rPr>
                <a:ea typeface="微软雅黑"/>
              </a:rPr>
              <a:t>水D</a:t>
            </a:r>
          </a:p>
        </p:txBody>
      </p:sp>
      <p:sp>
        <p:nvSpPr>
          <p:cNvPr id="13" name="原题文字_311_11"/>
          <p:cNvSpPr txBox="1"/>
          <p:nvPr/>
        </p:nvSpPr>
        <p:spPr>
          <a:xfrm>
            <a:off x="1057331" y="3049367"/>
            <a:ext cx="144165" cy="125765"/>
          </a:xfrm>
          <a:prstGeom prst="rect">
            <a:avLst/>
          </a:prstGeom>
          <a:noFill/>
        </p:spPr>
        <p:txBody>
          <a:bodyPr wrap="none" lIns="0" rIns="0" tIns="0" bIns="0">
            <a:spAutoFit/>
          </a:bodyPr>
          <a:lstStyle/>
          <a:p>
            <a:pPr>
              <a:lnSpc>
                <a:spcPct val="112000"/>
              </a:lnSpc>
              <a:spcBef>
                <a:spcPts val="0"/>
              </a:spcBef>
              <a:spcAft>
                <a:spcPts val="0"/>
              </a:spcAft>
              <a:defRPr sz="609" b="0">
                <a:solidFill>
                  <a:srgbClr val="333333"/>
                </a:solidFill>
                <a:latin typeface="微软雅黑"/>
              </a:defRPr>
            </a:pPr>
            <a:r>
              <a:rPr>
                <a:ea typeface="微软雅黑"/>
              </a:rPr>
              <a:t>A</a:t>
            </a:r>
          </a:p>
        </p:txBody>
      </p:sp>
      <p:sp>
        <p:nvSpPr>
          <p:cNvPr id="14" name="原题文字_311_12"/>
          <p:cNvSpPr txBox="1"/>
          <p:nvPr/>
        </p:nvSpPr>
        <p:spPr>
          <a:xfrm>
            <a:off x="1864762" y="3049367"/>
            <a:ext cx="144165" cy="1209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B</a:t>
            </a:r>
          </a:p>
        </p:txBody>
      </p:sp>
      <p:sp>
        <p:nvSpPr>
          <p:cNvPr id="15" name="原题文字_311_13"/>
          <p:cNvSpPr txBox="1"/>
          <p:nvPr/>
        </p:nvSpPr>
        <p:spPr>
          <a:xfrm>
            <a:off x="2378243" y="3045646"/>
            <a:ext cx="140444" cy="130602"/>
          </a:xfrm>
          <a:prstGeom prst="rect">
            <a:avLst/>
          </a:prstGeom>
          <a:noFill/>
        </p:spPr>
        <p:txBody>
          <a:bodyPr wrap="none" lIns="0" rIns="0" tIns="0" bIns="0">
            <a:spAutoFit/>
          </a:bodyPr>
          <a:lstStyle/>
          <a:p>
            <a:pPr>
              <a:lnSpc>
                <a:spcPct val="112000"/>
              </a:lnSpc>
              <a:spcBef>
                <a:spcPts val="0"/>
              </a:spcBef>
              <a:spcAft>
                <a:spcPts val="0"/>
              </a:spcAft>
              <a:defRPr sz="632" b="0">
                <a:solidFill>
                  <a:srgbClr val="333333"/>
                </a:solidFill>
                <a:latin typeface="微软雅黑"/>
              </a:defRPr>
            </a:pPr>
            <a:r>
              <a:rPr>
                <a:ea typeface="微软雅黑"/>
              </a:rPr>
              <a:t>C</a:t>
            </a:r>
          </a:p>
        </p:txBody>
      </p:sp>
      <p:sp>
        <p:nvSpPr>
          <p:cNvPr id="16" name="原题文字_311_14"/>
          <p:cNvSpPr txBox="1"/>
          <p:nvPr/>
        </p:nvSpPr>
        <p:spPr>
          <a:xfrm>
            <a:off x="811753" y="3153551"/>
            <a:ext cx="1491123" cy="159625"/>
          </a:xfrm>
          <a:prstGeom prst="rect">
            <a:avLst/>
          </a:prstGeom>
          <a:noFill/>
        </p:spPr>
        <p:txBody>
          <a:bodyPr wrap="none" lIns="0" rIns="0" tIns="0" bIns="0">
            <a:spAutoFit/>
          </a:bodyPr>
          <a:lstStyle/>
          <a:p>
            <a:pPr>
              <a:lnSpc>
                <a:spcPct val="112000"/>
              </a:lnSpc>
              <a:spcBef>
                <a:spcPts val="0"/>
              </a:spcBef>
              <a:spcAft>
                <a:spcPts val="0"/>
              </a:spcAft>
              <a:defRPr sz="773" b="0">
                <a:solidFill>
                  <a:srgbClr val="333333"/>
                </a:solidFill>
                <a:latin typeface="微软雅黑"/>
              </a:defRPr>
            </a:pPr>
            <a:r>
              <a:rPr>
                <a:ea typeface="微软雅黑"/>
              </a:rPr>
              <a:t>①A中发生反应的化学方程式为</a:t>
            </a:r>
          </a:p>
        </p:txBody>
      </p:sp>
      <p:sp>
        <p:nvSpPr>
          <p:cNvPr id="17" name="文字_②B中的试剂是 ______ o"/>
          <p:cNvSpPr txBox="1"/>
          <p:nvPr/>
        </p:nvSpPr>
        <p:spPr>
          <a:xfrm>
            <a:off x="502920" y="3374498"/>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②B中的试剂是 ______ o</a:t>
            </a:r>
          </a:p>
        </p:txBody>
      </p:sp>
      <p:sp>
        <p:nvSpPr>
          <p:cNvPr id="18" name="文字_③下列装置可以代替D装置的是"/>
          <p:cNvSpPr txBox="1"/>
          <p:nvPr/>
        </p:nvSpPr>
        <p:spPr>
          <a:xfrm>
            <a:off x="502920" y="3667106"/>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③下列装置可以代替D装置的是</a:t>
            </a:r>
          </a:p>
        </p:txBody>
      </p:sp>
      <p:pic>
        <p:nvPicPr>
          <p:cNvPr id="19" name="Picture 18" descr="image.png"/>
          <p:cNvPicPr>
            <a:picLocks noChangeAspect="1"/>
          </p:cNvPicPr>
          <p:nvPr/>
        </p:nvPicPr>
        <p:blipFill>
          <a:blip r:embed="rId4"/>
          <a:stretch>
            <a:fillRect/>
          </a:stretch>
        </p:blipFill>
        <p:spPr>
          <a:xfrm>
            <a:off x="502920" y="3959714"/>
            <a:ext cx="5376672" cy="755338"/>
          </a:xfrm>
          <a:prstGeom prst="rect">
            <a:avLst/>
          </a:prstGeom>
        </p:spPr>
      </p:pic>
      <p:sp>
        <p:nvSpPr>
          <p:cNvPr id="20" name="原题文字_311_18"/>
          <p:cNvSpPr txBox="1"/>
          <p:nvPr/>
        </p:nvSpPr>
        <p:spPr>
          <a:xfrm>
            <a:off x="2467544" y="4012847"/>
            <a:ext cx="237187"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NH₃</a:t>
            </a:r>
          </a:p>
        </p:txBody>
      </p:sp>
      <p:sp>
        <p:nvSpPr>
          <p:cNvPr id="21" name="原题文字_311_19"/>
          <p:cNvSpPr txBox="1"/>
          <p:nvPr/>
        </p:nvSpPr>
        <p:spPr>
          <a:xfrm>
            <a:off x="3840549" y="4165403"/>
            <a:ext cx="199978" cy="135440"/>
          </a:xfrm>
          <a:prstGeom prst="rect">
            <a:avLst/>
          </a:prstGeom>
          <a:noFill/>
        </p:spPr>
        <p:txBody>
          <a:bodyPr wrap="none" lIns="0" rIns="0" tIns="0" bIns="0">
            <a:spAutoFit/>
          </a:bodyPr>
          <a:lstStyle/>
          <a:p>
            <a:pPr>
              <a:lnSpc>
                <a:spcPct val="112000"/>
              </a:lnSpc>
              <a:spcBef>
                <a:spcPts val="0"/>
              </a:spcBef>
              <a:spcAft>
                <a:spcPts val="0"/>
              </a:spcAft>
              <a:defRPr sz="656" b="0">
                <a:solidFill>
                  <a:srgbClr val="333333"/>
                </a:solidFill>
                <a:latin typeface="微软雅黑"/>
              </a:defRPr>
            </a:pPr>
            <a:r>
              <a:rPr>
                <a:ea typeface="微软雅黑"/>
              </a:rPr>
              <a:t>一</a:t>
            </a:r>
          </a:p>
        </p:txBody>
      </p:sp>
      <p:sp>
        <p:nvSpPr>
          <p:cNvPr id="22" name="原题文字_311_20"/>
          <p:cNvSpPr txBox="1"/>
          <p:nvPr/>
        </p:nvSpPr>
        <p:spPr>
          <a:xfrm>
            <a:off x="1533603" y="4277029"/>
            <a:ext cx="199978"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B.</a:t>
            </a:r>
          </a:p>
        </p:txBody>
      </p:sp>
      <p:sp>
        <p:nvSpPr>
          <p:cNvPr id="23" name="原题文字_311_21"/>
          <p:cNvSpPr txBox="1"/>
          <p:nvPr/>
        </p:nvSpPr>
        <p:spPr>
          <a:xfrm>
            <a:off x="2355918" y="4273309"/>
            <a:ext cx="192536"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C.</a:t>
            </a:r>
          </a:p>
        </p:txBody>
      </p:sp>
      <p:sp>
        <p:nvSpPr>
          <p:cNvPr id="24" name="原题文字_311_22"/>
          <p:cNvSpPr txBox="1"/>
          <p:nvPr/>
        </p:nvSpPr>
        <p:spPr>
          <a:xfrm>
            <a:off x="3520553" y="4277029"/>
            <a:ext cx="203699" cy="164462"/>
          </a:xfrm>
          <a:prstGeom prst="rect">
            <a:avLst/>
          </a:prstGeom>
          <a:noFill/>
        </p:spPr>
        <p:txBody>
          <a:bodyPr wrap="none" lIns="0" rIns="0" tIns="0" bIns="0">
            <a:spAutoFit/>
          </a:bodyPr>
          <a:lstStyle/>
          <a:p>
            <a:pPr>
              <a:lnSpc>
                <a:spcPct val="112000"/>
              </a:lnSpc>
              <a:spcBef>
                <a:spcPts val="0"/>
              </a:spcBef>
              <a:spcAft>
                <a:spcPts val="0"/>
              </a:spcAft>
              <a:defRPr sz="796" b="0">
                <a:solidFill>
                  <a:srgbClr val="333333"/>
                </a:solidFill>
                <a:latin typeface="微软雅黑"/>
              </a:defRPr>
            </a:pPr>
            <a:r>
              <a:rPr>
                <a:ea typeface="微软雅黑"/>
              </a:rPr>
              <a:t>D.</a:t>
            </a:r>
          </a:p>
        </p:txBody>
      </p:sp>
      <p:sp>
        <p:nvSpPr>
          <p:cNvPr id="25" name="原题文字_311_23"/>
          <p:cNvSpPr txBox="1"/>
          <p:nvPr/>
        </p:nvSpPr>
        <p:spPr>
          <a:xfrm>
            <a:off x="2865678" y="4418423"/>
            <a:ext cx="341371"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稀硫酸</a:t>
            </a:r>
          </a:p>
        </p:txBody>
      </p:sp>
      <p:sp>
        <p:nvSpPr>
          <p:cNvPr id="26" name="原题文字_311_24"/>
          <p:cNvSpPr txBox="1"/>
          <p:nvPr/>
        </p:nvSpPr>
        <p:spPr>
          <a:xfrm>
            <a:off x="3684272" y="4481678"/>
            <a:ext cx="166490"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水</a:t>
            </a:r>
          </a:p>
        </p:txBody>
      </p:sp>
      <p:sp>
        <p:nvSpPr>
          <p:cNvPr id="27" name="原题文字_311_25"/>
          <p:cNvSpPr txBox="1"/>
          <p:nvPr/>
        </p:nvSpPr>
        <p:spPr>
          <a:xfrm>
            <a:off x="1016401" y="4552375"/>
            <a:ext cx="166490" cy="154788"/>
          </a:xfrm>
          <a:prstGeom prst="rect">
            <a:avLst/>
          </a:prstGeom>
          <a:noFill/>
        </p:spPr>
        <p:txBody>
          <a:bodyPr wrap="none" lIns="0" rIns="0" tIns="0" bIns="0">
            <a:spAutoFit/>
          </a:bodyPr>
          <a:lstStyle/>
          <a:p>
            <a:pPr>
              <a:lnSpc>
                <a:spcPct val="112000"/>
              </a:lnSpc>
              <a:spcBef>
                <a:spcPts val="0"/>
              </a:spcBef>
              <a:spcAft>
                <a:spcPts val="0"/>
              </a:spcAft>
              <a:defRPr sz="750" b="0">
                <a:solidFill>
                  <a:srgbClr val="333333"/>
                </a:solidFill>
                <a:latin typeface="微软雅黑"/>
              </a:defRPr>
            </a:pPr>
            <a:r>
              <a:rPr>
                <a:ea typeface="微软雅黑"/>
              </a:rPr>
              <a:t>水</a:t>
            </a:r>
          </a:p>
        </p:txBody>
      </p:sp>
      <p:sp>
        <p:nvSpPr>
          <p:cNvPr id="28" name="原题文字_311_26"/>
          <p:cNvSpPr txBox="1"/>
          <p:nvPr/>
        </p:nvSpPr>
        <p:spPr>
          <a:xfrm>
            <a:off x="2869399" y="4537491"/>
            <a:ext cx="415789" cy="154788"/>
          </a:xfrm>
          <a:prstGeom prst="rect">
            <a:avLst/>
          </a:prstGeom>
          <a:noFill/>
        </p:spPr>
        <p:txBody>
          <a:bodyPr wrap="none" lIns="0" rIns="0" tIns="0" bIns="0">
            <a:spAutoFit/>
          </a:bodyPr>
          <a:lstStyle/>
          <a:p>
            <a:pPr>
              <a:lnSpc>
                <a:spcPct val="112000"/>
              </a:lnSpc>
              <a:spcBef>
                <a:spcPts val="0"/>
              </a:spcBef>
              <a:spcAft>
                <a:spcPts val="0"/>
              </a:spcAft>
              <a:defRPr sz="727" b="0">
                <a:solidFill>
                  <a:srgbClr val="333333"/>
                </a:solidFill>
                <a:latin typeface="微软雅黑"/>
              </a:defRPr>
            </a:pPr>
            <a:r>
              <a:rPr>
                <a:ea typeface="微软雅黑"/>
              </a:rPr>
              <a:t>-四氯化碳</a:t>
            </a:r>
          </a:p>
        </p:txBody>
      </p:sp>
      <p:sp>
        <p:nvSpPr>
          <p:cNvPr id="29" name="文字_氨气与二氧化氮的反应。"/>
          <p:cNvSpPr txBox="1"/>
          <p:nvPr/>
        </p:nvSpPr>
        <p:spPr>
          <a:xfrm>
            <a:off x="6263640" y="1078992"/>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氨气与二氧化氮的反应。</a:t>
            </a:r>
          </a:p>
        </p:txBody>
      </p:sp>
      <p:sp>
        <p:nvSpPr>
          <p:cNvPr id="30" name="文字_将上述收集到的NH₃充入注射器X中，硬质玻璃管Y"/>
          <p:cNvSpPr txBox="1"/>
          <p:nvPr/>
        </p:nvSpPr>
        <p:spPr>
          <a:xfrm>
            <a:off x="6263640" y="1371600"/>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将上述收集到的NH₃充入注射器X中，硬质玻璃管Y中加入</a:t>
            </a:r>
          </a:p>
          <a:p>
            <a:pPr>
              <a:lnSpc>
                <a:spcPct val="112000"/>
              </a:lnSpc>
              <a:spcBef>
                <a:spcPts val="0"/>
              </a:spcBef>
              <a:spcAft>
                <a:spcPts val="0"/>
              </a:spcAft>
              <a:defRPr sz="1600" b="0">
                <a:solidFill>
                  <a:srgbClr val="333333"/>
                </a:solidFill>
                <a:latin typeface="微软雅黑"/>
              </a:defRPr>
            </a:pPr>
            <a:r>
              <a:rPr>
                <a:ea typeface="微软雅黑"/>
              </a:rPr>
              <a:t>少量催化剂，充入NO₂(两端用夹子K₁、K₂夹好)。</a:t>
            </a:r>
          </a:p>
        </p:txBody>
      </p:sp>
      <p:sp>
        <p:nvSpPr>
          <p:cNvPr id="31" name="文字_在一定温度下按下图装置进行实验。"/>
          <p:cNvSpPr txBox="1"/>
          <p:nvPr/>
        </p:nvSpPr>
        <p:spPr>
          <a:xfrm>
            <a:off x="6263640" y="1906016"/>
            <a:ext cx="5376672" cy="292608"/>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在一定温度下按下图装置进行实验。</a:t>
            </a:r>
          </a:p>
        </p:txBody>
      </p:sp>
      <p:pic>
        <p:nvPicPr>
          <p:cNvPr id="32" name="Picture 31" descr="image.png"/>
          <p:cNvPicPr>
            <a:picLocks noChangeAspect="1"/>
          </p:cNvPicPr>
          <p:nvPr/>
        </p:nvPicPr>
        <p:blipFill>
          <a:blip r:embed="rId5"/>
          <a:stretch>
            <a:fillRect/>
          </a:stretch>
        </p:blipFill>
        <p:spPr>
          <a:xfrm>
            <a:off x="6263640" y="2198623"/>
            <a:ext cx="5376672" cy="844639"/>
          </a:xfrm>
          <a:prstGeom prst="rect">
            <a:avLst/>
          </a:prstGeom>
        </p:spPr>
      </p:pic>
      <p:sp>
        <p:nvSpPr>
          <p:cNvPr id="33" name="原题文字_311_30"/>
          <p:cNvSpPr txBox="1"/>
          <p:nvPr/>
        </p:nvSpPr>
        <p:spPr>
          <a:xfrm>
            <a:off x="7071071" y="2229432"/>
            <a:ext cx="133002"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K</a:t>
            </a:r>
          </a:p>
        </p:txBody>
      </p:sp>
      <p:sp>
        <p:nvSpPr>
          <p:cNvPr id="34" name="原题文字_311_31"/>
          <p:cNvSpPr txBox="1"/>
          <p:nvPr/>
        </p:nvSpPr>
        <p:spPr>
          <a:xfrm>
            <a:off x="6974328" y="2411755"/>
            <a:ext cx="136723"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X</a:t>
            </a:r>
          </a:p>
        </p:txBody>
      </p:sp>
      <p:sp>
        <p:nvSpPr>
          <p:cNvPr id="35" name="原题文字_311_32"/>
          <p:cNvSpPr txBox="1"/>
          <p:nvPr/>
        </p:nvSpPr>
        <p:spPr>
          <a:xfrm>
            <a:off x="7554785" y="2408034"/>
            <a:ext cx="121839" cy="1097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Y</a:t>
            </a:r>
          </a:p>
        </p:txBody>
      </p:sp>
      <p:sp>
        <p:nvSpPr>
          <p:cNvPr id="36" name="原题文字_311_33"/>
          <p:cNvSpPr txBox="1"/>
          <p:nvPr/>
        </p:nvSpPr>
        <p:spPr>
          <a:xfrm>
            <a:off x="8332449" y="2541985"/>
            <a:ext cx="464160"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NaOH溶液</a:t>
            </a:r>
          </a:p>
        </p:txBody>
      </p:sp>
      <p:sp>
        <p:nvSpPr>
          <p:cNvPr id="37" name="原题文字_311_34"/>
          <p:cNvSpPr txBox="1"/>
          <p:nvPr/>
        </p:nvSpPr>
        <p:spPr>
          <a:xfrm>
            <a:off x="8127801" y="2780122"/>
            <a:ext cx="144165" cy="120928"/>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Z</a:t>
            </a:r>
          </a:p>
        </p:txBody>
      </p:sp>
      <p:sp>
        <p:nvSpPr>
          <p:cNvPr id="38" name="原题文字_311_35"/>
          <p:cNvSpPr txBox="1"/>
          <p:nvPr/>
        </p:nvSpPr>
        <p:spPr>
          <a:xfrm>
            <a:off x="6568752" y="2888027"/>
            <a:ext cx="3433423" cy="169300"/>
          </a:xfrm>
          <a:prstGeom prst="rect">
            <a:avLst/>
          </a:prstGeom>
          <a:noFill/>
        </p:spPr>
        <p:txBody>
          <a:bodyPr wrap="none" lIns="0" rIns="0" tIns="0" bIns="0">
            <a:spAutoFit/>
          </a:bodyPr>
          <a:lstStyle/>
          <a:p>
            <a:pPr>
              <a:lnSpc>
                <a:spcPct val="112000"/>
              </a:lnSpc>
              <a:spcBef>
                <a:spcPts val="0"/>
              </a:spcBef>
              <a:spcAft>
                <a:spcPts val="0"/>
              </a:spcAft>
              <a:defRPr sz="820" b="0">
                <a:solidFill>
                  <a:srgbClr val="333333"/>
                </a:solidFill>
                <a:latin typeface="微软雅黑"/>
              </a:defRPr>
            </a:pPr>
            <a:r>
              <a:rPr>
                <a:ea typeface="微软雅黑"/>
              </a:rPr>
              <a:t>①打开K₁，推动注射器活塞，使X中的气体缓慢通入Y管中，Y管中现象为</a:t>
            </a:r>
          </a:p>
        </p:txBody>
      </p:sp>
      <p:sp>
        <p:nvSpPr>
          <p:cNvPr id="39" name="原题文字_311_36"/>
          <p:cNvSpPr txBox="1"/>
          <p:nvPr/>
        </p:nvSpPr>
        <p:spPr>
          <a:xfrm>
            <a:off x="10308236" y="2895469"/>
            <a:ext cx="1219499" cy="149951"/>
          </a:xfrm>
          <a:prstGeom prst="rect">
            <a:avLst/>
          </a:prstGeom>
          <a:noFill/>
        </p:spPr>
        <p:txBody>
          <a:bodyPr wrap="none" lIns="0" rIns="0" tIns="0" bIns="0">
            <a:spAutoFit/>
          </a:bodyPr>
          <a:lstStyle/>
          <a:p>
            <a:pPr>
              <a:lnSpc>
                <a:spcPct val="112000"/>
              </a:lnSpc>
              <a:spcBef>
                <a:spcPts val="0"/>
              </a:spcBef>
              <a:spcAft>
                <a:spcPts val="0"/>
              </a:spcAft>
              <a:defRPr sz="726" b="0">
                <a:solidFill>
                  <a:srgbClr val="333333"/>
                </a:solidFill>
                <a:latin typeface="微软雅黑"/>
              </a:defRPr>
            </a:pPr>
            <a:r>
              <a:rPr>
                <a:ea typeface="微软雅黑"/>
              </a:rPr>
              <a:t>，其原因是生成了一种无</a:t>
            </a:r>
          </a:p>
        </p:txBody>
      </p:sp>
      <p:sp>
        <p:nvSpPr>
          <p:cNvPr id="40" name="文字_污染的气体单质，将注射器活塞退回原处并固定，待装"/>
          <p:cNvSpPr txBox="1"/>
          <p:nvPr/>
        </p:nvSpPr>
        <p:spPr>
          <a:xfrm>
            <a:off x="6263640" y="3116415"/>
            <a:ext cx="5376672" cy="776223"/>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污染的气体单质，将注射器活塞退回原处并固定，待装置恢</a:t>
            </a:r>
          </a:p>
          <a:p>
            <a:pPr>
              <a:lnSpc>
                <a:spcPct val="112000"/>
              </a:lnSpc>
              <a:spcBef>
                <a:spcPts val="0"/>
              </a:spcBef>
              <a:spcAft>
                <a:spcPts val="0"/>
              </a:spcAft>
              <a:defRPr sz="1600" b="0">
                <a:solidFill>
                  <a:srgbClr val="333333"/>
                </a:solidFill>
                <a:latin typeface="微软雅黑"/>
              </a:defRPr>
            </a:pPr>
            <a:r>
              <a:rPr>
                <a:ea typeface="微软雅黑"/>
              </a:rPr>
              <a:t>复到室温，Y管中有少量水珠。Y中发生反应的化学方程式为</a:t>
            </a:r>
          </a:p>
          <a:p>
            <a:pPr>
              <a:lnSpc>
                <a:spcPct val="112000"/>
              </a:lnSpc>
              <a:spcBef>
                <a:spcPts val="0"/>
              </a:spcBef>
              <a:spcAft>
                <a:spcPts val="0"/>
              </a:spcAft>
              <a:defRPr sz="1600" b="0">
                <a:solidFill>
                  <a:srgbClr val="333333"/>
                </a:solidFill>
                <a:latin typeface="微软雅黑"/>
              </a:defRPr>
            </a:pPr>
            <a:r>
              <a:rPr>
                <a:ea typeface="微软雅黑"/>
              </a:rPr>
              <a:t> ______ O</a:t>
            </a:r>
          </a:p>
        </p:txBody>
      </p:sp>
      <p:sp>
        <p:nvSpPr>
          <p:cNvPr id="41" name="文字_②打开K₂，Z中NaOH溶液倒吸，原因是 ___"/>
          <p:cNvSpPr txBox="1"/>
          <p:nvPr/>
        </p:nvSpPr>
        <p:spPr>
          <a:xfrm>
            <a:off x="6263640" y="3892639"/>
            <a:ext cx="5376672" cy="534416"/>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②打开K₂，Z中NaOH溶液倒吸，原因是 ______ ，NaOH与</a:t>
            </a:r>
          </a:p>
          <a:p>
            <a:pPr>
              <a:lnSpc>
                <a:spcPct val="112000"/>
              </a:lnSpc>
              <a:spcBef>
                <a:spcPts val="0"/>
              </a:spcBef>
              <a:spcAft>
                <a:spcPts val="0"/>
              </a:spcAft>
              <a:defRPr sz="1600" b="0">
                <a:solidFill>
                  <a:srgbClr val="333333"/>
                </a:solidFill>
                <a:latin typeface="微软雅黑"/>
              </a:defRPr>
            </a:pPr>
            <a:r>
              <a:rPr>
                <a:ea typeface="微软雅黑"/>
              </a:rPr>
              <a:t>NO₂反应生成两种盐，写出离子方程式：</a:t>
            </a:r>
          </a:p>
        </p:txBody>
      </p:sp>
      <p:sp>
        <p:nvSpPr>
          <p:cNvPr id="42" name="文字_(3)现有100 mL稀硫酸和稀硝酸的混合溶液，"/>
          <p:cNvSpPr txBox="1"/>
          <p:nvPr/>
        </p:nvSpPr>
        <p:spPr>
          <a:xfrm>
            <a:off x="6263640" y="4427055"/>
            <a:ext cx="5376672" cy="1018032"/>
          </a:xfrm>
          <a:prstGeom prst="rect">
            <a:avLst/>
          </a:prstGeom>
          <a:noFill/>
        </p:spPr>
        <p:txBody>
          <a:bodyPr wrap="square" lIns="0" rIns="0" tIns="0" bIns="0">
            <a:spAutoFit/>
          </a:bodyPr>
          <a:lstStyle/>
          <a:p>
            <a:pPr>
              <a:lnSpc>
                <a:spcPct val="112000"/>
              </a:lnSpc>
              <a:spcBef>
                <a:spcPts val="0"/>
              </a:spcBef>
              <a:spcAft>
                <a:spcPts val="0"/>
              </a:spcAft>
              <a:defRPr sz="1600" b="0">
                <a:solidFill>
                  <a:srgbClr val="333333"/>
                </a:solidFill>
                <a:latin typeface="微软雅黑"/>
              </a:defRPr>
            </a:pPr>
            <a:r>
              <a:rPr>
                <a:ea typeface="微软雅黑"/>
              </a:rPr>
              <a:t>(3)现有100 mL稀硫酸和稀硝酸的混合溶液，已知其中稀硫</a:t>
            </a:r>
          </a:p>
          <a:p>
            <a:pPr>
              <a:lnSpc>
                <a:spcPct val="112000"/>
              </a:lnSpc>
              <a:spcBef>
                <a:spcPts val="0"/>
              </a:spcBef>
              <a:spcAft>
                <a:spcPts val="0"/>
              </a:spcAft>
              <a:defRPr sz="1600" b="0">
                <a:solidFill>
                  <a:srgbClr val="333333"/>
                </a:solidFill>
                <a:latin typeface="微软雅黑"/>
              </a:defRPr>
            </a:pPr>
            <a:r>
              <a:rPr>
                <a:ea typeface="微软雅黑"/>
              </a:rPr>
              <a:t>酸的浓度为4mol/L，稀硝酸的浓度为2mol/L，向其中加入</a:t>
            </a:r>
          </a:p>
          <a:p>
            <a:pPr>
              <a:lnSpc>
                <a:spcPct val="112000"/>
              </a:lnSpc>
              <a:spcBef>
                <a:spcPts val="0"/>
              </a:spcBef>
              <a:spcAft>
                <a:spcPts val="0"/>
              </a:spcAft>
              <a:defRPr sz="1600" b="0">
                <a:solidFill>
                  <a:srgbClr val="333333"/>
                </a:solidFill>
                <a:latin typeface="微软雅黑"/>
              </a:defRPr>
            </a:pPr>
            <a:r>
              <a:rPr>
                <a:ea typeface="微软雅黑"/>
              </a:rPr>
              <a:t>过量的铜，反应结束后，可收集到标准状况下气体的体积为 </a:t>
            </a:r>
          </a:p>
          <a:p>
            <a:pPr>
              <a:lnSpc>
                <a:spcPct val="112000"/>
              </a:lnSpc>
              <a:spcBef>
                <a:spcPts val="0"/>
              </a:spcBef>
              <a:spcAft>
                <a:spcPts val="0"/>
              </a:spcAft>
              <a:defRPr sz="1600" b="0">
                <a:solidFill>
                  <a:srgbClr val="333333"/>
                </a:solidFill>
                <a:latin typeface="微软雅黑"/>
              </a:defRPr>
            </a:pPr>
            <a:r>
              <a:rPr>
                <a:ea typeface="微软雅黑"/>
              </a:rPr>
              <a:t>______ L(假设HNO₃的还原产物只有NO)。</a:t>
            </a:r>
          </a:p>
        </p:txBody>
      </p:sp>
      <p:sp>
        <p:nvSpPr>
          <p:cNvPr id="43" name="文字_填空题  ·  14-03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14-032</a:t>
            </a:r>
          </a:p>
        </p:txBody>
      </p:sp>
      <p:sp>
        <p:nvSpPr>
          <p:cNvPr id="44" name="文字_4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5"/>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05</a:t>
            </a:r>
          </a:p>
        </p:txBody>
      </p:sp>
      <p:sp>
        <p:nvSpPr>
          <p:cNvPr id="4" name="文字_硝酸的性质与保存"/>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硝酸的性质与保存</a:t>
            </a:r>
          </a:p>
        </p:txBody>
      </p:sp>
      <p:sp>
        <p:nvSpPr>
          <p:cNvPr id="5" name="文字_知识梳理 · 讲义 P312"/>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P312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硝酸的性质与保存"/>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硝酸的性质与保存</a:t>
            </a:r>
          </a:p>
        </p:txBody>
      </p:sp>
      <p:sp>
        <p:nvSpPr>
          <p:cNvPr id="5" name="文字_知识讲解 · P312"/>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P312</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强酸性：HNO₃ = H⁺ + NO₃⁻，一元强"/>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强酸性：HNO₃ = H⁺ + NO₃⁻，一元强酸，具有酸的通性。</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不稳定性：4HNO₃ —光照/Δ→ 4NO₂↑ "/>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不稳定性：4HNO₃ —光照/Δ→ 4NO₂↑ + O₂↑ + 2H₂O；越浓越易分解。</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久置变黄：分解产生的 NO₂ 溶于硝酸。"/>
          <p:cNvSpPr txBox="1"/>
          <p:nvPr/>
        </p:nvSpPr>
        <p:spPr>
          <a:xfrm>
            <a:off x="722376" y="2938272"/>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久置变黄：分解产生的 NO₂ 溶于硝酸。</a:t>
            </a:r>
          </a:p>
        </p:txBody>
      </p:sp>
      <p:sp>
        <p:nvSpPr>
          <p:cNvPr id="12" name="Rectangle 11"/>
          <p:cNvSpPr/>
          <p:nvPr/>
        </p:nvSpPr>
        <p:spPr>
          <a:xfrm>
            <a:off x="512064" y="3602736"/>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保存：棕色玻璃细口瓶、阴凉避光（不能用橡胶塞）。"/>
          <p:cNvSpPr txBox="1"/>
          <p:nvPr/>
        </p:nvSpPr>
        <p:spPr>
          <a:xfrm>
            <a:off x="722376" y="3520440"/>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保存：棕色玻璃细口瓶、阴凉避光（不能用橡胶塞）。</a:t>
            </a:r>
          </a:p>
        </p:txBody>
      </p:sp>
      <p:sp>
        <p:nvSpPr>
          <p:cNvPr id="14" name="Rectangle 13"/>
          <p:cNvSpPr/>
          <p:nvPr/>
        </p:nvSpPr>
        <p:spPr>
          <a:xfrm>
            <a:off x="512064" y="4184903"/>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强氧化性：除 Pt、Au 外均反应；常温下浓硝酸"/>
          <p:cNvSpPr txBox="1"/>
          <p:nvPr/>
        </p:nvSpPr>
        <p:spPr>
          <a:xfrm>
            <a:off x="722376" y="4102607"/>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强氧化性：除 Pt、Au 外均反应；常温下浓硝酸使 Fe、Al 钝化。</a:t>
            </a:r>
          </a:p>
        </p:txBody>
      </p:sp>
      <p:sp>
        <p:nvSpPr>
          <p:cNvPr id="16" name="Rectangle 15"/>
          <p:cNvSpPr/>
          <p:nvPr/>
        </p:nvSpPr>
        <p:spPr>
          <a:xfrm>
            <a:off x="512064" y="476707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浓硝酸还原产物为 NO₂，稀硝酸为 NO；金属与"/>
          <p:cNvSpPr txBox="1"/>
          <p:nvPr/>
        </p:nvSpPr>
        <p:spPr>
          <a:xfrm>
            <a:off x="722376" y="468477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浓硝酸还原产物为 NO₂，稀硝酸为 NO；金属与硝酸反应不生成 H₂。</a:t>
            </a:r>
          </a:p>
        </p:txBody>
      </p:sp>
      <p:sp>
        <p:nvSpPr>
          <p:cNvPr id="18" name="Rectangle 17"/>
          <p:cNvSpPr/>
          <p:nvPr/>
        </p:nvSpPr>
        <p:spPr>
          <a:xfrm>
            <a:off x="512064" y="534924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文字_王水：浓硝酸与浓盐酸体积比 1:3，可溶解 Pt"/>
          <p:cNvSpPr txBox="1"/>
          <p:nvPr/>
        </p:nvSpPr>
        <p:spPr>
          <a:xfrm>
            <a:off x="722376" y="526694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王水：浓硝酸与浓盐酸体积比 1:3，可溶解 Pt、Au。</a:t>
            </a:r>
          </a:p>
        </p:txBody>
      </p:sp>
      <p:sp>
        <p:nvSpPr>
          <p:cNvPr id="20" name="Rectangle 19"/>
          <p:cNvSpPr/>
          <p:nvPr/>
        </p:nvSpPr>
        <p:spPr>
          <a:xfrm>
            <a:off x="493776" y="574243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文字_提示  Cu + 4HNO₃(浓) = Cu(N"/>
          <p:cNvSpPr txBox="1"/>
          <p:nvPr/>
        </p:nvSpPr>
        <p:spPr>
          <a:xfrm>
            <a:off x="630936" y="580186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Cu + 4HNO₃(浓) = Cu(NO₃)₂ + 2NO₂↑ + 2H₂O；3Cu + 8HNO₃(稀) = 3Cu(NO₃)₂ + 2NO↑ + 4H₂O。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6"/>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06</a:t>
            </a:r>
          </a:p>
        </p:txBody>
      </p:sp>
      <p:sp>
        <p:nvSpPr>
          <p:cNvPr id="4" name="文字_硝酸的工业制备（氨氧化法）"/>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硝酸的工业制备（氨氧化法）</a:t>
            </a:r>
          </a:p>
        </p:txBody>
      </p:sp>
      <p:sp>
        <p:nvSpPr>
          <p:cNvPr id="5" name="文字_知识梳理 · 讲义 P313"/>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P313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硝酸的工业制备（氨氧化法）"/>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硝酸的工业制备（氨氧化法）</a:t>
            </a:r>
          </a:p>
        </p:txBody>
      </p:sp>
      <p:sp>
        <p:nvSpPr>
          <p:cNvPr id="5" name="文字_知识讲解 · P313"/>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P313</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① 4NH₃ + 5O₂ —催化剂→ 4NO +"/>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① 4NH₃ + 5O₂ —催化剂→ 4NO + 6H₂O（氨的催化氧化）。</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② 2NO + O₂ = 2NO₂；③ 3NO₂"/>
          <p:cNvSpPr txBox="1"/>
          <p:nvPr/>
        </p:nvSpPr>
        <p:spPr>
          <a:xfrm>
            <a:off x="722376" y="2356104"/>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 2NO + O₂ = 2NO₂；③ 3NO₂ + H₂O = 2HNO₃ + NO（NO 循环利用</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0" name="Rectangle 9"/>
          <p:cNvSpPr/>
          <p:nvPr/>
        </p:nvSpPr>
        <p:spPr>
          <a:xfrm>
            <a:off x="512064" y="3392424"/>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链条：NH₃ → NO → NO₂ → HNO₃"/>
          <p:cNvSpPr txBox="1"/>
          <p:nvPr/>
        </p:nvSpPr>
        <p:spPr>
          <a:xfrm>
            <a:off x="722376" y="3310128"/>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链条：NH₃ → NO → NO₂ → HNO₃。</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加浓硫酸或硝酸镁作吸水剂蒸馏，可得 98% 以上"/>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加浓硫酸或硝酸镁作吸水剂蒸馏，可得 98% 以上浓硝酸。</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尾气 NOx 用 NaOH 溶液吸收，减少污染。"/>
          <p:cNvSpPr txBox="1"/>
          <p:nvPr/>
        </p:nvSpPr>
        <p:spPr>
          <a:xfrm>
            <a:off x="722376" y="447446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尾气 NOx 用 NaOH 溶液吸收，减少污染。</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NO 循环使用提高原料利用率，体现绿色化"/>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NO 循环使用提高原料利用率，体现绿色化学思想。</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例题1</a:t>
            </a:r>
          </a:p>
        </p:txBody>
      </p:sp>
      <p:sp>
        <p:nvSpPr>
          <p:cNvPr id="5" name="文字_P31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P313</a:t>
            </a:r>
          </a:p>
        </p:txBody>
      </p:sp>
      <p:sp>
        <p:nvSpPr>
          <p:cNvPr id="6" name="文字_下列关于硝酸和硫酸的叙述，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下列关于硝酸和硫酸的叙述，正确的是</a:t>
            </a:r>
          </a:p>
        </p:txBody>
      </p:sp>
      <p:sp>
        <p:nvSpPr>
          <p:cNvPr id="7" name="文字_A. 常温下浓硝酸和浓硫酸都能用铝制容器贮存"/>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常温下浓硝酸和浓硫酸都能用铝制容器贮存</a:t>
            </a:r>
          </a:p>
        </p:txBody>
      </p:sp>
      <p:sp>
        <p:nvSpPr>
          <p:cNvPr id="8" name="文字_B. 浓硫酸和浓硝酸都应保存在棕色试剂瓶中"/>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浓硫酸和浓硝酸都应保存在棕色试剂瓶中</a:t>
            </a:r>
          </a:p>
        </p:txBody>
      </p:sp>
      <p:sp>
        <p:nvSpPr>
          <p:cNvPr id="9" name="文字_C. 常温下，铁与稀硫酸或稀硝酸反应都能产生氢气"/>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常温下，铁与稀硫酸或稀硝酸反应都能产生氢气</a:t>
            </a:r>
          </a:p>
        </p:txBody>
      </p:sp>
      <p:sp>
        <p:nvSpPr>
          <p:cNvPr id="10" name="文字_D. 将浓硫酸加到浓硝酸中产生红棕色气体，说明浓"/>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将浓硫酸加到浓硝酸中产生红棕色气体，说明浓硫酸的氧化性比浓硝酸强</a:t>
            </a:r>
          </a:p>
        </p:txBody>
      </p:sp>
      <p:sp>
        <p:nvSpPr>
          <p:cNvPr id="11" name="文字_单选题  ·  14-03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14-033</a:t>
            </a:r>
          </a:p>
        </p:txBody>
      </p:sp>
      <p:sp>
        <p:nvSpPr>
          <p:cNvPr id="12" name="文字_5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例题2</a:t>
            </a:r>
          </a:p>
        </p:txBody>
      </p:sp>
      <p:sp>
        <p:nvSpPr>
          <p:cNvPr id="5" name="文字_P31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P314</a:t>
            </a:r>
          </a:p>
        </p:txBody>
      </p:sp>
      <p:sp>
        <p:nvSpPr>
          <p:cNvPr id="6" name="文字_下列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下列说法正确的是</a:t>
            </a:r>
          </a:p>
        </p:txBody>
      </p:sp>
      <p:sp>
        <p:nvSpPr>
          <p:cNvPr id="7" name="文字_A. 常温下，浓硝酸与铁不反应，可用铁罐车运输浓"/>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常温下，浓硝酸与铁不反应，可用铁罐车运输浓硝酸</a:t>
            </a:r>
          </a:p>
        </p:txBody>
      </p:sp>
      <p:sp>
        <p:nvSpPr>
          <p:cNvPr id="8" name="文字_B. 浓硝酸在光照下颜色变黄，说明浓硝酸具有挥发"/>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浓硝酸在光照下颜色变黄，说明浓硝酸具有挥发性</a:t>
            </a:r>
          </a:p>
        </p:txBody>
      </p:sp>
      <p:sp>
        <p:nvSpPr>
          <p:cNvPr id="9" name="文字_C. 氨气极易溶于水，可用于做喷泉实验"/>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氨气极易溶于水，可用于做喷泉实验</a:t>
            </a:r>
          </a:p>
        </p:txBody>
      </p:sp>
      <p:sp>
        <p:nvSpPr>
          <p:cNvPr id="10" name="文字_D. 先加入氯水，无明显现象，再加KSCN溶液，"/>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先加入氯水，无明显现象，再加KSCN溶液，显血红色，证明试液中含有Fe²⁺</a:t>
            </a:r>
          </a:p>
        </p:txBody>
      </p:sp>
      <p:sp>
        <p:nvSpPr>
          <p:cNvPr id="11" name="文字_单选题  ·  14-03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14-034</a:t>
            </a:r>
          </a:p>
        </p:txBody>
      </p:sp>
      <p:sp>
        <p:nvSpPr>
          <p:cNvPr id="12" name="文字_5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例题3</a:t>
            </a:r>
          </a:p>
        </p:txBody>
      </p:sp>
      <p:sp>
        <p:nvSpPr>
          <p:cNvPr id="5" name="文字_P31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P314</a:t>
            </a:r>
          </a:p>
        </p:txBody>
      </p:sp>
      <p:sp>
        <p:nvSpPr>
          <p:cNvPr id="6" name="文字_化学兴趣小组按如图所示装置，用过量的铜分别与等物"/>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化学兴趣小组按如图所示装置，用过量的铜分别与等物质的量的浓硝酸、稀硝酸反</a:t>
            </a:r>
          </a:p>
          <a:p>
            <a:pPr>
              <a:lnSpc>
                <a:spcPct val="112000"/>
              </a:lnSpc>
              <a:spcBef>
                <a:spcPts val="0"/>
              </a:spcBef>
              <a:spcAft>
                <a:spcPts val="0"/>
              </a:spcAft>
              <a:defRPr sz="2400" b="0">
                <a:solidFill>
                  <a:srgbClr val="333333"/>
                </a:solidFill>
                <a:latin typeface="微软雅黑"/>
              </a:defRPr>
            </a:pPr>
            <a:r>
              <a:rPr>
                <a:ea typeface="微软雅黑"/>
              </a:rPr>
              <a:t>应（实验前原试管中充满N₂），下列叙述正确的是</a:t>
            </a:r>
          </a:p>
        </p:txBody>
      </p:sp>
      <p:pic>
        <p:nvPicPr>
          <p:cNvPr id="7" name="Picture 6" descr="image.png"/>
          <p:cNvPicPr>
            <a:picLocks noChangeAspect="1"/>
          </p:cNvPicPr>
          <p:nvPr/>
        </p:nvPicPr>
        <p:blipFill>
          <a:blip r:embed="rId3"/>
          <a:stretch>
            <a:fillRect/>
          </a:stretch>
        </p:blipFill>
        <p:spPr>
          <a:xfrm>
            <a:off x="502920" y="1880616"/>
            <a:ext cx="11064240" cy="1699834"/>
          </a:xfrm>
          <a:prstGeom prst="rect">
            <a:avLst/>
          </a:prstGeom>
        </p:spPr>
      </p:pic>
      <p:sp>
        <p:nvSpPr>
          <p:cNvPr id="8" name="原题文字_314_13"/>
          <p:cNvSpPr txBox="1"/>
          <p:nvPr/>
        </p:nvSpPr>
        <p:spPr>
          <a:xfrm>
            <a:off x="587146" y="2004382"/>
            <a:ext cx="363064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A. 实验①②生成气体的物质的量相等</a:t>
            </a:r>
          </a:p>
        </p:txBody>
      </p:sp>
      <p:sp>
        <p:nvSpPr>
          <p:cNvPr id="9" name="原题文字_314_14"/>
          <p:cNvSpPr txBox="1"/>
          <p:nvPr/>
        </p:nvSpPr>
        <p:spPr>
          <a:xfrm>
            <a:off x="7685104" y="2057981"/>
            <a:ext cx="322855"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一</a:t>
            </a:r>
          </a:p>
        </p:txBody>
      </p:sp>
      <p:sp>
        <p:nvSpPr>
          <p:cNvPr id="10" name="原题文字_314_15"/>
          <p:cNvSpPr txBox="1"/>
          <p:nvPr/>
        </p:nvSpPr>
        <p:spPr>
          <a:xfrm>
            <a:off x="8129205" y="1966098"/>
            <a:ext cx="330512" cy="159263"/>
          </a:xfrm>
          <a:prstGeom prst="rect">
            <a:avLst/>
          </a:prstGeom>
          <a:noFill/>
        </p:spPr>
        <p:txBody>
          <a:bodyPr wrap="none" lIns="0" rIns="0" tIns="0" bIns="0">
            <a:spAutoFit/>
          </a:bodyPr>
          <a:lstStyle/>
          <a:p>
            <a:pPr>
              <a:lnSpc>
                <a:spcPct val="112000"/>
              </a:lnSpc>
              <a:spcBef>
                <a:spcPts val="0"/>
              </a:spcBef>
              <a:spcAft>
                <a:spcPts val="0"/>
              </a:spcAft>
              <a:defRPr sz="771" b="0">
                <a:solidFill>
                  <a:srgbClr val="333333"/>
                </a:solidFill>
                <a:latin typeface="微软雅黑"/>
              </a:defRPr>
            </a:pPr>
            <a:r>
              <a:rPr>
                <a:ea typeface="微软雅黑"/>
              </a:rPr>
              <a:t>1</a:t>
            </a:r>
          </a:p>
        </p:txBody>
      </p:sp>
      <p:sp>
        <p:nvSpPr>
          <p:cNvPr id="11" name="原题文字_314_16"/>
          <p:cNvSpPr txBox="1"/>
          <p:nvPr/>
        </p:nvSpPr>
        <p:spPr>
          <a:xfrm>
            <a:off x="9706530" y="2042667"/>
            <a:ext cx="322855"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1</a:t>
            </a:r>
          </a:p>
        </p:txBody>
      </p:sp>
      <p:sp>
        <p:nvSpPr>
          <p:cNvPr id="12" name="原题文字_314_17"/>
          <p:cNvSpPr txBox="1"/>
          <p:nvPr/>
        </p:nvSpPr>
        <p:spPr>
          <a:xfrm>
            <a:off x="571832" y="2379571"/>
            <a:ext cx="3868006"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B. 实验②左侧试管中有红棕色气体生成</a:t>
            </a:r>
          </a:p>
        </p:txBody>
      </p:sp>
      <p:sp>
        <p:nvSpPr>
          <p:cNvPr id="13" name="原题文字_314_18"/>
          <p:cNvSpPr txBox="1"/>
          <p:nvPr/>
        </p:nvSpPr>
        <p:spPr>
          <a:xfrm>
            <a:off x="7156777" y="2593965"/>
            <a:ext cx="575534"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浓硝酸</a:t>
            </a:r>
          </a:p>
        </p:txBody>
      </p:sp>
      <p:sp>
        <p:nvSpPr>
          <p:cNvPr id="14" name="原题文字_314_19"/>
          <p:cNvSpPr txBox="1"/>
          <p:nvPr/>
        </p:nvSpPr>
        <p:spPr>
          <a:xfrm>
            <a:off x="9270085" y="2586308"/>
            <a:ext cx="567877"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稀硝酸</a:t>
            </a:r>
          </a:p>
        </p:txBody>
      </p:sp>
      <p:sp>
        <p:nvSpPr>
          <p:cNvPr id="15" name="原题文字_314_20"/>
          <p:cNvSpPr txBox="1"/>
          <p:nvPr/>
        </p:nvSpPr>
        <p:spPr>
          <a:xfrm>
            <a:off x="587146" y="2762417"/>
            <a:ext cx="6639809"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C. 实验②停止反应后，向左侧试管中加入适量稀硫酸，铜片继续溶解</a:t>
            </a:r>
          </a:p>
        </p:txBody>
      </p:sp>
      <p:sp>
        <p:nvSpPr>
          <p:cNvPr id="16" name="原题文字_314_21"/>
          <p:cNvSpPr txBox="1"/>
          <p:nvPr/>
        </p:nvSpPr>
        <p:spPr>
          <a:xfrm>
            <a:off x="7930126" y="2838986"/>
            <a:ext cx="399425"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铜片</a:t>
            </a:r>
          </a:p>
        </p:txBody>
      </p:sp>
      <p:sp>
        <p:nvSpPr>
          <p:cNvPr id="17" name="原题文字_314_22"/>
          <p:cNvSpPr txBox="1"/>
          <p:nvPr/>
        </p:nvSpPr>
        <p:spPr>
          <a:xfrm>
            <a:off x="8780043" y="2777730"/>
            <a:ext cx="514278"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NaOH</a:t>
            </a:r>
          </a:p>
        </p:txBody>
      </p:sp>
      <p:sp>
        <p:nvSpPr>
          <p:cNvPr id="18" name="原题文字_314_23"/>
          <p:cNvSpPr txBox="1"/>
          <p:nvPr/>
        </p:nvSpPr>
        <p:spPr>
          <a:xfrm>
            <a:off x="9913266" y="2838986"/>
            <a:ext cx="407082"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铜片</a:t>
            </a:r>
          </a:p>
        </p:txBody>
      </p:sp>
      <p:sp>
        <p:nvSpPr>
          <p:cNvPr id="19" name="原题文字_314_24"/>
          <p:cNvSpPr txBox="1"/>
          <p:nvPr/>
        </p:nvSpPr>
        <p:spPr>
          <a:xfrm>
            <a:off x="10824439" y="2793044"/>
            <a:ext cx="514278"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NaOH</a:t>
            </a:r>
          </a:p>
        </p:txBody>
      </p:sp>
      <p:sp>
        <p:nvSpPr>
          <p:cNvPr id="20" name="原题文字_314_25"/>
          <p:cNvSpPr txBox="1"/>
          <p:nvPr/>
        </p:nvSpPr>
        <p:spPr>
          <a:xfrm>
            <a:off x="8825984" y="2923212"/>
            <a:ext cx="445366"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溶液</a:t>
            </a:r>
          </a:p>
        </p:txBody>
      </p:sp>
      <p:sp>
        <p:nvSpPr>
          <p:cNvPr id="21" name="原题文字_314_26"/>
          <p:cNvSpPr txBox="1"/>
          <p:nvPr/>
        </p:nvSpPr>
        <p:spPr>
          <a:xfrm>
            <a:off x="10862723" y="2938526"/>
            <a:ext cx="453023"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溶液</a:t>
            </a:r>
          </a:p>
        </p:txBody>
      </p:sp>
      <p:sp>
        <p:nvSpPr>
          <p:cNvPr id="22" name="原题文字_314_27"/>
          <p:cNvSpPr txBox="1"/>
          <p:nvPr/>
        </p:nvSpPr>
        <p:spPr>
          <a:xfrm>
            <a:off x="571832" y="3152919"/>
            <a:ext cx="5162025"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将实验中所用铜片换成铁片，两实验中现象均不变</a:t>
            </a:r>
          </a:p>
        </p:txBody>
      </p:sp>
      <p:sp>
        <p:nvSpPr>
          <p:cNvPr id="23" name="原题文字_314_28"/>
          <p:cNvSpPr txBox="1"/>
          <p:nvPr/>
        </p:nvSpPr>
        <p:spPr>
          <a:xfrm>
            <a:off x="7953096" y="3329028"/>
            <a:ext cx="575534" cy="318527"/>
          </a:xfrm>
          <a:prstGeom prst="rect">
            <a:avLst/>
          </a:prstGeom>
          <a:noFill/>
        </p:spPr>
        <p:txBody>
          <a:bodyPr wrap="none" lIns="0" rIns="0" tIns="0" bIns="0">
            <a:spAutoFit/>
          </a:bodyPr>
          <a:lstStyle/>
          <a:p>
            <a:pPr>
              <a:lnSpc>
                <a:spcPct val="112000"/>
              </a:lnSpc>
              <a:spcBef>
                <a:spcPts val="0"/>
              </a:spcBef>
              <a:spcAft>
                <a:spcPts val="0"/>
              </a:spcAft>
              <a:defRPr sz="1529" b="0">
                <a:solidFill>
                  <a:srgbClr val="333333"/>
                </a:solidFill>
                <a:latin typeface="微软雅黑"/>
              </a:defRPr>
            </a:pPr>
            <a:r>
              <a:rPr>
                <a:ea typeface="微软雅黑"/>
              </a:rPr>
              <a:t>实验①</a:t>
            </a:r>
          </a:p>
        </p:txBody>
      </p:sp>
      <p:sp>
        <p:nvSpPr>
          <p:cNvPr id="24" name="原题文字_314_29"/>
          <p:cNvSpPr txBox="1"/>
          <p:nvPr/>
        </p:nvSpPr>
        <p:spPr>
          <a:xfrm>
            <a:off x="9913266" y="3329028"/>
            <a:ext cx="590847" cy="338435"/>
          </a:xfrm>
          <a:prstGeom prst="rect">
            <a:avLst/>
          </a:prstGeom>
          <a:noFill/>
        </p:spPr>
        <p:txBody>
          <a:bodyPr wrap="none" lIns="0" rIns="0" tIns="0" bIns="0">
            <a:spAutoFit/>
          </a:bodyPr>
          <a:lstStyle/>
          <a:p>
            <a:pPr>
              <a:lnSpc>
                <a:spcPct val="112000"/>
              </a:lnSpc>
              <a:spcBef>
                <a:spcPts val="0"/>
              </a:spcBef>
              <a:spcAft>
                <a:spcPts val="0"/>
              </a:spcAft>
              <a:defRPr sz="1564" b="0">
                <a:solidFill>
                  <a:srgbClr val="333333"/>
                </a:solidFill>
                <a:latin typeface="微软雅黑"/>
              </a:defRPr>
            </a:pPr>
            <a:r>
              <a:rPr>
                <a:ea typeface="微软雅黑"/>
              </a:rPr>
              <a:t>实验②</a:t>
            </a:r>
          </a:p>
        </p:txBody>
      </p:sp>
      <p:sp>
        <p:nvSpPr>
          <p:cNvPr id="25" name="文字_单选题  ·  14-03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14-035</a:t>
            </a:r>
          </a:p>
        </p:txBody>
      </p:sp>
      <p:sp>
        <p:nvSpPr>
          <p:cNvPr id="26" name="文字_5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例题4</a:t>
            </a:r>
          </a:p>
        </p:txBody>
      </p:sp>
      <p:sp>
        <p:nvSpPr>
          <p:cNvPr id="5" name="文字_P31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P314</a:t>
            </a:r>
          </a:p>
        </p:txBody>
      </p:sp>
      <p:sp>
        <p:nvSpPr>
          <p:cNvPr id="6" name="文字_如图所示是工业生产硝酸铵的流程。"/>
          <p:cNvSpPr txBox="1"/>
          <p:nvPr/>
        </p:nvSpPr>
        <p:spPr>
          <a:xfrm>
            <a:off x="502920" y="1078992"/>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如图所示是工业生产硝酸铵的流程。</a:t>
            </a:r>
          </a:p>
        </p:txBody>
      </p:sp>
      <p:pic>
        <p:nvPicPr>
          <p:cNvPr id="7" name="Picture 6" descr="image.png"/>
          <p:cNvPicPr>
            <a:picLocks noChangeAspect="1"/>
          </p:cNvPicPr>
          <p:nvPr/>
        </p:nvPicPr>
        <p:blipFill>
          <a:blip r:embed="rId3"/>
          <a:stretch>
            <a:fillRect/>
          </a:stretch>
        </p:blipFill>
        <p:spPr>
          <a:xfrm>
            <a:off x="502920" y="1499616"/>
            <a:ext cx="11064240" cy="3499209"/>
          </a:xfrm>
          <a:prstGeom prst="rect">
            <a:avLst/>
          </a:prstGeom>
        </p:spPr>
      </p:pic>
      <p:sp>
        <p:nvSpPr>
          <p:cNvPr id="8" name="原题文字_314_34"/>
          <p:cNvSpPr txBox="1"/>
          <p:nvPr/>
        </p:nvSpPr>
        <p:spPr>
          <a:xfrm>
            <a:off x="3718823" y="1531499"/>
            <a:ext cx="690387"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空气</a:t>
            </a:r>
          </a:p>
        </p:txBody>
      </p:sp>
      <p:sp>
        <p:nvSpPr>
          <p:cNvPr id="9" name="原题文字_314_35"/>
          <p:cNvSpPr txBox="1"/>
          <p:nvPr/>
        </p:nvSpPr>
        <p:spPr>
          <a:xfrm>
            <a:off x="6758618" y="1807148"/>
            <a:ext cx="690387"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空气</a:t>
            </a:r>
          </a:p>
        </p:txBody>
      </p:sp>
      <p:sp>
        <p:nvSpPr>
          <p:cNvPr id="10" name="原题文字_314_36"/>
          <p:cNvSpPr txBox="1"/>
          <p:nvPr/>
        </p:nvSpPr>
        <p:spPr>
          <a:xfrm>
            <a:off x="7417112" y="1807148"/>
            <a:ext cx="1011978"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水</a:t>
            </a:r>
          </a:p>
        </p:txBody>
      </p:sp>
      <p:sp>
        <p:nvSpPr>
          <p:cNvPr id="11" name="原题文字_314_37"/>
          <p:cNvSpPr txBox="1"/>
          <p:nvPr/>
        </p:nvSpPr>
        <p:spPr>
          <a:xfrm>
            <a:off x="610116" y="2136395"/>
            <a:ext cx="430052"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N₂</a:t>
            </a:r>
          </a:p>
        </p:txBody>
      </p:sp>
      <p:sp>
        <p:nvSpPr>
          <p:cNvPr id="12" name="原题文字_314_38"/>
          <p:cNvSpPr txBox="1"/>
          <p:nvPr/>
        </p:nvSpPr>
        <p:spPr>
          <a:xfrm>
            <a:off x="1513632" y="2059826"/>
            <a:ext cx="284571"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A</a:t>
            </a:r>
          </a:p>
        </p:txBody>
      </p:sp>
      <p:sp>
        <p:nvSpPr>
          <p:cNvPr id="13" name="原题文字_314_39"/>
          <p:cNvSpPr txBox="1"/>
          <p:nvPr/>
        </p:nvSpPr>
        <p:spPr>
          <a:xfrm>
            <a:off x="3894932" y="2044512"/>
            <a:ext cx="292228"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B</a:t>
            </a:r>
          </a:p>
        </p:txBody>
      </p:sp>
      <p:sp>
        <p:nvSpPr>
          <p:cNvPr id="14" name="原题文字_314_40"/>
          <p:cNvSpPr txBox="1"/>
          <p:nvPr/>
        </p:nvSpPr>
        <p:spPr>
          <a:xfrm>
            <a:off x="6980668" y="2121082"/>
            <a:ext cx="28457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C</a:t>
            </a:r>
          </a:p>
        </p:txBody>
      </p:sp>
      <p:sp>
        <p:nvSpPr>
          <p:cNvPr id="15" name="原题文字_314_41"/>
          <p:cNvSpPr txBox="1"/>
          <p:nvPr/>
        </p:nvSpPr>
        <p:spPr>
          <a:xfrm>
            <a:off x="1911792" y="2228278"/>
            <a:ext cx="430052"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铁</a:t>
            </a:r>
          </a:p>
        </p:txBody>
      </p:sp>
      <p:sp>
        <p:nvSpPr>
          <p:cNvPr id="16" name="原题文字_314_42"/>
          <p:cNvSpPr txBox="1"/>
          <p:nvPr/>
        </p:nvSpPr>
        <p:spPr>
          <a:xfrm>
            <a:off x="4300749" y="2281877"/>
            <a:ext cx="690387"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Pt-Rh</a:t>
            </a:r>
          </a:p>
        </p:txBody>
      </p:sp>
      <p:sp>
        <p:nvSpPr>
          <p:cNvPr id="17" name="原题文字_314_43"/>
          <p:cNvSpPr txBox="1"/>
          <p:nvPr/>
        </p:nvSpPr>
        <p:spPr>
          <a:xfrm>
            <a:off x="2922504" y="2381417"/>
            <a:ext cx="721015"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氨气</a:t>
            </a:r>
          </a:p>
        </p:txBody>
      </p:sp>
      <p:sp>
        <p:nvSpPr>
          <p:cNvPr id="18" name="原题文字_314_44"/>
          <p:cNvSpPr txBox="1"/>
          <p:nvPr/>
        </p:nvSpPr>
        <p:spPr>
          <a:xfrm>
            <a:off x="5571796" y="2358446"/>
            <a:ext cx="1188087" cy="477791"/>
          </a:xfrm>
          <a:prstGeom prst="rect">
            <a:avLst/>
          </a:prstGeom>
          <a:noFill/>
        </p:spPr>
        <p:txBody>
          <a:bodyPr wrap="none" lIns="0" rIns="0" tIns="0" bIns="0">
            <a:spAutoFit/>
          </a:bodyPr>
          <a:lstStyle/>
          <a:p>
            <a:pPr>
              <a:lnSpc>
                <a:spcPct val="112000"/>
              </a:lnSpc>
              <a:spcBef>
                <a:spcPts val="0"/>
              </a:spcBef>
              <a:spcAft>
                <a:spcPts val="0"/>
              </a:spcAft>
              <a:defRPr sz="2315" b="0">
                <a:solidFill>
                  <a:srgbClr val="333333"/>
                </a:solidFill>
                <a:latin typeface="微软雅黑"/>
              </a:defRPr>
            </a:pPr>
            <a:r>
              <a:rPr>
                <a:ea typeface="微软雅黑"/>
              </a:rPr>
              <a:t>一氧化氮</a:t>
            </a:r>
          </a:p>
        </p:txBody>
      </p:sp>
      <p:sp>
        <p:nvSpPr>
          <p:cNvPr id="19" name="原题文字_314_45"/>
          <p:cNvSpPr txBox="1"/>
          <p:nvPr/>
        </p:nvSpPr>
        <p:spPr>
          <a:xfrm>
            <a:off x="7210376" y="2358446"/>
            <a:ext cx="950722" cy="487745"/>
          </a:xfrm>
          <a:prstGeom prst="rect">
            <a:avLst/>
          </a:prstGeom>
          <a:noFill/>
        </p:spPr>
        <p:txBody>
          <a:bodyPr wrap="none" lIns="0" rIns="0" tIns="0" bIns="0">
            <a:spAutoFit/>
          </a:bodyPr>
          <a:lstStyle/>
          <a:p>
            <a:pPr>
              <a:lnSpc>
                <a:spcPct val="112000"/>
              </a:lnSpc>
              <a:spcBef>
                <a:spcPts val="0"/>
              </a:spcBef>
              <a:spcAft>
                <a:spcPts val="0"/>
              </a:spcAft>
              <a:defRPr sz="2363" b="0">
                <a:solidFill>
                  <a:srgbClr val="333333"/>
                </a:solidFill>
                <a:latin typeface="微软雅黑"/>
              </a:defRPr>
            </a:pPr>
            <a:r>
              <a:rPr>
                <a:ea typeface="微软雅黑"/>
              </a:rPr>
              <a:t>吸收塔</a:t>
            </a:r>
          </a:p>
        </p:txBody>
      </p:sp>
      <p:sp>
        <p:nvSpPr>
          <p:cNvPr id="20" name="原题文字_314_46"/>
          <p:cNvSpPr txBox="1"/>
          <p:nvPr/>
        </p:nvSpPr>
        <p:spPr>
          <a:xfrm>
            <a:off x="1789281" y="2511584"/>
            <a:ext cx="652103"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砂网</a:t>
            </a:r>
          </a:p>
        </p:txBody>
      </p:sp>
      <p:sp>
        <p:nvSpPr>
          <p:cNvPr id="21" name="原题文字_314_47"/>
          <p:cNvSpPr txBox="1"/>
          <p:nvPr/>
        </p:nvSpPr>
        <p:spPr>
          <a:xfrm>
            <a:off x="4193552" y="2511584"/>
            <a:ext cx="889467"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合金网</a:t>
            </a:r>
          </a:p>
        </p:txBody>
      </p:sp>
      <p:sp>
        <p:nvSpPr>
          <p:cNvPr id="22" name="原题文字_314_48"/>
          <p:cNvSpPr txBox="1"/>
          <p:nvPr/>
        </p:nvSpPr>
        <p:spPr>
          <a:xfrm>
            <a:off x="571832" y="2588153"/>
            <a:ext cx="491308" cy="537515"/>
          </a:xfrm>
          <a:prstGeom prst="rect">
            <a:avLst/>
          </a:prstGeom>
          <a:noFill/>
        </p:spPr>
        <p:txBody>
          <a:bodyPr wrap="none" lIns="0" rIns="0" tIns="0" bIns="0">
            <a:spAutoFit/>
          </a:bodyPr>
          <a:lstStyle/>
          <a:p>
            <a:pPr>
              <a:lnSpc>
                <a:spcPct val="112000"/>
              </a:lnSpc>
              <a:spcBef>
                <a:spcPts val="0"/>
              </a:spcBef>
              <a:spcAft>
                <a:spcPts val="0"/>
              </a:spcAft>
              <a:defRPr sz="2602" b="0">
                <a:solidFill>
                  <a:srgbClr val="333333"/>
                </a:solidFill>
                <a:latin typeface="微软雅黑"/>
              </a:defRPr>
            </a:pPr>
            <a:r>
              <a:rPr>
                <a:ea typeface="微软雅黑"/>
              </a:rPr>
              <a:t>H₂</a:t>
            </a:r>
          </a:p>
        </p:txBody>
      </p:sp>
      <p:sp>
        <p:nvSpPr>
          <p:cNvPr id="23" name="原题文字_314_49"/>
          <p:cNvSpPr txBox="1"/>
          <p:nvPr/>
        </p:nvSpPr>
        <p:spPr>
          <a:xfrm>
            <a:off x="4017443" y="3200706"/>
            <a:ext cx="28457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D</a:t>
            </a:r>
          </a:p>
        </p:txBody>
      </p:sp>
      <p:sp>
        <p:nvSpPr>
          <p:cNvPr id="24" name="原题文字_314_50"/>
          <p:cNvSpPr txBox="1"/>
          <p:nvPr/>
        </p:nvSpPr>
        <p:spPr>
          <a:xfrm>
            <a:off x="4346690" y="3438071"/>
            <a:ext cx="644446" cy="428021"/>
          </a:xfrm>
          <a:prstGeom prst="rect">
            <a:avLst/>
          </a:prstGeom>
          <a:noFill/>
        </p:spPr>
        <p:txBody>
          <a:bodyPr wrap="none" lIns="0" rIns="0" tIns="0" bIns="0">
            <a:spAutoFit/>
          </a:bodyPr>
          <a:lstStyle/>
          <a:p>
            <a:pPr>
              <a:lnSpc>
                <a:spcPct val="112000"/>
              </a:lnSpc>
              <a:spcBef>
                <a:spcPts val="0"/>
              </a:spcBef>
              <a:spcAft>
                <a:spcPts val="0"/>
              </a:spcAft>
              <a:defRPr sz="2073" b="0">
                <a:solidFill>
                  <a:srgbClr val="333333"/>
                </a:solidFill>
                <a:latin typeface="微软雅黑"/>
              </a:defRPr>
            </a:pPr>
            <a:r>
              <a:rPr>
                <a:ea typeface="微软雅黑"/>
              </a:rPr>
              <a:t>合成</a:t>
            </a:r>
          </a:p>
        </p:txBody>
      </p:sp>
      <p:sp>
        <p:nvSpPr>
          <p:cNvPr id="25" name="原题文字_314_51"/>
          <p:cNvSpPr txBox="1"/>
          <p:nvPr/>
        </p:nvSpPr>
        <p:spPr>
          <a:xfrm>
            <a:off x="5839788" y="3399786"/>
            <a:ext cx="690387"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硝酸</a:t>
            </a:r>
          </a:p>
        </p:txBody>
      </p:sp>
      <p:sp>
        <p:nvSpPr>
          <p:cNvPr id="26" name="原题文字_314_52"/>
          <p:cNvSpPr txBox="1"/>
          <p:nvPr/>
        </p:nvSpPr>
        <p:spPr>
          <a:xfrm>
            <a:off x="4247150" y="4203762"/>
            <a:ext cx="904781" cy="447929"/>
          </a:xfrm>
          <a:prstGeom prst="rect">
            <a:avLst/>
          </a:prstGeom>
          <a:noFill/>
        </p:spPr>
        <p:txBody>
          <a:bodyPr wrap="none" lIns="0" rIns="0" tIns="0" bIns="0">
            <a:spAutoFit/>
          </a:bodyPr>
          <a:lstStyle/>
          <a:p>
            <a:pPr>
              <a:lnSpc>
                <a:spcPct val="112000"/>
              </a:lnSpc>
              <a:spcBef>
                <a:spcPts val="0"/>
              </a:spcBef>
              <a:spcAft>
                <a:spcPts val="0"/>
              </a:spcAft>
              <a:defRPr sz="2170" b="0">
                <a:solidFill>
                  <a:srgbClr val="333333"/>
                </a:solidFill>
                <a:latin typeface="微软雅黑"/>
              </a:defRPr>
            </a:pPr>
            <a:r>
              <a:rPr>
                <a:ea typeface="微软雅黑"/>
              </a:rPr>
              <a:t>硝酸铵</a:t>
            </a:r>
          </a:p>
        </p:txBody>
      </p:sp>
      <p:sp>
        <p:nvSpPr>
          <p:cNvPr id="27" name="原题文字_314_53"/>
          <p:cNvSpPr txBox="1"/>
          <p:nvPr/>
        </p:nvSpPr>
        <p:spPr>
          <a:xfrm>
            <a:off x="717313" y="4686148"/>
            <a:ext cx="5544870"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(1) 写出N₂和H₂通过红热的铁纱网生成氨气的反应方程式:</a:t>
            </a:r>
          </a:p>
        </p:txBody>
      </p:sp>
      <p:sp>
        <p:nvSpPr>
          <p:cNvPr id="28" name="原题文字_314_54"/>
          <p:cNvSpPr txBox="1"/>
          <p:nvPr/>
        </p:nvSpPr>
        <p:spPr>
          <a:xfrm>
            <a:off x="7095522" y="4831629"/>
            <a:ext cx="169717" cy="159263"/>
          </a:xfrm>
          <a:prstGeom prst="rect">
            <a:avLst/>
          </a:prstGeom>
          <a:noFill/>
        </p:spPr>
        <p:txBody>
          <a:bodyPr wrap="none" lIns="0" rIns="0" tIns="0" bIns="0">
            <a:spAutoFit/>
          </a:bodyPr>
          <a:lstStyle/>
          <a:p>
            <a:pPr>
              <a:lnSpc>
                <a:spcPct val="112000"/>
              </a:lnSpc>
              <a:spcBef>
                <a:spcPts val="0"/>
              </a:spcBef>
              <a:spcAft>
                <a:spcPts val="0"/>
              </a:spcAft>
              <a:defRPr sz="771" b="0">
                <a:solidFill>
                  <a:srgbClr val="333333"/>
                </a:solidFill>
                <a:latin typeface="微软雅黑"/>
              </a:defRPr>
            </a:pPr>
            <a:r>
              <a:rPr>
                <a:ea typeface="微软雅黑"/>
              </a:rPr>
              <a:t>o</a:t>
            </a:r>
          </a:p>
        </p:txBody>
      </p:sp>
      <p:sp>
        <p:nvSpPr>
          <p:cNvPr id="29" name="文字_(2) B装置中Pt-Rh合金网的作用是 ___"/>
          <p:cNvSpPr txBox="1"/>
          <p:nvPr/>
        </p:nvSpPr>
        <p:spPr>
          <a:xfrm>
            <a:off x="502920" y="5071977"/>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(2) B装置中Pt-Rh合金网的作用是 ______ ，写出B中有关反应方程式： ______ O</a:t>
            </a:r>
          </a:p>
        </p:txBody>
      </p:sp>
      <p:sp>
        <p:nvSpPr>
          <p:cNvPr id="30" name="文字_(3）写出D中反应方程式： ______ o"/>
          <p:cNvSpPr txBox="1"/>
          <p:nvPr/>
        </p:nvSpPr>
        <p:spPr>
          <a:xfrm>
            <a:off x="502920" y="5492601"/>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(3）写出D中反应方程式： ______ o</a:t>
            </a:r>
          </a:p>
        </p:txBody>
      </p:sp>
      <p:sp>
        <p:nvSpPr>
          <p:cNvPr id="31" name="文字_(4)A、B、C、D四个容器中的反应，属于氧化还"/>
          <p:cNvSpPr txBox="1"/>
          <p:nvPr/>
        </p:nvSpPr>
        <p:spPr>
          <a:xfrm>
            <a:off x="502920" y="5913225"/>
            <a:ext cx="11064240" cy="420623"/>
          </a:xfrm>
          <a:prstGeom prst="rect">
            <a:avLst/>
          </a:prstGeom>
          <a:noFill/>
        </p:spPr>
        <p:txBody>
          <a:bodyPr wrap="square" lIns="0" rIns="0" tIns="0" bIns="0">
            <a:spAutoFit/>
          </a:bodyPr>
          <a:lstStyle/>
          <a:p>
            <a:pPr>
              <a:lnSpc>
                <a:spcPct val="112000"/>
              </a:lnSpc>
              <a:spcBef>
                <a:spcPts val="0"/>
              </a:spcBef>
              <a:spcAft>
                <a:spcPts val="0"/>
              </a:spcAft>
              <a:defRPr sz="2300" b="0">
                <a:solidFill>
                  <a:srgbClr val="333333"/>
                </a:solidFill>
                <a:latin typeface="微软雅黑"/>
              </a:defRPr>
            </a:pPr>
            <a:r>
              <a:rPr>
                <a:ea typeface="微软雅黑"/>
              </a:rPr>
              <a:t>(4)A、B、C、D四个容器中的反应，属于氧化还原反应的是 ______ (填字母)。</a:t>
            </a:r>
          </a:p>
        </p:txBody>
      </p:sp>
      <p:sp>
        <p:nvSpPr>
          <p:cNvPr id="32" name="文字_填空题  ·  14-03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14-036</a:t>
            </a:r>
          </a:p>
        </p:txBody>
      </p:sp>
      <p:sp>
        <p:nvSpPr>
          <p:cNvPr id="33" name="文字_5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例题5</a:t>
            </a:r>
          </a:p>
        </p:txBody>
      </p:sp>
      <p:sp>
        <p:nvSpPr>
          <p:cNvPr id="5" name="文字_P31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P315</a:t>
            </a:r>
          </a:p>
        </p:txBody>
      </p:sp>
      <p:pic>
        <p:nvPicPr>
          <p:cNvPr id="6" name="Picture 5" descr="image.png"/>
          <p:cNvPicPr>
            <a:picLocks noChangeAspect="1"/>
          </p:cNvPicPr>
          <p:nvPr/>
        </p:nvPicPr>
        <p:blipFill>
          <a:blip r:embed="rId3"/>
          <a:stretch>
            <a:fillRect/>
          </a:stretch>
        </p:blipFill>
        <p:spPr>
          <a:xfrm>
            <a:off x="502920" y="1078992"/>
            <a:ext cx="9175750" cy="2400300"/>
          </a:xfrm>
          <a:prstGeom prst="rect">
            <a:avLst/>
          </a:prstGeom>
        </p:spPr>
      </p:pic>
      <p:sp>
        <p:nvSpPr>
          <p:cNvPr id="7" name="原题文字_315_3"/>
          <p:cNvSpPr txBox="1"/>
          <p:nvPr/>
        </p:nvSpPr>
        <p:spPr>
          <a:xfrm>
            <a:off x="572770" y="1085291"/>
            <a:ext cx="7414514" cy="280670"/>
          </a:xfrm>
          <a:prstGeom prst="rect">
            <a:avLst/>
          </a:prstGeom>
          <a:noFill/>
        </p:spPr>
        <p:txBody>
          <a:bodyPr wrap="none" lIns="0" rIns="0" tIns="0" bIns="0">
            <a:spAutoFit/>
          </a:bodyPr>
          <a:lstStyle/>
          <a:p>
            <a:pPr>
              <a:lnSpc>
                <a:spcPct val="112000"/>
              </a:lnSpc>
              <a:spcBef>
                <a:spcPts val="0"/>
              </a:spcBef>
              <a:spcAft>
                <a:spcPts val="0"/>
              </a:spcAft>
              <a:defRPr sz="1360" b="0">
                <a:solidFill>
                  <a:srgbClr val="333333"/>
                </a:solidFill>
                <a:latin typeface="微软雅黑"/>
              </a:defRPr>
            </a:pPr>
            <a:r>
              <a:rPr>
                <a:ea typeface="微软雅黑"/>
              </a:rPr>
              <a:t>某兴趣小组设计出右图所示装置来改进教材中“铜与硝酸反应”实验，以探究化学实验的绿色化。</a:t>
            </a:r>
          </a:p>
        </p:txBody>
      </p:sp>
      <p:sp>
        <p:nvSpPr>
          <p:cNvPr id="8" name="原题文字_315_4"/>
          <p:cNvSpPr txBox="1"/>
          <p:nvPr/>
        </p:nvSpPr>
        <p:spPr>
          <a:xfrm>
            <a:off x="585470" y="1529791"/>
            <a:ext cx="23266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a</a:t>
            </a:r>
          </a:p>
        </p:txBody>
      </p:sp>
      <p:sp>
        <p:nvSpPr>
          <p:cNvPr id="9" name="原题文字_315_5"/>
          <p:cNvSpPr txBox="1"/>
          <p:nvPr/>
        </p:nvSpPr>
        <p:spPr>
          <a:xfrm>
            <a:off x="579120" y="1713941"/>
            <a:ext cx="245363" cy="346710"/>
          </a:xfrm>
          <a:prstGeom prst="rect">
            <a:avLst/>
          </a:prstGeom>
          <a:noFill/>
        </p:spPr>
        <p:txBody>
          <a:bodyPr wrap="none" lIns="0" rIns="0" tIns="0" bIns="0">
            <a:spAutoFit/>
          </a:bodyPr>
          <a:lstStyle/>
          <a:p>
            <a:pPr>
              <a:lnSpc>
                <a:spcPct val="112000"/>
              </a:lnSpc>
              <a:spcBef>
                <a:spcPts val="0"/>
              </a:spcBef>
              <a:spcAft>
                <a:spcPts val="0"/>
              </a:spcAft>
              <a:defRPr sz="1680" b="0">
                <a:solidFill>
                  <a:srgbClr val="333333"/>
                </a:solidFill>
                <a:latin typeface="微软雅黑"/>
              </a:defRPr>
            </a:pPr>
            <a:r>
              <a:rPr>
                <a:ea typeface="微软雅黑"/>
              </a:rPr>
              <a:t>b</a:t>
            </a:r>
          </a:p>
        </p:txBody>
      </p:sp>
      <p:sp>
        <p:nvSpPr>
          <p:cNvPr id="10" name="原题文字_315_6"/>
          <p:cNvSpPr txBox="1"/>
          <p:nvPr/>
        </p:nvSpPr>
        <p:spPr>
          <a:xfrm>
            <a:off x="655320" y="2685491"/>
            <a:ext cx="239014" cy="264160"/>
          </a:xfrm>
          <a:prstGeom prst="rect">
            <a:avLst/>
          </a:prstGeom>
          <a:noFill/>
        </p:spPr>
        <p:txBody>
          <a:bodyPr wrap="none" lIns="0" rIns="0" tIns="0" bIns="0">
            <a:spAutoFit/>
          </a:bodyPr>
          <a:lstStyle/>
          <a:p>
            <a:pPr>
              <a:lnSpc>
                <a:spcPct val="112000"/>
              </a:lnSpc>
              <a:spcBef>
                <a:spcPts val="0"/>
              </a:spcBef>
              <a:spcAft>
                <a:spcPts val="0"/>
              </a:spcAft>
              <a:defRPr sz="1280" b="0">
                <a:solidFill>
                  <a:srgbClr val="333333"/>
                </a:solidFill>
                <a:latin typeface="微软雅黑"/>
              </a:defRPr>
            </a:pPr>
            <a:r>
              <a:rPr>
                <a:ea typeface="微软雅黑"/>
              </a:rPr>
              <a:t>C</a:t>
            </a:r>
          </a:p>
        </p:txBody>
      </p:sp>
      <p:sp>
        <p:nvSpPr>
          <p:cNvPr id="11" name="原题文字_315_7"/>
          <p:cNvSpPr txBox="1"/>
          <p:nvPr/>
        </p:nvSpPr>
        <p:spPr>
          <a:xfrm>
            <a:off x="2134870" y="2628341"/>
            <a:ext cx="264414" cy="346710"/>
          </a:xfrm>
          <a:prstGeom prst="rect">
            <a:avLst/>
          </a:prstGeom>
          <a:noFill/>
        </p:spPr>
        <p:txBody>
          <a:bodyPr wrap="none" lIns="0" rIns="0" tIns="0" bIns="0">
            <a:spAutoFit/>
          </a:bodyPr>
          <a:lstStyle/>
          <a:p>
            <a:pPr>
              <a:lnSpc>
                <a:spcPct val="112000"/>
              </a:lnSpc>
              <a:spcBef>
                <a:spcPts val="0"/>
              </a:spcBef>
              <a:spcAft>
                <a:spcPts val="0"/>
              </a:spcAft>
              <a:defRPr sz="1680" b="0">
                <a:solidFill>
                  <a:srgbClr val="333333"/>
                </a:solidFill>
                <a:latin typeface="微软雅黑"/>
              </a:defRPr>
            </a:pPr>
            <a:r>
              <a:rPr>
                <a:ea typeface="微软雅黑"/>
              </a:rPr>
              <a:t>d</a:t>
            </a:r>
          </a:p>
        </p:txBody>
      </p:sp>
      <p:sp>
        <p:nvSpPr>
          <p:cNvPr id="12" name="原题文字_315_8"/>
          <p:cNvSpPr txBox="1"/>
          <p:nvPr/>
        </p:nvSpPr>
        <p:spPr>
          <a:xfrm>
            <a:off x="680720" y="3218891"/>
            <a:ext cx="7598664" cy="288925"/>
          </a:xfrm>
          <a:prstGeom prst="rect">
            <a:avLst/>
          </a:prstGeom>
          <a:noFill/>
        </p:spPr>
        <p:txBody>
          <a:bodyPr wrap="none" lIns="0" rIns="0" tIns="0" bIns="0">
            <a:spAutoFit/>
          </a:bodyPr>
          <a:lstStyle/>
          <a:p>
            <a:pPr>
              <a:lnSpc>
                <a:spcPct val="112000"/>
              </a:lnSpc>
              <a:spcBef>
                <a:spcPts val="0"/>
              </a:spcBef>
              <a:spcAft>
                <a:spcPts val="0"/>
              </a:spcAft>
              <a:defRPr sz="1395" b="0">
                <a:solidFill>
                  <a:srgbClr val="333333"/>
                </a:solidFill>
                <a:latin typeface="微软雅黑"/>
              </a:defRPr>
            </a:pPr>
            <a:r>
              <a:rPr>
                <a:ea typeface="微软雅黑"/>
              </a:rPr>
              <a:t>(1）实验前，关闭活塞b，试管d中加水至浸没长导管口，塞紧试管c和d的胶塞，加热c。其目的是</a:t>
            </a:r>
          </a:p>
        </p:txBody>
      </p:sp>
      <p:sp>
        <p:nvSpPr>
          <p:cNvPr id="13" name="原题文字_315_9"/>
          <p:cNvSpPr txBox="1"/>
          <p:nvPr/>
        </p:nvSpPr>
        <p:spPr>
          <a:xfrm>
            <a:off x="8745220" y="3333191"/>
            <a:ext cx="143764" cy="132080"/>
          </a:xfrm>
          <a:prstGeom prst="rect">
            <a:avLst/>
          </a:prstGeom>
          <a:noFill/>
        </p:spPr>
        <p:txBody>
          <a:bodyPr wrap="none" lIns="0" rIns="0" tIns="0" bIns="0">
            <a:spAutoFit/>
          </a:bodyPr>
          <a:lstStyle/>
          <a:p>
            <a:pPr>
              <a:lnSpc>
                <a:spcPct val="112000"/>
              </a:lnSpc>
              <a:spcBef>
                <a:spcPts val="0"/>
              </a:spcBef>
              <a:spcAft>
                <a:spcPts val="0"/>
              </a:spcAft>
              <a:defRPr sz="640" b="0">
                <a:solidFill>
                  <a:srgbClr val="333333"/>
                </a:solidFill>
                <a:latin typeface="微软雅黑"/>
              </a:defRPr>
            </a:pPr>
            <a:r>
              <a:rPr>
                <a:ea typeface="微软雅黑"/>
              </a:rPr>
              <a:t>o</a:t>
            </a:r>
          </a:p>
        </p:txBody>
      </p:sp>
      <p:sp>
        <p:nvSpPr>
          <p:cNvPr id="14" name="文字_(2) 在d中加适量NaOH溶液，c中放一小块铜"/>
          <p:cNvSpPr txBox="1"/>
          <p:nvPr/>
        </p:nvSpPr>
        <p:spPr>
          <a:xfrm>
            <a:off x="502920" y="3552444"/>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(2) 在d中加适量NaOH溶液，c中放一小块铜片，由分液漏斗a向c中加入2mL浓硝酸。c中反应的化学方程式是</a:t>
            </a:r>
          </a:p>
        </p:txBody>
      </p:sp>
      <p:pic>
        <p:nvPicPr>
          <p:cNvPr id="15" name="Picture 14" descr="image.png"/>
          <p:cNvPicPr>
            <a:picLocks noChangeAspect="1"/>
          </p:cNvPicPr>
          <p:nvPr/>
        </p:nvPicPr>
        <p:blipFill>
          <a:blip r:embed="rId4"/>
          <a:stretch>
            <a:fillRect/>
          </a:stretch>
        </p:blipFill>
        <p:spPr>
          <a:xfrm>
            <a:off x="502920" y="3817620"/>
            <a:ext cx="9175750" cy="2190750"/>
          </a:xfrm>
          <a:prstGeom prst="rect">
            <a:avLst/>
          </a:prstGeom>
        </p:spPr>
      </p:pic>
      <p:sp>
        <p:nvSpPr>
          <p:cNvPr id="16" name="原题文字_315_11"/>
          <p:cNvSpPr txBox="1"/>
          <p:nvPr/>
        </p:nvSpPr>
        <p:spPr>
          <a:xfrm>
            <a:off x="1125220" y="3842969"/>
            <a:ext cx="3731514" cy="280670"/>
          </a:xfrm>
          <a:prstGeom prst="rect">
            <a:avLst/>
          </a:prstGeom>
          <a:noFill/>
        </p:spPr>
        <p:txBody>
          <a:bodyPr wrap="none" lIns="0" rIns="0" tIns="0" bIns="0">
            <a:spAutoFit/>
          </a:bodyPr>
          <a:lstStyle/>
          <a:p>
            <a:pPr>
              <a:lnSpc>
                <a:spcPct val="112000"/>
              </a:lnSpc>
              <a:spcBef>
                <a:spcPts val="0"/>
              </a:spcBef>
              <a:spcAft>
                <a:spcPts val="0"/>
              </a:spcAft>
              <a:defRPr sz="1360" b="0">
                <a:solidFill>
                  <a:srgbClr val="333333"/>
                </a:solidFill>
                <a:latin typeface="微软雅黑"/>
              </a:defRPr>
            </a:pPr>
            <a:r>
              <a:rPr>
                <a:ea typeface="微软雅黑"/>
              </a:rPr>
              <a:t>。再由a向c中加2mL蒸馏水，c中的实验现象是</a:t>
            </a:r>
          </a:p>
        </p:txBody>
      </p:sp>
      <p:sp>
        <p:nvSpPr>
          <p:cNvPr id="17" name="原题文字_315_12"/>
          <p:cNvSpPr txBox="1"/>
          <p:nvPr/>
        </p:nvSpPr>
        <p:spPr>
          <a:xfrm>
            <a:off x="5322570" y="3957269"/>
            <a:ext cx="137414" cy="132080"/>
          </a:xfrm>
          <a:prstGeom prst="rect">
            <a:avLst/>
          </a:prstGeom>
          <a:noFill/>
        </p:spPr>
        <p:txBody>
          <a:bodyPr wrap="none" lIns="0" rIns="0" tIns="0" bIns="0">
            <a:spAutoFit/>
          </a:bodyPr>
          <a:lstStyle/>
          <a:p>
            <a:pPr>
              <a:lnSpc>
                <a:spcPct val="112000"/>
              </a:lnSpc>
              <a:spcBef>
                <a:spcPts val="0"/>
              </a:spcBef>
              <a:spcAft>
                <a:spcPts val="0"/>
              </a:spcAft>
              <a:defRPr sz="640" b="0">
                <a:solidFill>
                  <a:srgbClr val="333333"/>
                </a:solidFill>
                <a:latin typeface="微软雅黑"/>
              </a:defRPr>
            </a:pPr>
            <a:r>
              <a:rPr>
                <a:ea typeface="微软雅黑"/>
              </a:rPr>
              <a:t>o</a:t>
            </a:r>
          </a:p>
        </p:txBody>
      </p:sp>
      <p:sp>
        <p:nvSpPr>
          <p:cNvPr id="18" name="原题文字_315_13"/>
          <p:cNvSpPr txBox="1"/>
          <p:nvPr/>
        </p:nvSpPr>
        <p:spPr>
          <a:xfrm>
            <a:off x="591820" y="4217619"/>
            <a:ext cx="505714" cy="354965"/>
          </a:xfrm>
          <a:prstGeom prst="rect">
            <a:avLst/>
          </a:prstGeom>
          <a:noFill/>
        </p:spPr>
        <p:txBody>
          <a:bodyPr wrap="none" lIns="0" rIns="0" tIns="0" bIns="0">
            <a:spAutoFit/>
          </a:bodyPr>
          <a:lstStyle/>
          <a:p>
            <a:pPr>
              <a:lnSpc>
                <a:spcPct val="112000"/>
              </a:lnSpc>
              <a:spcBef>
                <a:spcPts val="0"/>
              </a:spcBef>
              <a:spcAft>
                <a:spcPts val="0"/>
              </a:spcAft>
              <a:defRPr sz="1720" b="0">
                <a:solidFill>
                  <a:srgbClr val="333333"/>
                </a:solidFill>
                <a:latin typeface="微软雅黑"/>
              </a:defRPr>
            </a:pPr>
            <a:r>
              <a:rPr>
                <a:ea typeface="微软雅黑"/>
              </a:rPr>
              <a:t>方案</a:t>
            </a:r>
          </a:p>
        </p:txBody>
      </p:sp>
      <p:sp>
        <p:nvSpPr>
          <p:cNvPr id="19" name="原题文字_315_14"/>
          <p:cNvSpPr txBox="1"/>
          <p:nvPr/>
        </p:nvSpPr>
        <p:spPr>
          <a:xfrm>
            <a:off x="1836420" y="4223969"/>
            <a:ext cx="664464" cy="338455"/>
          </a:xfrm>
          <a:prstGeom prst="rect">
            <a:avLst/>
          </a:prstGeom>
          <a:noFill/>
        </p:spPr>
        <p:txBody>
          <a:bodyPr wrap="none" lIns="0" rIns="0" tIns="0" bIns="0">
            <a:spAutoFit/>
          </a:bodyPr>
          <a:lstStyle/>
          <a:p>
            <a:pPr>
              <a:lnSpc>
                <a:spcPct val="112000"/>
              </a:lnSpc>
              <a:spcBef>
                <a:spcPts val="0"/>
              </a:spcBef>
              <a:spcAft>
                <a:spcPts val="0"/>
              </a:spcAft>
              <a:defRPr sz="1640" b="0">
                <a:solidFill>
                  <a:srgbClr val="333333"/>
                </a:solidFill>
                <a:latin typeface="微软雅黑"/>
              </a:defRPr>
            </a:pPr>
            <a:r>
              <a:rPr>
                <a:ea typeface="微软雅黑"/>
              </a:rPr>
              <a:t>反应物</a:t>
            </a:r>
          </a:p>
        </p:txBody>
      </p:sp>
      <p:sp>
        <p:nvSpPr>
          <p:cNvPr id="20" name="原题文字_315_15"/>
          <p:cNvSpPr txBox="1"/>
          <p:nvPr/>
        </p:nvSpPr>
        <p:spPr>
          <a:xfrm>
            <a:off x="604520" y="4624019"/>
            <a:ext cx="289814" cy="305435"/>
          </a:xfrm>
          <a:prstGeom prst="rect">
            <a:avLst/>
          </a:prstGeom>
          <a:noFill/>
        </p:spPr>
        <p:txBody>
          <a:bodyPr wrap="none" lIns="0" rIns="0" tIns="0" bIns="0">
            <a:spAutoFit/>
          </a:bodyPr>
          <a:lstStyle/>
          <a:p>
            <a:pPr>
              <a:lnSpc>
                <a:spcPct val="112000"/>
              </a:lnSpc>
              <a:spcBef>
                <a:spcPts val="0"/>
              </a:spcBef>
              <a:spcAft>
                <a:spcPts val="0"/>
              </a:spcAft>
              <a:defRPr sz="1480" b="0">
                <a:solidFill>
                  <a:srgbClr val="333333"/>
                </a:solidFill>
                <a:latin typeface="微软雅黑"/>
              </a:defRPr>
            </a:pPr>
            <a:r>
              <a:rPr>
                <a:ea typeface="微软雅黑"/>
              </a:rPr>
              <a:t>甲</a:t>
            </a:r>
          </a:p>
        </p:txBody>
      </p:sp>
      <p:sp>
        <p:nvSpPr>
          <p:cNvPr id="21" name="原题文字_315_16"/>
          <p:cNvSpPr txBox="1"/>
          <p:nvPr/>
        </p:nvSpPr>
        <p:spPr>
          <a:xfrm>
            <a:off x="1849120" y="4604969"/>
            <a:ext cx="1128014" cy="363220"/>
          </a:xfrm>
          <a:prstGeom prst="rect">
            <a:avLst/>
          </a:prstGeom>
          <a:noFill/>
        </p:spPr>
        <p:txBody>
          <a:bodyPr wrap="none" lIns="0" rIns="0" tIns="0" bIns="0">
            <a:spAutoFit/>
          </a:bodyPr>
          <a:lstStyle/>
          <a:p>
            <a:pPr>
              <a:lnSpc>
                <a:spcPct val="112000"/>
              </a:lnSpc>
              <a:spcBef>
                <a:spcPts val="0"/>
              </a:spcBef>
              <a:spcAft>
                <a:spcPts val="0"/>
              </a:spcAft>
              <a:defRPr sz="1390" b="0">
                <a:solidFill>
                  <a:srgbClr val="333333"/>
                </a:solidFill>
                <a:latin typeface="微软雅黑"/>
              </a:defRPr>
            </a:pPr>
            <a:r>
              <a:rPr>
                <a:ea typeface="微软雅黑"/>
              </a:rPr>
              <a:t>Cu、浓HNO₃</a:t>
            </a:r>
          </a:p>
        </p:txBody>
      </p:sp>
      <p:sp>
        <p:nvSpPr>
          <p:cNvPr id="22" name="原题文字_315_17"/>
          <p:cNvSpPr txBox="1"/>
          <p:nvPr/>
        </p:nvSpPr>
        <p:spPr>
          <a:xfrm>
            <a:off x="642620" y="4979619"/>
            <a:ext cx="239014" cy="272415"/>
          </a:xfrm>
          <a:prstGeom prst="rect">
            <a:avLst/>
          </a:prstGeom>
          <a:noFill/>
        </p:spPr>
        <p:txBody>
          <a:bodyPr wrap="none" lIns="0" rIns="0" tIns="0" bIns="0">
            <a:spAutoFit/>
          </a:bodyPr>
          <a:lstStyle/>
          <a:p>
            <a:pPr>
              <a:lnSpc>
                <a:spcPct val="112000"/>
              </a:lnSpc>
              <a:spcBef>
                <a:spcPts val="0"/>
              </a:spcBef>
              <a:spcAft>
                <a:spcPts val="0"/>
              </a:spcAft>
              <a:defRPr sz="1320" b="0">
                <a:solidFill>
                  <a:srgbClr val="333333"/>
                </a:solidFill>
                <a:latin typeface="微软雅黑"/>
              </a:defRPr>
            </a:pPr>
            <a:r>
              <a:rPr>
                <a:ea typeface="微软雅黑"/>
              </a:rPr>
              <a:t>乙</a:t>
            </a:r>
          </a:p>
        </p:txBody>
      </p:sp>
      <p:sp>
        <p:nvSpPr>
          <p:cNvPr id="23" name="原题文字_315_18"/>
          <p:cNvSpPr txBox="1"/>
          <p:nvPr/>
        </p:nvSpPr>
        <p:spPr>
          <a:xfrm>
            <a:off x="1830070" y="4947869"/>
            <a:ext cx="1140714" cy="346710"/>
          </a:xfrm>
          <a:prstGeom prst="rect">
            <a:avLst/>
          </a:prstGeom>
          <a:noFill/>
        </p:spPr>
        <p:txBody>
          <a:bodyPr wrap="none" lIns="0" rIns="0" tIns="0" bIns="0">
            <a:spAutoFit/>
          </a:bodyPr>
          <a:lstStyle/>
          <a:p>
            <a:pPr>
              <a:lnSpc>
                <a:spcPct val="112000"/>
              </a:lnSpc>
              <a:spcBef>
                <a:spcPts val="0"/>
              </a:spcBef>
              <a:spcAft>
                <a:spcPts val="0"/>
              </a:spcAft>
              <a:defRPr sz="1418" b="0">
                <a:solidFill>
                  <a:srgbClr val="333333"/>
                </a:solidFill>
                <a:latin typeface="微软雅黑"/>
              </a:defRPr>
            </a:pPr>
            <a:r>
              <a:rPr>
                <a:ea typeface="微软雅黑"/>
              </a:rPr>
              <a:t>Cu、稀HNO₃</a:t>
            </a:r>
          </a:p>
        </p:txBody>
      </p:sp>
      <p:sp>
        <p:nvSpPr>
          <p:cNvPr id="24" name="原题文字_315_19"/>
          <p:cNvSpPr txBox="1"/>
          <p:nvPr/>
        </p:nvSpPr>
        <p:spPr>
          <a:xfrm>
            <a:off x="598170" y="5347919"/>
            <a:ext cx="296164" cy="305435"/>
          </a:xfrm>
          <a:prstGeom prst="rect">
            <a:avLst/>
          </a:prstGeom>
          <a:noFill/>
        </p:spPr>
        <p:txBody>
          <a:bodyPr wrap="none" lIns="0" rIns="0" tIns="0" bIns="0">
            <a:spAutoFit/>
          </a:bodyPr>
          <a:lstStyle/>
          <a:p>
            <a:pPr>
              <a:lnSpc>
                <a:spcPct val="112000"/>
              </a:lnSpc>
              <a:spcBef>
                <a:spcPts val="0"/>
              </a:spcBef>
              <a:spcAft>
                <a:spcPts val="0"/>
              </a:spcAft>
              <a:defRPr sz="1480" b="0">
                <a:solidFill>
                  <a:srgbClr val="333333"/>
                </a:solidFill>
                <a:latin typeface="微软雅黑"/>
              </a:defRPr>
            </a:pPr>
            <a:r>
              <a:rPr>
                <a:ea typeface="微软雅黑"/>
              </a:rPr>
              <a:t>丙</a:t>
            </a:r>
          </a:p>
        </p:txBody>
      </p:sp>
      <p:sp>
        <p:nvSpPr>
          <p:cNvPr id="25" name="原题文字_315_20"/>
          <p:cNvSpPr txBox="1"/>
          <p:nvPr/>
        </p:nvSpPr>
        <p:spPr>
          <a:xfrm>
            <a:off x="1849120" y="5347919"/>
            <a:ext cx="1502664" cy="313690"/>
          </a:xfrm>
          <a:prstGeom prst="rect">
            <a:avLst/>
          </a:prstGeom>
          <a:noFill/>
        </p:spPr>
        <p:txBody>
          <a:bodyPr wrap="none" lIns="0" rIns="0" tIns="0" bIns="0">
            <a:spAutoFit/>
          </a:bodyPr>
          <a:lstStyle/>
          <a:p>
            <a:pPr>
              <a:lnSpc>
                <a:spcPct val="112000"/>
              </a:lnSpc>
              <a:spcBef>
                <a:spcPts val="0"/>
              </a:spcBef>
              <a:spcAft>
                <a:spcPts val="0"/>
              </a:spcAft>
              <a:defRPr sz="1349" b="0">
                <a:solidFill>
                  <a:srgbClr val="333333"/>
                </a:solidFill>
                <a:latin typeface="微软雅黑"/>
              </a:defRPr>
            </a:pPr>
            <a:r>
              <a:rPr>
                <a:ea typeface="微软雅黑"/>
              </a:rPr>
              <a:t>Cu、O₂、稀HNO₃</a:t>
            </a:r>
          </a:p>
        </p:txBody>
      </p:sp>
      <p:sp>
        <p:nvSpPr>
          <p:cNvPr id="26" name="原题文字_315_21"/>
          <p:cNvSpPr txBox="1"/>
          <p:nvPr/>
        </p:nvSpPr>
        <p:spPr>
          <a:xfrm>
            <a:off x="680720" y="5754319"/>
            <a:ext cx="5579364" cy="272415"/>
          </a:xfrm>
          <a:prstGeom prst="rect">
            <a:avLst/>
          </a:prstGeom>
          <a:noFill/>
        </p:spPr>
        <p:txBody>
          <a:bodyPr wrap="none" lIns="0" rIns="0" tIns="0" bIns="0">
            <a:spAutoFit/>
          </a:bodyPr>
          <a:lstStyle/>
          <a:p>
            <a:pPr>
              <a:lnSpc>
                <a:spcPct val="112000"/>
              </a:lnSpc>
              <a:spcBef>
                <a:spcPts val="0"/>
              </a:spcBef>
              <a:spcAft>
                <a:spcPts val="0"/>
              </a:spcAft>
              <a:defRPr sz="1320" b="0">
                <a:solidFill>
                  <a:srgbClr val="333333"/>
                </a:solidFill>
                <a:latin typeface="微软雅黑"/>
              </a:defRPr>
            </a:pPr>
            <a:r>
              <a:rPr>
                <a:ea typeface="微软雅黑"/>
              </a:rPr>
              <a:t>(3）右表是制取硝酸铜的三种方案，能体现绿色化学理念的最佳方案是</a:t>
            </a:r>
          </a:p>
        </p:txBody>
      </p:sp>
      <p:sp>
        <p:nvSpPr>
          <p:cNvPr id="27" name="原题文字_315_22"/>
          <p:cNvSpPr txBox="1"/>
          <p:nvPr/>
        </p:nvSpPr>
        <p:spPr>
          <a:xfrm>
            <a:off x="6706870" y="5747969"/>
            <a:ext cx="829564" cy="288925"/>
          </a:xfrm>
          <a:prstGeom prst="rect">
            <a:avLst/>
          </a:prstGeom>
          <a:noFill/>
        </p:spPr>
        <p:txBody>
          <a:bodyPr wrap="none" lIns="0" rIns="0" tIns="0" bIns="0">
            <a:spAutoFit/>
          </a:bodyPr>
          <a:lstStyle/>
          <a:p>
            <a:pPr>
              <a:lnSpc>
                <a:spcPct val="112000"/>
              </a:lnSpc>
              <a:spcBef>
                <a:spcPts val="0"/>
              </a:spcBef>
              <a:spcAft>
                <a:spcPts val="0"/>
              </a:spcAft>
              <a:defRPr sz="1400" b="0">
                <a:solidFill>
                  <a:srgbClr val="333333"/>
                </a:solidFill>
                <a:latin typeface="微软雅黑"/>
              </a:defRPr>
            </a:pPr>
            <a:r>
              <a:rPr>
                <a:ea typeface="微软雅黑"/>
              </a:rPr>
              <a:t>。理由是</a:t>
            </a:r>
          </a:p>
        </p:txBody>
      </p:sp>
      <p:sp>
        <p:nvSpPr>
          <p:cNvPr id="28" name="原题文字_315_23"/>
          <p:cNvSpPr txBox="1"/>
          <p:nvPr/>
        </p:nvSpPr>
        <p:spPr>
          <a:xfrm>
            <a:off x="7989570" y="5862269"/>
            <a:ext cx="143764" cy="123825"/>
          </a:xfrm>
          <a:prstGeom prst="rect">
            <a:avLst/>
          </a:prstGeom>
          <a:noFill/>
        </p:spPr>
        <p:txBody>
          <a:bodyPr wrap="none" lIns="0" rIns="0" tIns="0" bIns="0">
            <a:spAutoFit/>
          </a:bodyPr>
          <a:lstStyle/>
          <a:p>
            <a:pPr>
              <a:lnSpc>
                <a:spcPct val="112000"/>
              </a:lnSpc>
              <a:spcBef>
                <a:spcPts val="0"/>
              </a:spcBef>
              <a:spcAft>
                <a:spcPts val="0"/>
              </a:spcAft>
              <a:defRPr sz="600" b="0">
                <a:solidFill>
                  <a:srgbClr val="333333"/>
                </a:solidFill>
                <a:latin typeface="微软雅黑"/>
              </a:defRPr>
            </a:pPr>
            <a:r>
              <a:rPr>
                <a:ea typeface="微软雅黑"/>
              </a:rPr>
              <a:t>o</a:t>
            </a:r>
          </a:p>
        </p:txBody>
      </p:sp>
      <p:sp>
        <p:nvSpPr>
          <p:cNvPr id="29" name="文字_(4) 该小组还用上述装置进行实验证明氧化性KM"/>
          <p:cNvSpPr txBox="1"/>
          <p:nvPr/>
        </p:nvSpPr>
        <p:spPr>
          <a:xfrm>
            <a:off x="502920" y="6081522"/>
            <a:ext cx="11064240" cy="265176"/>
          </a:xfrm>
          <a:prstGeom prst="rect">
            <a:avLst/>
          </a:prstGeom>
          <a:noFill/>
        </p:spPr>
        <p:txBody>
          <a:bodyPr wrap="square" lIns="0" rIns="0" tIns="0" bIns="0">
            <a:spAutoFit/>
          </a:bodyPr>
          <a:lstStyle/>
          <a:p>
            <a:pPr>
              <a:lnSpc>
                <a:spcPct val="112000"/>
              </a:lnSpc>
              <a:spcBef>
                <a:spcPts val="0"/>
              </a:spcBef>
              <a:spcAft>
                <a:spcPts val="0"/>
              </a:spcAft>
              <a:defRPr sz="1450" b="0">
                <a:solidFill>
                  <a:srgbClr val="333333"/>
                </a:solidFill>
                <a:latin typeface="微软雅黑"/>
              </a:defRPr>
            </a:pPr>
            <a:r>
              <a:rPr>
                <a:ea typeface="微软雅黑"/>
              </a:rPr>
              <a:t>(4) 该小组还用上述装置进行实验证明氧化性KMnO₄&gt;Cl₂&gt;Br₂。操作步骤为 ______ ，实验现象为 ______ ；但此实验的不足之处是</a:t>
            </a:r>
          </a:p>
        </p:txBody>
      </p:sp>
      <p:sp>
        <p:nvSpPr>
          <p:cNvPr id="30" name="文字_解答题  ·  14-03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14-037</a:t>
            </a:r>
          </a:p>
        </p:txBody>
      </p:sp>
      <p:sp>
        <p:nvSpPr>
          <p:cNvPr id="31" name="文字_5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例题6</a:t>
            </a:r>
          </a:p>
        </p:txBody>
      </p:sp>
      <p:sp>
        <p:nvSpPr>
          <p:cNvPr id="5" name="文字_P31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P315</a:t>
            </a:r>
          </a:p>
        </p:txBody>
      </p:sp>
      <p:pic>
        <p:nvPicPr>
          <p:cNvPr id="6" name="Picture 5" descr="image.png"/>
          <p:cNvPicPr>
            <a:picLocks noChangeAspect="1"/>
          </p:cNvPicPr>
          <p:nvPr/>
        </p:nvPicPr>
        <p:blipFill>
          <a:blip r:embed="rId3"/>
          <a:stretch>
            <a:fillRect/>
          </a:stretch>
        </p:blipFill>
        <p:spPr>
          <a:xfrm>
            <a:off x="502920" y="1078992"/>
            <a:ext cx="11064240" cy="3039794"/>
          </a:xfrm>
          <a:prstGeom prst="rect">
            <a:avLst/>
          </a:prstGeom>
        </p:spPr>
      </p:pic>
      <p:sp>
        <p:nvSpPr>
          <p:cNvPr id="7" name="原题文字_315_31"/>
          <p:cNvSpPr txBox="1"/>
          <p:nvPr/>
        </p:nvSpPr>
        <p:spPr>
          <a:xfrm>
            <a:off x="587146" y="1095561"/>
            <a:ext cx="6930772" cy="348389"/>
          </a:xfrm>
          <a:prstGeom prst="rect">
            <a:avLst/>
          </a:prstGeom>
          <a:noFill/>
        </p:spPr>
        <p:txBody>
          <a:bodyPr wrap="none" lIns="0" rIns="0" tIns="0" bIns="0">
            <a:spAutoFit/>
          </a:bodyPr>
          <a:lstStyle/>
          <a:p>
            <a:pPr>
              <a:lnSpc>
                <a:spcPct val="112000"/>
              </a:lnSpc>
              <a:spcBef>
                <a:spcPts val="0"/>
              </a:spcBef>
              <a:spcAft>
                <a:spcPts val="0"/>
              </a:spcAft>
              <a:defRPr sz="1665" b="0">
                <a:solidFill>
                  <a:srgbClr val="333333"/>
                </a:solidFill>
                <a:latin typeface="微软雅黑"/>
              </a:defRPr>
            </a:pPr>
            <a:r>
              <a:rPr>
                <a:ea typeface="微软雅黑"/>
              </a:rPr>
              <a:t>实验室以铜粉与稀硝酸、稀硫酸反应可制得CuSO₄·5H₂O，装置如图所示。</a:t>
            </a:r>
          </a:p>
        </p:txBody>
      </p:sp>
      <p:sp>
        <p:nvSpPr>
          <p:cNvPr id="8" name="原题文字_315_32"/>
          <p:cNvSpPr txBox="1"/>
          <p:nvPr/>
        </p:nvSpPr>
        <p:spPr>
          <a:xfrm>
            <a:off x="2447776" y="1447779"/>
            <a:ext cx="797584"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稀硝酸</a:t>
            </a:r>
          </a:p>
        </p:txBody>
      </p:sp>
      <p:sp>
        <p:nvSpPr>
          <p:cNvPr id="9" name="原题文字_315_33"/>
          <p:cNvSpPr txBox="1"/>
          <p:nvPr/>
        </p:nvSpPr>
        <p:spPr>
          <a:xfrm>
            <a:off x="2294637" y="1715771"/>
            <a:ext cx="1057919"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-和稀硫酸</a:t>
            </a:r>
          </a:p>
        </p:txBody>
      </p:sp>
      <p:sp>
        <p:nvSpPr>
          <p:cNvPr id="10" name="原题文字_315_34"/>
          <p:cNvSpPr txBox="1"/>
          <p:nvPr/>
        </p:nvSpPr>
        <p:spPr>
          <a:xfrm>
            <a:off x="587146" y="1891880"/>
            <a:ext cx="590847"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空气</a:t>
            </a:r>
          </a:p>
        </p:txBody>
      </p:sp>
      <p:sp>
        <p:nvSpPr>
          <p:cNvPr id="11" name="原题文字_315_35"/>
          <p:cNvSpPr txBox="1"/>
          <p:nvPr/>
        </p:nvSpPr>
        <p:spPr>
          <a:xfrm>
            <a:off x="663715" y="2703513"/>
            <a:ext cx="583191"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三颈</a:t>
            </a:r>
          </a:p>
        </p:txBody>
      </p:sp>
      <p:sp>
        <p:nvSpPr>
          <p:cNvPr id="12" name="原题文字_315_36"/>
          <p:cNvSpPr txBox="1"/>
          <p:nvPr/>
        </p:nvSpPr>
        <p:spPr>
          <a:xfrm>
            <a:off x="3251751" y="2711170"/>
            <a:ext cx="453023"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1</a:t>
            </a:r>
          </a:p>
        </p:txBody>
      </p:sp>
      <p:sp>
        <p:nvSpPr>
          <p:cNvPr id="13" name="原题文字_315_37"/>
          <p:cNvSpPr txBox="1"/>
          <p:nvPr/>
        </p:nvSpPr>
        <p:spPr>
          <a:xfrm>
            <a:off x="656058" y="2956191"/>
            <a:ext cx="575534"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烧瓶</a:t>
            </a:r>
          </a:p>
        </p:txBody>
      </p:sp>
      <p:sp>
        <p:nvSpPr>
          <p:cNvPr id="14" name="原题文字_315_38"/>
          <p:cNvSpPr txBox="1"/>
          <p:nvPr/>
        </p:nvSpPr>
        <p:spPr>
          <a:xfrm>
            <a:off x="3894932" y="3216526"/>
            <a:ext cx="713358"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NaOH</a:t>
            </a:r>
          </a:p>
        </p:txBody>
      </p:sp>
      <p:sp>
        <p:nvSpPr>
          <p:cNvPr id="15" name="原题文字_315_39"/>
          <p:cNvSpPr txBox="1"/>
          <p:nvPr/>
        </p:nvSpPr>
        <p:spPr>
          <a:xfrm>
            <a:off x="855138" y="3407949"/>
            <a:ext cx="644446"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Cu粉</a:t>
            </a:r>
          </a:p>
        </p:txBody>
      </p:sp>
      <p:sp>
        <p:nvSpPr>
          <p:cNvPr id="16" name="原题文字_315_40"/>
          <p:cNvSpPr txBox="1"/>
          <p:nvPr/>
        </p:nvSpPr>
        <p:spPr>
          <a:xfrm>
            <a:off x="1452377" y="3423263"/>
            <a:ext cx="66741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kE</a:t>
            </a:r>
          </a:p>
        </p:txBody>
      </p:sp>
      <p:sp>
        <p:nvSpPr>
          <p:cNvPr id="17" name="原题文字_315_41"/>
          <p:cNvSpPr txBox="1"/>
          <p:nvPr/>
        </p:nvSpPr>
        <p:spPr>
          <a:xfrm>
            <a:off x="3887275" y="3446234"/>
            <a:ext cx="590847"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溶液</a:t>
            </a:r>
          </a:p>
        </p:txBody>
      </p:sp>
      <p:sp>
        <p:nvSpPr>
          <p:cNvPr id="18" name="原题文字_315_42"/>
          <p:cNvSpPr txBox="1"/>
          <p:nvPr/>
        </p:nvSpPr>
        <p:spPr>
          <a:xfrm>
            <a:off x="1750996" y="3806109"/>
            <a:ext cx="315199"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甲</a:t>
            </a:r>
          </a:p>
        </p:txBody>
      </p:sp>
      <p:sp>
        <p:nvSpPr>
          <p:cNvPr id="19" name="原题文字_315_43"/>
          <p:cNvSpPr txBox="1"/>
          <p:nvPr/>
        </p:nvSpPr>
        <p:spPr>
          <a:xfrm>
            <a:off x="3297693" y="3806109"/>
            <a:ext cx="330512"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乙</a:t>
            </a:r>
          </a:p>
        </p:txBody>
      </p:sp>
      <p:sp>
        <p:nvSpPr>
          <p:cNvPr id="20" name="文字_(1) 装置甲三颈烧瓶中Cu粉溶解的离子方程式为"/>
          <p:cNvSpPr txBox="1"/>
          <p:nvPr/>
        </p:nvSpPr>
        <p:spPr>
          <a:xfrm>
            <a:off x="502920" y="419193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装置甲三颈烧瓶中Cu粉溶解的离子方程式为 ______ 。反应中硝酸表现出的化学</a:t>
            </a:r>
          </a:p>
          <a:p>
            <a:pPr>
              <a:lnSpc>
                <a:spcPct val="112000"/>
              </a:lnSpc>
              <a:spcBef>
                <a:spcPts val="0"/>
              </a:spcBef>
              <a:spcAft>
                <a:spcPts val="0"/>
              </a:spcAft>
              <a:defRPr sz="2400" b="0">
                <a:solidFill>
                  <a:srgbClr val="333333"/>
                </a:solidFill>
                <a:latin typeface="微软雅黑"/>
              </a:defRPr>
            </a:pPr>
            <a:r>
              <a:rPr>
                <a:ea typeface="微软雅黑"/>
              </a:rPr>
              <a:t>性质是 ______ o</a:t>
            </a:r>
          </a:p>
        </p:txBody>
      </p:sp>
      <p:sp>
        <p:nvSpPr>
          <p:cNvPr id="21" name="文字_(2) 向装置甲中通入空气的作用除了搅拌使Cu粉"/>
          <p:cNvSpPr txBox="1"/>
          <p:nvPr/>
        </p:nvSpPr>
        <p:spPr>
          <a:xfrm>
            <a:off x="502920" y="499356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向装置甲中通入空气的作用除了搅拌使Cu粉与溶液充分接触外，还有</a:t>
            </a:r>
          </a:p>
        </p:txBody>
      </p:sp>
      <p:sp>
        <p:nvSpPr>
          <p:cNvPr id="22" name="文字_(3)若铜粉过量，判断反应完成的现象是"/>
          <p:cNvSpPr txBox="1"/>
          <p:nvPr/>
        </p:nvSpPr>
        <p:spPr>
          <a:xfrm>
            <a:off x="502920" y="543247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(3)若铜粉过量，判断反应完成的现象是</a:t>
            </a:r>
          </a:p>
        </p:txBody>
      </p:sp>
      <p:sp>
        <p:nvSpPr>
          <p:cNvPr id="23" name="文字_(4)NaOH溶液的作用是"/>
          <p:cNvSpPr txBox="1"/>
          <p:nvPr/>
        </p:nvSpPr>
        <p:spPr>
          <a:xfrm>
            <a:off x="502920" y="587138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(4)NaOH溶液的作用是</a:t>
            </a:r>
          </a:p>
        </p:txBody>
      </p:sp>
      <p:sp>
        <p:nvSpPr>
          <p:cNvPr id="24" name="文字_解答题  ·  14-03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14-038</a:t>
            </a:r>
          </a:p>
        </p:txBody>
      </p:sp>
      <p:sp>
        <p:nvSpPr>
          <p:cNvPr id="25" name="文字_5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变式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变式1</a:t>
            </a:r>
          </a:p>
        </p:txBody>
      </p:sp>
      <p:sp>
        <p:nvSpPr>
          <p:cNvPr id="5" name="文字_P31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P316</a:t>
            </a:r>
          </a:p>
        </p:txBody>
      </p:sp>
      <p:sp>
        <p:nvSpPr>
          <p:cNvPr id="6" name="文字_对下列事实的解释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对下列事实的解释正确的是</a:t>
            </a:r>
          </a:p>
        </p:txBody>
      </p:sp>
      <p:sp>
        <p:nvSpPr>
          <p:cNvPr id="7" name="文字_A. 在蔗糖中加入浓硫酸后出现发黑现象，说明浓硫"/>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在蔗糖中加入浓硫酸后出现发黑现象，说明浓硫酸具有脱水性</a:t>
            </a:r>
          </a:p>
        </p:txBody>
      </p:sp>
      <p:sp>
        <p:nvSpPr>
          <p:cNvPr id="8" name="文字_B. 浓硝酸在光照下颜色变黄，说明浓硝酸易挥发"/>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浓硝酸在光照下颜色变黄，说明浓硝酸易挥发</a:t>
            </a:r>
          </a:p>
        </p:txBody>
      </p:sp>
      <p:sp>
        <p:nvSpPr>
          <p:cNvPr id="9" name="文字_C. 常温下，浓硝酸可以用铝制器皿贮存，说明铝与"/>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常温下，浓硝酸可以用铝制器皿贮存，说明铝与浓硝酸不反应</a:t>
            </a:r>
          </a:p>
        </p:txBody>
      </p:sp>
      <p:sp>
        <p:nvSpPr>
          <p:cNvPr id="10" name="文字_D. 将SO₂通入BaCl₂溶液至饱和，无沉淀生"/>
          <p:cNvSpPr txBox="1"/>
          <p:nvPr/>
        </p:nvSpPr>
        <p:spPr>
          <a:xfrm>
            <a:off x="502920" y="283464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将SO₂通入BaCl₂溶液至饱和，无沉淀生成，继续通入另一种气体有白色沉淀，</a:t>
            </a:r>
          </a:p>
          <a:p>
            <a:pPr>
              <a:lnSpc>
                <a:spcPct val="112000"/>
              </a:lnSpc>
              <a:spcBef>
                <a:spcPts val="0"/>
              </a:spcBef>
              <a:spcAft>
                <a:spcPts val="0"/>
              </a:spcAft>
              <a:defRPr sz="2400" b="0">
                <a:solidFill>
                  <a:srgbClr val="333333"/>
                </a:solidFill>
                <a:latin typeface="微软雅黑"/>
              </a:defRPr>
            </a:pPr>
            <a:r>
              <a:rPr>
                <a:ea typeface="微软雅黑"/>
              </a:rPr>
              <a:t>则通入的气体一定是NH₃</a:t>
            </a:r>
          </a:p>
        </p:txBody>
      </p:sp>
      <p:sp>
        <p:nvSpPr>
          <p:cNvPr id="11" name="文字_单选题  ·  14-03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14-039</a:t>
            </a:r>
          </a:p>
        </p:txBody>
      </p:sp>
      <p:sp>
        <p:nvSpPr>
          <p:cNvPr id="12" name="文字_5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变式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变式2</a:t>
            </a:r>
          </a:p>
        </p:txBody>
      </p:sp>
      <p:sp>
        <p:nvSpPr>
          <p:cNvPr id="5" name="文字_P31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P316</a:t>
            </a:r>
          </a:p>
        </p:txBody>
      </p:sp>
      <p:sp>
        <p:nvSpPr>
          <p:cNvPr id="6" name="文字_关于硝酸说法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关于硝酸说法正确的是</a:t>
            </a:r>
          </a:p>
        </p:txBody>
      </p:sp>
      <p:sp>
        <p:nvSpPr>
          <p:cNvPr id="7" name="文字_A. NO₂溶于水生成硝酸，所以NO₂是酸性氧化"/>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NO₂溶于水生成硝酸，所以NO₂是酸性氧化物</a:t>
            </a:r>
          </a:p>
        </p:txBody>
      </p:sp>
      <p:sp>
        <p:nvSpPr>
          <p:cNvPr id="8" name="文字_B. 冷的稀硝酸可以保存在铝、铁的容器中"/>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冷的稀硝酸可以保存在铝、铁的容器中</a:t>
            </a:r>
          </a:p>
        </p:txBody>
      </p:sp>
      <p:sp>
        <p:nvSpPr>
          <p:cNvPr id="9" name="文字_C. 浓硝酸久置溶液会变黄是因为硝酸分解产生NO"/>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浓硝酸久置溶液会变黄是因为硝酸分解产生NO₂</a:t>
            </a:r>
          </a:p>
        </p:txBody>
      </p:sp>
      <p:sp>
        <p:nvSpPr>
          <p:cNvPr id="10" name="文字_D. 硝酸与铜的反应中，硝酸只表现氧化性"/>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硝酸与铜的反应中，硝酸只表现氧化性</a:t>
            </a:r>
          </a:p>
        </p:txBody>
      </p:sp>
      <p:sp>
        <p:nvSpPr>
          <p:cNvPr id="11" name="文字_单选题  ·  14-04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14-040</a:t>
            </a:r>
          </a:p>
        </p:txBody>
      </p:sp>
      <p:sp>
        <p:nvSpPr>
          <p:cNvPr id="12" name="文字_5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变式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变式3</a:t>
            </a:r>
          </a:p>
        </p:txBody>
      </p:sp>
      <p:sp>
        <p:nvSpPr>
          <p:cNvPr id="5" name="文字_P31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P316</a:t>
            </a:r>
          </a:p>
        </p:txBody>
      </p:sp>
      <p:pic>
        <p:nvPicPr>
          <p:cNvPr id="6" name="Picture 5" descr="image.png"/>
          <p:cNvPicPr>
            <a:picLocks noChangeAspect="1"/>
          </p:cNvPicPr>
          <p:nvPr/>
        </p:nvPicPr>
        <p:blipFill>
          <a:blip r:embed="rId3"/>
          <a:stretch>
            <a:fillRect/>
          </a:stretch>
        </p:blipFill>
        <p:spPr>
          <a:xfrm>
            <a:off x="502920" y="1078992"/>
            <a:ext cx="11064240" cy="2266446"/>
          </a:xfrm>
          <a:prstGeom prst="rect">
            <a:avLst/>
          </a:prstGeom>
        </p:spPr>
      </p:pic>
      <p:sp>
        <p:nvSpPr>
          <p:cNvPr id="7" name="原题文字_316_20"/>
          <p:cNvSpPr txBox="1"/>
          <p:nvPr/>
        </p:nvSpPr>
        <p:spPr>
          <a:xfrm>
            <a:off x="602459" y="1087905"/>
            <a:ext cx="5981315"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下表所述实验中均有红棕色气体产生，下列分析不正确的是（</a:t>
            </a:r>
          </a:p>
        </p:txBody>
      </p:sp>
      <p:sp>
        <p:nvSpPr>
          <p:cNvPr id="8" name="原题文字_316_21"/>
          <p:cNvSpPr txBox="1"/>
          <p:nvPr/>
        </p:nvSpPr>
        <p:spPr>
          <a:xfrm>
            <a:off x="2539658" y="2006734"/>
            <a:ext cx="79758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红热木炭</a:t>
            </a:r>
          </a:p>
        </p:txBody>
      </p:sp>
      <p:sp>
        <p:nvSpPr>
          <p:cNvPr id="9" name="原题文字_316_22"/>
          <p:cNvSpPr txBox="1"/>
          <p:nvPr/>
        </p:nvSpPr>
        <p:spPr>
          <a:xfrm>
            <a:off x="2486060" y="2267069"/>
            <a:ext cx="713358" cy="288665"/>
          </a:xfrm>
          <a:prstGeom prst="rect">
            <a:avLst/>
          </a:prstGeom>
          <a:noFill/>
        </p:spPr>
        <p:txBody>
          <a:bodyPr wrap="none" lIns="0" rIns="0" tIns="0" bIns="0">
            <a:spAutoFit/>
          </a:bodyPr>
          <a:lstStyle/>
          <a:p>
            <a:pPr>
              <a:lnSpc>
                <a:spcPct val="112000"/>
              </a:lnSpc>
              <a:spcBef>
                <a:spcPts val="0"/>
              </a:spcBef>
              <a:spcAft>
                <a:spcPts val="0"/>
              </a:spcAft>
              <a:defRPr sz="1261" b="0">
                <a:solidFill>
                  <a:srgbClr val="333333"/>
                </a:solidFill>
                <a:latin typeface="微软雅黑"/>
              </a:defRPr>
            </a:pPr>
            <a:r>
              <a:rPr>
                <a:ea typeface="微软雅黑"/>
              </a:rPr>
              <a:t>-浓HNO₃</a:t>
            </a:r>
          </a:p>
        </p:txBody>
      </p:sp>
      <p:sp>
        <p:nvSpPr>
          <p:cNvPr id="10" name="原题文字_316_23"/>
          <p:cNvSpPr txBox="1"/>
          <p:nvPr/>
        </p:nvSpPr>
        <p:spPr>
          <a:xfrm>
            <a:off x="4775477" y="2267069"/>
            <a:ext cx="828212" cy="238895"/>
          </a:xfrm>
          <a:prstGeom prst="rect">
            <a:avLst/>
          </a:prstGeom>
          <a:noFill/>
        </p:spPr>
        <p:txBody>
          <a:bodyPr wrap="none" lIns="0" rIns="0" tIns="0" bIns="0">
            <a:spAutoFit/>
          </a:bodyPr>
          <a:lstStyle/>
          <a:p>
            <a:pPr>
              <a:lnSpc>
                <a:spcPct val="112000"/>
              </a:lnSpc>
              <a:spcBef>
                <a:spcPts val="0"/>
              </a:spcBef>
              <a:spcAft>
                <a:spcPts val="0"/>
              </a:spcAft>
              <a:defRPr sz="1157" b="0">
                <a:solidFill>
                  <a:srgbClr val="333333"/>
                </a:solidFill>
                <a:latin typeface="微软雅黑"/>
              </a:defRPr>
            </a:pPr>
            <a:r>
              <a:rPr>
                <a:ea typeface="微软雅黑"/>
              </a:rPr>
              <a:t>灼热碎玻璃</a:t>
            </a:r>
          </a:p>
        </p:txBody>
      </p:sp>
      <p:sp>
        <p:nvSpPr>
          <p:cNvPr id="11" name="原题文字_316_24"/>
          <p:cNvSpPr txBox="1"/>
          <p:nvPr/>
        </p:nvSpPr>
        <p:spPr>
          <a:xfrm>
            <a:off x="7294602" y="2297697"/>
            <a:ext cx="713358" cy="308573"/>
          </a:xfrm>
          <a:prstGeom prst="rect">
            <a:avLst/>
          </a:prstGeom>
          <a:noFill/>
        </p:spPr>
        <p:txBody>
          <a:bodyPr wrap="none" lIns="0" rIns="0" tIns="0" bIns="0">
            <a:spAutoFit/>
          </a:bodyPr>
          <a:lstStyle/>
          <a:p>
            <a:pPr>
              <a:lnSpc>
                <a:spcPct val="112000"/>
              </a:lnSpc>
              <a:spcBef>
                <a:spcPts val="0"/>
              </a:spcBef>
              <a:spcAft>
                <a:spcPts val="0"/>
              </a:spcAft>
              <a:defRPr sz="1429" b="0">
                <a:solidFill>
                  <a:srgbClr val="333333"/>
                </a:solidFill>
                <a:latin typeface="微软雅黑"/>
              </a:defRPr>
            </a:pPr>
            <a:r>
              <a:rPr>
                <a:ea typeface="微软雅黑"/>
              </a:rPr>
              <a:t>红热木炭</a:t>
            </a:r>
          </a:p>
        </p:txBody>
      </p:sp>
      <p:sp>
        <p:nvSpPr>
          <p:cNvPr id="12" name="原题文字_316_25"/>
          <p:cNvSpPr txBox="1"/>
          <p:nvPr/>
        </p:nvSpPr>
        <p:spPr>
          <a:xfrm>
            <a:off x="4652967" y="2466149"/>
            <a:ext cx="713358" cy="278711"/>
          </a:xfrm>
          <a:prstGeom prst="rect">
            <a:avLst/>
          </a:prstGeom>
          <a:noFill/>
        </p:spPr>
        <p:txBody>
          <a:bodyPr wrap="none" lIns="0" rIns="0" tIns="0" bIns="0">
            <a:spAutoFit/>
          </a:bodyPr>
          <a:lstStyle/>
          <a:p>
            <a:pPr>
              <a:lnSpc>
                <a:spcPct val="112000"/>
              </a:lnSpc>
              <a:spcBef>
                <a:spcPts val="0"/>
              </a:spcBef>
              <a:spcAft>
                <a:spcPts val="0"/>
              </a:spcAft>
              <a:defRPr sz="1349" b="0">
                <a:solidFill>
                  <a:srgbClr val="333333"/>
                </a:solidFill>
                <a:latin typeface="微软雅黑"/>
              </a:defRPr>
            </a:pPr>
            <a:r>
              <a:rPr>
                <a:ea typeface="微软雅黑"/>
              </a:rPr>
              <a:t>浓HNO₃</a:t>
            </a:r>
          </a:p>
        </p:txBody>
      </p:sp>
      <p:sp>
        <p:nvSpPr>
          <p:cNvPr id="13" name="原题文字_316_26"/>
          <p:cNvSpPr txBox="1"/>
          <p:nvPr/>
        </p:nvSpPr>
        <p:spPr>
          <a:xfrm>
            <a:off x="7294602" y="2634601"/>
            <a:ext cx="636789" cy="278711"/>
          </a:xfrm>
          <a:prstGeom prst="rect">
            <a:avLst/>
          </a:prstGeom>
          <a:noFill/>
        </p:spPr>
        <p:txBody>
          <a:bodyPr wrap="none" lIns="0" rIns="0" tIns="0" bIns="0">
            <a:spAutoFit/>
          </a:bodyPr>
          <a:lstStyle/>
          <a:p>
            <a:pPr>
              <a:lnSpc>
                <a:spcPct val="112000"/>
              </a:lnSpc>
              <a:spcBef>
                <a:spcPts val="0"/>
              </a:spcBef>
              <a:spcAft>
                <a:spcPts val="0"/>
              </a:spcAft>
              <a:defRPr sz="1085" b="0">
                <a:solidFill>
                  <a:srgbClr val="333333"/>
                </a:solidFill>
                <a:latin typeface="微软雅黑"/>
              </a:defRPr>
            </a:pPr>
            <a:r>
              <a:rPr>
                <a:ea typeface="微软雅黑"/>
              </a:rPr>
              <a:t>-浓HNO₃</a:t>
            </a:r>
          </a:p>
        </p:txBody>
      </p:sp>
      <p:sp>
        <p:nvSpPr>
          <p:cNvPr id="14" name="原题文字_316_27"/>
          <p:cNvSpPr txBox="1"/>
          <p:nvPr/>
        </p:nvSpPr>
        <p:spPr>
          <a:xfrm>
            <a:off x="2179784" y="2917907"/>
            <a:ext cx="28457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①</a:t>
            </a:r>
          </a:p>
        </p:txBody>
      </p:sp>
      <p:sp>
        <p:nvSpPr>
          <p:cNvPr id="15" name="原题文字_316_28"/>
          <p:cNvSpPr txBox="1"/>
          <p:nvPr/>
        </p:nvSpPr>
        <p:spPr>
          <a:xfrm>
            <a:off x="4484515" y="2925564"/>
            <a:ext cx="246286"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②</a:t>
            </a:r>
          </a:p>
        </p:txBody>
      </p:sp>
      <p:sp>
        <p:nvSpPr>
          <p:cNvPr id="16" name="原题文字_316_29"/>
          <p:cNvSpPr txBox="1"/>
          <p:nvPr/>
        </p:nvSpPr>
        <p:spPr>
          <a:xfrm>
            <a:off x="7034267" y="2917907"/>
            <a:ext cx="26925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③</a:t>
            </a:r>
          </a:p>
        </p:txBody>
      </p:sp>
      <p:sp>
        <p:nvSpPr>
          <p:cNvPr id="17" name="文字_A. 由①中的红棕色气体，不能说明浓硝酸被木炭还"/>
          <p:cNvSpPr txBox="1"/>
          <p:nvPr/>
        </p:nvSpPr>
        <p:spPr>
          <a:xfrm>
            <a:off x="502920" y="341859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由①中的红棕色气体，不能说明浓硝酸被木炭还原</a:t>
            </a:r>
          </a:p>
        </p:txBody>
      </p:sp>
      <p:sp>
        <p:nvSpPr>
          <p:cNvPr id="18" name="文字_B. 由②中的红棕色气体，推断产生的气体一定是混"/>
          <p:cNvSpPr txBox="1"/>
          <p:nvPr/>
        </p:nvSpPr>
        <p:spPr>
          <a:xfrm>
            <a:off x="502920" y="385750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由②中的红棕色气体，推断产生的气体一定是混合气体</a:t>
            </a:r>
          </a:p>
        </p:txBody>
      </p:sp>
      <p:sp>
        <p:nvSpPr>
          <p:cNvPr id="19" name="文字_C. 将③中红热木炭换成灼热碎玻璃，也能出现红棕"/>
          <p:cNvSpPr txBox="1"/>
          <p:nvPr/>
        </p:nvSpPr>
        <p:spPr>
          <a:xfrm>
            <a:off x="502920" y="429641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将③中红热木炭换成灼热碎玻璃，也能出现红棕色气体</a:t>
            </a:r>
          </a:p>
        </p:txBody>
      </p:sp>
      <p:sp>
        <p:nvSpPr>
          <p:cNvPr id="20" name="文字_D. 由③中的气体产物中检测出CO₂，说明木炭与"/>
          <p:cNvSpPr txBox="1"/>
          <p:nvPr/>
        </p:nvSpPr>
        <p:spPr>
          <a:xfrm>
            <a:off x="502920" y="473532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由③中的气体产物中检测出CO₂，说明木炭与浓硝酸发生了反应</a:t>
            </a:r>
          </a:p>
        </p:txBody>
      </p:sp>
      <p:sp>
        <p:nvSpPr>
          <p:cNvPr id="21" name="文字_单选题  ·  14-04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14-041</a:t>
            </a:r>
          </a:p>
        </p:txBody>
      </p:sp>
      <p:sp>
        <p:nvSpPr>
          <p:cNvPr id="22" name="文字_5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变式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变式4</a:t>
            </a:r>
          </a:p>
        </p:txBody>
      </p:sp>
      <p:sp>
        <p:nvSpPr>
          <p:cNvPr id="5" name="文字_P317"/>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P317</a:t>
            </a:r>
          </a:p>
        </p:txBody>
      </p:sp>
      <p:sp>
        <p:nvSpPr>
          <p:cNvPr id="6" name="文字_如图是用浓硝酸、铜片、水等试剂探究浓、稀硝酸的强"/>
          <p:cNvSpPr txBox="1"/>
          <p:nvPr/>
        </p:nvSpPr>
        <p:spPr>
          <a:xfrm>
            <a:off x="502920" y="1078992"/>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如图是用浓硝酸、铜片、水等试剂探究浓、稀硝酸的强氧化性并观察还原产物的实验装置。</a:t>
            </a:r>
          </a:p>
        </p:txBody>
      </p:sp>
      <p:sp>
        <p:nvSpPr>
          <p:cNvPr id="7" name="文字_I.浓硝酸的强氧化性实验"/>
          <p:cNvSpPr txBox="1"/>
          <p:nvPr/>
        </p:nvSpPr>
        <p:spPr>
          <a:xfrm>
            <a:off x="502920" y="1298448"/>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I.浓硝酸的强氧化性实验</a:t>
            </a:r>
          </a:p>
        </p:txBody>
      </p:sp>
      <p:pic>
        <p:nvPicPr>
          <p:cNvPr id="8" name="Picture 7" descr="image.png"/>
          <p:cNvPicPr>
            <a:picLocks noChangeAspect="1"/>
          </p:cNvPicPr>
          <p:nvPr/>
        </p:nvPicPr>
        <p:blipFill>
          <a:blip r:embed="rId3"/>
          <a:stretch>
            <a:fillRect/>
          </a:stretch>
        </p:blipFill>
        <p:spPr>
          <a:xfrm>
            <a:off x="502920" y="1517904"/>
            <a:ext cx="7593724" cy="1040524"/>
          </a:xfrm>
          <a:prstGeom prst="rect">
            <a:avLst/>
          </a:prstGeom>
        </p:spPr>
      </p:pic>
      <p:sp>
        <p:nvSpPr>
          <p:cNvPr id="9" name="原题文字_317_5"/>
          <p:cNvSpPr txBox="1"/>
          <p:nvPr/>
        </p:nvSpPr>
        <p:spPr>
          <a:xfrm>
            <a:off x="891802" y="2147379"/>
            <a:ext cx="180988" cy="464557"/>
          </a:xfrm>
          <a:prstGeom prst="rect">
            <a:avLst/>
          </a:prstGeom>
          <a:noFill/>
        </p:spPr>
        <p:txBody>
          <a:bodyPr wrap="none" lIns="0" rIns="0" tIns="0" bIns="0">
            <a:spAutoFit/>
          </a:bodyPr>
          <a:lstStyle/>
          <a:p>
            <a:pPr>
              <a:lnSpc>
                <a:spcPct val="112000"/>
              </a:lnSpc>
              <a:spcBef>
                <a:spcPts val="0"/>
              </a:spcBef>
              <a:spcAft>
                <a:spcPts val="0"/>
              </a:spcAft>
              <a:defRPr sz="1485" b="0">
                <a:solidFill>
                  <a:srgbClr val="333333"/>
                </a:solidFill>
                <a:latin typeface="微软雅黑"/>
              </a:defRPr>
            </a:pPr>
            <a:r>
              <a:rPr>
                <a:ea typeface="微软雅黑"/>
              </a:rPr>
              <a:t>文试管</a:t>
            </a:r>
          </a:p>
        </p:txBody>
      </p:sp>
      <p:sp>
        <p:nvSpPr>
          <p:cNvPr id="10" name="原题文字_317_6"/>
          <p:cNvSpPr txBox="1"/>
          <p:nvPr/>
        </p:nvSpPr>
        <p:spPr>
          <a:xfrm>
            <a:off x="1622271" y="2268248"/>
            <a:ext cx="212519" cy="198120"/>
          </a:xfrm>
          <a:prstGeom prst="rect">
            <a:avLst/>
          </a:prstGeom>
          <a:noFill/>
        </p:spPr>
        <p:txBody>
          <a:bodyPr wrap="none" lIns="0" rIns="0" tIns="0" bIns="0">
            <a:spAutoFit/>
          </a:bodyPr>
          <a:lstStyle/>
          <a:p>
            <a:pPr>
              <a:lnSpc>
                <a:spcPct val="112000"/>
              </a:lnSpc>
              <a:spcBef>
                <a:spcPts val="0"/>
              </a:spcBef>
              <a:spcAft>
                <a:spcPts val="0"/>
              </a:spcAft>
              <a:defRPr sz="960" b="0">
                <a:solidFill>
                  <a:srgbClr val="333333"/>
                </a:solidFill>
                <a:latin typeface="微软雅黑"/>
              </a:defRPr>
            </a:pPr>
            <a:r>
              <a:rPr>
                <a:ea typeface="微软雅黑"/>
              </a:rPr>
              <a:t>水</a:t>
            </a:r>
          </a:p>
        </p:txBody>
      </p:sp>
      <p:sp>
        <p:nvSpPr>
          <p:cNvPr id="11" name="文字_将铜片置于具支试管的底部，在分液漏斗中加入约5m"/>
          <p:cNvSpPr txBox="1"/>
          <p:nvPr/>
        </p:nvSpPr>
        <p:spPr>
          <a:xfrm>
            <a:off x="502920" y="2631580"/>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将铜片置于具支试管的底部，在分液漏斗中加入约5mL浓硝酸，往具支试管中放入约2mL浓硝酸，用排水法收集产生的气体。</a:t>
            </a:r>
          </a:p>
        </p:txBody>
      </p:sp>
      <p:sp>
        <p:nvSpPr>
          <p:cNvPr id="12" name="文字_(1)具支试管中发生反应的化学方程式: ____"/>
          <p:cNvSpPr txBox="1"/>
          <p:nvPr/>
        </p:nvSpPr>
        <p:spPr>
          <a:xfrm>
            <a:off x="502920" y="2851036"/>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(1)具支试管中发生反应的化学方程式: ______ O</a:t>
            </a:r>
          </a:p>
        </p:txBody>
      </p:sp>
      <p:sp>
        <p:nvSpPr>
          <p:cNvPr id="13" name="文字_(2)实验中观察到能证明浓硝酸具有强氧化性的现象"/>
          <p:cNvSpPr txBox="1"/>
          <p:nvPr/>
        </p:nvSpPr>
        <p:spPr>
          <a:xfrm>
            <a:off x="502920" y="3070492"/>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(2)实验中观察到能证明浓硝酸具有强氧化性的现象</a:t>
            </a:r>
          </a:p>
        </p:txBody>
      </p:sp>
      <p:sp>
        <p:nvSpPr>
          <p:cNvPr id="14" name="文字_Ⅱ.稀硝酸的强氧化性实验"/>
          <p:cNvSpPr txBox="1"/>
          <p:nvPr/>
        </p:nvSpPr>
        <p:spPr>
          <a:xfrm>
            <a:off x="502920" y="3289948"/>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Ⅱ.稀硝酸的强氧化性实验</a:t>
            </a:r>
          </a:p>
        </p:txBody>
      </p:sp>
      <p:sp>
        <p:nvSpPr>
          <p:cNvPr id="15" name="文字_(3)上述反应完成后，欲进一步证明稀硝酸也具有强"/>
          <p:cNvSpPr txBox="1"/>
          <p:nvPr/>
        </p:nvSpPr>
        <p:spPr>
          <a:xfrm>
            <a:off x="502920" y="3509404"/>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(3)上述反应完成后，欲进一步证明稀硝酸也具有强氧化性，紧接的简便、合理的实验操作是 ______ O</a:t>
            </a:r>
          </a:p>
        </p:txBody>
      </p:sp>
      <p:sp>
        <p:nvSpPr>
          <p:cNvPr id="16" name="文字_(4)能证明稀硝酸与铜反应产生NO的实验现象是 "/>
          <p:cNvSpPr txBox="1"/>
          <p:nvPr/>
        </p:nvSpPr>
        <p:spPr>
          <a:xfrm>
            <a:off x="502920" y="3728860"/>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(4)能证明稀硝酸与铜反应产生NO的实验现象是 ______ (填写序号)。</a:t>
            </a:r>
          </a:p>
        </p:txBody>
      </p:sp>
      <p:sp>
        <p:nvSpPr>
          <p:cNvPr id="17" name="文字_A.c中收集到无色气体"/>
          <p:cNvSpPr txBox="1"/>
          <p:nvPr/>
        </p:nvSpPr>
        <p:spPr>
          <a:xfrm>
            <a:off x="502920" y="3948316"/>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A.c中收集到无色气体</a:t>
            </a:r>
          </a:p>
        </p:txBody>
      </p:sp>
      <p:sp>
        <p:nvSpPr>
          <p:cNvPr id="18" name="文字_B.c中收集到的无色气体接触空气后变为红棕色"/>
          <p:cNvSpPr txBox="1"/>
          <p:nvPr/>
        </p:nvSpPr>
        <p:spPr>
          <a:xfrm>
            <a:off x="502920" y="4167772"/>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B.c中收集到的无色气体接触空气后变为红棕色</a:t>
            </a:r>
          </a:p>
        </p:txBody>
      </p:sp>
      <p:sp>
        <p:nvSpPr>
          <p:cNvPr id="19" name="文字_C.b中产生的无色气体接触空气后变为红棕色"/>
          <p:cNvSpPr txBox="1"/>
          <p:nvPr/>
        </p:nvSpPr>
        <p:spPr>
          <a:xfrm>
            <a:off x="502920" y="4387228"/>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C.b中产生的无色气体接触空气后变为红棕色</a:t>
            </a:r>
          </a:p>
        </p:txBody>
      </p:sp>
      <p:sp>
        <p:nvSpPr>
          <p:cNvPr id="20" name="文字_ⅢI.实验反思"/>
          <p:cNvSpPr txBox="1"/>
          <p:nvPr/>
        </p:nvSpPr>
        <p:spPr>
          <a:xfrm>
            <a:off x="502920" y="4606684"/>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ⅢI.实验反思</a:t>
            </a:r>
          </a:p>
        </p:txBody>
      </p:sp>
      <p:sp>
        <p:nvSpPr>
          <p:cNvPr id="21" name="文字_(5)利用该装置先进行铜与浓硝酸反应，再进行铜与"/>
          <p:cNvSpPr txBox="1"/>
          <p:nvPr/>
        </p:nvSpPr>
        <p:spPr>
          <a:xfrm>
            <a:off x="502920" y="4826140"/>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(5)利用该装置先进行铜与浓硝酸反应，再进行铜与稀硝酸反应的实验，其好处是</a:t>
            </a:r>
          </a:p>
        </p:txBody>
      </p:sp>
      <p:sp>
        <p:nvSpPr>
          <p:cNvPr id="22" name="文字_IV.问题讨论"/>
          <p:cNvSpPr txBox="1"/>
          <p:nvPr/>
        </p:nvSpPr>
        <p:spPr>
          <a:xfrm>
            <a:off x="502920" y="5045596"/>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IV.问题讨论</a:t>
            </a:r>
          </a:p>
        </p:txBody>
      </p:sp>
      <p:sp>
        <p:nvSpPr>
          <p:cNvPr id="23" name="文字_用等质量的铜片与等体积的浓硝酸、稀硝酸(硝酸均过"/>
          <p:cNvSpPr txBox="1"/>
          <p:nvPr/>
        </p:nvSpPr>
        <p:spPr>
          <a:xfrm>
            <a:off x="502920" y="5265052"/>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用等质量的铜片与等体积的浓硝酸、稀硝酸(硝酸均过量)反应时，发现反应后所得溶液前者呈绿色，后者呈蓝色。</a:t>
            </a:r>
          </a:p>
        </p:txBody>
      </p:sp>
      <p:sp>
        <p:nvSpPr>
          <p:cNvPr id="24" name="文字_对此有两种看法:"/>
          <p:cNvSpPr txBox="1"/>
          <p:nvPr/>
        </p:nvSpPr>
        <p:spPr>
          <a:xfrm>
            <a:off x="502920" y="5484508"/>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对此有两种看法:</a:t>
            </a:r>
          </a:p>
        </p:txBody>
      </p:sp>
      <p:sp>
        <p:nvSpPr>
          <p:cNvPr id="25" name="文字_①两者颜色不同的原因是因为Cu²⁺浓度差异引起的"/>
          <p:cNvSpPr txBox="1"/>
          <p:nvPr/>
        </p:nvSpPr>
        <p:spPr>
          <a:xfrm>
            <a:off x="502920" y="5703964"/>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①两者颜色不同的原因是因为Cu²⁺浓度差异引起的。</a:t>
            </a:r>
          </a:p>
        </p:txBody>
      </p:sp>
      <p:sp>
        <p:nvSpPr>
          <p:cNvPr id="26" name="文字_②前者溶液呈绿色，是因为生成的红棕色NO₂溶解于"/>
          <p:cNvSpPr txBox="1"/>
          <p:nvPr/>
        </p:nvSpPr>
        <p:spPr>
          <a:xfrm>
            <a:off x="502920" y="5923420"/>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②前者溶液呈绿色，是因为生成的红棕色NO₂溶解于溶液中引起的。</a:t>
            </a:r>
          </a:p>
        </p:txBody>
      </p:sp>
      <p:sp>
        <p:nvSpPr>
          <p:cNvPr id="27" name="文字_(6)你认为上述看法 ______ (填“①”或"/>
          <p:cNvSpPr txBox="1"/>
          <p:nvPr/>
        </p:nvSpPr>
        <p:spPr>
          <a:xfrm>
            <a:off x="502920" y="6142876"/>
            <a:ext cx="11064240" cy="219456"/>
          </a:xfrm>
          <a:prstGeom prst="rect">
            <a:avLst/>
          </a:prstGeom>
          <a:noFill/>
        </p:spPr>
        <p:txBody>
          <a:bodyPr wrap="square" lIns="0" rIns="0" tIns="0" bIns="0">
            <a:spAutoFit/>
          </a:bodyPr>
          <a:lstStyle/>
          <a:p>
            <a:pPr>
              <a:lnSpc>
                <a:spcPct val="112000"/>
              </a:lnSpc>
              <a:spcBef>
                <a:spcPts val="0"/>
              </a:spcBef>
              <a:spcAft>
                <a:spcPts val="0"/>
              </a:spcAft>
              <a:defRPr sz="1200" b="0">
                <a:solidFill>
                  <a:srgbClr val="333333"/>
                </a:solidFill>
                <a:latin typeface="微软雅黑"/>
              </a:defRPr>
            </a:pPr>
            <a:r>
              <a:rPr>
                <a:ea typeface="微软雅黑"/>
              </a:rPr>
              <a:t>(6)你认为上述看法 ______ (填“①”或“②”)合理。若是①合理，说明理由，若是②合理，设计一个简单实验证明：</a:t>
            </a:r>
          </a:p>
        </p:txBody>
      </p:sp>
      <p:sp>
        <p:nvSpPr>
          <p:cNvPr id="28" name="文字_解答题  ·  14-04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14-042</a:t>
            </a:r>
          </a:p>
        </p:txBody>
      </p:sp>
      <p:sp>
        <p:nvSpPr>
          <p:cNvPr id="29" name="文字_5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变式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变式5</a:t>
            </a:r>
          </a:p>
        </p:txBody>
      </p:sp>
      <p:sp>
        <p:nvSpPr>
          <p:cNvPr id="5" name="文字_P31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P318</a:t>
            </a:r>
          </a:p>
        </p:txBody>
      </p:sp>
      <p:sp>
        <p:nvSpPr>
          <p:cNvPr id="6" name="文字_某化学课外小组模拟工业生产制取HNO₃，设计下图"/>
          <p:cNvSpPr txBox="1"/>
          <p:nvPr/>
        </p:nvSpPr>
        <p:spPr>
          <a:xfrm>
            <a:off x="502920" y="1078992"/>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某化学课外小组模拟工业生产制取HNO₃，设计下图所示装置，其中a为一个可持续鼓入空气的橡皮球</a:t>
            </a:r>
          </a:p>
        </p:txBody>
      </p:sp>
      <p:pic>
        <p:nvPicPr>
          <p:cNvPr id="7" name="Picture 6" descr="image.png"/>
          <p:cNvPicPr>
            <a:picLocks noChangeAspect="1"/>
          </p:cNvPicPr>
          <p:nvPr/>
        </p:nvPicPr>
        <p:blipFill>
          <a:blip r:embed="rId3"/>
          <a:stretch>
            <a:fillRect/>
          </a:stretch>
        </p:blipFill>
        <p:spPr>
          <a:xfrm>
            <a:off x="502920" y="1435607"/>
            <a:ext cx="11064240" cy="2656948"/>
          </a:xfrm>
          <a:prstGeom prst="rect">
            <a:avLst/>
          </a:prstGeom>
        </p:spPr>
      </p:pic>
      <p:sp>
        <p:nvSpPr>
          <p:cNvPr id="8" name="原题文字_318_4"/>
          <p:cNvSpPr txBox="1"/>
          <p:nvPr/>
        </p:nvSpPr>
        <p:spPr>
          <a:xfrm>
            <a:off x="1475348" y="1467491"/>
            <a:ext cx="812898" cy="328481"/>
          </a:xfrm>
          <a:prstGeom prst="rect">
            <a:avLst/>
          </a:prstGeom>
          <a:noFill/>
        </p:spPr>
        <p:txBody>
          <a:bodyPr wrap="none" lIns="0" rIns="0" tIns="0" bIns="0">
            <a:spAutoFit/>
          </a:bodyPr>
          <a:lstStyle/>
          <a:p>
            <a:pPr>
              <a:lnSpc>
                <a:spcPct val="112000"/>
              </a:lnSpc>
              <a:spcBef>
                <a:spcPts val="0"/>
              </a:spcBef>
              <a:spcAft>
                <a:spcPts val="0"/>
              </a:spcAft>
              <a:defRPr sz="1537" b="0">
                <a:solidFill>
                  <a:srgbClr val="333333"/>
                </a:solidFill>
                <a:latin typeface="微软雅黑"/>
              </a:defRPr>
            </a:pPr>
            <a:r>
              <a:rPr>
                <a:ea typeface="微软雅黑"/>
              </a:rPr>
              <a:t>NH₄Cl和</a:t>
            </a:r>
          </a:p>
        </p:txBody>
      </p:sp>
      <p:sp>
        <p:nvSpPr>
          <p:cNvPr id="9" name="原题文字_318_5"/>
          <p:cNvSpPr txBox="1"/>
          <p:nvPr/>
        </p:nvSpPr>
        <p:spPr>
          <a:xfrm>
            <a:off x="1467691" y="1651257"/>
            <a:ext cx="828212" cy="398159"/>
          </a:xfrm>
          <a:prstGeom prst="rect">
            <a:avLst/>
          </a:prstGeom>
          <a:noFill/>
        </p:spPr>
        <p:txBody>
          <a:bodyPr wrap="none" lIns="0" rIns="0" tIns="0" bIns="0">
            <a:spAutoFit/>
          </a:bodyPr>
          <a:lstStyle/>
          <a:p>
            <a:pPr>
              <a:lnSpc>
                <a:spcPct val="112000"/>
              </a:lnSpc>
              <a:spcBef>
                <a:spcPts val="0"/>
              </a:spcBef>
              <a:spcAft>
                <a:spcPts val="0"/>
              </a:spcAft>
              <a:defRPr sz="1565" b="0">
                <a:solidFill>
                  <a:srgbClr val="333333"/>
                </a:solidFill>
                <a:latin typeface="微软雅黑"/>
              </a:defRPr>
            </a:pPr>
            <a:r>
              <a:rPr>
                <a:ea typeface="微软雅黑"/>
              </a:rPr>
              <a:t>Ca(OH)₂</a:t>
            </a:r>
          </a:p>
        </p:txBody>
      </p:sp>
      <p:sp>
        <p:nvSpPr>
          <p:cNvPr id="10" name="原题文字_318_6"/>
          <p:cNvSpPr txBox="1"/>
          <p:nvPr/>
        </p:nvSpPr>
        <p:spPr>
          <a:xfrm>
            <a:off x="5158323" y="1704856"/>
            <a:ext cx="1019635" cy="348389"/>
          </a:xfrm>
          <a:prstGeom prst="rect">
            <a:avLst/>
          </a:prstGeom>
          <a:noFill/>
        </p:spPr>
        <p:txBody>
          <a:bodyPr wrap="none" lIns="0" rIns="0" tIns="0" bIns="0">
            <a:spAutoFit/>
          </a:bodyPr>
          <a:lstStyle/>
          <a:p>
            <a:pPr>
              <a:lnSpc>
                <a:spcPct val="112000"/>
              </a:lnSpc>
              <a:spcBef>
                <a:spcPts val="0"/>
              </a:spcBef>
              <a:spcAft>
                <a:spcPts val="0"/>
              </a:spcAft>
              <a:defRPr sz="1628" b="0">
                <a:solidFill>
                  <a:srgbClr val="333333"/>
                </a:solidFill>
                <a:latin typeface="微软雅黑"/>
              </a:defRPr>
            </a:pPr>
            <a:r>
              <a:rPr>
                <a:ea typeface="微软雅黑"/>
              </a:rPr>
              <a:t>载有催化剂</a:t>
            </a:r>
          </a:p>
        </p:txBody>
      </p:sp>
      <p:sp>
        <p:nvSpPr>
          <p:cNvPr id="11" name="原题文字_318_7"/>
          <p:cNvSpPr txBox="1"/>
          <p:nvPr/>
        </p:nvSpPr>
        <p:spPr>
          <a:xfrm>
            <a:off x="3803049" y="1926906"/>
            <a:ext cx="698044"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碱石灰</a:t>
            </a:r>
          </a:p>
        </p:txBody>
      </p:sp>
      <p:sp>
        <p:nvSpPr>
          <p:cNvPr id="12" name="原题文字_318_8"/>
          <p:cNvSpPr txBox="1"/>
          <p:nvPr/>
        </p:nvSpPr>
        <p:spPr>
          <a:xfrm>
            <a:off x="5165980" y="1926906"/>
            <a:ext cx="835869"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的石棉绒</a:t>
            </a:r>
          </a:p>
        </p:txBody>
      </p:sp>
      <p:sp>
        <p:nvSpPr>
          <p:cNvPr id="13" name="原题文字_318_9"/>
          <p:cNvSpPr txBox="1"/>
          <p:nvPr/>
        </p:nvSpPr>
        <p:spPr>
          <a:xfrm>
            <a:off x="7593221" y="2011132"/>
            <a:ext cx="200345"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b</a:t>
            </a:r>
          </a:p>
        </p:txBody>
      </p:sp>
      <p:sp>
        <p:nvSpPr>
          <p:cNvPr id="14" name="原题文字_318_10"/>
          <p:cNvSpPr txBox="1"/>
          <p:nvPr/>
        </p:nvSpPr>
        <p:spPr>
          <a:xfrm>
            <a:off x="8611591" y="2041760"/>
            <a:ext cx="162060" cy="179171"/>
          </a:xfrm>
          <a:prstGeom prst="rect">
            <a:avLst/>
          </a:prstGeom>
          <a:noFill/>
        </p:spPr>
        <p:txBody>
          <a:bodyPr wrap="none" lIns="0" rIns="0" tIns="0" bIns="0">
            <a:spAutoFit/>
          </a:bodyPr>
          <a:lstStyle/>
          <a:p>
            <a:pPr>
              <a:lnSpc>
                <a:spcPct val="112000"/>
              </a:lnSpc>
              <a:spcBef>
                <a:spcPts val="0"/>
              </a:spcBef>
              <a:spcAft>
                <a:spcPts val="0"/>
              </a:spcAft>
              <a:defRPr sz="868" b="0">
                <a:solidFill>
                  <a:srgbClr val="333333"/>
                </a:solidFill>
                <a:latin typeface="微软雅黑"/>
              </a:defRPr>
            </a:pPr>
            <a:r>
              <a:rPr>
                <a:ea typeface="微软雅黑"/>
              </a:rPr>
              <a:t>C</a:t>
            </a:r>
          </a:p>
        </p:txBody>
      </p:sp>
      <p:sp>
        <p:nvSpPr>
          <p:cNvPr id="15" name="原题文字_318_11"/>
          <p:cNvSpPr txBox="1"/>
          <p:nvPr/>
        </p:nvSpPr>
        <p:spPr>
          <a:xfrm>
            <a:off x="9614647" y="2378664"/>
            <a:ext cx="66741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尾气处</a:t>
            </a:r>
          </a:p>
        </p:txBody>
      </p:sp>
      <p:sp>
        <p:nvSpPr>
          <p:cNvPr id="16" name="原题文字_318_12"/>
          <p:cNvSpPr txBox="1"/>
          <p:nvPr/>
        </p:nvSpPr>
        <p:spPr>
          <a:xfrm>
            <a:off x="9606990" y="2600714"/>
            <a:ext cx="675073"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理装置</a:t>
            </a:r>
          </a:p>
        </p:txBody>
      </p:sp>
      <p:sp>
        <p:nvSpPr>
          <p:cNvPr id="17" name="原题文字_318_13"/>
          <p:cNvSpPr txBox="1"/>
          <p:nvPr/>
        </p:nvSpPr>
        <p:spPr>
          <a:xfrm>
            <a:off x="6804559" y="3504230"/>
            <a:ext cx="675073"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浓硫酸</a:t>
            </a:r>
          </a:p>
        </p:txBody>
      </p:sp>
      <p:sp>
        <p:nvSpPr>
          <p:cNvPr id="18" name="原题文字_318_14"/>
          <p:cNvSpPr txBox="1"/>
          <p:nvPr/>
        </p:nvSpPr>
        <p:spPr>
          <a:xfrm>
            <a:off x="9032721" y="3504230"/>
            <a:ext cx="322855"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水</a:t>
            </a:r>
          </a:p>
        </p:txBody>
      </p:sp>
      <p:sp>
        <p:nvSpPr>
          <p:cNvPr id="19" name="原题文字_318_15"/>
          <p:cNvSpPr txBox="1"/>
          <p:nvPr/>
        </p:nvSpPr>
        <p:spPr>
          <a:xfrm>
            <a:off x="2409491" y="3818164"/>
            <a:ext cx="238629"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A</a:t>
            </a:r>
          </a:p>
        </p:txBody>
      </p:sp>
      <p:sp>
        <p:nvSpPr>
          <p:cNvPr id="20" name="原题文字_318_16"/>
          <p:cNvSpPr txBox="1"/>
          <p:nvPr/>
        </p:nvSpPr>
        <p:spPr>
          <a:xfrm>
            <a:off x="5326775" y="3841134"/>
            <a:ext cx="230973" cy="288665"/>
          </a:xfrm>
          <a:prstGeom prst="rect">
            <a:avLst/>
          </a:prstGeom>
          <a:noFill/>
        </p:spPr>
        <p:txBody>
          <a:bodyPr wrap="none" lIns="0" rIns="0" tIns="0" bIns="0">
            <a:spAutoFit/>
          </a:bodyPr>
          <a:lstStyle/>
          <a:p>
            <a:pPr>
              <a:lnSpc>
                <a:spcPct val="112000"/>
              </a:lnSpc>
              <a:spcBef>
                <a:spcPts val="0"/>
              </a:spcBef>
              <a:spcAft>
                <a:spcPts val="0"/>
              </a:spcAft>
              <a:defRPr sz="1398" b="0">
                <a:solidFill>
                  <a:srgbClr val="333333"/>
                </a:solidFill>
                <a:latin typeface="微软雅黑"/>
              </a:defRPr>
            </a:pPr>
            <a:r>
              <a:rPr>
                <a:ea typeface="微软雅黑"/>
              </a:rPr>
              <a:t>B</a:t>
            </a:r>
          </a:p>
        </p:txBody>
      </p:sp>
      <p:sp>
        <p:nvSpPr>
          <p:cNvPr id="21" name="原题文字_318_17"/>
          <p:cNvSpPr txBox="1"/>
          <p:nvPr/>
        </p:nvSpPr>
        <p:spPr>
          <a:xfrm>
            <a:off x="7041924" y="3825821"/>
            <a:ext cx="276914"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C</a:t>
            </a:r>
          </a:p>
        </p:txBody>
      </p:sp>
      <p:sp>
        <p:nvSpPr>
          <p:cNvPr id="22" name="原题文字_318_18"/>
          <p:cNvSpPr txBox="1"/>
          <p:nvPr/>
        </p:nvSpPr>
        <p:spPr>
          <a:xfrm>
            <a:off x="8106235" y="3825821"/>
            <a:ext cx="253943" cy="268757"/>
          </a:xfrm>
          <a:prstGeom prst="rect">
            <a:avLst/>
          </a:prstGeom>
          <a:noFill/>
        </p:spPr>
        <p:txBody>
          <a:bodyPr wrap="none" lIns="0" rIns="0" tIns="0" bIns="0">
            <a:spAutoFit/>
          </a:bodyPr>
          <a:lstStyle/>
          <a:p>
            <a:pPr>
              <a:lnSpc>
                <a:spcPct val="112000"/>
              </a:lnSpc>
              <a:spcBef>
                <a:spcPts val="0"/>
              </a:spcBef>
              <a:spcAft>
                <a:spcPts val="0"/>
              </a:spcAft>
              <a:defRPr sz="1302" b="0">
                <a:solidFill>
                  <a:srgbClr val="333333"/>
                </a:solidFill>
                <a:latin typeface="微软雅黑"/>
              </a:defRPr>
            </a:pPr>
            <a:r>
              <a:rPr>
                <a:ea typeface="微软雅黑"/>
              </a:rPr>
              <a:t>D</a:t>
            </a:r>
          </a:p>
        </p:txBody>
      </p:sp>
      <p:sp>
        <p:nvSpPr>
          <p:cNvPr id="23" name="原题文字_318_19"/>
          <p:cNvSpPr txBox="1"/>
          <p:nvPr/>
        </p:nvSpPr>
        <p:spPr>
          <a:xfrm>
            <a:off x="9063349" y="3802850"/>
            <a:ext cx="269257" cy="318527"/>
          </a:xfrm>
          <a:prstGeom prst="rect">
            <a:avLst/>
          </a:prstGeom>
          <a:noFill/>
        </p:spPr>
        <p:txBody>
          <a:bodyPr wrap="none" lIns="0" rIns="0" tIns="0" bIns="0">
            <a:spAutoFit/>
          </a:bodyPr>
          <a:lstStyle/>
          <a:p>
            <a:pPr>
              <a:lnSpc>
                <a:spcPct val="112000"/>
              </a:lnSpc>
              <a:spcBef>
                <a:spcPts val="0"/>
              </a:spcBef>
              <a:spcAft>
                <a:spcPts val="0"/>
              </a:spcAft>
              <a:defRPr sz="1543" b="0">
                <a:solidFill>
                  <a:srgbClr val="333333"/>
                </a:solidFill>
                <a:latin typeface="微软雅黑"/>
              </a:defRPr>
            </a:pPr>
            <a:r>
              <a:rPr>
                <a:ea typeface="微软雅黑"/>
              </a:rPr>
              <a:t>E</a:t>
            </a:r>
          </a:p>
        </p:txBody>
      </p:sp>
      <p:sp>
        <p:nvSpPr>
          <p:cNvPr id="24" name="原题文字_318_20"/>
          <p:cNvSpPr txBox="1"/>
          <p:nvPr/>
        </p:nvSpPr>
        <p:spPr>
          <a:xfrm>
            <a:off x="9936237" y="3795193"/>
            <a:ext cx="246286"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F</a:t>
            </a:r>
          </a:p>
        </p:txBody>
      </p:sp>
      <p:sp>
        <p:nvSpPr>
          <p:cNvPr id="25" name="文字_请回答下列问题："/>
          <p:cNvSpPr txBox="1"/>
          <p:nvPr/>
        </p:nvSpPr>
        <p:spPr>
          <a:xfrm>
            <a:off x="502920" y="4165708"/>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请回答下列问题：</a:t>
            </a:r>
          </a:p>
        </p:txBody>
      </p:sp>
      <p:sp>
        <p:nvSpPr>
          <p:cNvPr id="26" name="文字_(1）写出装置A中主要反应的化学方程式 ____"/>
          <p:cNvSpPr txBox="1"/>
          <p:nvPr/>
        </p:nvSpPr>
        <p:spPr>
          <a:xfrm>
            <a:off x="502920" y="4522324"/>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(1）写出装置A中主要反应的化学方程式 ______ o</a:t>
            </a:r>
          </a:p>
        </p:txBody>
      </p:sp>
      <p:sp>
        <p:nvSpPr>
          <p:cNvPr id="27" name="文字_(2） 检查装置A的气密性：先将A中导管下端浸入"/>
          <p:cNvSpPr txBox="1"/>
          <p:nvPr/>
        </p:nvSpPr>
        <p:spPr>
          <a:xfrm>
            <a:off x="502920" y="4878940"/>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(2） 检查装置A的气密性：先将A中导管下端浸入水中，再</a:t>
            </a:r>
          </a:p>
        </p:txBody>
      </p:sp>
      <p:sp>
        <p:nvSpPr>
          <p:cNvPr id="28" name="文字_(3) 写出装置E中的化学方程式"/>
          <p:cNvSpPr txBox="1"/>
          <p:nvPr/>
        </p:nvSpPr>
        <p:spPr>
          <a:xfrm>
            <a:off x="502920" y="5235556"/>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(3) 写出装置E中的化学方程式</a:t>
            </a:r>
          </a:p>
        </p:txBody>
      </p:sp>
      <p:sp>
        <p:nvSpPr>
          <p:cNvPr id="29" name="文字_(4) 装置C中浓H₂SO₄的作用是"/>
          <p:cNvSpPr txBox="1"/>
          <p:nvPr/>
        </p:nvSpPr>
        <p:spPr>
          <a:xfrm>
            <a:off x="502920" y="5592172"/>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(4) 装置C中浓H₂SO₄的作用是</a:t>
            </a:r>
          </a:p>
        </p:txBody>
      </p:sp>
      <p:sp>
        <p:nvSpPr>
          <p:cNvPr id="30" name="文字_(5）请你帮助该化学小组设计实验室制取NH₃的另"/>
          <p:cNvSpPr txBox="1"/>
          <p:nvPr/>
        </p:nvSpPr>
        <p:spPr>
          <a:xfrm>
            <a:off x="502920" y="5948788"/>
            <a:ext cx="11064240" cy="356615"/>
          </a:xfrm>
          <a:prstGeom prst="rect">
            <a:avLst/>
          </a:prstGeom>
          <a:noFill/>
        </p:spPr>
        <p:txBody>
          <a:bodyPr wrap="square" lIns="0" rIns="0" tIns="0" bIns="0">
            <a:spAutoFit/>
          </a:bodyPr>
          <a:lstStyle/>
          <a:p>
            <a:pPr>
              <a:lnSpc>
                <a:spcPct val="112000"/>
              </a:lnSpc>
              <a:spcBef>
                <a:spcPts val="0"/>
              </a:spcBef>
              <a:spcAft>
                <a:spcPts val="0"/>
              </a:spcAft>
              <a:defRPr sz="1950" b="0">
                <a:solidFill>
                  <a:srgbClr val="333333"/>
                </a:solidFill>
                <a:latin typeface="微软雅黑"/>
              </a:defRPr>
            </a:pPr>
            <a:r>
              <a:rPr>
                <a:ea typeface="微软雅黑"/>
              </a:rPr>
              <a:t>(5）请你帮助该化学小组设计实验室制取NH₃的另一方案 ______ 。(用化学反应方程式表示)</a:t>
            </a:r>
          </a:p>
        </p:txBody>
      </p:sp>
      <p:sp>
        <p:nvSpPr>
          <p:cNvPr id="31" name="文字_解答题  ·  14-04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14-043</a:t>
            </a:r>
          </a:p>
        </p:txBody>
      </p:sp>
      <p:sp>
        <p:nvSpPr>
          <p:cNvPr id="32" name="文字_6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巩固1</a:t>
            </a:r>
          </a:p>
        </p:txBody>
      </p:sp>
      <p:sp>
        <p:nvSpPr>
          <p:cNvPr id="5" name="文字_P31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P318</a:t>
            </a:r>
          </a:p>
        </p:txBody>
      </p:sp>
      <p:sp>
        <p:nvSpPr>
          <p:cNvPr id="6" name="文字_自然界的氮循环如图所示，下列说法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自然界的氮循环如图所示，下列说法不正确的是</a:t>
            </a:r>
          </a:p>
        </p:txBody>
      </p:sp>
      <p:pic>
        <p:nvPicPr>
          <p:cNvPr id="7" name="Picture 6" descr="image.png"/>
          <p:cNvPicPr>
            <a:picLocks noChangeAspect="1"/>
          </p:cNvPicPr>
          <p:nvPr/>
        </p:nvPicPr>
        <p:blipFill>
          <a:blip r:embed="rId3"/>
          <a:stretch>
            <a:fillRect/>
          </a:stretch>
        </p:blipFill>
        <p:spPr>
          <a:xfrm>
            <a:off x="502920" y="1517904"/>
            <a:ext cx="11064240" cy="2036738"/>
          </a:xfrm>
          <a:prstGeom prst="rect">
            <a:avLst/>
          </a:prstGeom>
        </p:spPr>
      </p:pic>
      <p:sp>
        <p:nvSpPr>
          <p:cNvPr id="8" name="原题文字_318_34"/>
          <p:cNvSpPr txBox="1"/>
          <p:nvPr/>
        </p:nvSpPr>
        <p:spPr>
          <a:xfrm>
            <a:off x="587146" y="1565101"/>
            <a:ext cx="2351938"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 氧元素参与了氮循环</a:t>
            </a:r>
          </a:p>
        </p:txBody>
      </p:sp>
      <p:sp>
        <p:nvSpPr>
          <p:cNvPr id="9" name="原题文字_318_35"/>
          <p:cNvSpPr txBox="1"/>
          <p:nvPr/>
        </p:nvSpPr>
        <p:spPr>
          <a:xfrm>
            <a:off x="8504394" y="1549787"/>
            <a:ext cx="713358" cy="318527"/>
          </a:xfrm>
          <a:prstGeom prst="rect">
            <a:avLst/>
          </a:prstGeom>
          <a:noFill/>
        </p:spPr>
        <p:txBody>
          <a:bodyPr wrap="none" lIns="0" rIns="0" tIns="0" bIns="0">
            <a:spAutoFit/>
          </a:bodyPr>
          <a:lstStyle/>
          <a:p>
            <a:pPr>
              <a:lnSpc>
                <a:spcPct val="112000"/>
              </a:lnSpc>
              <a:spcBef>
                <a:spcPts val="0"/>
              </a:spcBef>
              <a:spcAft>
                <a:spcPts val="0"/>
              </a:spcAft>
              <a:defRPr sz="1188" b="0">
                <a:solidFill>
                  <a:srgbClr val="333333"/>
                </a:solidFill>
                <a:latin typeface="微软雅黑"/>
              </a:defRPr>
            </a:pPr>
            <a:r>
              <a:rPr>
                <a:ea typeface="微软雅黑"/>
              </a:rPr>
              <a:t>大气中的N</a:t>
            </a:r>
          </a:p>
        </p:txBody>
      </p:sp>
      <p:sp>
        <p:nvSpPr>
          <p:cNvPr id="10" name="原题文字_318_36"/>
          <p:cNvSpPr txBox="1"/>
          <p:nvPr/>
        </p:nvSpPr>
        <p:spPr>
          <a:xfrm>
            <a:off x="571832" y="1947947"/>
            <a:ext cx="2780725"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B. ②中合成氨属于人工固氮</a:t>
            </a:r>
          </a:p>
        </p:txBody>
      </p:sp>
      <p:sp>
        <p:nvSpPr>
          <p:cNvPr id="11" name="原题文字_318_37"/>
          <p:cNvSpPr txBox="1"/>
          <p:nvPr/>
        </p:nvSpPr>
        <p:spPr>
          <a:xfrm>
            <a:off x="9323684" y="1932633"/>
            <a:ext cx="192688" cy="149309"/>
          </a:xfrm>
          <a:prstGeom prst="rect">
            <a:avLst/>
          </a:prstGeom>
          <a:noFill/>
        </p:spPr>
        <p:txBody>
          <a:bodyPr wrap="none" lIns="0" rIns="0" tIns="0" bIns="0">
            <a:spAutoFit/>
          </a:bodyPr>
          <a:lstStyle/>
          <a:p>
            <a:pPr>
              <a:lnSpc>
                <a:spcPct val="112000"/>
              </a:lnSpc>
              <a:spcBef>
                <a:spcPts val="0"/>
              </a:spcBef>
              <a:spcAft>
                <a:spcPts val="0"/>
              </a:spcAft>
              <a:defRPr sz="723" b="0">
                <a:solidFill>
                  <a:srgbClr val="333333"/>
                </a:solidFill>
                <a:latin typeface="微软雅黑"/>
              </a:defRPr>
            </a:pPr>
            <a:r>
              <a:rPr>
                <a:ea typeface="微软雅黑"/>
              </a:rPr>
              <a:t>①</a:t>
            </a:r>
          </a:p>
        </p:txBody>
      </p:sp>
      <p:sp>
        <p:nvSpPr>
          <p:cNvPr id="12" name="原题文字_318_38"/>
          <p:cNvSpPr txBox="1"/>
          <p:nvPr/>
        </p:nvSpPr>
        <p:spPr>
          <a:xfrm>
            <a:off x="587146" y="2315479"/>
            <a:ext cx="2765411"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C. ①和③中氮元素均被氧化</a:t>
            </a:r>
          </a:p>
        </p:txBody>
      </p:sp>
      <p:sp>
        <p:nvSpPr>
          <p:cNvPr id="13" name="原题文字_318_39"/>
          <p:cNvSpPr txBox="1"/>
          <p:nvPr/>
        </p:nvSpPr>
        <p:spPr>
          <a:xfrm>
            <a:off x="571832" y="2698324"/>
            <a:ext cx="3875663"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D. 含氮有机物和含氮无机物可相互转化</a:t>
            </a:r>
          </a:p>
        </p:txBody>
      </p:sp>
      <p:sp>
        <p:nvSpPr>
          <p:cNvPr id="14" name="原题文字_318_40"/>
          <p:cNvSpPr txBox="1"/>
          <p:nvPr/>
        </p:nvSpPr>
        <p:spPr>
          <a:xfrm>
            <a:off x="9897952" y="2698324"/>
            <a:ext cx="460680" cy="248849"/>
          </a:xfrm>
          <a:prstGeom prst="rect">
            <a:avLst/>
          </a:prstGeom>
          <a:noFill/>
        </p:spPr>
        <p:txBody>
          <a:bodyPr wrap="none" lIns="0" rIns="0" tIns="0" bIns="0">
            <a:spAutoFit/>
          </a:bodyPr>
          <a:lstStyle/>
          <a:p>
            <a:pPr>
              <a:lnSpc>
                <a:spcPct val="112000"/>
              </a:lnSpc>
              <a:spcBef>
                <a:spcPts val="0"/>
              </a:spcBef>
              <a:spcAft>
                <a:spcPts val="0"/>
              </a:spcAft>
              <a:defRPr sz="1190" b="0">
                <a:solidFill>
                  <a:srgbClr val="333333"/>
                </a:solidFill>
                <a:latin typeface="微软雅黑"/>
              </a:defRPr>
            </a:pPr>
            <a:r>
              <a:rPr>
                <a:ea typeface="微软雅黑"/>
              </a:rPr>
              <a:t>硝酸根</a:t>
            </a:r>
          </a:p>
        </p:txBody>
      </p:sp>
      <p:sp>
        <p:nvSpPr>
          <p:cNvPr id="15" name="原题文字_318_41"/>
          <p:cNvSpPr txBox="1"/>
          <p:nvPr/>
        </p:nvSpPr>
        <p:spPr>
          <a:xfrm>
            <a:off x="9132261" y="2859119"/>
            <a:ext cx="782270"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……硝酸根</a:t>
            </a:r>
          </a:p>
        </p:txBody>
      </p:sp>
      <p:sp>
        <p:nvSpPr>
          <p:cNvPr id="16" name="原题文字_318_42"/>
          <p:cNvSpPr txBox="1"/>
          <p:nvPr/>
        </p:nvSpPr>
        <p:spPr>
          <a:xfrm>
            <a:off x="10701928" y="2805521"/>
            <a:ext cx="361140"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氟肥</a:t>
            </a:r>
          </a:p>
        </p:txBody>
      </p:sp>
      <p:sp>
        <p:nvSpPr>
          <p:cNvPr id="17" name="原题文字_318_43"/>
          <p:cNvSpPr txBox="1"/>
          <p:nvPr/>
        </p:nvSpPr>
        <p:spPr>
          <a:xfrm>
            <a:off x="8596277" y="2981630"/>
            <a:ext cx="1065576" cy="228941"/>
          </a:xfrm>
          <a:prstGeom prst="rect">
            <a:avLst/>
          </a:prstGeom>
          <a:noFill/>
        </p:spPr>
        <p:txBody>
          <a:bodyPr wrap="none" lIns="0" rIns="0" tIns="0" bIns="0">
            <a:spAutoFit/>
          </a:bodyPr>
          <a:lstStyle/>
          <a:p>
            <a:pPr>
              <a:lnSpc>
                <a:spcPct val="112000"/>
              </a:lnSpc>
              <a:spcBef>
                <a:spcPts val="0"/>
              </a:spcBef>
              <a:spcAft>
                <a:spcPts val="0"/>
              </a:spcAft>
              <a:defRPr sz="1109" b="0">
                <a:solidFill>
                  <a:srgbClr val="333333"/>
                </a:solidFill>
                <a:latin typeface="微软雅黑"/>
              </a:defRPr>
            </a:pPr>
            <a:r>
              <a:rPr>
                <a:ea typeface="微软雅黑"/>
              </a:rPr>
              <a:t>细菌 动植物遗体</a:t>
            </a:r>
          </a:p>
        </p:txBody>
      </p:sp>
      <p:sp>
        <p:nvSpPr>
          <p:cNvPr id="18" name="原题文字_318_44"/>
          <p:cNvSpPr txBox="1"/>
          <p:nvPr/>
        </p:nvSpPr>
        <p:spPr>
          <a:xfrm>
            <a:off x="9614647" y="3088827"/>
            <a:ext cx="361140" cy="258803"/>
          </a:xfrm>
          <a:prstGeom prst="rect">
            <a:avLst/>
          </a:prstGeom>
          <a:noFill/>
        </p:spPr>
        <p:txBody>
          <a:bodyPr wrap="none" lIns="0" rIns="0" tIns="0" bIns="0">
            <a:spAutoFit/>
          </a:bodyPr>
          <a:lstStyle/>
          <a:p>
            <a:pPr>
              <a:lnSpc>
                <a:spcPct val="112000"/>
              </a:lnSpc>
              <a:spcBef>
                <a:spcPts val="0"/>
              </a:spcBef>
              <a:spcAft>
                <a:spcPts val="0"/>
              </a:spcAft>
              <a:defRPr sz="1254" b="0">
                <a:solidFill>
                  <a:srgbClr val="333333"/>
                </a:solidFill>
                <a:latin typeface="微软雅黑"/>
              </a:defRPr>
            </a:pPr>
            <a:r>
              <a:rPr>
                <a:ea typeface="微软雅黑"/>
              </a:rPr>
              <a:t>细</a:t>
            </a:r>
          </a:p>
        </p:txBody>
      </p:sp>
      <p:sp>
        <p:nvSpPr>
          <p:cNvPr id="19" name="原题文字_318_45"/>
          <p:cNvSpPr txBox="1"/>
          <p:nvPr/>
        </p:nvSpPr>
        <p:spPr>
          <a:xfrm>
            <a:off x="8688160" y="3180710"/>
            <a:ext cx="583191" cy="278711"/>
          </a:xfrm>
          <a:prstGeom prst="rect">
            <a:avLst/>
          </a:prstGeom>
          <a:noFill/>
        </p:spPr>
        <p:txBody>
          <a:bodyPr wrap="none" lIns="0" rIns="0" tIns="0" bIns="0">
            <a:spAutoFit/>
          </a:bodyPr>
          <a:lstStyle/>
          <a:p>
            <a:pPr>
              <a:lnSpc>
                <a:spcPct val="112000"/>
              </a:lnSpc>
              <a:spcBef>
                <a:spcPts val="0"/>
              </a:spcBef>
              <a:spcAft>
                <a:spcPts val="0"/>
              </a:spcAft>
              <a:defRPr sz="1130" b="0">
                <a:solidFill>
                  <a:srgbClr val="333333"/>
                </a:solidFill>
                <a:latin typeface="微软雅黑"/>
              </a:defRPr>
            </a:pPr>
            <a:r>
              <a:rPr>
                <a:ea typeface="微软雅黑"/>
              </a:rPr>
              <a:t>土壤中的</a:t>
            </a:r>
          </a:p>
        </p:txBody>
      </p:sp>
      <p:sp>
        <p:nvSpPr>
          <p:cNvPr id="20" name="原题文字_318_46"/>
          <p:cNvSpPr txBox="1"/>
          <p:nvPr/>
        </p:nvSpPr>
        <p:spPr>
          <a:xfrm>
            <a:off x="8726445" y="3349162"/>
            <a:ext cx="483651" cy="248849"/>
          </a:xfrm>
          <a:prstGeom prst="rect">
            <a:avLst/>
          </a:prstGeom>
          <a:noFill/>
        </p:spPr>
        <p:txBody>
          <a:bodyPr wrap="none" lIns="0" rIns="0" tIns="0" bIns="0">
            <a:spAutoFit/>
          </a:bodyPr>
          <a:lstStyle/>
          <a:p>
            <a:pPr>
              <a:lnSpc>
                <a:spcPct val="112000"/>
              </a:lnSpc>
              <a:spcBef>
                <a:spcPts val="0"/>
              </a:spcBef>
              <a:spcAft>
                <a:spcPts val="0"/>
              </a:spcAft>
              <a:defRPr sz="1205" b="0">
                <a:solidFill>
                  <a:srgbClr val="333333"/>
                </a:solidFill>
                <a:latin typeface="微软雅黑"/>
              </a:defRPr>
            </a:pPr>
            <a:r>
              <a:rPr>
                <a:ea typeface="微软雅黑"/>
              </a:rPr>
              <a:t>微生物</a:t>
            </a:r>
          </a:p>
        </p:txBody>
      </p:sp>
      <p:sp>
        <p:nvSpPr>
          <p:cNvPr id="21" name="文字_单选题  ·  14-04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14-044</a:t>
            </a:r>
          </a:p>
        </p:txBody>
      </p:sp>
      <p:sp>
        <p:nvSpPr>
          <p:cNvPr id="22" name="文字_6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巩固2</a:t>
            </a:r>
          </a:p>
        </p:txBody>
      </p:sp>
      <p:sp>
        <p:nvSpPr>
          <p:cNvPr id="5" name="文字_P318"/>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P318</a:t>
            </a:r>
          </a:p>
        </p:txBody>
      </p:sp>
      <p:pic>
        <p:nvPicPr>
          <p:cNvPr id="6" name="Picture 5" descr="image.png"/>
          <p:cNvPicPr>
            <a:picLocks noChangeAspect="1"/>
          </p:cNvPicPr>
          <p:nvPr/>
        </p:nvPicPr>
        <p:blipFill>
          <a:blip r:embed="rId3"/>
          <a:stretch>
            <a:fillRect/>
          </a:stretch>
        </p:blipFill>
        <p:spPr>
          <a:xfrm>
            <a:off x="502920" y="1078992"/>
            <a:ext cx="11064240" cy="2373643"/>
          </a:xfrm>
          <a:prstGeom prst="rect">
            <a:avLst/>
          </a:prstGeom>
        </p:spPr>
      </p:pic>
      <p:sp>
        <p:nvSpPr>
          <p:cNvPr id="7" name="原题文字_318_50"/>
          <p:cNvSpPr txBox="1"/>
          <p:nvPr/>
        </p:nvSpPr>
        <p:spPr>
          <a:xfrm>
            <a:off x="602459" y="1087905"/>
            <a:ext cx="5269222" cy="328481"/>
          </a:xfrm>
          <a:prstGeom prst="rect">
            <a:avLst/>
          </a:prstGeom>
          <a:noFill/>
        </p:spPr>
        <p:txBody>
          <a:bodyPr wrap="none" lIns="0" rIns="0" tIns="0" bIns="0">
            <a:spAutoFit/>
          </a:bodyPr>
          <a:lstStyle/>
          <a:p>
            <a:pPr>
              <a:lnSpc>
                <a:spcPct val="112000"/>
              </a:lnSpc>
              <a:spcBef>
                <a:spcPts val="0"/>
              </a:spcBef>
              <a:spcAft>
                <a:spcPts val="0"/>
              </a:spcAft>
              <a:defRPr sz="1591" b="0">
                <a:solidFill>
                  <a:srgbClr val="333333"/>
                </a:solidFill>
                <a:latin typeface="微软雅黑"/>
              </a:defRPr>
            </a:pPr>
            <a:r>
              <a:rPr>
                <a:ea typeface="微软雅黑"/>
              </a:rPr>
              <a:t>下列关于氮及其化合物的探究，结论和解释正确的是（</a:t>
            </a:r>
          </a:p>
        </p:txBody>
      </p:sp>
      <p:sp>
        <p:nvSpPr>
          <p:cNvPr id="8" name="原题文字_318_51"/>
          <p:cNvSpPr txBox="1"/>
          <p:nvPr/>
        </p:nvSpPr>
        <p:spPr>
          <a:xfrm>
            <a:off x="1620829" y="1478407"/>
            <a:ext cx="1103861"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操作和现象</a:t>
            </a:r>
          </a:p>
        </p:txBody>
      </p:sp>
      <p:sp>
        <p:nvSpPr>
          <p:cNvPr id="9" name="原题文字_318_52"/>
          <p:cNvSpPr txBox="1"/>
          <p:nvPr/>
        </p:nvSpPr>
        <p:spPr>
          <a:xfrm>
            <a:off x="6697363" y="1478407"/>
            <a:ext cx="1119174"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结论和解释</a:t>
            </a:r>
          </a:p>
        </p:txBody>
      </p:sp>
      <p:sp>
        <p:nvSpPr>
          <p:cNvPr id="10" name="原题文字_318_53"/>
          <p:cNvSpPr txBox="1"/>
          <p:nvPr/>
        </p:nvSpPr>
        <p:spPr>
          <a:xfrm>
            <a:off x="679029" y="1884224"/>
            <a:ext cx="26925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A</a:t>
            </a:r>
          </a:p>
        </p:txBody>
      </p:sp>
      <p:sp>
        <p:nvSpPr>
          <p:cNvPr id="11" name="原题文字_318_54"/>
          <p:cNvSpPr txBox="1"/>
          <p:nvPr/>
        </p:nvSpPr>
        <p:spPr>
          <a:xfrm>
            <a:off x="1628486" y="1861253"/>
            <a:ext cx="3194198" cy="338435"/>
          </a:xfrm>
          <a:prstGeom prst="rect">
            <a:avLst/>
          </a:prstGeom>
          <a:noFill/>
        </p:spPr>
        <p:txBody>
          <a:bodyPr wrap="none" lIns="0" rIns="0" tIns="0" bIns="0">
            <a:spAutoFit/>
          </a:bodyPr>
          <a:lstStyle/>
          <a:p>
            <a:pPr>
              <a:lnSpc>
                <a:spcPct val="112000"/>
              </a:lnSpc>
              <a:spcBef>
                <a:spcPts val="0"/>
              </a:spcBef>
              <a:spcAft>
                <a:spcPts val="0"/>
              </a:spcAft>
              <a:defRPr sz="1597" b="0">
                <a:solidFill>
                  <a:srgbClr val="333333"/>
                </a:solidFill>
                <a:latin typeface="微软雅黑"/>
              </a:defRPr>
            </a:pPr>
            <a:r>
              <a:rPr>
                <a:ea typeface="微软雅黑"/>
              </a:rPr>
              <a:t>铜丝溶解于稀HNO₃，生成无色气体</a:t>
            </a:r>
          </a:p>
        </p:txBody>
      </p:sp>
      <p:sp>
        <p:nvSpPr>
          <p:cNvPr id="12" name="原题文字_318_55"/>
          <p:cNvSpPr txBox="1"/>
          <p:nvPr/>
        </p:nvSpPr>
        <p:spPr>
          <a:xfrm>
            <a:off x="6727990" y="1876567"/>
            <a:ext cx="2673528"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金属能与强酸反应置换出氢气</a:t>
            </a:r>
          </a:p>
        </p:txBody>
      </p:sp>
      <p:sp>
        <p:nvSpPr>
          <p:cNvPr id="13" name="原题文字_318_56"/>
          <p:cNvSpPr txBox="1"/>
          <p:nvPr/>
        </p:nvSpPr>
        <p:spPr>
          <a:xfrm>
            <a:off x="679029" y="2274726"/>
            <a:ext cx="246286" cy="278711"/>
          </a:xfrm>
          <a:prstGeom prst="rect">
            <a:avLst/>
          </a:prstGeom>
          <a:noFill/>
        </p:spPr>
        <p:txBody>
          <a:bodyPr wrap="none" lIns="0" rIns="0" tIns="0" bIns="0">
            <a:spAutoFit/>
          </a:bodyPr>
          <a:lstStyle/>
          <a:p>
            <a:pPr>
              <a:lnSpc>
                <a:spcPct val="112000"/>
              </a:lnSpc>
              <a:spcBef>
                <a:spcPts val="0"/>
              </a:spcBef>
              <a:spcAft>
                <a:spcPts val="0"/>
              </a:spcAft>
              <a:defRPr sz="1350" b="0">
                <a:solidFill>
                  <a:srgbClr val="333333"/>
                </a:solidFill>
                <a:latin typeface="微软雅黑"/>
              </a:defRPr>
            </a:pPr>
            <a:r>
              <a:rPr>
                <a:ea typeface="微软雅黑"/>
              </a:rPr>
              <a:t>B</a:t>
            </a:r>
          </a:p>
        </p:txBody>
      </p:sp>
      <p:sp>
        <p:nvSpPr>
          <p:cNvPr id="14" name="原题文字_318_57"/>
          <p:cNvSpPr txBox="1"/>
          <p:nvPr/>
        </p:nvSpPr>
        <p:spPr>
          <a:xfrm>
            <a:off x="1620829" y="2251755"/>
            <a:ext cx="3064031" cy="338435"/>
          </a:xfrm>
          <a:prstGeom prst="rect">
            <a:avLst/>
          </a:prstGeom>
          <a:noFill/>
        </p:spPr>
        <p:txBody>
          <a:bodyPr wrap="none" lIns="0" rIns="0" tIns="0" bIns="0">
            <a:spAutoFit/>
          </a:bodyPr>
          <a:lstStyle/>
          <a:p>
            <a:pPr>
              <a:lnSpc>
                <a:spcPct val="112000"/>
              </a:lnSpc>
              <a:spcBef>
                <a:spcPts val="0"/>
              </a:spcBef>
              <a:spcAft>
                <a:spcPts val="0"/>
              </a:spcAft>
              <a:defRPr sz="1613" b="0">
                <a:solidFill>
                  <a:srgbClr val="333333"/>
                </a:solidFill>
                <a:latin typeface="微软雅黑"/>
              </a:defRPr>
            </a:pPr>
            <a:r>
              <a:rPr>
                <a:ea typeface="微软雅黑"/>
              </a:rPr>
              <a:t>NH₃能使热的氧化铜产生红色物质</a:t>
            </a:r>
          </a:p>
        </p:txBody>
      </p:sp>
      <p:sp>
        <p:nvSpPr>
          <p:cNvPr id="15" name="原题文字_318_58"/>
          <p:cNvSpPr txBox="1"/>
          <p:nvPr/>
        </p:nvSpPr>
        <p:spPr>
          <a:xfrm>
            <a:off x="6697363" y="2236442"/>
            <a:ext cx="1287627" cy="348389"/>
          </a:xfrm>
          <a:prstGeom prst="rect">
            <a:avLst/>
          </a:prstGeom>
          <a:noFill/>
        </p:spPr>
        <p:txBody>
          <a:bodyPr wrap="none" lIns="0" rIns="0" tIns="0" bIns="0">
            <a:spAutoFit/>
          </a:bodyPr>
          <a:lstStyle/>
          <a:p>
            <a:pPr>
              <a:lnSpc>
                <a:spcPct val="112000"/>
              </a:lnSpc>
              <a:spcBef>
                <a:spcPts val="0"/>
              </a:spcBef>
              <a:spcAft>
                <a:spcPts val="0"/>
              </a:spcAft>
              <a:defRPr sz="1634" b="0">
                <a:solidFill>
                  <a:srgbClr val="333333"/>
                </a:solidFill>
                <a:latin typeface="微软雅黑"/>
              </a:defRPr>
            </a:pPr>
            <a:r>
              <a:rPr>
                <a:ea typeface="微软雅黑"/>
              </a:rPr>
              <a:t>NH₃有还原性</a:t>
            </a:r>
          </a:p>
        </p:txBody>
      </p:sp>
      <p:sp>
        <p:nvSpPr>
          <p:cNvPr id="16" name="原题文字_318_59"/>
          <p:cNvSpPr txBox="1"/>
          <p:nvPr/>
        </p:nvSpPr>
        <p:spPr>
          <a:xfrm>
            <a:off x="671372" y="2642258"/>
            <a:ext cx="269257"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C</a:t>
            </a:r>
          </a:p>
        </p:txBody>
      </p:sp>
      <p:sp>
        <p:nvSpPr>
          <p:cNvPr id="17" name="原题文字_318_60"/>
          <p:cNvSpPr txBox="1"/>
          <p:nvPr/>
        </p:nvSpPr>
        <p:spPr>
          <a:xfrm>
            <a:off x="1605515" y="2619287"/>
            <a:ext cx="2160515" cy="358343"/>
          </a:xfrm>
          <a:prstGeom prst="rect">
            <a:avLst/>
          </a:prstGeom>
          <a:noFill/>
        </p:spPr>
        <p:txBody>
          <a:bodyPr wrap="none" lIns="0" rIns="0" tIns="0" bIns="0">
            <a:spAutoFit/>
          </a:bodyPr>
          <a:lstStyle/>
          <a:p>
            <a:pPr>
              <a:lnSpc>
                <a:spcPct val="112000"/>
              </a:lnSpc>
              <a:spcBef>
                <a:spcPts val="0"/>
              </a:spcBef>
              <a:spcAft>
                <a:spcPts val="0"/>
              </a:spcAft>
              <a:defRPr sz="1572" b="0">
                <a:solidFill>
                  <a:srgbClr val="333333"/>
                </a:solidFill>
                <a:latin typeface="微软雅黑"/>
              </a:defRPr>
            </a:pPr>
            <a:r>
              <a:rPr>
                <a:ea typeface="微软雅黑"/>
              </a:rPr>
              <a:t>N₂与H₂混合加热不反应</a:t>
            </a:r>
          </a:p>
        </p:txBody>
      </p:sp>
      <p:sp>
        <p:nvSpPr>
          <p:cNvPr id="18" name="原题文字_318_61"/>
          <p:cNvSpPr txBox="1"/>
          <p:nvPr/>
        </p:nvSpPr>
        <p:spPr>
          <a:xfrm>
            <a:off x="6689706" y="2626944"/>
            <a:ext cx="1471392"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N的非金属性弱</a:t>
            </a:r>
          </a:p>
        </p:txBody>
      </p:sp>
      <p:sp>
        <p:nvSpPr>
          <p:cNvPr id="19" name="原题文字_318_62"/>
          <p:cNvSpPr txBox="1"/>
          <p:nvPr/>
        </p:nvSpPr>
        <p:spPr>
          <a:xfrm>
            <a:off x="671372" y="3032761"/>
            <a:ext cx="276914"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D</a:t>
            </a:r>
          </a:p>
        </p:txBody>
      </p:sp>
      <p:sp>
        <p:nvSpPr>
          <p:cNvPr id="20" name="原题文字_318_63"/>
          <p:cNvSpPr txBox="1"/>
          <p:nvPr/>
        </p:nvSpPr>
        <p:spPr>
          <a:xfrm>
            <a:off x="1613172" y="3017447"/>
            <a:ext cx="1992063" cy="338435"/>
          </a:xfrm>
          <a:prstGeom prst="rect">
            <a:avLst/>
          </a:prstGeom>
          <a:noFill/>
        </p:spPr>
        <p:txBody>
          <a:bodyPr wrap="none" lIns="0" rIns="0" tIns="0" bIns="0">
            <a:spAutoFit/>
          </a:bodyPr>
          <a:lstStyle/>
          <a:p>
            <a:pPr>
              <a:lnSpc>
                <a:spcPct val="112000"/>
              </a:lnSpc>
              <a:spcBef>
                <a:spcPts val="0"/>
              </a:spcBef>
              <a:spcAft>
                <a:spcPts val="0"/>
              </a:spcAft>
              <a:defRPr sz="1556" b="0">
                <a:solidFill>
                  <a:srgbClr val="333333"/>
                </a:solidFill>
                <a:latin typeface="微软雅黑"/>
              </a:defRPr>
            </a:pPr>
            <a:r>
              <a:rPr>
                <a:ea typeface="微软雅黑"/>
              </a:rPr>
              <a:t>NO₂被NaOH溶液吸收</a:t>
            </a:r>
          </a:p>
        </p:txBody>
      </p:sp>
      <p:sp>
        <p:nvSpPr>
          <p:cNvPr id="21" name="原题文字_318_64"/>
          <p:cNvSpPr txBox="1"/>
          <p:nvPr/>
        </p:nvSpPr>
        <p:spPr>
          <a:xfrm>
            <a:off x="6674392" y="2994476"/>
            <a:ext cx="1119174" cy="398159"/>
          </a:xfrm>
          <a:prstGeom prst="rect">
            <a:avLst/>
          </a:prstGeom>
          <a:noFill/>
        </p:spPr>
        <p:txBody>
          <a:bodyPr wrap="none" lIns="0" rIns="0" tIns="0" bIns="0">
            <a:spAutoFit/>
          </a:bodyPr>
          <a:lstStyle/>
          <a:p>
            <a:pPr>
              <a:lnSpc>
                <a:spcPct val="112000"/>
              </a:lnSpc>
              <a:spcBef>
                <a:spcPts val="0"/>
              </a:spcBef>
              <a:spcAft>
                <a:spcPts val="0"/>
              </a:spcAft>
              <a:defRPr sz="1661" b="0">
                <a:solidFill>
                  <a:srgbClr val="333333"/>
                </a:solidFill>
                <a:latin typeface="微软雅黑"/>
              </a:defRPr>
            </a:pPr>
            <a:r>
              <a:rPr>
                <a:ea typeface="微软雅黑"/>
              </a:rPr>
              <a:t>NO₂有酸性</a:t>
            </a:r>
          </a:p>
        </p:txBody>
      </p:sp>
      <p:sp>
        <p:nvSpPr>
          <p:cNvPr id="22" name="文字_A. A"/>
          <p:cNvSpPr txBox="1"/>
          <p:nvPr/>
        </p:nvSpPr>
        <p:spPr>
          <a:xfrm>
            <a:off x="502920" y="352578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A</a:t>
            </a:r>
          </a:p>
        </p:txBody>
      </p:sp>
      <p:sp>
        <p:nvSpPr>
          <p:cNvPr id="23" name="文字_B. B"/>
          <p:cNvSpPr txBox="1"/>
          <p:nvPr/>
        </p:nvSpPr>
        <p:spPr>
          <a:xfrm>
            <a:off x="502920" y="396469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B</a:t>
            </a:r>
          </a:p>
        </p:txBody>
      </p:sp>
      <p:sp>
        <p:nvSpPr>
          <p:cNvPr id="24" name="文字_C. C"/>
          <p:cNvSpPr txBox="1"/>
          <p:nvPr/>
        </p:nvSpPr>
        <p:spPr>
          <a:xfrm>
            <a:off x="502920" y="440361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C</a:t>
            </a:r>
          </a:p>
        </p:txBody>
      </p:sp>
      <p:sp>
        <p:nvSpPr>
          <p:cNvPr id="25" name="文字_D. D"/>
          <p:cNvSpPr txBox="1"/>
          <p:nvPr/>
        </p:nvSpPr>
        <p:spPr>
          <a:xfrm>
            <a:off x="502920" y="484252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D</a:t>
            </a:r>
          </a:p>
        </p:txBody>
      </p:sp>
      <p:sp>
        <p:nvSpPr>
          <p:cNvPr id="26" name="文字_单选题  ·  14-04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14-045</a:t>
            </a:r>
          </a:p>
        </p:txBody>
      </p:sp>
      <p:sp>
        <p:nvSpPr>
          <p:cNvPr id="27" name="文字_6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巩固3</a:t>
            </a:r>
          </a:p>
        </p:txBody>
      </p:sp>
      <p:sp>
        <p:nvSpPr>
          <p:cNvPr id="5" name="文字_P31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P319</a:t>
            </a:r>
          </a:p>
        </p:txBody>
      </p:sp>
      <p:sp>
        <p:nvSpPr>
          <p:cNvPr id="6" name="文字_下列说法中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下列说法中正确的是</a:t>
            </a:r>
          </a:p>
        </p:txBody>
      </p:sp>
      <p:sp>
        <p:nvSpPr>
          <p:cNvPr id="7" name="文字_A. NH₃溶于水形成的溶液呈碱性，故NH₃属于"/>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NH₃溶于水形成的溶液呈碱性，故NH₃属于碱</a:t>
            </a:r>
          </a:p>
        </p:txBody>
      </p:sp>
      <p:sp>
        <p:nvSpPr>
          <p:cNvPr id="8" name="文字_B. 常温下，浓硝酸可以用铝槽贮存，说明铝与浓硝"/>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常温下，浓硝酸可以用铝槽贮存，说明铝与浓硝酸不能反应</a:t>
            </a:r>
          </a:p>
        </p:txBody>
      </p:sp>
      <p:sp>
        <p:nvSpPr>
          <p:cNvPr id="9" name="文字_C. 向CuSO₄·5H₂O晶体中滴加少量浓硫酸"/>
          <p:cNvSpPr txBox="1"/>
          <p:nvPr/>
        </p:nvSpPr>
        <p:spPr>
          <a:xfrm>
            <a:off x="502920" y="23957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向CuSO₄·5H₂O晶体中滴加少量浓硫酸，晶体表面出现“白斑”，说明浓硫酸</a:t>
            </a:r>
          </a:p>
          <a:p>
            <a:pPr>
              <a:lnSpc>
                <a:spcPct val="112000"/>
              </a:lnSpc>
              <a:spcBef>
                <a:spcPts val="0"/>
              </a:spcBef>
              <a:spcAft>
                <a:spcPts val="0"/>
              </a:spcAft>
              <a:defRPr sz="2400" b="0">
                <a:solidFill>
                  <a:srgbClr val="333333"/>
                </a:solidFill>
                <a:latin typeface="微软雅黑"/>
              </a:defRPr>
            </a:pPr>
            <a:r>
              <a:rPr>
                <a:ea typeface="微软雅黑"/>
              </a:rPr>
              <a:t>具有吸水性</a:t>
            </a:r>
          </a:p>
        </p:txBody>
      </p:sp>
      <p:sp>
        <p:nvSpPr>
          <p:cNvPr id="10" name="文字_D. NO在加热条件下才能与空气中的氧气反应"/>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NO在加热条件下才能与空气中的氧气反应</a:t>
            </a:r>
          </a:p>
        </p:txBody>
      </p:sp>
      <p:sp>
        <p:nvSpPr>
          <p:cNvPr id="11" name="文字_单选题  ·  14-04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14-046</a:t>
            </a:r>
          </a:p>
        </p:txBody>
      </p:sp>
      <p:sp>
        <p:nvSpPr>
          <p:cNvPr id="12" name="文字_6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巩固4</a:t>
            </a:r>
          </a:p>
        </p:txBody>
      </p:sp>
      <p:sp>
        <p:nvSpPr>
          <p:cNvPr id="5" name="文字_P31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P319</a:t>
            </a:r>
          </a:p>
        </p:txBody>
      </p:sp>
      <p:sp>
        <p:nvSpPr>
          <p:cNvPr id="6" name="文字_下列说法中不正确的是"/>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下列说法中不正确的是</a:t>
            </a:r>
          </a:p>
        </p:txBody>
      </p:sp>
      <p:sp>
        <p:nvSpPr>
          <p:cNvPr id="7" name="文字_A. 铵盐氮肥不能与碱性肥料草木灰混合施用"/>
          <p:cNvSpPr txBox="1"/>
          <p:nvPr/>
        </p:nvSpPr>
        <p:spPr>
          <a:xfrm>
            <a:off x="502920" y="151790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铵盐氮肥不能与碱性肥料草木灰混合施用</a:t>
            </a:r>
          </a:p>
        </p:txBody>
      </p:sp>
      <p:sp>
        <p:nvSpPr>
          <p:cNvPr id="8" name="文字_B. NH₄Cl和NaCl的固体混合物可用升华法"/>
          <p:cNvSpPr txBox="1"/>
          <p:nvPr/>
        </p:nvSpPr>
        <p:spPr>
          <a:xfrm>
            <a:off x="502920" y="19568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NH₄Cl和NaCl的固体混合物可用升华法分离</a:t>
            </a:r>
          </a:p>
        </p:txBody>
      </p:sp>
      <p:sp>
        <p:nvSpPr>
          <p:cNvPr id="9" name="文字_C. 工业上合成氨属于人工固氮"/>
          <p:cNvSpPr txBox="1"/>
          <p:nvPr/>
        </p:nvSpPr>
        <p:spPr>
          <a:xfrm>
            <a:off x="502920" y="23957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工业上合成氨属于人工固氮</a:t>
            </a:r>
          </a:p>
        </p:txBody>
      </p:sp>
      <p:sp>
        <p:nvSpPr>
          <p:cNvPr id="10" name="文字_D. 所有铵盐都易溶于水，铵根离子中的N均呈一3"/>
          <p:cNvSpPr txBox="1"/>
          <p:nvPr/>
        </p:nvSpPr>
        <p:spPr>
          <a:xfrm>
            <a:off x="502920" y="28346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所有铵盐都易溶于水，铵根离子中的N均呈一3价</a:t>
            </a:r>
          </a:p>
        </p:txBody>
      </p:sp>
      <p:sp>
        <p:nvSpPr>
          <p:cNvPr id="11" name="文字_单选题  ·  14-04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14-047</a:t>
            </a:r>
          </a:p>
        </p:txBody>
      </p:sp>
      <p:sp>
        <p:nvSpPr>
          <p:cNvPr id="12" name="文字_6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巩固5</a:t>
            </a:r>
          </a:p>
        </p:txBody>
      </p:sp>
      <p:sp>
        <p:nvSpPr>
          <p:cNvPr id="5" name="文字_P31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P319</a:t>
            </a:r>
          </a:p>
        </p:txBody>
      </p:sp>
      <p:sp>
        <p:nvSpPr>
          <p:cNvPr id="6" name="文字_实验小组用如下流程探究含氮化合物的转化。NA为阿"/>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实验小组用如下流程探究含氮化合物的转化。NA为阿伏加德罗常数的值，下列说</a:t>
            </a:r>
          </a:p>
          <a:p>
            <a:pPr>
              <a:lnSpc>
                <a:spcPct val="112000"/>
              </a:lnSpc>
              <a:spcBef>
                <a:spcPts val="0"/>
              </a:spcBef>
              <a:spcAft>
                <a:spcPts val="0"/>
              </a:spcAft>
              <a:defRPr sz="2400" b="0">
                <a:solidFill>
                  <a:srgbClr val="333333"/>
                </a:solidFill>
                <a:latin typeface="微软雅黑"/>
              </a:defRPr>
            </a:pPr>
            <a:r>
              <a:rPr>
                <a:ea typeface="微软雅黑"/>
              </a:rPr>
              <a:t>法正确的是</a:t>
            </a:r>
          </a:p>
        </p:txBody>
      </p:sp>
      <p:pic>
        <p:nvPicPr>
          <p:cNvPr id="7" name="Picture 6" descr="image.png"/>
          <p:cNvPicPr>
            <a:picLocks noChangeAspect="1"/>
          </p:cNvPicPr>
          <p:nvPr/>
        </p:nvPicPr>
        <p:blipFill>
          <a:blip r:embed="rId3"/>
          <a:stretch>
            <a:fillRect/>
          </a:stretch>
        </p:blipFill>
        <p:spPr>
          <a:xfrm>
            <a:off x="502920" y="1880616"/>
            <a:ext cx="11064240" cy="1163850"/>
          </a:xfrm>
          <a:prstGeom prst="rect">
            <a:avLst/>
          </a:prstGeom>
        </p:spPr>
      </p:pic>
      <p:sp>
        <p:nvSpPr>
          <p:cNvPr id="8" name="原题文字_319_20"/>
          <p:cNvSpPr txBox="1"/>
          <p:nvPr/>
        </p:nvSpPr>
        <p:spPr>
          <a:xfrm>
            <a:off x="1789281" y="1912499"/>
            <a:ext cx="1111518" cy="467837"/>
          </a:xfrm>
          <a:prstGeom prst="rect">
            <a:avLst/>
          </a:prstGeom>
          <a:noFill/>
        </p:spPr>
        <p:txBody>
          <a:bodyPr wrap="none" lIns="0" rIns="0" tIns="0" bIns="0">
            <a:spAutoFit/>
          </a:bodyPr>
          <a:lstStyle/>
          <a:p>
            <a:pPr>
              <a:lnSpc>
                <a:spcPct val="112000"/>
              </a:lnSpc>
              <a:spcBef>
                <a:spcPts val="0"/>
              </a:spcBef>
              <a:spcAft>
                <a:spcPts val="0"/>
              </a:spcAft>
              <a:defRPr sz="2093" b="0">
                <a:solidFill>
                  <a:srgbClr val="333333"/>
                </a:solidFill>
                <a:latin typeface="微软雅黑"/>
              </a:defRPr>
            </a:pPr>
            <a:r>
              <a:rPr>
                <a:ea typeface="微软雅黑"/>
              </a:rPr>
              <a:t>Ca(OH)₂</a:t>
            </a:r>
          </a:p>
        </p:txBody>
      </p:sp>
      <p:sp>
        <p:nvSpPr>
          <p:cNvPr id="9" name="原题文字_319_21"/>
          <p:cNvSpPr txBox="1"/>
          <p:nvPr/>
        </p:nvSpPr>
        <p:spPr>
          <a:xfrm>
            <a:off x="3381919" y="1927813"/>
            <a:ext cx="407082"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O₂</a:t>
            </a:r>
          </a:p>
        </p:txBody>
      </p:sp>
      <p:sp>
        <p:nvSpPr>
          <p:cNvPr id="10" name="原题文字_319_22"/>
          <p:cNvSpPr txBox="1"/>
          <p:nvPr/>
        </p:nvSpPr>
        <p:spPr>
          <a:xfrm>
            <a:off x="4645310" y="1920156"/>
            <a:ext cx="407082"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O₂</a:t>
            </a:r>
          </a:p>
        </p:txBody>
      </p:sp>
      <p:sp>
        <p:nvSpPr>
          <p:cNvPr id="11" name="原题文字_319_23"/>
          <p:cNvSpPr txBox="1"/>
          <p:nvPr/>
        </p:nvSpPr>
        <p:spPr>
          <a:xfrm>
            <a:off x="5617738" y="1943127"/>
            <a:ext cx="1034948"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O₂, H₂O</a:t>
            </a:r>
          </a:p>
        </p:txBody>
      </p:sp>
      <p:sp>
        <p:nvSpPr>
          <p:cNvPr id="12" name="原题文字_319_24"/>
          <p:cNvSpPr txBox="1"/>
          <p:nvPr/>
        </p:nvSpPr>
        <p:spPr>
          <a:xfrm>
            <a:off x="2164470" y="2257060"/>
            <a:ext cx="299885"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V</a:t>
            </a:r>
          </a:p>
        </p:txBody>
      </p:sp>
      <p:sp>
        <p:nvSpPr>
          <p:cNvPr id="13" name="原题文字_319_25"/>
          <p:cNvSpPr txBox="1"/>
          <p:nvPr/>
        </p:nvSpPr>
        <p:spPr>
          <a:xfrm>
            <a:off x="4652967" y="2165177"/>
            <a:ext cx="368797" cy="577331"/>
          </a:xfrm>
          <a:prstGeom prst="rect">
            <a:avLst/>
          </a:prstGeom>
          <a:noFill/>
        </p:spPr>
        <p:txBody>
          <a:bodyPr wrap="none" lIns="0" rIns="0" tIns="0" bIns="0">
            <a:spAutoFit/>
          </a:bodyPr>
          <a:lstStyle/>
          <a:p>
            <a:pPr>
              <a:lnSpc>
                <a:spcPct val="112000"/>
              </a:lnSpc>
              <a:spcBef>
                <a:spcPts val="0"/>
              </a:spcBef>
              <a:spcAft>
                <a:spcPts val="0"/>
              </a:spcAft>
              <a:defRPr sz="2797" b="0">
                <a:solidFill>
                  <a:srgbClr val="333333"/>
                </a:solidFill>
                <a:latin typeface="微软雅黑"/>
              </a:defRPr>
            </a:pPr>
            <a:r>
              <a:rPr>
                <a:ea typeface="微软雅黑"/>
              </a:rPr>
              <a:t>→</a:t>
            </a:r>
          </a:p>
        </p:txBody>
      </p:sp>
      <p:sp>
        <p:nvSpPr>
          <p:cNvPr id="14" name="原题文字_319_26"/>
          <p:cNvSpPr txBox="1"/>
          <p:nvPr/>
        </p:nvSpPr>
        <p:spPr>
          <a:xfrm>
            <a:off x="5946985" y="2211119"/>
            <a:ext cx="330512" cy="507653"/>
          </a:xfrm>
          <a:prstGeom prst="rect">
            <a:avLst/>
          </a:prstGeom>
          <a:noFill/>
        </p:spPr>
        <p:txBody>
          <a:bodyPr wrap="none" lIns="0" rIns="0" tIns="0" bIns="0">
            <a:spAutoFit/>
          </a:bodyPr>
          <a:lstStyle/>
          <a:p>
            <a:pPr>
              <a:lnSpc>
                <a:spcPct val="112000"/>
              </a:lnSpc>
              <a:spcBef>
                <a:spcPts val="0"/>
              </a:spcBef>
              <a:spcAft>
                <a:spcPts val="0"/>
              </a:spcAft>
              <a:defRPr sz="2459" b="0">
                <a:solidFill>
                  <a:srgbClr val="333333"/>
                </a:solidFill>
                <a:latin typeface="微软雅黑"/>
              </a:defRPr>
            </a:pPr>
            <a:r>
              <a:rPr>
                <a:ea typeface="微软雅黑"/>
              </a:rPr>
              <a:t>↓</a:t>
            </a:r>
          </a:p>
        </p:txBody>
      </p:sp>
      <p:sp>
        <p:nvSpPr>
          <p:cNvPr id="15" name="原题文字_319_27"/>
          <p:cNvSpPr txBox="1"/>
          <p:nvPr/>
        </p:nvSpPr>
        <p:spPr>
          <a:xfrm>
            <a:off x="640744" y="2639906"/>
            <a:ext cx="3469847" cy="457883"/>
          </a:xfrm>
          <a:prstGeom prst="rect">
            <a:avLst/>
          </a:prstGeom>
          <a:noFill/>
        </p:spPr>
        <p:txBody>
          <a:bodyPr wrap="none" lIns="0" rIns="0" tIns="0" bIns="0">
            <a:spAutoFit/>
          </a:bodyPr>
          <a:lstStyle/>
          <a:p>
            <a:pPr>
              <a:lnSpc>
                <a:spcPct val="112000"/>
              </a:lnSpc>
              <a:spcBef>
                <a:spcPts val="0"/>
              </a:spcBef>
              <a:spcAft>
                <a:spcPts val="0"/>
              </a:spcAft>
              <a:defRPr sz="2218" b="0">
                <a:solidFill>
                  <a:srgbClr val="333333"/>
                </a:solidFill>
                <a:latin typeface="微软雅黑"/>
              </a:defRPr>
            </a:pPr>
            <a:r>
              <a:rPr>
                <a:ea typeface="微软雅黑"/>
              </a:rPr>
              <a:t>NH₄Cl→反应1→反应2</a:t>
            </a:r>
          </a:p>
        </p:txBody>
      </p:sp>
      <p:sp>
        <p:nvSpPr>
          <p:cNvPr id="16" name="原题文字_319_28"/>
          <p:cNvSpPr txBox="1"/>
          <p:nvPr/>
        </p:nvSpPr>
        <p:spPr>
          <a:xfrm>
            <a:off x="4392632" y="2647563"/>
            <a:ext cx="1456079" cy="437975"/>
          </a:xfrm>
          <a:prstGeom prst="rect">
            <a:avLst/>
          </a:prstGeom>
          <a:noFill/>
        </p:spPr>
        <p:txBody>
          <a:bodyPr wrap="none" lIns="0" rIns="0" tIns="0" bIns="0">
            <a:spAutoFit/>
          </a:bodyPr>
          <a:lstStyle/>
          <a:p>
            <a:pPr>
              <a:lnSpc>
                <a:spcPct val="112000"/>
              </a:lnSpc>
              <a:spcBef>
                <a:spcPts val="0"/>
              </a:spcBef>
              <a:spcAft>
                <a:spcPts val="0"/>
              </a:spcAft>
              <a:defRPr sz="2122" b="0">
                <a:solidFill>
                  <a:srgbClr val="333333"/>
                </a:solidFill>
                <a:latin typeface="微软雅黑"/>
              </a:defRPr>
            </a:pPr>
            <a:r>
              <a:rPr>
                <a:ea typeface="微软雅黑"/>
              </a:rPr>
              <a:t>反应3</a:t>
            </a:r>
          </a:p>
        </p:txBody>
      </p:sp>
      <p:sp>
        <p:nvSpPr>
          <p:cNvPr id="17" name="原题文字_319_29"/>
          <p:cNvSpPr txBox="1"/>
          <p:nvPr/>
        </p:nvSpPr>
        <p:spPr>
          <a:xfrm>
            <a:off x="5625395" y="2639906"/>
            <a:ext cx="1310597"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反应4</a:t>
            </a:r>
          </a:p>
        </p:txBody>
      </p:sp>
      <p:sp>
        <p:nvSpPr>
          <p:cNvPr id="18" name="原题文字_319_30"/>
          <p:cNvSpPr txBox="1"/>
          <p:nvPr/>
        </p:nvSpPr>
        <p:spPr>
          <a:xfrm>
            <a:off x="6735647" y="2647563"/>
            <a:ext cx="1019635"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→HNO₃</a:t>
            </a:r>
          </a:p>
        </p:txBody>
      </p:sp>
      <p:sp>
        <p:nvSpPr>
          <p:cNvPr id="19" name="文字_A.“反应1”中，每消耗0.1molNH₄Cl，"/>
          <p:cNvSpPr txBox="1"/>
          <p:nvPr/>
        </p:nvSpPr>
        <p:spPr>
          <a:xfrm>
            <a:off x="502920" y="311761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A.“反应1”中，每消耗0.1molNH₄Cl，在25℃、101kPa下得到2.24LNH₃</a:t>
            </a:r>
          </a:p>
        </p:txBody>
      </p:sp>
      <p:sp>
        <p:nvSpPr>
          <p:cNvPr id="20" name="文字_B. “反应2”中，每生成0.1molNO，转移"/>
          <p:cNvSpPr txBox="1"/>
          <p:nvPr/>
        </p:nvSpPr>
        <p:spPr>
          <a:xfrm>
            <a:off x="502920" y="355653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“反应2”中，每生成0.1molNO，转移电子数为0.5NA</a:t>
            </a:r>
          </a:p>
        </p:txBody>
      </p:sp>
      <p:sp>
        <p:nvSpPr>
          <p:cNvPr id="21" name="文字_C. 在密闭容器中进行“反应3”，0.1molN"/>
          <p:cNvSpPr txBox="1"/>
          <p:nvPr/>
        </p:nvSpPr>
        <p:spPr>
          <a:xfrm>
            <a:off x="502920" y="399544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在密闭容器中进行“反应3”，0.1molNO充分反应后体系中有0.1NA个NO₂</a:t>
            </a:r>
          </a:p>
        </p:txBody>
      </p:sp>
      <p:sp>
        <p:nvSpPr>
          <p:cNvPr id="22" name="文字_D. “反应4”中，为使0.1molNO₂完全转"/>
          <p:cNvSpPr txBox="1"/>
          <p:nvPr/>
        </p:nvSpPr>
        <p:spPr>
          <a:xfrm>
            <a:off x="502920" y="443435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“反应4”中，为使0.1molNO₂完全转化成HNO₃，至少需要0.02NA个O₂</a:t>
            </a:r>
          </a:p>
        </p:txBody>
      </p:sp>
      <p:sp>
        <p:nvSpPr>
          <p:cNvPr id="23" name="文字_单选题  ·  14-04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14-048</a:t>
            </a:r>
          </a:p>
        </p:txBody>
      </p:sp>
      <p:sp>
        <p:nvSpPr>
          <p:cNvPr id="24" name="文字_6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巩固6</a:t>
            </a:r>
          </a:p>
        </p:txBody>
      </p:sp>
      <p:sp>
        <p:nvSpPr>
          <p:cNvPr id="5" name="文字_P319"/>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P319</a:t>
            </a:r>
          </a:p>
        </p:txBody>
      </p:sp>
      <p:sp>
        <p:nvSpPr>
          <p:cNvPr id="6" name="文字_某学生按图示方法进行实验，观察到以下实验现象："/>
          <p:cNvSpPr txBox="1"/>
          <p:nvPr/>
        </p:nvSpPr>
        <p:spPr>
          <a:xfrm>
            <a:off x="502920" y="1078992"/>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某学生按图示方法进行实验，观察到以下实验现象：</a:t>
            </a:r>
          </a:p>
        </p:txBody>
      </p:sp>
      <p:pic>
        <p:nvPicPr>
          <p:cNvPr id="7" name="Picture 6" descr="image.png"/>
          <p:cNvPicPr>
            <a:picLocks noChangeAspect="1"/>
          </p:cNvPicPr>
          <p:nvPr/>
        </p:nvPicPr>
        <p:blipFill>
          <a:blip r:embed="rId3"/>
          <a:stretch>
            <a:fillRect/>
          </a:stretch>
        </p:blipFill>
        <p:spPr>
          <a:xfrm>
            <a:off x="502920" y="1389888"/>
            <a:ext cx="10757775" cy="2583355"/>
          </a:xfrm>
          <a:prstGeom prst="rect">
            <a:avLst/>
          </a:prstGeom>
        </p:spPr>
      </p:pic>
      <p:sp>
        <p:nvSpPr>
          <p:cNvPr id="8" name="原题文字_319_39"/>
          <p:cNvSpPr txBox="1"/>
          <p:nvPr/>
        </p:nvSpPr>
        <p:spPr>
          <a:xfrm>
            <a:off x="584813" y="2537435"/>
            <a:ext cx="702564" cy="464557"/>
          </a:xfrm>
          <a:prstGeom prst="rect">
            <a:avLst/>
          </a:prstGeom>
          <a:noFill/>
        </p:spPr>
        <p:txBody>
          <a:bodyPr wrap="none" lIns="0" rIns="0" tIns="0" bIns="0">
            <a:spAutoFit/>
          </a:bodyPr>
          <a:lstStyle/>
          <a:p>
            <a:pPr>
              <a:lnSpc>
                <a:spcPct val="112000"/>
              </a:lnSpc>
              <a:spcBef>
                <a:spcPts val="0"/>
              </a:spcBef>
              <a:spcAft>
                <a:spcPts val="0"/>
              </a:spcAft>
              <a:defRPr sz="2251" b="0">
                <a:solidFill>
                  <a:srgbClr val="333333"/>
                </a:solidFill>
                <a:latin typeface="微软雅黑"/>
              </a:defRPr>
            </a:pPr>
            <a:r>
              <a:rPr>
                <a:ea typeface="微软雅黑"/>
              </a:rPr>
              <a:t>铜丝</a:t>
            </a:r>
          </a:p>
        </p:txBody>
      </p:sp>
      <p:sp>
        <p:nvSpPr>
          <p:cNvPr id="9" name="原题文字_319_40"/>
          <p:cNvSpPr txBox="1"/>
          <p:nvPr/>
        </p:nvSpPr>
        <p:spPr>
          <a:xfrm>
            <a:off x="2237564" y="2924566"/>
            <a:ext cx="1260926" cy="416165"/>
          </a:xfrm>
          <a:prstGeom prst="rect">
            <a:avLst/>
          </a:prstGeom>
          <a:noFill/>
        </p:spPr>
        <p:txBody>
          <a:bodyPr wrap="none" lIns="0" rIns="0" tIns="0" bIns="0">
            <a:spAutoFit/>
          </a:bodyPr>
          <a:lstStyle/>
          <a:p>
            <a:pPr>
              <a:lnSpc>
                <a:spcPct val="112000"/>
              </a:lnSpc>
              <a:spcBef>
                <a:spcPts val="0"/>
              </a:spcBef>
              <a:spcAft>
                <a:spcPts val="0"/>
              </a:spcAft>
              <a:defRPr sz="2016" b="0">
                <a:solidFill>
                  <a:srgbClr val="333333"/>
                </a:solidFill>
                <a:latin typeface="微软雅黑"/>
              </a:defRPr>
            </a:pPr>
            <a:r>
              <a:rPr>
                <a:ea typeface="微软雅黑"/>
              </a:rPr>
              <a:t>稀HNO</a:t>
            </a:r>
          </a:p>
        </p:txBody>
      </p:sp>
      <p:sp>
        <p:nvSpPr>
          <p:cNvPr id="10" name="原题文字_319_41"/>
          <p:cNvSpPr txBox="1"/>
          <p:nvPr/>
        </p:nvSpPr>
        <p:spPr>
          <a:xfrm>
            <a:off x="3406402" y="3170245"/>
            <a:ext cx="129312" cy="125817"/>
          </a:xfrm>
          <a:prstGeom prst="rect">
            <a:avLst/>
          </a:prstGeom>
          <a:noFill/>
        </p:spPr>
        <p:txBody>
          <a:bodyPr wrap="none" lIns="0" rIns="0" tIns="0" bIns="0">
            <a:spAutoFit/>
          </a:bodyPr>
          <a:lstStyle/>
          <a:p>
            <a:pPr>
              <a:lnSpc>
                <a:spcPct val="112000"/>
              </a:lnSpc>
              <a:spcBef>
                <a:spcPts val="0"/>
              </a:spcBef>
              <a:spcAft>
                <a:spcPts val="0"/>
              </a:spcAft>
              <a:defRPr sz="609" b="0">
                <a:solidFill>
                  <a:srgbClr val="333333"/>
                </a:solidFill>
                <a:latin typeface="微软雅黑"/>
              </a:defRPr>
            </a:pPr>
            <a:r>
              <a:rPr>
                <a:ea typeface="微软雅黑"/>
              </a:rPr>
              <a:t>3</a:t>
            </a:r>
          </a:p>
        </p:txBody>
      </p:sp>
      <p:sp>
        <p:nvSpPr>
          <p:cNvPr id="11" name="原题文字_319_42"/>
          <p:cNvSpPr txBox="1"/>
          <p:nvPr/>
        </p:nvSpPr>
        <p:spPr>
          <a:xfrm>
            <a:off x="599702" y="3334032"/>
            <a:ext cx="4745105"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①铜丝表面缓慢放出气泡，锥形瓶内气体呈红棕色；</a:t>
            </a:r>
          </a:p>
        </p:txBody>
      </p:sp>
      <p:sp>
        <p:nvSpPr>
          <p:cNvPr id="12" name="原题文字_319_43"/>
          <p:cNvSpPr txBox="1"/>
          <p:nvPr/>
        </p:nvSpPr>
        <p:spPr>
          <a:xfrm>
            <a:off x="592257" y="3683938"/>
            <a:ext cx="5169460"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②铜丝表面气泡释放速度逐渐加快，气体颜色逐渐变深；</a:t>
            </a:r>
          </a:p>
        </p:txBody>
      </p:sp>
      <p:sp>
        <p:nvSpPr>
          <p:cNvPr id="13" name="文字_③一段时间后气体颜色逐渐变浅，至几乎无色；"/>
          <p:cNvSpPr txBox="1"/>
          <p:nvPr/>
        </p:nvSpPr>
        <p:spPr>
          <a:xfrm>
            <a:off x="502920" y="4046395"/>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③一段时间后气体颜色逐渐变浅，至几乎无色；</a:t>
            </a:r>
          </a:p>
        </p:txBody>
      </p:sp>
      <p:sp>
        <p:nvSpPr>
          <p:cNvPr id="14" name="文字_④锥形瓶中液面下降，长颈漏斗中液面上升，最终铜丝"/>
          <p:cNvSpPr txBox="1"/>
          <p:nvPr/>
        </p:nvSpPr>
        <p:spPr>
          <a:xfrm>
            <a:off x="502920" y="4357291"/>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④锥形瓶中液面下降，长颈漏斗中液面上升，最终铜丝与液面脱离接触，反应停止。</a:t>
            </a:r>
          </a:p>
        </p:txBody>
      </p:sp>
      <p:sp>
        <p:nvSpPr>
          <p:cNvPr id="15" name="文字_下列说法正确的是"/>
          <p:cNvSpPr txBox="1"/>
          <p:nvPr/>
        </p:nvSpPr>
        <p:spPr>
          <a:xfrm>
            <a:off x="502920" y="4668187"/>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下列说法正确的是</a:t>
            </a:r>
          </a:p>
        </p:txBody>
      </p:sp>
      <p:sp>
        <p:nvSpPr>
          <p:cNvPr id="16" name="文字_A. 开始阶段铜丝表面气泡释放速度缓慢，原因是铜"/>
          <p:cNvSpPr txBox="1"/>
          <p:nvPr/>
        </p:nvSpPr>
        <p:spPr>
          <a:xfrm>
            <a:off x="502920" y="4979083"/>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A. 开始阶段铜丝表面气泡释放速度缓慢，原因是铜丝在稀HNO₃中表面钝化</a:t>
            </a:r>
          </a:p>
        </p:txBody>
      </p:sp>
      <p:sp>
        <p:nvSpPr>
          <p:cNvPr id="17" name="文字_B. 锥形瓶内出现了红棕色气体，表明铜和稀HNO"/>
          <p:cNvSpPr txBox="1"/>
          <p:nvPr/>
        </p:nvSpPr>
        <p:spPr>
          <a:xfrm>
            <a:off x="502920" y="5289979"/>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B. 锥形瓶内出现了红棕色气体，表明铜和稀HNO₃反应生成了NO₂</a:t>
            </a:r>
          </a:p>
        </p:txBody>
      </p:sp>
      <p:sp>
        <p:nvSpPr>
          <p:cNvPr id="18" name="文字_C. 红棕色逐渐变浅的主要原因是3NO₂ + H"/>
          <p:cNvSpPr txBox="1"/>
          <p:nvPr/>
        </p:nvSpPr>
        <p:spPr>
          <a:xfrm>
            <a:off x="502920" y="5600875"/>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C. 红棕色逐渐变浅的主要原因是3NO₂ + H₂O = 2HNO₃ + NO</a:t>
            </a:r>
          </a:p>
        </p:txBody>
      </p:sp>
      <p:sp>
        <p:nvSpPr>
          <p:cNvPr id="19" name="文字_D. 铜丝与液面脱离接触，反应停止，原因是硝酸消"/>
          <p:cNvSpPr txBox="1"/>
          <p:nvPr/>
        </p:nvSpPr>
        <p:spPr>
          <a:xfrm>
            <a:off x="502920" y="5911771"/>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D. 铜丝与液面脱离接触，反应停止，原因是硝酸消耗完全</a:t>
            </a:r>
          </a:p>
        </p:txBody>
      </p:sp>
      <p:sp>
        <p:nvSpPr>
          <p:cNvPr id="20" name="文字_单选题  ·  14-04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14-049</a:t>
            </a:r>
          </a:p>
        </p:txBody>
      </p:sp>
      <p:sp>
        <p:nvSpPr>
          <p:cNvPr id="21" name="文字_6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巩固7</a:t>
            </a:r>
          </a:p>
        </p:txBody>
      </p:sp>
      <p:sp>
        <p:nvSpPr>
          <p:cNvPr id="5" name="文字_P32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P320</a:t>
            </a:r>
          </a:p>
        </p:txBody>
      </p:sp>
      <p:sp>
        <p:nvSpPr>
          <p:cNvPr id="6" name="文字_二氧化氮是主要的大气污染物之一，工业上在一定条件"/>
          <p:cNvSpPr txBox="1"/>
          <p:nvPr/>
        </p:nvSpPr>
        <p:spPr>
          <a:xfrm>
            <a:off x="502920" y="1078992"/>
            <a:ext cx="11064240" cy="567817"/>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二氧化氮是主要的大气污染物之一，工业上在一定条件下用NH₃可将NO₂还原。甲同学在实验室对该反应进行了探</a:t>
            </a:r>
          </a:p>
          <a:p>
            <a:pPr>
              <a:lnSpc>
                <a:spcPct val="112000"/>
              </a:lnSpc>
              <a:spcBef>
                <a:spcPts val="0"/>
              </a:spcBef>
              <a:spcAft>
                <a:spcPts val="0"/>
              </a:spcAft>
              <a:defRPr sz="1700" b="0">
                <a:solidFill>
                  <a:srgbClr val="333333"/>
                </a:solidFill>
                <a:latin typeface="微软雅黑"/>
              </a:defRPr>
            </a:pPr>
            <a:r>
              <a:rPr>
                <a:ea typeface="微软雅黑"/>
              </a:rPr>
              <a:t>究。实验设计如图(部分夹持装置省略)，回答：</a:t>
            </a:r>
          </a:p>
        </p:txBody>
      </p:sp>
      <p:pic>
        <p:nvPicPr>
          <p:cNvPr id="7" name="Picture 6" descr="image.png"/>
          <p:cNvPicPr>
            <a:picLocks noChangeAspect="1"/>
          </p:cNvPicPr>
          <p:nvPr/>
        </p:nvPicPr>
        <p:blipFill>
          <a:blip r:embed="rId3"/>
          <a:stretch>
            <a:fillRect/>
          </a:stretch>
        </p:blipFill>
        <p:spPr>
          <a:xfrm>
            <a:off x="502920" y="1646809"/>
            <a:ext cx="10757775" cy="3394841"/>
          </a:xfrm>
          <a:prstGeom prst="rect">
            <a:avLst/>
          </a:prstGeom>
        </p:spPr>
      </p:pic>
      <p:sp>
        <p:nvSpPr>
          <p:cNvPr id="8" name="原题文字_320_5"/>
          <p:cNvSpPr txBox="1"/>
          <p:nvPr/>
        </p:nvSpPr>
        <p:spPr>
          <a:xfrm>
            <a:off x="4843254" y="1744635"/>
            <a:ext cx="449439" cy="338739"/>
          </a:xfrm>
          <a:prstGeom prst="rect">
            <a:avLst/>
          </a:prstGeom>
          <a:noFill/>
        </p:spPr>
        <p:txBody>
          <a:bodyPr wrap="none" lIns="0" rIns="0" tIns="0" bIns="0">
            <a:spAutoFit/>
          </a:bodyPr>
          <a:lstStyle/>
          <a:p>
            <a:pPr>
              <a:lnSpc>
                <a:spcPct val="112000"/>
              </a:lnSpc>
              <a:spcBef>
                <a:spcPts val="0"/>
              </a:spcBef>
              <a:spcAft>
                <a:spcPts val="0"/>
              </a:spcAft>
              <a:defRPr sz="1641" b="0">
                <a:solidFill>
                  <a:srgbClr val="333333"/>
                </a:solidFill>
                <a:latin typeface="微软雅黑"/>
              </a:defRPr>
            </a:pPr>
            <a:r>
              <a:rPr>
                <a:ea typeface="微软雅黑"/>
              </a:rPr>
              <a:t>气球</a:t>
            </a:r>
          </a:p>
        </p:txBody>
      </p:sp>
      <p:sp>
        <p:nvSpPr>
          <p:cNvPr id="9" name="原题文字_320_6"/>
          <p:cNvSpPr txBox="1"/>
          <p:nvPr/>
        </p:nvSpPr>
        <p:spPr>
          <a:xfrm>
            <a:off x="4873033" y="2623125"/>
            <a:ext cx="702564" cy="377452"/>
          </a:xfrm>
          <a:prstGeom prst="rect">
            <a:avLst/>
          </a:prstGeom>
          <a:noFill/>
        </p:spPr>
        <p:txBody>
          <a:bodyPr wrap="none" lIns="0" rIns="0" tIns="0" bIns="0">
            <a:spAutoFit/>
          </a:bodyPr>
          <a:lstStyle/>
          <a:p>
            <a:pPr>
              <a:lnSpc>
                <a:spcPct val="112000"/>
              </a:lnSpc>
              <a:spcBef>
                <a:spcPts val="0"/>
              </a:spcBef>
              <a:spcAft>
                <a:spcPts val="0"/>
              </a:spcAft>
              <a:defRPr sz="1828" b="0">
                <a:solidFill>
                  <a:srgbClr val="333333"/>
                </a:solidFill>
                <a:latin typeface="微软雅黑"/>
              </a:defRPr>
            </a:pPr>
            <a:r>
              <a:rPr>
                <a:ea typeface="微软雅黑"/>
              </a:rPr>
              <a:t>催化剂</a:t>
            </a:r>
          </a:p>
        </p:txBody>
      </p:sp>
      <p:sp>
        <p:nvSpPr>
          <p:cNvPr id="10" name="原题文字_320_7"/>
          <p:cNvSpPr txBox="1"/>
          <p:nvPr/>
        </p:nvSpPr>
        <p:spPr>
          <a:xfrm>
            <a:off x="7285157" y="2734797"/>
            <a:ext cx="695119" cy="358096"/>
          </a:xfrm>
          <a:prstGeom prst="rect">
            <a:avLst/>
          </a:prstGeom>
          <a:noFill/>
        </p:spPr>
        <p:txBody>
          <a:bodyPr wrap="none" lIns="0" rIns="0" tIns="0" bIns="0">
            <a:spAutoFit/>
          </a:bodyPr>
          <a:lstStyle/>
          <a:p>
            <a:pPr>
              <a:lnSpc>
                <a:spcPct val="112000"/>
              </a:lnSpc>
              <a:spcBef>
                <a:spcPts val="0"/>
              </a:spcBef>
              <a:spcAft>
                <a:spcPts val="0"/>
              </a:spcAft>
              <a:defRPr sz="1735" b="0">
                <a:solidFill>
                  <a:srgbClr val="333333"/>
                </a:solidFill>
                <a:latin typeface="微软雅黑"/>
              </a:defRPr>
            </a:pPr>
            <a:r>
              <a:rPr>
                <a:ea typeface="微软雅黑"/>
              </a:rPr>
              <a:t>可抽动</a:t>
            </a:r>
          </a:p>
        </p:txBody>
      </p:sp>
      <p:sp>
        <p:nvSpPr>
          <p:cNvPr id="11" name="原题文字_320_8"/>
          <p:cNvSpPr txBox="1"/>
          <p:nvPr/>
        </p:nvSpPr>
        <p:spPr>
          <a:xfrm>
            <a:off x="7292602" y="2965587"/>
            <a:ext cx="695119" cy="377452"/>
          </a:xfrm>
          <a:prstGeom prst="rect">
            <a:avLst/>
          </a:prstGeom>
          <a:noFill/>
        </p:spPr>
        <p:txBody>
          <a:bodyPr wrap="none" lIns="0" rIns="0" tIns="0" bIns="0">
            <a:spAutoFit/>
          </a:bodyPr>
          <a:lstStyle/>
          <a:p>
            <a:pPr>
              <a:lnSpc>
                <a:spcPct val="112000"/>
              </a:lnSpc>
              <a:spcBef>
                <a:spcPts val="0"/>
              </a:spcBef>
              <a:spcAft>
                <a:spcPts val="0"/>
              </a:spcAft>
              <a:defRPr sz="1828" b="0">
                <a:solidFill>
                  <a:srgbClr val="333333"/>
                </a:solidFill>
                <a:latin typeface="微软雅黑"/>
              </a:defRPr>
            </a:pPr>
            <a:r>
              <a:rPr>
                <a:ea typeface="微软雅黑"/>
              </a:rPr>
              <a:t>的铜丝</a:t>
            </a:r>
          </a:p>
        </p:txBody>
      </p:sp>
      <p:sp>
        <p:nvSpPr>
          <p:cNvPr id="12" name="原题文字_320_9"/>
          <p:cNvSpPr txBox="1"/>
          <p:nvPr/>
        </p:nvSpPr>
        <p:spPr>
          <a:xfrm>
            <a:off x="4523126" y="3516504"/>
            <a:ext cx="315432" cy="290348"/>
          </a:xfrm>
          <a:prstGeom prst="rect">
            <a:avLst/>
          </a:prstGeom>
          <a:noFill/>
        </p:spPr>
        <p:txBody>
          <a:bodyPr wrap="none" lIns="0" rIns="0" tIns="0" bIns="0">
            <a:spAutoFit/>
          </a:bodyPr>
          <a:lstStyle/>
          <a:p>
            <a:pPr>
              <a:lnSpc>
                <a:spcPct val="112000"/>
              </a:lnSpc>
              <a:spcBef>
                <a:spcPts val="0"/>
              </a:spcBef>
              <a:spcAft>
                <a:spcPts val="0"/>
              </a:spcAft>
              <a:defRPr sz="1406" b="0">
                <a:solidFill>
                  <a:srgbClr val="333333"/>
                </a:solidFill>
                <a:latin typeface="微软雅黑"/>
              </a:defRPr>
            </a:pPr>
            <a:r>
              <a:rPr>
                <a:ea typeface="微软雅黑"/>
              </a:rPr>
              <a:t>M</a:t>
            </a:r>
          </a:p>
        </p:txBody>
      </p:sp>
      <p:sp>
        <p:nvSpPr>
          <p:cNvPr id="13" name="原题文字_320_10"/>
          <p:cNvSpPr txBox="1"/>
          <p:nvPr/>
        </p:nvSpPr>
        <p:spPr>
          <a:xfrm>
            <a:off x="6615123" y="3784518"/>
            <a:ext cx="352657" cy="987184"/>
          </a:xfrm>
          <a:prstGeom prst="rect">
            <a:avLst/>
          </a:prstGeom>
          <a:noFill/>
        </p:spPr>
        <p:txBody>
          <a:bodyPr wrap="none" lIns="0" rIns="0" tIns="0" bIns="0">
            <a:spAutoFit/>
          </a:bodyPr>
          <a:lstStyle/>
          <a:p>
            <a:pPr>
              <a:lnSpc>
                <a:spcPct val="112000"/>
              </a:lnSpc>
              <a:spcBef>
                <a:spcPts val="0"/>
              </a:spcBef>
              <a:spcAft>
                <a:spcPts val="0"/>
              </a:spcAft>
              <a:defRPr sz="3157" b="0">
                <a:solidFill>
                  <a:srgbClr val="333333"/>
                </a:solidFill>
                <a:latin typeface="微软雅黑"/>
              </a:defRPr>
            </a:pPr>
            <a:r>
              <a:rPr>
                <a:ea typeface="微软雅黑"/>
              </a:rPr>
              <a:t>浓硝酸</a:t>
            </a:r>
          </a:p>
        </p:txBody>
      </p:sp>
      <p:sp>
        <p:nvSpPr>
          <p:cNvPr id="14" name="原题文字_320_11"/>
          <p:cNvSpPr txBox="1"/>
          <p:nvPr/>
        </p:nvSpPr>
        <p:spPr>
          <a:xfrm>
            <a:off x="1530306" y="4759790"/>
            <a:ext cx="270764" cy="309704"/>
          </a:xfrm>
          <a:prstGeom prst="rect">
            <a:avLst/>
          </a:prstGeom>
          <a:noFill/>
        </p:spPr>
        <p:txBody>
          <a:bodyPr wrap="none" lIns="0" rIns="0" tIns="0" bIns="0">
            <a:spAutoFit/>
          </a:bodyPr>
          <a:lstStyle/>
          <a:p>
            <a:pPr>
              <a:lnSpc>
                <a:spcPct val="112000"/>
              </a:lnSpc>
              <a:spcBef>
                <a:spcPts val="0"/>
              </a:spcBef>
              <a:spcAft>
                <a:spcPts val="0"/>
              </a:spcAft>
              <a:defRPr sz="1500" b="0">
                <a:solidFill>
                  <a:srgbClr val="333333"/>
                </a:solidFill>
                <a:latin typeface="微软雅黑"/>
              </a:defRPr>
            </a:pPr>
            <a:r>
              <a:rPr>
                <a:ea typeface="微软雅黑"/>
              </a:rPr>
              <a:t>A</a:t>
            </a:r>
          </a:p>
        </p:txBody>
      </p:sp>
      <p:sp>
        <p:nvSpPr>
          <p:cNvPr id="15" name="原题文字_320_12"/>
          <p:cNvSpPr txBox="1"/>
          <p:nvPr/>
        </p:nvSpPr>
        <p:spPr>
          <a:xfrm>
            <a:off x="3279840" y="4759790"/>
            <a:ext cx="263319" cy="300026"/>
          </a:xfrm>
          <a:prstGeom prst="rect">
            <a:avLst/>
          </a:prstGeom>
          <a:noFill/>
        </p:spPr>
        <p:txBody>
          <a:bodyPr wrap="none" lIns="0" rIns="0" tIns="0" bIns="0">
            <a:spAutoFit/>
          </a:bodyPr>
          <a:lstStyle/>
          <a:p>
            <a:pPr>
              <a:lnSpc>
                <a:spcPct val="112000"/>
              </a:lnSpc>
              <a:spcBef>
                <a:spcPts val="0"/>
              </a:spcBef>
              <a:spcAft>
                <a:spcPts val="0"/>
              </a:spcAft>
              <a:defRPr sz="1453" b="0">
                <a:solidFill>
                  <a:srgbClr val="333333"/>
                </a:solidFill>
                <a:latin typeface="微软雅黑"/>
              </a:defRPr>
            </a:pPr>
            <a:r>
              <a:rPr>
                <a:ea typeface="微软雅黑"/>
              </a:rPr>
              <a:t>B</a:t>
            </a:r>
          </a:p>
        </p:txBody>
      </p:sp>
      <p:sp>
        <p:nvSpPr>
          <p:cNvPr id="16" name="原题文字_320_13"/>
          <p:cNvSpPr txBox="1"/>
          <p:nvPr/>
        </p:nvSpPr>
        <p:spPr>
          <a:xfrm>
            <a:off x="6019537" y="4767235"/>
            <a:ext cx="226095" cy="261313"/>
          </a:xfrm>
          <a:prstGeom prst="rect">
            <a:avLst/>
          </a:prstGeom>
          <a:noFill/>
        </p:spPr>
        <p:txBody>
          <a:bodyPr wrap="none" lIns="0" rIns="0" tIns="0" bIns="0">
            <a:spAutoFit/>
          </a:bodyPr>
          <a:lstStyle/>
          <a:p>
            <a:pPr>
              <a:lnSpc>
                <a:spcPct val="112000"/>
              </a:lnSpc>
              <a:spcBef>
                <a:spcPts val="0"/>
              </a:spcBef>
              <a:spcAft>
                <a:spcPts val="0"/>
              </a:spcAft>
              <a:defRPr sz="1266" b="0">
                <a:solidFill>
                  <a:srgbClr val="333333"/>
                </a:solidFill>
                <a:latin typeface="微软雅黑"/>
              </a:defRPr>
            </a:pPr>
            <a:r>
              <a:rPr>
                <a:ea typeface="微软雅黑"/>
              </a:rPr>
              <a:t>C</a:t>
            </a:r>
          </a:p>
        </p:txBody>
      </p:sp>
      <p:sp>
        <p:nvSpPr>
          <p:cNvPr id="17" name="原题文字_320_14"/>
          <p:cNvSpPr txBox="1"/>
          <p:nvPr/>
        </p:nvSpPr>
        <p:spPr>
          <a:xfrm>
            <a:off x="7039478" y="4744901"/>
            <a:ext cx="285653" cy="319383"/>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D</a:t>
            </a:r>
          </a:p>
        </p:txBody>
      </p:sp>
      <p:sp>
        <p:nvSpPr>
          <p:cNvPr id="18" name="文字_(1) 用装置A制备NH₃，其中发生反应的化学方"/>
          <p:cNvSpPr txBox="1"/>
          <p:nvPr/>
        </p:nvSpPr>
        <p:spPr>
          <a:xfrm>
            <a:off x="502920" y="5114802"/>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(1) 用装置A制备NH₃，其中发生反应的化学方程式为 ______ 装置B内的试剂是 ______ O</a:t>
            </a:r>
          </a:p>
        </p:txBody>
      </p:sp>
      <p:sp>
        <p:nvSpPr>
          <p:cNvPr id="19" name="文字_(2)装置C的作用的 ______ ，铜丝可抽动"/>
          <p:cNvSpPr txBox="1"/>
          <p:nvPr/>
        </p:nvSpPr>
        <p:spPr>
          <a:xfrm>
            <a:off x="502920" y="5425698"/>
            <a:ext cx="11064240" cy="310896"/>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(2)装置C的作用的 ______ ，铜丝可抽动的优点是 ______ 装置D中发生反应的离子方程式是</a:t>
            </a:r>
          </a:p>
        </p:txBody>
      </p:sp>
      <p:sp>
        <p:nvSpPr>
          <p:cNvPr id="20" name="文字_(3)NH₃和NO₂在M中充分反应，产生两种对环"/>
          <p:cNvSpPr txBox="1"/>
          <p:nvPr/>
        </p:nvSpPr>
        <p:spPr>
          <a:xfrm>
            <a:off x="502920" y="5736594"/>
            <a:ext cx="11064240" cy="567817"/>
          </a:xfrm>
          <a:prstGeom prst="rect">
            <a:avLst/>
          </a:prstGeom>
          <a:noFill/>
        </p:spPr>
        <p:txBody>
          <a:bodyPr wrap="square" lIns="0" rIns="0" tIns="0" bIns="0">
            <a:spAutoFit/>
          </a:bodyPr>
          <a:lstStyle/>
          <a:p>
            <a:pPr>
              <a:lnSpc>
                <a:spcPct val="112000"/>
              </a:lnSpc>
              <a:spcBef>
                <a:spcPts val="0"/>
              </a:spcBef>
              <a:spcAft>
                <a:spcPts val="0"/>
              </a:spcAft>
              <a:defRPr sz="1700" b="0">
                <a:solidFill>
                  <a:srgbClr val="333333"/>
                </a:solidFill>
                <a:latin typeface="微软雅黑"/>
              </a:defRPr>
            </a:pPr>
            <a:r>
              <a:rPr>
                <a:ea typeface="微软雅黑"/>
              </a:rPr>
              <a:t>(3)NH₃和NO₂在M中充分反应，产生两种对环境友好的物质，该反应的化学方程式为 ______ 。M中可观察到的现象</a:t>
            </a:r>
          </a:p>
          <a:p>
            <a:pPr>
              <a:lnSpc>
                <a:spcPct val="112000"/>
              </a:lnSpc>
              <a:spcBef>
                <a:spcPts val="0"/>
              </a:spcBef>
              <a:spcAft>
                <a:spcPts val="0"/>
              </a:spcAft>
              <a:defRPr sz="1700" b="0">
                <a:solidFill>
                  <a:srgbClr val="333333"/>
                </a:solidFill>
                <a:latin typeface="微软雅黑"/>
              </a:defRPr>
            </a:pPr>
            <a:r>
              <a:rPr>
                <a:ea typeface="微软雅黑"/>
              </a:rPr>
              <a:t>是</a:t>
            </a:r>
          </a:p>
        </p:txBody>
      </p:sp>
      <p:sp>
        <p:nvSpPr>
          <p:cNvPr id="21" name="文字_解答题  ·  14-05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14-050</a:t>
            </a:r>
          </a:p>
        </p:txBody>
      </p:sp>
      <p:sp>
        <p:nvSpPr>
          <p:cNvPr id="22" name="文字_6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巩固8</a:t>
            </a:r>
          </a:p>
        </p:txBody>
      </p:sp>
      <p:sp>
        <p:nvSpPr>
          <p:cNvPr id="5" name="文字_P320"/>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P320</a:t>
            </a:r>
          </a:p>
        </p:txBody>
      </p:sp>
      <p:sp>
        <p:nvSpPr>
          <p:cNvPr id="6" name="文字_工业制取硝酸的简单工艺流程如图："/>
          <p:cNvSpPr txBox="1"/>
          <p:nvPr/>
        </p:nvSpPr>
        <p:spPr>
          <a:xfrm>
            <a:off x="502920" y="107899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工业制取硝酸的简单工艺流程如图：</a:t>
            </a:r>
          </a:p>
        </p:txBody>
      </p:sp>
      <p:pic>
        <p:nvPicPr>
          <p:cNvPr id="7" name="Picture 6" descr="image.png"/>
          <p:cNvPicPr>
            <a:picLocks noChangeAspect="1"/>
          </p:cNvPicPr>
          <p:nvPr/>
        </p:nvPicPr>
        <p:blipFill>
          <a:blip r:embed="rId3"/>
          <a:stretch>
            <a:fillRect/>
          </a:stretch>
        </p:blipFill>
        <p:spPr>
          <a:xfrm>
            <a:off x="502920" y="1517904"/>
            <a:ext cx="11064240" cy="1362930"/>
          </a:xfrm>
          <a:prstGeom prst="rect">
            <a:avLst/>
          </a:prstGeom>
        </p:spPr>
      </p:pic>
      <p:sp>
        <p:nvSpPr>
          <p:cNvPr id="8" name="原题文字_320_31"/>
          <p:cNvSpPr txBox="1"/>
          <p:nvPr/>
        </p:nvSpPr>
        <p:spPr>
          <a:xfrm>
            <a:off x="2532002" y="1741210"/>
            <a:ext cx="422395"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O₂</a:t>
            </a:r>
          </a:p>
        </p:txBody>
      </p:sp>
      <p:sp>
        <p:nvSpPr>
          <p:cNvPr id="9" name="原题文字_320_32"/>
          <p:cNvSpPr txBox="1"/>
          <p:nvPr/>
        </p:nvSpPr>
        <p:spPr>
          <a:xfrm>
            <a:off x="4461544" y="1748867"/>
            <a:ext cx="422395"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O₂</a:t>
            </a:r>
          </a:p>
        </p:txBody>
      </p:sp>
      <p:sp>
        <p:nvSpPr>
          <p:cNvPr id="10" name="原题文字_320_33"/>
          <p:cNvSpPr txBox="1"/>
          <p:nvPr/>
        </p:nvSpPr>
        <p:spPr>
          <a:xfrm>
            <a:off x="5342089" y="1741210"/>
            <a:ext cx="782270" cy="418067"/>
          </a:xfrm>
          <a:prstGeom prst="rect">
            <a:avLst/>
          </a:prstGeom>
          <a:noFill/>
        </p:spPr>
        <p:txBody>
          <a:bodyPr wrap="none" lIns="0" rIns="0" tIns="0" bIns="0">
            <a:spAutoFit/>
          </a:bodyPr>
          <a:lstStyle/>
          <a:p>
            <a:pPr>
              <a:lnSpc>
                <a:spcPct val="112000"/>
              </a:lnSpc>
              <a:spcBef>
                <a:spcPts val="0"/>
              </a:spcBef>
              <a:spcAft>
                <a:spcPts val="0"/>
              </a:spcAft>
              <a:defRPr sz="2025" b="0">
                <a:solidFill>
                  <a:srgbClr val="333333"/>
                </a:solidFill>
                <a:latin typeface="微软雅黑"/>
              </a:defRPr>
            </a:pPr>
            <a:r>
              <a:rPr>
                <a:ea typeface="微软雅黑"/>
              </a:rPr>
              <a:t>红棕色</a:t>
            </a:r>
          </a:p>
        </p:txBody>
      </p:sp>
      <p:sp>
        <p:nvSpPr>
          <p:cNvPr id="11" name="原题文字_320_34"/>
          <p:cNvSpPr txBox="1"/>
          <p:nvPr/>
        </p:nvSpPr>
        <p:spPr>
          <a:xfrm>
            <a:off x="6482969" y="1695269"/>
            <a:ext cx="560220" cy="378251"/>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H₂O</a:t>
            </a:r>
          </a:p>
        </p:txBody>
      </p:sp>
      <p:sp>
        <p:nvSpPr>
          <p:cNvPr id="12" name="原题文字_320_35"/>
          <p:cNvSpPr txBox="1"/>
          <p:nvPr/>
        </p:nvSpPr>
        <p:spPr>
          <a:xfrm>
            <a:off x="1329866" y="1917319"/>
            <a:ext cx="583191" cy="418067"/>
          </a:xfrm>
          <a:prstGeom prst="rect">
            <a:avLst/>
          </a:prstGeom>
          <a:noFill/>
        </p:spPr>
        <p:txBody>
          <a:bodyPr wrap="none" lIns="0" rIns="0" tIns="0" bIns="0">
            <a:spAutoFit/>
          </a:bodyPr>
          <a:lstStyle/>
          <a:p>
            <a:pPr>
              <a:lnSpc>
                <a:spcPct val="112000"/>
              </a:lnSpc>
              <a:spcBef>
                <a:spcPts val="0"/>
              </a:spcBef>
              <a:spcAft>
                <a:spcPts val="0"/>
              </a:spcAft>
              <a:defRPr sz="1990" b="0">
                <a:solidFill>
                  <a:srgbClr val="333333"/>
                </a:solidFill>
                <a:latin typeface="微软雅黑"/>
              </a:defRPr>
            </a:pPr>
            <a:r>
              <a:rPr>
                <a:ea typeface="微软雅黑"/>
              </a:rPr>
              <a:t>NH₃</a:t>
            </a:r>
          </a:p>
        </p:txBody>
      </p:sp>
      <p:sp>
        <p:nvSpPr>
          <p:cNvPr id="13" name="原题文字_320_36"/>
          <p:cNvSpPr txBox="1"/>
          <p:nvPr/>
        </p:nvSpPr>
        <p:spPr>
          <a:xfrm>
            <a:off x="2340579" y="2062800"/>
            <a:ext cx="774613"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催化剂</a:t>
            </a:r>
          </a:p>
        </p:txBody>
      </p:sp>
      <p:sp>
        <p:nvSpPr>
          <p:cNvPr id="14" name="原题文字_320_37"/>
          <p:cNvSpPr txBox="1"/>
          <p:nvPr/>
        </p:nvSpPr>
        <p:spPr>
          <a:xfrm>
            <a:off x="3626940" y="1924976"/>
            <a:ext cx="514278" cy="398159"/>
          </a:xfrm>
          <a:prstGeom prst="rect">
            <a:avLst/>
          </a:prstGeom>
          <a:noFill/>
        </p:spPr>
        <p:txBody>
          <a:bodyPr wrap="none" lIns="0" rIns="0" tIns="0" bIns="0">
            <a:spAutoFit/>
          </a:bodyPr>
          <a:lstStyle/>
          <a:p>
            <a:pPr>
              <a:lnSpc>
                <a:spcPct val="112000"/>
              </a:lnSpc>
              <a:spcBef>
                <a:spcPts val="0"/>
              </a:spcBef>
              <a:spcAft>
                <a:spcPts val="0"/>
              </a:spcAft>
              <a:defRPr sz="1929" b="0">
                <a:solidFill>
                  <a:srgbClr val="333333"/>
                </a:solidFill>
                <a:latin typeface="微软雅黑"/>
              </a:defRPr>
            </a:pPr>
            <a:r>
              <a:rPr>
                <a:ea typeface="微软雅黑"/>
              </a:rPr>
              <a:t>NO</a:t>
            </a:r>
          </a:p>
        </p:txBody>
      </p:sp>
      <p:sp>
        <p:nvSpPr>
          <p:cNvPr id="15" name="原题文字_320_38"/>
          <p:cNvSpPr txBox="1"/>
          <p:nvPr/>
        </p:nvSpPr>
        <p:spPr>
          <a:xfrm>
            <a:off x="5326775" y="1993888"/>
            <a:ext cx="835869" cy="477791"/>
          </a:xfrm>
          <a:prstGeom prst="rect">
            <a:avLst/>
          </a:prstGeom>
          <a:noFill/>
        </p:spPr>
        <p:txBody>
          <a:bodyPr wrap="none" lIns="0" rIns="0" tIns="0" bIns="0">
            <a:spAutoFit/>
          </a:bodyPr>
          <a:lstStyle/>
          <a:p>
            <a:pPr>
              <a:lnSpc>
                <a:spcPct val="112000"/>
              </a:lnSpc>
              <a:spcBef>
                <a:spcPts val="0"/>
              </a:spcBef>
              <a:spcAft>
                <a:spcPts val="0"/>
              </a:spcAft>
              <a:defRPr sz="2315" b="0">
                <a:solidFill>
                  <a:srgbClr val="333333"/>
                </a:solidFill>
                <a:latin typeface="微软雅黑"/>
              </a:defRPr>
            </a:pPr>
            <a:r>
              <a:rPr>
                <a:ea typeface="微软雅黑"/>
              </a:rPr>
              <a:t>气体A</a:t>
            </a:r>
          </a:p>
        </p:txBody>
      </p:sp>
      <p:sp>
        <p:nvSpPr>
          <p:cNvPr id="16" name="原题文字_320_39"/>
          <p:cNvSpPr txBox="1"/>
          <p:nvPr/>
        </p:nvSpPr>
        <p:spPr>
          <a:xfrm>
            <a:off x="7570251" y="1924976"/>
            <a:ext cx="721015" cy="398159"/>
          </a:xfrm>
          <a:prstGeom prst="rect">
            <a:avLst/>
          </a:prstGeom>
          <a:noFill/>
        </p:spPr>
        <p:txBody>
          <a:bodyPr wrap="none" lIns="0" rIns="0" tIns="0" bIns="0">
            <a:spAutoFit/>
          </a:bodyPr>
          <a:lstStyle/>
          <a:p>
            <a:pPr>
              <a:lnSpc>
                <a:spcPct val="112000"/>
              </a:lnSpc>
              <a:spcBef>
                <a:spcPts val="0"/>
              </a:spcBef>
              <a:spcAft>
                <a:spcPts val="0"/>
              </a:spcAft>
              <a:defRPr sz="1832" b="0">
                <a:solidFill>
                  <a:srgbClr val="333333"/>
                </a:solidFill>
                <a:latin typeface="微软雅黑"/>
              </a:defRPr>
            </a:pPr>
            <a:r>
              <a:rPr>
                <a:ea typeface="微软雅黑"/>
              </a:rPr>
              <a:t>HNO₃</a:t>
            </a:r>
          </a:p>
        </p:txBody>
      </p:sp>
      <p:sp>
        <p:nvSpPr>
          <p:cNvPr id="17" name="原题文字_320_40"/>
          <p:cNvSpPr txBox="1"/>
          <p:nvPr/>
        </p:nvSpPr>
        <p:spPr>
          <a:xfrm>
            <a:off x="1023590" y="2568157"/>
            <a:ext cx="2520390"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请根据题意回答下列问题:</a:t>
            </a:r>
          </a:p>
        </p:txBody>
      </p:sp>
      <p:sp>
        <p:nvSpPr>
          <p:cNvPr id="18" name="文字_(1) 气体A的分子式为"/>
          <p:cNvSpPr txBox="1"/>
          <p:nvPr/>
        </p:nvSpPr>
        <p:spPr>
          <a:xfrm>
            <a:off x="502920" y="295398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气体A的分子式为</a:t>
            </a:r>
          </a:p>
        </p:txBody>
      </p:sp>
      <p:sp>
        <p:nvSpPr>
          <p:cNvPr id="19" name="文字_(2)气体A与H₂O反应的化学方程式为 ____"/>
          <p:cNvSpPr txBox="1"/>
          <p:nvPr/>
        </p:nvSpPr>
        <p:spPr>
          <a:xfrm>
            <a:off x="502920" y="339289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(2)气体A与H₂O反应的化学方程式为 ______ o;</a:t>
            </a:r>
          </a:p>
        </p:txBody>
      </p:sp>
      <p:sp>
        <p:nvSpPr>
          <p:cNvPr id="20" name="文字_(3）稀硝酸与铜反应的化学方程式为 ______"/>
          <p:cNvSpPr txBox="1"/>
          <p:nvPr/>
        </p:nvSpPr>
        <p:spPr>
          <a:xfrm>
            <a:off x="502920" y="3831810"/>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(3）稀硝酸与铜反应的化学方程式为 ______ 该反应中的稀硝酸表现出的性质是酸性</a:t>
            </a:r>
          </a:p>
          <a:p>
            <a:pPr>
              <a:lnSpc>
                <a:spcPct val="112000"/>
              </a:lnSpc>
              <a:spcBef>
                <a:spcPts val="0"/>
              </a:spcBef>
              <a:spcAft>
                <a:spcPts val="0"/>
              </a:spcAft>
              <a:defRPr sz="2400" b="0">
                <a:solidFill>
                  <a:srgbClr val="333333"/>
                </a:solidFill>
                <a:latin typeface="微软雅黑"/>
              </a:defRPr>
            </a:pPr>
            <a:r>
              <a:rPr>
                <a:ea typeface="微软雅黑"/>
              </a:rPr>
              <a:t>和 ______ (填“强氧化性”或“强还原性”)。</a:t>
            </a:r>
          </a:p>
        </p:txBody>
      </p:sp>
      <p:sp>
        <p:nvSpPr>
          <p:cNvPr id="21" name="文字_解答题  ·  14-05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14-051</a:t>
            </a:r>
          </a:p>
        </p:txBody>
      </p:sp>
      <p:sp>
        <p:nvSpPr>
          <p:cNvPr id="22" name="文字_6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9"/>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巩固9</a:t>
            </a:r>
          </a:p>
        </p:txBody>
      </p:sp>
      <p:sp>
        <p:nvSpPr>
          <p:cNvPr id="5" name="文字_P32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P321</a:t>
            </a:r>
          </a:p>
        </p:txBody>
      </p:sp>
      <p:sp>
        <p:nvSpPr>
          <p:cNvPr id="6" name="文字_燃煤产生的烟气中的氮氧化物NO×（主要为NO、N"/>
          <p:cNvSpPr txBox="1"/>
          <p:nvPr/>
        </p:nvSpPr>
        <p:spPr>
          <a:xfrm>
            <a:off x="502920" y="1078992"/>
            <a:ext cx="11064240" cy="701421"/>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燃煤产生的烟气中的氮氧化物NO×（主要为NO、NO₂）易形成污染，必须经脱除达标后才能</a:t>
            </a:r>
          </a:p>
          <a:p>
            <a:pPr>
              <a:lnSpc>
                <a:spcPct val="112000"/>
              </a:lnSpc>
              <a:spcBef>
                <a:spcPts val="0"/>
              </a:spcBef>
              <a:spcAft>
                <a:spcPts val="0"/>
              </a:spcAft>
              <a:defRPr sz="2100" b="0">
                <a:solidFill>
                  <a:srgbClr val="333333"/>
                </a:solidFill>
                <a:latin typeface="微软雅黑"/>
              </a:defRPr>
            </a:pPr>
            <a:r>
              <a:rPr>
                <a:ea typeface="微软雅黑"/>
              </a:rPr>
              <a:t>排放。</a:t>
            </a:r>
          </a:p>
        </p:txBody>
      </p:sp>
      <p:sp>
        <p:nvSpPr>
          <p:cNvPr id="7" name="文字_请回答："/>
          <p:cNvSpPr txBox="1"/>
          <p:nvPr/>
        </p:nvSpPr>
        <p:spPr>
          <a:xfrm>
            <a:off x="502920" y="1780413"/>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请回答：</a:t>
            </a:r>
          </a:p>
        </p:txBody>
      </p:sp>
      <p:sp>
        <p:nvSpPr>
          <p:cNvPr id="8" name="文字_(1)NOx可导致的环境问题有 ______ ("/>
          <p:cNvSpPr txBox="1"/>
          <p:nvPr/>
        </p:nvSpPr>
        <p:spPr>
          <a:xfrm>
            <a:off x="502920" y="2164461"/>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(1)NOx可导致的环境问题有 ______ (填字母)。</a:t>
            </a:r>
          </a:p>
        </p:txBody>
      </p:sp>
      <p:sp>
        <p:nvSpPr>
          <p:cNvPr id="9" name="文字_a. 酸雨 b. 臭氧层受损"/>
          <p:cNvSpPr txBox="1"/>
          <p:nvPr/>
        </p:nvSpPr>
        <p:spPr>
          <a:xfrm>
            <a:off x="502920" y="2548509"/>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a. 酸雨 b. 臭氧层受损</a:t>
            </a:r>
          </a:p>
        </p:txBody>
      </p:sp>
      <p:sp>
        <p:nvSpPr>
          <p:cNvPr id="10" name="文字_(2）能作脱除剂的物质很多，下列说法正确的是 _"/>
          <p:cNvSpPr txBox="1"/>
          <p:nvPr/>
        </p:nvSpPr>
        <p:spPr>
          <a:xfrm>
            <a:off x="502920" y="2932557"/>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(2）能作脱除剂的物质很多，下列说法正确的是 ______ (填字母)。</a:t>
            </a:r>
          </a:p>
        </p:txBody>
      </p:sp>
      <p:sp>
        <p:nvSpPr>
          <p:cNvPr id="11" name="文字_a. 用H₂O作脱除剂，不利于吸收含氮烟气中的N"/>
          <p:cNvSpPr txBox="1"/>
          <p:nvPr/>
        </p:nvSpPr>
        <p:spPr>
          <a:xfrm>
            <a:off x="502920" y="3316605"/>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a. 用H₂O作脱除剂，不利于吸收含氮烟气中的NO</a:t>
            </a:r>
          </a:p>
        </p:txBody>
      </p:sp>
      <p:sp>
        <p:nvSpPr>
          <p:cNvPr id="12" name="文字_b. 用Na₂SO₃作脱除剂，O₂会降低Na₂S"/>
          <p:cNvSpPr txBox="1"/>
          <p:nvPr/>
        </p:nvSpPr>
        <p:spPr>
          <a:xfrm>
            <a:off x="502920" y="3700653"/>
            <a:ext cx="11064240" cy="384048"/>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b. 用Na₂SO₃作脱除剂，O₂会降低Na₂SO₃的利用率</a:t>
            </a:r>
          </a:p>
        </p:txBody>
      </p:sp>
      <p:sp>
        <p:nvSpPr>
          <p:cNvPr id="13" name="文字_(3）选择性催化还原法的脱硝原理是在催化剂存在下"/>
          <p:cNvSpPr txBox="1"/>
          <p:nvPr/>
        </p:nvSpPr>
        <p:spPr>
          <a:xfrm>
            <a:off x="502920" y="4084700"/>
            <a:ext cx="11064240" cy="701421"/>
          </a:xfrm>
          <a:prstGeom prst="rect">
            <a:avLst/>
          </a:prstGeom>
          <a:noFill/>
        </p:spPr>
        <p:txBody>
          <a:bodyPr wrap="square" lIns="0" rIns="0" tIns="0" bIns="0">
            <a:spAutoFit/>
          </a:bodyPr>
          <a:lstStyle/>
          <a:p>
            <a:pPr>
              <a:lnSpc>
                <a:spcPct val="112000"/>
              </a:lnSpc>
              <a:spcBef>
                <a:spcPts val="0"/>
              </a:spcBef>
              <a:spcAft>
                <a:spcPts val="0"/>
              </a:spcAft>
              <a:defRPr sz="2100" b="0">
                <a:solidFill>
                  <a:srgbClr val="333333"/>
                </a:solidFill>
                <a:latin typeface="微软雅黑"/>
              </a:defRPr>
            </a:pPr>
            <a:r>
              <a:rPr>
                <a:ea typeface="微软雅黑"/>
              </a:rPr>
              <a:t>(3）选择性催化还原法的脱硝原理是在催化剂存在下，通入甲烷使氮氧化合物（NOx）转化为</a:t>
            </a:r>
          </a:p>
          <a:p>
            <a:pPr>
              <a:lnSpc>
                <a:spcPct val="112000"/>
              </a:lnSpc>
              <a:spcBef>
                <a:spcPts val="0"/>
              </a:spcBef>
              <a:spcAft>
                <a:spcPts val="0"/>
              </a:spcAft>
              <a:defRPr sz="2100" b="0">
                <a:solidFill>
                  <a:srgbClr val="333333"/>
                </a:solidFill>
                <a:latin typeface="微软雅黑"/>
              </a:defRPr>
            </a:pPr>
            <a:r>
              <a:rPr>
                <a:ea typeface="微软雅黑"/>
              </a:rPr>
              <a:t>无害气体，甲烷与NO₂反应的化学方程式是</a:t>
            </a:r>
          </a:p>
        </p:txBody>
      </p:sp>
      <p:pic>
        <p:nvPicPr>
          <p:cNvPr id="14" name="Picture 13" descr="image.png"/>
          <p:cNvPicPr>
            <a:picLocks noChangeAspect="1"/>
          </p:cNvPicPr>
          <p:nvPr/>
        </p:nvPicPr>
        <p:blipFill>
          <a:blip r:embed="rId3"/>
          <a:stretch>
            <a:fillRect/>
          </a:stretch>
        </p:blipFill>
        <p:spPr>
          <a:xfrm>
            <a:off x="502920" y="4786122"/>
            <a:ext cx="11064240" cy="1462470"/>
          </a:xfrm>
          <a:prstGeom prst="rect">
            <a:avLst/>
          </a:prstGeom>
        </p:spPr>
      </p:pic>
      <p:sp>
        <p:nvSpPr>
          <p:cNvPr id="15" name="原题文字_321_14"/>
          <p:cNvSpPr txBox="1"/>
          <p:nvPr/>
        </p:nvSpPr>
        <p:spPr>
          <a:xfrm>
            <a:off x="1138443" y="4818005"/>
            <a:ext cx="9082365"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(4)某研究小组对PM₂.5进行监测时，取其样本用蒸馏水处理制成待测试样，测得有关数据如下：</a:t>
            </a:r>
          </a:p>
        </p:txBody>
      </p:sp>
      <p:sp>
        <p:nvSpPr>
          <p:cNvPr id="16" name="原题文字_321_15"/>
          <p:cNvSpPr txBox="1"/>
          <p:nvPr/>
        </p:nvSpPr>
        <p:spPr>
          <a:xfrm>
            <a:off x="2845935" y="5162566"/>
            <a:ext cx="560220"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离子</a:t>
            </a:r>
          </a:p>
        </p:txBody>
      </p:sp>
      <p:sp>
        <p:nvSpPr>
          <p:cNvPr id="17" name="原题文字_321_16"/>
          <p:cNvSpPr txBox="1"/>
          <p:nvPr/>
        </p:nvSpPr>
        <p:spPr>
          <a:xfrm>
            <a:off x="4660624" y="5177880"/>
            <a:ext cx="384111"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H⁺</a:t>
            </a:r>
          </a:p>
        </p:txBody>
      </p:sp>
      <p:sp>
        <p:nvSpPr>
          <p:cNvPr id="18" name="原题文字_321_17"/>
          <p:cNvSpPr txBox="1"/>
          <p:nvPr/>
        </p:nvSpPr>
        <p:spPr>
          <a:xfrm>
            <a:off x="6046525" y="5162566"/>
            <a:ext cx="514278"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Na⁺</a:t>
            </a:r>
          </a:p>
        </p:txBody>
      </p:sp>
      <p:sp>
        <p:nvSpPr>
          <p:cNvPr id="19" name="原题文字_321_18"/>
          <p:cNvSpPr txBox="1"/>
          <p:nvPr/>
        </p:nvSpPr>
        <p:spPr>
          <a:xfrm>
            <a:off x="7424769" y="5139596"/>
            <a:ext cx="652103" cy="477791"/>
          </a:xfrm>
          <a:prstGeom prst="rect">
            <a:avLst/>
          </a:prstGeom>
          <a:noFill/>
        </p:spPr>
        <p:txBody>
          <a:bodyPr wrap="none" lIns="0" rIns="0" tIns="0" bIns="0">
            <a:spAutoFit/>
          </a:bodyPr>
          <a:lstStyle/>
          <a:p>
            <a:pPr>
              <a:lnSpc>
                <a:spcPct val="112000"/>
              </a:lnSpc>
              <a:spcBef>
                <a:spcPts val="0"/>
              </a:spcBef>
              <a:spcAft>
                <a:spcPts val="0"/>
              </a:spcAft>
              <a:defRPr sz="1711" b="0">
                <a:solidFill>
                  <a:srgbClr val="333333"/>
                </a:solidFill>
                <a:latin typeface="微软雅黑"/>
              </a:defRPr>
            </a:pPr>
            <a:r>
              <a:rPr>
                <a:ea typeface="微软雅黑"/>
              </a:rPr>
              <a:t>HN₄⁺</a:t>
            </a:r>
          </a:p>
        </p:txBody>
      </p:sp>
      <p:sp>
        <p:nvSpPr>
          <p:cNvPr id="20" name="原题文字_321_19"/>
          <p:cNvSpPr txBox="1"/>
          <p:nvPr/>
        </p:nvSpPr>
        <p:spPr>
          <a:xfrm>
            <a:off x="8833641" y="5162566"/>
            <a:ext cx="659760" cy="457883"/>
          </a:xfrm>
          <a:prstGeom prst="rect">
            <a:avLst/>
          </a:prstGeom>
          <a:noFill/>
        </p:spPr>
        <p:txBody>
          <a:bodyPr wrap="none" lIns="0" rIns="0" tIns="0" bIns="0">
            <a:spAutoFit/>
          </a:bodyPr>
          <a:lstStyle/>
          <a:p>
            <a:pPr>
              <a:lnSpc>
                <a:spcPct val="112000"/>
              </a:lnSpc>
              <a:spcBef>
                <a:spcPts val="0"/>
              </a:spcBef>
              <a:spcAft>
                <a:spcPts val="0"/>
              </a:spcAft>
              <a:defRPr sz="1696" b="0">
                <a:solidFill>
                  <a:srgbClr val="333333"/>
                </a:solidFill>
                <a:latin typeface="微软雅黑"/>
              </a:defRPr>
            </a:pPr>
            <a:r>
              <a:rPr>
                <a:ea typeface="微软雅黑"/>
              </a:rPr>
              <a:t>NO₃⁻</a:t>
            </a:r>
          </a:p>
        </p:txBody>
      </p:sp>
      <p:sp>
        <p:nvSpPr>
          <p:cNvPr id="21" name="原题文字_321_20"/>
          <p:cNvSpPr txBox="1"/>
          <p:nvPr/>
        </p:nvSpPr>
        <p:spPr>
          <a:xfrm>
            <a:off x="10265484" y="5154909"/>
            <a:ext cx="552563" cy="447929"/>
          </a:xfrm>
          <a:prstGeom prst="rect">
            <a:avLst/>
          </a:prstGeom>
          <a:noFill/>
        </p:spPr>
        <p:txBody>
          <a:bodyPr wrap="none" lIns="0" rIns="0" tIns="0" bIns="0">
            <a:spAutoFit/>
          </a:bodyPr>
          <a:lstStyle/>
          <a:p>
            <a:pPr>
              <a:lnSpc>
                <a:spcPct val="112000"/>
              </a:lnSpc>
              <a:spcBef>
                <a:spcPts val="0"/>
              </a:spcBef>
              <a:spcAft>
                <a:spcPts val="0"/>
              </a:spcAft>
              <a:defRPr sz="1547" b="0">
                <a:solidFill>
                  <a:srgbClr val="333333"/>
                </a:solidFill>
                <a:latin typeface="微软雅黑"/>
              </a:defRPr>
            </a:pPr>
            <a:r>
              <a:rPr>
                <a:ea typeface="微软雅黑"/>
              </a:rPr>
              <a:t>SO₄₂</a:t>
            </a:r>
          </a:p>
        </p:txBody>
      </p:sp>
      <p:sp>
        <p:nvSpPr>
          <p:cNvPr id="22" name="原题文字_321_21"/>
          <p:cNvSpPr txBox="1"/>
          <p:nvPr/>
        </p:nvSpPr>
        <p:spPr>
          <a:xfrm>
            <a:off x="2409491" y="5553069"/>
            <a:ext cx="1287627" cy="358343"/>
          </a:xfrm>
          <a:prstGeom prst="rect">
            <a:avLst/>
          </a:prstGeom>
          <a:noFill/>
        </p:spPr>
        <p:txBody>
          <a:bodyPr wrap="none" lIns="0" rIns="0" tIns="0" bIns="0">
            <a:spAutoFit/>
          </a:bodyPr>
          <a:lstStyle/>
          <a:p>
            <a:pPr>
              <a:lnSpc>
                <a:spcPct val="112000"/>
              </a:lnSpc>
              <a:spcBef>
                <a:spcPts val="0"/>
              </a:spcBef>
              <a:spcAft>
                <a:spcPts val="0"/>
              </a:spcAft>
              <a:defRPr sz="1513" b="0">
                <a:solidFill>
                  <a:srgbClr val="333333"/>
                </a:solidFill>
                <a:latin typeface="微软雅黑"/>
              </a:defRPr>
            </a:pPr>
            <a:r>
              <a:rPr>
                <a:ea typeface="微软雅黑"/>
              </a:rPr>
              <a:t>浓度（mol/L）</a:t>
            </a:r>
          </a:p>
        </p:txBody>
      </p:sp>
      <p:sp>
        <p:nvSpPr>
          <p:cNvPr id="23" name="原题文字_321_22"/>
          <p:cNvSpPr txBox="1"/>
          <p:nvPr/>
        </p:nvSpPr>
        <p:spPr>
          <a:xfrm>
            <a:off x="5916357" y="5553069"/>
            <a:ext cx="782270" cy="368297"/>
          </a:xfrm>
          <a:prstGeom prst="rect">
            <a:avLst/>
          </a:prstGeom>
          <a:noFill/>
        </p:spPr>
        <p:txBody>
          <a:bodyPr wrap="none" lIns="0" rIns="0" tIns="0" bIns="0">
            <a:spAutoFit/>
          </a:bodyPr>
          <a:lstStyle/>
          <a:p>
            <a:pPr>
              <a:lnSpc>
                <a:spcPct val="112000"/>
              </a:lnSpc>
              <a:spcBef>
                <a:spcPts val="0"/>
              </a:spcBef>
              <a:spcAft>
                <a:spcPts val="0"/>
              </a:spcAft>
              <a:defRPr sz="1738" b="0">
                <a:solidFill>
                  <a:srgbClr val="333333"/>
                </a:solidFill>
                <a:latin typeface="微软雅黑"/>
              </a:defRPr>
            </a:pPr>
            <a:r>
              <a:rPr>
                <a:ea typeface="微软雅黑"/>
              </a:rPr>
              <a:t>1×10-5</a:t>
            </a:r>
          </a:p>
        </p:txBody>
      </p:sp>
      <p:sp>
        <p:nvSpPr>
          <p:cNvPr id="24" name="原题文字_321_23"/>
          <p:cNvSpPr txBox="1"/>
          <p:nvPr/>
        </p:nvSpPr>
        <p:spPr>
          <a:xfrm>
            <a:off x="7348200" y="5553069"/>
            <a:ext cx="789927"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2×10-⁵</a:t>
            </a:r>
          </a:p>
        </p:txBody>
      </p:sp>
      <p:sp>
        <p:nvSpPr>
          <p:cNvPr id="25" name="原题文字_321_24"/>
          <p:cNvSpPr txBox="1"/>
          <p:nvPr/>
        </p:nvSpPr>
        <p:spPr>
          <a:xfrm>
            <a:off x="8803014" y="5553069"/>
            <a:ext cx="789927" cy="368297"/>
          </a:xfrm>
          <a:prstGeom prst="rect">
            <a:avLst/>
          </a:prstGeom>
          <a:noFill/>
        </p:spPr>
        <p:txBody>
          <a:bodyPr wrap="none" lIns="0" rIns="0" tIns="0" bIns="0">
            <a:spAutoFit/>
          </a:bodyPr>
          <a:lstStyle/>
          <a:p>
            <a:pPr>
              <a:lnSpc>
                <a:spcPct val="112000"/>
              </a:lnSpc>
              <a:spcBef>
                <a:spcPts val="0"/>
              </a:spcBef>
              <a:spcAft>
                <a:spcPts val="0"/>
              </a:spcAft>
              <a:defRPr sz="1755" b="0">
                <a:solidFill>
                  <a:srgbClr val="333333"/>
                </a:solidFill>
                <a:latin typeface="微软雅黑"/>
              </a:defRPr>
            </a:pPr>
            <a:r>
              <a:rPr>
                <a:ea typeface="微软雅黑"/>
              </a:rPr>
              <a:t>3×10-5</a:t>
            </a:r>
          </a:p>
        </p:txBody>
      </p:sp>
      <p:sp>
        <p:nvSpPr>
          <p:cNvPr id="26" name="原题文字_321_25"/>
          <p:cNvSpPr txBox="1"/>
          <p:nvPr/>
        </p:nvSpPr>
        <p:spPr>
          <a:xfrm>
            <a:off x="10257827" y="5553069"/>
            <a:ext cx="789927" cy="368297"/>
          </a:xfrm>
          <a:prstGeom prst="rect">
            <a:avLst/>
          </a:prstGeom>
          <a:noFill/>
        </p:spPr>
        <p:txBody>
          <a:bodyPr wrap="none" lIns="0" rIns="0" tIns="0" bIns="0">
            <a:spAutoFit/>
          </a:bodyPr>
          <a:lstStyle/>
          <a:p>
            <a:pPr>
              <a:lnSpc>
                <a:spcPct val="112000"/>
              </a:lnSpc>
              <a:spcBef>
                <a:spcPts val="0"/>
              </a:spcBef>
              <a:spcAft>
                <a:spcPts val="0"/>
              </a:spcAft>
              <a:defRPr sz="1784" b="0">
                <a:solidFill>
                  <a:srgbClr val="333333"/>
                </a:solidFill>
                <a:latin typeface="微软雅黑"/>
              </a:defRPr>
            </a:pPr>
            <a:r>
              <a:rPr>
                <a:ea typeface="微软雅黑"/>
              </a:rPr>
              <a:t>4×10-⁵</a:t>
            </a:r>
          </a:p>
        </p:txBody>
      </p:sp>
      <p:sp>
        <p:nvSpPr>
          <p:cNvPr id="27" name="原题文字_321_26"/>
          <p:cNvSpPr txBox="1"/>
          <p:nvPr/>
        </p:nvSpPr>
        <p:spPr>
          <a:xfrm>
            <a:off x="1000619" y="5920601"/>
            <a:ext cx="1731728" cy="348389"/>
          </a:xfrm>
          <a:prstGeom prst="rect">
            <a:avLst/>
          </a:prstGeom>
          <a:noFill/>
        </p:spPr>
        <p:txBody>
          <a:bodyPr wrap="none" lIns="0" rIns="0" tIns="0" bIns="0">
            <a:spAutoFit/>
          </a:bodyPr>
          <a:lstStyle/>
          <a:p>
            <a:pPr>
              <a:lnSpc>
                <a:spcPct val="112000"/>
              </a:lnSpc>
              <a:spcBef>
                <a:spcPts val="0"/>
              </a:spcBef>
              <a:spcAft>
                <a:spcPts val="0"/>
              </a:spcAft>
              <a:defRPr sz="1688" b="0">
                <a:solidFill>
                  <a:srgbClr val="333333"/>
                </a:solidFill>
                <a:latin typeface="微软雅黑"/>
              </a:defRPr>
            </a:pPr>
            <a:r>
              <a:rPr>
                <a:ea typeface="微软雅黑"/>
              </a:rPr>
              <a:t>试样中c（H+）=.</a:t>
            </a:r>
          </a:p>
        </p:txBody>
      </p:sp>
      <p:sp>
        <p:nvSpPr>
          <p:cNvPr id="28" name="原题文字_321_27"/>
          <p:cNvSpPr txBox="1"/>
          <p:nvPr/>
        </p:nvSpPr>
        <p:spPr>
          <a:xfrm>
            <a:off x="3565685" y="5943572"/>
            <a:ext cx="759300" cy="368297"/>
          </a:xfrm>
          <a:prstGeom prst="rect">
            <a:avLst/>
          </a:prstGeom>
          <a:noFill/>
        </p:spPr>
        <p:txBody>
          <a:bodyPr wrap="none" lIns="0" rIns="0" tIns="0" bIns="0">
            <a:spAutoFit/>
          </a:bodyPr>
          <a:lstStyle/>
          <a:p>
            <a:pPr>
              <a:lnSpc>
                <a:spcPct val="112000"/>
              </a:lnSpc>
              <a:spcBef>
                <a:spcPts val="0"/>
              </a:spcBef>
              <a:spcAft>
                <a:spcPts val="0"/>
              </a:spcAft>
              <a:defRPr sz="1597" b="0">
                <a:solidFill>
                  <a:srgbClr val="333333"/>
                </a:solidFill>
                <a:latin typeface="微软雅黑"/>
              </a:defRPr>
            </a:pPr>
            <a:r>
              <a:rPr>
                <a:ea typeface="微软雅黑"/>
              </a:rPr>
              <a:t>mol/L。</a:t>
            </a:r>
          </a:p>
        </p:txBody>
      </p:sp>
      <p:sp>
        <p:nvSpPr>
          <p:cNvPr id="29" name="文字_解答题  ·  14-05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14-052</a:t>
            </a:r>
          </a:p>
        </p:txBody>
      </p:sp>
      <p:sp>
        <p:nvSpPr>
          <p:cNvPr id="30" name="文字_6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硝酸性质、保存 · 巩固10"/>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硝酸性质、保存 · 巩固10</a:t>
            </a:r>
          </a:p>
        </p:txBody>
      </p:sp>
      <p:sp>
        <p:nvSpPr>
          <p:cNvPr id="5" name="文字_P321"/>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P321</a:t>
            </a:r>
          </a:p>
        </p:txBody>
      </p:sp>
      <p:sp>
        <p:nvSpPr>
          <p:cNvPr id="6" name="文字_氮是大气中含量最多的一种元素，气及其化合物在生产"/>
          <p:cNvSpPr txBox="1"/>
          <p:nvPr/>
        </p:nvSpPr>
        <p:spPr>
          <a:xfrm>
            <a:off x="502920" y="1078992"/>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氮是大气中含量最多的一种元素，气及其化合物在生产、生活中有着重要作用。请回答：</a:t>
            </a:r>
          </a:p>
        </p:txBody>
      </p:sp>
      <p:sp>
        <p:nvSpPr>
          <p:cNvPr id="7" name="文字_(1) 下列变化属于“氮的固定”的是 _____"/>
          <p:cNvSpPr txBox="1"/>
          <p:nvPr/>
        </p:nvSpPr>
        <p:spPr>
          <a:xfrm>
            <a:off x="502920" y="1481328"/>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(1) 下列变化属于“氮的固定”的是 ______ (填字母)。</a:t>
            </a:r>
          </a:p>
        </p:txBody>
      </p:sp>
      <p:sp>
        <p:nvSpPr>
          <p:cNvPr id="8" name="文字_a. 植物从土壤中吸收氮肥"/>
          <p:cNvSpPr txBox="1"/>
          <p:nvPr/>
        </p:nvSpPr>
        <p:spPr>
          <a:xfrm>
            <a:off x="502920" y="1883664"/>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a. 植物从土壤中吸收氮肥</a:t>
            </a:r>
          </a:p>
        </p:txBody>
      </p:sp>
      <p:sp>
        <p:nvSpPr>
          <p:cNvPr id="9" name="文字_b. 将空气中的氮气转变为氮的化合物"/>
          <p:cNvSpPr txBox="1"/>
          <p:nvPr/>
        </p:nvSpPr>
        <p:spPr>
          <a:xfrm>
            <a:off x="502920" y="2286000"/>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b. 将空气中的氮气转变为氮的化合物</a:t>
            </a:r>
          </a:p>
        </p:txBody>
      </p:sp>
      <p:sp>
        <p:nvSpPr>
          <p:cNvPr id="10" name="文字_c. 硝酸和氨气反应生成氮肥"/>
          <p:cNvSpPr txBox="1"/>
          <p:nvPr/>
        </p:nvSpPr>
        <p:spPr>
          <a:xfrm>
            <a:off x="502920" y="2688336"/>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c. 硝酸和氨气反应生成氮肥</a:t>
            </a:r>
          </a:p>
        </p:txBody>
      </p:sp>
      <p:sp>
        <p:nvSpPr>
          <p:cNvPr id="11" name="文字_d. 大豆的根瘤菌将含氮的化合物转变为植物蛋白质"/>
          <p:cNvSpPr txBox="1"/>
          <p:nvPr/>
        </p:nvSpPr>
        <p:spPr>
          <a:xfrm>
            <a:off x="502920" y="3090672"/>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d. 大豆的根瘤菌将含氮的化合物转变为植物蛋白质</a:t>
            </a:r>
          </a:p>
        </p:txBody>
      </p:sp>
      <p:sp>
        <p:nvSpPr>
          <p:cNvPr id="12" name="文字_(2) 汽车尾气中的CO、NOx在适宜温度下采用"/>
          <p:cNvSpPr txBox="1"/>
          <p:nvPr/>
        </p:nvSpPr>
        <p:spPr>
          <a:xfrm>
            <a:off x="502920" y="3493008"/>
            <a:ext cx="11064240" cy="734822"/>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(2) 汽车尾气中的CO、NOx在适宜温度下采用催化转化法处理，使它们相互反应生成参与</a:t>
            </a:r>
          </a:p>
          <a:p>
            <a:pPr>
              <a:lnSpc>
                <a:spcPct val="112000"/>
              </a:lnSpc>
              <a:spcBef>
                <a:spcPts val="0"/>
              </a:spcBef>
              <a:spcAft>
                <a:spcPts val="0"/>
              </a:spcAft>
              <a:defRPr sz="2200" b="0">
                <a:solidFill>
                  <a:srgbClr val="333333"/>
                </a:solidFill>
                <a:latin typeface="微软雅黑"/>
              </a:defRPr>
            </a:pPr>
            <a:r>
              <a:rPr>
                <a:ea typeface="微软雅黑"/>
              </a:rPr>
              <a:t>大气循环的无毒气体。</a:t>
            </a:r>
          </a:p>
        </p:txBody>
      </p:sp>
      <p:pic>
        <p:nvPicPr>
          <p:cNvPr id="13" name="Picture 12" descr="image.png"/>
          <p:cNvPicPr>
            <a:picLocks noChangeAspect="1"/>
          </p:cNvPicPr>
          <p:nvPr/>
        </p:nvPicPr>
        <p:blipFill>
          <a:blip r:embed="rId3"/>
          <a:stretch>
            <a:fillRect/>
          </a:stretch>
        </p:blipFill>
        <p:spPr>
          <a:xfrm>
            <a:off x="502920" y="4227830"/>
            <a:ext cx="11064240" cy="834603"/>
          </a:xfrm>
          <a:prstGeom prst="rect">
            <a:avLst/>
          </a:prstGeom>
        </p:spPr>
      </p:pic>
      <p:sp>
        <p:nvSpPr>
          <p:cNvPr id="14" name="原题文字_321_40"/>
          <p:cNvSpPr txBox="1"/>
          <p:nvPr/>
        </p:nvSpPr>
        <p:spPr>
          <a:xfrm>
            <a:off x="1115473" y="4259713"/>
            <a:ext cx="3148257" cy="338435"/>
          </a:xfrm>
          <a:prstGeom prst="rect">
            <a:avLst/>
          </a:prstGeom>
          <a:noFill/>
        </p:spPr>
        <p:txBody>
          <a:bodyPr wrap="none" lIns="0" rIns="0" tIns="0" bIns="0">
            <a:spAutoFit/>
          </a:bodyPr>
          <a:lstStyle/>
          <a:p>
            <a:pPr>
              <a:lnSpc>
                <a:spcPct val="112000"/>
              </a:lnSpc>
              <a:spcBef>
                <a:spcPts val="0"/>
              </a:spcBef>
              <a:spcAft>
                <a:spcPts val="0"/>
              </a:spcAft>
              <a:defRPr sz="1639" b="0">
                <a:solidFill>
                  <a:srgbClr val="333333"/>
                </a:solidFill>
                <a:latin typeface="微软雅黑"/>
              </a:defRPr>
            </a:pPr>
            <a:r>
              <a:rPr>
                <a:ea typeface="微软雅黑"/>
              </a:rPr>
              <a:t>写出NO被CO还原的化学方程式：</a:t>
            </a:r>
          </a:p>
        </p:txBody>
      </p:sp>
      <p:sp>
        <p:nvSpPr>
          <p:cNvPr id="15" name="原题文字_321_41"/>
          <p:cNvSpPr txBox="1"/>
          <p:nvPr/>
        </p:nvSpPr>
        <p:spPr>
          <a:xfrm>
            <a:off x="4974557" y="4397538"/>
            <a:ext cx="162060" cy="169217"/>
          </a:xfrm>
          <a:prstGeom prst="rect">
            <a:avLst/>
          </a:prstGeom>
          <a:noFill/>
        </p:spPr>
        <p:txBody>
          <a:bodyPr wrap="none" lIns="0" rIns="0" tIns="0" bIns="0">
            <a:spAutoFit/>
          </a:bodyPr>
          <a:lstStyle/>
          <a:p>
            <a:pPr>
              <a:lnSpc>
                <a:spcPct val="112000"/>
              </a:lnSpc>
              <a:spcBef>
                <a:spcPts val="0"/>
              </a:spcBef>
              <a:spcAft>
                <a:spcPts val="0"/>
              </a:spcAft>
              <a:defRPr sz="819" b="0">
                <a:solidFill>
                  <a:srgbClr val="333333"/>
                </a:solidFill>
                <a:latin typeface="微软雅黑"/>
              </a:defRPr>
            </a:pPr>
            <a:r>
              <a:rPr>
                <a:ea typeface="微软雅黑"/>
              </a:rPr>
              <a:t>0</a:t>
            </a:r>
          </a:p>
        </p:txBody>
      </p:sp>
      <p:sp>
        <p:nvSpPr>
          <p:cNvPr id="16" name="原题文字_321_42"/>
          <p:cNvSpPr txBox="1"/>
          <p:nvPr/>
        </p:nvSpPr>
        <p:spPr>
          <a:xfrm>
            <a:off x="564175" y="4742099"/>
            <a:ext cx="422395"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(3)</a:t>
            </a:r>
          </a:p>
        </p:txBody>
      </p:sp>
      <p:sp>
        <p:nvSpPr>
          <p:cNvPr id="17" name="原题文字_321_43"/>
          <p:cNvSpPr txBox="1"/>
          <p:nvPr/>
        </p:nvSpPr>
        <p:spPr>
          <a:xfrm>
            <a:off x="1115473" y="4742099"/>
            <a:ext cx="10299814" cy="298619"/>
          </a:xfrm>
          <a:prstGeom prst="rect">
            <a:avLst/>
          </a:prstGeom>
          <a:noFill/>
        </p:spPr>
        <p:txBody>
          <a:bodyPr wrap="none" lIns="0" rIns="0" tIns="0" bIns="0">
            <a:spAutoFit/>
          </a:bodyPr>
          <a:lstStyle/>
          <a:p>
            <a:pPr>
              <a:lnSpc>
                <a:spcPct val="112000"/>
              </a:lnSpc>
              <a:spcBef>
                <a:spcPts val="0"/>
              </a:spcBef>
              <a:spcAft>
                <a:spcPts val="0"/>
              </a:spcAft>
              <a:defRPr sz="1446" b="0">
                <a:solidFill>
                  <a:srgbClr val="333333"/>
                </a:solidFill>
                <a:latin typeface="微软雅黑"/>
              </a:defRPr>
            </a:pPr>
            <a:r>
              <a:rPr>
                <a:ea typeface="微软雅黑"/>
              </a:rPr>
              <a:t>已知铜在常温下能被稀HNO₃溶解。①写出该反应的化学方程式并用单线桥法标出反应中电子转移的方向和数</a:t>
            </a:r>
          </a:p>
        </p:txBody>
      </p:sp>
      <p:sp>
        <p:nvSpPr>
          <p:cNvPr id="18" name="文字_目： ______ O"/>
          <p:cNvSpPr txBox="1"/>
          <p:nvPr/>
        </p:nvSpPr>
        <p:spPr>
          <a:xfrm>
            <a:off x="502920" y="5135585"/>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目： ______ O</a:t>
            </a:r>
          </a:p>
        </p:txBody>
      </p:sp>
      <p:sp>
        <p:nvSpPr>
          <p:cNvPr id="19" name="文字_②在反应中，起氧化作用的HNO₃与起酸性作用的H"/>
          <p:cNvSpPr txBox="1"/>
          <p:nvPr/>
        </p:nvSpPr>
        <p:spPr>
          <a:xfrm>
            <a:off x="502920" y="5537921"/>
            <a:ext cx="11064240" cy="402336"/>
          </a:xfrm>
          <a:prstGeom prst="rect">
            <a:avLst/>
          </a:prstGeom>
          <a:noFill/>
        </p:spPr>
        <p:txBody>
          <a:bodyPr wrap="square" lIns="0" rIns="0" tIns="0" bIns="0">
            <a:spAutoFit/>
          </a:bodyPr>
          <a:lstStyle/>
          <a:p>
            <a:pPr>
              <a:lnSpc>
                <a:spcPct val="112000"/>
              </a:lnSpc>
              <a:spcBef>
                <a:spcPts val="0"/>
              </a:spcBef>
              <a:spcAft>
                <a:spcPts val="0"/>
              </a:spcAft>
              <a:defRPr sz="2200" b="0">
                <a:solidFill>
                  <a:srgbClr val="333333"/>
                </a:solidFill>
                <a:latin typeface="微软雅黑"/>
              </a:defRPr>
            </a:pPr>
            <a:r>
              <a:rPr>
                <a:ea typeface="微软雅黑"/>
              </a:rPr>
              <a:t>②在反应中，起氧化作用的HNO₃与起酸性作用的HNO₃的分子个数之比为</a:t>
            </a:r>
          </a:p>
        </p:txBody>
      </p:sp>
      <p:sp>
        <p:nvSpPr>
          <p:cNvPr id="20" name="文字_填空题  ·  14-05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14-053</a:t>
            </a:r>
          </a:p>
        </p:txBody>
      </p:sp>
      <p:sp>
        <p:nvSpPr>
          <p:cNvPr id="21" name="文字_7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sp>
        <p:nvSpPr>
          <p:cNvPr id="3" name="文字_07"/>
          <p:cNvSpPr txBox="1"/>
          <p:nvPr/>
        </p:nvSpPr>
        <p:spPr>
          <a:xfrm>
            <a:off x="704088" y="1143000"/>
            <a:ext cx="2743200" cy="1280160"/>
          </a:xfrm>
          <a:prstGeom prst="rect">
            <a:avLst/>
          </a:prstGeom>
          <a:noFill/>
        </p:spPr>
        <p:txBody>
          <a:bodyPr wrap="square" lIns="0" rIns="0" tIns="0" bIns="0">
            <a:spAutoFit/>
          </a:bodyPr>
          <a:lstStyle/>
          <a:p>
            <a:pPr>
              <a:lnSpc>
                <a:spcPct val="112000"/>
              </a:lnSpc>
              <a:spcBef>
                <a:spcPts val="0"/>
              </a:spcBef>
              <a:spcAft>
                <a:spcPts val="0"/>
              </a:spcAft>
              <a:defRPr sz="8000" b="1">
                <a:solidFill>
                  <a:srgbClr val="F1922F"/>
                </a:solidFill>
                <a:latin typeface="微软雅黑"/>
              </a:defRPr>
            </a:pPr>
            <a:r>
              <a:rPr>
                <a:ea typeface="微软雅黑"/>
              </a:rPr>
              <a:t>07</a:t>
            </a:r>
          </a:p>
        </p:txBody>
      </p:sp>
      <p:sp>
        <p:nvSpPr>
          <p:cNvPr id="4" name="文字_氮氧化物溶于水的计算"/>
          <p:cNvSpPr txBox="1"/>
          <p:nvPr/>
        </p:nvSpPr>
        <p:spPr>
          <a:xfrm>
            <a:off x="758952" y="2770632"/>
            <a:ext cx="10607040" cy="1371600"/>
          </a:xfrm>
          <a:prstGeom prst="rect">
            <a:avLst/>
          </a:prstGeom>
          <a:noFill/>
        </p:spPr>
        <p:txBody>
          <a:bodyPr wrap="square" lIns="0" rIns="0" tIns="0" bIns="0">
            <a:spAutoFit/>
          </a:bodyPr>
          <a:lstStyle/>
          <a:p>
            <a:pPr>
              <a:lnSpc>
                <a:spcPct val="112000"/>
              </a:lnSpc>
              <a:spcBef>
                <a:spcPts val="0"/>
              </a:spcBef>
              <a:spcAft>
                <a:spcPts val="0"/>
              </a:spcAft>
              <a:defRPr sz="3800" b="1">
                <a:solidFill>
                  <a:srgbClr val="333333"/>
                </a:solidFill>
                <a:latin typeface="微软雅黑"/>
              </a:defRPr>
            </a:pPr>
            <a:r>
              <a:rPr>
                <a:ea typeface="微软雅黑"/>
              </a:rPr>
              <a:t>氮氧化物溶于水的计算</a:t>
            </a:r>
          </a:p>
        </p:txBody>
      </p:sp>
      <p:sp>
        <p:nvSpPr>
          <p:cNvPr id="5" name="文字_知识梳理 · 讲义 P322"/>
          <p:cNvSpPr txBox="1"/>
          <p:nvPr/>
        </p:nvSpPr>
        <p:spPr>
          <a:xfrm>
            <a:off x="822960" y="4242816"/>
            <a:ext cx="10469880" cy="731520"/>
          </a:xfrm>
          <a:prstGeom prst="rect">
            <a:avLst/>
          </a:prstGeom>
          <a:noFill/>
        </p:spPr>
        <p:txBody>
          <a:bodyPr wrap="square" lIns="0" rIns="0" tIns="0" bIns="0">
            <a:spAutoFit/>
          </a:bodyPr>
          <a:lstStyle/>
          <a:p>
            <a:pPr>
              <a:lnSpc>
                <a:spcPct val="112000"/>
              </a:lnSpc>
              <a:spcBef>
                <a:spcPts val="0"/>
              </a:spcBef>
              <a:spcAft>
                <a:spcPts val="0"/>
              </a:spcAft>
              <a:defRPr sz="2200" b="0">
                <a:solidFill>
                  <a:srgbClr val="777777"/>
                </a:solidFill>
                <a:latin typeface="微软雅黑"/>
              </a:defRPr>
            </a:pPr>
            <a:r>
              <a:rPr>
                <a:ea typeface="微软雅黑"/>
              </a:rPr>
              <a:t>知识梳理 · 讲义 P322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pic0.jpeg"/>
          <p:cNvPicPr>
            <a:picLocks noChangeAspect="1"/>
          </p:cNvPicPr>
          <p:nvPr/>
        </p:nvPicPr>
        <p:blipFill>
          <a:blip r:embed="rId2"/>
          <a:stretch>
            <a:fillRect/>
          </a:stretch>
        </p:blipFill>
        <p:spPr>
          <a:xfrm>
            <a:off x="0" y="0"/>
            <a:ext cx="12191999" cy="6858000"/>
          </a:xfrm>
          <a:prstGeom prst="rect">
            <a:avLst/>
          </a:prstGeom>
        </p:spPr>
      </p:pic>
      <p:pic>
        <p:nvPicPr>
          <p:cNvPr id="3" name="Picture 2" descr="slide3_pic1.png"/>
          <p:cNvPicPr>
            <a:picLocks noChangeAspect="1"/>
          </p:cNvPicPr>
          <p:nvPr/>
        </p:nvPicPr>
        <p:blipFill>
          <a:blip r:embed="rId3"/>
          <a:stretch>
            <a:fillRect/>
          </a:stretch>
        </p:blipFill>
        <p:spPr>
          <a:xfrm>
            <a:off x="91440" y="109728"/>
            <a:ext cx="3657600" cy="1051560"/>
          </a:xfrm>
          <a:prstGeom prst="rect">
            <a:avLst/>
          </a:prstGeom>
        </p:spPr>
      </p:pic>
      <p:sp>
        <p:nvSpPr>
          <p:cNvPr id="4" name="文字_氮氧化物溶于水的计算"/>
          <p:cNvSpPr txBox="1"/>
          <p:nvPr/>
        </p:nvSpPr>
        <p:spPr>
          <a:xfrm>
            <a:off x="3913632" y="347472"/>
            <a:ext cx="7818120" cy="658368"/>
          </a:xfrm>
          <a:prstGeom prst="rect">
            <a:avLst/>
          </a:prstGeom>
          <a:noFill/>
        </p:spPr>
        <p:txBody>
          <a:bodyPr wrap="square" lIns="0" rIns="0" tIns="0" bIns="0">
            <a:spAutoFit/>
          </a:bodyPr>
          <a:lstStyle/>
          <a:p>
            <a:pPr>
              <a:lnSpc>
                <a:spcPct val="112000"/>
              </a:lnSpc>
              <a:spcBef>
                <a:spcPts val="0"/>
              </a:spcBef>
              <a:spcAft>
                <a:spcPts val="0"/>
              </a:spcAft>
              <a:defRPr sz="3000" b="1">
                <a:solidFill>
                  <a:srgbClr val="333333"/>
                </a:solidFill>
                <a:latin typeface="微软雅黑"/>
              </a:defRPr>
            </a:pPr>
            <a:r>
              <a:rPr>
                <a:ea typeface="微软雅黑"/>
              </a:rPr>
              <a:t>氮氧化物溶于水的计算</a:t>
            </a:r>
          </a:p>
        </p:txBody>
      </p:sp>
      <p:sp>
        <p:nvSpPr>
          <p:cNvPr id="5" name="文字_知识讲解 · P322"/>
          <p:cNvSpPr txBox="1"/>
          <p:nvPr/>
        </p:nvSpPr>
        <p:spPr>
          <a:xfrm>
            <a:off x="457200" y="1243584"/>
            <a:ext cx="10972800" cy="310896"/>
          </a:xfrm>
          <a:prstGeom prst="rect">
            <a:avLst/>
          </a:prstGeom>
          <a:noFill/>
        </p:spPr>
        <p:txBody>
          <a:bodyPr wrap="square" lIns="0" rIns="0" tIns="0" bIns="0">
            <a:spAutoFit/>
          </a:bodyPr>
          <a:lstStyle/>
          <a:p>
            <a:pPr>
              <a:lnSpc>
                <a:spcPct val="112000"/>
              </a:lnSpc>
              <a:spcBef>
                <a:spcPts val="0"/>
              </a:spcBef>
              <a:spcAft>
                <a:spcPts val="0"/>
              </a:spcAft>
              <a:defRPr sz="1600" b="1">
                <a:solidFill>
                  <a:srgbClr val="F1922F"/>
                </a:solidFill>
                <a:latin typeface="微软雅黑"/>
              </a:defRPr>
            </a:pPr>
            <a:r>
              <a:rPr>
                <a:ea typeface="微软雅黑"/>
              </a:rPr>
              <a:t>知识讲解 · P322</a:t>
            </a:r>
          </a:p>
        </p:txBody>
      </p:sp>
      <p:sp>
        <p:nvSpPr>
          <p:cNvPr id="6" name="Rectangle 5"/>
          <p:cNvSpPr/>
          <p:nvPr/>
        </p:nvSpPr>
        <p:spPr>
          <a:xfrm>
            <a:off x="512064" y="1856231"/>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文字_3NO₂ + H₂O = 2HNO₃ + NO（"/>
          <p:cNvSpPr txBox="1"/>
          <p:nvPr/>
        </p:nvSpPr>
        <p:spPr>
          <a:xfrm>
            <a:off x="722376" y="177393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3NO₂ + H₂O = 2HNO₃ + NO（气体体积减少 2/3）。</a:t>
            </a:r>
          </a:p>
        </p:txBody>
      </p:sp>
      <p:sp>
        <p:nvSpPr>
          <p:cNvPr id="8" name="Rectangle 7"/>
          <p:cNvSpPr/>
          <p:nvPr/>
        </p:nvSpPr>
        <p:spPr>
          <a:xfrm>
            <a:off x="512064" y="243840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文字_2NO + O₂ = 2NO₂（NO 与 O₂ "/>
          <p:cNvSpPr txBox="1"/>
          <p:nvPr/>
        </p:nvSpPr>
        <p:spPr>
          <a:xfrm>
            <a:off x="722376" y="235610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2NO + O₂ = 2NO₂（NO 与 O₂ 按 2:1 完全转化）。</a:t>
            </a:r>
          </a:p>
        </p:txBody>
      </p:sp>
      <p:sp>
        <p:nvSpPr>
          <p:cNvPr id="10" name="Rectangle 9"/>
          <p:cNvSpPr/>
          <p:nvPr/>
        </p:nvSpPr>
        <p:spPr>
          <a:xfrm>
            <a:off x="512064" y="3020568"/>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文字_叠加：4NO₂ + O₂ + 2H₂O = 4H"/>
          <p:cNvSpPr txBox="1"/>
          <p:nvPr/>
        </p:nvSpPr>
        <p:spPr>
          <a:xfrm>
            <a:off x="722376" y="2938272"/>
            <a:ext cx="10908792" cy="83515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叠加：4NO₂ + O₂ + 2H₂O = 4HNO₃（V(NO₂):V(O₂) = 4:1 恰好无剩余）</a:t>
            </a:r>
          </a:p>
          <a:p>
            <a:pPr>
              <a:lnSpc>
                <a:spcPct val="112000"/>
              </a:lnSpc>
              <a:spcBef>
                <a:spcPts val="0"/>
              </a:spcBef>
              <a:spcAft>
                <a:spcPts val="0"/>
              </a:spcAft>
              <a:defRPr sz="2400" b="0">
                <a:solidFill>
                  <a:srgbClr val="333333"/>
                </a:solidFill>
                <a:latin typeface="微软雅黑"/>
              </a:defRPr>
            </a:pPr>
            <a:r>
              <a:rPr>
                <a:ea typeface="微软雅黑"/>
              </a:rPr>
              <a:t>。</a:t>
            </a:r>
          </a:p>
        </p:txBody>
      </p:sp>
      <p:sp>
        <p:nvSpPr>
          <p:cNvPr id="12" name="Rectangle 11"/>
          <p:cNvSpPr/>
          <p:nvPr/>
        </p:nvSpPr>
        <p:spPr>
          <a:xfrm>
            <a:off x="512064" y="3974592"/>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文字_4NO + 3O₂ + 2H₂O = 4HNO₃"/>
          <p:cNvSpPr txBox="1"/>
          <p:nvPr/>
        </p:nvSpPr>
        <p:spPr>
          <a:xfrm>
            <a:off x="722376" y="3892296"/>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4NO + 3O₂ + 2H₂O = 4HNO₃（V(NO):V(O₂) = 4:3 恰好无剩余）。</a:t>
            </a:r>
          </a:p>
        </p:txBody>
      </p:sp>
      <p:sp>
        <p:nvSpPr>
          <p:cNvPr id="14" name="Rectangle 13"/>
          <p:cNvSpPr/>
          <p:nvPr/>
        </p:nvSpPr>
        <p:spPr>
          <a:xfrm>
            <a:off x="512064" y="4556760"/>
            <a:ext cx="50292" cy="210312"/>
          </a:xfrm>
          <a:prstGeom prst="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文字_解题先分情况定比例，再用气体体积差量或元素守恒计"/>
          <p:cNvSpPr txBox="1"/>
          <p:nvPr/>
        </p:nvSpPr>
        <p:spPr>
          <a:xfrm>
            <a:off x="722376" y="4474464"/>
            <a:ext cx="10908792" cy="46329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解题先分情况定比例，再用气体体积差量或元素守恒计算。</a:t>
            </a:r>
          </a:p>
        </p:txBody>
      </p:sp>
      <p:sp>
        <p:nvSpPr>
          <p:cNvPr id="16" name="Rectangle 15"/>
          <p:cNvSpPr/>
          <p:nvPr/>
        </p:nvSpPr>
        <p:spPr>
          <a:xfrm>
            <a:off x="493776" y="5559552"/>
            <a:ext cx="11119104" cy="493776"/>
          </a:xfrm>
          <a:prstGeom prst="rect">
            <a:avLst/>
          </a:prstGeom>
          <a:solidFill>
            <a:srgbClr val="FDF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文字_提示  涉及 2NO₂ ⇌ N₂O₄ 平衡时，用"/>
          <p:cNvSpPr txBox="1"/>
          <p:nvPr/>
        </p:nvSpPr>
        <p:spPr>
          <a:xfrm>
            <a:off x="630936" y="5618988"/>
            <a:ext cx="10863072" cy="448056"/>
          </a:xfrm>
          <a:prstGeom prst="rect">
            <a:avLst/>
          </a:prstGeom>
          <a:noFill/>
        </p:spPr>
        <p:txBody>
          <a:bodyPr wrap="square" lIns="0" rIns="0" tIns="0" bIns="0">
            <a:spAutoFit/>
          </a:bodyPr>
          <a:lstStyle/>
          <a:p>
            <a:pPr>
              <a:lnSpc>
                <a:spcPct val="112000"/>
              </a:lnSpc>
              <a:spcBef>
                <a:spcPts val="0"/>
              </a:spcBef>
              <a:spcAft>
                <a:spcPts val="0"/>
              </a:spcAft>
              <a:defRPr sz="1800" b="0">
                <a:solidFill>
                  <a:srgbClr val="F1922F"/>
                </a:solidFill>
                <a:latin typeface="微软雅黑"/>
              </a:defRPr>
            </a:pPr>
            <a:r>
              <a:rPr>
                <a:ea typeface="微软雅黑"/>
              </a:rPr>
              <a:t>提示  涉及 2NO₂ ⇌ N₂O₄ 平衡时，用前后守恒或平均摩尔质量法处理。</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例题1</a:t>
            </a:r>
          </a:p>
        </p:txBody>
      </p:sp>
      <p:sp>
        <p:nvSpPr>
          <p:cNvPr id="5" name="文字_P3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P322</a:t>
            </a:r>
          </a:p>
        </p:txBody>
      </p:sp>
      <p:sp>
        <p:nvSpPr>
          <p:cNvPr id="6" name="文字_在一定温度和压强下将充满N₂和NO₂混合气体的试"/>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在一定温度和压强下将充满N₂和NO₂混合气体的试管倒立在水中，经过足够的时</a:t>
            </a:r>
          </a:p>
          <a:p>
            <a:pPr>
              <a:lnSpc>
                <a:spcPct val="112000"/>
              </a:lnSpc>
              <a:spcBef>
                <a:spcPts val="0"/>
              </a:spcBef>
              <a:spcAft>
                <a:spcPts val="0"/>
              </a:spcAft>
              <a:defRPr sz="2400" b="0">
                <a:solidFill>
                  <a:srgbClr val="333333"/>
                </a:solidFill>
                <a:latin typeface="微软雅黑"/>
              </a:defRPr>
            </a:pPr>
            <a:r>
              <a:rPr>
                <a:ea typeface="微软雅黑"/>
              </a:rPr>
              <a:t>间后，试管内气体体积缩小为原体积的31 则原混合气体中N₂和NO₂气体的体积比</a:t>
            </a:r>
          </a:p>
          <a:p>
            <a:pPr>
              <a:lnSpc>
                <a:spcPct val="112000"/>
              </a:lnSpc>
              <a:spcBef>
                <a:spcPts val="0"/>
              </a:spcBef>
              <a:spcAft>
                <a:spcPts val="0"/>
              </a:spcAft>
              <a:defRPr sz="2400" b="0">
                <a:solidFill>
                  <a:srgbClr val="333333"/>
                </a:solidFill>
                <a:latin typeface="微软雅黑"/>
              </a:defRPr>
            </a:pPr>
            <a:r>
              <a:rPr>
                <a:ea typeface="微软雅黑"/>
              </a:rPr>
              <a:t>是</a:t>
            </a:r>
          </a:p>
        </p:txBody>
      </p:sp>
      <p:sp>
        <p:nvSpPr>
          <p:cNvPr id="7" name="文字_5"/>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5</a:t>
            </a:r>
          </a:p>
        </p:txBody>
      </p:sp>
      <p:sp>
        <p:nvSpPr>
          <p:cNvPr id="8" name="文字_A. 2: 3"/>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 3</a:t>
            </a:r>
          </a:p>
        </p:txBody>
      </p:sp>
      <p:sp>
        <p:nvSpPr>
          <p:cNvPr id="9" name="文字_B. 3: 2"/>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3: 2</a:t>
            </a:r>
          </a:p>
        </p:txBody>
      </p:sp>
      <p:sp>
        <p:nvSpPr>
          <p:cNvPr id="10" name="文字_C. 3: 5"/>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3: 5</a:t>
            </a:r>
          </a:p>
        </p:txBody>
      </p:sp>
      <p:sp>
        <p:nvSpPr>
          <p:cNvPr id="11" name="文字_D. 5: 3"/>
          <p:cNvSpPr txBox="1"/>
          <p:nvPr/>
        </p:nvSpPr>
        <p:spPr>
          <a:xfrm>
            <a:off x="502920" y="399897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5: 3</a:t>
            </a:r>
          </a:p>
        </p:txBody>
      </p:sp>
      <p:sp>
        <p:nvSpPr>
          <p:cNvPr id="12" name="文字_单选题  ·  14-05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14-054</a:t>
            </a:r>
          </a:p>
        </p:txBody>
      </p:sp>
      <p:sp>
        <p:nvSpPr>
          <p:cNvPr id="13" name="文字_7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例题2</a:t>
            </a:r>
          </a:p>
        </p:txBody>
      </p:sp>
      <p:sp>
        <p:nvSpPr>
          <p:cNvPr id="5" name="文字_P3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P322</a:t>
            </a:r>
          </a:p>
        </p:txBody>
      </p:sp>
      <p:sp>
        <p:nvSpPr>
          <p:cNvPr id="6" name="文字_盛有NO和NO₂的混合气体的量筒倒立在盛有水的水"/>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盛有NO和NO₂的混合气体的量筒倒立在盛有水的水槽中,过一段时间后,量筒内的</a:t>
            </a:r>
          </a:p>
          <a:p>
            <a:pPr>
              <a:lnSpc>
                <a:spcPct val="112000"/>
              </a:lnSpc>
              <a:spcBef>
                <a:spcPts val="0"/>
              </a:spcBef>
              <a:spcAft>
                <a:spcPts val="0"/>
              </a:spcAft>
              <a:defRPr sz="2400" b="0">
                <a:solidFill>
                  <a:srgbClr val="333333"/>
                </a:solidFill>
                <a:latin typeface="微软雅黑"/>
              </a:defRPr>
            </a:pPr>
            <a:r>
              <a:rPr>
                <a:ea typeface="微软雅黑"/>
              </a:rPr>
              <a:t>气体体积减小为原来的一半.则原混合气体中NO和NO₂的体积比是（）</a:t>
            </a:r>
          </a:p>
        </p:txBody>
      </p:sp>
      <p:sp>
        <p:nvSpPr>
          <p:cNvPr id="7" name="文字_A. 3:1"/>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3:1</a:t>
            </a:r>
          </a:p>
        </p:txBody>
      </p:sp>
      <p:sp>
        <p:nvSpPr>
          <p:cNvPr id="8" name="文字_B. 1:3"/>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1:3</a:t>
            </a:r>
          </a:p>
        </p:txBody>
      </p:sp>
      <p:sp>
        <p:nvSpPr>
          <p:cNvPr id="9" name="文字_C. 2:1"/>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2:1</a:t>
            </a:r>
          </a:p>
        </p:txBody>
      </p:sp>
      <p:sp>
        <p:nvSpPr>
          <p:cNvPr id="10" name="文字_D. 1:2"/>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1:2</a:t>
            </a:r>
          </a:p>
        </p:txBody>
      </p:sp>
      <p:sp>
        <p:nvSpPr>
          <p:cNvPr id="11" name="文字_单选题  ·  14-05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14-055</a:t>
            </a:r>
          </a:p>
        </p:txBody>
      </p:sp>
      <p:sp>
        <p:nvSpPr>
          <p:cNvPr id="12" name="文字_7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例题3</a:t>
            </a:r>
          </a:p>
        </p:txBody>
      </p:sp>
      <p:sp>
        <p:nvSpPr>
          <p:cNvPr id="5" name="文字_P3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P322</a:t>
            </a:r>
          </a:p>
        </p:txBody>
      </p:sp>
      <p:sp>
        <p:nvSpPr>
          <p:cNvPr id="6" name="文字_在一定条件下，将等体积的NO和O₂的混和气体置于"/>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在一定条件下，将等体积的NO和O₂的混和气体置于试管中，并将试管倒立于水槽</a:t>
            </a:r>
          </a:p>
          <a:p>
            <a:pPr>
              <a:lnSpc>
                <a:spcPct val="112000"/>
              </a:lnSpc>
              <a:spcBef>
                <a:spcPts val="0"/>
              </a:spcBef>
              <a:spcAft>
                <a:spcPts val="0"/>
              </a:spcAft>
              <a:defRPr sz="2400" b="0">
                <a:solidFill>
                  <a:srgbClr val="333333"/>
                </a:solidFill>
                <a:latin typeface="微软雅黑"/>
              </a:defRPr>
            </a:pPr>
            <a:r>
              <a:rPr>
                <a:ea typeface="微软雅黑"/>
              </a:rPr>
              <a:t>的水中，充分反应后剩余气体的体积约为原总体积的（）</a:t>
            </a:r>
          </a:p>
        </p:txBody>
      </p:sp>
      <p:sp>
        <p:nvSpPr>
          <p:cNvPr id="7" name="文字_A. 1/4"/>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1/4</a:t>
            </a:r>
          </a:p>
        </p:txBody>
      </p:sp>
      <p:sp>
        <p:nvSpPr>
          <p:cNvPr id="8" name="文字_B. 3/4"/>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3/4</a:t>
            </a:r>
          </a:p>
        </p:txBody>
      </p:sp>
      <p:sp>
        <p:nvSpPr>
          <p:cNvPr id="9" name="文字_C. 1/8"/>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1/8</a:t>
            </a:r>
          </a:p>
        </p:txBody>
      </p:sp>
      <p:sp>
        <p:nvSpPr>
          <p:cNvPr id="10" name="文字_D. 3/8"/>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3/8</a:t>
            </a:r>
          </a:p>
        </p:txBody>
      </p:sp>
      <p:sp>
        <p:nvSpPr>
          <p:cNvPr id="11" name="文字_单选题  ·  14-05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14-056</a:t>
            </a:r>
          </a:p>
        </p:txBody>
      </p:sp>
      <p:sp>
        <p:nvSpPr>
          <p:cNvPr id="12" name="文字_7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例题4</a:t>
            </a:r>
          </a:p>
        </p:txBody>
      </p:sp>
      <p:sp>
        <p:nvSpPr>
          <p:cNvPr id="5" name="文字_P3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P322</a:t>
            </a:r>
          </a:p>
        </p:txBody>
      </p:sp>
      <p:sp>
        <p:nvSpPr>
          <p:cNvPr id="6" name="文字_盛有12mLNO₂和O₂的混合气体的量筒倒立于水"/>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盛有12mLNO₂和O₂的混合气体的量筒倒立于水槽中，充分反应后，还剩余2mL</a:t>
            </a:r>
          </a:p>
          <a:p>
            <a:pPr>
              <a:lnSpc>
                <a:spcPct val="112000"/>
              </a:lnSpc>
              <a:spcBef>
                <a:spcPts val="0"/>
              </a:spcBef>
              <a:spcAft>
                <a:spcPts val="0"/>
              </a:spcAft>
              <a:defRPr sz="2400" b="0">
                <a:solidFill>
                  <a:srgbClr val="333333"/>
                </a:solidFill>
                <a:latin typeface="微软雅黑"/>
              </a:defRPr>
            </a:pPr>
            <a:r>
              <a:rPr>
                <a:ea typeface="微软雅黑"/>
              </a:rPr>
              <a:t>无色气体，则原混合气体中O₂的体积是（）</a:t>
            </a:r>
          </a:p>
        </p:txBody>
      </p:sp>
      <p:sp>
        <p:nvSpPr>
          <p:cNvPr id="7" name="文字_A. 1.2 m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1.2 mL</a:t>
            </a:r>
          </a:p>
        </p:txBody>
      </p:sp>
      <p:sp>
        <p:nvSpPr>
          <p:cNvPr id="8" name="文字_B. 2.4 mL"/>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2.4 mL</a:t>
            </a:r>
          </a:p>
        </p:txBody>
      </p:sp>
      <p:sp>
        <p:nvSpPr>
          <p:cNvPr id="9" name="文字_C. 3.6 mL"/>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3.6 mL</a:t>
            </a:r>
          </a:p>
        </p:txBody>
      </p:sp>
      <p:sp>
        <p:nvSpPr>
          <p:cNvPr id="10" name="文字_D. 4.8 mL"/>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4.8 mL</a:t>
            </a:r>
          </a:p>
        </p:txBody>
      </p:sp>
      <p:sp>
        <p:nvSpPr>
          <p:cNvPr id="11" name="文字_单选题  ·  14-05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14-057</a:t>
            </a:r>
          </a:p>
        </p:txBody>
      </p:sp>
      <p:sp>
        <p:nvSpPr>
          <p:cNvPr id="12" name="文字_7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例题5</a:t>
            </a:r>
          </a:p>
        </p:txBody>
      </p:sp>
      <p:sp>
        <p:nvSpPr>
          <p:cNvPr id="5" name="文字_P322"/>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P322</a:t>
            </a:r>
          </a:p>
        </p:txBody>
      </p:sp>
      <p:sp>
        <p:nvSpPr>
          <p:cNvPr id="6" name="文字_一定条件下，将34mLNO和O₂混合气体充入试管"/>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一定条件下，将34mLNO和O₂混合气体充入试管中，并将试管倒立于水中，充分</a:t>
            </a:r>
          </a:p>
          <a:p>
            <a:pPr>
              <a:lnSpc>
                <a:spcPct val="112000"/>
              </a:lnSpc>
              <a:spcBef>
                <a:spcPts val="0"/>
              </a:spcBef>
              <a:spcAft>
                <a:spcPts val="0"/>
              </a:spcAft>
              <a:defRPr sz="2400" b="0">
                <a:solidFill>
                  <a:srgbClr val="333333"/>
                </a:solidFill>
                <a:latin typeface="微软雅黑"/>
              </a:defRPr>
            </a:pPr>
            <a:r>
              <a:rPr>
                <a:ea typeface="微软雅黑"/>
              </a:rPr>
              <a:t>反应后剩余气体为6mL，则混合气体中NO与O₂的体积分别为</a:t>
            </a:r>
          </a:p>
        </p:txBody>
      </p:sp>
      <p:sp>
        <p:nvSpPr>
          <p:cNvPr id="7" name="文字_A. 22 mL、12 m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22 mL、12 mL</a:t>
            </a:r>
          </a:p>
        </p:txBody>
      </p:sp>
      <p:sp>
        <p:nvSpPr>
          <p:cNvPr id="8" name="文字_B. 13 mL、21 mL"/>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13 mL、21 mL</a:t>
            </a:r>
          </a:p>
        </p:txBody>
      </p:sp>
      <p:sp>
        <p:nvSpPr>
          <p:cNvPr id="9" name="文字_C. 16 mL、18 mL"/>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16 mL、18 mL</a:t>
            </a:r>
          </a:p>
        </p:txBody>
      </p:sp>
      <p:sp>
        <p:nvSpPr>
          <p:cNvPr id="10" name="文字_D. 21 mL、13 mL"/>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21 mL、13 mL</a:t>
            </a:r>
          </a:p>
        </p:txBody>
      </p:sp>
      <p:sp>
        <p:nvSpPr>
          <p:cNvPr id="11" name="文字_多选题  ·  14-05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多选题  ·  14-058</a:t>
            </a:r>
          </a:p>
        </p:txBody>
      </p:sp>
      <p:sp>
        <p:nvSpPr>
          <p:cNvPr id="12" name="文字_7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例题6</a:t>
            </a:r>
          </a:p>
        </p:txBody>
      </p:sp>
      <p:sp>
        <p:nvSpPr>
          <p:cNvPr id="5" name="文字_P32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P323</a:t>
            </a:r>
          </a:p>
        </p:txBody>
      </p:sp>
      <p:sp>
        <p:nvSpPr>
          <p:cNvPr id="6" name="文字_NO、NO₂、O₂按照一定比例通入水中，能被完全"/>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NO、NO₂、O₂按照一定比例通入水中，能被完全吸收，无剩余气体，若NO、</a:t>
            </a:r>
          </a:p>
          <a:p>
            <a:pPr>
              <a:lnSpc>
                <a:spcPct val="112000"/>
              </a:lnSpc>
              <a:spcBef>
                <a:spcPts val="0"/>
              </a:spcBef>
              <a:spcAft>
                <a:spcPts val="0"/>
              </a:spcAft>
              <a:defRPr sz="2400" b="0">
                <a:solidFill>
                  <a:srgbClr val="333333"/>
                </a:solidFill>
                <a:latin typeface="微软雅黑"/>
              </a:defRPr>
            </a:pPr>
            <a:r>
              <a:rPr>
                <a:ea typeface="微软雅黑"/>
              </a:rPr>
              <a:t>NO₂、O₂的气体体积分别为x，y，z则x；y；z；不可能为</a:t>
            </a:r>
          </a:p>
        </p:txBody>
      </p:sp>
      <p:sp>
        <p:nvSpPr>
          <p:cNvPr id="7" name="文字_A. 2: 6: 3"/>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 6: 3</a:t>
            </a:r>
          </a:p>
        </p:txBody>
      </p:sp>
      <p:sp>
        <p:nvSpPr>
          <p:cNvPr id="8" name="文字_B. 1: 1: 1"/>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 1: 1</a:t>
            </a:r>
          </a:p>
        </p:txBody>
      </p:sp>
      <p:sp>
        <p:nvSpPr>
          <p:cNvPr id="9" name="文字_C. 6; 2: 5"/>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6; 2: 5</a:t>
            </a:r>
          </a:p>
        </p:txBody>
      </p:sp>
      <p:sp>
        <p:nvSpPr>
          <p:cNvPr id="10" name="文字_D. 3: 6: 4"/>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3: 6: 4</a:t>
            </a:r>
          </a:p>
        </p:txBody>
      </p:sp>
      <p:sp>
        <p:nvSpPr>
          <p:cNvPr id="11" name="文字_单选题  ·  14-05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14-059</a:t>
            </a:r>
          </a:p>
        </p:txBody>
      </p:sp>
      <p:sp>
        <p:nvSpPr>
          <p:cNvPr id="12" name="文字_7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例题1</a:t>
            </a:r>
          </a:p>
        </p:txBody>
      </p:sp>
      <p:sp>
        <p:nvSpPr>
          <p:cNvPr id="5" name="文字_P32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P323</a:t>
            </a:r>
          </a:p>
        </p:txBody>
      </p:sp>
      <p:sp>
        <p:nvSpPr>
          <p:cNvPr id="6" name="文字_在标准状况下将1.92g铜粉投入一定量浓HNO₃"/>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在标准状况下将1.92g铜粉投入一定量浓HNO₃中，随着铜粉的溶解，反应生成的</a:t>
            </a:r>
          </a:p>
          <a:p>
            <a:pPr>
              <a:lnSpc>
                <a:spcPct val="112000"/>
              </a:lnSpc>
              <a:spcBef>
                <a:spcPts val="0"/>
              </a:spcBef>
              <a:spcAft>
                <a:spcPts val="0"/>
              </a:spcAft>
              <a:defRPr sz="2400" b="0">
                <a:solidFill>
                  <a:srgbClr val="333333"/>
                </a:solidFill>
                <a:latin typeface="微软雅黑"/>
              </a:defRPr>
            </a:pPr>
            <a:r>
              <a:rPr>
                <a:ea typeface="微软雅黑"/>
              </a:rPr>
              <a:t>气体颜色逐渐变浅，当铜粉完全溶解后共收集到由NO₂和NO组成的混和气体</a:t>
            </a:r>
          </a:p>
          <a:p>
            <a:pPr>
              <a:lnSpc>
                <a:spcPct val="112000"/>
              </a:lnSpc>
              <a:spcBef>
                <a:spcPts val="0"/>
              </a:spcBef>
              <a:spcAft>
                <a:spcPts val="0"/>
              </a:spcAft>
              <a:defRPr sz="2400" b="0">
                <a:solidFill>
                  <a:srgbClr val="333333"/>
                </a:solidFill>
                <a:latin typeface="微软雅黑"/>
              </a:defRPr>
            </a:pPr>
            <a:r>
              <a:rPr>
                <a:ea typeface="微软雅黑"/>
              </a:rPr>
              <a:t>1.12L，则反应消耗HNO₃的物质的量为</a:t>
            </a:r>
          </a:p>
        </p:txBody>
      </p:sp>
      <p:sp>
        <p:nvSpPr>
          <p:cNvPr id="7" name="文字_A. 0.8mol"/>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0.8mol</a:t>
            </a:r>
          </a:p>
        </p:txBody>
      </p:sp>
      <p:sp>
        <p:nvSpPr>
          <p:cNvPr id="8" name="文字_B. 0.6mo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0.6mol</a:t>
            </a:r>
          </a:p>
        </p:txBody>
      </p:sp>
      <p:sp>
        <p:nvSpPr>
          <p:cNvPr id="9" name="文字_C. 0.11mol"/>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0.11mol</a:t>
            </a:r>
          </a:p>
        </p:txBody>
      </p:sp>
      <p:sp>
        <p:nvSpPr>
          <p:cNvPr id="10" name="文字_D. 无法计算"/>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无法计算</a:t>
            </a:r>
          </a:p>
        </p:txBody>
      </p:sp>
      <p:sp>
        <p:nvSpPr>
          <p:cNvPr id="11" name="文字_单选题  ·  14-06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14-060</a:t>
            </a:r>
          </a:p>
        </p:txBody>
      </p:sp>
      <p:sp>
        <p:nvSpPr>
          <p:cNvPr id="12" name="文字_7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例题2</a:t>
            </a:r>
          </a:p>
        </p:txBody>
      </p:sp>
      <p:sp>
        <p:nvSpPr>
          <p:cNvPr id="5" name="文字_P32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P323</a:t>
            </a:r>
          </a:p>
        </p:txBody>
      </p:sp>
      <p:sp>
        <p:nvSpPr>
          <p:cNvPr id="6" name="文字_将一定质量的铜溶于100mL₁₁mol·L-1的"/>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将一定质量的铜溶于100mL₁₁mol·L-1的浓硝酸中，待铜完全溶解后，生成</a:t>
            </a:r>
          </a:p>
          <a:p>
            <a:pPr>
              <a:lnSpc>
                <a:spcPct val="112000"/>
              </a:lnSpc>
              <a:spcBef>
                <a:spcPts val="0"/>
              </a:spcBef>
              <a:spcAft>
                <a:spcPts val="0"/>
              </a:spcAft>
              <a:defRPr sz="2400" b="0">
                <a:solidFill>
                  <a:srgbClr val="333333"/>
                </a:solidFill>
                <a:latin typeface="微软雅黑"/>
              </a:defRPr>
            </a:pPr>
            <a:r>
              <a:rPr>
                <a:ea typeface="微软雅黑"/>
              </a:rPr>
              <a:t>0.4molNO₂和NO的混合气体，测得反应后的溶液中H+的浓度为1mol·L-1。假设</a:t>
            </a:r>
          </a:p>
          <a:p>
            <a:pPr>
              <a:lnSpc>
                <a:spcPct val="112000"/>
              </a:lnSpc>
              <a:spcBef>
                <a:spcPts val="0"/>
              </a:spcBef>
              <a:spcAft>
                <a:spcPts val="0"/>
              </a:spcAft>
              <a:defRPr sz="2400" b="0">
                <a:solidFill>
                  <a:srgbClr val="333333"/>
                </a:solidFill>
                <a:latin typeface="微软雅黑"/>
              </a:defRPr>
            </a:pPr>
            <a:r>
              <a:rPr>
                <a:ea typeface="微软雅黑"/>
              </a:rPr>
              <a:t>反应后溶液的体积仍为100mL，则气体产物中的NO在标准状况下的体积是</a:t>
            </a:r>
          </a:p>
        </p:txBody>
      </p:sp>
      <p:sp>
        <p:nvSpPr>
          <p:cNvPr id="7" name="文字_A. 1.12L"/>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1.12L</a:t>
            </a:r>
          </a:p>
        </p:txBody>
      </p:sp>
      <p:sp>
        <p:nvSpPr>
          <p:cNvPr id="8" name="文字_B. 2.24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2.24L</a:t>
            </a:r>
          </a:p>
        </p:txBody>
      </p:sp>
      <p:sp>
        <p:nvSpPr>
          <p:cNvPr id="9" name="文字_C. 3.36L"/>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3.36L</a:t>
            </a:r>
          </a:p>
        </p:txBody>
      </p:sp>
      <p:sp>
        <p:nvSpPr>
          <p:cNvPr id="10" name="文字_D. 4.48L"/>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4.48L</a:t>
            </a:r>
          </a:p>
        </p:txBody>
      </p:sp>
      <p:sp>
        <p:nvSpPr>
          <p:cNvPr id="11" name="文字_单选题  ·  14-06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14-061</a:t>
            </a:r>
          </a:p>
        </p:txBody>
      </p:sp>
      <p:sp>
        <p:nvSpPr>
          <p:cNvPr id="12" name="文字_8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例题3</a:t>
            </a:r>
          </a:p>
        </p:txBody>
      </p:sp>
      <p:sp>
        <p:nvSpPr>
          <p:cNvPr id="5" name="文字_P32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P323</a:t>
            </a:r>
          </a:p>
        </p:txBody>
      </p:sp>
      <p:sp>
        <p:nvSpPr>
          <p:cNvPr id="6" name="文字_将3.2g Cu跟30.0mL₁₀.0mol·L"/>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将3.2g Cu跟30.0mL₁₀.0mol·L-1的HNO₃充分反应，还原产物有NO和NO₂₂，</a:t>
            </a:r>
          </a:p>
          <a:p>
            <a:pPr>
              <a:lnSpc>
                <a:spcPct val="112000"/>
              </a:lnSpc>
              <a:spcBef>
                <a:spcPts val="0"/>
              </a:spcBef>
              <a:spcAft>
                <a:spcPts val="0"/>
              </a:spcAft>
              <a:defRPr sz="2400" b="0">
                <a:solidFill>
                  <a:srgbClr val="333333"/>
                </a:solidFill>
                <a:latin typeface="微软雅黑"/>
              </a:defRPr>
            </a:pPr>
            <a:r>
              <a:rPr>
                <a:ea typeface="微软雅黑"/>
              </a:rPr>
              <a:t>若反应后溶液中有a molH+，则此时溶液中含NO₃的物质的量为（）</a:t>
            </a:r>
          </a:p>
        </p:txBody>
      </p:sp>
      <p:sp>
        <p:nvSpPr>
          <p:cNvPr id="7" name="文字_A. 0.5a mol"/>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0.5a mol</a:t>
            </a:r>
          </a:p>
        </p:txBody>
      </p:sp>
      <p:sp>
        <p:nvSpPr>
          <p:cNvPr id="8" name="文字_B. (0.1 +a) mol"/>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(0.1 +a) mol</a:t>
            </a:r>
          </a:p>
        </p:txBody>
      </p:sp>
      <p:sp>
        <p:nvSpPr>
          <p:cNvPr id="9" name="文字_C. 0.1a mol"/>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0.1a mol</a:t>
            </a:r>
          </a:p>
        </p:txBody>
      </p:sp>
      <p:sp>
        <p:nvSpPr>
          <p:cNvPr id="10" name="文字_D. 2a mol"/>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2a mol</a:t>
            </a:r>
          </a:p>
        </p:txBody>
      </p:sp>
      <p:sp>
        <p:nvSpPr>
          <p:cNvPr id="11" name="文字_②得失电子守恒；"/>
          <p:cNvSpPr txBox="1"/>
          <p:nvPr/>
        </p:nvSpPr>
        <p:spPr>
          <a:xfrm>
            <a:off x="502920" y="36362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②得失电子守恒；</a:t>
            </a:r>
          </a:p>
        </p:txBody>
      </p:sp>
      <p:sp>
        <p:nvSpPr>
          <p:cNvPr id="12" name="文字_单选题  ·  14-06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14-062</a:t>
            </a:r>
          </a:p>
        </p:txBody>
      </p:sp>
      <p:sp>
        <p:nvSpPr>
          <p:cNvPr id="13" name="文字_8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例题1</a:t>
            </a:r>
          </a:p>
        </p:txBody>
      </p:sp>
      <p:sp>
        <p:nvSpPr>
          <p:cNvPr id="5" name="文字_P323"/>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P323</a:t>
            </a:r>
          </a:p>
        </p:txBody>
      </p:sp>
      <p:sp>
        <p:nvSpPr>
          <p:cNvPr id="6" name="文字_物质的量之比为2：5的锌与稀硝酸反应，若硝酸被还"/>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物质的量之比为2：5的锌与稀硝酸反应，若硝酸被还原的产物为N₂O，反应结束</a:t>
            </a:r>
          </a:p>
          <a:p>
            <a:pPr>
              <a:lnSpc>
                <a:spcPct val="112000"/>
              </a:lnSpc>
              <a:spcBef>
                <a:spcPts val="0"/>
              </a:spcBef>
              <a:spcAft>
                <a:spcPts val="0"/>
              </a:spcAft>
              <a:defRPr sz="2400" b="0">
                <a:solidFill>
                  <a:srgbClr val="333333"/>
                </a:solidFill>
                <a:latin typeface="微软雅黑"/>
              </a:defRPr>
            </a:pPr>
            <a:r>
              <a:rPr>
                <a:ea typeface="微软雅黑"/>
              </a:rPr>
              <a:t>后锌没有剩余，则该反应中被还原的硝酸与未被还原的硝酸的物质的量之比是</a:t>
            </a:r>
          </a:p>
        </p:txBody>
      </p:sp>
      <p:sp>
        <p:nvSpPr>
          <p:cNvPr id="7" name="文字_A. 1: 4"/>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 4</a:t>
            </a:r>
          </a:p>
        </p:txBody>
      </p:sp>
      <p:sp>
        <p:nvSpPr>
          <p:cNvPr id="8" name="文字_B. 1: 5"/>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 5</a:t>
            </a:r>
          </a:p>
        </p:txBody>
      </p:sp>
      <p:sp>
        <p:nvSpPr>
          <p:cNvPr id="9" name="文字_C. 2: 3"/>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 3</a:t>
            </a:r>
          </a:p>
        </p:txBody>
      </p:sp>
      <p:sp>
        <p:nvSpPr>
          <p:cNvPr id="10" name="文字_D. 2: 5"/>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2: 5</a:t>
            </a:r>
          </a:p>
        </p:txBody>
      </p:sp>
      <p:sp>
        <p:nvSpPr>
          <p:cNvPr id="11" name="文字_单选题  ·  14-06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14-063</a:t>
            </a:r>
          </a:p>
        </p:txBody>
      </p:sp>
      <p:sp>
        <p:nvSpPr>
          <p:cNvPr id="12" name="文字_8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例题2</a:t>
            </a:r>
          </a:p>
        </p:txBody>
      </p:sp>
      <p:sp>
        <p:nvSpPr>
          <p:cNvPr id="5" name="文字_P3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P324</a:t>
            </a:r>
          </a:p>
        </p:txBody>
      </p:sp>
      <p:sp>
        <p:nvSpPr>
          <p:cNvPr id="6" name="文字_足量铜与一定量浓硝酸反应，得到硝酸铜溶液和NO₂"/>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足量铜与一定量浓硝酸反应，得到硝酸铜溶液和NO₂、N₂O₄、NO的混合气体，</a:t>
            </a:r>
          </a:p>
          <a:p>
            <a:pPr>
              <a:lnSpc>
                <a:spcPct val="112000"/>
              </a:lnSpc>
              <a:spcBef>
                <a:spcPts val="0"/>
              </a:spcBef>
              <a:spcAft>
                <a:spcPts val="0"/>
              </a:spcAft>
              <a:defRPr sz="2400" b="0">
                <a:solidFill>
                  <a:srgbClr val="333333"/>
                </a:solidFill>
                <a:latin typeface="微软雅黑"/>
              </a:defRPr>
            </a:pPr>
            <a:r>
              <a:rPr>
                <a:ea typeface="微软雅黑"/>
              </a:rPr>
              <a:t>这些气体与1.344LO₂（标准状况）混合后通入水中，所有气体完全被水吸收生成</a:t>
            </a:r>
          </a:p>
          <a:p>
            <a:pPr>
              <a:lnSpc>
                <a:spcPct val="112000"/>
              </a:lnSpc>
              <a:spcBef>
                <a:spcPts val="0"/>
              </a:spcBef>
              <a:spcAft>
                <a:spcPts val="0"/>
              </a:spcAft>
              <a:defRPr sz="2400" b="0">
                <a:solidFill>
                  <a:srgbClr val="333333"/>
                </a:solidFill>
                <a:latin typeface="微软雅黑"/>
              </a:defRPr>
            </a:pPr>
            <a:r>
              <a:rPr>
                <a:ea typeface="微软雅黑"/>
              </a:rPr>
              <a:t>硝酸。若向所得硝酸铜溶液中加入6mol·L-1NaOH溶液至Cu²⁺恰好完全沉淀，则</a:t>
            </a:r>
          </a:p>
          <a:p>
            <a:pPr>
              <a:lnSpc>
                <a:spcPct val="112000"/>
              </a:lnSpc>
              <a:spcBef>
                <a:spcPts val="0"/>
              </a:spcBef>
              <a:spcAft>
                <a:spcPts val="0"/>
              </a:spcAft>
              <a:defRPr sz="2400" b="0">
                <a:solidFill>
                  <a:srgbClr val="333333"/>
                </a:solidFill>
                <a:latin typeface="微软雅黑"/>
              </a:defRPr>
            </a:pPr>
            <a:r>
              <a:rPr>
                <a:ea typeface="微软雅黑"/>
              </a:rPr>
              <a:t>消耗NaOH溶液的体积是</a:t>
            </a:r>
          </a:p>
        </p:txBody>
      </p:sp>
      <p:sp>
        <p:nvSpPr>
          <p:cNvPr id="7" name="文字_A. 60mL"/>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60mL</a:t>
            </a:r>
          </a:p>
        </p:txBody>
      </p:sp>
      <p:sp>
        <p:nvSpPr>
          <p:cNvPr id="8" name="文字_B. 40mL"/>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40mL</a:t>
            </a:r>
          </a:p>
        </p:txBody>
      </p:sp>
      <p:sp>
        <p:nvSpPr>
          <p:cNvPr id="9" name="文字_C. 30mL"/>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30mL</a:t>
            </a:r>
          </a:p>
        </p:txBody>
      </p:sp>
      <p:sp>
        <p:nvSpPr>
          <p:cNvPr id="10" name="文字_D. 15mL"/>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15mL</a:t>
            </a:r>
          </a:p>
        </p:txBody>
      </p:sp>
      <p:sp>
        <p:nvSpPr>
          <p:cNvPr id="11" name="文字_单选题  ·  14-06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14-064</a:t>
            </a:r>
          </a:p>
        </p:txBody>
      </p:sp>
      <p:sp>
        <p:nvSpPr>
          <p:cNvPr id="12" name="文字_8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例题3</a:t>
            </a:r>
          </a:p>
        </p:txBody>
      </p:sp>
      <p:sp>
        <p:nvSpPr>
          <p:cNvPr id="5" name="文字_P3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P324</a:t>
            </a:r>
          </a:p>
        </p:txBody>
      </p:sp>
      <p:sp>
        <p:nvSpPr>
          <p:cNvPr id="6" name="文字_一定量的铁与一定量的浓HNO₃反应，得到硝酸铁溶"/>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一定量的铁与一定量的浓HNO₃反应，得到硝酸铁溶液和NO₂、N₂O₄、NO的混</a:t>
            </a:r>
          </a:p>
          <a:p>
            <a:pPr>
              <a:lnSpc>
                <a:spcPct val="112000"/>
              </a:lnSpc>
              <a:spcBef>
                <a:spcPts val="0"/>
              </a:spcBef>
              <a:spcAft>
                <a:spcPts val="0"/>
              </a:spcAft>
              <a:defRPr sz="2400" b="0">
                <a:solidFill>
                  <a:srgbClr val="333333"/>
                </a:solidFill>
                <a:latin typeface="微软雅黑"/>
              </a:defRPr>
            </a:pPr>
            <a:r>
              <a:rPr>
                <a:ea typeface="微软雅黑"/>
              </a:rPr>
              <a:t>合气体，这些气体与3.36LO₂（标准状况）混合后通入水中，所有气体完全被水吸</a:t>
            </a:r>
          </a:p>
          <a:p>
            <a:pPr>
              <a:lnSpc>
                <a:spcPct val="112000"/>
              </a:lnSpc>
              <a:spcBef>
                <a:spcPts val="0"/>
              </a:spcBef>
              <a:spcAft>
                <a:spcPts val="0"/>
              </a:spcAft>
              <a:defRPr sz="2400" b="0">
                <a:solidFill>
                  <a:srgbClr val="333333"/>
                </a:solidFill>
                <a:latin typeface="微软雅黑"/>
              </a:defRPr>
            </a:pPr>
            <a:r>
              <a:rPr>
                <a:ea typeface="微软雅黑"/>
              </a:rPr>
              <a:t>收生成硝酸。若向所得硝酸铁溶液中加入2mol·L-¹的NaOH溶液至Fe³⁺恰好沉淀，</a:t>
            </a:r>
          </a:p>
          <a:p>
            <a:pPr>
              <a:lnSpc>
                <a:spcPct val="112000"/>
              </a:lnSpc>
              <a:spcBef>
                <a:spcPts val="0"/>
              </a:spcBef>
              <a:spcAft>
                <a:spcPts val="0"/>
              </a:spcAft>
              <a:defRPr sz="2400" b="0">
                <a:solidFill>
                  <a:srgbClr val="333333"/>
                </a:solidFill>
                <a:latin typeface="微软雅黑"/>
              </a:defRPr>
            </a:pPr>
            <a:r>
              <a:rPr>
                <a:ea typeface="微软雅黑"/>
              </a:rPr>
              <a:t>则消耗NaOH溶液的体积是（）</a:t>
            </a:r>
          </a:p>
        </p:txBody>
      </p:sp>
      <p:sp>
        <p:nvSpPr>
          <p:cNvPr id="7" name="文字_A. 300 mL"/>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300 mL</a:t>
            </a:r>
          </a:p>
        </p:txBody>
      </p:sp>
      <p:sp>
        <p:nvSpPr>
          <p:cNvPr id="8" name="文字_B. 150 mL"/>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150 mL</a:t>
            </a:r>
          </a:p>
        </p:txBody>
      </p:sp>
      <p:sp>
        <p:nvSpPr>
          <p:cNvPr id="9" name="文字_C. 120 mL"/>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120 mL</a:t>
            </a:r>
          </a:p>
        </p:txBody>
      </p:sp>
      <p:sp>
        <p:nvSpPr>
          <p:cNvPr id="10" name="文字_D. 90 mL"/>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90 mL</a:t>
            </a:r>
          </a:p>
        </p:txBody>
      </p:sp>
      <p:sp>
        <p:nvSpPr>
          <p:cNvPr id="11" name="文字_单选题  ·  14-06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14-065</a:t>
            </a:r>
          </a:p>
        </p:txBody>
      </p:sp>
      <p:sp>
        <p:nvSpPr>
          <p:cNvPr id="12" name="文字_8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例题4</a:t>
            </a:r>
          </a:p>
        </p:txBody>
      </p:sp>
      <p:sp>
        <p:nvSpPr>
          <p:cNvPr id="5" name="文字_P3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P324</a:t>
            </a:r>
          </a:p>
        </p:txBody>
      </p:sp>
      <p:sp>
        <p:nvSpPr>
          <p:cNvPr id="6" name="文字_将一定质量的铜与150mL的一定浓度的硝酸反应，"/>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将一定质量的铜与150mL的一定浓度的硝酸反应，铜完全溶解，产生标准状况下</a:t>
            </a:r>
          </a:p>
          <a:p>
            <a:pPr>
              <a:lnSpc>
                <a:spcPct val="112000"/>
              </a:lnSpc>
              <a:spcBef>
                <a:spcPts val="0"/>
              </a:spcBef>
              <a:spcAft>
                <a:spcPts val="0"/>
              </a:spcAft>
              <a:defRPr sz="2400" b="0">
                <a:solidFill>
                  <a:srgbClr val="333333"/>
                </a:solidFill>
                <a:latin typeface="微软雅黑"/>
              </a:defRPr>
            </a:pPr>
            <a:r>
              <a:rPr>
                <a:ea typeface="微软雅黑"/>
              </a:rPr>
              <a:t>11.2L的NO和NO₂的混合气体(不考虑NO₂转化成N₂O₄)，将生成的混合气体与</a:t>
            </a:r>
          </a:p>
          <a:p>
            <a:pPr>
              <a:lnSpc>
                <a:spcPct val="112000"/>
              </a:lnSpc>
              <a:spcBef>
                <a:spcPts val="0"/>
              </a:spcBef>
              <a:spcAft>
                <a:spcPts val="0"/>
              </a:spcAft>
              <a:defRPr sz="2400" b="0">
                <a:solidFill>
                  <a:srgbClr val="333333"/>
                </a:solidFill>
                <a:latin typeface="微软雅黑"/>
              </a:defRPr>
            </a:pPr>
            <a:r>
              <a:rPr>
                <a:ea typeface="微软雅黑"/>
              </a:rPr>
              <a:t>5.6L标况下的氧气一起通入足量NaOH溶液中，气体恰好被吸收生成NaNO₃。下</a:t>
            </a:r>
          </a:p>
          <a:p>
            <a:pPr>
              <a:lnSpc>
                <a:spcPct val="112000"/>
              </a:lnSpc>
              <a:spcBef>
                <a:spcPts val="0"/>
              </a:spcBef>
              <a:spcAft>
                <a:spcPts val="0"/>
              </a:spcAft>
              <a:defRPr sz="2400" b="0">
                <a:solidFill>
                  <a:srgbClr val="333333"/>
                </a:solidFill>
                <a:latin typeface="微软雅黑"/>
              </a:defRPr>
            </a:pPr>
            <a:r>
              <a:rPr>
                <a:ea typeface="微软雅黑"/>
              </a:rPr>
              <a:t>列说法不正确的是</a:t>
            </a:r>
          </a:p>
        </p:txBody>
      </p:sp>
      <p:sp>
        <p:nvSpPr>
          <p:cNvPr id="7" name="文字_A. 铜的质量为32g"/>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铜的质量为32g</a:t>
            </a:r>
          </a:p>
        </p:txBody>
      </p:sp>
      <p:sp>
        <p:nvSpPr>
          <p:cNvPr id="8" name="文字_B. 硝酸的物质的量浓度为10.0mol·L-1"/>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硝酸的物质的量浓度为10.0mol·L-1</a:t>
            </a:r>
          </a:p>
        </p:txBody>
      </p:sp>
      <p:sp>
        <p:nvSpPr>
          <p:cNvPr id="9" name="文字_C. 铜与硝酸反应，生成的NO和NO₂体积相等"/>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铜与硝酸反应，生成的NO和NO₂体积相等</a:t>
            </a:r>
          </a:p>
        </p:txBody>
      </p:sp>
      <p:sp>
        <p:nvSpPr>
          <p:cNvPr id="10" name="文字_D. 向反应后的溶液加NaOH，使铜沉淀完全，需"/>
          <p:cNvSpPr txBox="1"/>
          <p:nvPr/>
        </p:nvSpPr>
        <p:spPr>
          <a:xfrm>
            <a:off x="502920" y="3922776"/>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向反应后的溶液加NaOH，使铜沉淀完全，需要NaOH的物质的量至少为</a:t>
            </a:r>
          </a:p>
          <a:p>
            <a:pPr>
              <a:lnSpc>
                <a:spcPct val="112000"/>
              </a:lnSpc>
              <a:spcBef>
                <a:spcPts val="0"/>
              </a:spcBef>
              <a:spcAft>
                <a:spcPts val="0"/>
              </a:spcAft>
              <a:defRPr sz="2400" b="0">
                <a:solidFill>
                  <a:srgbClr val="333333"/>
                </a:solidFill>
                <a:latin typeface="微软雅黑"/>
              </a:defRPr>
            </a:pPr>
            <a:r>
              <a:rPr>
                <a:ea typeface="微软雅黑"/>
              </a:rPr>
              <a:t>1.0mol</a:t>
            </a:r>
          </a:p>
        </p:txBody>
      </p:sp>
      <p:sp>
        <p:nvSpPr>
          <p:cNvPr id="11" name="文字_单选题  ·  14-06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14-066</a:t>
            </a:r>
          </a:p>
        </p:txBody>
      </p:sp>
      <p:sp>
        <p:nvSpPr>
          <p:cNvPr id="12" name="文字_8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例题5</a:t>
            </a:r>
          </a:p>
        </p:txBody>
      </p:sp>
      <p:sp>
        <p:nvSpPr>
          <p:cNvPr id="5" name="文字_P324"/>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P324</a:t>
            </a:r>
          </a:p>
        </p:txBody>
      </p:sp>
      <p:sp>
        <p:nvSpPr>
          <p:cNvPr id="6" name="文字_Cu与浓硝酸反应生成氮的氧化物，这些氧化物恰好溶"/>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Cu与浓硝酸反应生成氮的氧化物，这些氧化物恰好溶解在NaOH溶液中得到</a:t>
            </a:r>
          </a:p>
          <a:p>
            <a:pPr>
              <a:lnSpc>
                <a:spcPct val="112000"/>
              </a:lnSpc>
              <a:spcBef>
                <a:spcPts val="0"/>
              </a:spcBef>
              <a:spcAft>
                <a:spcPts val="0"/>
              </a:spcAft>
              <a:defRPr sz="2400" b="0">
                <a:solidFill>
                  <a:srgbClr val="333333"/>
                </a:solidFill>
                <a:latin typeface="微软雅黑"/>
              </a:defRPr>
            </a:pPr>
            <a:r>
              <a:rPr>
                <a:ea typeface="微软雅黑"/>
              </a:rPr>
              <a:t>NaNO₃和NaNO₂的混合溶液，反应过程及有关数据如图所示</a:t>
            </a:r>
          </a:p>
        </p:txBody>
      </p:sp>
      <p:pic>
        <p:nvPicPr>
          <p:cNvPr id="7" name="Picture 6" descr="image.png"/>
          <p:cNvPicPr>
            <a:picLocks noChangeAspect="1"/>
          </p:cNvPicPr>
          <p:nvPr/>
        </p:nvPicPr>
        <p:blipFill>
          <a:blip r:embed="rId3"/>
          <a:stretch>
            <a:fillRect/>
          </a:stretch>
        </p:blipFill>
        <p:spPr>
          <a:xfrm>
            <a:off x="502920" y="1880616"/>
            <a:ext cx="11064240" cy="1753433"/>
          </a:xfrm>
          <a:prstGeom prst="rect">
            <a:avLst/>
          </a:prstGeom>
        </p:spPr>
      </p:pic>
      <p:sp>
        <p:nvSpPr>
          <p:cNvPr id="8" name="原题文字_324_35"/>
          <p:cNvSpPr txBox="1"/>
          <p:nvPr/>
        </p:nvSpPr>
        <p:spPr>
          <a:xfrm>
            <a:off x="4201209" y="1759361"/>
            <a:ext cx="1754698" cy="467837"/>
          </a:xfrm>
          <a:prstGeom prst="rect">
            <a:avLst/>
          </a:prstGeom>
          <a:noFill/>
        </p:spPr>
        <p:txBody>
          <a:bodyPr wrap="none" lIns="0" rIns="0" tIns="0" bIns="0">
            <a:spAutoFit/>
          </a:bodyPr>
          <a:lstStyle/>
          <a:p>
            <a:pPr>
              <a:lnSpc>
                <a:spcPct val="112000"/>
              </a:lnSpc>
              <a:spcBef>
                <a:spcPts val="0"/>
              </a:spcBef>
              <a:spcAft>
                <a:spcPts val="0"/>
              </a:spcAft>
              <a:defRPr sz="1990" b="0">
                <a:solidFill>
                  <a:srgbClr val="333333"/>
                </a:solidFill>
                <a:latin typeface="微软雅黑"/>
              </a:defRPr>
            </a:pPr>
            <a:r>
              <a:rPr>
                <a:ea typeface="微软雅黑"/>
              </a:rPr>
              <a:t>0.5 L 2 mol·L-1</a:t>
            </a:r>
          </a:p>
        </p:txBody>
      </p:sp>
      <p:sp>
        <p:nvSpPr>
          <p:cNvPr id="9" name="原题文字_324_36"/>
          <p:cNvSpPr txBox="1"/>
          <p:nvPr/>
        </p:nvSpPr>
        <p:spPr>
          <a:xfrm>
            <a:off x="579489" y="1912499"/>
            <a:ext cx="1532648" cy="457883"/>
          </a:xfrm>
          <a:prstGeom prst="rect">
            <a:avLst/>
          </a:prstGeom>
          <a:noFill/>
        </p:spPr>
        <p:txBody>
          <a:bodyPr wrap="none" lIns="0" rIns="0" tIns="0" bIns="0">
            <a:spAutoFit/>
          </a:bodyPr>
          <a:lstStyle/>
          <a:p>
            <a:pPr>
              <a:lnSpc>
                <a:spcPct val="112000"/>
              </a:lnSpc>
              <a:spcBef>
                <a:spcPts val="0"/>
              </a:spcBef>
              <a:spcAft>
                <a:spcPts val="0"/>
              </a:spcAft>
              <a:defRPr sz="1978" b="0">
                <a:solidFill>
                  <a:srgbClr val="333333"/>
                </a:solidFill>
                <a:latin typeface="微软雅黑"/>
              </a:defRPr>
            </a:pPr>
            <a:r>
              <a:rPr>
                <a:ea typeface="微软雅黑"/>
              </a:rPr>
              <a:t>适量浓HNO₃</a:t>
            </a:r>
          </a:p>
        </p:txBody>
      </p:sp>
      <p:sp>
        <p:nvSpPr>
          <p:cNvPr id="10" name="原题文字_324_37"/>
          <p:cNvSpPr txBox="1"/>
          <p:nvPr/>
        </p:nvSpPr>
        <p:spPr>
          <a:xfrm>
            <a:off x="4339033" y="2065638"/>
            <a:ext cx="1279970" cy="358343"/>
          </a:xfrm>
          <a:prstGeom prst="rect">
            <a:avLst/>
          </a:prstGeom>
          <a:noFill/>
        </p:spPr>
        <p:txBody>
          <a:bodyPr wrap="none" lIns="0" rIns="0" tIns="0" bIns="0">
            <a:spAutoFit/>
          </a:bodyPr>
          <a:lstStyle/>
          <a:p>
            <a:pPr>
              <a:lnSpc>
                <a:spcPct val="112000"/>
              </a:lnSpc>
              <a:spcBef>
                <a:spcPts val="0"/>
              </a:spcBef>
              <a:spcAft>
                <a:spcPts val="0"/>
              </a:spcAft>
              <a:defRPr sz="1736" b="0">
                <a:solidFill>
                  <a:srgbClr val="333333"/>
                </a:solidFill>
                <a:latin typeface="微软雅黑"/>
              </a:defRPr>
            </a:pPr>
            <a:r>
              <a:rPr>
                <a:ea typeface="微软雅黑"/>
              </a:rPr>
              <a:t>NaOH溶液</a:t>
            </a:r>
          </a:p>
        </p:txBody>
      </p:sp>
      <p:sp>
        <p:nvSpPr>
          <p:cNvPr id="11" name="原题文字_324_38"/>
          <p:cNvSpPr txBox="1"/>
          <p:nvPr/>
        </p:nvSpPr>
        <p:spPr>
          <a:xfrm>
            <a:off x="2202754" y="2540366"/>
            <a:ext cx="2137544" cy="408113"/>
          </a:xfrm>
          <a:prstGeom prst="rect">
            <a:avLst/>
          </a:prstGeom>
          <a:noFill/>
        </p:spPr>
        <p:txBody>
          <a:bodyPr wrap="none" lIns="0" rIns="0" tIns="0" bIns="0">
            <a:spAutoFit/>
          </a:bodyPr>
          <a:lstStyle/>
          <a:p>
            <a:pPr>
              <a:lnSpc>
                <a:spcPct val="112000"/>
              </a:lnSpc>
              <a:spcBef>
                <a:spcPts val="0"/>
              </a:spcBef>
              <a:spcAft>
                <a:spcPts val="0"/>
              </a:spcAft>
              <a:defRPr sz="1977" b="0">
                <a:solidFill>
                  <a:srgbClr val="333333"/>
                </a:solidFill>
                <a:latin typeface="微软雅黑"/>
              </a:defRPr>
            </a:pPr>
            <a:r>
              <a:rPr>
                <a:ea typeface="微软雅黑"/>
              </a:rPr>
              <a:t>0.9 mol氮的氧化物</a:t>
            </a:r>
          </a:p>
        </p:txBody>
      </p:sp>
      <p:sp>
        <p:nvSpPr>
          <p:cNvPr id="12" name="原题文字_324_39"/>
          <p:cNvSpPr txBox="1"/>
          <p:nvPr/>
        </p:nvSpPr>
        <p:spPr>
          <a:xfrm>
            <a:off x="5564139" y="2586308"/>
            <a:ext cx="1050262" cy="487745"/>
          </a:xfrm>
          <a:prstGeom prst="rect">
            <a:avLst/>
          </a:prstGeom>
          <a:noFill/>
        </p:spPr>
        <p:txBody>
          <a:bodyPr wrap="none" lIns="0" rIns="0" tIns="0" bIns="0">
            <a:spAutoFit/>
          </a:bodyPr>
          <a:lstStyle/>
          <a:p>
            <a:pPr>
              <a:lnSpc>
                <a:spcPct val="112000"/>
              </a:lnSpc>
              <a:spcBef>
                <a:spcPts val="0"/>
              </a:spcBef>
              <a:spcAft>
                <a:spcPts val="0"/>
              </a:spcAft>
              <a:defRPr sz="2239" b="0">
                <a:solidFill>
                  <a:srgbClr val="333333"/>
                </a:solidFill>
                <a:latin typeface="微软雅黑"/>
              </a:defRPr>
            </a:pPr>
            <a:r>
              <a:rPr>
                <a:ea typeface="微软雅黑"/>
              </a:rPr>
              <a:t>NaNO₃</a:t>
            </a:r>
          </a:p>
        </p:txBody>
      </p:sp>
      <p:sp>
        <p:nvSpPr>
          <p:cNvPr id="13" name="原题文字_324_40"/>
          <p:cNvSpPr txBox="1"/>
          <p:nvPr/>
        </p:nvSpPr>
        <p:spPr>
          <a:xfrm>
            <a:off x="908736" y="2731789"/>
            <a:ext cx="644446" cy="467837"/>
          </a:xfrm>
          <a:prstGeom prst="rect">
            <a:avLst/>
          </a:prstGeom>
          <a:noFill/>
        </p:spPr>
        <p:txBody>
          <a:bodyPr wrap="none" lIns="0" rIns="0" tIns="0" bIns="0">
            <a:spAutoFit/>
          </a:bodyPr>
          <a:lstStyle/>
          <a:p>
            <a:pPr>
              <a:lnSpc>
                <a:spcPct val="112000"/>
              </a:lnSpc>
              <a:spcBef>
                <a:spcPts val="0"/>
              </a:spcBef>
              <a:spcAft>
                <a:spcPts val="0"/>
              </a:spcAft>
              <a:defRPr sz="2266" b="0">
                <a:solidFill>
                  <a:srgbClr val="333333"/>
                </a:solidFill>
                <a:latin typeface="微软雅黑"/>
              </a:defRPr>
            </a:pPr>
            <a:r>
              <a:rPr>
                <a:ea typeface="微软雅黑"/>
              </a:rPr>
              <a:t>铜片</a:t>
            </a:r>
          </a:p>
        </p:txBody>
      </p:sp>
      <p:sp>
        <p:nvSpPr>
          <p:cNvPr id="14" name="原题文字_324_41"/>
          <p:cNvSpPr txBox="1"/>
          <p:nvPr/>
        </p:nvSpPr>
        <p:spPr>
          <a:xfrm>
            <a:off x="2264010" y="2892584"/>
            <a:ext cx="2030347" cy="418067"/>
          </a:xfrm>
          <a:prstGeom prst="rect">
            <a:avLst/>
          </a:prstGeom>
          <a:noFill/>
        </p:spPr>
        <p:txBody>
          <a:bodyPr wrap="none" lIns="0" rIns="0" tIns="0" bIns="0">
            <a:spAutoFit/>
          </a:bodyPr>
          <a:lstStyle/>
          <a:p>
            <a:pPr>
              <a:lnSpc>
                <a:spcPct val="112000"/>
              </a:lnSpc>
              <a:spcBef>
                <a:spcPts val="0"/>
              </a:spcBef>
              <a:spcAft>
                <a:spcPts val="0"/>
              </a:spcAft>
              <a:defRPr sz="1661" b="0">
                <a:solidFill>
                  <a:srgbClr val="333333"/>
                </a:solidFill>
                <a:latin typeface="微软雅黑"/>
              </a:defRPr>
            </a:pPr>
            <a:r>
              <a:rPr>
                <a:ea typeface="微软雅黑"/>
              </a:rPr>
              <a:t>(NO、N₂O₄、NO₂)</a:t>
            </a:r>
          </a:p>
        </p:txBody>
      </p:sp>
      <p:sp>
        <p:nvSpPr>
          <p:cNvPr id="15" name="原题文字_324_42"/>
          <p:cNvSpPr txBox="1"/>
          <p:nvPr/>
        </p:nvSpPr>
        <p:spPr>
          <a:xfrm>
            <a:off x="5610081" y="2907898"/>
            <a:ext cx="1387166" cy="388205"/>
          </a:xfrm>
          <a:prstGeom prst="rect">
            <a:avLst/>
          </a:prstGeom>
          <a:noFill/>
        </p:spPr>
        <p:txBody>
          <a:bodyPr wrap="none" lIns="0" rIns="0" tIns="0" bIns="0">
            <a:spAutoFit/>
          </a:bodyPr>
          <a:lstStyle/>
          <a:p>
            <a:pPr>
              <a:lnSpc>
                <a:spcPct val="112000"/>
              </a:lnSpc>
              <a:spcBef>
                <a:spcPts val="0"/>
              </a:spcBef>
              <a:spcAft>
                <a:spcPts val="0"/>
              </a:spcAft>
              <a:defRPr sz="1881" b="0">
                <a:solidFill>
                  <a:srgbClr val="333333"/>
                </a:solidFill>
                <a:latin typeface="微软雅黑"/>
              </a:defRPr>
            </a:pPr>
            <a:r>
              <a:rPr>
                <a:ea typeface="微软雅黑"/>
              </a:rPr>
              <a:t>NaNO₂溶液</a:t>
            </a:r>
          </a:p>
        </p:txBody>
      </p:sp>
      <p:sp>
        <p:nvSpPr>
          <p:cNvPr id="16" name="原题文字_324_43"/>
          <p:cNvSpPr txBox="1"/>
          <p:nvPr/>
        </p:nvSpPr>
        <p:spPr>
          <a:xfrm>
            <a:off x="610116" y="3351999"/>
            <a:ext cx="2198799" cy="308573"/>
          </a:xfrm>
          <a:prstGeom prst="rect">
            <a:avLst/>
          </a:prstGeom>
          <a:noFill/>
        </p:spPr>
        <p:txBody>
          <a:bodyPr wrap="none" lIns="0" rIns="0" tIns="0" bIns="0">
            <a:spAutoFit/>
          </a:bodyPr>
          <a:lstStyle/>
          <a:p>
            <a:pPr>
              <a:lnSpc>
                <a:spcPct val="112000"/>
              </a:lnSpc>
              <a:spcBef>
                <a:spcPts val="0"/>
              </a:spcBef>
              <a:spcAft>
                <a:spcPts val="0"/>
              </a:spcAft>
              <a:defRPr sz="1495" b="0">
                <a:solidFill>
                  <a:srgbClr val="333333"/>
                </a:solidFill>
                <a:latin typeface="微软雅黑"/>
              </a:defRPr>
            </a:pPr>
            <a:r>
              <a:rPr>
                <a:ea typeface="微软雅黑"/>
              </a:rPr>
              <a:t>下列有关判断正确的是</a:t>
            </a:r>
          </a:p>
        </p:txBody>
      </p:sp>
      <p:sp>
        <p:nvSpPr>
          <p:cNvPr id="17" name="文字_A. 常温下，Cu遇浓硝酸发生钝化，不可能发生上"/>
          <p:cNvSpPr txBox="1"/>
          <p:nvPr/>
        </p:nvSpPr>
        <p:spPr>
          <a:xfrm>
            <a:off x="502920" y="370720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常温下，Cu遇浓硝酸发生钝化，不可能发生上述反应</a:t>
            </a:r>
          </a:p>
        </p:txBody>
      </p:sp>
      <p:sp>
        <p:nvSpPr>
          <p:cNvPr id="18" name="文字_B. 收集的氮氧化物的体积为20.16L"/>
          <p:cNvSpPr txBox="1"/>
          <p:nvPr/>
        </p:nvSpPr>
        <p:spPr>
          <a:xfrm>
            <a:off x="502920" y="414611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收集的氮氧化物的体积为20.16L</a:t>
            </a:r>
          </a:p>
        </p:txBody>
      </p:sp>
      <p:sp>
        <p:nvSpPr>
          <p:cNvPr id="19" name="文字_C. 反应过程中生成的Cu(NO₃)₂既是氧化产"/>
          <p:cNvSpPr txBox="1"/>
          <p:nvPr/>
        </p:nvSpPr>
        <p:spPr>
          <a:xfrm>
            <a:off x="502920" y="4585025"/>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反应过程中生成的Cu(NO₃)₂既是氧化产物，又是还原产物</a:t>
            </a:r>
          </a:p>
        </p:txBody>
      </p:sp>
      <p:sp>
        <p:nvSpPr>
          <p:cNvPr id="20" name="文字_D. 若铜片为51.2 g，则生成0.2 mol"/>
          <p:cNvSpPr txBox="1"/>
          <p:nvPr/>
        </p:nvSpPr>
        <p:spPr>
          <a:xfrm>
            <a:off x="502920" y="5023937"/>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若铜片为51.2 g，则生成0.2 mol NaNO₃</a:t>
            </a:r>
          </a:p>
        </p:txBody>
      </p:sp>
      <p:sp>
        <p:nvSpPr>
          <p:cNvPr id="21" name="文字_单选题  ·  14-06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14-067</a:t>
            </a:r>
          </a:p>
        </p:txBody>
      </p:sp>
      <p:sp>
        <p:nvSpPr>
          <p:cNvPr id="22" name="文字_8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例题6</a:t>
            </a:r>
          </a:p>
        </p:txBody>
      </p:sp>
      <p:sp>
        <p:nvSpPr>
          <p:cNvPr id="5" name="文字_P3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P325</a:t>
            </a:r>
          </a:p>
        </p:txBody>
      </p:sp>
      <p:sp>
        <p:nvSpPr>
          <p:cNvPr id="6" name="文字_物质的量之比为2：5的锌与稀硝酸反应，若硝酸被还"/>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物质的量之比为2：5的锌与稀硝酸反应，若硝酸被还原的产物为N₂O，反应结束</a:t>
            </a:r>
          </a:p>
          <a:p>
            <a:pPr>
              <a:lnSpc>
                <a:spcPct val="112000"/>
              </a:lnSpc>
              <a:spcBef>
                <a:spcPts val="0"/>
              </a:spcBef>
              <a:spcAft>
                <a:spcPts val="0"/>
              </a:spcAft>
              <a:defRPr sz="2400" b="0">
                <a:solidFill>
                  <a:srgbClr val="333333"/>
                </a:solidFill>
                <a:latin typeface="微软雅黑"/>
              </a:defRPr>
            </a:pPr>
            <a:r>
              <a:rPr>
                <a:ea typeface="微软雅黑"/>
              </a:rPr>
              <a:t>后锌没有剩余，则该反应中被还原的硝酸与未被还原的硝酸的物质的量之比是</a:t>
            </a:r>
          </a:p>
        </p:txBody>
      </p:sp>
      <p:sp>
        <p:nvSpPr>
          <p:cNvPr id="7" name="文字_A. 1: 4"/>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 4</a:t>
            </a:r>
          </a:p>
        </p:txBody>
      </p:sp>
      <p:sp>
        <p:nvSpPr>
          <p:cNvPr id="8" name="文字_B. 1: 5"/>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 5</a:t>
            </a:r>
          </a:p>
        </p:txBody>
      </p:sp>
      <p:sp>
        <p:nvSpPr>
          <p:cNvPr id="9" name="文字_C. 2: 3"/>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 3</a:t>
            </a:r>
          </a:p>
        </p:txBody>
      </p:sp>
      <p:sp>
        <p:nvSpPr>
          <p:cNvPr id="10" name="文字_D. 2: 5"/>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2: 5</a:t>
            </a:r>
          </a:p>
        </p:txBody>
      </p:sp>
      <p:sp>
        <p:nvSpPr>
          <p:cNvPr id="11" name="文字_单选题  ·  14-068"/>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14-068</a:t>
            </a:r>
          </a:p>
        </p:txBody>
      </p:sp>
      <p:sp>
        <p:nvSpPr>
          <p:cNvPr id="12" name="文字_87"/>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例题7</a:t>
            </a:r>
          </a:p>
        </p:txBody>
      </p:sp>
      <p:sp>
        <p:nvSpPr>
          <p:cNvPr id="5" name="文字_P3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P325</a:t>
            </a:r>
          </a:p>
        </p:txBody>
      </p:sp>
      <p:sp>
        <p:nvSpPr>
          <p:cNvPr id="6" name="文字_FeS与一定浓度的HNO₃反应，生成Fe(NO₃"/>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FeS与一定浓度的HNO₃反应，生成Fe(NO₃)₃、Fe₂(SO₄)₃、NO₂、N₂O₄、</a:t>
            </a:r>
          </a:p>
          <a:p>
            <a:pPr>
              <a:lnSpc>
                <a:spcPct val="112000"/>
              </a:lnSpc>
              <a:spcBef>
                <a:spcPts val="0"/>
              </a:spcBef>
              <a:spcAft>
                <a:spcPts val="0"/>
              </a:spcAft>
              <a:defRPr sz="2400" b="0">
                <a:solidFill>
                  <a:srgbClr val="333333"/>
                </a:solidFill>
                <a:latin typeface="微软雅黑"/>
              </a:defRPr>
            </a:pPr>
            <a:r>
              <a:rPr>
                <a:ea typeface="微软雅黑"/>
              </a:rPr>
              <a:t>NO和H₂O，当NO₂、N₂O₄、NO的物质的量之比为1:1:1时，实际反应的FeS与</a:t>
            </a:r>
          </a:p>
          <a:p>
            <a:pPr>
              <a:lnSpc>
                <a:spcPct val="112000"/>
              </a:lnSpc>
              <a:spcBef>
                <a:spcPts val="0"/>
              </a:spcBef>
              <a:spcAft>
                <a:spcPts val="0"/>
              </a:spcAft>
              <a:defRPr sz="2400" b="0">
                <a:solidFill>
                  <a:srgbClr val="333333"/>
                </a:solidFill>
                <a:latin typeface="微软雅黑"/>
              </a:defRPr>
            </a:pPr>
            <a:r>
              <a:rPr>
                <a:ea typeface="微软雅黑"/>
              </a:rPr>
              <a:t>HNO₃的物质的量之比为（）</a:t>
            </a:r>
          </a:p>
        </p:txBody>
      </p:sp>
      <p:sp>
        <p:nvSpPr>
          <p:cNvPr id="7" name="文字_A. 1:6"/>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1:6</a:t>
            </a:r>
          </a:p>
        </p:txBody>
      </p:sp>
      <p:sp>
        <p:nvSpPr>
          <p:cNvPr id="8" name="文字_B. 16:25"/>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16:25</a:t>
            </a:r>
          </a:p>
        </p:txBody>
      </p:sp>
      <p:sp>
        <p:nvSpPr>
          <p:cNvPr id="9" name="文字_C. 2:11"/>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2:11</a:t>
            </a:r>
          </a:p>
        </p:txBody>
      </p:sp>
      <p:sp>
        <p:nvSpPr>
          <p:cNvPr id="10" name="文字_D. 1:7"/>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1:7</a:t>
            </a:r>
          </a:p>
        </p:txBody>
      </p:sp>
      <p:sp>
        <p:nvSpPr>
          <p:cNvPr id="11" name="文字_单选题  ·  14-069"/>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14-069</a:t>
            </a:r>
          </a:p>
        </p:txBody>
      </p:sp>
      <p:sp>
        <p:nvSpPr>
          <p:cNvPr id="12" name="文字_88"/>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例题8"/>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例题8</a:t>
            </a:r>
          </a:p>
        </p:txBody>
      </p:sp>
      <p:sp>
        <p:nvSpPr>
          <p:cNvPr id="5" name="文字_P3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P325</a:t>
            </a:r>
          </a:p>
        </p:txBody>
      </p:sp>
      <p:sp>
        <p:nvSpPr>
          <p:cNvPr id="6" name="文字_镁、铁混合物13. 4g溶解在足量的稀硝酸中，完"/>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镁、铁混合物13. 4g溶解在足量的稀硝酸中，完全反应得到还原产物只有6. 72L（</a:t>
            </a:r>
          </a:p>
          <a:p>
            <a:pPr>
              <a:lnSpc>
                <a:spcPct val="112000"/>
              </a:lnSpc>
              <a:spcBef>
                <a:spcPts val="0"/>
              </a:spcBef>
              <a:spcAft>
                <a:spcPts val="0"/>
              </a:spcAft>
              <a:defRPr sz="2400" b="0">
                <a:solidFill>
                  <a:srgbClr val="333333"/>
                </a:solidFill>
                <a:latin typeface="微软雅黑"/>
              </a:defRPr>
            </a:pPr>
            <a:r>
              <a:rPr>
                <a:ea typeface="微软雅黑"/>
              </a:rPr>
              <a:t>标况下）NO，则向反应后的溶液中加入足量的NaOH溶液，可生成的沉淀质量为</a:t>
            </a:r>
          </a:p>
        </p:txBody>
      </p:sp>
      <p:sp>
        <p:nvSpPr>
          <p:cNvPr id="7" name="文字_A. 26. 8 g"/>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26. 8 g</a:t>
            </a:r>
          </a:p>
        </p:txBody>
      </p:sp>
      <p:sp>
        <p:nvSpPr>
          <p:cNvPr id="8" name="文字_B. 28. 7 g"/>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28. 7 g</a:t>
            </a:r>
          </a:p>
        </p:txBody>
      </p:sp>
      <p:sp>
        <p:nvSpPr>
          <p:cNvPr id="9" name="文字_C. 29. 1 g"/>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29. 1 g</a:t>
            </a:r>
          </a:p>
        </p:txBody>
      </p:sp>
      <p:sp>
        <p:nvSpPr>
          <p:cNvPr id="10" name="文字_D. 29. 5g"/>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29. 5g</a:t>
            </a:r>
          </a:p>
        </p:txBody>
      </p:sp>
      <p:sp>
        <p:nvSpPr>
          <p:cNvPr id="11" name="文字_单选题  ·  14-070"/>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14-070</a:t>
            </a:r>
          </a:p>
        </p:txBody>
      </p:sp>
      <p:sp>
        <p:nvSpPr>
          <p:cNvPr id="12" name="文字_89"/>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综合1"/>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综合1</a:t>
            </a:r>
          </a:p>
        </p:txBody>
      </p:sp>
      <p:sp>
        <p:nvSpPr>
          <p:cNvPr id="5" name="文字_P3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P325</a:t>
            </a:r>
          </a:p>
        </p:txBody>
      </p:sp>
      <p:sp>
        <p:nvSpPr>
          <p:cNvPr id="6" name="文字_常温下，将等质量的铜片、银片、铁片、铝片分别置于"/>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常温下，将等质量的铜片、银片、铁片、铝片分别置于四个小烧杯中，然后分别加</a:t>
            </a:r>
          </a:p>
          <a:p>
            <a:pPr>
              <a:lnSpc>
                <a:spcPct val="112000"/>
              </a:lnSpc>
              <a:spcBef>
                <a:spcPts val="0"/>
              </a:spcBef>
              <a:spcAft>
                <a:spcPts val="0"/>
              </a:spcAft>
              <a:defRPr sz="2400" b="0">
                <a:solidFill>
                  <a:srgbClr val="333333"/>
                </a:solidFill>
                <a:latin typeface="微软雅黑"/>
              </a:defRPr>
            </a:pPr>
            <a:r>
              <a:rPr>
                <a:ea typeface="微软雅黑"/>
              </a:rPr>
              <a:t>入足量的浓硝酸，放出NO₂气体最多的是（）</a:t>
            </a:r>
          </a:p>
        </p:txBody>
      </p:sp>
      <p:sp>
        <p:nvSpPr>
          <p:cNvPr id="7" name="文字_A. 铜片"/>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铜片</a:t>
            </a:r>
          </a:p>
        </p:txBody>
      </p:sp>
      <p:sp>
        <p:nvSpPr>
          <p:cNvPr id="8" name="文字_B. 银片"/>
          <p:cNvSpPr txBox="1"/>
          <p:nvPr/>
        </p:nvSpPr>
        <p:spPr>
          <a:xfrm>
            <a:off x="502920" y="23195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银片</a:t>
            </a:r>
          </a:p>
        </p:txBody>
      </p:sp>
      <p:sp>
        <p:nvSpPr>
          <p:cNvPr id="9" name="文字_C. 铁片"/>
          <p:cNvSpPr txBox="1"/>
          <p:nvPr/>
        </p:nvSpPr>
        <p:spPr>
          <a:xfrm>
            <a:off x="502920" y="27584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铁片</a:t>
            </a:r>
          </a:p>
        </p:txBody>
      </p:sp>
      <p:sp>
        <p:nvSpPr>
          <p:cNvPr id="10" name="文字_D. 铝片"/>
          <p:cNvSpPr txBox="1"/>
          <p:nvPr/>
        </p:nvSpPr>
        <p:spPr>
          <a:xfrm>
            <a:off x="502920" y="31973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铝片</a:t>
            </a:r>
          </a:p>
        </p:txBody>
      </p:sp>
      <p:sp>
        <p:nvSpPr>
          <p:cNvPr id="11" name="文字_单选题  ·  14-071"/>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14-071</a:t>
            </a:r>
          </a:p>
        </p:txBody>
      </p:sp>
      <p:sp>
        <p:nvSpPr>
          <p:cNvPr id="12" name="文字_90"/>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综合2"/>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综合2</a:t>
            </a:r>
          </a:p>
        </p:txBody>
      </p:sp>
      <p:sp>
        <p:nvSpPr>
          <p:cNvPr id="5" name="文字_P3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P325</a:t>
            </a:r>
          </a:p>
        </p:txBody>
      </p:sp>
      <p:sp>
        <p:nvSpPr>
          <p:cNvPr id="6" name="文字_在100mL混合溶液中，HNO₃和H₂SO₄物质"/>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在100mL混合溶液中，HNO₃和H₂SO₄物质的量浓度分别为0.4mol·L-1和</a:t>
            </a:r>
          </a:p>
          <a:p>
            <a:pPr>
              <a:lnSpc>
                <a:spcPct val="112000"/>
              </a:lnSpc>
              <a:spcBef>
                <a:spcPts val="0"/>
              </a:spcBef>
              <a:spcAft>
                <a:spcPts val="0"/>
              </a:spcAft>
              <a:defRPr sz="2400" b="0">
                <a:solidFill>
                  <a:srgbClr val="333333"/>
                </a:solidFill>
                <a:latin typeface="微软雅黑"/>
              </a:defRPr>
            </a:pPr>
            <a:r>
              <a:rPr>
                <a:ea typeface="微软雅黑"/>
              </a:rPr>
              <a:t>0.1mol·L-1，向该溶液中加入1.92g铜粉，加热，待充分反应后，所得溶液中Cu²⁺</a:t>
            </a:r>
          </a:p>
          <a:p>
            <a:pPr>
              <a:lnSpc>
                <a:spcPct val="112000"/>
              </a:lnSpc>
              <a:spcBef>
                <a:spcPts val="0"/>
              </a:spcBef>
              <a:spcAft>
                <a:spcPts val="0"/>
              </a:spcAft>
              <a:defRPr sz="2400" b="0">
                <a:solidFill>
                  <a:srgbClr val="333333"/>
                </a:solidFill>
                <a:latin typeface="微软雅黑"/>
              </a:defRPr>
            </a:pPr>
            <a:r>
              <a:rPr>
                <a:ea typeface="微软雅黑"/>
              </a:rPr>
              <a:t>物质的量浓度（mol·L-1）为（）</a:t>
            </a:r>
          </a:p>
        </p:txBody>
      </p:sp>
      <p:sp>
        <p:nvSpPr>
          <p:cNvPr id="7" name="文字_A. 0.15"/>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0.15</a:t>
            </a:r>
          </a:p>
        </p:txBody>
      </p:sp>
      <p:sp>
        <p:nvSpPr>
          <p:cNvPr id="8" name="文字_B. 0.225"/>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0.225</a:t>
            </a:r>
          </a:p>
        </p:txBody>
      </p:sp>
      <p:sp>
        <p:nvSpPr>
          <p:cNvPr id="9" name="文字_C. 0.35"/>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0.35</a:t>
            </a:r>
          </a:p>
        </p:txBody>
      </p:sp>
      <p:sp>
        <p:nvSpPr>
          <p:cNvPr id="10" name="文字_D. 0.45"/>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0.45</a:t>
            </a:r>
          </a:p>
        </p:txBody>
      </p:sp>
      <p:sp>
        <p:nvSpPr>
          <p:cNvPr id="11" name="文字_单选题  ·  14-072"/>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14-072</a:t>
            </a:r>
          </a:p>
        </p:txBody>
      </p:sp>
      <p:sp>
        <p:nvSpPr>
          <p:cNvPr id="12" name="文字_91"/>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综合3"/>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综合3</a:t>
            </a:r>
          </a:p>
        </p:txBody>
      </p:sp>
      <p:sp>
        <p:nvSpPr>
          <p:cNvPr id="5" name="文字_P325"/>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P325</a:t>
            </a:r>
          </a:p>
        </p:txBody>
      </p:sp>
      <p:sp>
        <p:nvSpPr>
          <p:cNvPr id="6" name="文字_将32.64g铜与140mL一定浓度的硝酸反应，"/>
          <p:cNvSpPr txBox="1"/>
          <p:nvPr/>
        </p:nvSpPr>
        <p:spPr>
          <a:xfrm>
            <a:off x="502920" y="107899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将32.64g铜与140mL一定浓度的硝酸反应，铜完全溶解产生的NO和NO₂混合气</a:t>
            </a:r>
          </a:p>
          <a:p>
            <a:pPr>
              <a:lnSpc>
                <a:spcPct val="112000"/>
              </a:lnSpc>
              <a:spcBef>
                <a:spcPts val="0"/>
              </a:spcBef>
              <a:spcAft>
                <a:spcPts val="0"/>
              </a:spcAft>
              <a:defRPr sz="2400" b="0">
                <a:solidFill>
                  <a:srgbClr val="333333"/>
                </a:solidFill>
                <a:latin typeface="微软雅黑"/>
              </a:defRPr>
            </a:pPr>
            <a:r>
              <a:rPr>
                <a:ea typeface="微软雅黑"/>
              </a:rPr>
              <a:t>体在标准状况下的体积为11.2L。请回答：</a:t>
            </a:r>
          </a:p>
        </p:txBody>
      </p:sp>
      <p:sp>
        <p:nvSpPr>
          <p:cNvPr id="7" name="文字_(1)NO的体积为 ______ L，NO₂的体"/>
          <p:cNvSpPr txBox="1"/>
          <p:nvPr/>
        </p:nvSpPr>
        <p:spPr>
          <a:xfrm>
            <a:off x="502920" y="188061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(1)NO的体积为 ______ L，NO₂的体积为 ______ Lo</a:t>
            </a:r>
          </a:p>
        </p:txBody>
      </p:sp>
      <p:sp>
        <p:nvSpPr>
          <p:cNvPr id="8" name="文字_(2)待产生的气体全部释放后，向溶液中加入VmL"/>
          <p:cNvSpPr txBox="1"/>
          <p:nvPr/>
        </p:nvSpPr>
        <p:spPr>
          <a:xfrm>
            <a:off x="502920" y="2319528"/>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(2)待产生的气体全部释放后，向溶液中加入VmLamol/L的NaOH溶液，恰好使溶</a:t>
            </a:r>
          </a:p>
          <a:p>
            <a:pPr>
              <a:lnSpc>
                <a:spcPct val="112000"/>
              </a:lnSpc>
              <a:spcBef>
                <a:spcPts val="0"/>
              </a:spcBef>
              <a:spcAft>
                <a:spcPts val="0"/>
              </a:spcAft>
              <a:defRPr sz="2400" b="0">
                <a:solidFill>
                  <a:srgbClr val="333333"/>
                </a:solidFill>
                <a:latin typeface="微软雅黑"/>
              </a:defRPr>
            </a:pPr>
            <a:r>
              <a:rPr>
                <a:ea typeface="微软雅黑"/>
              </a:rPr>
              <a:t>液中Cu²⁺全部转化成沉淀，则原硝酸溶液的浓度为 ______ mol/L。</a:t>
            </a:r>
          </a:p>
        </p:txBody>
      </p:sp>
      <p:sp>
        <p:nvSpPr>
          <p:cNvPr id="9" name="文字_解答题  ·  14-073"/>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14-073</a:t>
            </a:r>
          </a:p>
        </p:txBody>
      </p:sp>
      <p:sp>
        <p:nvSpPr>
          <p:cNvPr id="10" name="文字_92"/>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综合4"/>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综合4</a:t>
            </a:r>
          </a:p>
        </p:txBody>
      </p:sp>
      <p:sp>
        <p:nvSpPr>
          <p:cNvPr id="5" name="文字_P3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P326</a:t>
            </a:r>
          </a:p>
        </p:txBody>
      </p:sp>
      <p:sp>
        <p:nvSpPr>
          <p:cNvPr id="6" name="文字_铜是重要的工业原料，现有Cu、Cu₂O组成的混合"/>
          <p:cNvSpPr txBox="1"/>
          <p:nvPr/>
        </p:nvSpPr>
        <p:spPr>
          <a:xfrm>
            <a:off x="502920" y="1078992"/>
            <a:ext cx="11064240" cy="1527048"/>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铜是重要的工业原料，现有Cu、Cu₂O组成的混合物，某研究性学习小组为了探究</a:t>
            </a:r>
          </a:p>
          <a:p>
            <a:pPr>
              <a:lnSpc>
                <a:spcPct val="112000"/>
              </a:lnSpc>
              <a:spcBef>
                <a:spcPts val="0"/>
              </a:spcBef>
              <a:spcAft>
                <a:spcPts val="0"/>
              </a:spcAft>
              <a:defRPr sz="2400" b="0">
                <a:solidFill>
                  <a:srgbClr val="333333"/>
                </a:solidFill>
                <a:latin typeface="微软雅黑"/>
              </a:defRPr>
            </a:pPr>
            <a:r>
              <a:rPr>
                <a:ea typeface="微软雅黑"/>
              </a:rPr>
              <a:t>其组成情况，取35.2g该混合物加入0.5L₃.4mol·L-¹的稀硝酸中，固体物质完全反</a:t>
            </a:r>
          </a:p>
          <a:p>
            <a:pPr>
              <a:lnSpc>
                <a:spcPct val="112000"/>
              </a:lnSpc>
              <a:spcBef>
                <a:spcPts val="0"/>
              </a:spcBef>
              <a:spcAft>
                <a:spcPts val="0"/>
              </a:spcAft>
              <a:defRPr sz="2400" b="0">
                <a:solidFill>
                  <a:srgbClr val="333333"/>
                </a:solidFill>
                <a:latin typeface="微软雅黑"/>
              </a:defRPr>
            </a:pPr>
            <a:r>
              <a:rPr>
                <a:ea typeface="微软雅黑"/>
              </a:rPr>
              <a:t>应，生成4.48L(标准状况)的NO。向所得溶液中加入aL₂.0mol.L-¹的NaOH溶液，</a:t>
            </a:r>
          </a:p>
          <a:p>
            <a:pPr>
              <a:lnSpc>
                <a:spcPct val="112000"/>
              </a:lnSpc>
              <a:spcBef>
                <a:spcPts val="0"/>
              </a:spcBef>
              <a:spcAft>
                <a:spcPts val="0"/>
              </a:spcAft>
              <a:defRPr sz="2400" b="0">
                <a:solidFill>
                  <a:srgbClr val="333333"/>
                </a:solidFill>
                <a:latin typeface="微软雅黑"/>
              </a:defRPr>
            </a:pPr>
            <a:r>
              <a:rPr>
                <a:ea typeface="微软雅黑"/>
              </a:rPr>
              <a:t>恰好使溶液中的Cu²⁺沉淀完全。</a:t>
            </a:r>
          </a:p>
        </p:txBody>
      </p:sp>
      <p:sp>
        <p:nvSpPr>
          <p:cNvPr id="7" name="文字_(1)Cu₂O与稀硝酸反应的化学方程式为"/>
          <p:cNvSpPr txBox="1"/>
          <p:nvPr/>
        </p:nvSpPr>
        <p:spPr>
          <a:xfrm>
            <a:off x="502920" y="2606039"/>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(1)Cu₂O与稀硝酸反应的化学方程式为</a:t>
            </a:r>
          </a:p>
        </p:txBody>
      </p:sp>
      <p:sp>
        <p:nvSpPr>
          <p:cNvPr id="8" name="文字_(2)混合物中，n(Cu)= ______ ; "/>
          <p:cNvSpPr txBox="1"/>
          <p:nvPr/>
        </p:nvSpPr>
        <p:spPr>
          <a:xfrm>
            <a:off x="502920" y="3044951"/>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(2)混合物中，n(Cu)= ______ ; n (Cu₂O)=</a:t>
            </a:r>
          </a:p>
        </p:txBody>
      </p:sp>
      <p:sp>
        <p:nvSpPr>
          <p:cNvPr id="9" name="文字_(3)a="/>
          <p:cNvSpPr txBox="1"/>
          <p:nvPr/>
        </p:nvSpPr>
        <p:spPr>
          <a:xfrm>
            <a:off x="502920" y="3483863"/>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(3)a=</a:t>
            </a:r>
          </a:p>
        </p:txBody>
      </p:sp>
      <p:sp>
        <p:nvSpPr>
          <p:cNvPr id="10" name="文字_填空题  ·  14-074"/>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填空题  ·  14-074</a:t>
            </a:r>
          </a:p>
        </p:txBody>
      </p:sp>
      <p:sp>
        <p:nvSpPr>
          <p:cNvPr id="11" name="文字_93"/>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综合5"/>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综合5</a:t>
            </a:r>
          </a:p>
        </p:txBody>
      </p:sp>
      <p:sp>
        <p:nvSpPr>
          <p:cNvPr id="5" name="文字_P3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P326</a:t>
            </a:r>
          </a:p>
        </p:txBody>
      </p:sp>
      <p:sp>
        <p:nvSpPr>
          <p:cNvPr id="6" name="文字_将一定质量的铜溶于100mL₁₁mol/L的浓硝"/>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将一定质量的铜溶于100mL₁₁mol/L的浓硝酸中，待铜完全溶解后，生成</a:t>
            </a:r>
          </a:p>
          <a:p>
            <a:pPr>
              <a:lnSpc>
                <a:spcPct val="112000"/>
              </a:lnSpc>
              <a:spcBef>
                <a:spcPts val="0"/>
              </a:spcBef>
              <a:spcAft>
                <a:spcPts val="0"/>
              </a:spcAft>
              <a:defRPr sz="2400" b="0">
                <a:solidFill>
                  <a:srgbClr val="333333"/>
                </a:solidFill>
                <a:latin typeface="微软雅黑"/>
              </a:defRPr>
            </a:pPr>
            <a:r>
              <a:rPr>
                <a:ea typeface="微软雅黑"/>
              </a:rPr>
              <a:t>0.4molNO₂和NO的混合气体，并测得溶液中H+的浓度为1mol/L(假设反应后溶</a:t>
            </a:r>
          </a:p>
          <a:p>
            <a:pPr>
              <a:lnSpc>
                <a:spcPct val="112000"/>
              </a:lnSpc>
              <a:spcBef>
                <a:spcPts val="0"/>
              </a:spcBef>
              <a:spcAft>
                <a:spcPts val="0"/>
              </a:spcAft>
              <a:defRPr sz="2400" b="0">
                <a:solidFill>
                  <a:srgbClr val="333333"/>
                </a:solidFill>
                <a:latin typeface="微软雅黑"/>
              </a:defRPr>
            </a:pPr>
            <a:r>
              <a:rPr>
                <a:ea typeface="微软雅黑"/>
              </a:rPr>
              <a:t>液的体积仍为100mL)。</a:t>
            </a:r>
          </a:p>
        </p:txBody>
      </p:sp>
      <p:sp>
        <p:nvSpPr>
          <p:cNvPr id="7" name="文字_(1) 金属铜的质量为 ______ go"/>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金属铜的质量为 ______ go</a:t>
            </a:r>
          </a:p>
        </p:txBody>
      </p:sp>
      <p:sp>
        <p:nvSpPr>
          <p:cNvPr id="8" name="文字_(2)NO₂的物质的量 ______ mol。"/>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(2)NO₂的物质的量 ______ mol。</a:t>
            </a:r>
          </a:p>
        </p:txBody>
      </p:sp>
      <p:sp>
        <p:nvSpPr>
          <p:cNvPr id="9" name="文字_(3)产生的气体全部与氧气混合，将混合气体溶于水"/>
          <p:cNvSpPr txBox="1"/>
          <p:nvPr/>
        </p:nvSpPr>
        <p:spPr>
          <a:xfrm>
            <a:off x="502920" y="3121152"/>
            <a:ext cx="11064240" cy="801623"/>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(3)产生的气体全部与氧气混合，将混合气体溶于水，若全部恰好溶解需要通入的氧</a:t>
            </a:r>
          </a:p>
          <a:p>
            <a:pPr>
              <a:lnSpc>
                <a:spcPct val="112000"/>
              </a:lnSpc>
              <a:spcBef>
                <a:spcPts val="0"/>
              </a:spcBef>
              <a:spcAft>
                <a:spcPts val="0"/>
              </a:spcAft>
              <a:defRPr sz="2400" b="0">
                <a:solidFill>
                  <a:srgbClr val="333333"/>
                </a:solidFill>
                <a:latin typeface="微软雅黑"/>
              </a:defRPr>
            </a:pPr>
            <a:r>
              <a:rPr>
                <a:ea typeface="微软雅黑"/>
              </a:rPr>
              <a:t>气在标准状况下的体积是</a:t>
            </a:r>
          </a:p>
        </p:txBody>
      </p:sp>
      <p:sp>
        <p:nvSpPr>
          <p:cNvPr id="10" name="文字_Lo"/>
          <p:cNvSpPr txBox="1"/>
          <p:nvPr/>
        </p:nvSpPr>
        <p:spPr>
          <a:xfrm>
            <a:off x="502920" y="3922776"/>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Lo</a:t>
            </a:r>
          </a:p>
        </p:txBody>
      </p:sp>
      <p:sp>
        <p:nvSpPr>
          <p:cNvPr id="11" name="文字_解答题  ·  14-075"/>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14-075</a:t>
            </a:r>
          </a:p>
        </p:txBody>
      </p:sp>
      <p:sp>
        <p:nvSpPr>
          <p:cNvPr id="12" name="文字_94"/>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综合6"/>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综合6</a:t>
            </a:r>
          </a:p>
        </p:txBody>
      </p:sp>
      <p:sp>
        <p:nvSpPr>
          <p:cNvPr id="5" name="文字_P3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P326</a:t>
            </a:r>
          </a:p>
        </p:txBody>
      </p:sp>
      <p:sp>
        <p:nvSpPr>
          <p:cNvPr id="6" name="文字_现有一份部分被氧化的铜片(氧化产物为CuO)，称"/>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现有一份部分被氧化的铜片(氧化产物为CuO)，称取4.32g铜片，溶于</a:t>
            </a:r>
          </a:p>
          <a:p>
            <a:pPr>
              <a:lnSpc>
                <a:spcPct val="112000"/>
              </a:lnSpc>
              <a:spcBef>
                <a:spcPts val="0"/>
              </a:spcBef>
              <a:spcAft>
                <a:spcPts val="0"/>
              </a:spcAft>
              <a:defRPr sz="2400" b="0">
                <a:solidFill>
                  <a:srgbClr val="333333"/>
                </a:solidFill>
                <a:latin typeface="微软雅黑"/>
              </a:defRPr>
            </a:pPr>
            <a:r>
              <a:rPr>
                <a:ea typeface="微软雅黑"/>
              </a:rPr>
              <a:t>140mL₁.00mol/L稀硝酸中，反应恰好完全进行，收集到无色气体448mL(已折算</a:t>
            </a:r>
          </a:p>
          <a:p>
            <a:pPr>
              <a:lnSpc>
                <a:spcPct val="112000"/>
              </a:lnSpc>
              <a:spcBef>
                <a:spcPts val="0"/>
              </a:spcBef>
              <a:spcAft>
                <a:spcPts val="0"/>
              </a:spcAft>
              <a:defRPr sz="2400" b="0">
                <a:solidFill>
                  <a:srgbClr val="333333"/>
                </a:solidFill>
                <a:latin typeface="微软雅黑"/>
              </a:defRPr>
            </a:pPr>
            <a:r>
              <a:rPr>
                <a:ea typeface="微软雅黑"/>
              </a:rPr>
              <a:t>为标况)。</a:t>
            </a:r>
          </a:p>
        </p:txBody>
      </p:sp>
      <p:sp>
        <p:nvSpPr>
          <p:cNvPr id="7" name="文字_(1) 该稀硝酸中所含HNO₃的物质的量为"/>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(1) 该稀硝酸中所含HNO₃的物质的量为</a:t>
            </a:r>
          </a:p>
        </p:txBody>
      </p:sp>
      <p:sp>
        <p:nvSpPr>
          <p:cNvPr id="8" name="文字_(2) 4.32g铜片中CuO的质量为"/>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(2) 4.32g铜片中CuO的质量为</a:t>
            </a:r>
          </a:p>
        </p:txBody>
      </p:sp>
      <p:sp>
        <p:nvSpPr>
          <p:cNvPr id="9" name="文字_(3)该铜片被氧化的百分数为"/>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(3)该铜片被氧化的百分数为</a:t>
            </a:r>
          </a:p>
        </p:txBody>
      </p:sp>
      <p:sp>
        <p:nvSpPr>
          <p:cNvPr id="10" name="文字_解答题  ·  14-076"/>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解答题  ·  14-076</a:t>
            </a:r>
          </a:p>
        </p:txBody>
      </p:sp>
      <p:sp>
        <p:nvSpPr>
          <p:cNvPr id="11" name="文字_95"/>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pic0.png"/>
          <p:cNvPicPr>
            <a:picLocks noChangeAspect="1"/>
          </p:cNvPicPr>
          <p:nvPr/>
        </p:nvPicPr>
        <p:blipFill>
          <a:blip r:embed="rId2"/>
          <a:stretch>
            <a:fillRect/>
          </a:stretch>
        </p:blipFill>
        <p:spPr>
          <a:xfrm>
            <a:off x="109728" y="54864"/>
            <a:ext cx="3337560" cy="960120"/>
          </a:xfrm>
          <a:prstGeom prst="rect">
            <a:avLst/>
          </a:prstGeom>
        </p:spPr>
      </p:pic>
      <p:sp>
        <p:nvSpPr>
          <p:cNvPr id="3" name="Rounded Rectangle 2"/>
          <p:cNvSpPr/>
          <p:nvPr/>
        </p:nvSpPr>
        <p:spPr>
          <a:xfrm>
            <a:off x="3630168" y="356616"/>
            <a:ext cx="6903720" cy="393192"/>
          </a:xfrm>
          <a:prstGeom prst="roundRect">
            <a:avLst/>
          </a:prstGeom>
          <a:solidFill>
            <a:srgbClr val="F192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文字_氮的计算 · 综合7"/>
          <p:cNvSpPr txBox="1"/>
          <p:nvPr/>
        </p:nvSpPr>
        <p:spPr>
          <a:xfrm>
            <a:off x="3767328" y="402336"/>
            <a:ext cx="6629400" cy="338328"/>
          </a:xfrm>
          <a:prstGeom prst="rect">
            <a:avLst/>
          </a:prstGeom>
          <a:noFill/>
        </p:spPr>
        <p:txBody>
          <a:bodyPr wrap="square" lIns="0" rIns="0" tIns="0" bIns="0">
            <a:spAutoFit/>
          </a:bodyPr>
          <a:lstStyle/>
          <a:p>
            <a:pPr>
              <a:lnSpc>
                <a:spcPct val="112000"/>
              </a:lnSpc>
              <a:spcBef>
                <a:spcPts val="0"/>
              </a:spcBef>
              <a:spcAft>
                <a:spcPts val="0"/>
              </a:spcAft>
              <a:defRPr sz="1600" b="1">
                <a:solidFill>
                  <a:srgbClr val="FFFFFF"/>
                </a:solidFill>
                <a:latin typeface="微软雅黑"/>
              </a:defRPr>
            </a:pPr>
            <a:r>
              <a:rPr>
                <a:ea typeface="微软雅黑"/>
              </a:rPr>
              <a:t>氮的计算 · 综合7</a:t>
            </a:r>
          </a:p>
        </p:txBody>
      </p:sp>
      <p:sp>
        <p:nvSpPr>
          <p:cNvPr id="5" name="文字_P326"/>
          <p:cNvSpPr txBox="1"/>
          <p:nvPr/>
        </p:nvSpPr>
        <p:spPr>
          <a:xfrm>
            <a:off x="10607040" y="365760"/>
            <a:ext cx="1234440" cy="365760"/>
          </a:xfrm>
          <a:prstGeom prst="rect">
            <a:avLst/>
          </a:prstGeom>
          <a:noFill/>
        </p:spPr>
        <p:txBody>
          <a:bodyPr wrap="square" lIns="0" rIns="0" tIns="0" bIns="0">
            <a:spAutoFit/>
          </a:bodyPr>
          <a:lstStyle/>
          <a:p>
            <a:pPr algn="r">
              <a:lnSpc>
                <a:spcPct val="112000"/>
              </a:lnSpc>
              <a:spcBef>
                <a:spcPts val="0"/>
              </a:spcBef>
              <a:spcAft>
                <a:spcPts val="0"/>
              </a:spcAft>
              <a:defRPr sz="1700" b="0">
                <a:solidFill>
                  <a:srgbClr val="E75B67"/>
                </a:solidFill>
                <a:latin typeface="微软雅黑"/>
              </a:defRPr>
            </a:pPr>
            <a:r>
              <a:rPr>
                <a:ea typeface="微软雅黑"/>
              </a:rPr>
              <a:t>P326</a:t>
            </a:r>
          </a:p>
        </p:txBody>
      </p:sp>
      <p:sp>
        <p:nvSpPr>
          <p:cNvPr id="6" name="文字_在100mL密度为1.2g/mL稀硝酸中，加入一"/>
          <p:cNvSpPr txBox="1"/>
          <p:nvPr/>
        </p:nvSpPr>
        <p:spPr>
          <a:xfrm>
            <a:off x="502920" y="1078992"/>
            <a:ext cx="11064240" cy="1164336"/>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在100mL密度为1.2g/mL稀硝酸中，加入一定量的镁和铜组成的混合物，充分反应</a:t>
            </a:r>
          </a:p>
          <a:p>
            <a:pPr>
              <a:lnSpc>
                <a:spcPct val="112000"/>
              </a:lnSpc>
              <a:spcBef>
                <a:spcPts val="0"/>
              </a:spcBef>
              <a:spcAft>
                <a:spcPts val="0"/>
              </a:spcAft>
              <a:defRPr sz="2400" b="0">
                <a:solidFill>
                  <a:srgbClr val="333333"/>
                </a:solidFill>
                <a:latin typeface="微软雅黑"/>
              </a:defRPr>
            </a:pPr>
            <a:r>
              <a:rPr>
                <a:ea typeface="微软雅黑"/>
              </a:rPr>
              <a:t>后金属完全溶解（假设还原产物只有NO)，向反应后溶液中加入3mol/LNaOH溶</a:t>
            </a:r>
          </a:p>
          <a:p>
            <a:pPr>
              <a:lnSpc>
                <a:spcPct val="112000"/>
              </a:lnSpc>
              <a:spcBef>
                <a:spcPts val="0"/>
              </a:spcBef>
              <a:spcAft>
                <a:spcPts val="0"/>
              </a:spcAft>
              <a:defRPr sz="2400" b="0">
                <a:solidFill>
                  <a:srgbClr val="333333"/>
                </a:solidFill>
                <a:latin typeface="微软雅黑"/>
              </a:defRPr>
            </a:pPr>
            <a:r>
              <a:rPr>
                <a:ea typeface="微软雅黑"/>
              </a:rPr>
              <a:t>液至沉淀完全，测得生成沉淀质量比原金属质量增加5.1g。则下列叙述不正确的是</a:t>
            </a:r>
          </a:p>
        </p:txBody>
      </p:sp>
      <p:sp>
        <p:nvSpPr>
          <p:cNvPr id="7" name="文字_A. 当金属全部溶解时收集到NO气体的体积为2."/>
          <p:cNvSpPr txBox="1"/>
          <p:nvPr/>
        </p:nvSpPr>
        <p:spPr>
          <a:xfrm>
            <a:off x="502920" y="2243328"/>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A. 当金属全部溶解时收集到NO气体的体积为2.24L（标准状况）</a:t>
            </a:r>
          </a:p>
        </p:txBody>
      </p:sp>
      <p:sp>
        <p:nvSpPr>
          <p:cNvPr id="8" name="文字_B. 当生成沉淀的量最多时，消耗NaOH溶液体积"/>
          <p:cNvSpPr txBox="1"/>
          <p:nvPr/>
        </p:nvSpPr>
        <p:spPr>
          <a:xfrm>
            <a:off x="502920" y="2682240"/>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B. 当生成沉淀的量最多时，消耗NaOH溶液体积最小为100mL</a:t>
            </a:r>
          </a:p>
        </p:txBody>
      </p:sp>
      <p:sp>
        <p:nvSpPr>
          <p:cNvPr id="9" name="文字_C. 原稀硝酸的物质的量浓度一定为4 mol/L"/>
          <p:cNvSpPr txBox="1"/>
          <p:nvPr/>
        </p:nvSpPr>
        <p:spPr>
          <a:xfrm>
            <a:off x="502920" y="3121152"/>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C. 原稀硝酸的物质的量浓度一定为4 mol/L</a:t>
            </a:r>
          </a:p>
        </p:txBody>
      </p:sp>
      <p:sp>
        <p:nvSpPr>
          <p:cNvPr id="10" name="文字_D. 参加反应金属总质量（m）为9.6g&gt;m&gt;3"/>
          <p:cNvSpPr txBox="1"/>
          <p:nvPr/>
        </p:nvSpPr>
        <p:spPr>
          <a:xfrm>
            <a:off x="502920" y="3560064"/>
            <a:ext cx="11064240" cy="438912"/>
          </a:xfrm>
          <a:prstGeom prst="rect">
            <a:avLst/>
          </a:prstGeom>
          <a:noFill/>
        </p:spPr>
        <p:txBody>
          <a:bodyPr wrap="square" lIns="0" rIns="0" tIns="0" bIns="0">
            <a:spAutoFit/>
          </a:bodyPr>
          <a:lstStyle/>
          <a:p>
            <a:pPr>
              <a:lnSpc>
                <a:spcPct val="112000"/>
              </a:lnSpc>
              <a:spcBef>
                <a:spcPts val="0"/>
              </a:spcBef>
              <a:spcAft>
                <a:spcPts val="0"/>
              </a:spcAft>
              <a:defRPr sz="2400" b="0">
                <a:solidFill>
                  <a:srgbClr val="333333"/>
                </a:solidFill>
                <a:latin typeface="微软雅黑"/>
              </a:defRPr>
            </a:pPr>
            <a:r>
              <a:rPr>
                <a:ea typeface="微软雅黑"/>
              </a:rPr>
              <a:t>D. 参加反应金属总质量（m）为9.6g&gt;m&gt;3.6g</a:t>
            </a:r>
          </a:p>
        </p:txBody>
      </p:sp>
      <p:sp>
        <p:nvSpPr>
          <p:cNvPr id="11" name="文字_单选题  ·  14-077"/>
          <p:cNvSpPr txBox="1"/>
          <p:nvPr/>
        </p:nvSpPr>
        <p:spPr>
          <a:xfrm>
            <a:off x="548640" y="6519672"/>
            <a:ext cx="7315200" cy="182880"/>
          </a:xfrm>
          <a:prstGeom prst="rect">
            <a:avLst/>
          </a:prstGeom>
          <a:noFill/>
        </p:spPr>
        <p:txBody>
          <a:bodyPr wrap="square" lIns="0" rIns="0" tIns="0" bIns="0">
            <a:spAutoFit/>
          </a:bodyPr>
          <a:lstStyle/>
          <a:p>
            <a:pPr>
              <a:lnSpc>
                <a:spcPct val="112000"/>
              </a:lnSpc>
              <a:spcBef>
                <a:spcPts val="0"/>
              </a:spcBef>
              <a:spcAft>
                <a:spcPts val="0"/>
              </a:spcAft>
              <a:defRPr sz="900" b="0">
                <a:solidFill>
                  <a:srgbClr val="777777"/>
                </a:solidFill>
                <a:latin typeface="微软雅黑"/>
              </a:defRPr>
            </a:pPr>
            <a:r>
              <a:rPr>
                <a:ea typeface="微软雅黑"/>
              </a:rPr>
              <a:t>单选题  ·  14-077</a:t>
            </a:r>
          </a:p>
        </p:txBody>
      </p:sp>
      <p:sp>
        <p:nvSpPr>
          <p:cNvPr id="12" name="文字_96"/>
          <p:cNvSpPr txBox="1"/>
          <p:nvPr/>
        </p:nvSpPr>
        <p:spPr>
          <a:xfrm>
            <a:off x="11173968" y="6492240"/>
            <a:ext cx="365760" cy="219456"/>
          </a:xfrm>
          <a:prstGeom prst="rect">
            <a:avLst/>
          </a:prstGeom>
          <a:noFill/>
        </p:spPr>
        <p:txBody>
          <a:bodyPr wrap="square" lIns="0" rIns="0" tIns="0" bIns="0">
            <a:spAutoFit/>
          </a:bodyPr>
          <a:lstStyle/>
          <a:p>
            <a:pPr algn="r">
              <a:lnSpc>
                <a:spcPct val="112000"/>
              </a:lnSpc>
              <a:spcBef>
                <a:spcPts val="0"/>
              </a:spcBef>
              <a:spcAft>
                <a:spcPts val="0"/>
              </a:spcAft>
              <a:defRPr sz="1100" b="0">
                <a:solidFill>
                  <a:srgbClr val="777777"/>
                </a:solidFill>
                <a:latin typeface="微软雅黑"/>
              </a:defRPr>
            </a:pPr>
            <a:r>
              <a:rPr>
                <a:ea typeface="微软雅黑"/>
              </a:rPr>
              <a:t>96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第14章 氮及其化合物</dc:title>
  <dc:subject>高一化学课堂课件：知识讲解与原题</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zh-CN</dc:language>
</cp:coreProperties>
</file>
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P79；PDF 文件第 81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P79；PDF 文件第 81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P79；PDF 文件第 81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P79；PDF 文件第 81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1 / 单选题</a:t>
            </a:r>
          </a:p>
          <a:p>
            <a:r>
              <a:t>讲义印刷页：P81</a:t>
            </a:r>
          </a:p>
          <a:p>
            <a:r>
              <a:t>PDF 文件页：83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2 / 单选题</a:t>
            </a:r>
          </a:p>
          <a:p>
            <a:r>
              <a:t>讲义印刷页：P81</a:t>
            </a:r>
          </a:p>
          <a:p>
            <a:r>
              <a:t>PDF 文件页：83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3 / 单选题</a:t>
            </a:r>
          </a:p>
          <a:p>
            <a:r>
              <a:t>讲义印刷页：P81</a:t>
            </a:r>
          </a:p>
          <a:p>
            <a:r>
              <a:t>PDF 文件页：83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4 / 单选题</a:t>
            </a:r>
          </a:p>
          <a:p>
            <a:r>
              <a:t>讲义印刷页：P81</a:t>
            </a:r>
          </a:p>
          <a:p>
            <a:r>
              <a:t>PDF 文件页：83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5 / 单选题</a:t>
            </a:r>
          </a:p>
          <a:p>
            <a:r>
              <a:t>讲义印刷页：P82</a:t>
            </a:r>
          </a:p>
          <a:p>
            <a:r>
              <a:t>PDF 文件页：84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例题 6 / 单选题</a:t>
            </a:r>
          </a:p>
          <a:p>
            <a:r>
              <a:t>讲义印刷页：P82</a:t>
            </a:r>
          </a:p>
          <a:p>
            <a:r>
              <a:t>PDF 文件页：84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1 / 单选题</a:t>
            </a:r>
          </a:p>
          <a:p>
            <a:r>
              <a:t>讲义印刷页：P82</a:t>
            </a:r>
          </a:p>
          <a:p>
            <a:r>
              <a:t>PDF 文件页：84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2 / 单选题</a:t>
            </a:r>
          </a:p>
          <a:p>
            <a:r>
              <a:t>讲义印刷页：P82</a:t>
            </a:r>
          </a:p>
          <a:p>
            <a:r>
              <a:t>PDF 文件页：84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3 / 单选题</a:t>
            </a:r>
          </a:p>
          <a:p>
            <a:r>
              <a:t>讲义印刷页：P83</a:t>
            </a:r>
          </a:p>
          <a:p>
            <a:r>
              <a:t>PDF 文件页：85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4 / 单选题</a:t>
            </a:r>
          </a:p>
          <a:p>
            <a:r>
              <a:t>讲义印刷页：P83</a:t>
            </a:r>
          </a:p>
          <a:p>
            <a:r>
              <a:t>PDF 文件页：85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5 / 单选题</a:t>
            </a:r>
          </a:p>
          <a:p>
            <a:r>
              <a:t>讲义印刷页：P83</a:t>
            </a:r>
          </a:p>
          <a:p>
            <a:r>
              <a:t>PDF 文件页：85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原题定位：知识点1钠的物理和化学性质 / 变式 6 / 填空题</a:t>
            </a:r>
          </a:p>
          <a:p>
            <a:r>
              <a:t>讲义印刷页：P83</a:t>
            </a:r>
          </a:p>
          <a:p>
            <a:r>
              <a:t>PDF 文件页：85</a:t>
            </a:r>
          </a:p>
          <a:p>
            <a:r>
              <a:t>题目保留原题空白；未补充答案。文字为可编辑内容，图形保留原图线条。</a:t>
            </a:r>
          </a:p>
          <a:p>
            <a:r>
              <a:t>OCR 重点复核位置（请对照原讲义检查公式、上下标和字符）：</a:t>
            </a:r>
          </a:p>
          <a:p>
            <a:r>
              <a:t>P83：， ②</a:t>
            </a:r>
          </a:p>
          <a:p>
            <a:r>
              <a:t>P83：O</a:t>
            </a:r>
          </a:p>
          <a:p>
            <a:r>
              <a:t>P83：O</a:t>
            </a:r>
          </a:p>
          <a:p>
            <a:r>
              <a:t>P83：O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P84；PDF 文件第 86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P84；PDF 文件第 86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P84；PDF 文件第 86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例题 1 / 单选题</a:t>
            </a:r>
          </a:p>
          <a:p>
            <a:r>
              <a:t>讲义印刷页：P85</a:t>
            </a:r>
          </a:p>
          <a:p>
            <a:r>
              <a:t>PDF 文件页：87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例题 2 / 单选题</a:t>
            </a:r>
          </a:p>
          <a:p>
            <a:r>
              <a:t>讲义印刷页：P86</a:t>
            </a:r>
          </a:p>
          <a:p>
            <a:r>
              <a:t>PDF 文件页：88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例题 3 / 单选题</a:t>
            </a:r>
          </a:p>
          <a:p>
            <a:r>
              <a:t>讲义印刷页：P86</a:t>
            </a:r>
          </a:p>
          <a:p>
            <a:r>
              <a:t>PDF 文件页：88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例题 4 / 单选题</a:t>
            </a:r>
          </a:p>
          <a:p>
            <a:r>
              <a:t>讲义印刷页：P86</a:t>
            </a:r>
          </a:p>
          <a:p>
            <a:r>
              <a:t>PDF 文件页：88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例题 5 / 填空题</a:t>
            </a:r>
          </a:p>
          <a:p>
            <a:r>
              <a:t>讲义印刷页：P87</a:t>
            </a:r>
          </a:p>
          <a:p>
            <a:r>
              <a:t>PDF 文件页：89</a:t>
            </a:r>
          </a:p>
          <a:p>
            <a:r>
              <a:t>题目保留原题空白；未补充答案。文字为可编辑内容，图形保留原图线条。</a:t>
            </a:r>
          </a:p>
          <a:p>
            <a:r>
              <a:t>OCR 重点复核位置（请对照原讲义检查公式、上下标和字符）：</a:t>
            </a:r>
          </a:p>
          <a:p>
            <a:r>
              <a:t>P87：o</a:t>
            </a:r>
          </a:p>
          <a:p>
            <a:r>
              <a:t>P87：o</a:t>
            </a:r>
          </a:p>
          <a:p>
            <a:r>
              <a:t>P87：H₂O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变式 1 / 单选题</a:t>
            </a:r>
          </a:p>
          <a:p>
            <a:r>
              <a:t>讲义印刷页：P87</a:t>
            </a:r>
          </a:p>
          <a:p>
            <a:r>
              <a:t>PDF 文件页：89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变式 2 / 单选题</a:t>
            </a:r>
          </a:p>
          <a:p>
            <a:r>
              <a:t>讲义印刷页：P87</a:t>
            </a:r>
          </a:p>
          <a:p>
            <a:r>
              <a:t>PDF 文件页：89</a:t>
            </a:r>
          </a:p>
          <a:p>
            <a:r>
              <a:t>题目保留原题空白；未补充答案。文字为可编辑内容，图形保留原图线条。</a:t>
            </a:r>
          </a:p>
          <a:p>
            <a:r>
              <a:t>OCR 重点复核位置（请对照原讲义检查公式、上下标和字符）：</a:t>
            </a:r>
          </a:p>
          <a:p>
            <a:r>
              <a:t>P87：CO,</a:t>
            </a:r>
          </a:p>
          <a:p>
            <a:r>
              <a:t>P87：0</a:t>
            </a:r>
          </a:p>
          <a:p>
            <a:r>
              <a:t>P87：H₂O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变式 3 / 单选题</a:t>
            </a:r>
          </a:p>
          <a:p>
            <a:r>
              <a:t>讲义印刷页：P88</a:t>
            </a:r>
          </a:p>
          <a:p>
            <a:r>
              <a:t>PDF 文件页：90</a:t>
            </a:r>
          </a:p>
          <a:p>
            <a:r>
              <a:t>题目保留原题空白；未补充答案。文字为可编辑内容，图形保留原图线条。</a:t>
            </a:r>
          </a:p>
          <a:p>
            <a:r>
              <a:t>OCR 重点复核位置（请对照原讲义检查公式、上下标和字符）：</a:t>
            </a:r>
          </a:p>
          <a:p>
            <a:r>
              <a:t>P88：IDD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变式 4 / 单选题</a:t>
            </a:r>
          </a:p>
          <a:p>
            <a:r>
              <a:t>讲义印刷页：P88</a:t>
            </a:r>
          </a:p>
          <a:p>
            <a:r>
              <a:t>PDF 文件页：90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原题定位：知识点2氧化钠和过氧化钠 / 变式 5 / 推断题</a:t>
            </a:r>
          </a:p>
          <a:p>
            <a:r>
              <a:t>讲义印刷页：P88</a:t>
            </a:r>
          </a:p>
          <a:p>
            <a:r>
              <a:t>PDF 文件页：90</a:t>
            </a:r>
          </a:p>
          <a:p>
            <a:r>
              <a:t>题目保留原题空白；未补充答案。文字为可编辑内容，图形保留原图线条。</a:t>
            </a:r>
          </a:p>
          <a:p>
            <a:r>
              <a:t>OCR 重点复核位置（请对照原讲义检查公式、上下标和字符）：</a:t>
            </a:r>
          </a:p>
          <a:p>
            <a:r>
              <a:t>P88：O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P89；PDF 文件第 91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P89；PDF 文件第 91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P89；PDF 文件第 91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例题 1 / 单选题</a:t>
            </a:r>
          </a:p>
          <a:p>
            <a:r>
              <a:t>讲义印刷页：P91</a:t>
            </a:r>
          </a:p>
          <a:p>
            <a:r>
              <a:t>PDF 文件页：93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例题 2 / 单选题</a:t>
            </a:r>
          </a:p>
          <a:p>
            <a:r>
              <a:t>讲义印刷页：P92</a:t>
            </a:r>
          </a:p>
          <a:p>
            <a:r>
              <a:t>PDF 文件页：94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例题 3 / 单选题</a:t>
            </a:r>
          </a:p>
          <a:p>
            <a:r>
              <a:t>讲义印刷页：P92</a:t>
            </a:r>
          </a:p>
          <a:p>
            <a:r>
              <a:t>PDF 文件页：94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例题 4 / 单选题</a:t>
            </a:r>
          </a:p>
          <a:p>
            <a:r>
              <a:t>讲义印刷页：P92</a:t>
            </a:r>
          </a:p>
          <a:p>
            <a:r>
              <a:t>PDF 文件页：94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例题 5 / 解答题</a:t>
            </a:r>
          </a:p>
          <a:p>
            <a:r>
              <a:t>讲义印刷页：P92</a:t>
            </a:r>
          </a:p>
          <a:p>
            <a:r>
              <a:t>PDF 文件页：94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1 / 单选题</a:t>
            </a:r>
          </a:p>
          <a:p>
            <a:r>
              <a:t>讲义印刷页：P93</a:t>
            </a:r>
          </a:p>
          <a:p>
            <a:r>
              <a:t>PDF 文件页：95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2 / 单选题</a:t>
            </a:r>
          </a:p>
          <a:p>
            <a:r>
              <a:t>讲义印刷页：P93</a:t>
            </a:r>
          </a:p>
          <a:p>
            <a:r>
              <a:t>PDF 文件页：95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3 / 单选题</a:t>
            </a:r>
          </a:p>
          <a:p>
            <a:r>
              <a:t>讲义印刷页：P93</a:t>
            </a:r>
          </a:p>
          <a:p>
            <a:r>
              <a:t>PDF 文件页：95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4 / 单选题</a:t>
            </a:r>
          </a:p>
          <a:p>
            <a:r>
              <a:t>讲义印刷页：P93</a:t>
            </a:r>
          </a:p>
          <a:p>
            <a:r>
              <a:t>PDF 文件页：95</a:t>
            </a:r>
          </a:p>
          <a:p>
            <a:r>
              <a:t>题目保留原题空白；未补充答案。文字为可编辑内容，图形保留原图线条。</a:t>
            </a:r>
          </a:p>
          <a:p>
            <a:r>
              <a:t>OCR 重点复核位置（请对照原讲义检查公式、上下标和字符）：</a:t>
            </a:r>
          </a:p>
          <a:p>
            <a:r>
              <a:t>P93：H₂O</a:t>
            </a:r>
          </a:p>
          <a:p>
            <a:r>
              <a:t>P93：CO₂</a:t>
            </a:r>
          </a:p>
          <a:p>
            <a:r>
              <a:t>P93：6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5 / 单选题</a:t>
            </a:r>
          </a:p>
          <a:p>
            <a:r>
              <a:t>讲义印刷页：P93</a:t>
            </a:r>
          </a:p>
          <a:p>
            <a:r>
              <a:t>PDF 文件页：95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6 / 单选题</a:t>
            </a:r>
          </a:p>
          <a:p>
            <a:r>
              <a:t>讲义印刷页：P94</a:t>
            </a:r>
          </a:p>
          <a:p>
            <a:r>
              <a:t>PDF 文件页：96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7 / 单选题</a:t>
            </a:r>
          </a:p>
          <a:p>
            <a:r>
              <a:t>讲义印刷页：P94</a:t>
            </a:r>
          </a:p>
          <a:p>
            <a:r>
              <a:t>PDF 文件页：96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8 / 单选题</a:t>
            </a:r>
          </a:p>
          <a:p>
            <a:r>
              <a:t>讲义印刷页：P94</a:t>
            </a:r>
          </a:p>
          <a:p>
            <a:r>
              <a:t>PDF 文件页：96</a:t>
            </a:r>
          </a:p>
          <a:p>
            <a:r>
              <a:t>题目保留原题空白；未补充答案。文字为可编辑内容，图形保留原图线条。</a:t>
            </a:r>
          </a:p>
          <a:p>
            <a:r>
              <a:t>OCR 重点复核位置（请对照原讲义检查公式、上下标和字符）：</a:t>
            </a:r>
          </a:p>
          <a:p>
            <a:r>
              <a:t>P94：三</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原题定位：知识点3碳酸钠和碳酸氢钠 / 变式 9 / 填空题</a:t>
            </a:r>
          </a:p>
          <a:p>
            <a:r>
              <a:t>讲义印刷页：P95</a:t>
            </a:r>
          </a:p>
          <a:p>
            <a:r>
              <a:t>PDF 文件页：97</a:t>
            </a:r>
          </a:p>
          <a:p>
            <a:r>
              <a:t>题目保留原题空白；未补充答案。文字为可编辑内容，图形保留原图线条。</a:t>
            </a:r>
          </a:p>
          <a:p>
            <a:r>
              <a:t>OCR 重点复核位置（请对照原讲义检查公式、上下标和字符）：</a:t>
            </a:r>
          </a:p>
          <a:p>
            <a:r>
              <a:t>P95：Na₂CO₃</a:t>
            </a:r>
          </a:p>
          <a:p>
            <a:r>
              <a:t>P95：碱</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P96；PDF 文件第 98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P96；PDF 文件第 98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1 / 单选题</a:t>
            </a:r>
          </a:p>
          <a:p>
            <a:r>
              <a:t>讲义印刷页：P97</a:t>
            </a:r>
          </a:p>
          <a:p>
            <a:r>
              <a:t>PDF 文件页：99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2 / 单选题</a:t>
            </a:r>
          </a:p>
          <a:p>
            <a:r>
              <a:t>讲义印刷页：P97</a:t>
            </a:r>
          </a:p>
          <a:p>
            <a:r>
              <a:t>PDF 文件页：99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3 / 单选题</a:t>
            </a:r>
          </a:p>
          <a:p>
            <a:r>
              <a:t>讲义印刷页：P98</a:t>
            </a:r>
          </a:p>
          <a:p>
            <a:r>
              <a:t>PDF 文件页：100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4 / 单选题</a:t>
            </a:r>
          </a:p>
          <a:p>
            <a:r>
              <a:t>讲义印刷页：P98</a:t>
            </a:r>
          </a:p>
          <a:p>
            <a:r>
              <a:t>PDF 文件页：100</a:t>
            </a:r>
          </a:p>
          <a:p>
            <a:r>
              <a:t>题目保留原题空白；未补充答案。文字为可编辑内容，图形保留原图线条。</a:t>
            </a:r>
          </a:p>
          <a:p>
            <a:r>
              <a:t>OCR 重点复核位置（请对照原讲义检查公式、上下标和字符）：</a:t>
            </a:r>
          </a:p>
          <a:p>
            <a:r>
              <a:t>P98：→Na₂CO₃固体</a:t>
            </a:r>
          </a:p>
          <a:p>
            <a:r>
              <a:t>P98：①</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5 / 单选题</a:t>
            </a:r>
          </a:p>
          <a:p>
            <a:r>
              <a:t>讲义印刷页：P98</a:t>
            </a:r>
          </a:p>
          <a:p>
            <a:r>
              <a:t>PDF 文件页：100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例题 6 / 解答题</a:t>
            </a:r>
          </a:p>
          <a:p>
            <a:r>
              <a:t>讲义印刷页：P99</a:t>
            </a:r>
          </a:p>
          <a:p>
            <a:r>
              <a:t>PDF 文件页：101</a:t>
            </a:r>
          </a:p>
          <a:p>
            <a:r>
              <a:t>题目保留原题空白；未补充答案。文字为可编辑内容，图形保留原图线条。</a:t>
            </a:r>
          </a:p>
          <a:p>
            <a:r>
              <a:t>OCR 重点复核位置（请对照原讲义检查公式、上下标和字符）：</a:t>
            </a:r>
          </a:p>
          <a:p>
            <a:r>
              <a:t>P99：o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变式 1 / 单选题</a:t>
            </a:r>
          </a:p>
          <a:p>
            <a:r>
              <a:t>讲义印刷页：P99</a:t>
            </a:r>
          </a:p>
          <a:p>
            <a:r>
              <a:t>PDF 文件页：101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变式 2 / 单选题</a:t>
            </a:r>
          </a:p>
          <a:p>
            <a:r>
              <a:t>讲义印刷页：P99</a:t>
            </a:r>
          </a:p>
          <a:p>
            <a:r>
              <a:t>PDF 文件页：101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变式 3 / 单选题</a:t>
            </a:r>
          </a:p>
          <a:p>
            <a:r>
              <a:t>讲义印刷页：P100</a:t>
            </a:r>
          </a:p>
          <a:p>
            <a:r>
              <a:t>PDF 文件页：102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变式 4 / 解答题</a:t>
            </a:r>
          </a:p>
          <a:p>
            <a:r>
              <a:t>讲义印刷页：P100</a:t>
            </a:r>
          </a:p>
          <a:p>
            <a:r>
              <a:t>PDF 文件页：102</a:t>
            </a:r>
          </a:p>
          <a:p>
            <a:r>
              <a:t>题目保留原题空白；未补充答案。文字为可编辑内容，图形保留原图线条。</a:t>
            </a:r>
          </a:p>
          <a:p>
            <a:r>
              <a:t>OCR 重点复核位置（请对照原讲义检查公式、上下标和字符）：</a:t>
            </a:r>
          </a:p>
          <a:p>
            <a:r>
              <a:t>P100：o</a:t>
            </a:r>
          </a:p>
          <a:p>
            <a:r>
              <a:t>P100：一</a:t>
            </a:r>
          </a:p>
          <a:p>
            <a:r>
              <a:t>P100：一</a:t>
            </a:r>
          </a:p>
          <a:p>
            <a:r>
              <a:t>P100：.n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1 / 单选题</a:t>
            </a:r>
          </a:p>
          <a:p>
            <a:r>
              <a:t>讲义印刷页：P101</a:t>
            </a:r>
          </a:p>
          <a:p>
            <a:r>
              <a:t>PDF 文件页：103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2 / 单选题</a:t>
            </a:r>
          </a:p>
          <a:p>
            <a:r>
              <a:t>讲义印刷页：P101</a:t>
            </a:r>
          </a:p>
          <a:p>
            <a:r>
              <a:t>PDF 文件页：103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3 / 单选题</a:t>
            </a:r>
          </a:p>
          <a:p>
            <a:r>
              <a:t>讲义印刷页：P101</a:t>
            </a:r>
          </a:p>
          <a:p>
            <a:r>
              <a:t>PDF 文件页：103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4 / 单选题</a:t>
            </a:r>
          </a:p>
          <a:p>
            <a:r>
              <a:t>讲义印刷页：P101</a:t>
            </a:r>
          </a:p>
          <a:p>
            <a:r>
              <a:t>PDF 文件页：103</a:t>
            </a:r>
          </a:p>
          <a:p>
            <a:r>
              <a:t>题目保留原题空白；未补充答案。文字为可编辑内容，图形保留原图线条。</a:t>
            </a:r>
          </a:p>
          <a:p>
            <a:r>
              <a:t>OCR 重点复核位置（请对照原讲义检查公式、上下标和字符）：</a:t>
            </a:r>
          </a:p>
          <a:p>
            <a:r>
              <a:t>P101：Na₂CO₃₃</a:t>
            </a:r>
          </a:p>
          <a:p>
            <a:r>
              <a:t>P101：←NH₃</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5 / 单选题</a:t>
            </a:r>
          </a:p>
          <a:p>
            <a:r>
              <a:t>讲义印刷页：P102</a:t>
            </a:r>
          </a:p>
          <a:p>
            <a:r>
              <a:t>PDF 文件页：104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6 / 单选题</a:t>
            </a:r>
          </a:p>
          <a:p>
            <a:r>
              <a:t>讲义印刷页：P102</a:t>
            </a:r>
          </a:p>
          <a:p>
            <a:r>
              <a:t>PDF 文件页：104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7 / 单选题</a:t>
            </a:r>
          </a:p>
          <a:p>
            <a:r>
              <a:t>讲义印刷页：P102</a:t>
            </a:r>
          </a:p>
          <a:p>
            <a:r>
              <a:t>PDF 文件页：104</a:t>
            </a:r>
          </a:p>
          <a:p>
            <a:r>
              <a:t>题目保留原题空白；未补充答案。文字为可编辑内容，图形保留原图线条。</a:t>
            </a:r>
          </a:p>
          <a:p>
            <a:r>
              <a:t>OCR 重点复核位置（请对照原讲义检查公式、上下标和字符）：</a:t>
            </a:r>
          </a:p>
          <a:p>
            <a:r>
              <a:t>P102：Na₂CO₃₃</a:t>
            </a:r>
          </a:p>
          <a:p>
            <a:r>
              <a:t>P102：6</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8 / 填空题</a:t>
            </a:r>
          </a:p>
          <a:p>
            <a:r>
              <a:t>讲义印刷页：P102</a:t>
            </a:r>
          </a:p>
          <a:p>
            <a:r>
              <a:t>PDF 文件页：104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9 / 填空题</a:t>
            </a:r>
          </a:p>
          <a:p>
            <a:r>
              <a:t>讲义印刷页：P102, P103</a:t>
            </a:r>
          </a:p>
          <a:p>
            <a:r>
              <a:t>PDF 文件页：104, 105</a:t>
            </a:r>
          </a:p>
          <a:p>
            <a:r>
              <a:t>题目保留原题空白；未补充答案。文字为可编辑内容，图形保留原图线条。</a:t>
            </a:r>
          </a:p>
          <a:p>
            <a:r>
              <a:t>OCR 重点复核位置（请对照原讲义检查公式、上下标和字符）：</a:t>
            </a:r>
          </a:p>
          <a:p>
            <a:r>
              <a:t>P103：(反应③)</a:t>
            </a:r>
          </a:p>
          <a:p>
            <a:r>
              <a:t>P103：E</a:t>
            </a:r>
          </a:p>
          <a:p>
            <a:r>
              <a:t>P103：, C</a:t>
            </a:r>
          </a:p>
          <a:p>
            <a:r>
              <a:t>P103：o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10 / 解答题</a:t>
            </a:r>
          </a:p>
          <a:p>
            <a:r>
              <a:t>讲义印刷页：P103</a:t>
            </a:r>
          </a:p>
          <a:p>
            <a:r>
              <a:t>PDF 文件页：105</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P103：ⅢⅢ</a:t>
            </a:r>
          </a:p>
          <a:p>
            <a:r>
              <a:t>P103：-Na₂O₂</a:t>
            </a:r>
          </a:p>
          <a:p>
            <a:r>
              <a:t>P103：11</a:t>
            </a:r>
          </a:p>
          <a:p>
            <a:r>
              <a:t>P103：ⅡI</a:t>
            </a:r>
          </a:p>
          <a:p>
            <a:r>
              <a:t>P103：in</a:t>
            </a:r>
          </a:p>
          <a:p>
            <a:r>
              <a:t>P103：H</a:t>
            </a:r>
          </a:p>
          <a:p>
            <a:r>
              <a:t>P103：g→|→|</a:t>
            </a:r>
          </a:p>
          <a:p>
            <a:r>
              <a:t>P103：o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11 / 解答题</a:t>
            </a:r>
          </a:p>
          <a:p>
            <a:r>
              <a:t>讲义印刷页：P104</a:t>
            </a:r>
          </a:p>
          <a:p>
            <a:r>
              <a:t>PDF 文件页：106</a:t>
            </a:r>
          </a:p>
          <a:p>
            <a:r>
              <a:t>题目保留原题空白；未补充答案。文字为可编辑内容，图形保留原图线条。</a:t>
            </a:r>
          </a:p>
          <a:p>
            <a:r>
              <a:t>OCR 重点复核位置（请对照原讲义检查公式、上下标和字符）：</a:t>
            </a:r>
          </a:p>
          <a:p>
            <a:r>
              <a:t>P104：题：</a:t>
            </a:r>
          </a:p>
          <a:p>
            <a:r>
              <a:t>P104：Ⅲ</a:t>
            </a:r>
          </a:p>
          <a:p>
            <a:r>
              <a:t>P104：o</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12 / 解答题</a:t>
            </a:r>
          </a:p>
          <a:p>
            <a:r>
              <a:t>讲义印刷页：P104, P105</a:t>
            </a:r>
          </a:p>
          <a:p>
            <a:r>
              <a:t>PDF 文件页：106, 107</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P104：o</a:t>
            </a:r>
          </a:p>
          <a:p>
            <a:r>
              <a:t>P105：测量下述验理的#化</a:t>
            </a:r>
          </a:p>
          <a:p>
            <a:r>
              <a:t>P105：10mL 温清石灰水</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原题定位：知识点4焰色反应和侯式制碱法 / 巩固 13 / 填空题</a:t>
            </a:r>
          </a:p>
          <a:p>
            <a:r>
              <a:t>讲义印刷页：P106</a:t>
            </a:r>
          </a:p>
          <a:p>
            <a:r>
              <a:t>PDF 文件页：108</a:t>
            </a:r>
          </a:p>
          <a:p>
            <a:r>
              <a:t>题目保留原题空白；未补充答案。文字为可编辑内容，图形保留原图线条。</a:t>
            </a:r>
          </a:p>
          <a:p>
            <a:r>
              <a:t>OCR 重点复核位置（请对照原讲义检查公式、上下标和字符）：</a:t>
            </a:r>
          </a:p>
          <a:p>
            <a:r>
              <a:t>P106：H₂</a:t>
            </a:r>
          </a:p>
          <a:p>
            <a:r>
              <a:t>P106：NH₃、CO₂</a:t>
            </a:r>
          </a:p>
          <a:p>
            <a:r>
              <a:t>P106：O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P107；PDF 文件第 109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1 / 单选题</a:t>
            </a:r>
          </a:p>
          <a:p>
            <a:r>
              <a:t>讲义印刷页：P107</a:t>
            </a:r>
          </a:p>
          <a:p>
            <a:r>
              <a:t>PDF 文件页：109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2 / 单选题</a:t>
            </a:r>
          </a:p>
          <a:p>
            <a:r>
              <a:t>讲义印刷页：P107</a:t>
            </a:r>
          </a:p>
          <a:p>
            <a:r>
              <a:t>PDF 文件页：109</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3 / 单选题</a:t>
            </a:r>
          </a:p>
          <a:p>
            <a:r>
              <a:t>讲义印刷页：P108</a:t>
            </a:r>
          </a:p>
          <a:p>
            <a:r>
              <a:t>PDF 文件页：110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4 / 填空题</a:t>
            </a:r>
          </a:p>
          <a:p>
            <a:r>
              <a:t>讲义印刷页：P108</a:t>
            </a:r>
          </a:p>
          <a:p>
            <a:r>
              <a:t>PDF 文件页：110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5 / 填空题</a:t>
            </a:r>
          </a:p>
          <a:p>
            <a:r>
              <a:t>讲义印刷页：P108</a:t>
            </a:r>
          </a:p>
          <a:p>
            <a:r>
              <a:t>PDF 文件页：110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6 / 解答题</a:t>
            </a:r>
          </a:p>
          <a:p>
            <a:r>
              <a:t>讲义印刷页：P108</a:t>
            </a:r>
          </a:p>
          <a:p>
            <a:r>
              <a:t>PDF 文件页：110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P109；PDF 文件第 111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1 / 单选题</a:t>
            </a:r>
          </a:p>
          <a:p>
            <a:r>
              <a:t>讲义印刷页：P109</a:t>
            </a:r>
          </a:p>
          <a:p>
            <a:r>
              <a:t>PDF 文件页：111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2 / 解答题</a:t>
            </a:r>
          </a:p>
          <a:p>
            <a:r>
              <a:t>讲义印刷页：P109</a:t>
            </a:r>
          </a:p>
          <a:p>
            <a:r>
              <a:t>PDF 文件页：111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3 / 填空题</a:t>
            </a:r>
          </a:p>
          <a:p>
            <a:r>
              <a:t>讲义印刷页：P109</a:t>
            </a:r>
          </a:p>
          <a:p>
            <a:r>
              <a:t>PDF 文件页：111</a:t>
            </a:r>
          </a:p>
          <a:p>
            <a:r>
              <a:t>题目保留原题空白；未补充答案。文字为可编辑内容，图形保留原图线条。</a:t>
            </a:r>
          </a:p>
          <a:p>
            <a:r>
              <a:t>OCR 重点复核位置（请对照原讲义检查公式、上下标和字符）：</a:t>
            </a:r>
          </a:p>
          <a:p>
            <a:r>
              <a:t>P109：0</a:t>
            </a:r>
          </a:p>
          <a:p>
            <a:r>
              <a:t>P109：O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P110；PDF 文件第 112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P110；PDF 文件第 112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4 / 解答题</a:t>
            </a:r>
          </a:p>
          <a:p>
            <a:r>
              <a:t>讲义印刷页：P110</a:t>
            </a:r>
          </a:p>
          <a:p>
            <a:r>
              <a:t>PDF 文件页：112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5 / 解答题</a:t>
            </a:r>
          </a:p>
          <a:p>
            <a:r>
              <a:t>讲义印刷页：P110</a:t>
            </a:r>
          </a:p>
          <a:p>
            <a:r>
              <a:t>PDF 文件页：112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6 / 解答题</a:t>
            </a:r>
          </a:p>
          <a:p>
            <a:r>
              <a:t>讲义印刷页：P110</a:t>
            </a:r>
          </a:p>
          <a:p>
            <a:r>
              <a:t>PDF 文件页：112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1 / 单选题</a:t>
            </a:r>
          </a:p>
          <a:p>
            <a:r>
              <a:t>讲义印刷页：P111</a:t>
            </a:r>
          </a:p>
          <a:p>
            <a:r>
              <a:t>PDF 文件页：113</a:t>
            </a:r>
          </a:p>
          <a:p>
            <a:r>
              <a:t>题目保留原题空白；未补充答案。文字为可编辑内容，图形保留原图线条。</a:t>
            </a:r>
          </a:p>
          <a:p>
            <a:r>
              <a:t>OCR 重点复核位置（请对照原讲义检查公式、上下标和字符）：</a:t>
            </a:r>
          </a:p>
          <a:p>
            <a:r>
              <a:t>P111：7</a:t>
            </a:r>
          </a:p>
          <a:p>
            <a:r>
              <a:t>P111：0</a:t>
            </a:r>
          </a:p>
          <a:p>
            <a:r>
              <a:t>P111：0</a:t>
            </a:r>
          </a:p>
          <a:p>
            <a:r>
              <a:t>P111：0</a:t>
            </a:r>
          </a:p>
          <a:p>
            <a:r>
              <a:t>P111：0</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2 / 单选题</a:t>
            </a:r>
          </a:p>
          <a:p>
            <a:r>
              <a:t>讲义印刷页：P112</a:t>
            </a:r>
          </a:p>
          <a:p>
            <a:r>
              <a:t>PDF 文件页：114</a:t>
            </a:r>
          </a:p>
          <a:p>
            <a:r>
              <a:t>题目保留原题空白；未补充答案。文字为可编辑内容，图形保留原图线条。</a:t>
            </a:r>
          </a:p>
          <a:p>
            <a:r>
              <a:t>OCR 重点复核位置（请对照原讲义检查公式、上下标和字符）：</a:t>
            </a:r>
          </a:p>
          <a:p>
            <a:r>
              <a:t>P112：0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3 / 多选题</a:t>
            </a:r>
          </a:p>
          <a:p>
            <a:r>
              <a:t>讲义印刷页：P112</a:t>
            </a:r>
          </a:p>
          <a:p>
            <a:r>
              <a:t>PDF 文件页：114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4 / 单选题</a:t>
            </a:r>
          </a:p>
          <a:p>
            <a:r>
              <a:t>讲义印刷页：P112</a:t>
            </a:r>
          </a:p>
          <a:p>
            <a:r>
              <a:t>PDF 文件页：114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5 / 单选题</a:t>
            </a:r>
          </a:p>
          <a:p>
            <a:r>
              <a:t>讲义印刷页：P113</a:t>
            </a:r>
          </a:p>
          <a:p>
            <a:r>
              <a:t>PDF 文件页：115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6 / 单选题</a:t>
            </a:r>
          </a:p>
          <a:p>
            <a:r>
              <a:t>讲义印刷页：P113</a:t>
            </a:r>
          </a:p>
          <a:p>
            <a:r>
              <a:t>PDF 文件页：115</a:t>
            </a:r>
          </a:p>
          <a:p>
            <a:r>
              <a:t>题目保留原题空白；未补充答案。文字为可编辑内容，图形保留原图线条。</a:t>
            </a:r>
          </a:p>
          <a:p>
            <a:r>
              <a:t>OCR 重点复核位置（请对照原讲义检查公式、上下标和字符）：</a:t>
            </a:r>
          </a:p>
          <a:p>
            <a:r>
              <a:t>P113：[o</a:t>
            </a:r>
          </a:p>
          <a:p>
            <a:r>
              <a:t>P113：民访</a:t>
            </a:r>
          </a:p>
          <a:p>
            <a:r>
              <a:t>P113：Na₂CO₃₃</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7 / 单选题</a:t>
            </a:r>
          </a:p>
          <a:p>
            <a:r>
              <a:t>讲义印刷页：P113</a:t>
            </a:r>
          </a:p>
          <a:p>
            <a:r>
              <a:t>PDF 文件页：115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例题 8 / 解答题</a:t>
            </a:r>
          </a:p>
          <a:p>
            <a:r>
              <a:t>讲义印刷页：P114</a:t>
            </a:r>
          </a:p>
          <a:p>
            <a:r>
              <a:t>PDF 文件页：116</a:t>
            </a:r>
          </a:p>
          <a:p>
            <a:r>
              <a:t>题目保留原题空白；未补充答案。文字为可编辑内容，图形保留原图线条。</a:t>
            </a:r>
          </a:p>
          <a:p>
            <a:r>
              <a:t>OCR 重点复核位置（请对照原讲义检查公式、上下标和字符）：</a:t>
            </a:r>
          </a:p>
          <a:p>
            <a:r>
              <a:t>P114：V(CO₂)/mL</a:t>
            </a:r>
          </a:p>
          <a:p>
            <a:r>
              <a:t>P114：O</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1 / 单选题</a:t>
            </a:r>
          </a:p>
          <a:p>
            <a:r>
              <a:t>讲义印刷页：P114</a:t>
            </a:r>
          </a:p>
          <a:p>
            <a:r>
              <a:t>PDF 文件页：116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2 / 单选题</a:t>
            </a:r>
          </a:p>
          <a:p>
            <a:r>
              <a:t>讲义印刷页：P114</a:t>
            </a:r>
          </a:p>
          <a:p>
            <a:r>
              <a:t>PDF 文件页：116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3 / 单选题</a:t>
            </a:r>
          </a:p>
          <a:p>
            <a:r>
              <a:t>讲义印刷页：P115</a:t>
            </a:r>
          </a:p>
          <a:p>
            <a:r>
              <a:t>PDF 文件页：117</a:t>
            </a:r>
          </a:p>
          <a:p>
            <a:r>
              <a:t>题目保留原题空白；未补充答案。文字为可编辑内容，图形保留原图线条。</a:t>
            </a:r>
          </a:p>
          <a:p>
            <a:r>
              <a:t>OCR 重点复核位置（请对照原讲义检查公式、上下标和字符）：</a:t>
            </a:r>
          </a:p>
          <a:p>
            <a:r>
              <a:t>P115：V(CO₂)</a:t>
            </a:r>
          </a:p>
          <a:p>
            <a:r>
              <a:t>P115：V(CO)</a:t>
            </a:r>
          </a:p>
          <a:p>
            <a:r>
              <a:t>P115：V(CO,)</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4 / 填空题</a:t>
            </a:r>
          </a:p>
          <a:p>
            <a:r>
              <a:t>讲义印刷页：P115</a:t>
            </a:r>
          </a:p>
          <a:p>
            <a:r>
              <a:t>PDF 文件页：117</a:t>
            </a:r>
          </a:p>
          <a:p>
            <a:r>
              <a:t>题目保留原题空白；未补充答案。文字为可编辑内容，图形保留原图线条。</a:t>
            </a:r>
          </a:p>
          <a:p>
            <a:r>
              <a:t>OCR 重点复核位置（请对照原讲义检查公式、上下标和字符）：</a:t>
            </a:r>
          </a:p>
          <a:p>
            <a:r>
              <a:t>P115：0</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5 / 解答题</a:t>
            </a:r>
          </a:p>
          <a:p>
            <a:r>
              <a:t>讲义印刷页：P115</a:t>
            </a:r>
          </a:p>
          <a:p>
            <a:r>
              <a:t>PDF 文件页：117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6 / 填空题</a:t>
            </a:r>
          </a:p>
          <a:p>
            <a:r>
              <a:t>讲义印刷页：P115</a:t>
            </a:r>
          </a:p>
          <a:p>
            <a:r>
              <a:t>PDF 文件页：117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7 / 填空题</a:t>
            </a:r>
          </a:p>
          <a:p>
            <a:r>
              <a:t>讲义印刷页：P116</a:t>
            </a:r>
          </a:p>
          <a:p>
            <a:r>
              <a:t>PDF 文件页：118</a:t>
            </a:r>
          </a:p>
          <a:p>
            <a:r>
              <a:t>题目保留原题空白；未补充答案。文字为可编辑内容，图形保留原图线条。</a:t>
            </a:r>
          </a:p>
          <a:p>
            <a:r>
              <a:t>OCR 重点复核位置（请对照原讲义检查公式、上下标和字符）：</a:t>
            </a:r>
          </a:p>
          <a:p>
            <a:r>
              <a:t>P116：Lo</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原题定位：知识点5钠的计算（讲完物质的量再讲这部分） / 变式 8 / 解答题</a:t>
            </a:r>
          </a:p>
          <a:p>
            <a:r>
              <a:t>讲义印刷页：P116</a:t>
            </a:r>
          </a:p>
          <a:p>
            <a:r>
              <a:t>PDF 文件页：118</a:t>
            </a:r>
          </a:p>
          <a:p>
            <a:r>
              <a:t>题目保留原题空白；未补充答案。文字为可编辑内容，图形保留原图线条。</a:t>
            </a:r>
          </a:p>
          <a:p>
            <a:r>
              <a:t>OCR 重点复核位置（请对照原讲义检查公式、上下标和字符）：</a:t>
            </a:r>
          </a:p>
          <a:p>
            <a:r>
              <a:t>P116：o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6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notesSlide" Target="../notesSlides/notesSlide8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3.png"/><Relationship Id="rId4"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4.png"/><Relationship Id="rId4"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5.png"/><Relationship Id="rId4"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8.png"/><Relationship Id="rId4"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9.png"/><Relationship Id="rId4"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0.png"/><Relationship Id="rId4"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4.png"/><Relationship Id="rId4" Type="http://schemas.openxmlformats.org/officeDocument/2006/relationships/notesSlide" Target="../notesSlides/notesSlide10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钠及其化合物"/>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钠及其化合物</a:t>
            </a:r>
          </a:p>
        </p:txBody>
      </p:sp>
      <p:sp>
        <p:nvSpPr>
          <p:cNvPr id="4" name="文字_第 04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04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79–116"/>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P79–116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钠：结构、性质与保存"/>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钠：结构、性质与保存</a:t>
            </a:r>
          </a:p>
        </p:txBody>
      </p:sp>
      <p:sp>
        <p:nvSpPr>
          <p:cNvPr id="5" name="文字_知识梳理 · 讲义 P79"/>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钠：结构、性质与保存"/>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钠：结构、性质与保存</a:t>
            </a:r>
          </a:p>
        </p:txBody>
      </p:sp>
      <p:sp>
        <p:nvSpPr>
          <p:cNvPr id="5" name="文字_知识讲解 · P7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P79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a 原子核外电子排布为 2、8、1，容易失去最"/>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 原子核外电子排布为 2、8、1，容易失去最外层 1 个电子，表现强还原性。</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银白色、有金属光泽；质软、熔点低于 100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银白色、有金属光泽；质软、熔点低于 100 ℃；密度：水 &gt; 钠 &gt; 煤油。</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少量钠通常保存在煤油或石蜡油中，隔绝空气中的氧气"/>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少量钠通常保存在煤油或石蜡油中，隔绝空气中的氧气和水。</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工业制取：2NaCl(熔融) —电解→ 2Na "/>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工业制取：2NaCl(熔融) —电解→ 2Na + Cl₂↑。</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用途：钠钾合金可作导热剂；高压钠灯；制取 Na₂"/>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用途：钠钾合金可作导热剂；高压钠灯；制取 Na₂O₂；冶炼某些金属。</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钠与氧气、水和酸的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钠与氧气、水和酸的反应</a:t>
            </a:r>
          </a:p>
        </p:txBody>
      </p:sp>
      <p:sp>
        <p:nvSpPr>
          <p:cNvPr id="5" name="文字_知识讲解 · P7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P79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常温：4Na + O₂ = 2Na₂O，生成白色"/>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常温：4Na + O₂ = 2Na₂O，生成白色氧化钠。</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加热或点燃：2Na + O₂ = Na₂O₂，生"/>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加热或点燃：2Na + O₂ = Na₂O₂，生成淡黄色过氧化钠。</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与水：2Na + 2H₂O = 2NaOH + "/>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与水：2Na + 2H₂O = 2NaOH + H₂↑。</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离子方程式：2Na + 2H₂O = 2Na⁺ "/>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离子方程式：2Na + 2H₂O = 2Na⁺ + 2OH⁻ + H₂↑。</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与非氧化性酸：2Na + 2H⁺ = 2Na⁺ "/>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与非氧化性酸：2Na + 2H⁺ = 2Na⁺ + H₂↑；酸不足时剩余钠继续与水反应。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钠与水反应：“浮、熔、游、响、红”"/>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钠与水反应：“浮、熔、游、响、红”</a:t>
            </a:r>
          </a:p>
        </p:txBody>
      </p:sp>
      <p:sp>
        <p:nvSpPr>
          <p:cNvPr id="5" name="文字_知识讲解 · P7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P79</a:t>
            </a:r>
          </a:p>
        </p:txBody>
      </p:sp>
      <p:graphicFrame>
        <p:nvGraphicFramePr>
          <p:cNvPr id="6" name="Table 5"/>
          <p:cNvGraphicFramePr>
            <a:graphicFrameLocks noGrp="1"/>
          </p:cNvGraphicFramePr>
          <p:nvPr/>
        </p:nvGraphicFramePr>
        <p:xfrm>
          <a:off x="502920" y="1773936"/>
          <a:ext cx="11109960" cy="2913888"/>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现象</a:t>
                      </a:r>
                    </a:p>
                  </a:txBody>
                  <a:tcPr marL="91440" marR="91440" marT="45720" marB="45720" anchor="ctr">
                    <a:solidFill>
                      <a:srgbClr val="F1922F"/>
                    </a:solidFill>
                  </a:tcPr>
                </a:tc>
                <a:tc>
                  <a:txBody>
                    <a:bodyPr/>
                    <a:lstStyle/>
                    <a:p>
                      <a:pPr>
                        <a:defRPr sz="2000" b="1">
                          <a:solidFill>
                            <a:srgbClr val="FFFFFF"/>
                          </a:solidFill>
                          <a:latin typeface="微软雅黑"/>
                        </a:defRPr>
                      </a:pPr>
                      <a:r>
                        <a:t>原因</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浮在水面</a:t>
                      </a:r>
                    </a:p>
                  </a:txBody>
                  <a:tcPr marL="91440" marR="91440" marT="45720" marB="45720" anchor="ctr">
                    <a:solidFill>
                      <a:srgbClr val="FDF2E3"/>
                    </a:solidFill>
                  </a:tcPr>
                </a:tc>
                <a:tc>
                  <a:txBody>
                    <a:bodyPr/>
                    <a:lstStyle/>
                    <a:p>
                      <a:pPr>
                        <a:defRPr sz="2000" b="0">
                          <a:solidFill>
                            <a:srgbClr val="333333"/>
                          </a:solidFill>
                          <a:latin typeface="微软雅黑"/>
                        </a:defRPr>
                      </a:pPr>
                      <a:r>
                        <a:t>钠的密度比水小</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熔成小球</a:t>
                      </a:r>
                    </a:p>
                  </a:txBody>
                  <a:tcPr marL="91440" marR="91440" marT="45720" marB="45720" anchor="ctr">
                    <a:solidFill>
                      <a:srgbClr val="FFFFFF"/>
                    </a:solidFill>
                  </a:tcPr>
                </a:tc>
                <a:tc>
                  <a:txBody>
                    <a:bodyPr/>
                    <a:lstStyle/>
                    <a:p>
                      <a:pPr>
                        <a:defRPr sz="2000" b="0">
                          <a:solidFill>
                            <a:srgbClr val="333333"/>
                          </a:solidFill>
                          <a:latin typeface="微软雅黑"/>
                        </a:defRPr>
                      </a:pPr>
                      <a:r>
                        <a:t>反应放热，钠的熔点低</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四处游动</a:t>
                      </a:r>
                    </a:p>
                  </a:txBody>
                  <a:tcPr marL="91440" marR="91440" marT="45720" marB="45720" anchor="ctr">
                    <a:solidFill>
                      <a:srgbClr val="FDF2E3"/>
                    </a:solidFill>
                  </a:tcPr>
                </a:tc>
                <a:tc>
                  <a:txBody>
                    <a:bodyPr/>
                    <a:lstStyle/>
                    <a:p>
                      <a:pPr>
                        <a:defRPr sz="2000" b="0">
                          <a:solidFill>
                            <a:srgbClr val="333333"/>
                          </a:solidFill>
                          <a:latin typeface="微软雅黑"/>
                        </a:defRPr>
                      </a:pPr>
                      <a:r>
                        <a:t>产生的气体推动钠球</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发出响声</a:t>
                      </a:r>
                    </a:p>
                  </a:txBody>
                  <a:tcPr marL="91440" marR="91440" marT="45720" marB="45720" anchor="ctr">
                    <a:solidFill>
                      <a:srgbClr val="FFFFFF"/>
                    </a:solidFill>
                  </a:tcPr>
                </a:tc>
                <a:tc>
                  <a:txBody>
                    <a:bodyPr/>
                    <a:lstStyle/>
                    <a:p>
                      <a:pPr>
                        <a:defRPr sz="2000" b="0">
                          <a:solidFill>
                            <a:srgbClr val="333333"/>
                          </a:solidFill>
                          <a:latin typeface="微软雅黑"/>
                        </a:defRPr>
                      </a:pPr>
                      <a:r>
                        <a:t>反应剧烈，生成气体</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酚酞变红</a:t>
                      </a:r>
                    </a:p>
                  </a:txBody>
                  <a:tcPr marL="91440" marR="91440" marT="45720" marB="45720" anchor="ctr">
                    <a:solidFill>
                      <a:srgbClr val="FDF2E3"/>
                    </a:solidFill>
                  </a:tcPr>
                </a:tc>
                <a:tc>
                  <a:txBody>
                    <a:bodyPr/>
                    <a:lstStyle/>
                    <a:p>
                      <a:pPr>
                        <a:defRPr sz="2000" b="0">
                          <a:solidFill>
                            <a:srgbClr val="333333"/>
                          </a:solidFill>
                          <a:latin typeface="微软雅黑"/>
                        </a:defRPr>
                      </a:pPr>
                      <a:r>
                        <a:t>生成 NaOH，溶液显碱性</a:t>
                      </a:r>
                    </a:p>
                  </a:txBody>
                  <a:tcPr marL="91440" marR="91440" marT="45720" marB="45720" anchor="ctr">
                    <a:solidFill>
                      <a:srgbClr val="FDF2E3"/>
                    </a:solidFill>
                  </a:tcPr>
                </a:tc>
              </a:tr>
            </a:tbl>
          </a:graphicData>
        </a:graphic>
      </p:graphicFrame>
      <p:sp>
        <p:nvSpPr>
          <p:cNvPr id="7" name="Rectangle 6"/>
          <p:cNvSpPr/>
          <p:nvPr/>
        </p:nvSpPr>
        <p:spPr>
          <a:xfrm>
            <a:off x="493776" y="4824984"/>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金属钠着火用干燥沙土覆盖；不能用水或泡沫"/>
          <p:cNvSpPr txBox="1"/>
          <p:nvPr/>
        </p:nvSpPr>
        <p:spPr>
          <a:xfrm>
            <a:off x="630936" y="4884420"/>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金属钠着火用干燥沙土覆盖；不能用水或泡沫灭火。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钠与盐溶液：先考虑水"/>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钠与盐溶液：先考虑水</a:t>
            </a:r>
          </a:p>
        </p:txBody>
      </p:sp>
      <p:sp>
        <p:nvSpPr>
          <p:cNvPr id="5" name="文字_知识讲解 · P7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P79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在一般盐溶液中，先分析钠与水生成 NaOH 和 "/>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在一般盐溶液中，先分析钠与水生成 NaOH 和 H₂，再分析 NaOH 与盐是否反</a:t>
            </a:r>
          </a:p>
          <a:p>
            <a:pPr>
              <a:lnSpc>
                <a:spcPct val="112000"/>
              </a:lnSpc>
              <a:spcBef>
                <a:spcPts val="0"/>
              </a:spcBef>
              <a:spcAft>
                <a:spcPts val="0"/>
              </a:spcAft>
              <a:defRPr sz="2400" b="0">
                <a:solidFill>
                  <a:srgbClr val="333333"/>
                </a:solidFill>
                <a:latin typeface="微软雅黑"/>
              </a:defRPr>
            </a:pPr>
            <a:r>
              <a:rPr>
                <a:ea typeface="微软雅黑"/>
              </a:rPr>
              <a:t>应。</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加入 CuSO₄ 溶液：有气体产生，同时生成蓝色"/>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加入 CuSO₄ 溶液：有气体产生，同时生成蓝色 Cu(OH)₂ 沉淀。</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2Na + 2H₂O + CuSO₄ = Na₂"/>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2Na + 2H₂O + CuSO₄ = Na₂SO₄ + Cu(OH)₂↓ + H₂↑。</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加入 NaCl 溶液：通常只发生钠与水的反应；饱"/>
          <p:cNvSpPr txBox="1"/>
          <p:nvPr/>
        </p:nvSpPr>
        <p:spPr>
          <a:xfrm>
            <a:off x="722376" y="389229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加入 NaCl 溶液：通常只发生钠与水的反应；饱和溶液还需考虑水减少导致结晶</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4" name="Rectangle 13"/>
          <p:cNvSpPr/>
          <p:nvPr/>
        </p:nvSpPr>
        <p:spPr>
          <a:xfrm>
            <a:off x="512064" y="4928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与熔融盐的反应要另行分析，不能直接套用水溶液中的"/>
          <p:cNvSpPr txBox="1"/>
          <p:nvPr/>
        </p:nvSpPr>
        <p:spPr>
          <a:xfrm>
            <a:off x="722376" y="484632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与熔融盐的反应要另行分析，不能直接套用水溶液中的规律。</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不能写成钠直接从 CuSO₄ 水溶液中置"/>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不能写成钠直接从 CuSO₄ 水溶液中置换出铜。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例题1</a:t>
            </a:r>
          </a:p>
        </p:txBody>
      </p:sp>
      <p:sp>
        <p:nvSpPr>
          <p:cNvPr id="5" name="文字_P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P81</a:t>
            </a:r>
          </a:p>
        </p:txBody>
      </p:sp>
      <p:sp>
        <p:nvSpPr>
          <p:cNvPr id="6" name="文字_下列关于钠的叙述中，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下列关于钠的叙述中，不正确的是</a:t>
            </a:r>
          </a:p>
        </p:txBody>
      </p:sp>
      <p:sp>
        <p:nvSpPr>
          <p:cNvPr id="7" name="文字_A. 钠燃烧时发出黄色的火焰"/>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钠燃烧时发出黄色的火焰</a:t>
            </a:r>
          </a:p>
        </p:txBody>
      </p:sp>
      <p:sp>
        <p:nvSpPr>
          <p:cNvPr id="8" name="文字_B. 钠燃烧时生成氧化钠"/>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钠燃烧时生成氧化钠</a:t>
            </a:r>
          </a:p>
        </p:txBody>
      </p:sp>
      <p:sp>
        <p:nvSpPr>
          <p:cNvPr id="9" name="文字_C. 钠具有很强的还原性"/>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钠具有很强的还原性</a:t>
            </a:r>
          </a:p>
        </p:txBody>
      </p:sp>
      <p:sp>
        <p:nvSpPr>
          <p:cNvPr id="10" name="文字_D. 钠原子的最外电子层上只有1个电子"/>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钠原子的最外电子层上只有1个电子</a:t>
            </a:r>
          </a:p>
        </p:txBody>
      </p:sp>
      <p:sp>
        <p:nvSpPr>
          <p:cNvPr id="11" name="文字_单选题  ·  04-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04-001</a:t>
            </a:r>
          </a:p>
        </p:txBody>
      </p:sp>
      <p:sp>
        <p:nvSpPr>
          <p:cNvPr id="12"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例题2</a:t>
            </a:r>
          </a:p>
        </p:txBody>
      </p:sp>
      <p:sp>
        <p:nvSpPr>
          <p:cNvPr id="5" name="文字_P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P81</a:t>
            </a:r>
          </a:p>
        </p:txBody>
      </p:sp>
      <p:sp>
        <p:nvSpPr>
          <p:cNvPr id="6" name="文字_下列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下列叙述正确的是</a:t>
            </a:r>
          </a:p>
        </p:txBody>
      </p:sp>
      <p:sp>
        <p:nvSpPr>
          <p:cNvPr id="7" name="文字_A. 钠与水反应时，钠块沉入水底"/>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钠与水反应时，钠块沉入水底</a:t>
            </a:r>
          </a:p>
        </p:txBody>
      </p:sp>
      <p:sp>
        <p:nvSpPr>
          <p:cNvPr id="8" name="文字_B. 钠可用于冶炼金属、制造高压钠灯"/>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钠可用于冶炼金属、制造高压钠灯</a:t>
            </a:r>
          </a:p>
        </p:txBody>
      </p:sp>
      <p:sp>
        <p:nvSpPr>
          <p:cNvPr id="9" name="文字_C. 钠投入稀盐酸中，先与水反应生成NaOH，进"/>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钠投入稀盐酸中，先与水反应生成NaOH，进而与HCl反应生成NaCl和H₂O</a:t>
            </a:r>
          </a:p>
        </p:txBody>
      </p:sp>
      <p:sp>
        <p:nvSpPr>
          <p:cNvPr id="10" name="文字_D. 钠投入CuSO₄溶液中，有红色物质析出"/>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钠投入CuSO₄溶液中，有红色物质析出</a:t>
            </a:r>
          </a:p>
        </p:txBody>
      </p:sp>
      <p:sp>
        <p:nvSpPr>
          <p:cNvPr id="11" name="文字_单选题  ·  04-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04-002</a:t>
            </a:r>
          </a:p>
        </p:txBody>
      </p:sp>
      <p:sp>
        <p:nvSpPr>
          <p:cNvPr id="12"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例题3</a:t>
            </a:r>
          </a:p>
        </p:txBody>
      </p:sp>
      <p:sp>
        <p:nvSpPr>
          <p:cNvPr id="5" name="文字_P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P81</a:t>
            </a:r>
          </a:p>
        </p:txBody>
      </p:sp>
      <p:sp>
        <p:nvSpPr>
          <p:cNvPr id="6" name="文字_将金属钠放入盛有下列溶液的小烧杯中，既有气体，又"/>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将金属钠放入盛有下列溶液的小烧杯中，既有气体，又有白色沉淀产生的是</a:t>
            </a:r>
          </a:p>
        </p:txBody>
      </p:sp>
      <p:sp>
        <p:nvSpPr>
          <p:cNvPr id="7" name="文字_①MgSO₄溶液②Na₂SO₄溶液③饱和澄清石灰"/>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①MgSO₄溶液②Na₂SO₄溶液③饱和澄清石灰水④Ca(HCO₃)₂溶液⑤CuSO₄溶</a:t>
            </a:r>
          </a:p>
          <a:p>
            <a:pPr>
              <a:lnSpc>
                <a:spcPct val="112000"/>
              </a:lnSpc>
              <a:spcBef>
                <a:spcPts val="0"/>
              </a:spcBef>
              <a:spcAft>
                <a:spcPts val="0"/>
              </a:spcAft>
              <a:defRPr sz="2400" b="0">
                <a:solidFill>
                  <a:srgbClr val="333333"/>
                </a:solidFill>
                <a:latin typeface="微软雅黑"/>
              </a:defRPr>
            </a:pPr>
            <a:r>
              <a:rPr>
                <a:ea typeface="微软雅黑"/>
              </a:rPr>
              <a:t>液⑥饱和NaCl溶液。</a:t>
            </a:r>
          </a:p>
        </p:txBody>
      </p:sp>
      <p:sp>
        <p:nvSpPr>
          <p:cNvPr id="8" name="文字_A. ①④⑤⑥"/>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①④⑤⑥</a:t>
            </a:r>
          </a:p>
        </p:txBody>
      </p:sp>
      <p:sp>
        <p:nvSpPr>
          <p:cNvPr id="9" name="文字_B. ③④⑤⑥"/>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③④⑤⑥</a:t>
            </a:r>
          </a:p>
        </p:txBody>
      </p:sp>
      <p:sp>
        <p:nvSpPr>
          <p:cNvPr id="10" name="文字_C. ②③④⑥"/>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②③④⑥</a:t>
            </a:r>
          </a:p>
        </p:txBody>
      </p:sp>
      <p:sp>
        <p:nvSpPr>
          <p:cNvPr id="11" name="文字_D. ①③④⑥"/>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①③④⑥</a:t>
            </a:r>
          </a:p>
        </p:txBody>
      </p:sp>
      <p:sp>
        <p:nvSpPr>
          <p:cNvPr id="12" name="文字_单选题  ·  04-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04-003</a:t>
            </a:r>
          </a:p>
        </p:txBody>
      </p:sp>
      <p:sp>
        <p:nvSpPr>
          <p:cNvPr id="13"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例题4</a:t>
            </a:r>
          </a:p>
        </p:txBody>
      </p:sp>
      <p:sp>
        <p:nvSpPr>
          <p:cNvPr id="5" name="文字_P8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P81</a:t>
            </a:r>
          </a:p>
        </p:txBody>
      </p:sp>
      <p:sp>
        <p:nvSpPr>
          <p:cNvPr id="6" name="文字_金属钠的发现标志着电化学的黎明，其极度活泼的化学"/>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金属钠的发现标志着电化学的黎明，其极度活泼的化学性质(强还原性)令人印象深</a:t>
            </a:r>
          </a:p>
          <a:p>
            <a:pPr>
              <a:lnSpc>
                <a:spcPct val="112000"/>
              </a:lnSpc>
              <a:spcBef>
                <a:spcPts val="0"/>
              </a:spcBef>
              <a:spcAft>
                <a:spcPts val="0"/>
              </a:spcAft>
              <a:defRPr sz="2400" b="0">
                <a:solidFill>
                  <a:srgbClr val="333333"/>
                </a:solidFill>
                <a:latin typeface="微软雅黑"/>
              </a:defRPr>
            </a:pPr>
            <a:r>
              <a:rPr>
                <a:ea typeface="微软雅黑"/>
              </a:rPr>
              <a:t>刻，也决定了其特殊的保存方式。尽管单质钠本身危险，但基于其独特性质，它在</a:t>
            </a:r>
          </a:p>
          <a:p>
            <a:pPr>
              <a:lnSpc>
                <a:spcPct val="112000"/>
              </a:lnSpc>
              <a:spcBef>
                <a:spcPts val="0"/>
              </a:spcBef>
              <a:spcAft>
                <a:spcPts val="0"/>
              </a:spcAft>
              <a:defRPr sz="2400" b="0">
                <a:solidFill>
                  <a:srgbClr val="333333"/>
                </a:solidFill>
                <a:latin typeface="微软雅黑"/>
              </a:defRPr>
            </a:pPr>
            <a:r>
              <a:rPr>
                <a:ea typeface="微软雅黑"/>
              </a:rPr>
              <a:t>冶金、化工、能源及照明等领域发挥着不可替代的作用。下面有关描述正确的是</a:t>
            </a:r>
          </a:p>
        </p:txBody>
      </p:sp>
      <p:sp>
        <p:nvSpPr>
          <p:cNvPr id="7" name="文字_A. 钠投入到水中立即熔化成小球，说明其熔点低"/>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钠投入到水中立即熔化成小球，说明其熔点低</a:t>
            </a:r>
          </a:p>
        </p:txBody>
      </p:sp>
      <p:sp>
        <p:nvSpPr>
          <p:cNvPr id="8" name="文字_B. 实验室中取用后剩余的钠不能放回原试剂瓶中"/>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实验室中取用后剩余的钠不能放回原试剂瓶中</a:t>
            </a:r>
          </a:p>
        </p:txBody>
      </p:sp>
      <p:sp>
        <p:nvSpPr>
          <p:cNvPr id="9" name="文字_C. 用洁净的铂丝蘸取溶液在酒精灯火焰上灼烧，火"/>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用洁净的铂丝蘸取溶液在酒精灯火焰上灼烧，火焰呈黄色，说明该溶液中的溶质</a:t>
            </a:r>
          </a:p>
          <a:p>
            <a:pPr>
              <a:lnSpc>
                <a:spcPct val="112000"/>
              </a:lnSpc>
              <a:spcBef>
                <a:spcPts val="0"/>
              </a:spcBef>
              <a:spcAft>
                <a:spcPts val="0"/>
              </a:spcAft>
              <a:defRPr sz="2400" b="0">
                <a:solidFill>
                  <a:srgbClr val="333333"/>
                </a:solidFill>
                <a:latin typeface="微软雅黑"/>
              </a:defRPr>
            </a:pPr>
            <a:r>
              <a:rPr>
                <a:ea typeface="微软雅黑"/>
              </a:rPr>
              <a:t>一定含有钠盐</a:t>
            </a:r>
          </a:p>
        </p:txBody>
      </p:sp>
      <p:sp>
        <p:nvSpPr>
          <p:cNvPr id="10" name="文字_D. 工业上用电解饱和食盐水制取金属钠"/>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工业上用电解饱和食盐水制取金属钠</a:t>
            </a:r>
          </a:p>
        </p:txBody>
      </p:sp>
      <p:sp>
        <p:nvSpPr>
          <p:cNvPr id="11" name="文字_单选题  ·  04-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04-004</a:t>
            </a:r>
          </a:p>
        </p:txBody>
      </p:sp>
      <p:sp>
        <p:nvSpPr>
          <p:cNvPr id="12"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例题5</a:t>
            </a:r>
          </a:p>
        </p:txBody>
      </p:sp>
      <p:sp>
        <p:nvSpPr>
          <p:cNvPr id="5" name="文字_P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P82</a:t>
            </a:r>
          </a:p>
        </p:txBody>
      </p:sp>
      <p:sp>
        <p:nvSpPr>
          <p:cNvPr id="6" name="文字_将一块银白色的金属钠放在空气中会发生一系列的变化"/>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将一块银白色的金属钠放在空气中会发生一系列的变化：表面迅速变暗→“出汗”</a:t>
            </a:r>
          </a:p>
          <a:p>
            <a:pPr>
              <a:lnSpc>
                <a:spcPct val="112000"/>
              </a:lnSpc>
              <a:spcBef>
                <a:spcPts val="0"/>
              </a:spcBef>
              <a:spcAft>
                <a:spcPts val="0"/>
              </a:spcAft>
              <a:defRPr sz="2400" b="0">
                <a:solidFill>
                  <a:srgbClr val="333333"/>
                </a:solidFill>
                <a:latin typeface="微软雅黑"/>
              </a:defRPr>
            </a:pPr>
            <a:r>
              <a:rPr>
                <a:ea typeface="微软雅黑"/>
              </a:rPr>
              <a:t>→变成白色晶体→变成白色固体(粉末)，下列有关叙述正确的是</a:t>
            </a:r>
          </a:p>
        </p:txBody>
      </p:sp>
      <p:sp>
        <p:nvSpPr>
          <p:cNvPr id="7" name="文字_A. 表面迅速变暗是因为钠与空气中的氧气反应生成"/>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表面迅速变暗是因为钠与空气中的氧气反应生成了过氧化钠</a:t>
            </a:r>
          </a:p>
        </p:txBody>
      </p:sp>
      <p:sp>
        <p:nvSpPr>
          <p:cNvPr id="8" name="文字_B.“出汗”是因为生成的氢氧化钠吸收空气中的CO"/>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B.“出汗”是因为生成的氢氧化钠吸收空气中的CO₂在表面形成了溶液</a:t>
            </a:r>
          </a:p>
        </p:txBody>
      </p:sp>
      <p:sp>
        <p:nvSpPr>
          <p:cNvPr id="9" name="文字_C. 最后变成的白色粉末为碳酸氢钠"/>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最后变成的白色粉末为碳酸氢钠</a:t>
            </a:r>
          </a:p>
        </p:txBody>
      </p:sp>
      <p:sp>
        <p:nvSpPr>
          <p:cNvPr id="10" name="文字_D. 白色晶体变成粉末是碳酸钠晶体的风化"/>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白色晶体变成粉末是碳酸钠晶体的风化</a:t>
            </a:r>
          </a:p>
        </p:txBody>
      </p:sp>
      <p:sp>
        <p:nvSpPr>
          <p:cNvPr id="11" name="文字_单选题  ·  04-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04-005</a:t>
            </a:r>
          </a:p>
        </p:txBody>
      </p:sp>
      <p:sp>
        <p:nvSpPr>
          <p:cNvPr id="12"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例题6</a:t>
            </a:r>
          </a:p>
        </p:txBody>
      </p:sp>
      <p:sp>
        <p:nvSpPr>
          <p:cNvPr id="5" name="文字_P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P82</a:t>
            </a:r>
          </a:p>
        </p:txBody>
      </p:sp>
      <p:pic>
        <p:nvPicPr>
          <p:cNvPr id="6" name="Picture 5" descr="image.png"/>
          <p:cNvPicPr>
            <a:picLocks noChangeAspect="1"/>
          </p:cNvPicPr>
          <p:nvPr/>
        </p:nvPicPr>
        <p:blipFill>
          <a:blip r:embed="rId3"/>
          <a:stretch>
            <a:fillRect/>
          </a:stretch>
        </p:blipFill>
        <p:spPr>
          <a:xfrm>
            <a:off x="502920" y="1078992"/>
            <a:ext cx="11064240" cy="3300129"/>
          </a:xfrm>
          <a:prstGeom prst="rect">
            <a:avLst/>
          </a:prstGeom>
        </p:spPr>
      </p:pic>
      <p:sp>
        <p:nvSpPr>
          <p:cNvPr id="7" name="原题文字_82_12"/>
          <p:cNvSpPr txBox="1"/>
          <p:nvPr/>
        </p:nvSpPr>
        <p:spPr>
          <a:xfrm>
            <a:off x="594802" y="1087905"/>
            <a:ext cx="294917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研究金属钠的性质，实验如下：</a:t>
            </a:r>
          </a:p>
        </p:txBody>
      </p:sp>
      <p:sp>
        <p:nvSpPr>
          <p:cNvPr id="8" name="原题文字_82_13"/>
          <p:cNvSpPr txBox="1"/>
          <p:nvPr/>
        </p:nvSpPr>
        <p:spPr>
          <a:xfrm>
            <a:off x="2233382" y="1493721"/>
            <a:ext cx="996664"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实验方案</a:t>
            </a:r>
          </a:p>
        </p:txBody>
      </p:sp>
      <p:sp>
        <p:nvSpPr>
          <p:cNvPr id="9" name="原题文字_82_14"/>
          <p:cNvSpPr txBox="1"/>
          <p:nvPr/>
        </p:nvSpPr>
        <p:spPr>
          <a:xfrm>
            <a:off x="602459" y="1692801"/>
            <a:ext cx="101963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实验装置</a:t>
            </a:r>
          </a:p>
        </p:txBody>
      </p:sp>
      <p:sp>
        <p:nvSpPr>
          <p:cNvPr id="10" name="原题文字_82_15"/>
          <p:cNvSpPr txBox="1"/>
          <p:nvPr/>
        </p:nvSpPr>
        <p:spPr>
          <a:xfrm>
            <a:off x="2218068" y="1891880"/>
            <a:ext cx="69804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液体a</a:t>
            </a:r>
          </a:p>
        </p:txBody>
      </p:sp>
      <p:sp>
        <p:nvSpPr>
          <p:cNvPr id="11" name="原题文字_82_16"/>
          <p:cNvSpPr txBox="1"/>
          <p:nvPr/>
        </p:nvSpPr>
        <p:spPr>
          <a:xfrm>
            <a:off x="3803049" y="1891880"/>
            <a:ext cx="606161"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现象</a:t>
            </a:r>
          </a:p>
        </p:txBody>
      </p:sp>
      <p:sp>
        <p:nvSpPr>
          <p:cNvPr id="12" name="原题文字_82_17"/>
          <p:cNvSpPr txBox="1"/>
          <p:nvPr/>
        </p:nvSpPr>
        <p:spPr>
          <a:xfrm>
            <a:off x="1467691" y="2282383"/>
            <a:ext cx="789927"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金属钠</a:t>
            </a:r>
          </a:p>
        </p:txBody>
      </p:sp>
      <p:sp>
        <p:nvSpPr>
          <p:cNvPr id="13" name="原题文字_82_18"/>
          <p:cNvSpPr txBox="1"/>
          <p:nvPr/>
        </p:nvSpPr>
        <p:spPr>
          <a:xfrm>
            <a:off x="2218068" y="2389580"/>
            <a:ext cx="805241"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蒸馏水</a:t>
            </a:r>
          </a:p>
        </p:txBody>
      </p:sp>
      <p:sp>
        <p:nvSpPr>
          <p:cNvPr id="14" name="原题文字_82_19"/>
          <p:cNvSpPr txBox="1"/>
          <p:nvPr/>
        </p:nvSpPr>
        <p:spPr>
          <a:xfrm>
            <a:off x="3818363" y="2412551"/>
            <a:ext cx="384503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I. 钠浮在水面，剧烈反应，有少量白雾</a:t>
            </a:r>
          </a:p>
        </p:txBody>
      </p:sp>
      <p:sp>
        <p:nvSpPr>
          <p:cNvPr id="15" name="原题文字_82_20"/>
          <p:cNvSpPr txBox="1"/>
          <p:nvPr/>
        </p:nvSpPr>
        <p:spPr>
          <a:xfrm>
            <a:off x="2241039" y="2994476"/>
            <a:ext cx="548361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0.1mol·L-1盐酸Ⅱ. 钠浮在液面，剧烈反应，有白雾产生</a:t>
            </a:r>
          </a:p>
        </p:txBody>
      </p:sp>
      <p:sp>
        <p:nvSpPr>
          <p:cNvPr id="16" name="原题文字_82_21"/>
          <p:cNvSpPr txBox="1"/>
          <p:nvPr/>
        </p:nvSpPr>
        <p:spPr>
          <a:xfrm>
            <a:off x="2218068" y="3530460"/>
            <a:ext cx="80524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浓盐酸</a:t>
            </a:r>
          </a:p>
        </p:txBody>
      </p:sp>
      <p:sp>
        <p:nvSpPr>
          <p:cNvPr id="17" name="原题文字_82_22"/>
          <p:cNvSpPr txBox="1"/>
          <p:nvPr/>
        </p:nvSpPr>
        <p:spPr>
          <a:xfrm>
            <a:off x="3833677" y="3561088"/>
            <a:ext cx="666278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 钠浮在液面，反应比Ⅱ缓慢，产生大量白雾，烧杯底部有白色固体</a:t>
            </a:r>
          </a:p>
        </p:txBody>
      </p:sp>
      <p:sp>
        <p:nvSpPr>
          <p:cNvPr id="18" name="原题文字_82_23"/>
          <p:cNvSpPr txBox="1"/>
          <p:nvPr/>
        </p:nvSpPr>
        <p:spPr>
          <a:xfrm>
            <a:off x="763255" y="3660627"/>
            <a:ext cx="1241685" cy="348389"/>
          </a:xfrm>
          <a:prstGeom prst="rect">
            <a:avLst/>
          </a:prstGeom>
          <a:noFill/>
        </p:spPr>
        <p:txBody>
          <a:bodyPr wrap="none" lIns="0" rIns="0" tIns="0" bIns="0">
            <a:spAutoFit/>
          </a:bodyPr>
          <a:lstStyle/>
          <a:p>
            <a:pPr>
              <a:lnSpc>
                <a:spcPct val="112000"/>
              </a:lnSpc>
              <a:spcBef>
                <a:spcPts val="0"/>
              </a:spcBef>
              <a:spcAft>
                <a:spcPts val="0"/>
              </a:spcAft>
              <a:defRPr sz="1638" b="0">
                <a:solidFill>
                  <a:srgbClr val="333333"/>
                </a:solidFill>
                <a:latin typeface="微软雅黑"/>
              </a:defRPr>
            </a:pPr>
            <a:r>
              <a:rPr>
                <a:ea typeface="微软雅黑"/>
              </a:rPr>
              <a:t>50 mL 液体 a</a:t>
            </a:r>
          </a:p>
        </p:txBody>
      </p:sp>
      <p:sp>
        <p:nvSpPr>
          <p:cNvPr id="19" name="原题文字_82_24"/>
          <p:cNvSpPr txBox="1"/>
          <p:nvPr/>
        </p:nvSpPr>
        <p:spPr>
          <a:xfrm>
            <a:off x="602459" y="4074101"/>
            <a:ext cx="179298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下列说法错误的是</a:t>
            </a:r>
          </a:p>
        </p:txBody>
      </p:sp>
      <p:sp>
        <p:nvSpPr>
          <p:cNvPr id="20" name="文字_A. ⅡI中反应的离子方程式为： 2Na + 2"/>
          <p:cNvSpPr txBox="1"/>
          <p:nvPr/>
        </p:nvSpPr>
        <p:spPr>
          <a:xfrm>
            <a:off x="502920" y="445227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ⅡI中反应的离子方程式为： 2Na + 2H+ = 2Na+ + H₂ ↑</a:t>
            </a:r>
          </a:p>
        </p:txBody>
      </p:sp>
      <p:sp>
        <p:nvSpPr>
          <p:cNvPr id="21" name="文字_B. I中反应剧烈程度不如I原因为浓盐酸中溶质主"/>
          <p:cNvSpPr txBox="1"/>
          <p:nvPr/>
        </p:nvSpPr>
        <p:spPr>
          <a:xfrm>
            <a:off x="502920" y="489118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I中反应剧烈程度不如I原因为浓盐酸中溶质主要以HCl分子形式存在，c(H+)小</a:t>
            </a:r>
          </a:p>
        </p:txBody>
      </p:sp>
      <p:sp>
        <p:nvSpPr>
          <p:cNvPr id="22" name="文字_C. 实验I、Ⅱ、Ⅲ均有白雾产生，说明Na与水或"/>
          <p:cNvSpPr txBox="1"/>
          <p:nvPr/>
        </p:nvSpPr>
        <p:spPr>
          <a:xfrm>
            <a:off x="502920" y="533009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实验I、Ⅱ、Ⅲ均有白雾产生，说明Na与水或酸反应均放出大量热</a:t>
            </a:r>
          </a:p>
        </p:txBody>
      </p:sp>
      <p:sp>
        <p:nvSpPr>
          <p:cNvPr id="23" name="文字_D. 推测ⅢI中烧杯底部白色固体为NaCl"/>
          <p:cNvSpPr txBox="1"/>
          <p:nvPr/>
        </p:nvSpPr>
        <p:spPr>
          <a:xfrm>
            <a:off x="502920" y="576900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推测ⅢI中烧杯底部白色固体为NaCl</a:t>
            </a:r>
          </a:p>
        </p:txBody>
      </p:sp>
      <p:sp>
        <p:nvSpPr>
          <p:cNvPr id="24" name="文字_单选题  ·  04-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04-006</a:t>
            </a:r>
          </a:p>
        </p:txBody>
      </p:sp>
      <p:sp>
        <p:nvSpPr>
          <p:cNvPr id="25"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变式1</a:t>
            </a:r>
          </a:p>
        </p:txBody>
      </p:sp>
      <p:sp>
        <p:nvSpPr>
          <p:cNvPr id="5" name="文字_P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P82</a:t>
            </a:r>
          </a:p>
        </p:txBody>
      </p:sp>
      <p:sp>
        <p:nvSpPr>
          <p:cNvPr id="6" name="文字_取一块金属钠放在燃烧匙里加热，观察到下列现象：①"/>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取一块金属钠放在燃烧匙里加热，观察到下列现象：①金属先熔化；②在空气中燃</a:t>
            </a:r>
          </a:p>
          <a:p>
            <a:pPr>
              <a:lnSpc>
                <a:spcPct val="112000"/>
              </a:lnSpc>
              <a:spcBef>
                <a:spcPts val="0"/>
              </a:spcBef>
              <a:spcAft>
                <a:spcPts val="0"/>
              </a:spcAft>
              <a:defRPr sz="2400" b="0">
                <a:solidFill>
                  <a:srgbClr val="333333"/>
                </a:solidFill>
                <a:latin typeface="微软雅黑"/>
              </a:defRPr>
            </a:pPr>
            <a:r>
              <a:rPr>
                <a:ea typeface="微软雅黑"/>
              </a:rPr>
              <a:t>烧，表面变暗；③燃烧后得到白色固体；④燃烧后火焰为黄色；⑤燃烧后生成浅黄</a:t>
            </a:r>
          </a:p>
          <a:p>
            <a:pPr>
              <a:lnSpc>
                <a:spcPct val="112000"/>
              </a:lnSpc>
              <a:spcBef>
                <a:spcPts val="0"/>
              </a:spcBef>
              <a:spcAft>
                <a:spcPts val="0"/>
              </a:spcAft>
              <a:defRPr sz="2400" b="0">
                <a:solidFill>
                  <a:srgbClr val="333333"/>
                </a:solidFill>
                <a:latin typeface="微软雅黑"/>
              </a:defRPr>
            </a:pPr>
            <a:r>
              <a:rPr>
                <a:ea typeface="微软雅黑"/>
              </a:rPr>
              <a:t>色固体物质。描述正确的是（）</a:t>
            </a:r>
          </a:p>
        </p:txBody>
      </p:sp>
      <p:sp>
        <p:nvSpPr>
          <p:cNvPr id="7" name="文字_A. ①②"/>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a:t>
            </a:r>
          </a:p>
        </p:txBody>
      </p:sp>
      <p:sp>
        <p:nvSpPr>
          <p:cNvPr id="8" name="文字_B. ①②③"/>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①②③</a:t>
            </a:r>
          </a:p>
        </p:txBody>
      </p:sp>
      <p:sp>
        <p:nvSpPr>
          <p:cNvPr id="9" name="文字_C. ①④"/>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①④</a:t>
            </a:r>
          </a:p>
        </p:txBody>
      </p:sp>
      <p:sp>
        <p:nvSpPr>
          <p:cNvPr id="10" name="文字_D. ①④⑤"/>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①④⑤</a:t>
            </a:r>
          </a:p>
        </p:txBody>
      </p:sp>
      <p:sp>
        <p:nvSpPr>
          <p:cNvPr id="11" name="文字_单选题  ·  04-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04-007</a:t>
            </a:r>
          </a:p>
        </p:txBody>
      </p:sp>
      <p:sp>
        <p:nvSpPr>
          <p:cNvPr id="12"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变式2</a:t>
            </a:r>
          </a:p>
        </p:txBody>
      </p:sp>
      <p:sp>
        <p:nvSpPr>
          <p:cNvPr id="5" name="文字_P8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P82</a:t>
            </a:r>
          </a:p>
        </p:txBody>
      </p:sp>
      <p:sp>
        <p:nvSpPr>
          <p:cNvPr id="6" name="文字_下列有关Na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下列有关Na的说法正确的是（）</a:t>
            </a:r>
          </a:p>
        </p:txBody>
      </p:sp>
      <p:sp>
        <p:nvSpPr>
          <p:cNvPr id="7" name="文字_A. 将Na投入一个标准大气压下的开水中，可观察"/>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将Na投入一个标准大气压下的开水中，可观察到Na逐渐融化，说明Na的熔点</a:t>
            </a:r>
          </a:p>
          <a:p>
            <a:pPr>
              <a:lnSpc>
                <a:spcPct val="112000"/>
              </a:lnSpc>
              <a:spcBef>
                <a:spcPts val="0"/>
              </a:spcBef>
              <a:spcAft>
                <a:spcPts val="0"/>
              </a:spcAft>
              <a:defRPr sz="2400" b="0">
                <a:solidFill>
                  <a:srgbClr val="333333"/>
                </a:solidFill>
                <a:latin typeface="微软雅黑"/>
              </a:defRPr>
            </a:pPr>
            <a:r>
              <a:rPr>
                <a:ea typeface="微软雅黑"/>
              </a:rPr>
              <a:t>低于100℃</a:t>
            </a:r>
          </a:p>
        </p:txBody>
      </p:sp>
      <p:sp>
        <p:nvSpPr>
          <p:cNvPr id="8" name="文字_B. Na与稀盐酸的反应比Na与水的反应更剧烈"/>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Na与稀盐酸的反应比Na与水的反应更剧烈</a:t>
            </a:r>
          </a:p>
        </p:txBody>
      </p:sp>
      <p:sp>
        <p:nvSpPr>
          <p:cNvPr id="9" name="文字_C. Na与FeSO₄溶液反应可以置换出铁单质"/>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Na与FeSO₄溶液反应可以置换出铁单质</a:t>
            </a:r>
          </a:p>
        </p:txBody>
      </p:sp>
      <p:sp>
        <p:nvSpPr>
          <p:cNvPr id="10" name="文字_D. Na在常温下的氧化产物与燃烧时的氧化产物相"/>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Na在常温下的氧化产物与燃烧时的氧化产物相同</a:t>
            </a:r>
          </a:p>
        </p:txBody>
      </p:sp>
      <p:sp>
        <p:nvSpPr>
          <p:cNvPr id="11" name="文字_单选题  ·  04-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04-008</a:t>
            </a:r>
          </a:p>
        </p:txBody>
      </p:sp>
      <p:sp>
        <p:nvSpPr>
          <p:cNvPr id="12"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变式3</a:t>
            </a:r>
          </a:p>
        </p:txBody>
      </p:sp>
      <p:sp>
        <p:nvSpPr>
          <p:cNvPr id="5" name="文字_P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P83</a:t>
            </a:r>
          </a:p>
        </p:txBody>
      </p:sp>
      <p:sp>
        <p:nvSpPr>
          <p:cNvPr id="6" name="文字_已知液氨(密度为0.617g/cm3)与钠的反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已知液氨(密度为0.617g/cm3)与钠的反应和水与钠的反应相似： 2NH₃ + 2Na = </a:t>
            </a:r>
          </a:p>
          <a:p>
            <a:pPr>
              <a:lnSpc>
                <a:spcPct val="112000"/>
              </a:lnSpc>
              <a:spcBef>
                <a:spcPts val="0"/>
              </a:spcBef>
              <a:spcAft>
                <a:spcPts val="0"/>
              </a:spcAft>
              <a:defRPr sz="2400" b="0">
                <a:solidFill>
                  <a:srgbClr val="333333"/>
                </a:solidFill>
                <a:latin typeface="微软雅黑"/>
              </a:defRPr>
            </a:pPr>
            <a:r>
              <a:rPr>
                <a:ea typeface="微软雅黑"/>
              </a:rPr>
              <a:t>2NaNH₂ + H₂ ↑，NaNH₂易溶于液氨。下列说法正确的是</a:t>
            </a:r>
          </a:p>
        </p:txBody>
      </p:sp>
      <p:sp>
        <p:nvSpPr>
          <p:cNvPr id="7" name="文字_A. 该反应属于置换反应"/>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该反应属于置换反应</a:t>
            </a:r>
          </a:p>
        </p:txBody>
      </p:sp>
      <p:sp>
        <p:nvSpPr>
          <p:cNvPr id="8" name="文字_B. 将金属钠投入到液氨中，钠会浮在液面上四处游"/>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将金属钠投入到液氨中，钠会浮在液面上四处游动</a:t>
            </a:r>
          </a:p>
        </p:txBody>
      </p:sp>
      <p:sp>
        <p:nvSpPr>
          <p:cNvPr id="9" name="文字_C. 将金属钠投入到液氨中，会发出轻微的爆鸣声"/>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将金属钠投入到液氨中，会发出轻微的爆鸣声</a:t>
            </a:r>
          </a:p>
        </p:txBody>
      </p:sp>
      <p:sp>
        <p:nvSpPr>
          <p:cNvPr id="10" name="文字_D. 钠与液氨的反应中NH₃为氧化剂，NaNH₂"/>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钠与液氨的反应中NH₃为氧化剂，NaNH₂为还原产物</a:t>
            </a:r>
          </a:p>
        </p:txBody>
      </p:sp>
      <p:sp>
        <p:nvSpPr>
          <p:cNvPr id="11" name="文字_单选题  ·  04-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04-009</a:t>
            </a:r>
          </a:p>
        </p:txBody>
      </p:sp>
      <p:sp>
        <p:nvSpPr>
          <p:cNvPr id="12"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变式4</a:t>
            </a:r>
          </a:p>
        </p:txBody>
      </p:sp>
      <p:sp>
        <p:nvSpPr>
          <p:cNvPr id="5" name="文字_P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P83</a:t>
            </a:r>
          </a:p>
        </p:txBody>
      </p:sp>
      <p:sp>
        <p:nvSpPr>
          <p:cNvPr id="6" name="文字_向溶液X中投入一小块钠，下列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向溶液X中投入一小块钠，下列说法错误的是（）</a:t>
            </a:r>
          </a:p>
        </p:txBody>
      </p:sp>
      <p:sp>
        <p:nvSpPr>
          <p:cNvPr id="7" name="文字_A. 若X为FeCl₃溶液，则有红褐色沉淀生成"/>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若X为FeCl₃溶液，则有红褐色沉淀生成</a:t>
            </a:r>
          </a:p>
        </p:txBody>
      </p:sp>
      <p:sp>
        <p:nvSpPr>
          <p:cNvPr id="8" name="文字_B. 若X为CuSO₄溶液，则有红色沉淀生成"/>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若X为CuSO₄溶液，则有红色沉淀生成</a:t>
            </a:r>
          </a:p>
        </p:txBody>
      </p:sp>
      <p:sp>
        <p:nvSpPr>
          <p:cNvPr id="9" name="文字_C. 若X为稀盐酸，则反应后溶液的pH增大"/>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若X为稀盐酸，则反应后溶液的pH增大</a:t>
            </a:r>
          </a:p>
        </p:txBody>
      </p:sp>
      <p:sp>
        <p:nvSpPr>
          <p:cNvPr id="10" name="文字_D. 若X为NaOH饱和溶液，则恢复至室温后有白"/>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若X为NaOH饱和溶液，则恢复至室温后有白色固体析出</a:t>
            </a:r>
          </a:p>
        </p:txBody>
      </p:sp>
      <p:sp>
        <p:nvSpPr>
          <p:cNvPr id="11" name="文字_单选题  ·  04-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04-010</a:t>
            </a:r>
          </a:p>
        </p:txBody>
      </p:sp>
      <p:sp>
        <p:nvSpPr>
          <p:cNvPr id="12"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变式5</a:t>
            </a:r>
          </a:p>
        </p:txBody>
      </p:sp>
      <p:sp>
        <p:nvSpPr>
          <p:cNvPr id="5" name="文字_P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P83</a:t>
            </a:r>
          </a:p>
        </p:txBody>
      </p:sp>
      <p:sp>
        <p:nvSpPr>
          <p:cNvPr id="6" name="文字_向硫酸铜溶液中加入一小块金属钠后，观察到的现象有"/>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向硫酸铜溶液中加入一小块金属钠后，观察到的现象有</a:t>
            </a:r>
          </a:p>
        </p:txBody>
      </p:sp>
      <p:sp>
        <p:nvSpPr>
          <p:cNvPr id="7" name="文字_①钠浮于液面上②熔化成小球③发出嘶嘶的响声，放出"/>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①钠浮于液面上②熔化成小球③发出嘶嘶的响声，放出气体</a:t>
            </a:r>
          </a:p>
        </p:txBody>
      </p:sp>
      <p:sp>
        <p:nvSpPr>
          <p:cNvPr id="8" name="文字_④钠周围蓝色沉淀部分变黑 ⑤有蓝色沉淀产生 ⑥析"/>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④钠周围蓝色沉淀部分变黑 ⑤有蓝色沉淀产生 ⑥析出大量红色的铜</a:t>
            </a:r>
          </a:p>
        </p:txBody>
      </p:sp>
      <p:sp>
        <p:nvSpPr>
          <p:cNvPr id="9" name="文字_⑦小球在溶液中沉浮⑧小球在液面上游动、逐渐变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⑦小球在溶液中沉浮⑧小球在液面上游动、逐渐变小，直至消失</a:t>
            </a:r>
          </a:p>
        </p:txBody>
      </p:sp>
      <p:sp>
        <p:nvSpPr>
          <p:cNvPr id="10" name="文字_A. ①②③④⑤⑥"/>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①②③④⑤⑥</a:t>
            </a:r>
          </a:p>
        </p:txBody>
      </p:sp>
      <p:sp>
        <p:nvSpPr>
          <p:cNvPr id="11" name="文字_B. ①②③④⑤⑧"/>
          <p:cNvSpPr txBox="1"/>
          <p:nvPr/>
        </p:nvSpPr>
        <p:spPr>
          <a:xfrm>
            <a:off x="502920" y="32735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①②③④⑤⑧</a:t>
            </a:r>
          </a:p>
        </p:txBody>
      </p:sp>
      <p:sp>
        <p:nvSpPr>
          <p:cNvPr id="12" name="文字_C. ①②③⑥⑧"/>
          <p:cNvSpPr txBox="1"/>
          <p:nvPr/>
        </p:nvSpPr>
        <p:spPr>
          <a:xfrm>
            <a:off x="502920" y="37124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①②③⑥⑧</a:t>
            </a:r>
          </a:p>
        </p:txBody>
      </p:sp>
      <p:sp>
        <p:nvSpPr>
          <p:cNvPr id="13" name="文字_D. ②⑥⑦"/>
          <p:cNvSpPr txBox="1"/>
          <p:nvPr/>
        </p:nvSpPr>
        <p:spPr>
          <a:xfrm>
            <a:off x="502920" y="41513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②⑥⑦</a:t>
            </a:r>
          </a:p>
        </p:txBody>
      </p:sp>
      <p:sp>
        <p:nvSpPr>
          <p:cNvPr id="14" name="文字_单选题  ·  04-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04-011</a:t>
            </a:r>
          </a:p>
        </p:txBody>
      </p:sp>
      <p:sp>
        <p:nvSpPr>
          <p:cNvPr id="15"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物理和化学性质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钠的物理和化学性质 · 变式6</a:t>
            </a:r>
          </a:p>
        </p:txBody>
      </p:sp>
      <p:sp>
        <p:nvSpPr>
          <p:cNvPr id="5" name="文字_P8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P83</a:t>
            </a:r>
          </a:p>
        </p:txBody>
      </p:sp>
      <p:sp>
        <p:nvSpPr>
          <p:cNvPr id="6" name="文字_在实验室里，某同学取一小块金属钠做钠与水反应的实"/>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在实验室里，某同学取一小块金属钠做钠与水反应的实验。试完成下列问题：</a:t>
            </a:r>
          </a:p>
        </p:txBody>
      </p:sp>
      <p:sp>
        <p:nvSpPr>
          <p:cNvPr id="7" name="文字_(1)切开的金属钠暴露在空气中，最先观察到的现象"/>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(1)切开的金属钠暴露在空气中，最先观察到的现象是 ______ ，所发生反应的化学</a:t>
            </a:r>
          </a:p>
          <a:p>
            <a:pPr>
              <a:lnSpc>
                <a:spcPct val="112000"/>
              </a:lnSpc>
              <a:spcBef>
                <a:spcPts val="0"/>
              </a:spcBef>
              <a:spcAft>
                <a:spcPts val="0"/>
              </a:spcAft>
              <a:defRPr sz="2400" b="0">
                <a:solidFill>
                  <a:srgbClr val="333333"/>
                </a:solidFill>
                <a:latin typeface="微软雅黑"/>
              </a:defRPr>
            </a:pPr>
            <a:r>
              <a:rPr>
                <a:ea typeface="微软雅黑"/>
              </a:rPr>
              <a:t>方程式是</a:t>
            </a:r>
          </a:p>
        </p:txBody>
      </p:sp>
      <p:sp>
        <p:nvSpPr>
          <p:cNvPr id="8" name="文字_(2)将钠投入水中后，钠熔化成一个小球，根据这一"/>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(2)将钠投入水中后，钠熔化成一个小球，根据这一现象你能得出的结论是</a:t>
            </a:r>
          </a:p>
        </p:txBody>
      </p:sp>
      <p:sp>
        <p:nvSpPr>
          <p:cNvPr id="9" name="文字_① ______ ， ② ______ O"/>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 ______ ， ② ______ O</a:t>
            </a:r>
          </a:p>
        </p:txBody>
      </p:sp>
      <p:sp>
        <p:nvSpPr>
          <p:cNvPr id="10" name="文字_(3)①将一小块钠投入盛有饱和石灰水的烧杯中，不"/>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(3)①将一小块钠投入盛有饱和石灰水的烧杯中，不可能观察到的现象是 ______ O</a:t>
            </a:r>
          </a:p>
        </p:txBody>
      </p:sp>
      <p:sp>
        <p:nvSpPr>
          <p:cNvPr id="11" name="文字_A. 有气体生成B. 钠熔化成小球并在液面上游动"/>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有气体生成B. 钠熔化成小球并在液面上游动</a:t>
            </a:r>
          </a:p>
        </p:txBody>
      </p:sp>
      <p:sp>
        <p:nvSpPr>
          <p:cNvPr id="12" name="文字_C. 烧杯底部有银白色的金属钙生成D. 溶液变浑"/>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烧杯底部有银白色的金属钙生成D. 溶液变浑浊</a:t>
            </a:r>
          </a:p>
        </p:txBody>
      </p:sp>
      <p:sp>
        <p:nvSpPr>
          <p:cNvPr id="13" name="文字_②钠与水反应的离子方程式为 ______ O"/>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②钠与水反应的离子方程式为 ______ O</a:t>
            </a:r>
          </a:p>
        </p:txBody>
      </p:sp>
      <p:sp>
        <p:nvSpPr>
          <p:cNvPr id="14" name="文字_(4)根据上述实验过程中钠所发生的有关变化，试说"/>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(4)根据上述实验过程中钠所发生的有关变化，试说明金属钠保存在煤油中的目的是</a:t>
            </a:r>
          </a:p>
        </p:txBody>
      </p:sp>
      <p:sp>
        <p:nvSpPr>
          <p:cNvPr id="15" name="文字_填空题  ·  04-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04-012</a:t>
            </a:r>
          </a:p>
        </p:txBody>
      </p:sp>
      <p:sp>
        <p:nvSpPr>
          <p:cNvPr id="16"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氧化钠与过氧化钠的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氧化钠与过氧化钠的比较</a:t>
            </a:r>
          </a:p>
        </p:txBody>
      </p:sp>
      <p:sp>
        <p:nvSpPr>
          <p:cNvPr id="5" name="文字_知识梳理 · 讲义 P84"/>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P84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氧化钠与过氧化钠的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氧化钠与过氧化钠的比较</a:t>
            </a:r>
          </a:p>
        </p:txBody>
      </p:sp>
      <p:sp>
        <p:nvSpPr>
          <p:cNvPr id="5" name="文字_知识讲解 · P8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P84</a:t>
            </a:r>
          </a:p>
        </p:txBody>
      </p:sp>
      <p:graphicFrame>
        <p:nvGraphicFramePr>
          <p:cNvPr id="6" name="Table 5"/>
          <p:cNvGraphicFramePr>
            <a:graphicFrameLocks noGrp="1"/>
          </p:cNvGraphicFramePr>
          <p:nvPr/>
        </p:nvGraphicFramePr>
        <p:xfrm>
          <a:off x="502920" y="1773936"/>
          <a:ext cx="11109960" cy="2913888"/>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Na₂O</a:t>
                      </a:r>
                    </a:p>
                  </a:txBody>
                  <a:tcPr marL="91440" marR="91440" marT="45720" marB="45720" anchor="ctr">
                    <a:solidFill>
                      <a:srgbClr val="F1922F"/>
                    </a:solidFill>
                  </a:tcPr>
                </a:tc>
                <a:tc>
                  <a:txBody>
                    <a:bodyPr/>
                    <a:lstStyle/>
                    <a:p>
                      <a:pPr>
                        <a:defRPr sz="2000" b="1">
                          <a:solidFill>
                            <a:srgbClr val="FFFFFF"/>
                          </a:solidFill>
                          <a:latin typeface="微软雅黑"/>
                        </a:defRPr>
                      </a:pPr>
                      <a:r>
                        <a:t>Na₂O₂</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颜色</a:t>
                      </a:r>
                    </a:p>
                  </a:txBody>
                  <a:tcPr marL="91440" marR="91440" marT="45720" marB="45720" anchor="ctr">
                    <a:solidFill>
                      <a:srgbClr val="FDF2E3"/>
                    </a:solidFill>
                  </a:tcPr>
                </a:tc>
                <a:tc>
                  <a:txBody>
                    <a:bodyPr/>
                    <a:lstStyle/>
                    <a:p>
                      <a:pPr>
                        <a:defRPr sz="2000" b="0">
                          <a:solidFill>
                            <a:srgbClr val="333333"/>
                          </a:solidFill>
                          <a:latin typeface="微软雅黑"/>
                        </a:defRPr>
                      </a:pPr>
                      <a:r>
                        <a:t>白色</a:t>
                      </a:r>
                    </a:p>
                  </a:txBody>
                  <a:tcPr marL="91440" marR="91440" marT="45720" marB="45720" anchor="ctr">
                    <a:solidFill>
                      <a:srgbClr val="FDF2E3"/>
                    </a:solidFill>
                  </a:tcPr>
                </a:tc>
                <a:tc>
                  <a:txBody>
                    <a:bodyPr/>
                    <a:lstStyle/>
                    <a:p>
                      <a:pPr>
                        <a:defRPr sz="2000" b="0">
                          <a:solidFill>
                            <a:srgbClr val="333333"/>
                          </a:solidFill>
                          <a:latin typeface="微软雅黑"/>
                        </a:defRPr>
                      </a:pPr>
                      <a:r>
                        <a:t>淡黄色</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阴离子</a:t>
                      </a:r>
                    </a:p>
                  </a:txBody>
                  <a:tcPr marL="91440" marR="91440" marT="45720" marB="45720" anchor="ctr">
                    <a:solidFill>
                      <a:srgbClr val="FFFFFF"/>
                    </a:solidFill>
                  </a:tcPr>
                </a:tc>
                <a:tc>
                  <a:txBody>
                    <a:bodyPr/>
                    <a:lstStyle/>
                    <a:p>
                      <a:pPr>
                        <a:defRPr sz="2000" b="0">
                          <a:solidFill>
                            <a:srgbClr val="333333"/>
                          </a:solidFill>
                          <a:latin typeface="微软雅黑"/>
                        </a:defRPr>
                      </a:pPr>
                      <a:r>
                        <a:t>O²⁻</a:t>
                      </a:r>
                    </a:p>
                  </a:txBody>
                  <a:tcPr marL="91440" marR="91440" marT="45720" marB="45720" anchor="ctr">
                    <a:solidFill>
                      <a:srgbClr val="FFFFFF"/>
                    </a:solidFill>
                  </a:tcPr>
                </a:tc>
                <a:tc>
                  <a:txBody>
                    <a:bodyPr/>
                    <a:lstStyle/>
                    <a:p>
                      <a:pPr>
                        <a:defRPr sz="2000" b="0">
                          <a:solidFill>
                            <a:srgbClr val="333333"/>
                          </a:solidFill>
                          <a:latin typeface="微软雅黑"/>
                        </a:defRPr>
                      </a:pPr>
                      <a:r>
                        <a:t>O₂²⁻</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氧元素化合价</a:t>
                      </a:r>
                    </a:p>
                  </a:txBody>
                  <a:tcPr marL="91440" marR="91440" marT="45720" marB="45720" anchor="ctr">
                    <a:solidFill>
                      <a:srgbClr val="FDF2E3"/>
                    </a:solidFill>
                  </a:tcPr>
                </a:tc>
                <a:tc>
                  <a:txBody>
                    <a:bodyPr/>
                    <a:lstStyle/>
                    <a:p>
                      <a:pPr>
                        <a:defRPr sz="2000" b="0">
                          <a:solidFill>
                            <a:srgbClr val="333333"/>
                          </a:solidFill>
                          <a:latin typeface="微软雅黑"/>
                        </a:defRPr>
                      </a:pPr>
                      <a:r>
                        <a:t>−2</a:t>
                      </a:r>
                    </a:p>
                  </a:txBody>
                  <a:tcPr marL="91440" marR="91440" marT="45720" marB="45720" anchor="ctr">
                    <a:solidFill>
                      <a:srgbClr val="FDF2E3"/>
                    </a:solidFill>
                  </a:tcPr>
                </a:tc>
                <a:tc>
                  <a:txBody>
                    <a:bodyPr/>
                    <a:lstStyle/>
                    <a:p>
                      <a:pPr>
                        <a:defRPr sz="2000" b="0">
                          <a:solidFill>
                            <a:srgbClr val="333333"/>
                          </a:solidFill>
                          <a:latin typeface="微软雅黑"/>
                        </a:defRPr>
                      </a:pPr>
                      <a:r>
                        <a:t>−1</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类别与性质</a:t>
                      </a:r>
                    </a:p>
                  </a:txBody>
                  <a:tcPr marL="91440" marR="91440" marT="45720" marB="45720" anchor="ctr">
                    <a:solidFill>
                      <a:srgbClr val="FFFFFF"/>
                    </a:solidFill>
                  </a:tcPr>
                </a:tc>
                <a:tc>
                  <a:txBody>
                    <a:bodyPr/>
                    <a:lstStyle/>
                    <a:p>
                      <a:pPr>
                        <a:defRPr sz="2000" b="0">
                          <a:solidFill>
                            <a:srgbClr val="333333"/>
                          </a:solidFill>
                          <a:latin typeface="微软雅黑"/>
                        </a:defRPr>
                      </a:pPr>
                      <a:r>
                        <a:t>碱性氧化物</a:t>
                      </a:r>
                    </a:p>
                  </a:txBody>
                  <a:tcPr marL="91440" marR="91440" marT="45720" marB="45720" anchor="ctr">
                    <a:solidFill>
                      <a:srgbClr val="FFFFFF"/>
                    </a:solidFill>
                  </a:tcPr>
                </a:tc>
                <a:tc>
                  <a:txBody>
                    <a:bodyPr/>
                    <a:lstStyle/>
                    <a:p>
                      <a:pPr>
                        <a:defRPr sz="2000" b="0">
                          <a:solidFill>
                            <a:srgbClr val="333333"/>
                          </a:solidFill>
                          <a:latin typeface="微软雅黑"/>
                        </a:defRPr>
                      </a:pPr>
                      <a:r>
                        <a:t>过氧化物，强氧化性</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常见用途</a:t>
                      </a:r>
                    </a:p>
                  </a:txBody>
                  <a:tcPr marL="91440" marR="91440" marT="45720" marB="45720" anchor="ctr">
                    <a:solidFill>
                      <a:srgbClr val="FDF2E3"/>
                    </a:solidFill>
                  </a:tcPr>
                </a:tc>
                <a:tc>
                  <a:txBody>
                    <a:bodyPr/>
                    <a:lstStyle/>
                    <a:p>
                      <a:pPr>
                        <a:defRPr sz="2000" b="0">
                          <a:solidFill>
                            <a:srgbClr val="333333"/>
                          </a:solidFill>
                          <a:latin typeface="微软雅黑"/>
                        </a:defRPr>
                      </a:pPr>
                      <a:r>
                        <a:t>制取有关钠化合物</a:t>
                      </a:r>
                    </a:p>
                  </a:txBody>
                  <a:tcPr marL="91440" marR="91440" marT="45720" marB="45720" anchor="ctr">
                    <a:solidFill>
                      <a:srgbClr val="FDF2E3"/>
                    </a:solidFill>
                  </a:tcPr>
                </a:tc>
                <a:tc>
                  <a:txBody>
                    <a:bodyPr/>
                    <a:lstStyle/>
                    <a:p>
                      <a:pPr>
                        <a:defRPr sz="2000" b="0">
                          <a:solidFill>
                            <a:srgbClr val="333333"/>
                          </a:solidFill>
                          <a:latin typeface="微软雅黑"/>
                        </a:defRPr>
                      </a:pPr>
                      <a:r>
                        <a:t>供氧剂、氧化剂、漂白剂</a:t>
                      </a:r>
                    </a:p>
                  </a:txBody>
                  <a:tcPr marL="91440" marR="91440" marT="45720" marB="45720" anchor="ctr">
                    <a:solidFill>
                      <a:srgbClr val="FDF2E3"/>
                    </a:solidFill>
                  </a:tcPr>
                </a:tc>
              </a:tr>
            </a:tbl>
          </a:graphicData>
        </a:graphic>
      </p:graphicFrame>
      <p:sp>
        <p:nvSpPr>
          <p:cNvPr id="7" name="Rectangle 6"/>
          <p:cNvSpPr/>
          <p:nvPr/>
        </p:nvSpPr>
        <p:spPr>
          <a:xfrm>
            <a:off x="493776" y="4824984"/>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二者的阳离子与阴离子个数比均为 2∶1；"/>
          <p:cNvSpPr txBox="1"/>
          <p:nvPr/>
        </p:nvSpPr>
        <p:spPr>
          <a:xfrm>
            <a:off x="630936" y="4884420"/>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二者的阳离子与阴离子个数比均为 2∶1；Na₂O₂ 不是碱性氧化物。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两种氧化物的典型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两种氧化物的典型反应</a:t>
            </a:r>
          </a:p>
        </p:txBody>
      </p:sp>
      <p:sp>
        <p:nvSpPr>
          <p:cNvPr id="5" name="文字_知识讲解 · P8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a₂O + H₂O = 2NaOH；Na₂O "/>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Na₂O + H₂O = 2NaOH；Na₂O + CO₂ = Na₂CO₃。</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Na₂O + 2HCl = 2NaCl + H₂"/>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Na₂O + 2HCl = 2NaCl + H₂O。</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2Na₂O₂ + 2H₂O = 4NaOH + "/>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2Na₂O₂ + 2H₂O = 4NaOH + O₂↑。</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2Na₂O₂ + 2CO₂ = 2Na₂CO₃ "/>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2Na₂O₂ + 2CO₂ = 2Na₂CO₃ + O₂。</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2Na₂O₂ + 4HCl = 4NaCl + "/>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2Na₂O₂ + 4HCl = 4NaCl + 2H₂O + O₂↑。</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Na₂O₂ 与水或 CO₂ 反应时，过氧"/>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Na₂O₂ 与水或 CO₂ 反应时，过氧化钠既是氧化剂又是还原剂。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Na₂O₂ 的氧化性与 NaOH 的性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Na₂O₂ 的氧化性与 NaOH 的性质</a:t>
            </a:r>
          </a:p>
        </p:txBody>
      </p:sp>
      <p:sp>
        <p:nvSpPr>
          <p:cNvPr id="5" name="文字_知识讲解 · P8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a₂O₂ 可氧化 SO₂、SO₃²⁻、Fe²⁺"/>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Na₂O₂ 可氧化 SO₂、SO₃²⁻、Fe²⁺ 等；使有色物质褪色时要区分氧化漂白与</a:t>
            </a:r>
          </a:p>
          <a:p>
            <a:pPr>
              <a:lnSpc>
                <a:spcPct val="112000"/>
              </a:lnSpc>
              <a:spcBef>
                <a:spcPts val="0"/>
              </a:spcBef>
              <a:spcAft>
                <a:spcPts val="0"/>
              </a:spcAft>
              <a:defRPr sz="2400" b="0">
                <a:solidFill>
                  <a:srgbClr val="333333"/>
                </a:solidFill>
                <a:latin typeface="微软雅黑"/>
              </a:defRPr>
            </a:pPr>
            <a:r>
              <a:rPr>
                <a:ea typeface="微软雅黑"/>
              </a:rPr>
              <a:t>酸碱变色。</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Na₂O₂ 加入滴有酚酞的水：生成 NaOH 可"/>
          <p:cNvSpPr txBox="1"/>
          <p:nvPr/>
        </p:nvSpPr>
        <p:spPr>
          <a:xfrm>
            <a:off x="722376" y="2727960"/>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Na₂O₂ 加入滴有酚酞的水：生成 NaOH 可使溶液先变红，过氧化物可继续使</a:t>
            </a:r>
          </a:p>
          <a:p>
            <a:pPr>
              <a:lnSpc>
                <a:spcPct val="112000"/>
              </a:lnSpc>
              <a:spcBef>
                <a:spcPts val="0"/>
              </a:spcBef>
              <a:spcAft>
                <a:spcPts val="0"/>
              </a:spcAft>
              <a:defRPr sz="2400" b="0">
                <a:solidFill>
                  <a:srgbClr val="333333"/>
                </a:solidFill>
                <a:latin typeface="微软雅黑"/>
              </a:defRPr>
            </a:pPr>
            <a:r>
              <a:rPr>
                <a:ea typeface="微软雅黑"/>
              </a:rPr>
              <a:t>其褪色。</a:t>
            </a:r>
          </a:p>
        </p:txBody>
      </p:sp>
      <p:sp>
        <p:nvSpPr>
          <p:cNvPr id="10" name="Rectangle 9"/>
          <p:cNvSpPr/>
          <p:nvPr/>
        </p:nvSpPr>
        <p:spPr>
          <a:xfrm>
            <a:off x="512064" y="376428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NaOH 俗名烧碱、火碱、苛性钠；易潮解，溶于水"/>
          <p:cNvSpPr txBox="1"/>
          <p:nvPr/>
        </p:nvSpPr>
        <p:spPr>
          <a:xfrm>
            <a:off x="722376" y="368198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NaOH 俗名烧碱、火碱、苛性钠；易潮解，溶于水放热，具有腐蚀性。</a:t>
            </a:r>
          </a:p>
        </p:txBody>
      </p:sp>
      <p:sp>
        <p:nvSpPr>
          <p:cNvPr id="12" name="Rectangle 11"/>
          <p:cNvSpPr/>
          <p:nvPr/>
        </p:nvSpPr>
        <p:spPr>
          <a:xfrm>
            <a:off x="512064" y="434644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NaOH 能与酸、酸性氧化物、部分盐及两性物质反"/>
          <p:cNvSpPr txBox="1"/>
          <p:nvPr/>
        </p:nvSpPr>
        <p:spPr>
          <a:xfrm>
            <a:off x="722376" y="426415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NaOH 能与酸、酸性氧化物、部分盐及两性物质反应。</a:t>
            </a:r>
          </a:p>
        </p:txBody>
      </p:sp>
      <p:sp>
        <p:nvSpPr>
          <p:cNvPr id="14" name="Rectangle 13"/>
          <p:cNvSpPr/>
          <p:nvPr/>
        </p:nvSpPr>
        <p:spPr>
          <a:xfrm>
            <a:off x="512064" y="4928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保存时密封，避免吸水和吸收空气中的 CO₂ 而变"/>
          <p:cNvSpPr txBox="1"/>
          <p:nvPr/>
        </p:nvSpPr>
        <p:spPr>
          <a:xfrm>
            <a:off x="722376" y="484632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保存时密封，避免吸水和吸收空气中的 CO₂ 而变质。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例题1</a:t>
            </a:r>
          </a:p>
        </p:txBody>
      </p:sp>
      <p:sp>
        <p:nvSpPr>
          <p:cNvPr id="5" name="文字_P8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P85</a:t>
            </a:r>
          </a:p>
        </p:txBody>
      </p:sp>
      <p:sp>
        <p:nvSpPr>
          <p:cNvPr id="6" name="文字_下列关于钠的氧化物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下列关于钠的氧化物的说法正确的是</a:t>
            </a:r>
          </a:p>
        </p:txBody>
      </p:sp>
      <p:sp>
        <p:nvSpPr>
          <p:cNvPr id="7" name="文字_A. Na₂O₂是白色固体，与冷水作用放出氧气，"/>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Na₂O₂是白色固体，与冷水作用放出氧气，生成氢氧化钠</a:t>
            </a:r>
          </a:p>
        </p:txBody>
      </p:sp>
      <p:sp>
        <p:nvSpPr>
          <p:cNvPr id="8" name="文字_B. 在Na₂O₂与CO₂的反应中，氧化剂是Na"/>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在Na₂O₂与CO₂的反应中，氧化剂是Na₂O₂，还原剂是CO₂</a:t>
            </a:r>
          </a:p>
        </p:txBody>
      </p:sp>
      <p:sp>
        <p:nvSpPr>
          <p:cNvPr id="9" name="文字_C. Na和O₂在常温下反应生成Na₂O"/>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Na和O₂在常温下反应生成Na₂O</a:t>
            </a:r>
          </a:p>
        </p:txBody>
      </p:sp>
      <p:sp>
        <p:nvSpPr>
          <p:cNvPr id="10" name="文字_D. Na₂O₂能与水反应生成NaOH，所以Na"/>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Na₂O₂能与水反应生成NaOH，所以Na₂O₂是碱性氧化物</a:t>
            </a:r>
          </a:p>
        </p:txBody>
      </p:sp>
      <p:sp>
        <p:nvSpPr>
          <p:cNvPr id="11" name="文字_单选题  ·  04-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04-013</a:t>
            </a:r>
          </a:p>
        </p:txBody>
      </p:sp>
      <p:sp>
        <p:nvSpPr>
          <p:cNvPr id="12" name="文字_2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例题2</a:t>
            </a:r>
          </a:p>
        </p:txBody>
      </p:sp>
      <p:sp>
        <p:nvSpPr>
          <p:cNvPr id="5" name="文字_P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P86</a:t>
            </a:r>
          </a:p>
        </p:txBody>
      </p:sp>
      <p:sp>
        <p:nvSpPr>
          <p:cNvPr id="6" name="文字_向过氧化钠与水反应所得溶液中滴加酚酞溶液，酚酞先"/>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向过氧化钠与水反应所得溶液中滴加酚酞溶液，酚酞先变红后褪色。某化学兴趣小</a:t>
            </a:r>
          </a:p>
          <a:p>
            <a:pPr>
              <a:lnSpc>
                <a:spcPct val="112000"/>
              </a:lnSpc>
              <a:spcBef>
                <a:spcPts val="0"/>
              </a:spcBef>
              <a:spcAft>
                <a:spcPts val="0"/>
              </a:spcAft>
              <a:defRPr sz="2400" b="0">
                <a:solidFill>
                  <a:srgbClr val="333333"/>
                </a:solidFill>
                <a:latin typeface="微软雅黑"/>
              </a:defRPr>
            </a:pPr>
            <a:r>
              <a:rPr>
                <a:ea typeface="微软雅黑"/>
              </a:rPr>
              <a:t>组为探究其原因，进行了如图所示实验。实验①向反应后溶液加入MnO₂，立即产</a:t>
            </a:r>
          </a:p>
          <a:p>
            <a:pPr>
              <a:lnSpc>
                <a:spcPct val="112000"/>
              </a:lnSpc>
              <a:spcBef>
                <a:spcPts val="0"/>
              </a:spcBef>
              <a:spcAft>
                <a:spcPts val="0"/>
              </a:spcAft>
              <a:defRPr sz="2400" b="0">
                <a:solidFill>
                  <a:srgbClr val="333333"/>
                </a:solidFill>
                <a:latin typeface="微软雅黑"/>
              </a:defRPr>
            </a:pPr>
            <a:r>
              <a:rPr>
                <a:ea typeface="微软雅黑"/>
              </a:rPr>
              <a:t>生大量气体，气体能使带火星的木条复燃；实验②、③中红色均不褪色。下列分析</a:t>
            </a:r>
          </a:p>
          <a:p>
            <a:pPr>
              <a:lnSpc>
                <a:spcPct val="112000"/>
              </a:lnSpc>
              <a:spcBef>
                <a:spcPts val="0"/>
              </a:spcBef>
              <a:spcAft>
                <a:spcPts val="0"/>
              </a:spcAft>
              <a:defRPr sz="2400" b="0">
                <a:solidFill>
                  <a:srgbClr val="333333"/>
                </a:solidFill>
                <a:latin typeface="微软雅黑"/>
              </a:defRPr>
            </a:pPr>
            <a:r>
              <a:rPr>
                <a:ea typeface="微软雅黑"/>
              </a:rPr>
              <a:t>错误的是</a:t>
            </a:r>
          </a:p>
        </p:txBody>
      </p:sp>
      <p:pic>
        <p:nvPicPr>
          <p:cNvPr id="7" name="Picture 6" descr="image.png"/>
          <p:cNvPicPr>
            <a:picLocks noChangeAspect="1"/>
          </p:cNvPicPr>
          <p:nvPr/>
        </p:nvPicPr>
        <p:blipFill>
          <a:blip r:embed="rId3"/>
          <a:stretch>
            <a:fillRect/>
          </a:stretch>
        </p:blipFill>
        <p:spPr>
          <a:xfrm>
            <a:off x="502920" y="2606039"/>
            <a:ext cx="11064240" cy="2297074"/>
          </a:xfrm>
          <a:prstGeom prst="rect">
            <a:avLst/>
          </a:prstGeom>
        </p:spPr>
      </p:pic>
      <p:sp>
        <p:nvSpPr>
          <p:cNvPr id="8" name="原题文字_86_6"/>
          <p:cNvSpPr txBox="1"/>
          <p:nvPr/>
        </p:nvSpPr>
        <p:spPr>
          <a:xfrm>
            <a:off x="587146" y="2668551"/>
            <a:ext cx="367658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 过氧化钠与水反应产生的气体为O₂</a:t>
            </a:r>
          </a:p>
        </p:txBody>
      </p:sp>
      <p:sp>
        <p:nvSpPr>
          <p:cNvPr id="9" name="原题文字_86_7"/>
          <p:cNvSpPr txBox="1"/>
          <p:nvPr/>
        </p:nvSpPr>
        <p:spPr>
          <a:xfrm>
            <a:off x="587146" y="3059054"/>
            <a:ext cx="395988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B. 过氧化钠与水反应需要MnO₂作催化剂</a:t>
            </a:r>
          </a:p>
        </p:txBody>
      </p:sp>
      <p:sp>
        <p:nvSpPr>
          <p:cNvPr id="10" name="原题文字_86_8"/>
          <p:cNvSpPr txBox="1"/>
          <p:nvPr/>
        </p:nvSpPr>
        <p:spPr>
          <a:xfrm>
            <a:off x="7669791" y="2990141"/>
            <a:ext cx="57553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酚酞</a:t>
            </a:r>
          </a:p>
        </p:txBody>
      </p:sp>
      <p:sp>
        <p:nvSpPr>
          <p:cNvPr id="11" name="原题文字_86_9"/>
          <p:cNvSpPr txBox="1"/>
          <p:nvPr/>
        </p:nvSpPr>
        <p:spPr>
          <a:xfrm>
            <a:off x="7662134" y="3235163"/>
            <a:ext cx="56787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溶液</a:t>
            </a:r>
          </a:p>
        </p:txBody>
      </p:sp>
      <p:sp>
        <p:nvSpPr>
          <p:cNvPr id="12" name="原题文字_86_10"/>
          <p:cNvSpPr txBox="1"/>
          <p:nvPr/>
        </p:nvSpPr>
        <p:spPr>
          <a:xfrm>
            <a:off x="587146" y="3449556"/>
            <a:ext cx="4702610"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 实验②、③可证明使酚酞褪色的不是氢氧化钠</a:t>
            </a:r>
          </a:p>
        </p:txBody>
      </p:sp>
      <p:sp>
        <p:nvSpPr>
          <p:cNvPr id="13" name="原题文字_86_11"/>
          <p:cNvSpPr txBox="1"/>
          <p:nvPr/>
        </p:nvSpPr>
        <p:spPr>
          <a:xfrm>
            <a:off x="7470711" y="3487841"/>
            <a:ext cx="177374" cy="338435"/>
          </a:xfrm>
          <a:prstGeom prst="rect">
            <a:avLst/>
          </a:prstGeom>
          <a:noFill/>
        </p:spPr>
        <p:txBody>
          <a:bodyPr wrap="none" lIns="0" rIns="0" tIns="0" bIns="0">
            <a:spAutoFit/>
          </a:bodyPr>
          <a:lstStyle/>
          <a:p>
            <a:pPr>
              <a:lnSpc>
                <a:spcPct val="112000"/>
              </a:lnSpc>
              <a:spcBef>
                <a:spcPts val="0"/>
              </a:spcBef>
              <a:spcAft>
                <a:spcPts val="0"/>
              </a:spcAft>
              <a:defRPr sz="1143" b="0">
                <a:solidFill>
                  <a:srgbClr val="333333"/>
                </a:solidFill>
                <a:latin typeface="微软雅黑"/>
              </a:defRPr>
            </a:pPr>
            <a:r>
              <a:rPr>
                <a:ea typeface="微软雅黑"/>
              </a:rPr>
              <a:t>00</a:t>
            </a:r>
          </a:p>
        </p:txBody>
      </p:sp>
      <p:sp>
        <p:nvSpPr>
          <p:cNvPr id="14" name="原题文字_86_12"/>
          <p:cNvSpPr txBox="1"/>
          <p:nvPr/>
        </p:nvSpPr>
        <p:spPr>
          <a:xfrm>
            <a:off x="893422" y="3740519"/>
            <a:ext cx="120340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溶液和氧气</a:t>
            </a:r>
          </a:p>
        </p:txBody>
      </p:sp>
      <p:sp>
        <p:nvSpPr>
          <p:cNvPr id="15" name="原题文字_86_13"/>
          <p:cNvSpPr txBox="1"/>
          <p:nvPr/>
        </p:nvSpPr>
        <p:spPr>
          <a:xfrm>
            <a:off x="10158287" y="3939599"/>
            <a:ext cx="1111518"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NaOH溶液</a:t>
            </a:r>
          </a:p>
        </p:txBody>
      </p:sp>
      <p:sp>
        <p:nvSpPr>
          <p:cNvPr id="16" name="原题文字_86_14"/>
          <p:cNvSpPr txBox="1"/>
          <p:nvPr/>
        </p:nvSpPr>
        <p:spPr>
          <a:xfrm>
            <a:off x="571832" y="4138678"/>
            <a:ext cx="451118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过氧化钠与水反应可能生成了具有漂白性的</a:t>
            </a:r>
          </a:p>
        </p:txBody>
      </p:sp>
      <p:sp>
        <p:nvSpPr>
          <p:cNvPr id="17" name="原题文字_86_15"/>
          <p:cNvSpPr txBox="1"/>
          <p:nvPr/>
        </p:nvSpPr>
        <p:spPr>
          <a:xfrm>
            <a:off x="7937783" y="4100394"/>
            <a:ext cx="1172773" cy="428021"/>
          </a:xfrm>
          <a:prstGeom prst="rect">
            <a:avLst/>
          </a:prstGeom>
          <a:noFill/>
        </p:spPr>
        <p:txBody>
          <a:bodyPr wrap="none" lIns="0" rIns="0" tIns="0" bIns="0">
            <a:spAutoFit/>
          </a:bodyPr>
          <a:lstStyle/>
          <a:p>
            <a:pPr>
              <a:lnSpc>
                <a:spcPct val="112000"/>
              </a:lnSpc>
              <a:spcBef>
                <a:spcPts val="0"/>
              </a:spcBef>
              <a:spcAft>
                <a:spcPts val="0"/>
              </a:spcAft>
              <a:defRPr sz="1872" b="0">
                <a:solidFill>
                  <a:srgbClr val="333333"/>
                </a:solidFill>
                <a:latin typeface="微软雅黑"/>
              </a:defRPr>
            </a:pPr>
            <a:r>
              <a:rPr>
                <a:ea typeface="微软雅黑"/>
              </a:rPr>
              <a:t>NaOH溶液</a:t>
            </a:r>
          </a:p>
        </p:txBody>
      </p:sp>
      <p:sp>
        <p:nvSpPr>
          <p:cNvPr id="18" name="原题文字_86_16"/>
          <p:cNvSpPr txBox="1"/>
          <p:nvPr/>
        </p:nvSpPr>
        <p:spPr>
          <a:xfrm>
            <a:off x="10112346" y="4192277"/>
            <a:ext cx="114214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+酚酞溶液</a:t>
            </a:r>
          </a:p>
        </p:txBody>
      </p:sp>
      <p:sp>
        <p:nvSpPr>
          <p:cNvPr id="19" name="原题文字_86_17"/>
          <p:cNvSpPr txBox="1"/>
          <p:nvPr/>
        </p:nvSpPr>
        <p:spPr>
          <a:xfrm>
            <a:off x="5732591" y="4276503"/>
            <a:ext cx="728672" cy="418067"/>
          </a:xfrm>
          <a:prstGeom prst="rect">
            <a:avLst/>
          </a:prstGeom>
          <a:noFill/>
        </p:spPr>
        <p:txBody>
          <a:bodyPr wrap="none" lIns="0" rIns="0" tIns="0" bIns="0">
            <a:spAutoFit/>
          </a:bodyPr>
          <a:lstStyle/>
          <a:p>
            <a:pPr>
              <a:lnSpc>
                <a:spcPct val="112000"/>
              </a:lnSpc>
              <a:spcBef>
                <a:spcPts val="0"/>
              </a:spcBef>
              <a:spcAft>
                <a:spcPts val="0"/>
              </a:spcAft>
              <a:defRPr sz="1836" b="0">
                <a:solidFill>
                  <a:srgbClr val="333333"/>
                </a:solidFill>
                <a:latin typeface="微软雅黑"/>
              </a:defRPr>
            </a:pPr>
            <a:r>
              <a:rPr>
                <a:ea typeface="微软雅黑"/>
              </a:rPr>
              <a:t>MnO₂</a:t>
            </a:r>
          </a:p>
        </p:txBody>
      </p:sp>
      <p:sp>
        <p:nvSpPr>
          <p:cNvPr id="20" name="原题文字_86_18"/>
          <p:cNvSpPr txBox="1"/>
          <p:nvPr/>
        </p:nvSpPr>
        <p:spPr>
          <a:xfrm>
            <a:off x="885765" y="4467926"/>
            <a:ext cx="659760" cy="378251"/>
          </a:xfrm>
          <a:prstGeom prst="rect">
            <a:avLst/>
          </a:prstGeom>
          <a:noFill/>
        </p:spPr>
        <p:txBody>
          <a:bodyPr wrap="none" lIns="0" rIns="0" tIns="0" bIns="0">
            <a:spAutoFit/>
          </a:bodyPr>
          <a:lstStyle/>
          <a:p>
            <a:pPr>
              <a:lnSpc>
                <a:spcPct val="112000"/>
              </a:lnSpc>
              <a:spcBef>
                <a:spcPts val="0"/>
              </a:spcBef>
              <a:spcAft>
                <a:spcPts val="0"/>
              </a:spcAft>
              <a:defRPr sz="1755" b="0">
                <a:solidFill>
                  <a:srgbClr val="333333"/>
                </a:solidFill>
                <a:latin typeface="微软雅黑"/>
              </a:defRPr>
            </a:pPr>
            <a:r>
              <a:rPr>
                <a:ea typeface="微软雅黑"/>
              </a:rPr>
              <a:t>H₂O₂</a:t>
            </a:r>
          </a:p>
        </p:txBody>
      </p:sp>
      <p:sp>
        <p:nvSpPr>
          <p:cNvPr id="21" name="原题文字_86_19"/>
          <p:cNvSpPr txBox="1"/>
          <p:nvPr/>
        </p:nvSpPr>
        <p:spPr>
          <a:xfrm>
            <a:off x="5633052" y="4590436"/>
            <a:ext cx="36879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①</a:t>
            </a:r>
          </a:p>
        </p:txBody>
      </p:sp>
      <p:sp>
        <p:nvSpPr>
          <p:cNvPr id="22" name="原题文字_86_20"/>
          <p:cNvSpPr txBox="1"/>
          <p:nvPr/>
        </p:nvSpPr>
        <p:spPr>
          <a:xfrm>
            <a:off x="7440083" y="4628721"/>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②</a:t>
            </a:r>
          </a:p>
        </p:txBody>
      </p:sp>
      <p:sp>
        <p:nvSpPr>
          <p:cNvPr id="23" name="原题文字_86_21"/>
          <p:cNvSpPr txBox="1"/>
          <p:nvPr/>
        </p:nvSpPr>
        <p:spPr>
          <a:xfrm>
            <a:off x="9660588" y="4628721"/>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③</a:t>
            </a:r>
          </a:p>
        </p:txBody>
      </p:sp>
      <p:sp>
        <p:nvSpPr>
          <p:cNvPr id="24" name="文字_单选题  ·  04-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04-014</a:t>
            </a:r>
          </a:p>
        </p:txBody>
      </p:sp>
      <p:sp>
        <p:nvSpPr>
          <p:cNvPr id="25" name="文字_2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例题3</a:t>
            </a:r>
          </a:p>
        </p:txBody>
      </p:sp>
      <p:sp>
        <p:nvSpPr>
          <p:cNvPr id="5" name="文字_P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P86</a:t>
            </a:r>
          </a:p>
        </p:txBody>
      </p:sp>
      <p:sp>
        <p:nvSpPr>
          <p:cNvPr id="6" name="文字_下列有关Na₂O和Na₂O₂的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下列有关Na₂O和Na₂O₂的叙述正确的是</a:t>
            </a:r>
          </a:p>
        </p:txBody>
      </p:sp>
      <p:sp>
        <p:nvSpPr>
          <p:cNvPr id="7" name="文字_A. Na₂O和Na₂O₂都能与CO₂、H₂O发"/>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Na₂O和Na₂O₂都能与CO₂、H₂O发生反应，且产物相同</a:t>
            </a:r>
          </a:p>
        </p:txBody>
      </p:sp>
      <p:sp>
        <p:nvSpPr>
          <p:cNvPr id="8" name="文字_B. Na₂O和Na₂O₂不可以相互转化"/>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Na₂O和Na₂O₂不可以相互转化</a:t>
            </a:r>
          </a:p>
        </p:txBody>
      </p:sp>
      <p:sp>
        <p:nvSpPr>
          <p:cNvPr id="9" name="文字_C. Na₂O与H₂O的反应为化合反应，而Na₂"/>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Na₂O与H₂O的反应为化合反应，而Na₂O₂与H₂O的反应为复分解反应</a:t>
            </a:r>
          </a:p>
        </p:txBody>
      </p:sp>
      <p:sp>
        <p:nvSpPr>
          <p:cNvPr id="10" name="文字_D. 呼吸面具中Na₂O₂常作供氧剂，而Na₂O"/>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呼吸面具中Na₂O₂常作供氧剂，而Na₂O不能</a:t>
            </a:r>
          </a:p>
        </p:txBody>
      </p:sp>
      <p:sp>
        <p:nvSpPr>
          <p:cNvPr id="11" name="文字_单选题  ·  04-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04-015</a:t>
            </a:r>
          </a:p>
        </p:txBody>
      </p:sp>
      <p:sp>
        <p:nvSpPr>
          <p:cNvPr id="12" name="文字_2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例题4</a:t>
            </a:r>
          </a:p>
        </p:txBody>
      </p:sp>
      <p:sp>
        <p:nvSpPr>
          <p:cNvPr id="5" name="文字_P8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P86</a:t>
            </a:r>
          </a:p>
        </p:txBody>
      </p:sp>
      <p:sp>
        <p:nvSpPr>
          <p:cNvPr id="6" name="文字_韦恩(Venn)图常用于展示不同的事物群组(集合"/>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韦恩(Venn)图常用于展示不同的事物群组(集合)之间的数学或逻辑联系。如图是钠</a:t>
            </a:r>
          </a:p>
          <a:p>
            <a:pPr>
              <a:lnSpc>
                <a:spcPct val="112000"/>
              </a:lnSpc>
              <a:spcBef>
                <a:spcPts val="0"/>
              </a:spcBef>
              <a:spcAft>
                <a:spcPts val="0"/>
              </a:spcAft>
              <a:defRPr sz="2400" b="0">
                <a:solidFill>
                  <a:srgbClr val="333333"/>
                </a:solidFill>
                <a:latin typeface="微软雅黑"/>
              </a:defRPr>
            </a:pPr>
            <a:r>
              <a:rPr>
                <a:ea typeface="微软雅黑"/>
              </a:rPr>
              <a:t>及其化合物反应的韦恩图，图中</a:t>
            </a:r>
          </a:p>
        </p:txBody>
      </p:sp>
      <p:pic>
        <p:nvPicPr>
          <p:cNvPr id="7" name="Picture 6" descr="image.png"/>
          <p:cNvPicPr>
            <a:picLocks noChangeAspect="1"/>
          </p:cNvPicPr>
          <p:nvPr/>
        </p:nvPicPr>
        <p:blipFill>
          <a:blip r:embed="rId3"/>
          <a:stretch>
            <a:fillRect/>
          </a:stretch>
        </p:blipFill>
        <p:spPr>
          <a:xfrm>
            <a:off x="502920" y="1880616"/>
            <a:ext cx="11064240" cy="1998454"/>
          </a:xfrm>
          <a:prstGeom prst="rect">
            <a:avLst/>
          </a:prstGeom>
        </p:spPr>
      </p:pic>
      <p:sp>
        <p:nvSpPr>
          <p:cNvPr id="8" name="原题文字_86_34"/>
          <p:cNvSpPr txBox="1"/>
          <p:nvPr/>
        </p:nvSpPr>
        <p:spPr>
          <a:xfrm>
            <a:off x="594802" y="1912499"/>
            <a:ext cx="714516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两圆圈相交的阴影部分表示圆圈内物质相互发生的反应。下列说法正确的是</a:t>
            </a:r>
          </a:p>
        </p:txBody>
      </p:sp>
      <p:sp>
        <p:nvSpPr>
          <p:cNvPr id="9" name="原题文字_86_35"/>
          <p:cNvSpPr txBox="1"/>
          <p:nvPr/>
        </p:nvSpPr>
        <p:spPr>
          <a:xfrm>
            <a:off x="587146" y="2249403"/>
            <a:ext cx="343156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甲、乙、丙都属于氧化还原反应</a:t>
            </a:r>
          </a:p>
        </p:txBody>
      </p:sp>
      <p:sp>
        <p:nvSpPr>
          <p:cNvPr id="10" name="原题文字_86_36"/>
          <p:cNvSpPr txBox="1"/>
          <p:nvPr/>
        </p:nvSpPr>
        <p:spPr>
          <a:xfrm>
            <a:off x="10380338" y="2417856"/>
            <a:ext cx="292228"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Na</a:t>
            </a:r>
          </a:p>
        </p:txBody>
      </p:sp>
      <p:sp>
        <p:nvSpPr>
          <p:cNvPr id="11" name="原题文字_86_37"/>
          <p:cNvSpPr txBox="1"/>
          <p:nvPr/>
        </p:nvSpPr>
        <p:spPr>
          <a:xfrm>
            <a:off x="556518" y="2616935"/>
            <a:ext cx="5246251" cy="398159"/>
          </a:xfrm>
          <a:prstGeom prst="rect">
            <a:avLst/>
          </a:prstGeom>
          <a:noFill/>
        </p:spPr>
        <p:txBody>
          <a:bodyPr wrap="none" lIns="0" rIns="0" tIns="0" bIns="0">
            <a:spAutoFit/>
          </a:bodyPr>
          <a:lstStyle/>
          <a:p>
            <a:pPr>
              <a:lnSpc>
                <a:spcPct val="112000"/>
              </a:lnSpc>
              <a:spcBef>
                <a:spcPts val="0"/>
              </a:spcBef>
              <a:spcAft>
                <a:spcPts val="0"/>
              </a:spcAft>
              <a:defRPr sz="1785" b="0">
                <a:solidFill>
                  <a:srgbClr val="333333"/>
                </a:solidFill>
                <a:latin typeface="微软雅黑"/>
              </a:defRPr>
            </a:pPr>
            <a:r>
              <a:rPr>
                <a:ea typeface="微软雅黑"/>
              </a:rPr>
              <a:t>B. 向饱和烧碱溶液中加入少量过氧化钠，c(Na+)不变</a:t>
            </a:r>
          </a:p>
        </p:txBody>
      </p:sp>
      <p:sp>
        <p:nvSpPr>
          <p:cNvPr id="12" name="原题文字_86_38"/>
          <p:cNvSpPr txBox="1"/>
          <p:nvPr/>
        </p:nvSpPr>
        <p:spPr>
          <a:xfrm>
            <a:off x="10380338" y="2800701"/>
            <a:ext cx="246286"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甲</a:t>
            </a:r>
          </a:p>
        </p:txBody>
      </p:sp>
      <p:sp>
        <p:nvSpPr>
          <p:cNvPr id="13" name="原题文字_86_39"/>
          <p:cNvSpPr txBox="1"/>
          <p:nvPr/>
        </p:nvSpPr>
        <p:spPr>
          <a:xfrm>
            <a:off x="571832" y="3015095"/>
            <a:ext cx="5858804" cy="368297"/>
          </a:xfrm>
          <a:prstGeom prst="rect">
            <a:avLst/>
          </a:prstGeom>
          <a:noFill/>
        </p:spPr>
        <p:txBody>
          <a:bodyPr wrap="none" lIns="0" rIns="0" tIns="0" bIns="0">
            <a:spAutoFit/>
          </a:bodyPr>
          <a:lstStyle/>
          <a:p>
            <a:pPr>
              <a:lnSpc>
                <a:spcPct val="112000"/>
              </a:lnSpc>
              <a:spcBef>
                <a:spcPts val="0"/>
              </a:spcBef>
              <a:spcAft>
                <a:spcPts val="0"/>
              </a:spcAft>
              <a:defRPr sz="1680" b="0">
                <a:solidFill>
                  <a:srgbClr val="333333"/>
                </a:solidFill>
                <a:latin typeface="微软雅黑"/>
              </a:defRPr>
            </a:pPr>
            <a:r>
              <a:rPr>
                <a:ea typeface="微软雅黑"/>
              </a:rPr>
              <a:t>C. 甲反应的离子方程式为Na + 2H₂O = Na+ + 2OH− + H₂ ↑</a:t>
            </a:r>
          </a:p>
        </p:txBody>
      </p:sp>
      <p:sp>
        <p:nvSpPr>
          <p:cNvPr id="14" name="原题文字_86_40"/>
          <p:cNvSpPr txBox="1"/>
          <p:nvPr/>
        </p:nvSpPr>
        <p:spPr>
          <a:xfrm>
            <a:off x="10311426" y="3030409"/>
            <a:ext cx="361140" cy="278711"/>
          </a:xfrm>
          <a:prstGeom prst="rect">
            <a:avLst/>
          </a:prstGeom>
          <a:noFill/>
        </p:spPr>
        <p:txBody>
          <a:bodyPr wrap="none" lIns="0" rIns="0" tIns="0" bIns="0">
            <a:spAutoFit/>
          </a:bodyPr>
          <a:lstStyle/>
          <a:p>
            <a:pPr>
              <a:lnSpc>
                <a:spcPct val="112000"/>
              </a:lnSpc>
              <a:spcBef>
                <a:spcPts val="0"/>
              </a:spcBef>
              <a:spcAft>
                <a:spcPts val="0"/>
              </a:spcAft>
              <a:defRPr sz="1207" b="0">
                <a:solidFill>
                  <a:srgbClr val="333333"/>
                </a:solidFill>
                <a:latin typeface="微软雅黑"/>
              </a:defRPr>
            </a:pPr>
            <a:r>
              <a:rPr>
                <a:ea typeface="微软雅黑"/>
              </a:rPr>
              <a:t>H₂O</a:t>
            </a:r>
          </a:p>
        </p:txBody>
      </p:sp>
      <p:sp>
        <p:nvSpPr>
          <p:cNvPr id="15" name="原题文字_86_41"/>
          <p:cNvSpPr txBox="1"/>
          <p:nvPr/>
        </p:nvSpPr>
        <p:spPr>
          <a:xfrm>
            <a:off x="10610045" y="3198861"/>
            <a:ext cx="269257"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丙</a:t>
            </a:r>
          </a:p>
        </p:txBody>
      </p:sp>
      <p:sp>
        <p:nvSpPr>
          <p:cNvPr id="16" name="原题文字_86_42"/>
          <p:cNvSpPr txBox="1"/>
          <p:nvPr/>
        </p:nvSpPr>
        <p:spPr>
          <a:xfrm>
            <a:off x="564175" y="3405597"/>
            <a:ext cx="7152822" cy="378251"/>
          </a:xfrm>
          <a:prstGeom prst="rect">
            <a:avLst/>
          </a:prstGeom>
          <a:noFill/>
        </p:spPr>
        <p:txBody>
          <a:bodyPr wrap="none" lIns="0" rIns="0" tIns="0" bIns="0">
            <a:spAutoFit/>
          </a:bodyPr>
          <a:lstStyle/>
          <a:p>
            <a:pPr>
              <a:lnSpc>
                <a:spcPct val="112000"/>
              </a:lnSpc>
              <a:spcBef>
                <a:spcPts val="0"/>
              </a:spcBef>
              <a:spcAft>
                <a:spcPts val="0"/>
              </a:spcAft>
              <a:defRPr sz="1603" b="0">
                <a:solidFill>
                  <a:srgbClr val="333333"/>
                </a:solidFill>
                <a:latin typeface="微软雅黑"/>
              </a:defRPr>
            </a:pPr>
            <a:r>
              <a:rPr>
                <a:ea typeface="微软雅黑"/>
              </a:rPr>
              <a:t>D. Na₂O与H₂O发生化合反应生成NaOH，Na₂O₂与H₂O发生置换反应生成O₂</a:t>
            </a:r>
          </a:p>
        </p:txBody>
      </p:sp>
      <p:sp>
        <p:nvSpPr>
          <p:cNvPr id="17" name="原题文字_86_43"/>
          <p:cNvSpPr txBox="1"/>
          <p:nvPr/>
        </p:nvSpPr>
        <p:spPr>
          <a:xfrm>
            <a:off x="9683559" y="3390284"/>
            <a:ext cx="445366" cy="298619"/>
          </a:xfrm>
          <a:prstGeom prst="rect">
            <a:avLst/>
          </a:prstGeom>
          <a:noFill/>
        </p:spPr>
        <p:txBody>
          <a:bodyPr wrap="none" lIns="0" rIns="0" tIns="0" bIns="0">
            <a:spAutoFit/>
          </a:bodyPr>
          <a:lstStyle/>
          <a:p>
            <a:pPr>
              <a:lnSpc>
                <a:spcPct val="112000"/>
              </a:lnSpc>
              <a:spcBef>
                <a:spcPts val="0"/>
              </a:spcBef>
              <a:spcAft>
                <a:spcPts val="0"/>
              </a:spcAft>
              <a:defRPr sz="1227" b="0">
                <a:solidFill>
                  <a:srgbClr val="333333"/>
                </a:solidFill>
                <a:latin typeface="微软雅黑"/>
              </a:defRPr>
            </a:pPr>
            <a:r>
              <a:rPr>
                <a:ea typeface="微软雅黑"/>
              </a:rPr>
              <a:t>Na₂O</a:t>
            </a:r>
          </a:p>
        </p:txBody>
      </p:sp>
      <p:sp>
        <p:nvSpPr>
          <p:cNvPr id="18" name="原题文字_86_44"/>
          <p:cNvSpPr txBox="1"/>
          <p:nvPr/>
        </p:nvSpPr>
        <p:spPr>
          <a:xfrm>
            <a:off x="10816782" y="3390284"/>
            <a:ext cx="491308" cy="288665"/>
          </a:xfrm>
          <a:prstGeom prst="rect">
            <a:avLst/>
          </a:prstGeom>
          <a:noFill/>
        </p:spPr>
        <p:txBody>
          <a:bodyPr wrap="none" lIns="0" rIns="0" tIns="0" bIns="0">
            <a:spAutoFit/>
          </a:bodyPr>
          <a:lstStyle/>
          <a:p>
            <a:pPr>
              <a:lnSpc>
                <a:spcPct val="112000"/>
              </a:lnSpc>
              <a:spcBef>
                <a:spcPts val="0"/>
              </a:spcBef>
              <a:spcAft>
                <a:spcPts val="0"/>
              </a:spcAft>
              <a:defRPr sz="1094" b="0">
                <a:solidFill>
                  <a:srgbClr val="333333"/>
                </a:solidFill>
                <a:latin typeface="微软雅黑"/>
              </a:defRPr>
            </a:pPr>
            <a:r>
              <a:rPr>
                <a:ea typeface="微软雅黑"/>
              </a:rPr>
              <a:t>Na₂O₂</a:t>
            </a:r>
          </a:p>
        </p:txBody>
      </p:sp>
      <p:sp>
        <p:nvSpPr>
          <p:cNvPr id="19" name="文字_单选题  ·  04-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04-016</a:t>
            </a:r>
          </a:p>
        </p:txBody>
      </p:sp>
      <p:sp>
        <p:nvSpPr>
          <p:cNvPr id="20" name="文字_2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例题5</a:t>
            </a:r>
          </a:p>
        </p:txBody>
      </p:sp>
      <p:sp>
        <p:nvSpPr>
          <p:cNvPr id="5" name="文字_P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P87</a:t>
            </a:r>
          </a:p>
        </p:txBody>
      </p:sp>
      <p:sp>
        <p:nvSpPr>
          <p:cNvPr id="6" name="文字_过氧化钠是钠的重要化合物.请回答下列问题："/>
          <p:cNvSpPr txBox="1"/>
          <p:nvPr/>
        </p:nvSpPr>
        <p:spPr>
          <a:xfrm>
            <a:off x="502920" y="107899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过氧化钠是钠的重要化合物.请回答下列问题：</a:t>
            </a:r>
          </a:p>
        </p:txBody>
      </p:sp>
      <p:sp>
        <p:nvSpPr>
          <p:cNvPr id="7" name="文字_(1)Na₂O₂与H₂O反应的化学方程式为 __"/>
          <p:cNvSpPr txBox="1"/>
          <p:nvPr/>
        </p:nvSpPr>
        <p:spPr>
          <a:xfrm>
            <a:off x="502920" y="1389888"/>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(1)Na₂O₂与H₂O反应的化学方程式为 ______ o</a:t>
            </a:r>
          </a:p>
        </p:txBody>
      </p:sp>
      <p:sp>
        <p:nvSpPr>
          <p:cNvPr id="8" name="文字_(2)某研究性学习小组在用过氧化钠做实验时，用脱"/>
          <p:cNvSpPr txBox="1"/>
          <p:nvPr/>
        </p:nvSpPr>
        <p:spPr>
          <a:xfrm>
            <a:off x="502920" y="1700784"/>
            <a:ext cx="11064240" cy="824738"/>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(2)某研究性学习小组在用过氧化钠做实验时，用脱脂棉包住少许过氧化钠粉末，置于石棉网上，向脱脂棉上滴水，可</a:t>
            </a:r>
          </a:p>
          <a:p>
            <a:pPr>
              <a:lnSpc>
                <a:spcPct val="112000"/>
              </a:lnSpc>
              <a:spcBef>
                <a:spcPts val="0"/>
              </a:spcBef>
              <a:spcAft>
                <a:spcPts val="0"/>
              </a:spcAft>
              <a:defRPr sz="1700" b="0">
                <a:solidFill>
                  <a:srgbClr val="333333"/>
                </a:solidFill>
                <a:latin typeface="微软雅黑"/>
              </a:defRPr>
            </a:pPr>
            <a:r>
              <a:rPr>
                <a:ea typeface="微软雅黑"/>
              </a:rPr>
              <a:t>观察到脱脂棉剧烈燃烧起来，该小组同学据此推断：脱脂棉燃烧的原因，一方面在于Na₂O₂与H₂O反应生成助燃性</a:t>
            </a:r>
          </a:p>
          <a:p>
            <a:pPr>
              <a:lnSpc>
                <a:spcPct val="112000"/>
              </a:lnSpc>
              <a:spcBef>
                <a:spcPts val="0"/>
              </a:spcBef>
              <a:spcAft>
                <a:spcPts val="0"/>
              </a:spcAft>
              <a:defRPr sz="1700" b="0">
                <a:solidFill>
                  <a:srgbClr val="333333"/>
                </a:solidFill>
                <a:latin typeface="微软雅黑"/>
              </a:defRPr>
            </a:pPr>
            <a:r>
              <a:rPr>
                <a:ea typeface="微软雅黑"/>
              </a:rPr>
              <a:t>气体，另一方面在于 ______ o</a:t>
            </a:r>
          </a:p>
        </p:txBody>
      </p:sp>
      <p:sp>
        <p:nvSpPr>
          <p:cNvPr id="9" name="文字_(3)为证明上述推断，该小组同学准备通过实验来验"/>
          <p:cNvSpPr txBox="1"/>
          <p:nvPr/>
        </p:nvSpPr>
        <p:spPr>
          <a:xfrm>
            <a:off x="502920" y="252552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(3)为证明上述推断，该小组同学准备通过实验来验证，他们设计的部分装置如图所示。</a:t>
            </a:r>
          </a:p>
        </p:txBody>
      </p:sp>
      <p:pic>
        <p:nvPicPr>
          <p:cNvPr id="10" name="Picture 9" descr="image.png"/>
          <p:cNvPicPr>
            <a:picLocks noChangeAspect="1"/>
          </p:cNvPicPr>
          <p:nvPr/>
        </p:nvPicPr>
        <p:blipFill>
          <a:blip r:embed="rId3"/>
          <a:stretch>
            <a:fillRect/>
          </a:stretch>
        </p:blipFill>
        <p:spPr>
          <a:xfrm>
            <a:off x="502920" y="2836418"/>
            <a:ext cx="10757775" cy="3097048"/>
          </a:xfrm>
          <a:prstGeom prst="rect">
            <a:avLst/>
          </a:prstGeom>
        </p:spPr>
      </p:pic>
      <p:sp>
        <p:nvSpPr>
          <p:cNvPr id="11" name="原题文字_87_11"/>
          <p:cNvSpPr txBox="1"/>
          <p:nvPr/>
        </p:nvSpPr>
        <p:spPr>
          <a:xfrm>
            <a:off x="800713" y="3232037"/>
            <a:ext cx="531332" cy="425844"/>
          </a:xfrm>
          <a:prstGeom prst="rect">
            <a:avLst/>
          </a:prstGeom>
          <a:noFill/>
        </p:spPr>
        <p:txBody>
          <a:bodyPr wrap="none" lIns="0" rIns="0" tIns="0" bIns="0">
            <a:spAutoFit/>
          </a:bodyPr>
          <a:lstStyle/>
          <a:p>
            <a:pPr>
              <a:lnSpc>
                <a:spcPct val="112000"/>
              </a:lnSpc>
              <a:spcBef>
                <a:spcPts val="0"/>
              </a:spcBef>
              <a:spcAft>
                <a:spcPts val="0"/>
              </a:spcAft>
              <a:defRPr sz="1805" b="0">
                <a:solidFill>
                  <a:srgbClr val="333333"/>
                </a:solidFill>
                <a:latin typeface="微软雅黑"/>
              </a:defRPr>
            </a:pPr>
            <a:r>
              <a:rPr>
                <a:ea typeface="微软雅黑"/>
              </a:rPr>
              <a:t>H₂O</a:t>
            </a:r>
          </a:p>
        </p:txBody>
      </p:sp>
      <p:sp>
        <p:nvSpPr>
          <p:cNvPr id="12" name="原题文字_87_12"/>
          <p:cNvSpPr txBox="1"/>
          <p:nvPr/>
        </p:nvSpPr>
        <p:spPr>
          <a:xfrm>
            <a:off x="636926" y="4817786"/>
            <a:ext cx="672784" cy="512948"/>
          </a:xfrm>
          <a:prstGeom prst="rect">
            <a:avLst/>
          </a:prstGeom>
          <a:noFill/>
        </p:spPr>
        <p:txBody>
          <a:bodyPr wrap="none" lIns="0" rIns="0" tIns="0" bIns="0">
            <a:spAutoFit/>
          </a:bodyPr>
          <a:lstStyle/>
          <a:p>
            <a:pPr>
              <a:lnSpc>
                <a:spcPct val="112000"/>
              </a:lnSpc>
              <a:spcBef>
                <a:spcPts val="0"/>
              </a:spcBef>
              <a:spcAft>
                <a:spcPts val="0"/>
              </a:spcAft>
              <a:defRPr sz="1640" b="0">
                <a:solidFill>
                  <a:srgbClr val="333333"/>
                </a:solidFill>
                <a:latin typeface="微软雅黑"/>
              </a:defRPr>
            </a:pPr>
            <a:r>
              <a:rPr>
                <a:ea typeface="微软雅黑"/>
              </a:rPr>
              <a:t>Na₂O₂</a:t>
            </a:r>
          </a:p>
        </p:txBody>
      </p:sp>
      <p:sp>
        <p:nvSpPr>
          <p:cNvPr id="13" name="原题文字_87_13"/>
          <p:cNvSpPr txBox="1"/>
          <p:nvPr/>
        </p:nvSpPr>
        <p:spPr>
          <a:xfrm>
            <a:off x="607147" y="5651606"/>
            <a:ext cx="3598601" cy="290348"/>
          </a:xfrm>
          <a:prstGeom prst="rect">
            <a:avLst/>
          </a:prstGeom>
          <a:noFill/>
        </p:spPr>
        <p:txBody>
          <a:bodyPr wrap="none" lIns="0" rIns="0" tIns="0" bIns="0">
            <a:spAutoFit/>
          </a:bodyPr>
          <a:lstStyle/>
          <a:p>
            <a:pPr>
              <a:lnSpc>
                <a:spcPct val="112000"/>
              </a:lnSpc>
              <a:spcBef>
                <a:spcPts val="0"/>
              </a:spcBef>
              <a:spcAft>
                <a:spcPts val="0"/>
              </a:spcAft>
              <a:defRPr sz="1406" b="0">
                <a:solidFill>
                  <a:srgbClr val="333333"/>
                </a:solidFill>
                <a:latin typeface="微软雅黑"/>
              </a:defRPr>
            </a:pPr>
            <a:r>
              <a:rPr>
                <a:ea typeface="微软雅黑"/>
              </a:rPr>
              <a:t>①证明有助燃性气体生成的实验方案是</a:t>
            </a:r>
          </a:p>
        </p:txBody>
      </p:sp>
      <p:sp>
        <p:nvSpPr>
          <p:cNvPr id="14" name="原题文字_87_14"/>
          <p:cNvSpPr txBox="1"/>
          <p:nvPr/>
        </p:nvSpPr>
        <p:spPr>
          <a:xfrm>
            <a:off x="4902813" y="5644162"/>
            <a:ext cx="4045291"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(要求写出操作、可能的现象与结论，下同)。</a:t>
            </a:r>
          </a:p>
        </p:txBody>
      </p:sp>
      <p:sp>
        <p:nvSpPr>
          <p:cNvPr id="15" name="文字_②证明导致燃烧其他因素的实验方案是"/>
          <p:cNvSpPr txBox="1"/>
          <p:nvPr/>
        </p:nvSpPr>
        <p:spPr>
          <a:xfrm>
            <a:off x="502920" y="6006618"/>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②证明导致燃烧其他因素的实验方案是</a:t>
            </a:r>
          </a:p>
        </p:txBody>
      </p:sp>
      <p:sp>
        <p:nvSpPr>
          <p:cNvPr id="16" name="文字_填空题  ·  04-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04-017</a:t>
            </a:r>
          </a:p>
        </p:txBody>
      </p:sp>
      <p:sp>
        <p:nvSpPr>
          <p:cNvPr id="17" name="文字_2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变式1</a:t>
            </a:r>
          </a:p>
        </p:txBody>
      </p:sp>
      <p:sp>
        <p:nvSpPr>
          <p:cNvPr id="5" name="文字_P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P87</a:t>
            </a:r>
          </a:p>
        </p:txBody>
      </p:sp>
      <p:sp>
        <p:nvSpPr>
          <p:cNvPr id="6" name="文字_为了使宇航员在飞船中得到一个稳定的、良好的生存环"/>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为了使宇航员在飞船中得到一个稳定的、良好的生存环境，一般在飞船内安装盛有</a:t>
            </a:r>
          </a:p>
          <a:p>
            <a:pPr>
              <a:lnSpc>
                <a:spcPct val="112000"/>
              </a:lnSpc>
              <a:spcBef>
                <a:spcPts val="0"/>
              </a:spcBef>
              <a:spcAft>
                <a:spcPts val="0"/>
              </a:spcAft>
              <a:defRPr sz="2400" b="0">
                <a:solidFill>
                  <a:srgbClr val="333333"/>
                </a:solidFill>
                <a:latin typeface="微软雅黑"/>
              </a:defRPr>
            </a:pPr>
            <a:r>
              <a:rPr>
                <a:ea typeface="微软雅黑"/>
              </a:rPr>
              <a:t>Na₂O₂或K₂O₂颗粒的装置，它的用途是产生氧气，下列关于Na₂O₂的叙述正确</a:t>
            </a:r>
          </a:p>
          <a:p>
            <a:pPr>
              <a:lnSpc>
                <a:spcPct val="112000"/>
              </a:lnSpc>
              <a:spcBef>
                <a:spcPts val="0"/>
              </a:spcBef>
              <a:spcAft>
                <a:spcPts val="0"/>
              </a:spcAft>
              <a:defRPr sz="2400" b="0">
                <a:solidFill>
                  <a:srgbClr val="333333"/>
                </a:solidFill>
                <a:latin typeface="微软雅黑"/>
              </a:defRPr>
            </a:pPr>
            <a:r>
              <a:rPr>
                <a:ea typeface="微软雅黑"/>
              </a:rPr>
              <a:t>的是（）</a:t>
            </a:r>
          </a:p>
        </p:txBody>
      </p:sp>
      <p:sp>
        <p:nvSpPr>
          <p:cNvPr id="7" name="文字_①Na₂O₂中阴、阳离子的个数比是1：1"/>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①Na₂O₂中阴、阳离子的个数比是1：1</a:t>
            </a:r>
          </a:p>
        </p:txBody>
      </p:sp>
      <p:sp>
        <p:nvSpPr>
          <p:cNvPr id="8" name="文字_②Na₂O₂分别与水及CO₂反应产生等量氧气时，"/>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②Na₂O₂分别与水及CO₂反应产生等量氧气时，转移电子的物质的量相等</a:t>
            </a:r>
          </a:p>
        </p:txBody>
      </p:sp>
      <p:sp>
        <p:nvSpPr>
          <p:cNvPr id="9" name="文字_③Na₂O₂投入到紫色石蕊试液中，溶液先变蓝，后"/>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③Na₂O₂投入到紫色石蕊试液中，溶液先变蓝，后褪色</a:t>
            </a:r>
          </a:p>
        </p:txBody>
      </p:sp>
      <p:sp>
        <p:nvSpPr>
          <p:cNvPr id="10" name="文字_④Na₂O₂能与酸反应生成盐和水，所以Na₂O₂"/>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④Na₂O₂能与酸反应生成盐和水，所以Na₂O₂是碱性氧化物</a:t>
            </a:r>
          </a:p>
        </p:txBody>
      </p:sp>
      <p:sp>
        <p:nvSpPr>
          <p:cNvPr id="11" name="文字_⑤Na₂O₂与水反应，Na₂O₂既是氧化剂，又是"/>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⑤Na₂O₂与水反应，Na₂O₂既是氧化剂，又是还原剂</a:t>
            </a:r>
          </a:p>
        </p:txBody>
      </p:sp>
      <p:sp>
        <p:nvSpPr>
          <p:cNvPr id="12" name="文字_A. ①③⑤"/>
          <p:cNvSpPr txBox="1"/>
          <p:nvPr/>
        </p:nvSpPr>
        <p:spPr>
          <a:xfrm>
            <a:off x="502920" y="44378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①③⑤</a:t>
            </a:r>
          </a:p>
        </p:txBody>
      </p:sp>
      <p:sp>
        <p:nvSpPr>
          <p:cNvPr id="13" name="文字_B. ②③⑤"/>
          <p:cNvSpPr txBox="1"/>
          <p:nvPr/>
        </p:nvSpPr>
        <p:spPr>
          <a:xfrm>
            <a:off x="502920" y="48768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②③⑤</a:t>
            </a:r>
          </a:p>
        </p:txBody>
      </p:sp>
      <p:sp>
        <p:nvSpPr>
          <p:cNvPr id="14" name="文字_C. ①②⑤"/>
          <p:cNvSpPr txBox="1"/>
          <p:nvPr/>
        </p:nvSpPr>
        <p:spPr>
          <a:xfrm>
            <a:off x="502920" y="53157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①②⑤</a:t>
            </a:r>
          </a:p>
        </p:txBody>
      </p:sp>
      <p:sp>
        <p:nvSpPr>
          <p:cNvPr id="15" name="文字_D. ①④⑤"/>
          <p:cNvSpPr txBox="1"/>
          <p:nvPr/>
        </p:nvSpPr>
        <p:spPr>
          <a:xfrm>
            <a:off x="502920" y="575462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①④⑤</a:t>
            </a:r>
          </a:p>
        </p:txBody>
      </p:sp>
      <p:sp>
        <p:nvSpPr>
          <p:cNvPr id="16" name="文字_单选题  ·  04-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04-018</a:t>
            </a:r>
          </a:p>
        </p:txBody>
      </p:sp>
      <p:sp>
        <p:nvSpPr>
          <p:cNvPr id="17" name="文字_2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变式2</a:t>
            </a:r>
          </a:p>
        </p:txBody>
      </p:sp>
      <p:sp>
        <p:nvSpPr>
          <p:cNvPr id="5" name="文字_P8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P87</a:t>
            </a:r>
          </a:p>
        </p:txBody>
      </p:sp>
      <p:sp>
        <p:nvSpPr>
          <p:cNvPr id="6" name="文字_部分钠的化合物转化关系如图所示，其中B为淡黄色固"/>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部分钠的化合物转化关系如图所示，其中B为淡黄色固体，以下说法正确的是（）</a:t>
            </a:r>
          </a:p>
        </p:txBody>
      </p:sp>
      <p:pic>
        <p:nvPicPr>
          <p:cNvPr id="7" name="Picture 6" descr="image.png"/>
          <p:cNvPicPr>
            <a:picLocks noChangeAspect="1"/>
          </p:cNvPicPr>
          <p:nvPr/>
        </p:nvPicPr>
        <p:blipFill>
          <a:blip r:embed="rId3"/>
          <a:stretch>
            <a:fillRect/>
          </a:stretch>
        </p:blipFill>
        <p:spPr>
          <a:xfrm>
            <a:off x="502920" y="1517904"/>
            <a:ext cx="11064240" cy="1500755"/>
          </a:xfrm>
          <a:prstGeom prst="rect">
            <a:avLst/>
          </a:prstGeom>
        </p:spPr>
      </p:pic>
      <p:sp>
        <p:nvSpPr>
          <p:cNvPr id="8" name="原题文字_87_35"/>
          <p:cNvSpPr txBox="1"/>
          <p:nvPr/>
        </p:nvSpPr>
        <p:spPr>
          <a:xfrm>
            <a:off x="594802" y="1572758"/>
            <a:ext cx="486340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化合物B为碱性氧化物，阴阳离子个数比为1：2</a:t>
            </a:r>
          </a:p>
        </p:txBody>
      </p:sp>
      <p:sp>
        <p:nvSpPr>
          <p:cNvPr id="9" name="原题文字_87_36"/>
          <p:cNvSpPr txBox="1"/>
          <p:nvPr/>
        </p:nvSpPr>
        <p:spPr>
          <a:xfrm>
            <a:off x="10296112" y="1549787"/>
            <a:ext cx="2769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a:t>
            </a:r>
          </a:p>
        </p:txBody>
      </p:sp>
      <p:sp>
        <p:nvSpPr>
          <p:cNvPr id="10" name="原题文字_87_37"/>
          <p:cNvSpPr txBox="1"/>
          <p:nvPr/>
        </p:nvSpPr>
        <p:spPr>
          <a:xfrm>
            <a:off x="9530421" y="1802465"/>
            <a:ext cx="44536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CO</a:t>
            </a:r>
          </a:p>
        </p:txBody>
      </p:sp>
      <p:sp>
        <p:nvSpPr>
          <p:cNvPr id="11" name="原题文字_87_38"/>
          <p:cNvSpPr txBox="1"/>
          <p:nvPr/>
        </p:nvSpPr>
        <p:spPr>
          <a:xfrm>
            <a:off x="10786154" y="1825436"/>
            <a:ext cx="606161" cy="547469"/>
          </a:xfrm>
          <a:prstGeom prst="rect">
            <a:avLst/>
          </a:prstGeom>
          <a:noFill/>
        </p:spPr>
        <p:txBody>
          <a:bodyPr wrap="none" lIns="0" rIns="0" tIns="0" bIns="0">
            <a:spAutoFit/>
          </a:bodyPr>
          <a:lstStyle/>
          <a:p>
            <a:pPr>
              <a:lnSpc>
                <a:spcPct val="112000"/>
              </a:lnSpc>
              <a:spcBef>
                <a:spcPts val="0"/>
              </a:spcBef>
              <a:spcAft>
                <a:spcPts val="0"/>
              </a:spcAft>
              <a:defRPr sz="2652" b="0">
                <a:solidFill>
                  <a:srgbClr val="333333"/>
                </a:solidFill>
                <a:latin typeface="微软雅黑"/>
              </a:defRPr>
            </a:pPr>
            <a:r>
              <a:rPr>
                <a:ea typeface="微软雅黑"/>
              </a:rPr>
              <a:t>CO,</a:t>
            </a:r>
          </a:p>
        </p:txBody>
      </p:sp>
      <p:sp>
        <p:nvSpPr>
          <p:cNvPr id="12" name="原题文字_87_39"/>
          <p:cNvSpPr txBox="1"/>
          <p:nvPr/>
        </p:nvSpPr>
        <p:spPr>
          <a:xfrm>
            <a:off x="571832" y="1955604"/>
            <a:ext cx="422022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物质D俗名为烧碱，可与酸性氧化物反应</a:t>
            </a:r>
          </a:p>
        </p:txBody>
      </p:sp>
      <p:sp>
        <p:nvSpPr>
          <p:cNvPr id="13" name="原题文字_87_40"/>
          <p:cNvSpPr txBox="1"/>
          <p:nvPr/>
        </p:nvSpPr>
        <p:spPr>
          <a:xfrm>
            <a:off x="8810671" y="2169997"/>
            <a:ext cx="37645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0</a:t>
            </a:r>
          </a:p>
        </p:txBody>
      </p:sp>
      <p:sp>
        <p:nvSpPr>
          <p:cNvPr id="14" name="原题文字_87_41"/>
          <p:cNvSpPr txBox="1"/>
          <p:nvPr/>
        </p:nvSpPr>
        <p:spPr>
          <a:xfrm>
            <a:off x="10074061" y="2147027"/>
            <a:ext cx="560220" cy="437975"/>
          </a:xfrm>
          <a:prstGeom prst="rect">
            <a:avLst/>
          </a:prstGeom>
          <a:noFill/>
        </p:spPr>
        <p:txBody>
          <a:bodyPr wrap="none" lIns="0" rIns="0" tIns="0" bIns="0">
            <a:spAutoFit/>
          </a:bodyPr>
          <a:lstStyle/>
          <a:p>
            <a:pPr>
              <a:lnSpc>
                <a:spcPct val="112000"/>
              </a:lnSpc>
              <a:spcBef>
                <a:spcPts val="0"/>
              </a:spcBef>
              <a:spcAft>
                <a:spcPts val="0"/>
              </a:spcAft>
              <a:defRPr sz="1938" b="0">
                <a:solidFill>
                  <a:srgbClr val="333333"/>
                </a:solidFill>
                <a:latin typeface="微软雅黑"/>
              </a:defRPr>
            </a:pPr>
            <a:r>
              <a:rPr>
                <a:ea typeface="微软雅黑"/>
              </a:rPr>
              <a:t>H₂O</a:t>
            </a:r>
          </a:p>
        </p:txBody>
      </p:sp>
      <p:sp>
        <p:nvSpPr>
          <p:cNvPr id="15" name="原题文字_87_42"/>
          <p:cNvSpPr txBox="1"/>
          <p:nvPr/>
        </p:nvSpPr>
        <p:spPr>
          <a:xfrm>
            <a:off x="594802" y="2353763"/>
            <a:ext cx="3408592"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C. 图中转化过程均为氧化还原反应</a:t>
            </a:r>
          </a:p>
        </p:txBody>
      </p:sp>
      <p:sp>
        <p:nvSpPr>
          <p:cNvPr id="16" name="原题文字_87_43"/>
          <p:cNvSpPr txBox="1"/>
          <p:nvPr/>
        </p:nvSpPr>
        <p:spPr>
          <a:xfrm>
            <a:off x="8335942" y="2392048"/>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7" name="原题文字_87_44"/>
          <p:cNvSpPr txBox="1"/>
          <p:nvPr/>
        </p:nvSpPr>
        <p:spPr>
          <a:xfrm>
            <a:off x="9538077" y="2392048"/>
            <a:ext cx="29222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B</a:t>
            </a:r>
          </a:p>
        </p:txBody>
      </p:sp>
      <p:sp>
        <p:nvSpPr>
          <p:cNvPr id="18" name="原题文字_87_45"/>
          <p:cNvSpPr txBox="1"/>
          <p:nvPr/>
        </p:nvSpPr>
        <p:spPr>
          <a:xfrm>
            <a:off x="11054146" y="2392048"/>
            <a:ext cx="2922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9" name="原题文字_87_46"/>
          <p:cNvSpPr txBox="1"/>
          <p:nvPr/>
        </p:nvSpPr>
        <p:spPr>
          <a:xfrm>
            <a:off x="8818328" y="2468617"/>
            <a:ext cx="31519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a:t>
            </a:r>
          </a:p>
        </p:txBody>
      </p:sp>
      <p:sp>
        <p:nvSpPr>
          <p:cNvPr id="20" name="原题文字_87_47"/>
          <p:cNvSpPr txBox="1"/>
          <p:nvPr/>
        </p:nvSpPr>
        <p:spPr>
          <a:xfrm>
            <a:off x="571832" y="2728952"/>
            <a:ext cx="326311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B→D的反应中，氧化剂为H₂O</a:t>
            </a:r>
          </a:p>
        </p:txBody>
      </p:sp>
      <p:sp>
        <p:nvSpPr>
          <p:cNvPr id="21" name="文字_单选题  ·  04-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04-019</a:t>
            </a:r>
          </a:p>
        </p:txBody>
      </p:sp>
      <p:sp>
        <p:nvSpPr>
          <p:cNvPr id="22"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变式3</a:t>
            </a:r>
          </a:p>
        </p:txBody>
      </p:sp>
      <p:sp>
        <p:nvSpPr>
          <p:cNvPr id="5" name="文字_P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P88</a:t>
            </a:r>
          </a:p>
        </p:txBody>
      </p:sp>
      <p:sp>
        <p:nvSpPr>
          <p:cNvPr id="6" name="文字_为探究Na₂O₂与H₂O的反应，进行了如下实验："/>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为探究Na₂O₂与H₂O的反应，进行了如下实验：</a:t>
            </a:r>
          </a:p>
        </p:txBody>
      </p:sp>
      <p:pic>
        <p:nvPicPr>
          <p:cNvPr id="7" name="Picture 6" descr="image.png"/>
          <p:cNvPicPr>
            <a:picLocks noChangeAspect="1"/>
          </p:cNvPicPr>
          <p:nvPr/>
        </p:nvPicPr>
        <p:blipFill>
          <a:blip r:embed="rId3"/>
          <a:stretch>
            <a:fillRect/>
          </a:stretch>
        </p:blipFill>
        <p:spPr>
          <a:xfrm>
            <a:off x="502920" y="1517904"/>
            <a:ext cx="11064240" cy="2021425"/>
          </a:xfrm>
          <a:prstGeom prst="rect">
            <a:avLst/>
          </a:prstGeom>
        </p:spPr>
      </p:pic>
      <p:sp>
        <p:nvSpPr>
          <p:cNvPr id="8" name="原题文字_88_1"/>
          <p:cNvSpPr txBox="1"/>
          <p:nvPr/>
        </p:nvSpPr>
        <p:spPr>
          <a:xfrm>
            <a:off x="3159868" y="1549787"/>
            <a:ext cx="705701"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酚酞试液</a:t>
            </a:r>
          </a:p>
        </p:txBody>
      </p:sp>
      <p:sp>
        <p:nvSpPr>
          <p:cNvPr id="9" name="原题文字_88_2"/>
          <p:cNvSpPr txBox="1"/>
          <p:nvPr/>
        </p:nvSpPr>
        <p:spPr>
          <a:xfrm>
            <a:off x="3565685" y="1856064"/>
            <a:ext cx="56787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实验ii</a:t>
            </a:r>
          </a:p>
        </p:txBody>
      </p:sp>
      <p:sp>
        <p:nvSpPr>
          <p:cNvPr id="10" name="原题文字_88_3"/>
          <p:cNvSpPr txBox="1"/>
          <p:nvPr/>
        </p:nvSpPr>
        <p:spPr>
          <a:xfrm>
            <a:off x="1965390" y="2047487"/>
            <a:ext cx="621475" cy="248849"/>
          </a:xfrm>
          <a:prstGeom prst="rect">
            <a:avLst/>
          </a:prstGeom>
          <a:noFill/>
        </p:spPr>
        <p:txBody>
          <a:bodyPr wrap="none" lIns="0" rIns="0" tIns="0" bIns="0">
            <a:spAutoFit/>
          </a:bodyPr>
          <a:lstStyle/>
          <a:p>
            <a:pPr>
              <a:lnSpc>
                <a:spcPct val="112000"/>
              </a:lnSpc>
              <a:spcBef>
                <a:spcPts val="0"/>
              </a:spcBef>
              <a:spcAft>
                <a:spcPts val="0"/>
              </a:spcAft>
              <a:defRPr sz="1118" b="0">
                <a:solidFill>
                  <a:srgbClr val="333333"/>
                </a:solidFill>
                <a:latin typeface="微软雅黑"/>
              </a:defRPr>
            </a:pPr>
            <a:r>
              <a:rPr>
                <a:ea typeface="微软雅黑"/>
              </a:rPr>
              <a:t>8mLH₂O</a:t>
            </a:r>
          </a:p>
        </p:txBody>
      </p:sp>
      <p:sp>
        <p:nvSpPr>
          <p:cNvPr id="11" name="原题文字_88_4"/>
          <p:cNvSpPr txBox="1"/>
          <p:nvPr/>
        </p:nvSpPr>
        <p:spPr>
          <a:xfrm>
            <a:off x="3580999" y="2078114"/>
            <a:ext cx="1149802" cy="278711"/>
          </a:xfrm>
          <a:prstGeom prst="rect">
            <a:avLst/>
          </a:prstGeom>
          <a:noFill/>
        </p:spPr>
        <p:txBody>
          <a:bodyPr wrap="none" lIns="0" rIns="0" tIns="0" bIns="0">
            <a:spAutoFit/>
          </a:bodyPr>
          <a:lstStyle/>
          <a:p>
            <a:pPr>
              <a:lnSpc>
                <a:spcPct val="112000"/>
              </a:lnSpc>
              <a:spcBef>
                <a:spcPts val="0"/>
              </a:spcBef>
              <a:spcAft>
                <a:spcPts val="0"/>
              </a:spcAft>
              <a:defRPr sz="1283" b="0">
                <a:solidFill>
                  <a:srgbClr val="333333"/>
                </a:solidFill>
                <a:latin typeface="微软雅黑"/>
              </a:defRPr>
            </a:pPr>
            <a:r>
              <a:rPr>
                <a:ea typeface="微软雅黑"/>
              </a:rPr>
              <a:t>先变红，后褪色</a:t>
            </a:r>
          </a:p>
        </p:txBody>
      </p:sp>
      <p:sp>
        <p:nvSpPr>
          <p:cNvPr id="12" name="原题文字_88_5"/>
          <p:cNvSpPr txBox="1"/>
          <p:nvPr/>
        </p:nvSpPr>
        <p:spPr>
          <a:xfrm>
            <a:off x="1054217" y="2192968"/>
            <a:ext cx="53724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实验i</a:t>
            </a:r>
          </a:p>
        </p:txBody>
      </p:sp>
      <p:sp>
        <p:nvSpPr>
          <p:cNvPr id="13" name="原题文字_88_6"/>
          <p:cNvSpPr txBox="1"/>
          <p:nvPr/>
        </p:nvSpPr>
        <p:spPr>
          <a:xfrm>
            <a:off x="594802" y="2399705"/>
            <a:ext cx="1433108" cy="268757"/>
          </a:xfrm>
          <a:prstGeom prst="rect">
            <a:avLst/>
          </a:prstGeom>
          <a:noFill/>
        </p:spPr>
        <p:txBody>
          <a:bodyPr wrap="none" lIns="0" rIns="0" tIns="0" bIns="0">
            <a:spAutoFit/>
          </a:bodyPr>
          <a:lstStyle/>
          <a:p>
            <a:pPr>
              <a:lnSpc>
                <a:spcPct val="112000"/>
              </a:lnSpc>
              <a:spcBef>
                <a:spcPts val="0"/>
              </a:spcBef>
              <a:spcAft>
                <a:spcPts val="0"/>
              </a:spcAft>
              <a:defRPr sz="1247" b="0">
                <a:solidFill>
                  <a:srgbClr val="333333"/>
                </a:solidFill>
                <a:latin typeface="微软雅黑"/>
              </a:defRPr>
            </a:pPr>
            <a:r>
              <a:rPr>
                <a:ea typeface="微软雅黑"/>
              </a:rPr>
              <a:t>剧烈反应，产生大量</a:t>
            </a:r>
          </a:p>
        </p:txBody>
      </p:sp>
      <p:sp>
        <p:nvSpPr>
          <p:cNvPr id="14" name="原题文字_88_7"/>
          <p:cNvSpPr txBox="1"/>
          <p:nvPr/>
        </p:nvSpPr>
        <p:spPr>
          <a:xfrm>
            <a:off x="3274722" y="2491588"/>
            <a:ext cx="483651" cy="328481"/>
          </a:xfrm>
          <a:prstGeom prst="rect">
            <a:avLst/>
          </a:prstGeom>
          <a:noFill/>
        </p:spPr>
        <p:txBody>
          <a:bodyPr wrap="none" lIns="0" rIns="0" tIns="0" bIns="0">
            <a:spAutoFit/>
          </a:bodyPr>
          <a:lstStyle/>
          <a:p>
            <a:pPr>
              <a:lnSpc>
                <a:spcPct val="112000"/>
              </a:lnSpc>
              <a:spcBef>
                <a:spcPts val="0"/>
              </a:spcBef>
              <a:spcAft>
                <a:spcPts val="0"/>
              </a:spcAft>
              <a:defRPr sz="1238" b="0">
                <a:solidFill>
                  <a:srgbClr val="333333"/>
                </a:solidFill>
                <a:latin typeface="微软雅黑"/>
              </a:defRPr>
            </a:pPr>
            <a:r>
              <a:rPr>
                <a:ea typeface="微软雅黑"/>
              </a:rPr>
              <a:t>MnO₂</a:t>
            </a:r>
          </a:p>
        </p:txBody>
      </p:sp>
      <p:sp>
        <p:nvSpPr>
          <p:cNvPr id="15" name="原题文字_88_8"/>
          <p:cNvSpPr txBox="1"/>
          <p:nvPr/>
        </p:nvSpPr>
        <p:spPr>
          <a:xfrm>
            <a:off x="5273177" y="2468617"/>
            <a:ext cx="721015"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酚酞试液</a:t>
            </a:r>
          </a:p>
        </p:txBody>
      </p:sp>
      <p:sp>
        <p:nvSpPr>
          <p:cNvPr id="16" name="原题文字_88_9"/>
          <p:cNvSpPr txBox="1"/>
          <p:nvPr/>
        </p:nvSpPr>
        <p:spPr>
          <a:xfrm>
            <a:off x="594802" y="2591128"/>
            <a:ext cx="1433108" cy="278711"/>
          </a:xfrm>
          <a:prstGeom prst="rect">
            <a:avLst/>
          </a:prstGeom>
          <a:noFill/>
        </p:spPr>
        <p:txBody>
          <a:bodyPr wrap="none" lIns="0" rIns="0" tIns="0" bIns="0">
            <a:spAutoFit/>
          </a:bodyPr>
          <a:lstStyle/>
          <a:p>
            <a:pPr>
              <a:lnSpc>
                <a:spcPct val="112000"/>
              </a:lnSpc>
              <a:spcBef>
                <a:spcPts val="0"/>
              </a:spcBef>
              <a:spcAft>
                <a:spcPts val="0"/>
              </a:spcAft>
              <a:defRPr sz="1246" b="0">
                <a:solidFill>
                  <a:srgbClr val="333333"/>
                </a:solidFill>
                <a:latin typeface="微软雅黑"/>
              </a:defRPr>
            </a:pPr>
            <a:r>
              <a:rPr>
                <a:ea typeface="微软雅黑"/>
              </a:rPr>
              <a:t>气泡，固体溶解，试</a:t>
            </a:r>
          </a:p>
        </p:txBody>
      </p:sp>
      <p:sp>
        <p:nvSpPr>
          <p:cNvPr id="17" name="原题文字_88_10"/>
          <p:cNvSpPr txBox="1"/>
          <p:nvPr/>
        </p:nvSpPr>
        <p:spPr>
          <a:xfrm>
            <a:off x="3611626" y="2698324"/>
            <a:ext cx="567877"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实验iii</a:t>
            </a:r>
          </a:p>
        </p:txBody>
      </p:sp>
      <p:sp>
        <p:nvSpPr>
          <p:cNvPr id="18" name="原题文字_88_11"/>
          <p:cNvSpPr txBox="1"/>
          <p:nvPr/>
        </p:nvSpPr>
        <p:spPr>
          <a:xfrm>
            <a:off x="594802" y="2782550"/>
            <a:ext cx="705701"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管壁发热</a:t>
            </a:r>
          </a:p>
        </p:txBody>
      </p:sp>
      <p:sp>
        <p:nvSpPr>
          <p:cNvPr id="19" name="原题文字_88_12"/>
          <p:cNvSpPr txBox="1"/>
          <p:nvPr/>
        </p:nvSpPr>
        <p:spPr>
          <a:xfrm>
            <a:off x="2286980" y="2774893"/>
            <a:ext cx="506621" cy="298619"/>
          </a:xfrm>
          <a:prstGeom prst="rect">
            <a:avLst/>
          </a:prstGeom>
          <a:noFill/>
        </p:spPr>
        <p:txBody>
          <a:bodyPr wrap="none" lIns="0" rIns="0" tIns="0" bIns="0">
            <a:spAutoFit/>
          </a:bodyPr>
          <a:lstStyle/>
          <a:p>
            <a:pPr>
              <a:lnSpc>
                <a:spcPct val="112000"/>
              </a:lnSpc>
              <a:spcBef>
                <a:spcPts val="0"/>
              </a:spcBef>
              <a:spcAft>
                <a:spcPts val="0"/>
              </a:spcAft>
              <a:defRPr sz="1122" b="0">
                <a:solidFill>
                  <a:srgbClr val="333333"/>
                </a:solidFill>
                <a:latin typeface="微软雅黑"/>
              </a:defRPr>
            </a:pPr>
            <a:r>
              <a:rPr>
                <a:ea typeface="微软雅黑"/>
              </a:rPr>
              <a:t>Na₂O₂</a:t>
            </a:r>
          </a:p>
        </p:txBody>
      </p:sp>
      <p:sp>
        <p:nvSpPr>
          <p:cNvPr id="20" name="原题文字_88_13"/>
          <p:cNvSpPr txBox="1"/>
          <p:nvPr/>
        </p:nvSpPr>
        <p:spPr>
          <a:xfrm>
            <a:off x="3611626" y="2889747"/>
            <a:ext cx="1402480" cy="298619"/>
          </a:xfrm>
          <a:prstGeom prst="rect">
            <a:avLst/>
          </a:prstGeom>
          <a:noFill/>
        </p:spPr>
        <p:txBody>
          <a:bodyPr wrap="none" lIns="0" rIns="0" tIns="0" bIns="0">
            <a:spAutoFit/>
          </a:bodyPr>
          <a:lstStyle/>
          <a:p>
            <a:pPr>
              <a:lnSpc>
                <a:spcPct val="112000"/>
              </a:lnSpc>
              <a:spcBef>
                <a:spcPts val="0"/>
              </a:spcBef>
              <a:spcAft>
                <a:spcPts val="0"/>
              </a:spcAft>
              <a:defRPr sz="1259" b="0">
                <a:solidFill>
                  <a:srgbClr val="333333"/>
                </a:solidFill>
                <a:latin typeface="微软雅黑"/>
              </a:defRPr>
            </a:pPr>
            <a:r>
              <a:rPr>
                <a:ea typeface="微软雅黑"/>
              </a:rPr>
              <a:t>迅速产生大量气泡，</a:t>
            </a:r>
          </a:p>
        </p:txBody>
      </p:sp>
      <p:sp>
        <p:nvSpPr>
          <p:cNvPr id="21" name="原题文字_88_14"/>
          <p:cNvSpPr txBox="1"/>
          <p:nvPr/>
        </p:nvSpPr>
        <p:spPr>
          <a:xfrm>
            <a:off x="5694307" y="2820835"/>
            <a:ext cx="57553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实验iv</a:t>
            </a:r>
          </a:p>
        </p:txBody>
      </p:sp>
      <p:sp>
        <p:nvSpPr>
          <p:cNvPr id="22" name="原题文字_88_15"/>
          <p:cNvSpPr txBox="1"/>
          <p:nvPr/>
        </p:nvSpPr>
        <p:spPr>
          <a:xfrm>
            <a:off x="3626940" y="3096484"/>
            <a:ext cx="1433108" cy="258803"/>
          </a:xfrm>
          <a:prstGeom prst="rect">
            <a:avLst/>
          </a:prstGeom>
          <a:noFill/>
        </p:spPr>
        <p:txBody>
          <a:bodyPr wrap="none" lIns="0" rIns="0" tIns="0" bIns="0">
            <a:spAutoFit/>
          </a:bodyPr>
          <a:lstStyle/>
          <a:p>
            <a:pPr>
              <a:lnSpc>
                <a:spcPct val="112000"/>
              </a:lnSpc>
              <a:spcBef>
                <a:spcPts val="0"/>
              </a:spcBef>
              <a:spcAft>
                <a:spcPts val="0"/>
              </a:spcAft>
              <a:defRPr sz="1249" b="0">
                <a:solidFill>
                  <a:srgbClr val="333333"/>
                </a:solidFill>
                <a:latin typeface="微软雅黑"/>
              </a:defRPr>
            </a:pPr>
            <a:r>
              <a:rPr>
                <a:ea typeface="微软雅黑"/>
              </a:rPr>
              <a:t>使带火星的木条复燃</a:t>
            </a:r>
          </a:p>
        </p:txBody>
      </p:sp>
      <p:sp>
        <p:nvSpPr>
          <p:cNvPr id="23" name="原题文字_88_16"/>
          <p:cNvSpPr txBox="1"/>
          <p:nvPr/>
        </p:nvSpPr>
        <p:spPr>
          <a:xfrm>
            <a:off x="5724935" y="3042885"/>
            <a:ext cx="989007" cy="278711"/>
          </a:xfrm>
          <a:prstGeom prst="rect">
            <a:avLst/>
          </a:prstGeom>
          <a:noFill/>
        </p:spPr>
        <p:txBody>
          <a:bodyPr wrap="none" lIns="0" rIns="0" tIns="0" bIns="0">
            <a:spAutoFit/>
          </a:bodyPr>
          <a:lstStyle/>
          <a:p>
            <a:pPr>
              <a:lnSpc>
                <a:spcPct val="112000"/>
              </a:lnSpc>
              <a:spcBef>
                <a:spcPts val="0"/>
              </a:spcBef>
              <a:spcAft>
                <a:spcPts val="0"/>
              </a:spcAft>
              <a:defRPr sz="1286" b="0">
                <a:solidFill>
                  <a:srgbClr val="333333"/>
                </a:solidFill>
                <a:latin typeface="微软雅黑"/>
              </a:defRPr>
            </a:pPr>
            <a:r>
              <a:rPr>
                <a:ea typeface="微软雅黑"/>
              </a:rPr>
              <a:t>溶液变为红色</a:t>
            </a:r>
          </a:p>
        </p:txBody>
      </p:sp>
      <p:sp>
        <p:nvSpPr>
          <p:cNvPr id="24" name="原题文字_88_17"/>
          <p:cNvSpPr txBox="1"/>
          <p:nvPr/>
        </p:nvSpPr>
        <p:spPr>
          <a:xfrm>
            <a:off x="5510541" y="3218994"/>
            <a:ext cx="185031" cy="268757"/>
          </a:xfrm>
          <a:prstGeom prst="rect">
            <a:avLst/>
          </a:prstGeom>
          <a:noFill/>
        </p:spPr>
        <p:txBody>
          <a:bodyPr wrap="none" lIns="0" rIns="0" tIns="0" bIns="0">
            <a:spAutoFit/>
          </a:bodyPr>
          <a:lstStyle/>
          <a:p>
            <a:pPr>
              <a:lnSpc>
                <a:spcPct val="112000"/>
              </a:lnSpc>
              <a:spcBef>
                <a:spcPts val="0"/>
              </a:spcBef>
              <a:spcAft>
                <a:spcPts val="0"/>
              </a:spcAft>
              <a:defRPr sz="859" b="0">
                <a:solidFill>
                  <a:srgbClr val="333333"/>
                </a:solidFill>
                <a:latin typeface="微软雅黑"/>
              </a:defRPr>
            </a:pPr>
            <a:r>
              <a:rPr>
                <a:ea typeface="微软雅黑"/>
              </a:rPr>
              <a:t>IDD</a:t>
            </a:r>
          </a:p>
        </p:txBody>
      </p:sp>
      <p:sp>
        <p:nvSpPr>
          <p:cNvPr id="25" name="文字_有关说法不正确的是（）"/>
          <p:cNvSpPr txBox="1"/>
          <p:nvPr/>
        </p:nvSpPr>
        <p:spPr>
          <a:xfrm>
            <a:off x="502920" y="361248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有关说法不正确的是（）</a:t>
            </a:r>
          </a:p>
        </p:txBody>
      </p:sp>
      <p:sp>
        <p:nvSpPr>
          <p:cNvPr id="26" name="文字_A. 实验i中发生反应的化学方程式为2Na₂O₂"/>
          <p:cNvSpPr txBox="1"/>
          <p:nvPr/>
        </p:nvSpPr>
        <p:spPr>
          <a:xfrm>
            <a:off x="502920" y="405139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实验i中发生反应的化学方程式为2Na₂O₂ + 2H₂O=4NaOH + O₂↑</a:t>
            </a:r>
          </a:p>
        </p:txBody>
      </p:sp>
      <p:sp>
        <p:nvSpPr>
          <p:cNvPr id="27" name="文字_B. 实验iii中MnO₂做H₂O₂分解反应的催"/>
          <p:cNvSpPr txBox="1"/>
          <p:nvPr/>
        </p:nvSpPr>
        <p:spPr>
          <a:xfrm>
            <a:off x="502920" y="449030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实验iii中MnO₂做H₂O₂分解反应的催化剂</a:t>
            </a:r>
          </a:p>
        </p:txBody>
      </p:sp>
      <p:sp>
        <p:nvSpPr>
          <p:cNvPr id="28" name="文字_C. 综合实验i和iii可以说明Na₂O₂与H₂"/>
          <p:cNvSpPr txBox="1"/>
          <p:nvPr/>
        </p:nvSpPr>
        <p:spPr>
          <a:xfrm>
            <a:off x="502920" y="492921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综合实验i和iii可以说明Na₂O₂与H₂O反应有H₂O₂生成</a:t>
            </a:r>
          </a:p>
        </p:txBody>
      </p:sp>
      <p:sp>
        <p:nvSpPr>
          <p:cNvPr id="29" name="文字_D. 综合实验ii和iii可以说明使酚酞褪色的是"/>
          <p:cNvSpPr txBox="1"/>
          <p:nvPr/>
        </p:nvSpPr>
        <p:spPr>
          <a:xfrm>
            <a:off x="502920" y="536812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综合实验ii和iii可以说明使酚酞褪色的是O₂</a:t>
            </a:r>
          </a:p>
        </p:txBody>
      </p:sp>
      <p:sp>
        <p:nvSpPr>
          <p:cNvPr id="30" name="文字_单选题  ·  04-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04-020</a:t>
            </a:r>
          </a:p>
        </p:txBody>
      </p:sp>
      <p:sp>
        <p:nvSpPr>
          <p:cNvPr id="31"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变式4</a:t>
            </a:r>
          </a:p>
        </p:txBody>
      </p:sp>
      <p:sp>
        <p:nvSpPr>
          <p:cNvPr id="5" name="文字_P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P88</a:t>
            </a:r>
          </a:p>
        </p:txBody>
      </p:sp>
      <p:sp>
        <p:nvSpPr>
          <p:cNvPr id="6" name="文字_用如图实验装置(夹持仪器已省略，忽略水蒸气的体积"/>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用如图实验装置(夹持仪器已省略，忽略水蒸气的体积)测定已变质的Na₂O₂(含</a:t>
            </a:r>
          </a:p>
          <a:p>
            <a:pPr>
              <a:lnSpc>
                <a:spcPct val="112000"/>
              </a:lnSpc>
              <a:spcBef>
                <a:spcPts val="0"/>
              </a:spcBef>
              <a:spcAft>
                <a:spcPts val="0"/>
              </a:spcAft>
              <a:defRPr sz="2400" b="0">
                <a:solidFill>
                  <a:srgbClr val="333333"/>
                </a:solidFill>
                <a:latin typeface="微软雅黑"/>
              </a:defRPr>
            </a:pPr>
            <a:r>
              <a:rPr>
                <a:ea typeface="微软雅黑"/>
              </a:rPr>
              <a:t>Na₂CO₃杂质)的纯度。下列说法错误</a:t>
            </a:r>
          </a:p>
        </p:txBody>
      </p:sp>
      <p:pic>
        <p:nvPicPr>
          <p:cNvPr id="7" name="Picture 6" descr="image.png"/>
          <p:cNvPicPr>
            <a:picLocks noChangeAspect="1"/>
          </p:cNvPicPr>
          <p:nvPr/>
        </p:nvPicPr>
        <p:blipFill>
          <a:blip r:embed="rId3"/>
          <a:stretch>
            <a:fillRect/>
          </a:stretch>
        </p:blipFill>
        <p:spPr>
          <a:xfrm>
            <a:off x="502920" y="1880616"/>
            <a:ext cx="11064240" cy="2304730"/>
          </a:xfrm>
          <a:prstGeom prst="rect">
            <a:avLst/>
          </a:prstGeom>
        </p:spPr>
      </p:pic>
      <p:sp>
        <p:nvSpPr>
          <p:cNvPr id="8" name="原题文字_88_27"/>
          <p:cNvSpPr txBox="1"/>
          <p:nvPr/>
        </p:nvSpPr>
        <p:spPr>
          <a:xfrm>
            <a:off x="533547" y="1912499"/>
            <a:ext cx="621475"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的是</a:t>
            </a:r>
          </a:p>
        </p:txBody>
      </p:sp>
      <p:sp>
        <p:nvSpPr>
          <p:cNvPr id="9" name="原题文字_88_28"/>
          <p:cNvSpPr txBox="1"/>
          <p:nvPr/>
        </p:nvSpPr>
        <p:spPr>
          <a:xfrm>
            <a:off x="587146" y="2333630"/>
            <a:ext cx="437336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可以用恒压滴液漏斗来代替分液漏斗和a管</a:t>
            </a:r>
          </a:p>
        </p:txBody>
      </p:sp>
      <p:sp>
        <p:nvSpPr>
          <p:cNvPr id="10" name="原题文字_88_29"/>
          <p:cNvSpPr txBox="1"/>
          <p:nvPr/>
        </p:nvSpPr>
        <p:spPr>
          <a:xfrm>
            <a:off x="10158287" y="2356600"/>
            <a:ext cx="583191" cy="328481"/>
          </a:xfrm>
          <a:prstGeom prst="rect">
            <a:avLst/>
          </a:prstGeom>
          <a:noFill/>
        </p:spPr>
        <p:txBody>
          <a:bodyPr wrap="none" lIns="0" rIns="0" tIns="0" bIns="0">
            <a:spAutoFit/>
          </a:bodyPr>
          <a:lstStyle/>
          <a:p>
            <a:pPr>
              <a:lnSpc>
                <a:spcPct val="112000"/>
              </a:lnSpc>
              <a:spcBef>
                <a:spcPts val="0"/>
              </a:spcBef>
              <a:spcAft>
                <a:spcPts val="0"/>
              </a:spcAft>
              <a:defRPr sz="1050" b="0">
                <a:solidFill>
                  <a:srgbClr val="333333"/>
                </a:solidFill>
                <a:latin typeface="微软雅黑"/>
              </a:defRPr>
            </a:pPr>
            <a:r>
              <a:rPr>
                <a:ea typeface="微软雅黑"/>
              </a:rPr>
              <a:t>稀H₂SO₄</a:t>
            </a:r>
          </a:p>
        </p:txBody>
      </p:sp>
      <p:sp>
        <p:nvSpPr>
          <p:cNvPr id="11" name="原题文字_88_30"/>
          <p:cNvSpPr txBox="1"/>
          <p:nvPr/>
        </p:nvSpPr>
        <p:spPr>
          <a:xfrm>
            <a:off x="571832" y="2708818"/>
            <a:ext cx="563675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撤掉支管a并将试管右侧支管密封，测得Na₂O₂纯度偏高</a:t>
            </a:r>
          </a:p>
        </p:txBody>
      </p:sp>
      <p:sp>
        <p:nvSpPr>
          <p:cNvPr id="12" name="原题文字_88_31"/>
          <p:cNvSpPr txBox="1"/>
          <p:nvPr/>
        </p:nvSpPr>
        <p:spPr>
          <a:xfrm>
            <a:off x="587146" y="3091664"/>
            <a:ext cx="350813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 干燥管b中碱石灰可用Na₂O₂代替</a:t>
            </a:r>
          </a:p>
        </p:txBody>
      </p:sp>
      <p:sp>
        <p:nvSpPr>
          <p:cNvPr id="13" name="原题文字_88_32"/>
          <p:cNvSpPr txBox="1"/>
          <p:nvPr/>
        </p:nvSpPr>
        <p:spPr>
          <a:xfrm>
            <a:off x="10418622" y="3260116"/>
            <a:ext cx="238629" cy="597239"/>
          </a:xfrm>
          <a:prstGeom prst="rect">
            <a:avLst/>
          </a:prstGeom>
          <a:noFill/>
        </p:spPr>
        <p:txBody>
          <a:bodyPr wrap="none" lIns="0" rIns="0" tIns="0" bIns="0">
            <a:spAutoFit/>
          </a:bodyPr>
          <a:lstStyle/>
          <a:p>
            <a:pPr>
              <a:lnSpc>
                <a:spcPct val="112000"/>
              </a:lnSpc>
              <a:spcBef>
                <a:spcPts val="0"/>
              </a:spcBef>
              <a:spcAft>
                <a:spcPts val="0"/>
              </a:spcAft>
              <a:defRPr sz="1910" b="0">
                <a:solidFill>
                  <a:srgbClr val="333333"/>
                </a:solidFill>
                <a:latin typeface="微软雅黑"/>
              </a:defRPr>
            </a:pPr>
            <a:r>
              <a:rPr>
                <a:ea typeface="微软雅黑"/>
              </a:rPr>
              <a:t>碱石灰</a:t>
            </a:r>
          </a:p>
        </p:txBody>
      </p:sp>
      <p:sp>
        <p:nvSpPr>
          <p:cNvPr id="14" name="原题文字_88_33"/>
          <p:cNvSpPr txBox="1"/>
          <p:nvPr/>
        </p:nvSpPr>
        <p:spPr>
          <a:xfrm>
            <a:off x="564175" y="3459196"/>
            <a:ext cx="4335078" cy="378251"/>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D. 大试管中产生气体的主要成分为O₂、CO₂</a:t>
            </a:r>
          </a:p>
        </p:txBody>
      </p:sp>
      <p:sp>
        <p:nvSpPr>
          <p:cNvPr id="15" name="原题文字_88_34"/>
          <p:cNvSpPr txBox="1"/>
          <p:nvPr/>
        </p:nvSpPr>
        <p:spPr>
          <a:xfrm>
            <a:off x="10740213" y="3742502"/>
            <a:ext cx="621475" cy="278711"/>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固体样品</a:t>
            </a:r>
          </a:p>
        </p:txBody>
      </p:sp>
      <p:sp>
        <p:nvSpPr>
          <p:cNvPr id="16" name="原题文字_88_35"/>
          <p:cNvSpPr txBox="1"/>
          <p:nvPr/>
        </p:nvSpPr>
        <p:spPr>
          <a:xfrm>
            <a:off x="9193516" y="3910954"/>
            <a:ext cx="208002"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水</a:t>
            </a:r>
          </a:p>
        </p:txBody>
      </p:sp>
      <p:sp>
        <p:nvSpPr>
          <p:cNvPr id="17" name="文字_单选题  ·  04-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04-021</a:t>
            </a:r>
          </a:p>
        </p:txBody>
      </p:sp>
      <p:sp>
        <p:nvSpPr>
          <p:cNvPr id="18"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氧化钠和过氧化钠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氧化钠和过氧化钠 · 变式5</a:t>
            </a:r>
          </a:p>
        </p:txBody>
      </p:sp>
      <p:sp>
        <p:nvSpPr>
          <p:cNvPr id="5" name="文字_P8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P88</a:t>
            </a:r>
          </a:p>
        </p:txBody>
      </p:sp>
      <p:sp>
        <p:nvSpPr>
          <p:cNvPr id="6" name="文字_有A、B、C、D、E五种物质，在一定条件下的相互"/>
          <p:cNvSpPr txBox="1"/>
          <p:nvPr/>
        </p:nvSpPr>
        <p:spPr>
          <a:xfrm>
            <a:off x="502920" y="1078992"/>
            <a:ext cx="11064240" cy="668020"/>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有A、B、C、D、E五种物质，在一定条件下的相互转化关系如图所示。已知：常温下E为无色液体</a:t>
            </a:r>
          </a:p>
          <a:p>
            <a:pPr>
              <a:lnSpc>
                <a:spcPct val="112000"/>
              </a:lnSpc>
              <a:spcBef>
                <a:spcPts val="0"/>
              </a:spcBef>
              <a:spcAft>
                <a:spcPts val="0"/>
              </a:spcAft>
              <a:defRPr sz="2000" b="0">
                <a:solidFill>
                  <a:srgbClr val="333333"/>
                </a:solidFill>
                <a:latin typeface="微软雅黑"/>
              </a:defRPr>
            </a:pPr>
            <a:r>
              <a:rPr>
                <a:ea typeface="微软雅黑"/>
              </a:rPr>
              <a:t>，C、D为无色气体单质，A为金属单质，B为淡黄色固体。请回答下列问题：</a:t>
            </a:r>
          </a:p>
        </p:txBody>
      </p:sp>
      <p:pic>
        <p:nvPicPr>
          <p:cNvPr id="7" name="Picture 6" descr="image.png"/>
          <p:cNvPicPr>
            <a:picLocks noChangeAspect="1"/>
          </p:cNvPicPr>
          <p:nvPr/>
        </p:nvPicPr>
        <p:blipFill>
          <a:blip r:embed="rId3"/>
          <a:stretch>
            <a:fillRect/>
          </a:stretch>
        </p:blipFill>
        <p:spPr>
          <a:xfrm>
            <a:off x="502920" y="1747011"/>
            <a:ext cx="11064240" cy="1301675"/>
          </a:xfrm>
          <a:prstGeom prst="rect">
            <a:avLst/>
          </a:prstGeom>
        </p:spPr>
      </p:pic>
      <p:sp>
        <p:nvSpPr>
          <p:cNvPr id="8" name="原题文字_88_41"/>
          <p:cNvSpPr txBox="1"/>
          <p:nvPr/>
        </p:nvSpPr>
        <p:spPr>
          <a:xfrm>
            <a:off x="870451" y="1786552"/>
            <a:ext cx="361140"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+C</a:t>
            </a:r>
          </a:p>
        </p:txBody>
      </p:sp>
      <p:sp>
        <p:nvSpPr>
          <p:cNvPr id="9" name="原题文字_88_42"/>
          <p:cNvSpPr txBox="1"/>
          <p:nvPr/>
        </p:nvSpPr>
        <p:spPr>
          <a:xfrm>
            <a:off x="1345180" y="1870778"/>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B</a:t>
            </a:r>
          </a:p>
        </p:txBody>
      </p:sp>
      <p:sp>
        <p:nvSpPr>
          <p:cNvPr id="10" name="原题文字_88_43"/>
          <p:cNvSpPr txBox="1"/>
          <p:nvPr/>
        </p:nvSpPr>
        <p:spPr>
          <a:xfrm>
            <a:off x="1643800" y="1786552"/>
            <a:ext cx="35348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+E</a:t>
            </a:r>
          </a:p>
        </p:txBody>
      </p:sp>
      <p:sp>
        <p:nvSpPr>
          <p:cNvPr id="11" name="原题文字_88_44"/>
          <p:cNvSpPr txBox="1"/>
          <p:nvPr/>
        </p:nvSpPr>
        <p:spPr>
          <a:xfrm>
            <a:off x="2141499" y="1847807"/>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a:t>
            </a:r>
          </a:p>
        </p:txBody>
      </p:sp>
      <p:sp>
        <p:nvSpPr>
          <p:cNvPr id="12" name="原题文字_88_45"/>
          <p:cNvSpPr txBox="1"/>
          <p:nvPr/>
        </p:nvSpPr>
        <p:spPr>
          <a:xfrm>
            <a:off x="2738738" y="2100486"/>
            <a:ext cx="904781" cy="358343"/>
          </a:xfrm>
          <a:prstGeom prst="rect">
            <a:avLst/>
          </a:prstGeom>
          <a:noFill/>
        </p:spPr>
        <p:txBody>
          <a:bodyPr wrap="none" lIns="0" rIns="0" tIns="0" bIns="0">
            <a:spAutoFit/>
          </a:bodyPr>
          <a:lstStyle/>
          <a:p>
            <a:pPr>
              <a:lnSpc>
                <a:spcPct val="112000"/>
              </a:lnSpc>
              <a:spcBef>
                <a:spcPts val="0"/>
              </a:spcBef>
              <a:spcAft>
                <a:spcPts val="0"/>
              </a:spcAft>
              <a:defRPr sz="1440" b="0">
                <a:solidFill>
                  <a:srgbClr val="333333"/>
                </a:solidFill>
                <a:latin typeface="微软雅黑"/>
              </a:defRPr>
            </a:pPr>
            <a:r>
              <a:rPr>
                <a:ea typeface="微软雅黑"/>
              </a:rPr>
              <a:t>一定条件下</a:t>
            </a:r>
          </a:p>
        </p:txBody>
      </p:sp>
      <p:sp>
        <p:nvSpPr>
          <p:cNvPr id="13" name="原题文字_88_46"/>
          <p:cNvSpPr txBox="1"/>
          <p:nvPr/>
        </p:nvSpPr>
        <p:spPr>
          <a:xfrm>
            <a:off x="694342" y="2261281"/>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a:t>
            </a:r>
          </a:p>
        </p:txBody>
      </p:sp>
      <p:sp>
        <p:nvSpPr>
          <p:cNvPr id="14" name="原题文字_88_47"/>
          <p:cNvSpPr txBox="1"/>
          <p:nvPr/>
        </p:nvSpPr>
        <p:spPr>
          <a:xfrm>
            <a:off x="3642254" y="2238310"/>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E</a:t>
            </a:r>
          </a:p>
        </p:txBody>
      </p:sp>
      <p:sp>
        <p:nvSpPr>
          <p:cNvPr id="15" name="原题文字_88_48"/>
          <p:cNvSpPr txBox="1"/>
          <p:nvPr/>
        </p:nvSpPr>
        <p:spPr>
          <a:xfrm>
            <a:off x="1329866" y="2636470"/>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16" name="原题文字_88_49"/>
          <p:cNvSpPr txBox="1"/>
          <p:nvPr/>
        </p:nvSpPr>
        <p:spPr>
          <a:xfrm>
            <a:off x="855138" y="2758980"/>
            <a:ext cx="36879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+E</a:t>
            </a:r>
          </a:p>
        </p:txBody>
      </p:sp>
      <p:sp>
        <p:nvSpPr>
          <p:cNvPr id="17" name="文字_(1) B的名称为 ______ O"/>
          <p:cNvSpPr txBox="1"/>
          <p:nvPr/>
        </p:nvSpPr>
        <p:spPr>
          <a:xfrm>
            <a:off x="502920" y="312183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(1) B的名称为 ______ O</a:t>
            </a:r>
          </a:p>
        </p:txBody>
      </p:sp>
      <p:sp>
        <p:nvSpPr>
          <p:cNvPr id="18" name="文字_(2) 写出下列反应的化学方程式："/>
          <p:cNvSpPr txBox="1"/>
          <p:nvPr/>
        </p:nvSpPr>
        <p:spPr>
          <a:xfrm>
            <a:off x="502920" y="348759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(2) 写出下列反应的化学方程式：</a:t>
            </a:r>
          </a:p>
        </p:txBody>
      </p:sp>
      <p:sp>
        <p:nvSpPr>
          <p:cNvPr id="19" name="文字_①B与CO₂反应："/>
          <p:cNvSpPr txBox="1"/>
          <p:nvPr/>
        </p:nvSpPr>
        <p:spPr>
          <a:xfrm>
            <a:off x="502920" y="385335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①B与CO₂反应：</a:t>
            </a:r>
          </a:p>
        </p:txBody>
      </p:sp>
      <p:sp>
        <p:nvSpPr>
          <p:cNvPr id="20" name="文字_②A与E作用生成D:"/>
          <p:cNvSpPr txBox="1"/>
          <p:nvPr/>
        </p:nvSpPr>
        <p:spPr>
          <a:xfrm>
            <a:off x="502920" y="421911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②A与E作用生成D:</a:t>
            </a:r>
          </a:p>
        </p:txBody>
      </p:sp>
      <p:sp>
        <p:nvSpPr>
          <p:cNvPr id="21" name="文字_(3)某同学将一小块A单质露置于空气中，观察到下"/>
          <p:cNvSpPr txBox="1"/>
          <p:nvPr/>
        </p:nvSpPr>
        <p:spPr>
          <a:xfrm>
            <a:off x="502920" y="4584879"/>
            <a:ext cx="11064240" cy="668020"/>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(3)某同学将一小块A单质露置于空气中，观察到下列现象：银白色→变灰暗→变白色→出现液滴→</a:t>
            </a:r>
          </a:p>
          <a:p>
            <a:pPr>
              <a:lnSpc>
                <a:spcPct val="112000"/>
              </a:lnSpc>
              <a:spcBef>
                <a:spcPts val="0"/>
              </a:spcBef>
              <a:spcAft>
                <a:spcPts val="0"/>
              </a:spcAft>
              <a:defRPr sz="2000" b="0">
                <a:solidFill>
                  <a:srgbClr val="333333"/>
                </a:solidFill>
                <a:latin typeface="微软雅黑"/>
              </a:defRPr>
            </a:pPr>
            <a:r>
              <a:rPr>
                <a:ea typeface="微软雅黑"/>
              </a:rPr>
              <a:t>白色固体，则下列说法正确的是</a:t>
            </a:r>
          </a:p>
        </p:txBody>
      </p:sp>
      <p:sp>
        <p:nvSpPr>
          <p:cNvPr id="22" name="文字_A. ①发生的反应是被空气中的氧气所氧化"/>
          <p:cNvSpPr txBox="1"/>
          <p:nvPr/>
        </p:nvSpPr>
        <p:spPr>
          <a:xfrm>
            <a:off x="502920" y="525289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A. ①发生的反应是被空气中的氧气所氧化</a:t>
            </a:r>
          </a:p>
        </p:txBody>
      </p:sp>
      <p:sp>
        <p:nvSpPr>
          <p:cNvPr id="23" name="文字_B. ①变灰暗色是因为生成了过氧化钠"/>
          <p:cNvSpPr txBox="1"/>
          <p:nvPr/>
        </p:nvSpPr>
        <p:spPr>
          <a:xfrm>
            <a:off x="502920" y="561865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B. ①变灰暗色是因为生成了过氧化钠</a:t>
            </a:r>
          </a:p>
        </p:txBody>
      </p:sp>
      <p:sp>
        <p:nvSpPr>
          <p:cNvPr id="24" name="文字_C. ③是碳酸钠吸收空气中的水蒸气形成了溶液"/>
          <p:cNvSpPr txBox="1"/>
          <p:nvPr/>
        </p:nvSpPr>
        <p:spPr>
          <a:xfrm>
            <a:off x="502920" y="5984419"/>
            <a:ext cx="11064240" cy="365759"/>
          </a:xfrm>
          <a:prstGeom prst="rect">
            <a:avLst/>
          </a:prstGeom>
          <a:noFill/>
        </p:spPr>
        <p:txBody>
          <a:bodyPr wrap="square" lIns="0" rIns="0" tIns="0" bIns="0">
            <a:spAutoFit/>
          </a:bodyPr>
          <a:lstStyle/>
          <a:p>
            <a:pPr>
              <a:lnSpc>
                <a:spcPct val="112000"/>
              </a:lnSpc>
              <a:spcBef>
                <a:spcPts val="0"/>
              </a:spcBef>
              <a:spcAft>
                <a:spcPts val="0"/>
              </a:spcAft>
              <a:defRPr sz="2000" b="0">
                <a:solidFill>
                  <a:srgbClr val="333333"/>
                </a:solidFill>
                <a:latin typeface="微软雅黑"/>
              </a:defRPr>
            </a:pPr>
            <a:r>
              <a:rPr>
                <a:ea typeface="微软雅黑"/>
              </a:rPr>
              <a:t>C. ③是碳酸钠吸收空气中的水蒸气形成了溶液</a:t>
            </a:r>
          </a:p>
        </p:txBody>
      </p:sp>
      <p:sp>
        <p:nvSpPr>
          <p:cNvPr id="25" name="文字_推断题  ·  04-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04-022</a:t>
            </a:r>
          </a:p>
        </p:txBody>
      </p:sp>
      <p:sp>
        <p:nvSpPr>
          <p:cNvPr id="26"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碳酸钠与碳酸氢钠的比较"/>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碳酸钠与碳酸氢钠的比较</a:t>
            </a:r>
          </a:p>
        </p:txBody>
      </p:sp>
      <p:sp>
        <p:nvSpPr>
          <p:cNvPr id="5" name="文字_知识梳理 · 讲义 P89"/>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P89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碳酸钠与碳酸氢钠的比较"/>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碳酸钠与碳酸氢钠的比较</a:t>
            </a:r>
          </a:p>
        </p:txBody>
      </p:sp>
      <p:sp>
        <p:nvSpPr>
          <p:cNvPr id="5" name="文字_知识讲解 · P8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P89</a:t>
            </a:r>
          </a:p>
        </p:txBody>
      </p:sp>
      <p:graphicFrame>
        <p:nvGraphicFramePr>
          <p:cNvPr id="6" name="Table 5"/>
          <p:cNvGraphicFramePr>
            <a:graphicFrameLocks noGrp="1"/>
          </p:cNvGraphicFramePr>
          <p:nvPr/>
        </p:nvGraphicFramePr>
        <p:xfrm>
          <a:off x="502920" y="1773936"/>
          <a:ext cx="11109960" cy="3244088"/>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Na₂CO₃</a:t>
                      </a:r>
                    </a:p>
                  </a:txBody>
                  <a:tcPr marL="91440" marR="91440" marT="45720" marB="45720" anchor="ctr">
                    <a:solidFill>
                      <a:srgbClr val="F1922F"/>
                    </a:solidFill>
                  </a:tcPr>
                </a:tc>
                <a:tc>
                  <a:txBody>
                    <a:bodyPr/>
                    <a:lstStyle/>
                    <a:p>
                      <a:pPr>
                        <a:defRPr sz="2000" b="1">
                          <a:solidFill>
                            <a:srgbClr val="FFFFFF"/>
                          </a:solidFill>
                          <a:latin typeface="微软雅黑"/>
                        </a:defRPr>
                      </a:pPr>
                      <a:r>
                        <a:t>NaHCO₃</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俗名</a:t>
                      </a:r>
                    </a:p>
                  </a:txBody>
                  <a:tcPr marL="91440" marR="91440" marT="45720" marB="45720" anchor="ctr">
                    <a:solidFill>
                      <a:srgbClr val="FDF2E3"/>
                    </a:solidFill>
                  </a:tcPr>
                </a:tc>
                <a:tc>
                  <a:txBody>
                    <a:bodyPr/>
                    <a:lstStyle/>
                    <a:p>
                      <a:pPr>
                        <a:defRPr sz="2000" b="0">
                          <a:solidFill>
                            <a:srgbClr val="333333"/>
                          </a:solidFill>
                          <a:latin typeface="微软雅黑"/>
                        </a:defRPr>
                      </a:pPr>
                      <a:r>
                        <a:t>纯碱、苏打</a:t>
                      </a:r>
                    </a:p>
                  </a:txBody>
                  <a:tcPr marL="91440" marR="91440" marT="45720" marB="45720" anchor="ctr">
                    <a:solidFill>
                      <a:srgbClr val="FDF2E3"/>
                    </a:solidFill>
                  </a:tcPr>
                </a:tc>
                <a:tc>
                  <a:txBody>
                    <a:bodyPr/>
                    <a:lstStyle/>
                    <a:p>
                      <a:pPr>
                        <a:defRPr sz="2000" b="0">
                          <a:solidFill>
                            <a:srgbClr val="333333"/>
                          </a:solidFill>
                          <a:latin typeface="微软雅黑"/>
                        </a:defRPr>
                      </a:pPr>
                      <a:r>
                        <a:t>小苏打</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水溶性</a:t>
                      </a:r>
                    </a:p>
                  </a:txBody>
                  <a:tcPr marL="91440" marR="91440" marT="45720" marB="45720" anchor="ctr">
                    <a:solidFill>
                      <a:srgbClr val="FFFFFF"/>
                    </a:solidFill>
                  </a:tcPr>
                </a:tc>
                <a:tc>
                  <a:txBody>
                    <a:bodyPr/>
                    <a:lstStyle/>
                    <a:p>
                      <a:pPr>
                        <a:defRPr sz="2000" b="0">
                          <a:solidFill>
                            <a:srgbClr val="333333"/>
                          </a:solidFill>
                          <a:latin typeface="微软雅黑"/>
                        </a:defRPr>
                      </a:pPr>
                      <a:r>
                        <a:t>易溶，通常较大</a:t>
                      </a:r>
                    </a:p>
                  </a:txBody>
                  <a:tcPr marL="91440" marR="91440" marT="45720" marB="45720" anchor="ctr">
                    <a:solidFill>
                      <a:srgbClr val="FFFFFF"/>
                    </a:solidFill>
                  </a:tcPr>
                </a:tc>
                <a:tc>
                  <a:txBody>
                    <a:bodyPr/>
                    <a:lstStyle/>
                    <a:p>
                      <a:pPr>
                        <a:defRPr sz="2000" b="0">
                          <a:solidFill>
                            <a:srgbClr val="333333"/>
                          </a:solidFill>
                          <a:latin typeface="微软雅黑"/>
                        </a:defRPr>
                      </a:pPr>
                      <a:r>
                        <a:t>可溶，通常较小</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水溶液</a:t>
                      </a:r>
                    </a:p>
                  </a:txBody>
                  <a:tcPr marL="91440" marR="91440" marT="45720" marB="45720" anchor="ctr">
                    <a:solidFill>
                      <a:srgbClr val="FDF2E3"/>
                    </a:solidFill>
                  </a:tcPr>
                </a:tc>
                <a:tc>
                  <a:txBody>
                    <a:bodyPr/>
                    <a:lstStyle/>
                    <a:p>
                      <a:pPr>
                        <a:defRPr sz="2000" b="0">
                          <a:solidFill>
                            <a:srgbClr val="333333"/>
                          </a:solidFill>
                          <a:latin typeface="微软雅黑"/>
                        </a:defRPr>
                      </a:pPr>
                      <a:r>
                        <a:t>碱性；同浓度时通常较强</a:t>
                      </a:r>
                    </a:p>
                  </a:txBody>
                  <a:tcPr marL="91440" marR="91440" marT="45720" marB="45720" anchor="ctr">
                    <a:solidFill>
                      <a:srgbClr val="FDF2E3"/>
                    </a:solidFill>
                  </a:tcPr>
                </a:tc>
                <a:tc>
                  <a:txBody>
                    <a:bodyPr/>
                    <a:lstStyle/>
                    <a:p>
                      <a:pPr>
                        <a:defRPr sz="2000" b="0">
                          <a:solidFill>
                            <a:srgbClr val="333333"/>
                          </a:solidFill>
                          <a:latin typeface="微软雅黑"/>
                        </a:defRPr>
                      </a:pPr>
                      <a:r>
                        <a:t>碱性；同浓度时通常较弱</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受热</a:t>
                      </a:r>
                    </a:p>
                  </a:txBody>
                  <a:tcPr marL="91440" marR="91440" marT="45720" marB="45720" anchor="ctr">
                    <a:solidFill>
                      <a:srgbClr val="FFFFFF"/>
                    </a:solidFill>
                  </a:tcPr>
                </a:tc>
                <a:tc>
                  <a:txBody>
                    <a:bodyPr/>
                    <a:lstStyle/>
                    <a:p>
                      <a:pPr>
                        <a:defRPr sz="2000" b="0">
                          <a:solidFill>
                            <a:srgbClr val="333333"/>
                          </a:solidFill>
                          <a:latin typeface="微软雅黑"/>
                        </a:defRPr>
                      </a:pPr>
                      <a:r>
                        <a:t>Na₂CO₃ 本身较稳定</a:t>
                      </a:r>
                    </a:p>
                  </a:txBody>
                  <a:tcPr marL="91440" marR="91440" marT="45720" marB="45720" anchor="ctr">
                    <a:solidFill>
                      <a:srgbClr val="FFFFFF"/>
                    </a:solidFill>
                  </a:tcPr>
                </a:tc>
                <a:tc>
                  <a:txBody>
                    <a:bodyPr/>
                    <a:lstStyle/>
                    <a:p>
                      <a:pPr>
                        <a:defRPr sz="2000" b="0">
                          <a:solidFill>
                            <a:srgbClr val="333333"/>
                          </a:solidFill>
                          <a:latin typeface="微软雅黑"/>
                        </a:defRPr>
                      </a:pPr>
                      <a:r>
                        <a:t>分解生成 Na₂CO₃、CO₂、H₂O</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用途</a:t>
                      </a:r>
                    </a:p>
                  </a:txBody>
                  <a:tcPr marL="91440" marR="91440" marT="45720" marB="45720" anchor="ctr">
                    <a:solidFill>
                      <a:srgbClr val="FDF2E3"/>
                    </a:solidFill>
                  </a:tcPr>
                </a:tc>
                <a:tc>
                  <a:txBody>
                    <a:bodyPr/>
                    <a:lstStyle/>
                    <a:p>
                      <a:pPr>
                        <a:defRPr sz="2000" b="0">
                          <a:solidFill>
                            <a:srgbClr val="333333"/>
                          </a:solidFill>
                          <a:latin typeface="微软雅黑"/>
                        </a:defRPr>
                      </a:pPr>
                      <a:r>
                        <a:t>玻璃、制皂、造纸等</a:t>
                      </a:r>
                    </a:p>
                  </a:txBody>
                  <a:tcPr marL="91440" marR="91440" marT="45720" marB="45720" anchor="ctr">
                    <a:solidFill>
                      <a:srgbClr val="FDF2E3"/>
                    </a:solidFill>
                  </a:tcPr>
                </a:tc>
                <a:tc>
                  <a:txBody>
                    <a:bodyPr/>
                    <a:lstStyle/>
                    <a:p>
                      <a:pPr>
                        <a:defRPr sz="2000" b="0">
                          <a:solidFill>
                            <a:srgbClr val="333333"/>
                          </a:solidFill>
                          <a:latin typeface="微软雅黑"/>
                        </a:defRPr>
                      </a:pPr>
                      <a:r>
                        <a:t>发酵粉、制纯碱等</a:t>
                      </a:r>
                    </a:p>
                  </a:txBody>
                  <a:tcPr marL="91440" marR="91440" marT="45720" marB="45720" anchor="ctr">
                    <a:solidFill>
                      <a:srgbClr val="FDF2E3"/>
                    </a:solidFill>
                  </a:tcPr>
                </a:tc>
              </a:tr>
            </a:tbl>
          </a:graphicData>
        </a:graphic>
      </p:graphicFrame>
      <p:sp>
        <p:nvSpPr>
          <p:cNvPr id="7" name="Rectangle 6"/>
          <p:cNvSpPr/>
          <p:nvPr/>
        </p:nvSpPr>
        <p:spPr>
          <a:xfrm>
            <a:off x="493776" y="5155184"/>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纯碱属于盐；Na₂CO₃·10H₂O 失"/>
          <p:cNvSpPr txBox="1"/>
          <p:nvPr/>
        </p:nvSpPr>
        <p:spPr>
          <a:xfrm>
            <a:off x="630936" y="5214620"/>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纯碱属于盐；Na₂CO₃·10H₂O 失去结晶水是风化，与 Na₂CO₃ 的热稳定性不同。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碳酸盐与酸、碱的反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碳酸盐与酸、碱的反应</a:t>
            </a:r>
          </a:p>
        </p:txBody>
      </p:sp>
      <p:sp>
        <p:nvSpPr>
          <p:cNvPr id="5" name="文字_知识讲解 · P8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a₂CO₃ + 2HCl = 2NaCl + "/>
          <p:cNvSpPr txBox="1"/>
          <p:nvPr/>
        </p:nvSpPr>
        <p:spPr>
          <a:xfrm>
            <a:off x="722376" y="1773936"/>
            <a:ext cx="10908792" cy="447801"/>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Na₂CO₃ + 2HCl = 2NaCl + CO₂↑ + H₂O。</a:t>
            </a:r>
          </a:p>
        </p:txBody>
      </p:sp>
      <p:sp>
        <p:nvSpPr>
          <p:cNvPr id="8" name="Rectangle 7"/>
          <p:cNvSpPr/>
          <p:nvPr/>
        </p:nvSpPr>
        <p:spPr>
          <a:xfrm>
            <a:off x="512064" y="242290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NaHCO₃ + HCl = NaCl + CO"/>
          <p:cNvSpPr txBox="1"/>
          <p:nvPr/>
        </p:nvSpPr>
        <p:spPr>
          <a:xfrm>
            <a:off x="722376" y="2340610"/>
            <a:ext cx="10908792" cy="447801"/>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NaHCO₃ + HCl = NaCl + CO₂↑ + H₂O。</a:t>
            </a:r>
          </a:p>
        </p:txBody>
      </p:sp>
      <p:sp>
        <p:nvSpPr>
          <p:cNvPr id="10" name="Rectangle 9"/>
          <p:cNvSpPr/>
          <p:nvPr/>
        </p:nvSpPr>
        <p:spPr>
          <a:xfrm>
            <a:off x="512064" y="298958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向 Na₂CO₃ 溶液逐滴加盐酸：先 CO₃²⁻"/>
          <p:cNvSpPr txBox="1"/>
          <p:nvPr/>
        </p:nvSpPr>
        <p:spPr>
          <a:xfrm>
            <a:off x="722376" y="2907284"/>
            <a:ext cx="10908792" cy="80416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向 Na₂CO₃ 溶液逐滴加盐酸：先 CO₃²⁻ + H⁺ = HCO₃⁻，后 HCO₃⁻ + H⁺ = </a:t>
            </a:r>
          </a:p>
          <a:p>
            <a:pPr>
              <a:lnSpc>
                <a:spcPct val="112000"/>
              </a:lnSpc>
              <a:spcBef>
                <a:spcPts val="0"/>
              </a:spcBef>
              <a:spcAft>
                <a:spcPts val="0"/>
              </a:spcAft>
              <a:defRPr sz="2300" b="0">
                <a:solidFill>
                  <a:srgbClr val="333333"/>
                </a:solidFill>
                <a:latin typeface="微软雅黑"/>
              </a:defRPr>
            </a:pPr>
            <a:r>
              <a:rPr>
                <a:ea typeface="微软雅黑"/>
              </a:rPr>
              <a:t>CO₂↑ + H₂O。</a:t>
            </a:r>
          </a:p>
        </p:txBody>
      </p:sp>
      <p:sp>
        <p:nvSpPr>
          <p:cNvPr id="12" name="Rectangle 11"/>
          <p:cNvSpPr/>
          <p:nvPr/>
        </p:nvSpPr>
        <p:spPr>
          <a:xfrm>
            <a:off x="512064" y="3912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NaHCO₃ + NaOH = Na₂CO₃ +"/>
          <p:cNvSpPr txBox="1"/>
          <p:nvPr/>
        </p:nvSpPr>
        <p:spPr>
          <a:xfrm>
            <a:off x="722376" y="3830320"/>
            <a:ext cx="10908792" cy="447801"/>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NaHCO₃ + NaOH = Na₂CO₃ + H₂O。</a:t>
            </a:r>
          </a:p>
        </p:txBody>
      </p:sp>
      <p:sp>
        <p:nvSpPr>
          <p:cNvPr id="14" name="Rectangle 13"/>
          <p:cNvSpPr/>
          <p:nvPr/>
        </p:nvSpPr>
        <p:spPr>
          <a:xfrm>
            <a:off x="512064" y="447929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少量 NaHCO₃ 加入足量石灰水：HCO₃⁻ "/>
          <p:cNvSpPr txBox="1"/>
          <p:nvPr/>
        </p:nvSpPr>
        <p:spPr>
          <a:xfrm>
            <a:off x="722376" y="4396994"/>
            <a:ext cx="10908792" cy="447801"/>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少量 NaHCO₃ 加入足量石灰水：HCO₃⁻ + Ca²⁺ + OH⁻ = CaCO₃↓ + H₂O。</a:t>
            </a:r>
          </a:p>
        </p:txBody>
      </p:sp>
      <p:sp>
        <p:nvSpPr>
          <p:cNvPr id="16" name="Rectangle 15"/>
          <p:cNvSpPr/>
          <p:nvPr/>
        </p:nvSpPr>
        <p:spPr>
          <a:xfrm>
            <a:off x="512064" y="504596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足量 NaHCO₃ 与少量石灰水：2HCO₃⁻ "/>
          <p:cNvSpPr txBox="1"/>
          <p:nvPr/>
        </p:nvSpPr>
        <p:spPr>
          <a:xfrm>
            <a:off x="722376" y="4963668"/>
            <a:ext cx="10908792" cy="80416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足量 NaHCO₃ 与少量石灰水：2HCO₃⁻ + Ca²⁺ + 2OH⁻ = CaCO₃↓ + CO₃²⁻ </a:t>
            </a:r>
          </a:p>
          <a:p>
            <a:pPr>
              <a:lnSpc>
                <a:spcPct val="112000"/>
              </a:lnSpc>
              <a:spcBef>
                <a:spcPts val="0"/>
              </a:spcBef>
              <a:spcAft>
                <a:spcPts val="0"/>
              </a:spcAft>
              <a:defRPr sz="2300" b="0">
                <a:solidFill>
                  <a:srgbClr val="333333"/>
                </a:solidFill>
                <a:latin typeface="微软雅黑"/>
              </a:defRPr>
            </a:pPr>
            <a:r>
              <a:rPr>
                <a:ea typeface="微软雅黑"/>
              </a:rPr>
              <a:t>+ 2H₂O。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鉴别、除杂与相互转化"/>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鉴别、除杂与相互转化</a:t>
            </a:r>
          </a:p>
        </p:txBody>
      </p:sp>
      <p:sp>
        <p:nvSpPr>
          <p:cNvPr id="5" name="文字_知识讲解 · P8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P89</a:t>
            </a:r>
          </a:p>
        </p:txBody>
      </p:sp>
      <p:graphicFrame>
        <p:nvGraphicFramePr>
          <p:cNvPr id="6" name="Table 5"/>
          <p:cNvGraphicFramePr>
            <a:graphicFrameLocks noGrp="1"/>
          </p:cNvGraphicFramePr>
          <p:nvPr/>
        </p:nvGraphicFramePr>
        <p:xfrm>
          <a:off x="502920" y="1773936"/>
          <a:ext cx="11109960" cy="3904488"/>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目的</a:t>
                      </a:r>
                    </a:p>
                  </a:txBody>
                  <a:tcPr marL="91440" marR="91440" marT="45720" marB="45720" anchor="ctr">
                    <a:solidFill>
                      <a:srgbClr val="F1922F"/>
                    </a:solidFill>
                  </a:tcPr>
                </a:tc>
                <a:tc>
                  <a:txBody>
                    <a:bodyPr/>
                    <a:lstStyle/>
                    <a:p>
                      <a:pPr>
                        <a:defRPr sz="2000" b="1">
                          <a:solidFill>
                            <a:srgbClr val="FFFFFF"/>
                          </a:solidFill>
                          <a:latin typeface="微软雅黑"/>
                        </a:defRPr>
                      </a:pPr>
                      <a:r>
                        <a:t>方法与原理</a:t>
                      </a:r>
                    </a:p>
                  </a:txBody>
                  <a:tcPr marL="91440" marR="91440" marT="45720" marB="45720" anchor="ctr">
                    <a:solidFill>
                      <a:srgbClr val="F1922F"/>
                    </a:solidFill>
                  </a:tcPr>
                </a:tc>
              </a:tr>
              <a:tr h="815848">
                <a:tc>
                  <a:txBody>
                    <a:bodyPr/>
                    <a:lstStyle/>
                    <a:p>
                      <a:pPr>
                        <a:defRPr sz="2000" b="0">
                          <a:solidFill>
                            <a:srgbClr val="333333"/>
                          </a:solidFill>
                          <a:latin typeface="微软雅黑"/>
                        </a:defRPr>
                      </a:pPr>
                      <a:r>
                        <a:t>鉴别两种固体</a:t>
                      </a:r>
                    </a:p>
                  </a:txBody>
                  <a:tcPr marL="91440" marR="91440" marT="45720" marB="45720" anchor="ctr">
                    <a:solidFill>
                      <a:srgbClr val="FDF2E3"/>
                    </a:solidFill>
                  </a:tcPr>
                </a:tc>
                <a:tc>
                  <a:txBody>
                    <a:bodyPr/>
                    <a:lstStyle/>
                    <a:p>
                      <a:pPr>
                        <a:defRPr sz="2000" b="0">
                          <a:solidFill>
                            <a:srgbClr val="333333"/>
                          </a:solidFill>
                          <a:latin typeface="微软雅黑"/>
                        </a:defRPr>
                      </a:pPr>
                      <a:r>
                        <a:t>加热；NaHCO₃ 分解产生的 CO₂ 可使澄清石灰水变浑浊</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鉴别两种溶液</a:t>
                      </a:r>
                    </a:p>
                  </a:txBody>
                  <a:tcPr marL="91440" marR="91440" marT="45720" marB="45720" anchor="ctr">
                    <a:solidFill>
                      <a:srgbClr val="FFFFFF"/>
                    </a:solidFill>
                  </a:tcPr>
                </a:tc>
                <a:tc>
                  <a:txBody>
                    <a:bodyPr/>
                    <a:lstStyle/>
                    <a:p>
                      <a:pPr>
                        <a:defRPr sz="2000" b="0">
                          <a:solidFill>
                            <a:srgbClr val="333333"/>
                          </a:solidFill>
                          <a:latin typeface="微软雅黑"/>
                        </a:defRPr>
                      </a:pPr>
                      <a:r>
                        <a:t>滴加 CaCl₂／BaCl₂：CO₃²⁻ 通常产生沉淀；也可逐滴加入稀盐酸比较现象</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Na₂CO₃ 固体中除去 NaHCO₃</a:t>
                      </a:r>
                    </a:p>
                  </a:txBody>
                  <a:tcPr marL="91440" marR="91440" marT="45720" marB="45720" anchor="ctr">
                    <a:solidFill>
                      <a:srgbClr val="FDF2E3"/>
                    </a:solidFill>
                  </a:tcPr>
                </a:tc>
                <a:tc>
                  <a:txBody>
                    <a:bodyPr/>
                    <a:lstStyle/>
                    <a:p>
                      <a:pPr>
                        <a:defRPr sz="2000" b="0">
                          <a:solidFill>
                            <a:srgbClr val="333333"/>
                          </a:solidFill>
                          <a:latin typeface="微软雅黑"/>
                        </a:defRPr>
                      </a:pPr>
                      <a:r>
                        <a:t>加热至完全分解</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NaHCO₃ 溶液中除去 Na₂CO₃</a:t>
                      </a:r>
                    </a:p>
                  </a:txBody>
                  <a:tcPr marL="91440" marR="91440" marT="45720" marB="45720" anchor="ctr">
                    <a:solidFill>
                      <a:srgbClr val="FFFFFF"/>
                    </a:solidFill>
                  </a:tcPr>
                </a:tc>
                <a:tc>
                  <a:txBody>
                    <a:bodyPr/>
                    <a:lstStyle/>
                    <a:p>
                      <a:pPr>
                        <a:defRPr sz="2000" b="0">
                          <a:solidFill>
                            <a:srgbClr val="333333"/>
                          </a:solidFill>
                          <a:latin typeface="微软雅黑"/>
                        </a:defRPr>
                      </a:pPr>
                      <a:r>
                        <a:t>通入足量 CO₂：Na₂CO₃ + CO₂ + H₂O = 2NaHCO₃</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Na₂CO₃ 溶液中除去 NaHCO₃</a:t>
                      </a:r>
                    </a:p>
                  </a:txBody>
                  <a:tcPr marL="91440" marR="91440" marT="45720" marB="45720" anchor="ctr">
                    <a:solidFill>
                      <a:srgbClr val="FDF2E3"/>
                    </a:solidFill>
                  </a:tcPr>
                </a:tc>
                <a:tc>
                  <a:txBody>
                    <a:bodyPr/>
                    <a:lstStyle/>
                    <a:p>
                      <a:pPr>
                        <a:defRPr sz="2000" b="0">
                          <a:solidFill>
                            <a:srgbClr val="333333"/>
                          </a:solidFill>
                          <a:latin typeface="微软雅黑"/>
                        </a:defRPr>
                      </a:pPr>
                      <a:r>
                        <a:t>加入适量 NaOH，避免引入过量新杂质</a:t>
                      </a:r>
                    </a:p>
                  </a:txBody>
                  <a:tcPr marL="91440" marR="91440" marT="45720" marB="45720" anchor="ctr">
                    <a:solidFill>
                      <a:srgbClr val="FDF2E3"/>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例题1</a:t>
            </a:r>
          </a:p>
        </p:txBody>
      </p:sp>
      <p:sp>
        <p:nvSpPr>
          <p:cNvPr id="5" name="文字_P9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P91</a:t>
            </a:r>
          </a:p>
        </p:txBody>
      </p:sp>
      <p:sp>
        <p:nvSpPr>
          <p:cNvPr id="6" name="文字_小苏打的化学式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小苏打的化学式是(</a:t>
            </a:r>
          </a:p>
        </p:txBody>
      </p:sp>
      <p:sp>
        <p:nvSpPr>
          <p:cNvPr id="7" name="文字_A. Na₂CO₃"/>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Na₂CO₃</a:t>
            </a:r>
          </a:p>
        </p:txBody>
      </p:sp>
      <p:sp>
        <p:nvSpPr>
          <p:cNvPr id="8" name="文字_B. NaHCO₃"/>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NaHCO₃</a:t>
            </a:r>
          </a:p>
        </p:txBody>
      </p:sp>
      <p:sp>
        <p:nvSpPr>
          <p:cNvPr id="9" name="文字_C. NaOH"/>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NaOH</a:t>
            </a:r>
          </a:p>
        </p:txBody>
      </p:sp>
      <p:sp>
        <p:nvSpPr>
          <p:cNvPr id="10" name="文字_D. Na₂O"/>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Na₂O</a:t>
            </a:r>
          </a:p>
        </p:txBody>
      </p:sp>
      <p:sp>
        <p:nvSpPr>
          <p:cNvPr id="11" name="文字_单选题  ·  04-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04-023</a:t>
            </a:r>
          </a:p>
        </p:txBody>
      </p:sp>
      <p:sp>
        <p:nvSpPr>
          <p:cNvPr id="12"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例题2</a:t>
            </a:r>
          </a:p>
        </p:txBody>
      </p:sp>
      <p:sp>
        <p:nvSpPr>
          <p:cNvPr id="5" name="文字_P9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P92</a:t>
            </a:r>
          </a:p>
        </p:txBody>
      </p:sp>
      <p:sp>
        <p:nvSpPr>
          <p:cNvPr id="6" name="文字_下列关于Na₂CO₃和NaHCO₃性质的说法错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下列关于Na₂CO₃和NaHCO₃性质的说法错误的是（）</a:t>
            </a:r>
          </a:p>
        </p:txBody>
      </p:sp>
      <p:sp>
        <p:nvSpPr>
          <p:cNvPr id="7" name="文字_A. 热稳定性: NaHCO₃&lt;Na₂CO₃"/>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热稳定性: NaHCO₃&lt;Na₂CO₃</a:t>
            </a:r>
          </a:p>
        </p:txBody>
      </p:sp>
      <p:sp>
        <p:nvSpPr>
          <p:cNvPr id="8" name="文字_B. 与同浓度盐酸反应的剧烈程度：NaHCO₃&gt;"/>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与同浓度盐酸反应的剧烈程度：NaHCO₃&gt;Na₂CO₃</a:t>
            </a:r>
          </a:p>
        </p:txBody>
      </p:sp>
      <p:sp>
        <p:nvSpPr>
          <p:cNvPr id="9" name="文字_C. 相同温度时，在水中的溶解度：NaHCO₃&lt;"/>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相同温度时，在水中的溶解度：NaHCO₃&lt;Na₂CO₃</a:t>
            </a:r>
          </a:p>
        </p:txBody>
      </p:sp>
      <p:sp>
        <p:nvSpPr>
          <p:cNvPr id="10" name="文字_D. 等质量的Na₂CO₃、NaHCO₃分别与足"/>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等质量的Na₂CO₃、NaHCO₃分别与足量盐酸反应产生的 CO₂质量相同</a:t>
            </a:r>
          </a:p>
        </p:txBody>
      </p:sp>
      <p:sp>
        <p:nvSpPr>
          <p:cNvPr id="11" name="文字_单选题  ·  04-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04-024</a:t>
            </a:r>
          </a:p>
        </p:txBody>
      </p:sp>
      <p:sp>
        <p:nvSpPr>
          <p:cNvPr id="12"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例题3</a:t>
            </a:r>
          </a:p>
        </p:txBody>
      </p:sp>
      <p:sp>
        <p:nvSpPr>
          <p:cNvPr id="5" name="文字_P9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P92</a:t>
            </a:r>
          </a:p>
        </p:txBody>
      </p:sp>
      <p:sp>
        <p:nvSpPr>
          <p:cNvPr id="6" name="文字_有关碳酸钠的用途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有关碳酸钠的用途说法错误的是</a:t>
            </a:r>
          </a:p>
        </p:txBody>
      </p:sp>
      <p:sp>
        <p:nvSpPr>
          <p:cNvPr id="7" name="文字_A. 治疗胃酸过多"/>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治疗胃酸过多</a:t>
            </a:r>
          </a:p>
        </p:txBody>
      </p:sp>
      <p:sp>
        <p:nvSpPr>
          <p:cNvPr id="8" name="文字_B. 制作食用碱面"/>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制作食用碱面</a:t>
            </a:r>
          </a:p>
        </p:txBody>
      </p:sp>
      <p:sp>
        <p:nvSpPr>
          <p:cNvPr id="9" name="文字_C. 除去乙酸乙酯中的乙酸"/>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除去乙酸乙酯中的乙酸</a:t>
            </a:r>
          </a:p>
        </p:txBody>
      </p:sp>
      <p:sp>
        <p:nvSpPr>
          <p:cNvPr id="10" name="文字_D. 制作洗涤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制作洗涤剂</a:t>
            </a:r>
          </a:p>
        </p:txBody>
      </p:sp>
      <p:sp>
        <p:nvSpPr>
          <p:cNvPr id="11" name="文字_单选题  ·  04-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04-025</a:t>
            </a:r>
          </a:p>
        </p:txBody>
      </p:sp>
      <p:sp>
        <p:nvSpPr>
          <p:cNvPr id="12"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例题4</a:t>
            </a:r>
          </a:p>
        </p:txBody>
      </p:sp>
      <p:sp>
        <p:nvSpPr>
          <p:cNvPr id="5" name="文字_P9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P92</a:t>
            </a:r>
          </a:p>
        </p:txBody>
      </p:sp>
      <p:pic>
        <p:nvPicPr>
          <p:cNvPr id="6" name="Picture 5" descr="image.png"/>
          <p:cNvPicPr>
            <a:picLocks noChangeAspect="1"/>
          </p:cNvPicPr>
          <p:nvPr/>
        </p:nvPicPr>
        <p:blipFill>
          <a:blip r:embed="rId3"/>
          <a:stretch>
            <a:fillRect/>
          </a:stretch>
        </p:blipFill>
        <p:spPr>
          <a:xfrm>
            <a:off x="502920" y="1078992"/>
            <a:ext cx="11064240" cy="2771802"/>
          </a:xfrm>
          <a:prstGeom prst="rect">
            <a:avLst/>
          </a:prstGeom>
        </p:spPr>
      </p:pic>
      <p:sp>
        <p:nvSpPr>
          <p:cNvPr id="7" name="原题文字_92_19"/>
          <p:cNvSpPr txBox="1"/>
          <p:nvPr/>
        </p:nvSpPr>
        <p:spPr>
          <a:xfrm>
            <a:off x="602459" y="1087905"/>
            <a:ext cx="79874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已知两支试管中分别装有等浓度的Na₂CO₃和NaHCO₃溶液，下列操作或判断错误的是</a:t>
            </a:r>
          </a:p>
        </p:txBody>
      </p:sp>
      <p:sp>
        <p:nvSpPr>
          <p:cNvPr id="8" name="原题文字_92_20"/>
          <p:cNvSpPr txBox="1"/>
          <p:nvPr/>
        </p:nvSpPr>
        <p:spPr>
          <a:xfrm>
            <a:off x="610116" y="1493721"/>
            <a:ext cx="105791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选项操作</a:t>
            </a:r>
          </a:p>
        </p:txBody>
      </p:sp>
      <p:sp>
        <p:nvSpPr>
          <p:cNvPr id="9" name="原题文字_92_21"/>
          <p:cNvSpPr txBox="1"/>
          <p:nvPr/>
        </p:nvSpPr>
        <p:spPr>
          <a:xfrm>
            <a:off x="3688196" y="1478407"/>
            <a:ext cx="613818"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判断</a:t>
            </a:r>
          </a:p>
        </p:txBody>
      </p:sp>
      <p:sp>
        <p:nvSpPr>
          <p:cNvPr id="10" name="原题文字_92_22"/>
          <p:cNvSpPr txBox="1"/>
          <p:nvPr/>
        </p:nvSpPr>
        <p:spPr>
          <a:xfrm>
            <a:off x="625430" y="1953136"/>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1" name="原题文字_92_23"/>
          <p:cNvSpPr txBox="1"/>
          <p:nvPr/>
        </p:nvSpPr>
        <p:spPr>
          <a:xfrm>
            <a:off x="1107816" y="1899537"/>
            <a:ext cx="2175829" cy="408113"/>
          </a:xfrm>
          <a:prstGeom prst="rect">
            <a:avLst/>
          </a:prstGeom>
          <a:noFill/>
        </p:spPr>
        <p:txBody>
          <a:bodyPr wrap="none" lIns="0" rIns="0" tIns="0" bIns="0">
            <a:spAutoFit/>
          </a:bodyPr>
          <a:lstStyle/>
          <a:p>
            <a:pPr>
              <a:lnSpc>
                <a:spcPct val="112000"/>
              </a:lnSpc>
              <a:spcBef>
                <a:spcPts val="0"/>
              </a:spcBef>
              <a:spcAft>
                <a:spcPts val="0"/>
              </a:spcAft>
              <a:defRPr sz="1708" b="0">
                <a:solidFill>
                  <a:srgbClr val="333333"/>
                </a:solidFill>
                <a:latin typeface="微软雅黑"/>
              </a:defRPr>
            </a:pPr>
            <a:r>
              <a:rPr>
                <a:ea typeface="微软雅黑"/>
              </a:rPr>
              <a:t>分别滴加Ba(OH)₂溶液</a:t>
            </a:r>
          </a:p>
        </p:txBody>
      </p:sp>
      <p:sp>
        <p:nvSpPr>
          <p:cNvPr id="12" name="原题文字_92_24"/>
          <p:cNvSpPr txBox="1"/>
          <p:nvPr/>
        </p:nvSpPr>
        <p:spPr>
          <a:xfrm>
            <a:off x="3741794" y="1930165"/>
            <a:ext cx="252039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产生沉淀的为Na₂CO₃溶液</a:t>
            </a:r>
          </a:p>
        </p:txBody>
      </p:sp>
      <p:sp>
        <p:nvSpPr>
          <p:cNvPr id="13" name="原题文字_92_25"/>
          <p:cNvSpPr txBox="1"/>
          <p:nvPr/>
        </p:nvSpPr>
        <p:spPr>
          <a:xfrm>
            <a:off x="617773" y="2351295"/>
            <a:ext cx="2692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14" name="原题文字_92_26"/>
          <p:cNvSpPr txBox="1"/>
          <p:nvPr/>
        </p:nvSpPr>
        <p:spPr>
          <a:xfrm>
            <a:off x="1115473" y="2313011"/>
            <a:ext cx="1915493" cy="388205"/>
          </a:xfrm>
          <a:prstGeom prst="rect">
            <a:avLst/>
          </a:prstGeom>
          <a:noFill/>
        </p:spPr>
        <p:txBody>
          <a:bodyPr wrap="none" lIns="0" rIns="0" tIns="0" bIns="0">
            <a:spAutoFit/>
          </a:bodyPr>
          <a:lstStyle/>
          <a:p>
            <a:pPr>
              <a:lnSpc>
                <a:spcPct val="112000"/>
              </a:lnSpc>
              <a:spcBef>
                <a:spcPts val="0"/>
              </a:spcBef>
              <a:spcAft>
                <a:spcPts val="0"/>
              </a:spcAft>
              <a:defRPr sz="1732" b="0">
                <a:solidFill>
                  <a:srgbClr val="333333"/>
                </a:solidFill>
                <a:latin typeface="微软雅黑"/>
              </a:defRPr>
            </a:pPr>
            <a:r>
              <a:rPr>
                <a:ea typeface="微软雅黑"/>
              </a:rPr>
              <a:t>分别滴加BaCl₂溶液</a:t>
            </a:r>
          </a:p>
        </p:txBody>
      </p:sp>
      <p:sp>
        <p:nvSpPr>
          <p:cNvPr id="15" name="原题文字_92_27"/>
          <p:cNvSpPr txBox="1"/>
          <p:nvPr/>
        </p:nvSpPr>
        <p:spPr>
          <a:xfrm>
            <a:off x="3734137" y="2313011"/>
            <a:ext cx="2956834" cy="388205"/>
          </a:xfrm>
          <a:prstGeom prst="rect">
            <a:avLst/>
          </a:prstGeom>
          <a:noFill/>
        </p:spPr>
        <p:txBody>
          <a:bodyPr wrap="none" lIns="0" rIns="0" tIns="0" bIns="0">
            <a:spAutoFit/>
          </a:bodyPr>
          <a:lstStyle/>
          <a:p>
            <a:pPr>
              <a:lnSpc>
                <a:spcPct val="112000"/>
              </a:lnSpc>
              <a:spcBef>
                <a:spcPts val="0"/>
              </a:spcBef>
              <a:spcAft>
                <a:spcPts val="0"/>
              </a:spcAft>
              <a:defRPr sz="1656" b="0">
                <a:solidFill>
                  <a:srgbClr val="333333"/>
                </a:solidFill>
                <a:latin typeface="微软雅黑"/>
              </a:defRPr>
            </a:pPr>
            <a:r>
              <a:rPr>
                <a:ea typeface="微软雅黑"/>
              </a:rPr>
              <a:t>产生白色沉淀的为Na₂CO₃溶液</a:t>
            </a:r>
          </a:p>
        </p:txBody>
      </p:sp>
      <p:sp>
        <p:nvSpPr>
          <p:cNvPr id="16" name="原题文字_92_28"/>
          <p:cNvSpPr txBox="1"/>
          <p:nvPr/>
        </p:nvSpPr>
        <p:spPr>
          <a:xfrm>
            <a:off x="625430" y="2757112"/>
            <a:ext cx="2769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a:t>
            </a:r>
          </a:p>
        </p:txBody>
      </p:sp>
      <p:sp>
        <p:nvSpPr>
          <p:cNvPr id="17" name="原题文字_92_29"/>
          <p:cNvSpPr txBox="1"/>
          <p:nvPr/>
        </p:nvSpPr>
        <p:spPr>
          <a:xfrm>
            <a:off x="1130786" y="2749455"/>
            <a:ext cx="222942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分别滴加几滴酚酞溶液</a:t>
            </a:r>
          </a:p>
        </p:txBody>
      </p:sp>
      <p:sp>
        <p:nvSpPr>
          <p:cNvPr id="18" name="原题文字_92_30"/>
          <p:cNvSpPr txBox="1"/>
          <p:nvPr/>
        </p:nvSpPr>
        <p:spPr>
          <a:xfrm>
            <a:off x="3711166" y="2734141"/>
            <a:ext cx="2129887" cy="378251"/>
          </a:xfrm>
          <a:prstGeom prst="rect">
            <a:avLst/>
          </a:prstGeom>
          <a:noFill/>
        </p:spPr>
        <p:txBody>
          <a:bodyPr wrap="none" lIns="0" rIns="0" tIns="0" bIns="0">
            <a:spAutoFit/>
          </a:bodyPr>
          <a:lstStyle/>
          <a:p>
            <a:pPr>
              <a:lnSpc>
                <a:spcPct val="112000"/>
              </a:lnSpc>
              <a:spcBef>
                <a:spcPts val="0"/>
              </a:spcBef>
              <a:spcAft>
                <a:spcPts val="0"/>
              </a:spcAft>
              <a:defRPr sz="1557" b="0">
                <a:solidFill>
                  <a:srgbClr val="333333"/>
                </a:solidFill>
                <a:latin typeface="微软雅黑"/>
              </a:defRPr>
            </a:pPr>
            <a:r>
              <a:rPr>
                <a:ea typeface="微软雅黑"/>
              </a:rPr>
              <a:t>Na₂CO₃₃溶液红色更深</a:t>
            </a:r>
          </a:p>
        </p:txBody>
      </p:sp>
      <p:sp>
        <p:nvSpPr>
          <p:cNvPr id="19" name="原题文字_92_31"/>
          <p:cNvSpPr txBox="1"/>
          <p:nvPr/>
        </p:nvSpPr>
        <p:spPr>
          <a:xfrm>
            <a:off x="617773" y="3185899"/>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a:t>
            </a:r>
          </a:p>
        </p:txBody>
      </p:sp>
      <p:sp>
        <p:nvSpPr>
          <p:cNvPr id="20" name="原题文字_92_32"/>
          <p:cNvSpPr txBox="1"/>
          <p:nvPr/>
        </p:nvSpPr>
        <p:spPr>
          <a:xfrm>
            <a:off x="1130786" y="3155271"/>
            <a:ext cx="562909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分别逐滴加入等浓度的盐酸立即产生气泡的为NaHCO₃溶液</a:t>
            </a:r>
          </a:p>
        </p:txBody>
      </p:sp>
      <p:sp>
        <p:nvSpPr>
          <p:cNvPr id="21" name="原题文字_92_33"/>
          <p:cNvSpPr txBox="1"/>
          <p:nvPr/>
        </p:nvSpPr>
        <p:spPr>
          <a:xfrm>
            <a:off x="564175" y="3599372"/>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22" name="原题文字_92_34"/>
          <p:cNvSpPr txBox="1"/>
          <p:nvPr/>
        </p:nvSpPr>
        <p:spPr>
          <a:xfrm>
            <a:off x="3244095" y="3599372"/>
            <a:ext cx="60616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23" name="原题文字_92_35"/>
          <p:cNvSpPr txBox="1"/>
          <p:nvPr/>
        </p:nvSpPr>
        <p:spPr>
          <a:xfrm>
            <a:off x="5931671" y="3568744"/>
            <a:ext cx="636789"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C. C</a:t>
            </a:r>
          </a:p>
        </p:txBody>
      </p:sp>
      <p:sp>
        <p:nvSpPr>
          <p:cNvPr id="24" name="原题文字_92_36"/>
          <p:cNvSpPr txBox="1"/>
          <p:nvPr/>
        </p:nvSpPr>
        <p:spPr>
          <a:xfrm>
            <a:off x="8619248" y="3599372"/>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25" name="文字_单选题  ·  04-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04-026</a:t>
            </a:r>
          </a:p>
        </p:txBody>
      </p:sp>
      <p:sp>
        <p:nvSpPr>
          <p:cNvPr id="26" name="文字_4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例题5</a:t>
            </a:r>
          </a:p>
        </p:txBody>
      </p:sp>
      <p:sp>
        <p:nvSpPr>
          <p:cNvPr id="5" name="文字_P9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P92</a:t>
            </a:r>
          </a:p>
        </p:txBody>
      </p:sp>
      <p:sp>
        <p:nvSpPr>
          <p:cNvPr id="6" name="文字_如图，某班级同学设计了以下实验，比较Na₂CO₃"/>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如图，某班级同学设计了以下实验，比较Na₂CO₃和NaHCO₃的热稳定性。</a:t>
            </a:r>
          </a:p>
        </p:txBody>
      </p:sp>
      <p:sp>
        <p:nvSpPr>
          <p:cNvPr id="7" name="文字_(1)物质A是 ______ (填化学式)；能够"/>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(1)物质A是 ______ (填化学式)；能够证明Na₂CO₃的热稳定性强于NaHCO₃的主</a:t>
            </a:r>
          </a:p>
          <a:p>
            <a:pPr>
              <a:lnSpc>
                <a:spcPct val="112000"/>
              </a:lnSpc>
              <a:spcBef>
                <a:spcPts val="0"/>
              </a:spcBef>
              <a:spcAft>
                <a:spcPts val="0"/>
              </a:spcAft>
              <a:defRPr sz="2400" b="0">
                <a:solidFill>
                  <a:srgbClr val="333333"/>
                </a:solidFill>
                <a:latin typeface="微软雅黑"/>
              </a:defRPr>
            </a:pPr>
            <a:r>
              <a:rPr>
                <a:ea typeface="微软雅黑"/>
              </a:rPr>
              <a:t>要证据是</a:t>
            </a:r>
          </a:p>
        </p:txBody>
      </p:sp>
      <p:pic>
        <p:nvPicPr>
          <p:cNvPr id="8" name="Picture 7" descr="image.png"/>
          <p:cNvPicPr>
            <a:picLocks noChangeAspect="1"/>
          </p:cNvPicPr>
          <p:nvPr/>
        </p:nvPicPr>
        <p:blipFill>
          <a:blip r:embed="rId3"/>
          <a:stretch>
            <a:fillRect/>
          </a:stretch>
        </p:blipFill>
        <p:spPr>
          <a:xfrm>
            <a:off x="502920" y="2319528"/>
            <a:ext cx="11064240" cy="3468581"/>
          </a:xfrm>
          <a:prstGeom prst="rect">
            <a:avLst/>
          </a:prstGeom>
        </p:spPr>
      </p:pic>
      <p:sp>
        <p:nvSpPr>
          <p:cNvPr id="9" name="原题文字_92_44"/>
          <p:cNvSpPr txBox="1"/>
          <p:nvPr/>
        </p:nvSpPr>
        <p:spPr>
          <a:xfrm>
            <a:off x="548861" y="2351411"/>
            <a:ext cx="48365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(2)</a:t>
            </a:r>
          </a:p>
        </p:txBody>
      </p:sp>
      <p:sp>
        <p:nvSpPr>
          <p:cNvPr id="10" name="原题文字_92_45"/>
          <p:cNvSpPr txBox="1"/>
          <p:nvPr/>
        </p:nvSpPr>
        <p:spPr>
          <a:xfrm>
            <a:off x="1084845" y="2359068"/>
            <a:ext cx="327842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试管B中发生反应的化学方程式是</a:t>
            </a:r>
          </a:p>
        </p:txBody>
      </p:sp>
      <p:sp>
        <p:nvSpPr>
          <p:cNvPr id="11" name="原题文字_92_46"/>
          <p:cNvSpPr txBox="1"/>
          <p:nvPr/>
        </p:nvSpPr>
        <p:spPr>
          <a:xfrm>
            <a:off x="5097068" y="2359068"/>
            <a:ext cx="353110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，烧杯乙中发生反应的离子方程式是</a:t>
            </a:r>
          </a:p>
        </p:txBody>
      </p:sp>
      <p:sp>
        <p:nvSpPr>
          <p:cNvPr id="12" name="原题文字_92_47"/>
          <p:cNvSpPr txBox="1"/>
          <p:nvPr/>
        </p:nvSpPr>
        <p:spPr>
          <a:xfrm>
            <a:off x="2225725" y="2665345"/>
            <a:ext cx="322855"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B</a:t>
            </a:r>
          </a:p>
        </p:txBody>
      </p:sp>
      <p:sp>
        <p:nvSpPr>
          <p:cNvPr id="13" name="原题文字_92_48"/>
          <p:cNvSpPr txBox="1"/>
          <p:nvPr/>
        </p:nvSpPr>
        <p:spPr>
          <a:xfrm>
            <a:off x="5878073" y="4334552"/>
            <a:ext cx="1471392"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澄清石灰水</a:t>
            </a:r>
          </a:p>
        </p:txBody>
      </p:sp>
      <p:sp>
        <p:nvSpPr>
          <p:cNvPr id="14" name="原题文字_92_49"/>
          <p:cNvSpPr txBox="1"/>
          <p:nvPr/>
        </p:nvSpPr>
        <p:spPr>
          <a:xfrm>
            <a:off x="5257863" y="5429490"/>
            <a:ext cx="368797"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乙</a:t>
            </a:r>
          </a:p>
        </p:txBody>
      </p:sp>
      <p:sp>
        <p:nvSpPr>
          <p:cNvPr id="15" name="文字_解答题  ·  04-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04-027</a:t>
            </a:r>
          </a:p>
        </p:txBody>
      </p:sp>
      <p:sp>
        <p:nvSpPr>
          <p:cNvPr id="16" name="文字_4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变式1</a:t>
            </a:r>
          </a:p>
        </p:txBody>
      </p:sp>
      <p:sp>
        <p:nvSpPr>
          <p:cNvPr id="5" name="文字_P9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P93</a:t>
            </a:r>
          </a:p>
        </p:txBody>
      </p:sp>
      <p:sp>
        <p:nvSpPr>
          <p:cNvPr id="6" name="文字_要除去碳酸氢钠溶液中混有的少量碳酸钠，最好采用"/>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要除去碳酸氢钠溶液中混有的少量碳酸钠，最好采用</a:t>
            </a:r>
          </a:p>
        </p:txBody>
      </p:sp>
      <p:sp>
        <p:nvSpPr>
          <p:cNvPr id="7" name="文字_A. 加入过量的澄清石灰水"/>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加入过量的澄清石灰水</a:t>
            </a:r>
          </a:p>
        </p:txBody>
      </p:sp>
      <p:sp>
        <p:nvSpPr>
          <p:cNvPr id="8" name="文字_B. 通入足量的CO₂气体"/>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通入足量的CO₂气体</a:t>
            </a:r>
          </a:p>
        </p:txBody>
      </p:sp>
      <p:sp>
        <p:nvSpPr>
          <p:cNvPr id="9" name="文字_C. 将溶液加热蒸干并灼烧"/>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将溶液加热蒸干并灼烧</a:t>
            </a:r>
          </a:p>
        </p:txBody>
      </p:sp>
      <p:sp>
        <p:nvSpPr>
          <p:cNvPr id="10" name="文字_D. 加入适量的氢氧化钠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加入适量的氢氧化钠溶液</a:t>
            </a:r>
          </a:p>
        </p:txBody>
      </p:sp>
      <p:sp>
        <p:nvSpPr>
          <p:cNvPr id="11" name="文字_单选题  ·  04-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04-028</a:t>
            </a:r>
          </a:p>
        </p:txBody>
      </p:sp>
      <p:sp>
        <p:nvSpPr>
          <p:cNvPr id="12" name="文字_4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变式2</a:t>
            </a:r>
          </a:p>
        </p:txBody>
      </p:sp>
      <p:sp>
        <p:nvSpPr>
          <p:cNvPr id="5" name="文字_P9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P93</a:t>
            </a:r>
          </a:p>
        </p:txBody>
      </p:sp>
      <p:sp>
        <p:nvSpPr>
          <p:cNvPr id="6" name="文字_碳酸氢钠片用于快速缓解胃酸过多，下列说法不正确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碳酸氢钠片用于快速缓解胃酸过多，下列说法不正确的是</a:t>
            </a:r>
          </a:p>
        </p:txBody>
      </p:sp>
      <p:sp>
        <p:nvSpPr>
          <p:cNvPr id="7" name="文字_A. NaHCO₃属于强电解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NaHCO₃属于强电解质</a:t>
            </a:r>
          </a:p>
        </p:txBody>
      </p:sp>
      <p:sp>
        <p:nvSpPr>
          <p:cNvPr id="8" name="文字_B. NaHCO₃和Na₂CO₃可用澄清石灰水鉴"/>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NaHCO₃和Na₂CO₃可用澄清石灰水鉴别</a:t>
            </a:r>
          </a:p>
        </p:txBody>
      </p:sp>
      <p:sp>
        <p:nvSpPr>
          <p:cNvPr id="9" name="文字_C. NaHCO₃受热易分解"/>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NaHCO₃受热易分解</a:t>
            </a:r>
          </a:p>
        </p:txBody>
      </p:sp>
      <p:sp>
        <p:nvSpPr>
          <p:cNvPr id="10" name="文字_D. NaHCO₃溶液中存在HCO₅以氢键形成的"/>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NaHCO₃溶液中存在HCO₅以氢键形成的二聚或多聚离子</a:t>
            </a:r>
          </a:p>
        </p:txBody>
      </p:sp>
      <p:sp>
        <p:nvSpPr>
          <p:cNvPr id="11" name="文字_单选题  ·  04-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04-029</a:t>
            </a:r>
          </a:p>
        </p:txBody>
      </p:sp>
      <p:sp>
        <p:nvSpPr>
          <p:cNvPr id="12"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变式3</a:t>
            </a:r>
          </a:p>
        </p:txBody>
      </p:sp>
      <p:sp>
        <p:nvSpPr>
          <p:cNvPr id="5" name="文字_P9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P93</a:t>
            </a:r>
          </a:p>
        </p:txBody>
      </p:sp>
      <p:sp>
        <p:nvSpPr>
          <p:cNvPr id="6" name="文字_下列有关钠元素及其化合物的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下列有关钠元素及其化合物的说法不正确的是</a:t>
            </a:r>
          </a:p>
        </p:txBody>
      </p:sp>
      <p:sp>
        <p:nvSpPr>
          <p:cNvPr id="7" name="文字_A. 可用澄清石灰水鉴别Na₂CO₃和NaHCO"/>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可用澄清石灰水鉴别Na₂CO₃和NaHCO₃</a:t>
            </a:r>
          </a:p>
        </p:txBody>
      </p:sp>
      <p:sp>
        <p:nvSpPr>
          <p:cNvPr id="8" name="文字_B. Na₂O和Na₂O₂都能与水反应生成碱"/>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Na₂O和Na₂O₂都能与水反应生成碱</a:t>
            </a:r>
          </a:p>
        </p:txBody>
      </p:sp>
      <p:sp>
        <p:nvSpPr>
          <p:cNvPr id="9" name="文字_C. Na₂CO₃的热稳定性比NaHCO₃强"/>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Na₂CO₃的热稳定性比NaHCO₃强</a:t>
            </a:r>
          </a:p>
        </p:txBody>
      </p:sp>
      <p:sp>
        <p:nvSpPr>
          <p:cNvPr id="10" name="文字_D. NaCl和NaOH灼烧时火焰颜色都呈黄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NaCl和NaOH灼烧时火焰颜色都呈黄色</a:t>
            </a:r>
          </a:p>
        </p:txBody>
      </p:sp>
      <p:sp>
        <p:nvSpPr>
          <p:cNvPr id="11" name="文字_单选题  ·  04-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04-030</a:t>
            </a:r>
          </a:p>
        </p:txBody>
      </p:sp>
      <p:sp>
        <p:nvSpPr>
          <p:cNvPr id="12"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变式4</a:t>
            </a:r>
          </a:p>
        </p:txBody>
      </p:sp>
      <p:sp>
        <p:nvSpPr>
          <p:cNvPr id="5" name="文字_P9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P93</a:t>
            </a:r>
          </a:p>
        </p:txBody>
      </p:sp>
      <p:sp>
        <p:nvSpPr>
          <p:cNvPr id="6" name="文字_以不同类别物质间的转化为线索，认识钠及其化合物，"/>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以不同类别物质间的转化为线索，认识钠及其化合物，如图所示。</a:t>
            </a:r>
          </a:p>
        </p:txBody>
      </p:sp>
      <p:sp>
        <p:nvSpPr>
          <p:cNvPr id="7" name="文字_下列分析不正确的是"/>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下列分析不正确的是</a:t>
            </a:r>
          </a:p>
        </p:txBody>
      </p:sp>
      <p:pic>
        <p:nvPicPr>
          <p:cNvPr id="8" name="Picture 7" descr="image.png"/>
          <p:cNvPicPr>
            <a:picLocks noChangeAspect="1"/>
          </p:cNvPicPr>
          <p:nvPr/>
        </p:nvPicPr>
        <p:blipFill>
          <a:blip r:embed="rId3"/>
          <a:stretch>
            <a:fillRect/>
          </a:stretch>
        </p:blipFill>
        <p:spPr>
          <a:xfrm>
            <a:off x="502920" y="1956816"/>
            <a:ext cx="11064240" cy="1822345"/>
          </a:xfrm>
          <a:prstGeom prst="rect">
            <a:avLst/>
          </a:prstGeom>
        </p:spPr>
      </p:pic>
      <p:sp>
        <p:nvSpPr>
          <p:cNvPr id="9" name="原题文字_93_30"/>
          <p:cNvSpPr txBox="1"/>
          <p:nvPr/>
        </p:nvSpPr>
        <p:spPr>
          <a:xfrm>
            <a:off x="587146" y="2019327"/>
            <a:ext cx="404411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反应③表明CO₂具有酸性氧化物的性质</a:t>
            </a:r>
          </a:p>
        </p:txBody>
      </p:sp>
      <p:sp>
        <p:nvSpPr>
          <p:cNvPr id="10" name="原题文字_93_31"/>
          <p:cNvSpPr txBox="1"/>
          <p:nvPr/>
        </p:nvSpPr>
        <p:spPr>
          <a:xfrm>
            <a:off x="7011296" y="1988699"/>
            <a:ext cx="475994" cy="348389"/>
          </a:xfrm>
          <a:prstGeom prst="rect">
            <a:avLst/>
          </a:prstGeom>
          <a:noFill/>
        </p:spPr>
        <p:txBody>
          <a:bodyPr wrap="none" lIns="0" rIns="0" tIns="0" bIns="0">
            <a:spAutoFit/>
          </a:bodyPr>
          <a:lstStyle/>
          <a:p>
            <a:pPr>
              <a:lnSpc>
                <a:spcPct val="112000"/>
              </a:lnSpc>
              <a:spcBef>
                <a:spcPts val="0"/>
              </a:spcBef>
              <a:spcAft>
                <a:spcPts val="0"/>
              </a:spcAft>
              <a:defRPr sz="1633" b="0">
                <a:solidFill>
                  <a:srgbClr val="333333"/>
                </a:solidFill>
                <a:latin typeface="微软雅黑"/>
              </a:defRPr>
            </a:pPr>
            <a:r>
              <a:rPr>
                <a:ea typeface="微软雅黑"/>
              </a:rPr>
              <a:t>H₂O</a:t>
            </a:r>
          </a:p>
        </p:txBody>
      </p:sp>
      <p:sp>
        <p:nvSpPr>
          <p:cNvPr id="11" name="原题文字_93_32"/>
          <p:cNvSpPr txBox="1"/>
          <p:nvPr/>
        </p:nvSpPr>
        <p:spPr>
          <a:xfrm>
            <a:off x="7087865" y="2256691"/>
            <a:ext cx="29988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⑤</a:t>
            </a:r>
          </a:p>
        </p:txBody>
      </p:sp>
      <p:sp>
        <p:nvSpPr>
          <p:cNvPr id="12" name="原题文字_93_33"/>
          <p:cNvSpPr txBox="1"/>
          <p:nvPr/>
        </p:nvSpPr>
        <p:spPr>
          <a:xfrm>
            <a:off x="564175" y="2409830"/>
            <a:ext cx="440399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反应④说明NaHCO₃的稳定性强于Na₂CO₃</a:t>
            </a:r>
          </a:p>
        </p:txBody>
      </p:sp>
      <p:sp>
        <p:nvSpPr>
          <p:cNvPr id="13" name="原题文字_93_34"/>
          <p:cNvSpPr txBox="1"/>
          <p:nvPr/>
        </p:nvSpPr>
        <p:spPr>
          <a:xfrm>
            <a:off x="5801504" y="2478742"/>
            <a:ext cx="698044" cy="467837"/>
          </a:xfrm>
          <a:prstGeom prst="rect">
            <a:avLst/>
          </a:prstGeom>
          <a:noFill/>
        </p:spPr>
        <p:txBody>
          <a:bodyPr wrap="none" lIns="0" rIns="0" tIns="0" bIns="0">
            <a:spAutoFit/>
          </a:bodyPr>
          <a:lstStyle/>
          <a:p>
            <a:pPr>
              <a:lnSpc>
                <a:spcPct val="112000"/>
              </a:lnSpc>
              <a:spcBef>
                <a:spcPts val="0"/>
              </a:spcBef>
              <a:spcAft>
                <a:spcPts val="0"/>
              </a:spcAft>
              <a:defRPr sz="1527" b="0">
                <a:solidFill>
                  <a:srgbClr val="333333"/>
                </a:solidFill>
                <a:latin typeface="微软雅黑"/>
              </a:defRPr>
            </a:pPr>
            <a:r>
              <a:rPr>
                <a:ea typeface="微软雅黑"/>
              </a:rPr>
              <a:t>Na₂O₂</a:t>
            </a:r>
          </a:p>
        </p:txBody>
      </p:sp>
      <p:sp>
        <p:nvSpPr>
          <p:cNvPr id="14" name="原题文字_93_35"/>
          <p:cNvSpPr txBox="1"/>
          <p:nvPr/>
        </p:nvSpPr>
        <p:spPr>
          <a:xfrm>
            <a:off x="6452341" y="2402173"/>
            <a:ext cx="606161" cy="378251"/>
          </a:xfrm>
          <a:prstGeom prst="rect">
            <a:avLst/>
          </a:prstGeom>
          <a:noFill/>
        </p:spPr>
        <p:txBody>
          <a:bodyPr wrap="none" lIns="0" rIns="0" tIns="0" bIns="0">
            <a:spAutoFit/>
          </a:bodyPr>
          <a:lstStyle/>
          <a:p>
            <a:pPr>
              <a:lnSpc>
                <a:spcPct val="112000"/>
              </a:lnSpc>
              <a:spcBef>
                <a:spcPts val="0"/>
              </a:spcBef>
              <a:spcAft>
                <a:spcPts val="0"/>
              </a:spcAft>
              <a:defRPr sz="1498" b="0">
                <a:solidFill>
                  <a:srgbClr val="333333"/>
                </a:solidFill>
                <a:latin typeface="微软雅黑"/>
              </a:defRPr>
            </a:pPr>
            <a:r>
              <a:rPr>
                <a:ea typeface="微软雅黑"/>
              </a:rPr>
              <a:t>O₂、∆</a:t>
            </a:r>
          </a:p>
        </p:txBody>
      </p:sp>
      <p:sp>
        <p:nvSpPr>
          <p:cNvPr id="15" name="原题文字_93_36"/>
          <p:cNvSpPr txBox="1"/>
          <p:nvPr/>
        </p:nvSpPr>
        <p:spPr>
          <a:xfrm>
            <a:off x="7095522" y="2501712"/>
            <a:ext cx="45302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a:t>
            </a:r>
          </a:p>
        </p:txBody>
      </p:sp>
      <p:sp>
        <p:nvSpPr>
          <p:cNvPr id="16" name="原题文字_93_37"/>
          <p:cNvSpPr txBox="1"/>
          <p:nvPr/>
        </p:nvSpPr>
        <p:spPr>
          <a:xfrm>
            <a:off x="7531966" y="2440457"/>
            <a:ext cx="468337"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H₂O</a:t>
            </a:r>
          </a:p>
        </p:txBody>
      </p:sp>
      <p:sp>
        <p:nvSpPr>
          <p:cNvPr id="17" name="原题文字_93_38"/>
          <p:cNvSpPr txBox="1"/>
          <p:nvPr/>
        </p:nvSpPr>
        <p:spPr>
          <a:xfrm>
            <a:off x="7937783" y="2532340"/>
            <a:ext cx="76695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NaOH</a:t>
            </a:r>
          </a:p>
        </p:txBody>
      </p:sp>
      <p:sp>
        <p:nvSpPr>
          <p:cNvPr id="18" name="原题文字_93_39"/>
          <p:cNvSpPr txBox="1"/>
          <p:nvPr/>
        </p:nvSpPr>
        <p:spPr>
          <a:xfrm>
            <a:off x="8986780" y="2486399"/>
            <a:ext cx="973693" cy="477791"/>
          </a:xfrm>
          <a:prstGeom prst="rect">
            <a:avLst/>
          </a:prstGeom>
          <a:noFill/>
        </p:spPr>
        <p:txBody>
          <a:bodyPr wrap="none" lIns="0" rIns="0" tIns="0" bIns="0">
            <a:spAutoFit/>
          </a:bodyPr>
          <a:lstStyle/>
          <a:p>
            <a:pPr>
              <a:lnSpc>
                <a:spcPct val="112000"/>
              </a:lnSpc>
              <a:spcBef>
                <a:spcPts val="0"/>
              </a:spcBef>
              <a:spcAft>
                <a:spcPts val="0"/>
              </a:spcAft>
              <a:defRPr sz="1812" b="0">
                <a:solidFill>
                  <a:srgbClr val="333333"/>
                </a:solidFill>
                <a:latin typeface="微软雅黑"/>
              </a:defRPr>
            </a:pPr>
            <a:r>
              <a:rPr>
                <a:ea typeface="微软雅黑"/>
              </a:rPr>
              <a:t>Na₂CO₃</a:t>
            </a:r>
          </a:p>
        </p:txBody>
      </p:sp>
      <p:sp>
        <p:nvSpPr>
          <p:cNvPr id="19" name="原题文字_93_40"/>
          <p:cNvSpPr txBox="1"/>
          <p:nvPr/>
        </p:nvSpPr>
        <p:spPr>
          <a:xfrm>
            <a:off x="10089375" y="2471085"/>
            <a:ext cx="253943"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a:t>
            </a:r>
          </a:p>
        </p:txBody>
      </p:sp>
      <p:sp>
        <p:nvSpPr>
          <p:cNvPr id="20" name="原题文字_93_41"/>
          <p:cNvSpPr txBox="1"/>
          <p:nvPr/>
        </p:nvSpPr>
        <p:spPr>
          <a:xfrm>
            <a:off x="10441593" y="2532340"/>
            <a:ext cx="866496" cy="318527"/>
          </a:xfrm>
          <a:prstGeom prst="rect">
            <a:avLst/>
          </a:prstGeom>
          <a:noFill/>
        </p:spPr>
        <p:txBody>
          <a:bodyPr wrap="none" lIns="0" rIns="0" tIns="0" bIns="0">
            <a:spAutoFit/>
          </a:bodyPr>
          <a:lstStyle/>
          <a:p>
            <a:pPr>
              <a:lnSpc>
                <a:spcPct val="112000"/>
              </a:lnSpc>
              <a:spcBef>
                <a:spcPts val="0"/>
              </a:spcBef>
              <a:spcAft>
                <a:spcPts val="0"/>
              </a:spcAft>
              <a:defRPr sz="1467" b="0">
                <a:solidFill>
                  <a:srgbClr val="333333"/>
                </a:solidFill>
                <a:latin typeface="微软雅黑"/>
              </a:defRPr>
            </a:pPr>
            <a:r>
              <a:rPr>
                <a:ea typeface="微软雅黑"/>
              </a:rPr>
              <a:t>-NaHCO₃</a:t>
            </a:r>
          </a:p>
        </p:txBody>
      </p:sp>
      <p:sp>
        <p:nvSpPr>
          <p:cNvPr id="21" name="原题文字_93_42"/>
          <p:cNvSpPr txBox="1"/>
          <p:nvPr/>
        </p:nvSpPr>
        <p:spPr>
          <a:xfrm>
            <a:off x="6636107" y="2670165"/>
            <a:ext cx="29988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①</a:t>
            </a:r>
          </a:p>
        </p:txBody>
      </p:sp>
      <p:sp>
        <p:nvSpPr>
          <p:cNvPr id="22" name="原题文字_93_43"/>
          <p:cNvSpPr txBox="1"/>
          <p:nvPr/>
        </p:nvSpPr>
        <p:spPr>
          <a:xfrm>
            <a:off x="7585564" y="2677821"/>
            <a:ext cx="29988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②</a:t>
            </a:r>
          </a:p>
        </p:txBody>
      </p:sp>
      <p:sp>
        <p:nvSpPr>
          <p:cNvPr id="23" name="原题文字_93_44"/>
          <p:cNvSpPr txBox="1"/>
          <p:nvPr/>
        </p:nvSpPr>
        <p:spPr>
          <a:xfrm>
            <a:off x="8726445" y="2677821"/>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③</a:t>
            </a:r>
          </a:p>
        </p:txBody>
      </p:sp>
      <p:sp>
        <p:nvSpPr>
          <p:cNvPr id="24" name="原题文字_93_45"/>
          <p:cNvSpPr txBox="1"/>
          <p:nvPr/>
        </p:nvSpPr>
        <p:spPr>
          <a:xfrm>
            <a:off x="10089375" y="2647194"/>
            <a:ext cx="29222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④</a:t>
            </a:r>
          </a:p>
        </p:txBody>
      </p:sp>
      <p:sp>
        <p:nvSpPr>
          <p:cNvPr id="25" name="原题文字_93_46"/>
          <p:cNvSpPr txBox="1"/>
          <p:nvPr/>
        </p:nvSpPr>
        <p:spPr>
          <a:xfrm>
            <a:off x="587146" y="2792675"/>
            <a:ext cx="235193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 反应②中水做氧化剂</a:t>
            </a:r>
          </a:p>
        </p:txBody>
      </p:sp>
      <p:sp>
        <p:nvSpPr>
          <p:cNvPr id="26" name="原题文字_93_47"/>
          <p:cNvSpPr txBox="1"/>
          <p:nvPr/>
        </p:nvSpPr>
        <p:spPr>
          <a:xfrm>
            <a:off x="7708075" y="2930500"/>
            <a:ext cx="506621" cy="398159"/>
          </a:xfrm>
          <a:prstGeom prst="rect">
            <a:avLst/>
          </a:prstGeom>
          <a:noFill/>
        </p:spPr>
        <p:txBody>
          <a:bodyPr wrap="none" lIns="0" rIns="0" tIns="0" bIns="0">
            <a:spAutoFit/>
          </a:bodyPr>
          <a:lstStyle/>
          <a:p>
            <a:pPr>
              <a:lnSpc>
                <a:spcPct val="112000"/>
              </a:lnSpc>
              <a:spcBef>
                <a:spcPts val="0"/>
              </a:spcBef>
              <a:spcAft>
                <a:spcPts val="0"/>
              </a:spcAft>
              <a:defRPr sz="1821" b="0">
                <a:solidFill>
                  <a:srgbClr val="333333"/>
                </a:solidFill>
                <a:latin typeface="微软雅黑"/>
              </a:defRPr>
            </a:pPr>
            <a:r>
              <a:rPr>
                <a:ea typeface="微软雅黑"/>
              </a:rPr>
              <a:t>CO₂</a:t>
            </a:r>
          </a:p>
        </p:txBody>
      </p:sp>
      <p:sp>
        <p:nvSpPr>
          <p:cNvPr id="27" name="原题文字_93_48"/>
          <p:cNvSpPr txBox="1"/>
          <p:nvPr/>
        </p:nvSpPr>
        <p:spPr>
          <a:xfrm>
            <a:off x="571832" y="3175521"/>
            <a:ext cx="516202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上述转化中发生的反应有分解反应、化合反应、置</a:t>
            </a:r>
          </a:p>
        </p:txBody>
      </p:sp>
      <p:sp>
        <p:nvSpPr>
          <p:cNvPr id="28" name="原题文字_93_49"/>
          <p:cNvSpPr txBox="1"/>
          <p:nvPr/>
        </p:nvSpPr>
        <p:spPr>
          <a:xfrm>
            <a:off x="7815272" y="3213805"/>
            <a:ext cx="2922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6</a:t>
            </a:r>
          </a:p>
        </p:txBody>
      </p:sp>
      <p:sp>
        <p:nvSpPr>
          <p:cNvPr id="29" name="原题文字_93_50"/>
          <p:cNvSpPr txBox="1"/>
          <p:nvPr/>
        </p:nvSpPr>
        <p:spPr>
          <a:xfrm>
            <a:off x="885765" y="3489454"/>
            <a:ext cx="782270"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换反应</a:t>
            </a:r>
          </a:p>
        </p:txBody>
      </p:sp>
      <p:sp>
        <p:nvSpPr>
          <p:cNvPr id="30" name="文字_单选题  ·  04-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04-031</a:t>
            </a:r>
          </a:p>
        </p:txBody>
      </p:sp>
      <p:sp>
        <p:nvSpPr>
          <p:cNvPr id="31"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变式5</a:t>
            </a:r>
          </a:p>
        </p:txBody>
      </p:sp>
      <p:sp>
        <p:nvSpPr>
          <p:cNvPr id="5" name="文字_P9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P93</a:t>
            </a:r>
          </a:p>
        </p:txBody>
      </p:sp>
      <p:sp>
        <p:nvSpPr>
          <p:cNvPr id="6" name="文字_下列鉴别苏打（Na₂CO₃）和小苏打（NaHCO"/>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下列鉴别苏打（Na₂CO₃）和小苏打（NaHCO₃）的方法错误的是(）</a:t>
            </a:r>
          </a:p>
        </p:txBody>
      </p:sp>
      <p:sp>
        <p:nvSpPr>
          <p:cNvPr id="7" name="文字_A. 取两种样品溶液加入澄清石灰水，观察是否出现"/>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取两种样品溶液加入澄清石灰水，观察是否出现白色沉淀</a:t>
            </a:r>
          </a:p>
        </p:txBody>
      </p:sp>
      <p:sp>
        <p:nvSpPr>
          <p:cNvPr id="8" name="文字_B. 取固体加热，检验产生气体是否使澄清石灰水变"/>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取固体加热，检验产生气体是否使澄清石灰水变浑浊</a:t>
            </a:r>
          </a:p>
        </p:txBody>
      </p:sp>
      <p:sp>
        <p:nvSpPr>
          <p:cNvPr id="9" name="文字_C. 取固体滴入相同浓度的稀盐酸，观察产生气泡的"/>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取固体滴入相同浓度的稀盐酸，观察产生气泡的剧烈程度</a:t>
            </a:r>
          </a:p>
        </p:txBody>
      </p:sp>
      <p:sp>
        <p:nvSpPr>
          <p:cNvPr id="10" name="文字_D. 取相同浓度的两种样品溶液，再滴入相同浓度的"/>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取相同浓度的两种样品溶液，再滴入相同浓度的稀盐酸，观察产生气泡的剧烈</a:t>
            </a:r>
          </a:p>
          <a:p>
            <a:pPr>
              <a:lnSpc>
                <a:spcPct val="112000"/>
              </a:lnSpc>
              <a:spcBef>
                <a:spcPts val="0"/>
              </a:spcBef>
              <a:spcAft>
                <a:spcPts val="0"/>
              </a:spcAft>
              <a:defRPr sz="2400" b="0">
                <a:solidFill>
                  <a:srgbClr val="333333"/>
                </a:solidFill>
                <a:latin typeface="微软雅黑"/>
              </a:defRPr>
            </a:pPr>
            <a:r>
              <a:rPr>
                <a:ea typeface="微软雅黑"/>
              </a:rPr>
              <a:t>程度</a:t>
            </a:r>
          </a:p>
        </p:txBody>
      </p:sp>
      <p:sp>
        <p:nvSpPr>
          <p:cNvPr id="11" name="文字_单选题  ·  04-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04-032</a:t>
            </a:r>
          </a:p>
        </p:txBody>
      </p:sp>
      <p:sp>
        <p:nvSpPr>
          <p:cNvPr id="12" name="文字_4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变式6</a:t>
            </a:r>
          </a:p>
        </p:txBody>
      </p:sp>
      <p:sp>
        <p:nvSpPr>
          <p:cNvPr id="5" name="文字_P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P94</a:t>
            </a:r>
          </a:p>
        </p:txBody>
      </p:sp>
      <p:sp>
        <p:nvSpPr>
          <p:cNvPr id="6" name="文字_下表中叙述Ⅲ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下表中叙述Ⅲ不正确的是</a:t>
            </a:r>
          </a:p>
        </p:txBody>
      </p:sp>
      <p:pic>
        <p:nvPicPr>
          <p:cNvPr id="7" name="Picture 6" descr="image.png"/>
          <p:cNvPicPr>
            <a:picLocks noChangeAspect="1"/>
          </p:cNvPicPr>
          <p:nvPr/>
        </p:nvPicPr>
        <p:blipFill>
          <a:blip r:embed="rId3"/>
          <a:stretch>
            <a:fillRect/>
          </a:stretch>
        </p:blipFill>
        <p:spPr>
          <a:xfrm>
            <a:off x="502920" y="1517904"/>
            <a:ext cx="11064240" cy="3966281"/>
          </a:xfrm>
          <a:prstGeom prst="rect">
            <a:avLst/>
          </a:prstGeom>
        </p:spPr>
      </p:pic>
      <p:sp>
        <p:nvSpPr>
          <p:cNvPr id="8" name="原题文字_94_4"/>
          <p:cNvSpPr txBox="1"/>
          <p:nvPr/>
        </p:nvSpPr>
        <p:spPr>
          <a:xfrm>
            <a:off x="602459" y="1672298"/>
            <a:ext cx="59850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选项</a:t>
            </a:r>
          </a:p>
        </p:txBody>
      </p:sp>
      <p:sp>
        <p:nvSpPr>
          <p:cNvPr id="9" name="原题文字_94_5"/>
          <p:cNvSpPr txBox="1"/>
          <p:nvPr/>
        </p:nvSpPr>
        <p:spPr>
          <a:xfrm>
            <a:off x="1306895" y="1664641"/>
            <a:ext cx="667417"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叙述I</a:t>
            </a:r>
          </a:p>
        </p:txBody>
      </p:sp>
      <p:sp>
        <p:nvSpPr>
          <p:cNvPr id="10" name="原题文字_94_6"/>
          <p:cNvSpPr txBox="1"/>
          <p:nvPr/>
        </p:nvSpPr>
        <p:spPr>
          <a:xfrm>
            <a:off x="3933217" y="1664641"/>
            <a:ext cx="728672" cy="418067"/>
          </a:xfrm>
          <a:prstGeom prst="rect">
            <a:avLst/>
          </a:prstGeom>
          <a:noFill/>
        </p:spPr>
        <p:txBody>
          <a:bodyPr wrap="none" lIns="0" rIns="0" tIns="0" bIns="0">
            <a:spAutoFit/>
          </a:bodyPr>
          <a:lstStyle/>
          <a:p>
            <a:pPr>
              <a:lnSpc>
                <a:spcPct val="112000"/>
              </a:lnSpc>
              <a:spcBef>
                <a:spcPts val="0"/>
              </a:spcBef>
              <a:spcAft>
                <a:spcPts val="0"/>
              </a:spcAft>
              <a:defRPr sz="1912" b="0">
                <a:solidFill>
                  <a:srgbClr val="333333"/>
                </a:solidFill>
                <a:latin typeface="微软雅黑"/>
              </a:defRPr>
            </a:pPr>
            <a:r>
              <a:rPr>
                <a:ea typeface="微软雅黑"/>
              </a:rPr>
              <a:t>叙述Ⅱ</a:t>
            </a:r>
          </a:p>
        </p:txBody>
      </p:sp>
      <p:sp>
        <p:nvSpPr>
          <p:cNvPr id="11" name="原题文字_94_7"/>
          <p:cNvSpPr txBox="1"/>
          <p:nvPr/>
        </p:nvSpPr>
        <p:spPr>
          <a:xfrm>
            <a:off x="6414057" y="1664641"/>
            <a:ext cx="797584"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叙述Ⅲ</a:t>
            </a:r>
          </a:p>
        </p:txBody>
      </p:sp>
      <p:sp>
        <p:nvSpPr>
          <p:cNvPr id="12" name="原题文字_94_8"/>
          <p:cNvSpPr txBox="1"/>
          <p:nvPr/>
        </p:nvSpPr>
        <p:spPr>
          <a:xfrm>
            <a:off x="1360494" y="2116399"/>
            <a:ext cx="263524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将少量稀硫酸逐滴加入苏打</a:t>
            </a:r>
          </a:p>
        </p:txBody>
      </p:sp>
      <p:sp>
        <p:nvSpPr>
          <p:cNvPr id="13" name="原题文字_94_9"/>
          <p:cNvSpPr txBox="1"/>
          <p:nvPr/>
        </p:nvSpPr>
        <p:spPr>
          <a:xfrm>
            <a:off x="6467655" y="2116399"/>
            <a:ext cx="242085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可用稀硫酸或稀盐酸鉴别</a:t>
            </a:r>
          </a:p>
        </p:txBody>
      </p:sp>
      <p:sp>
        <p:nvSpPr>
          <p:cNvPr id="14" name="原题文字_94_10"/>
          <p:cNvSpPr txBox="1"/>
          <p:nvPr/>
        </p:nvSpPr>
        <p:spPr>
          <a:xfrm>
            <a:off x="625430" y="2323136"/>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a:t>
            </a:r>
          </a:p>
        </p:txBody>
      </p:sp>
      <p:sp>
        <p:nvSpPr>
          <p:cNvPr id="15" name="原题文字_94_11"/>
          <p:cNvSpPr txBox="1"/>
          <p:nvPr/>
        </p:nvSpPr>
        <p:spPr>
          <a:xfrm>
            <a:off x="3956187" y="2284851"/>
            <a:ext cx="118043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无明显现象</a:t>
            </a:r>
          </a:p>
        </p:txBody>
      </p:sp>
      <p:sp>
        <p:nvSpPr>
          <p:cNvPr id="16" name="原题文字_94_12"/>
          <p:cNvSpPr txBox="1"/>
          <p:nvPr/>
        </p:nvSpPr>
        <p:spPr>
          <a:xfrm>
            <a:off x="1345180" y="2476274"/>
            <a:ext cx="202269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溶液中，并不断振荡</a:t>
            </a:r>
          </a:p>
        </p:txBody>
      </p:sp>
      <p:sp>
        <p:nvSpPr>
          <p:cNvPr id="17" name="原题文字_94_13"/>
          <p:cNvSpPr txBox="1"/>
          <p:nvPr/>
        </p:nvSpPr>
        <p:spPr>
          <a:xfrm>
            <a:off x="6459998" y="2483931"/>
            <a:ext cx="2221770"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苏打溶液和小苏打溶液</a:t>
            </a:r>
          </a:p>
        </p:txBody>
      </p:sp>
      <p:sp>
        <p:nvSpPr>
          <p:cNvPr id="18" name="原题文字_94_14"/>
          <p:cNvSpPr txBox="1"/>
          <p:nvPr/>
        </p:nvSpPr>
        <p:spPr>
          <a:xfrm>
            <a:off x="1360494" y="2905061"/>
            <a:ext cx="2642900"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向苏打溶液中滴加澄清石灰</a:t>
            </a:r>
          </a:p>
        </p:txBody>
      </p:sp>
      <p:sp>
        <p:nvSpPr>
          <p:cNvPr id="19" name="原题文字_94_15"/>
          <p:cNvSpPr txBox="1"/>
          <p:nvPr/>
        </p:nvSpPr>
        <p:spPr>
          <a:xfrm>
            <a:off x="6459998" y="2897404"/>
            <a:ext cx="242850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可用澄清石灰水鉴别苏打</a:t>
            </a:r>
          </a:p>
        </p:txBody>
      </p:sp>
      <p:sp>
        <p:nvSpPr>
          <p:cNvPr id="20" name="原题文字_94_16"/>
          <p:cNvSpPr txBox="1"/>
          <p:nvPr/>
        </p:nvSpPr>
        <p:spPr>
          <a:xfrm>
            <a:off x="625430" y="3096484"/>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B</a:t>
            </a:r>
          </a:p>
        </p:txBody>
      </p:sp>
      <p:sp>
        <p:nvSpPr>
          <p:cNvPr id="21" name="原题文字_94_17"/>
          <p:cNvSpPr txBox="1"/>
          <p:nvPr/>
        </p:nvSpPr>
        <p:spPr>
          <a:xfrm>
            <a:off x="3940874" y="3027572"/>
            <a:ext cx="1417794" cy="408113"/>
          </a:xfrm>
          <a:prstGeom prst="rect">
            <a:avLst/>
          </a:prstGeom>
          <a:noFill/>
        </p:spPr>
        <p:txBody>
          <a:bodyPr wrap="none" lIns="0" rIns="0" tIns="0" bIns="0">
            <a:spAutoFit/>
          </a:bodyPr>
          <a:lstStyle/>
          <a:p>
            <a:pPr>
              <a:lnSpc>
                <a:spcPct val="112000"/>
              </a:lnSpc>
              <a:spcBef>
                <a:spcPts val="0"/>
              </a:spcBef>
              <a:spcAft>
                <a:spcPts val="0"/>
              </a:spcAft>
              <a:defRPr sz="1874" b="0">
                <a:solidFill>
                  <a:srgbClr val="333333"/>
                </a:solidFill>
                <a:latin typeface="微软雅黑"/>
              </a:defRPr>
            </a:pPr>
            <a:r>
              <a:rPr>
                <a:ea typeface="微软雅黑"/>
              </a:rPr>
              <a:t>产生白色沉淀</a:t>
            </a:r>
          </a:p>
        </p:txBody>
      </p:sp>
      <p:sp>
        <p:nvSpPr>
          <p:cNvPr id="22" name="原题文字_94_18"/>
          <p:cNvSpPr txBox="1"/>
          <p:nvPr/>
        </p:nvSpPr>
        <p:spPr>
          <a:xfrm>
            <a:off x="1314552" y="3196024"/>
            <a:ext cx="950722" cy="477791"/>
          </a:xfrm>
          <a:prstGeom prst="rect">
            <a:avLst/>
          </a:prstGeom>
          <a:noFill/>
        </p:spPr>
        <p:txBody>
          <a:bodyPr wrap="none" lIns="0" rIns="0" tIns="0" bIns="0">
            <a:spAutoFit/>
          </a:bodyPr>
          <a:lstStyle/>
          <a:p>
            <a:pPr>
              <a:lnSpc>
                <a:spcPct val="112000"/>
              </a:lnSpc>
              <a:spcBef>
                <a:spcPts val="0"/>
              </a:spcBef>
              <a:spcAft>
                <a:spcPts val="0"/>
              </a:spcAft>
              <a:defRPr sz="2043" b="0">
                <a:solidFill>
                  <a:srgbClr val="333333"/>
                </a:solidFill>
                <a:latin typeface="微软雅黑"/>
              </a:defRPr>
            </a:pPr>
            <a:r>
              <a:rPr>
                <a:ea typeface="微软雅黑"/>
              </a:rPr>
              <a:t>水(少量)</a:t>
            </a:r>
          </a:p>
        </p:txBody>
      </p:sp>
      <p:sp>
        <p:nvSpPr>
          <p:cNvPr id="23" name="原题文字_94_19"/>
          <p:cNvSpPr txBox="1"/>
          <p:nvPr/>
        </p:nvSpPr>
        <p:spPr>
          <a:xfrm>
            <a:off x="6452341" y="3241965"/>
            <a:ext cx="180829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溶液和小苏打溶液</a:t>
            </a:r>
          </a:p>
        </p:txBody>
      </p:sp>
      <p:sp>
        <p:nvSpPr>
          <p:cNvPr id="24" name="原题文字_94_20"/>
          <p:cNvSpPr txBox="1"/>
          <p:nvPr/>
        </p:nvSpPr>
        <p:spPr>
          <a:xfrm>
            <a:off x="6467655" y="3663095"/>
            <a:ext cx="242085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可用加热法除去苏打中的</a:t>
            </a:r>
          </a:p>
        </p:txBody>
      </p:sp>
      <p:sp>
        <p:nvSpPr>
          <p:cNvPr id="25" name="原题文字_94_21"/>
          <p:cNvSpPr txBox="1"/>
          <p:nvPr/>
        </p:nvSpPr>
        <p:spPr>
          <a:xfrm>
            <a:off x="633087" y="3869832"/>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C</a:t>
            </a:r>
          </a:p>
        </p:txBody>
      </p:sp>
      <p:sp>
        <p:nvSpPr>
          <p:cNvPr id="26" name="原题文字_94_22"/>
          <p:cNvSpPr txBox="1"/>
          <p:nvPr/>
        </p:nvSpPr>
        <p:spPr>
          <a:xfrm>
            <a:off x="1345180" y="3831547"/>
            <a:ext cx="159390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加热小苏打固体</a:t>
            </a:r>
          </a:p>
        </p:txBody>
      </p:sp>
      <p:sp>
        <p:nvSpPr>
          <p:cNvPr id="27" name="原题文字_94_23"/>
          <p:cNvSpPr txBox="1"/>
          <p:nvPr/>
        </p:nvSpPr>
        <p:spPr>
          <a:xfrm>
            <a:off x="3963844" y="3831547"/>
            <a:ext cx="224474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产生无色气体和水蒸气</a:t>
            </a:r>
          </a:p>
        </p:txBody>
      </p:sp>
      <p:sp>
        <p:nvSpPr>
          <p:cNvPr id="28" name="原题文字_94_24"/>
          <p:cNvSpPr txBox="1"/>
          <p:nvPr/>
        </p:nvSpPr>
        <p:spPr>
          <a:xfrm>
            <a:off x="6437027" y="4000000"/>
            <a:ext cx="774613"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小苏打</a:t>
            </a:r>
          </a:p>
        </p:txBody>
      </p:sp>
      <p:sp>
        <p:nvSpPr>
          <p:cNvPr id="29" name="原题文字_94_25"/>
          <p:cNvSpPr txBox="1"/>
          <p:nvPr/>
        </p:nvSpPr>
        <p:spPr>
          <a:xfrm>
            <a:off x="1360494" y="4444101"/>
            <a:ext cx="263524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向苏打稀溶液中通入过量二</a:t>
            </a:r>
          </a:p>
        </p:txBody>
      </p:sp>
      <p:sp>
        <p:nvSpPr>
          <p:cNvPr id="30" name="原题文字_94_26"/>
          <p:cNvSpPr txBox="1"/>
          <p:nvPr/>
        </p:nvSpPr>
        <p:spPr>
          <a:xfrm>
            <a:off x="6452341" y="4436444"/>
            <a:ext cx="244382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可用二氧化碳除去小苏打</a:t>
            </a:r>
          </a:p>
        </p:txBody>
      </p:sp>
      <p:sp>
        <p:nvSpPr>
          <p:cNvPr id="31" name="原题文字_94_27"/>
          <p:cNvSpPr txBox="1"/>
          <p:nvPr/>
        </p:nvSpPr>
        <p:spPr>
          <a:xfrm>
            <a:off x="633087" y="4673808"/>
            <a:ext cx="246286"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D</a:t>
            </a:r>
          </a:p>
        </p:txBody>
      </p:sp>
      <p:sp>
        <p:nvSpPr>
          <p:cNvPr id="32" name="原题文字_94_28"/>
          <p:cNvSpPr txBox="1"/>
          <p:nvPr/>
        </p:nvSpPr>
        <p:spPr>
          <a:xfrm>
            <a:off x="3948531" y="4612553"/>
            <a:ext cx="118808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无明显现象</a:t>
            </a:r>
          </a:p>
        </p:txBody>
      </p:sp>
      <p:sp>
        <p:nvSpPr>
          <p:cNvPr id="33" name="原题文字_94_29"/>
          <p:cNvSpPr txBox="1"/>
          <p:nvPr/>
        </p:nvSpPr>
        <p:spPr>
          <a:xfrm>
            <a:off x="1345180" y="4788662"/>
            <a:ext cx="118043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氧化碳气体</a:t>
            </a:r>
          </a:p>
        </p:txBody>
      </p:sp>
      <p:sp>
        <p:nvSpPr>
          <p:cNvPr id="34" name="原题文字_94_30"/>
          <p:cNvSpPr txBox="1"/>
          <p:nvPr/>
        </p:nvSpPr>
        <p:spPr>
          <a:xfrm>
            <a:off x="6452341" y="4796319"/>
            <a:ext cx="137951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溶液中的苏打</a:t>
            </a:r>
          </a:p>
        </p:txBody>
      </p:sp>
      <p:sp>
        <p:nvSpPr>
          <p:cNvPr id="35" name="原题文字_94_31"/>
          <p:cNvSpPr txBox="1"/>
          <p:nvPr/>
        </p:nvSpPr>
        <p:spPr>
          <a:xfrm>
            <a:off x="564175" y="5232763"/>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36" name="原题文字_94_32"/>
          <p:cNvSpPr txBox="1"/>
          <p:nvPr/>
        </p:nvSpPr>
        <p:spPr>
          <a:xfrm>
            <a:off x="3236438" y="5232763"/>
            <a:ext cx="62147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B</a:t>
            </a:r>
          </a:p>
        </p:txBody>
      </p:sp>
      <p:sp>
        <p:nvSpPr>
          <p:cNvPr id="37" name="原题文字_94_33"/>
          <p:cNvSpPr txBox="1"/>
          <p:nvPr/>
        </p:nvSpPr>
        <p:spPr>
          <a:xfrm>
            <a:off x="5931671" y="5209792"/>
            <a:ext cx="63678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38" name="原题文字_94_34"/>
          <p:cNvSpPr txBox="1"/>
          <p:nvPr/>
        </p:nvSpPr>
        <p:spPr>
          <a:xfrm>
            <a:off x="8619248" y="5232763"/>
            <a:ext cx="62913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a:t>
            </a:r>
          </a:p>
        </p:txBody>
      </p:sp>
      <p:sp>
        <p:nvSpPr>
          <p:cNvPr id="39" name="文字_单选题  ·  04-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04-033</a:t>
            </a:r>
          </a:p>
        </p:txBody>
      </p:sp>
      <p:sp>
        <p:nvSpPr>
          <p:cNvPr id="40" name="文字_4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变式7</a:t>
            </a:r>
          </a:p>
        </p:txBody>
      </p:sp>
      <p:sp>
        <p:nvSpPr>
          <p:cNvPr id="5" name="文字_P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P94</a:t>
            </a:r>
          </a:p>
        </p:txBody>
      </p:sp>
      <p:sp>
        <p:nvSpPr>
          <p:cNvPr id="6" name="文字_为除去括号内的杂质，所选用的试剂或方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为除去括号内的杂质，所选用的试剂或方法不正确的是(</a:t>
            </a:r>
          </a:p>
        </p:txBody>
      </p:sp>
      <p:sp>
        <p:nvSpPr>
          <p:cNvPr id="7" name="文字_A. Na₂CO₃溶液（NaHCO₃)，选用适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Na₂CO₃溶液（NaHCO₃)，选用适量的 NaOH 溶液</a:t>
            </a:r>
          </a:p>
        </p:txBody>
      </p:sp>
      <p:sp>
        <p:nvSpPr>
          <p:cNvPr id="8" name="文字_B. NaHCO₃溶液（Na₂CO₃)，应通入过"/>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NaHCO₃溶液（Na₂CO₃)，应通入过量的 CO₂气体</a:t>
            </a:r>
          </a:p>
        </p:txBody>
      </p:sp>
      <p:sp>
        <p:nvSpPr>
          <p:cNvPr id="9" name="文字_C. Na₂O₂粉末（Na₂O)，将混合物在氧气"/>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Na₂O₂粉末（Na₂O)，将混合物在氧气中加热</a:t>
            </a:r>
          </a:p>
        </p:txBody>
      </p:sp>
      <p:sp>
        <p:nvSpPr>
          <p:cNvPr id="10" name="文字_D. Na₂CO₃溶液（Na₂SO₄)，加入适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Na₂CO₃溶液（Na₂SO₄)，加入适量 Ba(OH)₂溶液，过滤</a:t>
            </a:r>
          </a:p>
        </p:txBody>
      </p:sp>
      <p:sp>
        <p:nvSpPr>
          <p:cNvPr id="11" name="文字_单选题  ·  04-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04-034</a:t>
            </a:r>
          </a:p>
        </p:txBody>
      </p:sp>
      <p:sp>
        <p:nvSpPr>
          <p:cNvPr id="12" name="文字_4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变式8</a:t>
            </a:r>
          </a:p>
        </p:txBody>
      </p:sp>
      <p:sp>
        <p:nvSpPr>
          <p:cNvPr id="5" name="文字_P9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P94</a:t>
            </a:r>
          </a:p>
        </p:txBody>
      </p:sp>
      <p:pic>
        <p:nvPicPr>
          <p:cNvPr id="6" name="Picture 5" descr="image.png"/>
          <p:cNvPicPr>
            <a:picLocks noChangeAspect="1"/>
          </p:cNvPicPr>
          <p:nvPr/>
        </p:nvPicPr>
        <p:blipFill>
          <a:blip r:embed="rId3"/>
          <a:stretch>
            <a:fillRect/>
          </a:stretch>
        </p:blipFill>
        <p:spPr>
          <a:xfrm>
            <a:off x="502920" y="1078992"/>
            <a:ext cx="11064240" cy="2388957"/>
          </a:xfrm>
          <a:prstGeom prst="rect">
            <a:avLst/>
          </a:prstGeom>
        </p:spPr>
      </p:pic>
      <p:sp>
        <p:nvSpPr>
          <p:cNvPr id="7" name="原题文字_94_46"/>
          <p:cNvSpPr txBox="1"/>
          <p:nvPr/>
        </p:nvSpPr>
        <p:spPr>
          <a:xfrm>
            <a:off x="571832" y="1087905"/>
            <a:ext cx="921253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某化学兴趣小组设计如下装置(棉花球沾有无水硫酸铜粉末)，并完成实验。下列说法不正确的是</a:t>
            </a:r>
          </a:p>
        </p:txBody>
      </p:sp>
      <p:sp>
        <p:nvSpPr>
          <p:cNvPr id="8" name="原题文字_94_47"/>
          <p:cNvSpPr txBox="1"/>
          <p:nvPr/>
        </p:nvSpPr>
        <p:spPr>
          <a:xfrm>
            <a:off x="571832" y="1463093"/>
            <a:ext cx="420491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Na₂CO₃处的温度高于NaHCO₃处的温度</a:t>
            </a:r>
          </a:p>
        </p:txBody>
      </p:sp>
      <p:sp>
        <p:nvSpPr>
          <p:cNvPr id="9" name="原题文字_94_48"/>
          <p:cNvSpPr txBox="1"/>
          <p:nvPr/>
        </p:nvSpPr>
        <p:spPr>
          <a:xfrm>
            <a:off x="8129205" y="1532006"/>
            <a:ext cx="621475" cy="288665"/>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Na₂CO₃</a:t>
            </a:r>
          </a:p>
        </p:txBody>
      </p:sp>
      <p:sp>
        <p:nvSpPr>
          <p:cNvPr id="10" name="原题文字_94_49"/>
          <p:cNvSpPr txBox="1"/>
          <p:nvPr/>
        </p:nvSpPr>
        <p:spPr>
          <a:xfrm>
            <a:off x="8680503" y="1478407"/>
            <a:ext cx="690387" cy="278711"/>
          </a:xfrm>
          <a:prstGeom prst="rect">
            <a:avLst/>
          </a:prstGeom>
          <a:noFill/>
        </p:spPr>
        <p:txBody>
          <a:bodyPr wrap="none" lIns="0" rIns="0" tIns="0" bIns="0">
            <a:spAutoFit/>
          </a:bodyPr>
          <a:lstStyle/>
          <a:p>
            <a:pPr>
              <a:lnSpc>
                <a:spcPct val="112000"/>
              </a:lnSpc>
              <a:spcBef>
                <a:spcPts val="0"/>
              </a:spcBef>
              <a:spcAft>
                <a:spcPts val="0"/>
              </a:spcAft>
              <a:defRPr sz="1238" b="0">
                <a:solidFill>
                  <a:srgbClr val="333333"/>
                </a:solidFill>
                <a:latin typeface="微软雅黑"/>
              </a:defRPr>
            </a:pPr>
            <a:r>
              <a:rPr>
                <a:ea typeface="微软雅黑"/>
              </a:rPr>
              <a:t>NaHCO₃</a:t>
            </a:r>
          </a:p>
        </p:txBody>
      </p:sp>
      <p:sp>
        <p:nvSpPr>
          <p:cNvPr id="11" name="原题文字_94_50"/>
          <p:cNvSpPr txBox="1"/>
          <p:nvPr/>
        </p:nvSpPr>
        <p:spPr>
          <a:xfrm>
            <a:off x="9645274" y="1646859"/>
            <a:ext cx="59084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棉花球</a:t>
            </a:r>
          </a:p>
        </p:txBody>
      </p:sp>
      <p:sp>
        <p:nvSpPr>
          <p:cNvPr id="12" name="原题文字_94_51"/>
          <p:cNvSpPr txBox="1"/>
          <p:nvPr/>
        </p:nvSpPr>
        <p:spPr>
          <a:xfrm>
            <a:off x="571832" y="1838282"/>
            <a:ext cx="363829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加热一段时间后，棉花球处变蓝色</a:t>
            </a:r>
          </a:p>
        </p:txBody>
      </p:sp>
      <p:sp>
        <p:nvSpPr>
          <p:cNvPr id="13" name="原题文字_94_52"/>
          <p:cNvSpPr txBox="1"/>
          <p:nvPr/>
        </p:nvSpPr>
        <p:spPr>
          <a:xfrm>
            <a:off x="9897952" y="1983763"/>
            <a:ext cx="330512"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三</a:t>
            </a:r>
          </a:p>
        </p:txBody>
      </p:sp>
      <p:sp>
        <p:nvSpPr>
          <p:cNvPr id="14" name="原题文字_94_53"/>
          <p:cNvSpPr txBox="1"/>
          <p:nvPr/>
        </p:nvSpPr>
        <p:spPr>
          <a:xfrm>
            <a:off x="587146" y="2221128"/>
            <a:ext cx="501654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实验结束时，应先熄灭酒精灯，再移开烧杯A、B</a:t>
            </a:r>
          </a:p>
        </p:txBody>
      </p:sp>
      <p:sp>
        <p:nvSpPr>
          <p:cNvPr id="15" name="原题文字_94_54"/>
          <p:cNvSpPr txBox="1"/>
          <p:nvPr/>
        </p:nvSpPr>
        <p:spPr>
          <a:xfrm>
            <a:off x="564175" y="2596316"/>
            <a:ext cx="688483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D. 烧杯A中没有出现浑浊，烧杯B中出现浑浊，说明Na₂CO₃热稳定性比</a:t>
            </a:r>
          </a:p>
        </p:txBody>
      </p:sp>
      <p:sp>
        <p:nvSpPr>
          <p:cNvPr id="16" name="原题文字_94_55"/>
          <p:cNvSpPr txBox="1"/>
          <p:nvPr/>
        </p:nvSpPr>
        <p:spPr>
          <a:xfrm>
            <a:off x="878108" y="2917907"/>
            <a:ext cx="118808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NaHCO₃强</a:t>
            </a:r>
          </a:p>
        </p:txBody>
      </p:sp>
      <p:sp>
        <p:nvSpPr>
          <p:cNvPr id="17" name="原题文字_94_56"/>
          <p:cNvSpPr txBox="1"/>
          <p:nvPr/>
        </p:nvSpPr>
        <p:spPr>
          <a:xfrm>
            <a:off x="10234857" y="2848995"/>
            <a:ext cx="575534"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澄清石</a:t>
            </a:r>
          </a:p>
        </p:txBody>
      </p:sp>
      <p:sp>
        <p:nvSpPr>
          <p:cNvPr id="18" name="原题文字_94_57"/>
          <p:cNvSpPr txBox="1"/>
          <p:nvPr/>
        </p:nvSpPr>
        <p:spPr>
          <a:xfrm>
            <a:off x="10296112" y="3048074"/>
            <a:ext cx="49130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灰水</a:t>
            </a:r>
          </a:p>
        </p:txBody>
      </p:sp>
      <p:sp>
        <p:nvSpPr>
          <p:cNvPr id="19" name="文字_单选题  ·  04-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04-035</a:t>
            </a:r>
          </a:p>
        </p:txBody>
      </p:sp>
      <p:sp>
        <p:nvSpPr>
          <p:cNvPr id="20" name="文字_4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碳酸钠和碳酸氢钠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碳酸钠和碳酸氢钠 · 变式9</a:t>
            </a:r>
          </a:p>
        </p:txBody>
      </p:sp>
      <p:sp>
        <p:nvSpPr>
          <p:cNvPr id="5" name="文字_P9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P95</a:t>
            </a:r>
          </a:p>
        </p:txBody>
      </p:sp>
      <p:sp>
        <p:nvSpPr>
          <p:cNvPr id="6" name="文字_元素的价类二维图是我们学习元素及其化合物相关知识"/>
          <p:cNvSpPr txBox="1"/>
          <p:nvPr/>
        </p:nvSpPr>
        <p:spPr>
          <a:xfrm>
            <a:off x="502920" y="1078992"/>
            <a:ext cx="11064240" cy="551116"/>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元素的价类二维图是我们学习元素及其化合物相关知识的重要模型和工具，它指的是以元素的化合价为纵坐标，以物质</a:t>
            </a:r>
          </a:p>
          <a:p>
            <a:pPr>
              <a:lnSpc>
                <a:spcPct val="112000"/>
              </a:lnSpc>
              <a:spcBef>
                <a:spcPts val="0"/>
              </a:spcBef>
              <a:spcAft>
                <a:spcPts val="0"/>
              </a:spcAft>
              <a:defRPr sz="1650" b="0">
                <a:solidFill>
                  <a:srgbClr val="333333"/>
                </a:solidFill>
                <a:latin typeface="微软雅黑"/>
              </a:defRPr>
            </a:pPr>
            <a:r>
              <a:rPr>
                <a:ea typeface="微软雅黑"/>
              </a:rPr>
              <a:t>的类别为横坐标所绘制的二维平面图象。如图是钠的价类二维图。请回答以下问题：</a:t>
            </a:r>
          </a:p>
        </p:txBody>
      </p:sp>
      <p:sp>
        <p:nvSpPr>
          <p:cNvPr id="7" name="文字_(1)写出二维图中缺失①中某种淡黄色固体能做供氧"/>
          <p:cNvSpPr txBox="1"/>
          <p:nvPr/>
        </p:nvSpPr>
        <p:spPr>
          <a:xfrm>
            <a:off x="502920" y="1630108"/>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(1)写出二维图中缺失①中某种淡黄色固体能做供氧剂的原因 ______ (用化学方程式表示)</a:t>
            </a:r>
          </a:p>
        </p:txBody>
      </p:sp>
      <p:sp>
        <p:nvSpPr>
          <p:cNvPr id="8" name="文字_(2)氢化钠(NaH)可在野外用作生氢剂，NaH"/>
          <p:cNvSpPr txBox="1"/>
          <p:nvPr/>
        </p:nvSpPr>
        <p:spPr>
          <a:xfrm>
            <a:off x="502920" y="1931860"/>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(2)氢化钠(NaH)可在野外用作生氢剂，NaH中氢元素的化合价为 ______ 可做 ______ (填“氧化剂”或“还原剂”)。</a:t>
            </a:r>
          </a:p>
        </p:txBody>
      </p:sp>
      <p:sp>
        <p:nvSpPr>
          <p:cNvPr id="9" name="文字_(3)写出NaHCO₃的电离方程式 ______"/>
          <p:cNvSpPr txBox="1"/>
          <p:nvPr/>
        </p:nvSpPr>
        <p:spPr>
          <a:xfrm>
            <a:off x="502920" y="2233612"/>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(3)写出NaHCO₃的电离方程式 ______ ；NaHCO₃溶液常因温度过高而分解含有少量Na₂CO₃，除去杂质Na₂CO₃的</a:t>
            </a:r>
          </a:p>
        </p:txBody>
      </p:sp>
      <p:sp>
        <p:nvSpPr>
          <p:cNvPr id="10" name="文字_↑化合价"/>
          <p:cNvSpPr txBox="1"/>
          <p:nvPr/>
        </p:nvSpPr>
        <p:spPr>
          <a:xfrm>
            <a:off x="502920" y="2535364"/>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↑化合价</a:t>
            </a:r>
          </a:p>
        </p:txBody>
      </p:sp>
      <p:sp>
        <p:nvSpPr>
          <p:cNvPr id="11" name="文字_NaHCO₃"/>
          <p:cNvSpPr txBox="1"/>
          <p:nvPr/>
        </p:nvSpPr>
        <p:spPr>
          <a:xfrm>
            <a:off x="502920" y="2837116"/>
            <a:ext cx="11064240" cy="301751"/>
          </a:xfrm>
          <a:prstGeom prst="rect">
            <a:avLst/>
          </a:prstGeom>
          <a:noFill/>
        </p:spPr>
        <p:txBody>
          <a:bodyPr wrap="square" lIns="0" rIns="0" tIns="0" bIns="0">
            <a:spAutoFit/>
          </a:bodyPr>
          <a:lstStyle/>
          <a:p>
            <a:pPr>
              <a:lnSpc>
                <a:spcPct val="112000"/>
              </a:lnSpc>
              <a:spcBef>
                <a:spcPts val="0"/>
              </a:spcBef>
              <a:spcAft>
                <a:spcPts val="0"/>
              </a:spcAft>
              <a:defRPr sz="1650" b="0">
                <a:solidFill>
                  <a:srgbClr val="333333"/>
                </a:solidFill>
                <a:latin typeface="微软雅黑"/>
              </a:defRPr>
            </a:pPr>
            <a:r>
              <a:rPr>
                <a:ea typeface="微软雅黑"/>
              </a:rPr>
              <a:t>NaHCO₃</a:t>
            </a:r>
          </a:p>
        </p:txBody>
      </p:sp>
      <p:pic>
        <p:nvPicPr>
          <p:cNvPr id="12" name="Picture 11" descr="image.png"/>
          <p:cNvPicPr>
            <a:picLocks noChangeAspect="1"/>
          </p:cNvPicPr>
          <p:nvPr/>
        </p:nvPicPr>
        <p:blipFill>
          <a:blip r:embed="rId3"/>
          <a:stretch>
            <a:fillRect/>
          </a:stretch>
        </p:blipFill>
        <p:spPr>
          <a:xfrm>
            <a:off x="502920" y="3138868"/>
            <a:ext cx="10441370" cy="2890344"/>
          </a:xfrm>
          <a:prstGeom prst="rect">
            <a:avLst/>
          </a:prstGeom>
        </p:spPr>
      </p:pic>
      <p:sp>
        <p:nvSpPr>
          <p:cNvPr id="13" name="原题文字_95_18"/>
          <p:cNvSpPr txBox="1"/>
          <p:nvPr/>
        </p:nvSpPr>
        <p:spPr>
          <a:xfrm>
            <a:off x="7403618" y="3168597"/>
            <a:ext cx="849708" cy="375744"/>
          </a:xfrm>
          <a:prstGeom prst="rect">
            <a:avLst/>
          </a:prstGeom>
          <a:noFill/>
        </p:spPr>
        <p:txBody>
          <a:bodyPr wrap="none" lIns="0" rIns="0" tIns="0" bIns="0">
            <a:spAutoFit/>
          </a:bodyPr>
          <a:lstStyle/>
          <a:p>
            <a:pPr>
              <a:lnSpc>
                <a:spcPct val="112000"/>
              </a:lnSpc>
              <a:spcBef>
                <a:spcPts val="0"/>
              </a:spcBef>
              <a:spcAft>
                <a:spcPts val="0"/>
              </a:spcAft>
              <a:defRPr sz="1585" b="0">
                <a:solidFill>
                  <a:srgbClr val="333333"/>
                </a:solidFill>
                <a:latin typeface="微软雅黑"/>
              </a:defRPr>
            </a:pPr>
            <a:r>
              <a:rPr>
                <a:ea typeface="微软雅黑"/>
              </a:rPr>
              <a:t>Na₂CO₃</a:t>
            </a:r>
          </a:p>
        </p:txBody>
      </p:sp>
      <p:sp>
        <p:nvSpPr>
          <p:cNvPr id="14" name="原题文字_95_19"/>
          <p:cNvSpPr txBox="1"/>
          <p:nvPr/>
        </p:nvSpPr>
        <p:spPr>
          <a:xfrm>
            <a:off x="4549402" y="3428728"/>
            <a:ext cx="408931" cy="291202"/>
          </a:xfrm>
          <a:prstGeom prst="rect">
            <a:avLst/>
          </a:prstGeom>
          <a:noFill/>
        </p:spPr>
        <p:txBody>
          <a:bodyPr wrap="none" lIns="0" rIns="0" tIns="0" bIns="0">
            <a:spAutoFit/>
          </a:bodyPr>
          <a:lstStyle/>
          <a:p>
            <a:pPr>
              <a:lnSpc>
                <a:spcPct val="112000"/>
              </a:lnSpc>
              <a:spcBef>
                <a:spcPts val="0"/>
              </a:spcBef>
              <a:spcAft>
                <a:spcPts val="0"/>
              </a:spcAft>
              <a:defRPr sz="1411" b="0">
                <a:solidFill>
                  <a:srgbClr val="333333"/>
                </a:solidFill>
                <a:latin typeface="微软雅黑"/>
              </a:defRPr>
            </a:pPr>
            <a:r>
              <a:rPr>
                <a:ea typeface="微软雅黑"/>
              </a:rPr>
              <a:t>+1</a:t>
            </a:r>
          </a:p>
        </p:txBody>
      </p:sp>
      <p:sp>
        <p:nvSpPr>
          <p:cNvPr id="15" name="原题文字_95_20"/>
          <p:cNvSpPr txBox="1"/>
          <p:nvPr/>
        </p:nvSpPr>
        <p:spPr>
          <a:xfrm>
            <a:off x="4975728" y="3392598"/>
            <a:ext cx="618481"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NaH</a:t>
            </a:r>
          </a:p>
        </p:txBody>
      </p:sp>
      <p:sp>
        <p:nvSpPr>
          <p:cNvPr id="16" name="原题文字_95_21"/>
          <p:cNvSpPr txBox="1"/>
          <p:nvPr/>
        </p:nvSpPr>
        <p:spPr>
          <a:xfrm>
            <a:off x="6175221" y="3421502"/>
            <a:ext cx="372801" cy="347563"/>
          </a:xfrm>
          <a:prstGeom prst="rect">
            <a:avLst/>
          </a:prstGeom>
          <a:noFill/>
        </p:spPr>
        <p:txBody>
          <a:bodyPr wrap="none" lIns="0" rIns="0" tIns="0" bIns="0">
            <a:spAutoFit/>
          </a:bodyPr>
          <a:lstStyle/>
          <a:p>
            <a:pPr>
              <a:lnSpc>
                <a:spcPct val="112000"/>
              </a:lnSpc>
              <a:spcBef>
                <a:spcPts val="0"/>
              </a:spcBef>
              <a:spcAft>
                <a:spcPts val="0"/>
              </a:spcAft>
              <a:defRPr sz="1684" b="0">
                <a:solidFill>
                  <a:srgbClr val="333333"/>
                </a:solidFill>
                <a:latin typeface="微软雅黑"/>
              </a:defRPr>
            </a:pPr>
            <a:r>
              <a:rPr>
                <a:ea typeface="微软雅黑"/>
              </a:rPr>
              <a:t>①</a:t>
            </a:r>
          </a:p>
        </p:txBody>
      </p:sp>
      <p:sp>
        <p:nvSpPr>
          <p:cNvPr id="17" name="原题文字_95_22"/>
          <p:cNvSpPr txBox="1"/>
          <p:nvPr/>
        </p:nvSpPr>
        <p:spPr>
          <a:xfrm>
            <a:off x="6688257" y="3407050"/>
            <a:ext cx="1326615" cy="338170"/>
          </a:xfrm>
          <a:prstGeom prst="rect">
            <a:avLst/>
          </a:prstGeom>
          <a:noFill/>
        </p:spPr>
        <p:txBody>
          <a:bodyPr wrap="none" lIns="0" rIns="0" tIns="0" bIns="0">
            <a:spAutoFit/>
          </a:bodyPr>
          <a:lstStyle/>
          <a:p>
            <a:pPr>
              <a:lnSpc>
                <a:spcPct val="112000"/>
              </a:lnSpc>
              <a:spcBef>
                <a:spcPts val="0"/>
              </a:spcBef>
              <a:spcAft>
                <a:spcPts val="0"/>
              </a:spcAft>
              <a:defRPr sz="1638" b="0">
                <a:solidFill>
                  <a:srgbClr val="333333"/>
                </a:solidFill>
                <a:latin typeface="微软雅黑"/>
              </a:defRPr>
            </a:pPr>
            <a:r>
              <a:rPr>
                <a:ea typeface="微软雅黑"/>
              </a:rPr>
              <a:t>NaOHNaCl</a:t>
            </a:r>
          </a:p>
        </p:txBody>
      </p:sp>
      <p:sp>
        <p:nvSpPr>
          <p:cNvPr id="18" name="原题文字_95_23"/>
          <p:cNvSpPr txBox="1"/>
          <p:nvPr/>
        </p:nvSpPr>
        <p:spPr>
          <a:xfrm>
            <a:off x="1052085" y="3956215"/>
            <a:ext cx="755772" cy="375744"/>
          </a:xfrm>
          <a:prstGeom prst="rect">
            <a:avLst/>
          </a:prstGeom>
          <a:noFill/>
        </p:spPr>
        <p:txBody>
          <a:bodyPr wrap="none" lIns="0" rIns="0" tIns="0" bIns="0">
            <a:spAutoFit/>
          </a:bodyPr>
          <a:lstStyle/>
          <a:p>
            <a:pPr>
              <a:lnSpc>
                <a:spcPct val="112000"/>
              </a:lnSpc>
              <a:spcBef>
                <a:spcPts val="0"/>
              </a:spcBef>
              <a:spcAft>
                <a:spcPts val="0"/>
              </a:spcAft>
              <a:defRPr sz="1820" b="0">
                <a:solidFill>
                  <a:srgbClr val="333333"/>
                </a:solidFill>
                <a:latin typeface="微软雅黑"/>
              </a:defRPr>
            </a:pPr>
            <a:r>
              <a:rPr>
                <a:ea typeface="微软雅黑"/>
              </a:rPr>
              <a:t>方法为</a:t>
            </a:r>
          </a:p>
        </p:txBody>
      </p:sp>
      <p:sp>
        <p:nvSpPr>
          <p:cNvPr id="19" name="原题文字_95_24"/>
          <p:cNvSpPr txBox="1"/>
          <p:nvPr/>
        </p:nvSpPr>
        <p:spPr>
          <a:xfrm>
            <a:off x="2388870" y="3970667"/>
            <a:ext cx="2085331" cy="328776"/>
          </a:xfrm>
          <a:prstGeom prst="rect">
            <a:avLst/>
          </a:prstGeom>
          <a:noFill/>
        </p:spPr>
        <p:txBody>
          <a:bodyPr wrap="none" lIns="0" rIns="0" tIns="0" bIns="0">
            <a:spAutoFit/>
          </a:bodyPr>
          <a:lstStyle/>
          <a:p>
            <a:pPr>
              <a:lnSpc>
                <a:spcPct val="112000"/>
              </a:lnSpc>
              <a:spcBef>
                <a:spcPts val="0"/>
              </a:spcBef>
              <a:spcAft>
                <a:spcPts val="0"/>
              </a:spcAft>
              <a:defRPr sz="1593" b="0">
                <a:solidFill>
                  <a:srgbClr val="333333"/>
                </a:solidFill>
                <a:latin typeface="微软雅黑"/>
              </a:defRPr>
            </a:pPr>
            <a:r>
              <a:rPr>
                <a:ea typeface="微软雅黑"/>
              </a:rPr>
              <a:t>。（用离子方程式表示)</a:t>
            </a:r>
          </a:p>
        </p:txBody>
      </p:sp>
      <p:sp>
        <p:nvSpPr>
          <p:cNvPr id="20" name="原题文字_95_25"/>
          <p:cNvSpPr txBox="1"/>
          <p:nvPr/>
        </p:nvSpPr>
        <p:spPr>
          <a:xfrm>
            <a:off x="4657790" y="4707705"/>
            <a:ext cx="228284" cy="263021"/>
          </a:xfrm>
          <a:prstGeom prst="rect">
            <a:avLst/>
          </a:prstGeom>
          <a:noFill/>
        </p:spPr>
        <p:txBody>
          <a:bodyPr wrap="none" lIns="0" rIns="0" tIns="0" bIns="0">
            <a:spAutoFit/>
          </a:bodyPr>
          <a:lstStyle/>
          <a:p>
            <a:pPr>
              <a:lnSpc>
                <a:spcPct val="112000"/>
              </a:lnSpc>
              <a:spcBef>
                <a:spcPts val="0"/>
              </a:spcBef>
              <a:spcAft>
                <a:spcPts val="0"/>
              </a:spcAft>
              <a:defRPr sz="1274" b="0">
                <a:solidFill>
                  <a:srgbClr val="333333"/>
                </a:solidFill>
                <a:latin typeface="微软雅黑"/>
              </a:defRPr>
            </a:pPr>
            <a:r>
              <a:rPr>
                <a:ea typeface="微软雅黑"/>
              </a:rPr>
              <a:t>0</a:t>
            </a:r>
          </a:p>
        </p:txBody>
      </p:sp>
      <p:sp>
        <p:nvSpPr>
          <p:cNvPr id="21" name="原题文字_95_26"/>
          <p:cNvSpPr txBox="1"/>
          <p:nvPr/>
        </p:nvSpPr>
        <p:spPr>
          <a:xfrm>
            <a:off x="5640507" y="4693253"/>
            <a:ext cx="408931" cy="347563"/>
          </a:xfrm>
          <a:prstGeom prst="rect">
            <a:avLst/>
          </a:prstGeom>
          <a:noFill/>
        </p:spPr>
        <p:txBody>
          <a:bodyPr wrap="none" lIns="0" rIns="0" tIns="0" bIns="0">
            <a:spAutoFit/>
          </a:bodyPr>
          <a:lstStyle/>
          <a:p>
            <a:pPr>
              <a:lnSpc>
                <a:spcPct val="112000"/>
              </a:lnSpc>
              <a:spcBef>
                <a:spcPts val="0"/>
              </a:spcBef>
              <a:spcAft>
                <a:spcPts val="0"/>
              </a:spcAft>
              <a:defRPr sz="1684" b="0">
                <a:solidFill>
                  <a:srgbClr val="333333"/>
                </a:solidFill>
                <a:latin typeface="微软雅黑"/>
              </a:defRPr>
            </a:pPr>
            <a:r>
              <a:rPr>
                <a:ea typeface="微软雅黑"/>
              </a:rPr>
              <a:t>Na</a:t>
            </a:r>
          </a:p>
        </p:txBody>
      </p:sp>
      <p:sp>
        <p:nvSpPr>
          <p:cNvPr id="22" name="原题文字_95_27"/>
          <p:cNvSpPr txBox="1"/>
          <p:nvPr/>
        </p:nvSpPr>
        <p:spPr>
          <a:xfrm>
            <a:off x="8205688" y="5199064"/>
            <a:ext cx="611255" cy="450893"/>
          </a:xfrm>
          <a:prstGeom prst="rect">
            <a:avLst/>
          </a:prstGeom>
          <a:noFill/>
        </p:spPr>
        <p:txBody>
          <a:bodyPr wrap="none" lIns="0" rIns="0" tIns="0" bIns="0">
            <a:spAutoFit/>
          </a:bodyPr>
          <a:lstStyle/>
          <a:p>
            <a:pPr>
              <a:lnSpc>
                <a:spcPct val="112000"/>
              </a:lnSpc>
              <a:spcBef>
                <a:spcPts val="0"/>
              </a:spcBef>
              <a:spcAft>
                <a:spcPts val="0"/>
              </a:spcAft>
              <a:defRPr sz="2184" b="0">
                <a:solidFill>
                  <a:srgbClr val="333333"/>
                </a:solidFill>
                <a:latin typeface="微软雅黑"/>
              </a:defRPr>
            </a:pPr>
            <a:r>
              <a:rPr>
                <a:ea typeface="微软雅黑"/>
              </a:rPr>
              <a:t>物质</a:t>
            </a:r>
          </a:p>
        </p:txBody>
      </p:sp>
      <p:sp>
        <p:nvSpPr>
          <p:cNvPr id="23" name="原题文字_95_28"/>
          <p:cNvSpPr txBox="1"/>
          <p:nvPr/>
        </p:nvSpPr>
        <p:spPr>
          <a:xfrm>
            <a:off x="8205688" y="5495324"/>
            <a:ext cx="625707" cy="450893"/>
          </a:xfrm>
          <a:prstGeom prst="rect">
            <a:avLst/>
          </a:prstGeom>
          <a:noFill/>
        </p:spPr>
        <p:txBody>
          <a:bodyPr wrap="none" lIns="0" rIns="0" tIns="0" bIns="0">
            <a:spAutoFit/>
          </a:bodyPr>
          <a:lstStyle/>
          <a:p>
            <a:pPr>
              <a:lnSpc>
                <a:spcPct val="112000"/>
              </a:lnSpc>
              <a:spcBef>
                <a:spcPts val="0"/>
              </a:spcBef>
              <a:spcAft>
                <a:spcPts val="0"/>
              </a:spcAft>
              <a:defRPr sz="2184" b="0">
                <a:solidFill>
                  <a:srgbClr val="333333"/>
                </a:solidFill>
                <a:latin typeface="微软雅黑"/>
              </a:defRPr>
            </a:pPr>
            <a:r>
              <a:rPr>
                <a:ea typeface="微软雅黑"/>
              </a:rPr>
              <a:t>类别</a:t>
            </a:r>
          </a:p>
        </p:txBody>
      </p:sp>
      <p:sp>
        <p:nvSpPr>
          <p:cNvPr id="24" name="原题文字_95_29"/>
          <p:cNvSpPr txBox="1"/>
          <p:nvPr/>
        </p:nvSpPr>
        <p:spPr>
          <a:xfrm>
            <a:off x="4982954" y="5661519"/>
            <a:ext cx="1846877" cy="366351"/>
          </a:xfrm>
          <a:prstGeom prst="rect">
            <a:avLst/>
          </a:prstGeom>
          <a:noFill/>
        </p:spPr>
        <p:txBody>
          <a:bodyPr wrap="none" lIns="0" rIns="0" tIns="0" bIns="0">
            <a:spAutoFit/>
          </a:bodyPr>
          <a:lstStyle/>
          <a:p>
            <a:pPr>
              <a:lnSpc>
                <a:spcPct val="112000"/>
              </a:lnSpc>
              <a:spcBef>
                <a:spcPts val="0"/>
              </a:spcBef>
              <a:spcAft>
                <a:spcPts val="0"/>
              </a:spcAft>
              <a:defRPr sz="1712" b="0">
                <a:solidFill>
                  <a:srgbClr val="333333"/>
                </a:solidFill>
                <a:latin typeface="微软雅黑"/>
              </a:defRPr>
            </a:pPr>
            <a:r>
              <a:rPr>
                <a:ea typeface="微软雅黑"/>
              </a:rPr>
              <a:t>氢化物 单质 氧化物</a:t>
            </a:r>
          </a:p>
        </p:txBody>
      </p:sp>
      <p:sp>
        <p:nvSpPr>
          <p:cNvPr id="25" name="原题文字_95_30"/>
          <p:cNvSpPr txBox="1"/>
          <p:nvPr/>
        </p:nvSpPr>
        <p:spPr>
          <a:xfrm>
            <a:off x="6948388" y="5683197"/>
            <a:ext cx="394479" cy="338170"/>
          </a:xfrm>
          <a:prstGeom prst="rect">
            <a:avLst/>
          </a:prstGeom>
          <a:noFill/>
        </p:spPr>
        <p:txBody>
          <a:bodyPr wrap="none" lIns="0" rIns="0" tIns="0" bIns="0">
            <a:spAutoFit/>
          </a:bodyPr>
          <a:lstStyle/>
          <a:p>
            <a:pPr>
              <a:lnSpc>
                <a:spcPct val="112000"/>
              </a:lnSpc>
              <a:spcBef>
                <a:spcPts val="0"/>
              </a:spcBef>
              <a:spcAft>
                <a:spcPts val="0"/>
              </a:spcAft>
              <a:defRPr sz="1638" b="0">
                <a:solidFill>
                  <a:srgbClr val="333333"/>
                </a:solidFill>
                <a:latin typeface="微软雅黑"/>
              </a:defRPr>
            </a:pPr>
            <a:r>
              <a:rPr>
                <a:ea typeface="微软雅黑"/>
              </a:rPr>
              <a:t>碱</a:t>
            </a:r>
          </a:p>
        </p:txBody>
      </p:sp>
      <p:sp>
        <p:nvSpPr>
          <p:cNvPr id="26" name="文字_填空题  ·  04-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04-036</a:t>
            </a:r>
          </a:p>
        </p:txBody>
      </p:sp>
      <p:sp>
        <p:nvSpPr>
          <p:cNvPr id="27"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焰色反应：颜色与操作"/>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焰色反应：颜色与操作</a:t>
            </a:r>
          </a:p>
        </p:txBody>
      </p:sp>
      <p:sp>
        <p:nvSpPr>
          <p:cNvPr id="5" name="文字_知识梳理 · 讲义 P96"/>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P96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焰色反应：颜色与操作"/>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焰色反应：颜色与操作</a:t>
            </a:r>
          </a:p>
        </p:txBody>
      </p:sp>
      <p:sp>
        <p:nvSpPr>
          <p:cNvPr id="5" name="文字_知识讲解 · P96"/>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P96</a:t>
            </a:r>
          </a:p>
        </p:txBody>
      </p:sp>
      <p:graphicFrame>
        <p:nvGraphicFramePr>
          <p:cNvPr id="6" name="Table 5"/>
          <p:cNvGraphicFramePr>
            <a:graphicFrameLocks noGrp="1"/>
          </p:cNvGraphicFramePr>
          <p:nvPr/>
        </p:nvGraphicFramePr>
        <p:xfrm>
          <a:off x="502920" y="1773936"/>
          <a:ext cx="11109960" cy="2428240"/>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元素</a:t>
                      </a:r>
                    </a:p>
                  </a:txBody>
                  <a:tcPr marL="91440" marR="91440" marT="45720" marB="45720" anchor="ctr">
                    <a:solidFill>
                      <a:srgbClr val="F1922F"/>
                    </a:solidFill>
                  </a:tcPr>
                </a:tc>
                <a:tc>
                  <a:txBody>
                    <a:bodyPr/>
                    <a:lstStyle/>
                    <a:p>
                      <a:pPr>
                        <a:defRPr sz="2000" b="1">
                          <a:solidFill>
                            <a:srgbClr val="FFFFFF"/>
                          </a:solidFill>
                          <a:latin typeface="微软雅黑"/>
                        </a:defRPr>
                      </a:pPr>
                      <a:r>
                        <a:t>焰色</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Na</a:t>
                      </a:r>
                    </a:p>
                  </a:txBody>
                  <a:tcPr marL="91440" marR="91440" marT="45720" marB="45720" anchor="ctr">
                    <a:solidFill>
                      <a:srgbClr val="FDF2E3"/>
                    </a:solidFill>
                  </a:tcPr>
                </a:tc>
                <a:tc>
                  <a:txBody>
                    <a:bodyPr/>
                    <a:lstStyle/>
                    <a:p>
                      <a:pPr>
                        <a:defRPr sz="2000" b="0">
                          <a:solidFill>
                            <a:srgbClr val="333333"/>
                          </a:solidFill>
                          <a:latin typeface="微软雅黑"/>
                        </a:defRPr>
                      </a:pPr>
                      <a:r>
                        <a:t>黄色</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K</a:t>
                      </a:r>
                    </a:p>
                  </a:txBody>
                  <a:tcPr marL="91440" marR="91440" marT="45720" marB="45720" anchor="ctr">
                    <a:solidFill>
                      <a:srgbClr val="FFFFFF"/>
                    </a:solidFill>
                  </a:tcPr>
                </a:tc>
                <a:tc>
                  <a:txBody>
                    <a:bodyPr/>
                    <a:lstStyle/>
                    <a:p>
                      <a:pPr>
                        <a:defRPr sz="2000" b="0">
                          <a:solidFill>
                            <a:srgbClr val="333333"/>
                          </a:solidFill>
                          <a:latin typeface="微软雅黑"/>
                        </a:defRPr>
                      </a:pPr>
                      <a:r>
                        <a:t>紫色，透过蓝色钴玻璃观察</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Li、Ca</a:t>
                      </a:r>
                    </a:p>
                  </a:txBody>
                  <a:tcPr marL="91440" marR="91440" marT="45720" marB="45720" anchor="ctr">
                    <a:solidFill>
                      <a:srgbClr val="FDF2E3"/>
                    </a:solidFill>
                  </a:tcPr>
                </a:tc>
                <a:tc>
                  <a:txBody>
                    <a:bodyPr/>
                    <a:lstStyle/>
                    <a:p>
                      <a:pPr>
                        <a:defRPr sz="2000" b="0">
                          <a:solidFill>
                            <a:srgbClr val="333333"/>
                          </a:solidFill>
                          <a:latin typeface="微软雅黑"/>
                        </a:defRPr>
                      </a:pPr>
                      <a:r>
                        <a:t>紫红色、砖红色</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Sr、Ba、Cu</a:t>
                      </a:r>
                    </a:p>
                  </a:txBody>
                  <a:tcPr marL="91440" marR="91440" marT="45720" marB="45720" anchor="ctr">
                    <a:solidFill>
                      <a:srgbClr val="FFFFFF"/>
                    </a:solidFill>
                  </a:tcPr>
                </a:tc>
                <a:tc>
                  <a:txBody>
                    <a:bodyPr/>
                    <a:lstStyle/>
                    <a:p>
                      <a:pPr>
                        <a:defRPr sz="2000" b="0">
                          <a:solidFill>
                            <a:srgbClr val="333333"/>
                          </a:solidFill>
                          <a:latin typeface="微软雅黑"/>
                        </a:defRPr>
                      </a:pPr>
                      <a:r>
                        <a:t>洋红色、黄绿色、绿色</a:t>
                      </a:r>
                    </a:p>
                  </a:txBody>
                  <a:tcPr marL="91440" marR="91440" marT="45720" marB="45720" anchor="ctr">
                    <a:solidFill>
                      <a:srgbClr val="FFFFFF"/>
                    </a:solidFill>
                  </a:tcPr>
                </a:tc>
              </a:tr>
            </a:tbl>
          </a:graphicData>
        </a:graphic>
      </p:graphicFrame>
      <p:sp>
        <p:nvSpPr>
          <p:cNvPr id="7" name="Rectangle 6"/>
          <p:cNvSpPr/>
          <p:nvPr/>
        </p:nvSpPr>
        <p:spPr>
          <a:xfrm>
            <a:off x="493776" y="4339336"/>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操作：盐酸洗 → 灼烧至原火焰色 → 蘸"/>
          <p:cNvSpPr txBox="1"/>
          <p:nvPr/>
        </p:nvSpPr>
        <p:spPr>
          <a:xfrm>
            <a:off x="630936" y="4398772"/>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操作：盐酸洗 → 灼烧至原火焰色 → 蘸样 → 灼烧观察 → 再清洗。焰色属于物理现象，反映元素的存在。</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侯氏制碱法：原理与流程"/>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侯氏制碱法：原理与流程</a:t>
            </a:r>
          </a:p>
        </p:txBody>
      </p:sp>
      <p:sp>
        <p:nvSpPr>
          <p:cNvPr id="5" name="文字_知识讲解 · P96"/>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P96</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饱和食盐水先通 NH₃，再通足量 CO₂，利用 "/>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饱和食盐水先通 NH₃，再通足量 CO₂，利用 NaHCO₃ 溶解度较小使其析出。</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NaCl + NH₃ + CO₂ + H₂O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NaCl + NH₃ + CO₂ + H₂O = NaHCO₃↓ + NH₄Cl。</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过滤得到 NaHCO₃；加热：2NaHCO₃ ="/>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过滤得到 NaHCO₃；加热：2NaHCO₃ = Na₂CO₃ + CO₂↑ + H₂O。</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CO₂ 可循环使用；母液进一步处理可得到 NH₄"/>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CO₂ 可循环使用；母液进一步处理可得到 NH₄Cl。</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先通氨：增大 CO₂ 的吸收量；NaHCO₃ 为"/>
          <p:cNvSpPr txBox="1"/>
          <p:nvPr/>
        </p:nvSpPr>
        <p:spPr>
          <a:xfrm>
            <a:off x="722376" y="4102607"/>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先通氨：增大 CO₂ 的吸收量；NaHCO₃ 为沉淀，在离子方程式中保留化学式</a:t>
            </a:r>
          </a:p>
          <a:p>
            <a:pPr>
              <a:lnSpc>
                <a:spcPct val="112000"/>
              </a:lnSpc>
              <a:spcBef>
                <a:spcPts val="0"/>
              </a:spcBef>
              <a:spcAft>
                <a:spcPts val="0"/>
              </a:spcAft>
              <a:defRPr sz="2400" b="0">
                <a:solidFill>
                  <a:srgbClr val="333333"/>
                </a:solidFill>
                <a:latin typeface="微软雅黑"/>
              </a:defRPr>
            </a:pPr>
            <a:r>
              <a:rPr>
                <a:ea typeface="微软雅黑"/>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例题1</a:t>
            </a:r>
          </a:p>
        </p:txBody>
      </p:sp>
      <p:sp>
        <p:nvSpPr>
          <p:cNvPr id="5" name="文字_P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P97</a:t>
            </a:r>
          </a:p>
        </p:txBody>
      </p:sp>
      <p:sp>
        <p:nvSpPr>
          <p:cNvPr id="6" name="文字_人们庆祝节日时燃放的焰火与金属的焰色反应直接相关"/>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人们庆祝节日时燃放的焰火与金属的焰色反应直接相关。下列说法中正确的是</a:t>
            </a:r>
          </a:p>
        </p:txBody>
      </p:sp>
      <p:sp>
        <p:nvSpPr>
          <p:cNvPr id="7" name="文字_A. 焰色反应实验时，应将铂丝用硫酸洗净并灼烧到"/>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焰色反应实验时，应将铂丝用硫酸洗净并灼烧到无特殊焰色</a:t>
            </a:r>
          </a:p>
        </p:txBody>
      </p:sp>
      <p:sp>
        <p:nvSpPr>
          <p:cNvPr id="8" name="文字_B. 焰色反应实验时一定有氧化还原反应发生"/>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焰色反应实验时一定有氧化还原反应发生</a:t>
            </a:r>
          </a:p>
        </p:txBody>
      </p:sp>
      <p:sp>
        <p:nvSpPr>
          <p:cNvPr id="9" name="文字_C. 焰色反应实验时可用洁净的铁丝代替铂丝"/>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焰色反应实验时可用洁净的铁丝代替铂丝</a:t>
            </a:r>
          </a:p>
        </p:txBody>
      </p:sp>
      <p:sp>
        <p:nvSpPr>
          <p:cNvPr id="10" name="文字_D. 某样品的焰色反应呈黄色，则其中一定含钠元素"/>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某样品的焰色反应呈黄色，则其中一定含钠元素而不含钾元素</a:t>
            </a:r>
          </a:p>
        </p:txBody>
      </p:sp>
      <p:sp>
        <p:nvSpPr>
          <p:cNvPr id="11" name="文字_单选题  ·  04-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04-037</a:t>
            </a:r>
          </a:p>
        </p:txBody>
      </p:sp>
      <p:sp>
        <p:nvSpPr>
          <p:cNvPr id="12" name="文字_5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例题2</a:t>
            </a:r>
          </a:p>
        </p:txBody>
      </p:sp>
      <p:sp>
        <p:nvSpPr>
          <p:cNvPr id="5" name="文字_P9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P97</a:t>
            </a:r>
          </a:p>
        </p:txBody>
      </p:sp>
      <p:sp>
        <p:nvSpPr>
          <p:cNvPr id="6" name="文字_庆祝中华人民共和国70周年的焰火晚会令人难忘，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庆祝中华人民共和国70周年的焰火晚会令人难忘，五颜六色火焰的产生与焰色试验</a:t>
            </a:r>
          </a:p>
          <a:p>
            <a:pPr>
              <a:lnSpc>
                <a:spcPct val="112000"/>
              </a:lnSpc>
              <a:spcBef>
                <a:spcPts val="0"/>
              </a:spcBef>
              <a:spcAft>
                <a:spcPts val="0"/>
              </a:spcAft>
              <a:defRPr sz="2400" b="0">
                <a:solidFill>
                  <a:srgbClr val="333333"/>
                </a:solidFill>
                <a:latin typeface="微软雅黑"/>
              </a:defRPr>
            </a:pPr>
            <a:r>
              <a:rPr>
                <a:ea typeface="微软雅黑"/>
              </a:rPr>
              <a:t>有关。下述对焰色试验的叙述正确的是</a:t>
            </a:r>
          </a:p>
        </p:txBody>
      </p:sp>
      <p:sp>
        <p:nvSpPr>
          <p:cNvPr id="7" name="文字_①钾的火焰颜色要透过蓝色钴玻璃观察②焰色试验是金"/>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①钾的火焰颜色要透过蓝色钴玻璃观察②焰色试验是金属单质的特性</a:t>
            </a:r>
          </a:p>
        </p:txBody>
      </p:sp>
      <p:sp>
        <p:nvSpPr>
          <p:cNvPr id="8" name="文字_③钡的焰色为绿色，钙元素的焰色为紫色④每次实验后"/>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③钡的焰色为绿色，钙元素的焰色为紫色④每次实验后，要将铂丝用硫酸洗净</a:t>
            </a:r>
          </a:p>
        </p:txBody>
      </p:sp>
      <p:sp>
        <p:nvSpPr>
          <p:cNvPr id="9" name="文字_⑤没有铂丝时，也可以用光洁无锈的铁丝代替"/>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⑤没有铂丝时，也可以用光洁无锈的铁丝代替</a:t>
            </a:r>
          </a:p>
        </p:txBody>
      </p:sp>
      <p:sp>
        <p:nvSpPr>
          <p:cNvPr id="10" name="文字_⑥所有金属或它们的化合物在火焰上灼烧时都会使火焰"/>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⑥所有金属或它们的化合物在火焰上灼烧时都会使火焰呈现出特征颜色</a:t>
            </a:r>
          </a:p>
        </p:txBody>
      </p:sp>
      <p:sp>
        <p:nvSpPr>
          <p:cNvPr id="11" name="文字_⑦若火焰颜色为黄色，则一定含钠元素，不含钾元素"/>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⑦若火焰颜色为黄色，则一定含钠元素，不含钾元素</a:t>
            </a:r>
          </a:p>
        </p:txBody>
      </p:sp>
      <p:sp>
        <p:nvSpPr>
          <p:cNvPr id="12" name="文字_A. 仅有⑥⑦不正确"/>
          <p:cNvSpPr txBox="1"/>
          <p:nvPr/>
        </p:nvSpPr>
        <p:spPr>
          <a:xfrm>
            <a:off x="502920" y="40751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仅有⑥⑦不正确</a:t>
            </a:r>
          </a:p>
        </p:txBody>
      </p:sp>
      <p:sp>
        <p:nvSpPr>
          <p:cNvPr id="13" name="文字_B. 仅有①③⑤正确"/>
          <p:cNvSpPr txBox="1"/>
          <p:nvPr/>
        </p:nvSpPr>
        <p:spPr>
          <a:xfrm>
            <a:off x="502920" y="451408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仅有①③⑤正确</a:t>
            </a:r>
          </a:p>
        </p:txBody>
      </p:sp>
      <p:sp>
        <p:nvSpPr>
          <p:cNvPr id="14" name="文字_C. 仅有①⑤正确"/>
          <p:cNvSpPr txBox="1"/>
          <p:nvPr/>
        </p:nvSpPr>
        <p:spPr>
          <a:xfrm>
            <a:off x="502920" y="495300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仅有①⑤正确</a:t>
            </a:r>
          </a:p>
        </p:txBody>
      </p:sp>
      <p:sp>
        <p:nvSpPr>
          <p:cNvPr id="15" name="文字_D. 全正确"/>
          <p:cNvSpPr txBox="1"/>
          <p:nvPr/>
        </p:nvSpPr>
        <p:spPr>
          <a:xfrm>
            <a:off x="502920" y="53919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全正确</a:t>
            </a:r>
          </a:p>
        </p:txBody>
      </p:sp>
      <p:sp>
        <p:nvSpPr>
          <p:cNvPr id="16" name="文字_单选题  ·  04-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04-038</a:t>
            </a:r>
          </a:p>
        </p:txBody>
      </p:sp>
      <p:sp>
        <p:nvSpPr>
          <p:cNvPr id="17" name="文字_5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例题3</a:t>
            </a:r>
          </a:p>
        </p:txBody>
      </p:sp>
      <p:sp>
        <p:nvSpPr>
          <p:cNvPr id="5" name="文字_P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P98</a:t>
            </a:r>
          </a:p>
        </p:txBody>
      </p:sp>
      <p:sp>
        <p:nvSpPr>
          <p:cNvPr id="6" name="文字_索尔维制碱法制备纯碱的流程如图所示，我国科学家侯"/>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索尔维制碱法制备纯碱的流程如图所示，我国科学家侯德榜进行改进，提出联合制</a:t>
            </a:r>
          </a:p>
          <a:p>
            <a:pPr>
              <a:lnSpc>
                <a:spcPct val="112000"/>
              </a:lnSpc>
              <a:spcBef>
                <a:spcPts val="0"/>
              </a:spcBef>
              <a:spcAft>
                <a:spcPts val="0"/>
              </a:spcAft>
              <a:defRPr sz="2400" b="0">
                <a:solidFill>
                  <a:srgbClr val="333333"/>
                </a:solidFill>
                <a:latin typeface="微软雅黑"/>
              </a:defRPr>
            </a:pPr>
            <a:r>
              <a:rPr>
                <a:ea typeface="微软雅黑"/>
              </a:rPr>
              <a:t>碱法。下列说法错误的是</a:t>
            </a:r>
          </a:p>
        </p:txBody>
      </p:sp>
      <p:pic>
        <p:nvPicPr>
          <p:cNvPr id="7" name="Picture 6" descr="image.png"/>
          <p:cNvPicPr>
            <a:picLocks noChangeAspect="1"/>
          </p:cNvPicPr>
          <p:nvPr/>
        </p:nvPicPr>
        <p:blipFill>
          <a:blip r:embed="rId3"/>
          <a:stretch>
            <a:fillRect/>
          </a:stretch>
        </p:blipFill>
        <p:spPr>
          <a:xfrm>
            <a:off x="502920" y="1880616"/>
            <a:ext cx="11064240" cy="2603350"/>
          </a:xfrm>
          <a:prstGeom prst="rect">
            <a:avLst/>
          </a:prstGeom>
        </p:spPr>
      </p:pic>
      <p:sp>
        <p:nvSpPr>
          <p:cNvPr id="8" name="原题文字_98_4"/>
          <p:cNvSpPr txBox="1"/>
          <p:nvPr/>
        </p:nvSpPr>
        <p:spPr>
          <a:xfrm>
            <a:off x="2455432" y="1912499"/>
            <a:ext cx="498964" cy="388205"/>
          </a:xfrm>
          <a:prstGeom prst="rect">
            <a:avLst/>
          </a:prstGeom>
          <a:noFill/>
        </p:spPr>
        <p:txBody>
          <a:bodyPr wrap="none" lIns="0" rIns="0" tIns="0" bIns="0">
            <a:spAutoFit/>
          </a:bodyPr>
          <a:lstStyle/>
          <a:p>
            <a:pPr>
              <a:lnSpc>
                <a:spcPct val="112000"/>
              </a:lnSpc>
              <a:spcBef>
                <a:spcPts val="0"/>
              </a:spcBef>
              <a:spcAft>
                <a:spcPts val="0"/>
              </a:spcAft>
              <a:defRPr sz="1707" b="0">
                <a:solidFill>
                  <a:srgbClr val="333333"/>
                </a:solidFill>
                <a:latin typeface="微软雅黑"/>
              </a:defRPr>
            </a:pPr>
            <a:r>
              <a:rPr>
                <a:ea typeface="微软雅黑"/>
              </a:rPr>
              <a:t>NH₃</a:t>
            </a:r>
          </a:p>
        </p:txBody>
      </p:sp>
      <p:sp>
        <p:nvSpPr>
          <p:cNvPr id="9" name="原题文字_98_5"/>
          <p:cNvSpPr txBox="1"/>
          <p:nvPr/>
        </p:nvSpPr>
        <p:spPr>
          <a:xfrm>
            <a:off x="4407945" y="2341286"/>
            <a:ext cx="636789" cy="418067"/>
          </a:xfrm>
          <a:prstGeom prst="rect">
            <a:avLst/>
          </a:prstGeom>
          <a:noFill/>
        </p:spPr>
        <p:txBody>
          <a:bodyPr wrap="none" lIns="0" rIns="0" tIns="0" bIns="0">
            <a:spAutoFit/>
          </a:bodyPr>
          <a:lstStyle/>
          <a:p>
            <a:pPr>
              <a:lnSpc>
                <a:spcPct val="112000"/>
              </a:lnSpc>
              <a:spcBef>
                <a:spcPts val="0"/>
              </a:spcBef>
              <a:spcAft>
                <a:spcPts val="0"/>
              </a:spcAft>
              <a:defRPr sz="1943" b="0">
                <a:solidFill>
                  <a:srgbClr val="333333"/>
                </a:solidFill>
                <a:latin typeface="微软雅黑"/>
              </a:defRPr>
            </a:pPr>
            <a:r>
              <a:rPr>
                <a:ea typeface="微软雅黑"/>
              </a:rPr>
              <a:t>操作1</a:t>
            </a:r>
          </a:p>
        </p:txBody>
      </p:sp>
      <p:sp>
        <p:nvSpPr>
          <p:cNvPr id="10" name="原题文字_98_6"/>
          <p:cNvSpPr txBox="1"/>
          <p:nvPr/>
        </p:nvSpPr>
        <p:spPr>
          <a:xfrm>
            <a:off x="5143009" y="2417856"/>
            <a:ext cx="843526" cy="398159"/>
          </a:xfrm>
          <a:prstGeom prst="rect">
            <a:avLst/>
          </a:prstGeom>
          <a:noFill/>
        </p:spPr>
        <p:txBody>
          <a:bodyPr wrap="none" lIns="0" rIns="0" tIns="0" bIns="0">
            <a:spAutoFit/>
          </a:bodyPr>
          <a:lstStyle/>
          <a:p>
            <a:pPr>
              <a:lnSpc>
                <a:spcPct val="112000"/>
              </a:lnSpc>
              <a:spcBef>
                <a:spcPts val="0"/>
              </a:spcBef>
              <a:spcAft>
                <a:spcPts val="0"/>
              </a:spcAft>
              <a:defRPr sz="1545" b="0">
                <a:solidFill>
                  <a:srgbClr val="333333"/>
                </a:solidFill>
                <a:latin typeface="微软雅黑"/>
              </a:defRPr>
            </a:pPr>
            <a:r>
              <a:rPr>
                <a:ea typeface="微软雅黑"/>
              </a:rPr>
              <a:t>NaHCO₃</a:t>
            </a:r>
          </a:p>
        </p:txBody>
      </p:sp>
      <p:sp>
        <p:nvSpPr>
          <p:cNvPr id="11" name="原题文字_98_7"/>
          <p:cNvSpPr txBox="1"/>
          <p:nvPr/>
        </p:nvSpPr>
        <p:spPr>
          <a:xfrm>
            <a:off x="6276232" y="2394885"/>
            <a:ext cx="537249"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煅烧</a:t>
            </a:r>
          </a:p>
        </p:txBody>
      </p:sp>
      <p:sp>
        <p:nvSpPr>
          <p:cNvPr id="12" name="原题文字_98_8"/>
          <p:cNvSpPr txBox="1"/>
          <p:nvPr/>
        </p:nvSpPr>
        <p:spPr>
          <a:xfrm>
            <a:off x="663715" y="2540366"/>
            <a:ext cx="1410137" cy="338435"/>
          </a:xfrm>
          <a:prstGeom prst="rect">
            <a:avLst/>
          </a:prstGeom>
          <a:noFill/>
        </p:spPr>
        <p:txBody>
          <a:bodyPr wrap="none" lIns="0" rIns="0" tIns="0" bIns="0">
            <a:spAutoFit/>
          </a:bodyPr>
          <a:lstStyle/>
          <a:p>
            <a:pPr>
              <a:lnSpc>
                <a:spcPct val="112000"/>
              </a:lnSpc>
              <a:spcBef>
                <a:spcPts val="0"/>
              </a:spcBef>
              <a:spcAft>
                <a:spcPts val="0"/>
              </a:spcAft>
              <a:defRPr sz="1615" b="0">
                <a:solidFill>
                  <a:srgbClr val="333333"/>
                </a:solidFill>
                <a:latin typeface="微软雅黑"/>
              </a:defRPr>
            </a:pPr>
            <a:r>
              <a:rPr>
                <a:ea typeface="微软雅黑"/>
              </a:rPr>
              <a:t>精制饱和食盐水</a:t>
            </a:r>
          </a:p>
        </p:txBody>
      </p:sp>
      <p:sp>
        <p:nvSpPr>
          <p:cNvPr id="13" name="原题文字_98_9"/>
          <p:cNvSpPr txBox="1"/>
          <p:nvPr/>
        </p:nvSpPr>
        <p:spPr>
          <a:xfrm>
            <a:off x="2447776" y="2540366"/>
            <a:ext cx="52193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吸氨</a:t>
            </a:r>
          </a:p>
        </p:txBody>
      </p:sp>
      <p:sp>
        <p:nvSpPr>
          <p:cNvPr id="14" name="原题文字_98_10"/>
          <p:cNvSpPr txBox="1"/>
          <p:nvPr/>
        </p:nvSpPr>
        <p:spPr>
          <a:xfrm>
            <a:off x="3573342" y="2517395"/>
            <a:ext cx="69804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碳酸化</a:t>
            </a:r>
          </a:p>
        </p:txBody>
      </p:sp>
      <p:sp>
        <p:nvSpPr>
          <p:cNvPr id="15" name="原题文字_98_11"/>
          <p:cNvSpPr txBox="1"/>
          <p:nvPr/>
        </p:nvSpPr>
        <p:spPr>
          <a:xfrm>
            <a:off x="7072551" y="2548023"/>
            <a:ext cx="774613" cy="368297"/>
          </a:xfrm>
          <a:prstGeom prst="rect">
            <a:avLst/>
          </a:prstGeom>
          <a:noFill/>
        </p:spPr>
        <p:txBody>
          <a:bodyPr wrap="none" lIns="0" rIns="0" tIns="0" bIns="0">
            <a:spAutoFit/>
          </a:bodyPr>
          <a:lstStyle/>
          <a:p>
            <a:pPr>
              <a:lnSpc>
                <a:spcPct val="112000"/>
              </a:lnSpc>
              <a:spcBef>
                <a:spcPts val="0"/>
              </a:spcBef>
              <a:spcAft>
                <a:spcPts val="0"/>
              </a:spcAft>
              <a:defRPr sz="1463" b="0">
                <a:solidFill>
                  <a:srgbClr val="333333"/>
                </a:solidFill>
                <a:latin typeface="微软雅黑"/>
              </a:defRPr>
            </a:pPr>
            <a:r>
              <a:rPr>
                <a:ea typeface="微软雅黑"/>
              </a:rPr>
              <a:t>Na₂CO₃</a:t>
            </a:r>
          </a:p>
        </p:txBody>
      </p:sp>
      <p:sp>
        <p:nvSpPr>
          <p:cNvPr id="16" name="原题文字_98_12"/>
          <p:cNvSpPr txBox="1"/>
          <p:nvPr/>
        </p:nvSpPr>
        <p:spPr>
          <a:xfrm>
            <a:off x="5303804" y="2632249"/>
            <a:ext cx="544906"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沉淀</a:t>
            </a:r>
          </a:p>
        </p:txBody>
      </p:sp>
      <p:sp>
        <p:nvSpPr>
          <p:cNvPr id="17" name="原题文字_98_13"/>
          <p:cNvSpPr txBox="1"/>
          <p:nvPr/>
        </p:nvSpPr>
        <p:spPr>
          <a:xfrm>
            <a:off x="4951586" y="2992124"/>
            <a:ext cx="52959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母液</a:t>
            </a:r>
          </a:p>
        </p:txBody>
      </p:sp>
      <p:sp>
        <p:nvSpPr>
          <p:cNvPr id="18" name="原题文字_98_14"/>
          <p:cNvSpPr txBox="1"/>
          <p:nvPr/>
        </p:nvSpPr>
        <p:spPr>
          <a:xfrm>
            <a:off x="2279323" y="3290744"/>
            <a:ext cx="48365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NH₃</a:t>
            </a:r>
          </a:p>
        </p:txBody>
      </p:sp>
      <p:sp>
        <p:nvSpPr>
          <p:cNvPr id="19" name="原题文字_98_15"/>
          <p:cNvSpPr txBox="1"/>
          <p:nvPr/>
        </p:nvSpPr>
        <p:spPr>
          <a:xfrm>
            <a:off x="3121584" y="3359656"/>
            <a:ext cx="361140" cy="865996"/>
          </a:xfrm>
          <a:prstGeom prst="rect">
            <a:avLst/>
          </a:prstGeom>
          <a:noFill/>
        </p:spPr>
        <p:txBody>
          <a:bodyPr wrap="none" lIns="0" rIns="0" tIns="0" bIns="0">
            <a:spAutoFit/>
          </a:bodyPr>
          <a:lstStyle/>
          <a:p>
            <a:pPr>
              <a:lnSpc>
                <a:spcPct val="112000"/>
              </a:lnSpc>
              <a:spcBef>
                <a:spcPts val="0"/>
              </a:spcBef>
              <a:spcAft>
                <a:spcPts val="0"/>
              </a:spcAft>
              <a:defRPr sz="2769" b="0">
                <a:solidFill>
                  <a:srgbClr val="333333"/>
                </a:solidFill>
                <a:latin typeface="微软雅黑"/>
              </a:defRPr>
            </a:pPr>
            <a:r>
              <a:rPr>
                <a:ea typeface="微软雅黑"/>
              </a:rPr>
              <a:t>石灰石</a:t>
            </a:r>
          </a:p>
        </p:txBody>
      </p:sp>
      <p:sp>
        <p:nvSpPr>
          <p:cNvPr id="20" name="原题文字_98_16"/>
          <p:cNvSpPr txBox="1"/>
          <p:nvPr/>
        </p:nvSpPr>
        <p:spPr>
          <a:xfrm>
            <a:off x="3427860" y="3390284"/>
            <a:ext cx="102729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灼烧加水</a:t>
            </a:r>
          </a:p>
        </p:txBody>
      </p:sp>
      <p:sp>
        <p:nvSpPr>
          <p:cNvPr id="21" name="原题文字_98_17"/>
          <p:cNvSpPr txBox="1"/>
          <p:nvPr/>
        </p:nvSpPr>
        <p:spPr>
          <a:xfrm>
            <a:off x="4453887" y="3359656"/>
            <a:ext cx="345826" cy="875950"/>
          </a:xfrm>
          <a:prstGeom prst="rect">
            <a:avLst/>
          </a:prstGeom>
          <a:noFill/>
        </p:spPr>
        <p:txBody>
          <a:bodyPr wrap="none" lIns="0" rIns="0" tIns="0" bIns="0">
            <a:spAutoFit/>
          </a:bodyPr>
          <a:lstStyle/>
          <a:p>
            <a:pPr>
              <a:lnSpc>
                <a:spcPct val="112000"/>
              </a:lnSpc>
              <a:spcBef>
                <a:spcPts val="0"/>
              </a:spcBef>
              <a:spcAft>
                <a:spcPts val="0"/>
              </a:spcAft>
              <a:defRPr sz="2801" b="0">
                <a:solidFill>
                  <a:srgbClr val="333333"/>
                </a:solidFill>
                <a:latin typeface="微软雅黑"/>
              </a:defRPr>
            </a:pPr>
            <a:r>
              <a:rPr>
                <a:ea typeface="微软雅黑"/>
              </a:rPr>
              <a:t>石灰乳</a:t>
            </a:r>
          </a:p>
        </p:txBody>
      </p:sp>
      <p:sp>
        <p:nvSpPr>
          <p:cNvPr id="22" name="原题文字_98_18"/>
          <p:cNvSpPr txBox="1"/>
          <p:nvPr/>
        </p:nvSpPr>
        <p:spPr>
          <a:xfrm>
            <a:off x="4767820" y="3397940"/>
            <a:ext cx="529592"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灰蒸</a:t>
            </a:r>
          </a:p>
        </p:txBody>
      </p:sp>
      <p:sp>
        <p:nvSpPr>
          <p:cNvPr id="23" name="原题文字_98_19"/>
          <p:cNvSpPr txBox="1"/>
          <p:nvPr/>
        </p:nvSpPr>
        <p:spPr>
          <a:xfrm>
            <a:off x="5403344" y="3528108"/>
            <a:ext cx="529592"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废液</a:t>
            </a:r>
          </a:p>
        </p:txBody>
      </p:sp>
      <p:sp>
        <p:nvSpPr>
          <p:cNvPr id="24" name="原题文字_98_20"/>
          <p:cNvSpPr txBox="1"/>
          <p:nvPr/>
        </p:nvSpPr>
        <p:spPr>
          <a:xfrm>
            <a:off x="594802" y="4186603"/>
            <a:ext cx="416662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在实验室里完成操作1需要用到分液漏斗</a:t>
            </a:r>
          </a:p>
        </p:txBody>
      </p:sp>
      <p:sp>
        <p:nvSpPr>
          <p:cNvPr id="25" name="文字_B. “NaHCO₃沉淀”过程需要适当降温"/>
          <p:cNvSpPr txBox="1"/>
          <p:nvPr/>
        </p:nvSpPr>
        <p:spPr>
          <a:xfrm>
            <a:off x="502920" y="455711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“NaHCO₃沉淀”过程需要适当降温</a:t>
            </a:r>
          </a:p>
        </p:txBody>
      </p:sp>
      <p:sp>
        <p:nvSpPr>
          <p:cNvPr id="26" name="文字_C.“灰蒸”过程实现了母液中NH的回收利用"/>
          <p:cNvSpPr txBox="1"/>
          <p:nvPr/>
        </p:nvSpPr>
        <p:spPr>
          <a:xfrm>
            <a:off x="502920" y="499603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C.“灰蒸”过程实现了母液中NH的回收利用</a:t>
            </a:r>
          </a:p>
        </p:txBody>
      </p:sp>
      <p:sp>
        <p:nvSpPr>
          <p:cNvPr id="27" name="文字_D. 联合制碱法用CO₂代替石灰石作为碳源，可避"/>
          <p:cNvSpPr txBox="1"/>
          <p:nvPr/>
        </p:nvSpPr>
        <p:spPr>
          <a:xfrm>
            <a:off x="502920" y="543494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联合制碱法用CO₂代替石灰石作为碳源，可避免产生大量含CaCl₂的废液，提</a:t>
            </a:r>
          </a:p>
          <a:p>
            <a:pPr>
              <a:lnSpc>
                <a:spcPct val="112000"/>
              </a:lnSpc>
              <a:spcBef>
                <a:spcPts val="0"/>
              </a:spcBef>
              <a:spcAft>
                <a:spcPts val="0"/>
              </a:spcAft>
              <a:defRPr sz="2400" b="0">
                <a:solidFill>
                  <a:srgbClr val="333333"/>
                </a:solidFill>
                <a:latin typeface="微软雅黑"/>
              </a:defRPr>
            </a:pPr>
            <a:r>
              <a:rPr>
                <a:ea typeface="微软雅黑"/>
              </a:rPr>
              <a:t>高了原料利用率</a:t>
            </a:r>
          </a:p>
        </p:txBody>
      </p:sp>
      <p:sp>
        <p:nvSpPr>
          <p:cNvPr id="28" name="文字_单选题  ·  04-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04-039</a:t>
            </a:r>
          </a:p>
        </p:txBody>
      </p:sp>
      <p:sp>
        <p:nvSpPr>
          <p:cNvPr id="29"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例题4</a:t>
            </a:r>
          </a:p>
        </p:txBody>
      </p:sp>
      <p:sp>
        <p:nvSpPr>
          <p:cNvPr id="5" name="文字_P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P98</a:t>
            </a:r>
          </a:p>
        </p:txBody>
      </p:sp>
      <p:sp>
        <p:nvSpPr>
          <p:cNvPr id="6" name="文字_实验室模拟侯氏制碱法制备Na₂CO₃的主要过程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实验室模拟侯氏制碱法制备Na₂CO₃的主要过程如下。已知NH₃极易溶于水，饱</a:t>
            </a:r>
          </a:p>
          <a:p>
            <a:pPr>
              <a:lnSpc>
                <a:spcPct val="112000"/>
              </a:lnSpc>
              <a:spcBef>
                <a:spcPts val="0"/>
              </a:spcBef>
              <a:spcAft>
                <a:spcPts val="0"/>
              </a:spcAft>
              <a:defRPr sz="2400" b="0">
                <a:solidFill>
                  <a:srgbClr val="333333"/>
                </a:solidFill>
                <a:latin typeface="微软雅黑"/>
              </a:defRPr>
            </a:pPr>
            <a:r>
              <a:rPr>
                <a:ea typeface="微软雅黑"/>
              </a:rPr>
              <a:t>和食盐水中发生的反应为NaCl + CO₂ + NH₃ + H₂O = NaHCO₃ ↓ +NH₄Cl, 下</a:t>
            </a:r>
          </a:p>
          <a:p>
            <a:pPr>
              <a:lnSpc>
                <a:spcPct val="112000"/>
              </a:lnSpc>
              <a:spcBef>
                <a:spcPts val="0"/>
              </a:spcBef>
              <a:spcAft>
                <a:spcPts val="0"/>
              </a:spcAft>
              <a:defRPr sz="2400" b="0">
                <a:solidFill>
                  <a:srgbClr val="333333"/>
                </a:solidFill>
                <a:latin typeface="微软雅黑"/>
              </a:defRPr>
            </a:pPr>
            <a:r>
              <a:rPr>
                <a:ea typeface="微软雅黑"/>
              </a:rPr>
              <a:t>列说法正确的是</a:t>
            </a:r>
          </a:p>
        </p:txBody>
      </p:sp>
      <p:pic>
        <p:nvPicPr>
          <p:cNvPr id="7" name="Picture 6" descr="image.png"/>
          <p:cNvPicPr>
            <a:picLocks noChangeAspect="1"/>
          </p:cNvPicPr>
          <p:nvPr/>
        </p:nvPicPr>
        <p:blipFill>
          <a:blip r:embed="rId3"/>
          <a:stretch>
            <a:fillRect/>
          </a:stretch>
        </p:blipFill>
        <p:spPr>
          <a:xfrm>
            <a:off x="502920" y="2243328"/>
            <a:ext cx="11064240" cy="1845316"/>
          </a:xfrm>
          <a:prstGeom prst="rect">
            <a:avLst/>
          </a:prstGeom>
        </p:spPr>
      </p:pic>
      <p:sp>
        <p:nvSpPr>
          <p:cNvPr id="8" name="原题文字_98_29"/>
          <p:cNvSpPr txBox="1"/>
          <p:nvPr/>
        </p:nvSpPr>
        <p:spPr>
          <a:xfrm>
            <a:off x="1689741" y="2321153"/>
            <a:ext cx="728672" cy="557423"/>
          </a:xfrm>
          <a:prstGeom prst="rect">
            <a:avLst/>
          </a:prstGeom>
          <a:noFill/>
        </p:spPr>
        <p:txBody>
          <a:bodyPr wrap="none" lIns="0" rIns="0" tIns="0" bIns="0">
            <a:spAutoFit/>
          </a:bodyPr>
          <a:lstStyle/>
          <a:p>
            <a:pPr>
              <a:lnSpc>
                <a:spcPct val="112000"/>
              </a:lnSpc>
              <a:spcBef>
                <a:spcPts val="0"/>
              </a:spcBef>
              <a:spcAft>
                <a:spcPts val="0"/>
              </a:spcAft>
              <a:defRPr sz="2110" b="0">
                <a:solidFill>
                  <a:srgbClr val="333333"/>
                </a:solidFill>
                <a:latin typeface="微软雅黑"/>
              </a:defRPr>
            </a:pPr>
            <a:r>
              <a:rPr>
                <a:ea typeface="微软雅黑"/>
              </a:rPr>
              <a:t>↓CO₂</a:t>
            </a:r>
          </a:p>
        </p:txBody>
      </p:sp>
      <p:sp>
        <p:nvSpPr>
          <p:cNvPr id="9" name="原题文字_98_30"/>
          <p:cNvSpPr txBox="1"/>
          <p:nvPr/>
        </p:nvSpPr>
        <p:spPr>
          <a:xfrm>
            <a:off x="4568741" y="2275211"/>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②</a:t>
            </a:r>
          </a:p>
        </p:txBody>
      </p:sp>
      <p:sp>
        <p:nvSpPr>
          <p:cNvPr id="10" name="原题文字_98_31"/>
          <p:cNvSpPr txBox="1"/>
          <p:nvPr/>
        </p:nvSpPr>
        <p:spPr>
          <a:xfrm>
            <a:off x="3052672" y="2413036"/>
            <a:ext cx="1532648" cy="398159"/>
          </a:xfrm>
          <a:prstGeom prst="rect">
            <a:avLst/>
          </a:prstGeom>
          <a:noFill/>
        </p:spPr>
        <p:txBody>
          <a:bodyPr wrap="none" lIns="0" rIns="0" tIns="0" bIns="0">
            <a:spAutoFit/>
          </a:bodyPr>
          <a:lstStyle/>
          <a:p>
            <a:pPr>
              <a:lnSpc>
                <a:spcPct val="112000"/>
              </a:lnSpc>
              <a:spcBef>
                <a:spcPts val="0"/>
              </a:spcBef>
              <a:spcAft>
                <a:spcPts val="0"/>
              </a:spcAft>
              <a:defRPr sz="1928" b="0">
                <a:solidFill>
                  <a:srgbClr val="333333"/>
                </a:solidFill>
                <a:latin typeface="微软雅黑"/>
              </a:defRPr>
            </a:pPr>
            <a:r>
              <a:rPr>
                <a:ea typeface="微软雅黑"/>
              </a:rPr>
              <a:t>NaHCO₃固体</a:t>
            </a:r>
          </a:p>
        </p:txBody>
      </p:sp>
      <p:sp>
        <p:nvSpPr>
          <p:cNvPr id="11" name="原题文字_98_32"/>
          <p:cNvSpPr txBox="1"/>
          <p:nvPr/>
        </p:nvSpPr>
        <p:spPr>
          <a:xfrm>
            <a:off x="4744850" y="2397722"/>
            <a:ext cx="1547962" cy="447929"/>
          </a:xfrm>
          <a:prstGeom prst="rect">
            <a:avLst/>
          </a:prstGeom>
          <a:noFill/>
        </p:spPr>
        <p:txBody>
          <a:bodyPr wrap="none" lIns="0" rIns="0" tIns="0" bIns="0">
            <a:spAutoFit/>
          </a:bodyPr>
          <a:lstStyle/>
          <a:p>
            <a:pPr>
              <a:lnSpc>
                <a:spcPct val="112000"/>
              </a:lnSpc>
              <a:spcBef>
                <a:spcPts val="0"/>
              </a:spcBef>
              <a:spcAft>
                <a:spcPts val="0"/>
              </a:spcAft>
              <a:defRPr sz="1685" b="0">
                <a:solidFill>
                  <a:srgbClr val="333333"/>
                </a:solidFill>
                <a:latin typeface="微软雅黑"/>
              </a:defRPr>
            </a:pPr>
            <a:r>
              <a:rPr>
                <a:ea typeface="微软雅黑"/>
              </a:rPr>
              <a:t>→Na₂CO₃固体</a:t>
            </a:r>
          </a:p>
        </p:txBody>
      </p:sp>
      <p:sp>
        <p:nvSpPr>
          <p:cNvPr id="12" name="原题文字_98_33"/>
          <p:cNvSpPr txBox="1"/>
          <p:nvPr/>
        </p:nvSpPr>
        <p:spPr>
          <a:xfrm>
            <a:off x="571832" y="2550860"/>
            <a:ext cx="613818" cy="457883"/>
          </a:xfrm>
          <a:prstGeom prst="rect">
            <a:avLst/>
          </a:prstGeom>
          <a:noFill/>
        </p:spPr>
        <p:txBody>
          <a:bodyPr wrap="none" lIns="0" rIns="0" tIns="0" bIns="0">
            <a:spAutoFit/>
          </a:bodyPr>
          <a:lstStyle/>
          <a:p>
            <a:pPr>
              <a:lnSpc>
                <a:spcPct val="112000"/>
              </a:lnSpc>
              <a:spcBef>
                <a:spcPts val="0"/>
              </a:spcBef>
              <a:spcAft>
                <a:spcPts val="0"/>
              </a:spcAft>
              <a:defRPr sz="2091" b="0">
                <a:solidFill>
                  <a:srgbClr val="333333"/>
                </a:solidFill>
                <a:latin typeface="微软雅黑"/>
              </a:defRPr>
            </a:pPr>
            <a:r>
              <a:rPr>
                <a:ea typeface="微软雅黑"/>
              </a:rPr>
              <a:t>NH₃</a:t>
            </a:r>
          </a:p>
        </p:txBody>
      </p:sp>
      <p:sp>
        <p:nvSpPr>
          <p:cNvPr id="13" name="原题文字_98_34"/>
          <p:cNvSpPr txBox="1"/>
          <p:nvPr/>
        </p:nvSpPr>
        <p:spPr>
          <a:xfrm>
            <a:off x="2524345" y="2604459"/>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①</a:t>
            </a:r>
          </a:p>
        </p:txBody>
      </p:sp>
      <p:sp>
        <p:nvSpPr>
          <p:cNvPr id="14" name="原题文字_98_35"/>
          <p:cNvSpPr txBox="1"/>
          <p:nvPr/>
        </p:nvSpPr>
        <p:spPr>
          <a:xfrm>
            <a:off x="1169071" y="2734626"/>
            <a:ext cx="1341225"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饱和食盐水</a:t>
            </a:r>
          </a:p>
        </p:txBody>
      </p:sp>
      <p:sp>
        <p:nvSpPr>
          <p:cNvPr id="15" name="原题文字_98_36"/>
          <p:cNvSpPr txBox="1"/>
          <p:nvPr/>
        </p:nvSpPr>
        <p:spPr>
          <a:xfrm>
            <a:off x="4293092" y="2742283"/>
            <a:ext cx="1410137" cy="428021"/>
          </a:xfrm>
          <a:prstGeom prst="rect">
            <a:avLst/>
          </a:prstGeom>
          <a:noFill/>
        </p:spPr>
        <p:txBody>
          <a:bodyPr wrap="none" lIns="0" rIns="0" tIns="0" bIns="0">
            <a:spAutoFit/>
          </a:bodyPr>
          <a:lstStyle/>
          <a:p>
            <a:pPr>
              <a:lnSpc>
                <a:spcPct val="112000"/>
              </a:lnSpc>
              <a:spcBef>
                <a:spcPts val="0"/>
              </a:spcBef>
              <a:spcAft>
                <a:spcPts val="0"/>
              </a:spcAft>
              <a:defRPr sz="1794" b="0">
                <a:solidFill>
                  <a:srgbClr val="333333"/>
                </a:solidFill>
                <a:latin typeface="微软雅黑"/>
              </a:defRPr>
            </a:pPr>
            <a:r>
              <a:rPr>
                <a:ea typeface="微软雅黑"/>
              </a:rPr>
              <a:t>→NH₄Cl固体</a:t>
            </a:r>
          </a:p>
        </p:txBody>
      </p:sp>
      <p:sp>
        <p:nvSpPr>
          <p:cNvPr id="16" name="原题文字_98_37"/>
          <p:cNvSpPr txBox="1"/>
          <p:nvPr/>
        </p:nvSpPr>
        <p:spPr>
          <a:xfrm>
            <a:off x="3045015" y="3033246"/>
            <a:ext cx="858839"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溶液A</a:t>
            </a:r>
          </a:p>
        </p:txBody>
      </p:sp>
      <p:sp>
        <p:nvSpPr>
          <p:cNvPr id="17" name="原题文字_98_38"/>
          <p:cNvSpPr txBox="1"/>
          <p:nvPr/>
        </p:nvSpPr>
        <p:spPr>
          <a:xfrm>
            <a:off x="3871961" y="3255296"/>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③</a:t>
            </a:r>
          </a:p>
        </p:txBody>
      </p:sp>
      <p:sp>
        <p:nvSpPr>
          <p:cNvPr id="18" name="原题文字_98_39"/>
          <p:cNvSpPr txBox="1"/>
          <p:nvPr/>
        </p:nvSpPr>
        <p:spPr>
          <a:xfrm>
            <a:off x="3198153" y="3416091"/>
            <a:ext cx="759300"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NaCl</a:t>
            </a:r>
          </a:p>
        </p:txBody>
      </p:sp>
      <p:sp>
        <p:nvSpPr>
          <p:cNvPr id="19" name="原题文字_98_40"/>
          <p:cNvSpPr txBox="1"/>
          <p:nvPr/>
        </p:nvSpPr>
        <p:spPr>
          <a:xfrm>
            <a:off x="4446230" y="3354836"/>
            <a:ext cx="828212"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溶液B</a:t>
            </a:r>
          </a:p>
        </p:txBody>
      </p:sp>
      <p:sp>
        <p:nvSpPr>
          <p:cNvPr id="20" name="原题文字_98_41"/>
          <p:cNvSpPr txBox="1"/>
          <p:nvPr/>
        </p:nvSpPr>
        <p:spPr>
          <a:xfrm>
            <a:off x="587146" y="3783623"/>
            <a:ext cx="298746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过程①②③均涉及过滤操作</a:t>
            </a:r>
          </a:p>
        </p:txBody>
      </p:sp>
      <p:sp>
        <p:nvSpPr>
          <p:cNvPr id="21" name="文字_B. 向饱和食盐水中先通入足量CO₂再通入NH₃"/>
          <p:cNvSpPr txBox="1"/>
          <p:nvPr/>
        </p:nvSpPr>
        <p:spPr>
          <a:xfrm>
            <a:off x="502920" y="416179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向饱和食盐水中先通入足量CO₂再通入NH₃，有利于提高CO₂的吸收率</a:t>
            </a:r>
          </a:p>
        </p:txBody>
      </p:sp>
      <p:sp>
        <p:nvSpPr>
          <p:cNvPr id="22" name="文字_C. 溶液B可并入饱和食盐水中循环使用"/>
          <p:cNvSpPr txBox="1"/>
          <p:nvPr/>
        </p:nvSpPr>
        <p:spPr>
          <a:xfrm>
            <a:off x="502920" y="460070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溶液B可并入饱和食盐水中循环使用</a:t>
            </a:r>
          </a:p>
        </p:txBody>
      </p:sp>
      <p:sp>
        <p:nvSpPr>
          <p:cNvPr id="23" name="文字_D. 若忽略水的电离，加入NaCl前溶液A中的阳"/>
          <p:cNvSpPr txBox="1"/>
          <p:nvPr/>
        </p:nvSpPr>
        <p:spPr>
          <a:xfrm>
            <a:off x="502920" y="503962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若忽略水的电离，加入NaCl前溶液A中的阳离子只有NH+</a:t>
            </a:r>
          </a:p>
        </p:txBody>
      </p:sp>
      <p:sp>
        <p:nvSpPr>
          <p:cNvPr id="24" name="文字_单选题  ·  04-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04-040</a:t>
            </a:r>
          </a:p>
        </p:txBody>
      </p:sp>
      <p:sp>
        <p:nvSpPr>
          <p:cNvPr id="25"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例题5</a:t>
            </a:r>
          </a:p>
        </p:txBody>
      </p:sp>
      <p:sp>
        <p:nvSpPr>
          <p:cNvPr id="5" name="文字_P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P98</a:t>
            </a:r>
          </a:p>
        </p:txBody>
      </p:sp>
      <p:sp>
        <p:nvSpPr>
          <p:cNvPr id="6" name="文字_实验室根据“侯氏制碱法原理”制备少量Na₂CO₃"/>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实验室根据“侯氏制碱法原理”制备少量Na₂CO₃下列操作所用部分仪器正确的是</a:t>
            </a:r>
          </a:p>
        </p:txBody>
      </p:sp>
      <p:pic>
        <p:nvPicPr>
          <p:cNvPr id="7" name="Picture 6" descr="image.png"/>
          <p:cNvPicPr>
            <a:picLocks noChangeAspect="1"/>
          </p:cNvPicPr>
          <p:nvPr/>
        </p:nvPicPr>
        <p:blipFill>
          <a:blip r:embed="rId3"/>
          <a:stretch>
            <a:fillRect/>
          </a:stretch>
        </p:blipFill>
        <p:spPr>
          <a:xfrm>
            <a:off x="502920" y="1517904"/>
            <a:ext cx="11064240" cy="1600294"/>
          </a:xfrm>
          <a:prstGeom prst="rect">
            <a:avLst/>
          </a:prstGeom>
        </p:spPr>
      </p:pic>
      <p:sp>
        <p:nvSpPr>
          <p:cNvPr id="8" name="原题文字_98_49"/>
          <p:cNvSpPr txBox="1"/>
          <p:nvPr/>
        </p:nvSpPr>
        <p:spPr>
          <a:xfrm>
            <a:off x="5763219" y="1603386"/>
            <a:ext cx="192688"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8</a:t>
            </a:r>
          </a:p>
        </p:txBody>
      </p:sp>
      <p:sp>
        <p:nvSpPr>
          <p:cNvPr id="9" name="原题文字_98_50"/>
          <p:cNvSpPr txBox="1"/>
          <p:nvPr/>
        </p:nvSpPr>
        <p:spPr>
          <a:xfrm>
            <a:off x="878108" y="2828492"/>
            <a:ext cx="29988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①</a:t>
            </a:r>
          </a:p>
        </p:txBody>
      </p:sp>
      <p:sp>
        <p:nvSpPr>
          <p:cNvPr id="10" name="原题文字_98_51"/>
          <p:cNvSpPr txBox="1"/>
          <p:nvPr/>
        </p:nvSpPr>
        <p:spPr>
          <a:xfrm>
            <a:off x="2876563" y="2828492"/>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③</a:t>
            </a:r>
          </a:p>
        </p:txBody>
      </p:sp>
      <p:sp>
        <p:nvSpPr>
          <p:cNvPr id="11" name="原题文字_98_52"/>
          <p:cNvSpPr txBox="1"/>
          <p:nvPr/>
        </p:nvSpPr>
        <p:spPr>
          <a:xfrm>
            <a:off x="3979158" y="2851463"/>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④</a:t>
            </a:r>
          </a:p>
        </p:txBody>
      </p:sp>
      <p:sp>
        <p:nvSpPr>
          <p:cNvPr id="12" name="原题文字_98_53"/>
          <p:cNvSpPr txBox="1"/>
          <p:nvPr/>
        </p:nvSpPr>
        <p:spPr>
          <a:xfrm>
            <a:off x="4890331" y="2843806"/>
            <a:ext cx="25394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⑤</a:t>
            </a:r>
          </a:p>
        </p:txBody>
      </p:sp>
      <p:sp>
        <p:nvSpPr>
          <p:cNvPr id="13" name="原题文字_98_54"/>
          <p:cNvSpPr txBox="1"/>
          <p:nvPr/>
        </p:nvSpPr>
        <p:spPr>
          <a:xfrm>
            <a:off x="6498283" y="2836149"/>
            <a:ext cx="2769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⑦</a:t>
            </a:r>
          </a:p>
        </p:txBody>
      </p:sp>
      <p:sp>
        <p:nvSpPr>
          <p:cNvPr id="14" name="文字_A. 制备NH₃，可选用②③"/>
          <p:cNvSpPr txBox="1"/>
          <p:nvPr/>
        </p:nvSpPr>
        <p:spPr>
          <a:xfrm>
            <a:off x="502920" y="319135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制备NH₃，可选用②③</a:t>
            </a:r>
          </a:p>
        </p:txBody>
      </p:sp>
      <p:sp>
        <p:nvSpPr>
          <p:cNvPr id="15" name="文字_B. 制备NaHCO₃，可选用④⑦⑨"/>
          <p:cNvSpPr txBox="1"/>
          <p:nvPr/>
        </p:nvSpPr>
        <p:spPr>
          <a:xfrm>
            <a:off x="502920" y="363026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制备NaHCO₃，可选用④⑦⑨</a:t>
            </a:r>
          </a:p>
        </p:txBody>
      </p:sp>
      <p:sp>
        <p:nvSpPr>
          <p:cNvPr id="16" name="文字_C. 分离NaHCO₃，可选用④⑤⑥⑦"/>
          <p:cNvSpPr txBox="1"/>
          <p:nvPr/>
        </p:nvSpPr>
        <p:spPr>
          <a:xfrm>
            <a:off x="502920" y="406917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分离NaHCO₃，可选用④⑤⑥⑦</a:t>
            </a:r>
          </a:p>
        </p:txBody>
      </p:sp>
      <p:sp>
        <p:nvSpPr>
          <p:cNvPr id="17" name="文字_D. 制备Na₂CO₃，可选用②③⑦⑧"/>
          <p:cNvSpPr txBox="1"/>
          <p:nvPr/>
        </p:nvSpPr>
        <p:spPr>
          <a:xfrm>
            <a:off x="502920" y="450808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制备Na₂CO₃，可选用②③⑦⑧</a:t>
            </a:r>
          </a:p>
        </p:txBody>
      </p:sp>
      <p:sp>
        <p:nvSpPr>
          <p:cNvPr id="18" name="文字_单选题  ·  04-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04-041</a:t>
            </a:r>
          </a:p>
        </p:txBody>
      </p:sp>
      <p:sp>
        <p:nvSpPr>
          <p:cNvPr id="19"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例题6</a:t>
            </a:r>
          </a:p>
        </p:txBody>
      </p:sp>
      <p:sp>
        <p:nvSpPr>
          <p:cNvPr id="5" name="文字_P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P99</a:t>
            </a:r>
          </a:p>
        </p:txBody>
      </p:sp>
      <p:sp>
        <p:nvSpPr>
          <p:cNvPr id="6" name="文字_爱国实业家侯德榜在氨碱法的基础上，发明了“联合制"/>
          <p:cNvSpPr txBox="1"/>
          <p:nvPr/>
        </p:nvSpPr>
        <p:spPr>
          <a:xfrm>
            <a:off x="502920" y="1078992"/>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爱国实业家侯德榜在氨碱法的基础上，发明了“联合制碱法”，简单流程如图。完成下列问题：</a:t>
            </a:r>
          </a:p>
        </p:txBody>
      </p:sp>
      <p:pic>
        <p:nvPicPr>
          <p:cNvPr id="7" name="Picture 6" descr="image.png"/>
          <p:cNvPicPr>
            <a:picLocks noChangeAspect="1"/>
          </p:cNvPicPr>
          <p:nvPr/>
        </p:nvPicPr>
        <p:blipFill>
          <a:blip r:embed="rId3"/>
          <a:stretch>
            <a:fillRect/>
          </a:stretch>
        </p:blipFill>
        <p:spPr>
          <a:xfrm>
            <a:off x="502920" y="1417319"/>
            <a:ext cx="11064240" cy="1554353"/>
          </a:xfrm>
          <a:prstGeom prst="rect">
            <a:avLst/>
          </a:prstGeom>
        </p:spPr>
      </p:pic>
      <p:sp>
        <p:nvSpPr>
          <p:cNvPr id="8" name="原题文字_99_4"/>
          <p:cNvSpPr txBox="1"/>
          <p:nvPr/>
        </p:nvSpPr>
        <p:spPr>
          <a:xfrm>
            <a:off x="4423259" y="1502802"/>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加热</a:t>
            </a:r>
          </a:p>
        </p:txBody>
      </p:sp>
      <p:sp>
        <p:nvSpPr>
          <p:cNvPr id="9" name="原题文字_99_5"/>
          <p:cNvSpPr txBox="1"/>
          <p:nvPr/>
        </p:nvSpPr>
        <p:spPr>
          <a:xfrm>
            <a:off x="3580999" y="1617655"/>
            <a:ext cx="75930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晶体A</a:t>
            </a:r>
          </a:p>
        </p:txBody>
      </p:sp>
      <p:sp>
        <p:nvSpPr>
          <p:cNvPr id="10" name="原题文字_99_6"/>
          <p:cNvSpPr txBox="1"/>
          <p:nvPr/>
        </p:nvSpPr>
        <p:spPr>
          <a:xfrm>
            <a:off x="5257863" y="1625312"/>
            <a:ext cx="613818"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纯碱</a:t>
            </a:r>
          </a:p>
        </p:txBody>
      </p:sp>
      <p:sp>
        <p:nvSpPr>
          <p:cNvPr id="11" name="原题文字_99_7"/>
          <p:cNvSpPr txBox="1"/>
          <p:nvPr/>
        </p:nvSpPr>
        <p:spPr>
          <a:xfrm>
            <a:off x="1643800" y="1724852"/>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X</a:t>
            </a:r>
          </a:p>
        </p:txBody>
      </p:sp>
      <p:sp>
        <p:nvSpPr>
          <p:cNvPr id="12" name="原题文字_99_8"/>
          <p:cNvSpPr txBox="1"/>
          <p:nvPr/>
        </p:nvSpPr>
        <p:spPr>
          <a:xfrm>
            <a:off x="2080244" y="1724852"/>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Y</a:t>
            </a:r>
          </a:p>
        </p:txBody>
      </p:sp>
      <p:sp>
        <p:nvSpPr>
          <p:cNvPr id="13" name="原题文字_99_9"/>
          <p:cNvSpPr txBox="1"/>
          <p:nvPr/>
        </p:nvSpPr>
        <p:spPr>
          <a:xfrm>
            <a:off x="855138" y="1954560"/>
            <a:ext cx="598504"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饱和</a:t>
            </a:r>
          </a:p>
        </p:txBody>
      </p:sp>
      <p:sp>
        <p:nvSpPr>
          <p:cNvPr id="14" name="原题文字_99_10"/>
          <p:cNvSpPr txBox="1"/>
          <p:nvPr/>
        </p:nvSpPr>
        <p:spPr>
          <a:xfrm>
            <a:off x="2493717" y="1885647"/>
            <a:ext cx="759300"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操作Z</a:t>
            </a:r>
          </a:p>
        </p:txBody>
      </p:sp>
      <p:sp>
        <p:nvSpPr>
          <p:cNvPr id="15" name="原题文字_99_11"/>
          <p:cNvSpPr txBox="1"/>
          <p:nvPr/>
        </p:nvSpPr>
        <p:spPr>
          <a:xfrm>
            <a:off x="763255" y="2184267"/>
            <a:ext cx="79758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食盐水</a:t>
            </a:r>
          </a:p>
        </p:txBody>
      </p:sp>
      <p:sp>
        <p:nvSpPr>
          <p:cNvPr id="16" name="原题文字_99_12"/>
          <p:cNvSpPr txBox="1"/>
          <p:nvPr/>
        </p:nvSpPr>
        <p:spPr>
          <a:xfrm>
            <a:off x="4277778" y="2329748"/>
            <a:ext cx="805241"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进行其</a:t>
            </a:r>
          </a:p>
        </p:txBody>
      </p:sp>
      <p:sp>
        <p:nvSpPr>
          <p:cNvPr id="17" name="原题文字_99_13"/>
          <p:cNvSpPr txBox="1"/>
          <p:nvPr/>
        </p:nvSpPr>
        <p:spPr>
          <a:xfrm>
            <a:off x="3573342" y="2498200"/>
            <a:ext cx="75930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溶液B</a:t>
            </a:r>
          </a:p>
        </p:txBody>
      </p:sp>
      <p:sp>
        <p:nvSpPr>
          <p:cNvPr id="18" name="原题文字_99_14"/>
          <p:cNvSpPr txBox="1"/>
          <p:nvPr/>
        </p:nvSpPr>
        <p:spPr>
          <a:xfrm>
            <a:off x="5257863" y="2521171"/>
            <a:ext cx="114980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NH₄Cl固体</a:t>
            </a:r>
          </a:p>
        </p:txBody>
      </p:sp>
      <p:sp>
        <p:nvSpPr>
          <p:cNvPr id="19" name="原题文字_99_15"/>
          <p:cNvSpPr txBox="1"/>
          <p:nvPr/>
        </p:nvSpPr>
        <p:spPr>
          <a:xfrm>
            <a:off x="4293092" y="2643682"/>
            <a:ext cx="78992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它处理</a:t>
            </a:r>
          </a:p>
        </p:txBody>
      </p:sp>
      <p:sp>
        <p:nvSpPr>
          <p:cNvPr id="20" name="文字_（1）在饱和食盐水中通入X和Y，则X _____"/>
          <p:cNvSpPr txBox="1"/>
          <p:nvPr/>
        </p:nvSpPr>
        <p:spPr>
          <a:xfrm>
            <a:off x="502920" y="3044825"/>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（1）在饱和食盐水中通入X和Y，则X ______ 和Y ______ (填物质名称)，先通X后通Y的原因是</a:t>
            </a:r>
          </a:p>
        </p:txBody>
      </p:sp>
      <p:sp>
        <p:nvSpPr>
          <p:cNvPr id="21" name="文字_(2) 写出通入X和Y的化学反应方程式"/>
          <p:cNvSpPr txBox="1"/>
          <p:nvPr/>
        </p:nvSpPr>
        <p:spPr>
          <a:xfrm>
            <a:off x="502920" y="3383153"/>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(2) 写出通入X和Y的化学反应方程式</a:t>
            </a:r>
          </a:p>
        </p:txBody>
      </p:sp>
      <p:sp>
        <p:nvSpPr>
          <p:cNvPr id="22" name="文字_(3）操作Z包括 ______ 和 ______"/>
          <p:cNvSpPr txBox="1"/>
          <p:nvPr/>
        </p:nvSpPr>
        <p:spPr>
          <a:xfrm>
            <a:off x="502920" y="3721481"/>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(3）操作Z包括 ______ 和 ______ (填名称)。</a:t>
            </a:r>
          </a:p>
        </p:txBody>
      </p:sp>
      <p:sp>
        <p:nvSpPr>
          <p:cNvPr id="23" name="文字_(4) 溶液B中含有的主要离子是 ______ "/>
          <p:cNvSpPr txBox="1"/>
          <p:nvPr/>
        </p:nvSpPr>
        <p:spPr>
          <a:xfrm>
            <a:off x="502920" y="4059809"/>
            <a:ext cx="11064240" cy="61791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(4) 溶液B中含有的主要离子是 ______ 为了得到化肥（NH₄Cl)，需要在溶液B中通入NH₃、冷冻、加食盐，</a:t>
            </a:r>
          </a:p>
          <a:p>
            <a:pPr>
              <a:lnSpc>
                <a:spcPct val="112000"/>
              </a:lnSpc>
              <a:spcBef>
                <a:spcPts val="0"/>
              </a:spcBef>
              <a:spcAft>
                <a:spcPts val="0"/>
              </a:spcAft>
              <a:defRPr sz="1850" b="0">
                <a:solidFill>
                  <a:srgbClr val="333333"/>
                </a:solidFill>
                <a:latin typeface="微软雅黑"/>
              </a:defRPr>
            </a:pPr>
            <a:r>
              <a:rPr>
                <a:ea typeface="微软雅黑"/>
              </a:rPr>
              <a:t>其中通入NH₃的作用一 ______ ，作用二 ______ o</a:t>
            </a:r>
          </a:p>
        </p:txBody>
      </p:sp>
      <p:sp>
        <p:nvSpPr>
          <p:cNvPr id="24" name="文字_(5）工业生产的纯碱常会含少量NaCl杂质。现用"/>
          <p:cNvSpPr txBox="1"/>
          <p:nvPr/>
        </p:nvSpPr>
        <p:spPr>
          <a:xfrm>
            <a:off x="502920" y="4677727"/>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(5）工业生产的纯碱常会含少量NaCl杂质。现用重量法测定其纯度，步骤如下：</a:t>
            </a:r>
          </a:p>
        </p:txBody>
      </p:sp>
      <p:sp>
        <p:nvSpPr>
          <p:cNvPr id="25" name="文字_①称取样品ag，加水溶解；"/>
          <p:cNvSpPr txBox="1"/>
          <p:nvPr/>
        </p:nvSpPr>
        <p:spPr>
          <a:xfrm>
            <a:off x="502920" y="5016055"/>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①称取样品ag，加水溶解；</a:t>
            </a:r>
          </a:p>
        </p:txBody>
      </p:sp>
      <p:sp>
        <p:nvSpPr>
          <p:cNvPr id="26" name="文字_②加入足量的BaCl₂溶液；"/>
          <p:cNvSpPr txBox="1"/>
          <p:nvPr/>
        </p:nvSpPr>
        <p:spPr>
          <a:xfrm>
            <a:off x="502920" y="5354383"/>
            <a:ext cx="11064240" cy="33832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②加入足量的BaCl₂溶液；</a:t>
            </a:r>
          </a:p>
        </p:txBody>
      </p:sp>
      <p:sp>
        <p:nvSpPr>
          <p:cNvPr id="27" name="文字_③过滤、 ______ 、烘干、冷却、称量、烘干"/>
          <p:cNvSpPr txBox="1"/>
          <p:nvPr/>
        </p:nvSpPr>
        <p:spPr>
          <a:xfrm>
            <a:off x="502920" y="5692711"/>
            <a:ext cx="11064240" cy="617918"/>
          </a:xfrm>
          <a:prstGeom prst="rect">
            <a:avLst/>
          </a:prstGeom>
          <a:noFill/>
        </p:spPr>
        <p:txBody>
          <a:bodyPr wrap="square" lIns="0" rIns="0" tIns="0" bIns="0">
            <a:spAutoFit/>
          </a:bodyPr>
          <a:lstStyle/>
          <a:p>
            <a:pPr>
              <a:lnSpc>
                <a:spcPct val="112000"/>
              </a:lnSpc>
              <a:spcBef>
                <a:spcPts val="0"/>
              </a:spcBef>
              <a:spcAft>
                <a:spcPts val="0"/>
              </a:spcAft>
              <a:defRPr sz="1850" b="0">
                <a:solidFill>
                  <a:srgbClr val="333333"/>
                </a:solidFill>
                <a:latin typeface="微软雅黑"/>
              </a:defRPr>
            </a:pPr>
            <a:r>
              <a:rPr>
                <a:ea typeface="微软雅黑"/>
              </a:rPr>
              <a:t>③过滤、 ______ 、烘干、冷却、称量、烘干、冷却、 ______ ，最终得到固体bg。样品中纯碱的质量分数为</a:t>
            </a:r>
          </a:p>
          <a:p>
            <a:pPr>
              <a:lnSpc>
                <a:spcPct val="112000"/>
              </a:lnSpc>
              <a:spcBef>
                <a:spcPts val="0"/>
              </a:spcBef>
              <a:spcAft>
                <a:spcPts val="0"/>
              </a:spcAft>
              <a:defRPr sz="1850" b="0">
                <a:solidFill>
                  <a:srgbClr val="333333"/>
                </a:solidFill>
                <a:latin typeface="微软雅黑"/>
              </a:defRPr>
            </a:pPr>
            <a:r>
              <a:rPr>
                <a:ea typeface="微软雅黑"/>
              </a:rPr>
              <a:t>(用含a、b的代数式表示)。</a:t>
            </a:r>
          </a:p>
        </p:txBody>
      </p:sp>
      <p:sp>
        <p:nvSpPr>
          <p:cNvPr id="28" name="文字_解答题  ·  04-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04-042</a:t>
            </a:r>
          </a:p>
        </p:txBody>
      </p:sp>
      <p:sp>
        <p:nvSpPr>
          <p:cNvPr id="29"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变式1</a:t>
            </a:r>
          </a:p>
        </p:txBody>
      </p:sp>
      <p:sp>
        <p:nvSpPr>
          <p:cNvPr id="5" name="文字_P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P99</a:t>
            </a:r>
          </a:p>
        </p:txBody>
      </p:sp>
      <p:sp>
        <p:nvSpPr>
          <p:cNvPr id="6" name="文字_春节期间，家家户户用燃放烟花爆竹的方式庆贺新春。"/>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春节期间，家家户户用燃放烟花爆竹的方式庆贺新春。这与高中化学中“焰色试验</a:t>
            </a:r>
          </a:p>
          <a:p>
            <a:pPr>
              <a:lnSpc>
                <a:spcPct val="112000"/>
              </a:lnSpc>
              <a:spcBef>
                <a:spcPts val="0"/>
              </a:spcBef>
              <a:spcAft>
                <a:spcPts val="0"/>
              </a:spcAft>
              <a:defRPr sz="2400" b="0">
                <a:solidFill>
                  <a:srgbClr val="333333"/>
                </a:solidFill>
                <a:latin typeface="微软雅黑"/>
              </a:defRPr>
            </a:pPr>
            <a:r>
              <a:rPr>
                <a:ea typeface="微软雅黑"/>
              </a:rPr>
              <a:t>”知识相关，下列关于焰色试验说法中正确的是</a:t>
            </a:r>
          </a:p>
        </p:txBody>
      </p:sp>
      <p:sp>
        <p:nvSpPr>
          <p:cNvPr id="7" name="文字_A. 焰色试验的本质是元素发生了化学变化"/>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焰色试验的本质是元素发生了化学变化</a:t>
            </a:r>
          </a:p>
        </p:txBody>
      </p:sp>
      <p:sp>
        <p:nvSpPr>
          <p:cNvPr id="8" name="文字_B. 应该用稀硫酸清洗做过焰色试验的铂丝"/>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应该用稀硫酸清洗做过焰色试验的铂丝</a:t>
            </a:r>
          </a:p>
        </p:txBody>
      </p:sp>
      <p:sp>
        <p:nvSpPr>
          <p:cNvPr id="9" name="文字_C. K₂CO₃在酒精灯上灼烧时透过蓝色钴玻璃能"/>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K₂CO₃在酒精灯上灼烧时透过蓝色钴玻璃能观察到紫色火焰</a:t>
            </a:r>
          </a:p>
        </p:txBody>
      </p:sp>
      <p:sp>
        <p:nvSpPr>
          <p:cNvPr id="10" name="文字_D. 可以利用焰色试验区分NaOH与NaCl固体"/>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可以利用焰色试验区分NaOH与NaCl固体</a:t>
            </a:r>
          </a:p>
        </p:txBody>
      </p:sp>
      <p:sp>
        <p:nvSpPr>
          <p:cNvPr id="11" name="文字_单选题  ·  04-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04-043</a:t>
            </a:r>
          </a:p>
        </p:txBody>
      </p:sp>
      <p:sp>
        <p:nvSpPr>
          <p:cNvPr id="12"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变式2</a:t>
            </a:r>
          </a:p>
        </p:txBody>
      </p:sp>
      <p:sp>
        <p:nvSpPr>
          <p:cNvPr id="5" name="文字_P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P99</a:t>
            </a:r>
          </a:p>
        </p:txBody>
      </p:sp>
      <p:sp>
        <p:nvSpPr>
          <p:cNvPr id="6" name="文字_下列有关焰色试验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下列有关焰色试验的说法正确的是</a:t>
            </a:r>
          </a:p>
        </p:txBody>
      </p:sp>
      <p:sp>
        <p:nvSpPr>
          <p:cNvPr id="7" name="文字_A. 焰色试验必需的仪器及试剂：铂丝或光洁无锈的"/>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焰色试验必需的仪器及试剂：铂丝或光洁无锈的铁丝、酒精灯或煤气灯、盐酸</a:t>
            </a:r>
          </a:p>
        </p:txBody>
      </p:sp>
      <p:sp>
        <p:nvSpPr>
          <p:cNvPr id="8" name="文字_B. 焰色试验可适合所有金属元素的检验"/>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焰色试验可适合所有金属元素的检验</a:t>
            </a:r>
          </a:p>
        </p:txBody>
      </p:sp>
      <p:sp>
        <p:nvSpPr>
          <p:cNvPr id="9" name="文字_C. 某溶液做焰色试验火焰呈黄色说明该溶液一定含"/>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某溶液做焰色试验火焰呈黄色说明该溶液一定含有钠元素、一定不含钾元素</a:t>
            </a:r>
          </a:p>
        </p:txBody>
      </p:sp>
      <p:sp>
        <p:nvSpPr>
          <p:cNvPr id="10" name="文字_D. 金属及其化合物在灼烧时产生的不同特征颜色是"/>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金属及其化合物在灼烧时产生的不同特征颜色是发生化学变化引起的</a:t>
            </a:r>
          </a:p>
        </p:txBody>
      </p:sp>
      <p:sp>
        <p:nvSpPr>
          <p:cNvPr id="11" name="文字_单选题  ·  04-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04-044</a:t>
            </a:r>
          </a:p>
        </p:txBody>
      </p:sp>
      <p:sp>
        <p:nvSpPr>
          <p:cNvPr id="12"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变式3</a:t>
            </a:r>
          </a:p>
        </p:txBody>
      </p:sp>
      <p:sp>
        <p:nvSpPr>
          <p:cNvPr id="5" name="文字_P1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P100</a:t>
            </a:r>
          </a:p>
        </p:txBody>
      </p:sp>
      <p:sp>
        <p:nvSpPr>
          <p:cNvPr id="6" name="文字_侯德榜是我国近代化学工业的奠基人之一，他将氨碱法"/>
          <p:cNvSpPr txBox="1"/>
          <p:nvPr/>
        </p:nvSpPr>
        <p:spPr>
          <a:xfrm>
            <a:off x="502920" y="1078992"/>
            <a:ext cx="11064240" cy="651319"/>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侯德榜是我国近代化学工业的奠基人之一，他将氨碱法和合成氨工艺联合起来，发明了“联合制碱法</a:t>
            </a:r>
          </a:p>
          <a:p>
            <a:pPr>
              <a:lnSpc>
                <a:spcPct val="112000"/>
              </a:lnSpc>
              <a:spcBef>
                <a:spcPts val="0"/>
              </a:spcBef>
              <a:spcAft>
                <a:spcPts val="0"/>
              </a:spcAft>
              <a:defRPr sz="1950" b="0">
                <a:solidFill>
                  <a:srgbClr val="333333"/>
                </a:solidFill>
                <a:latin typeface="微软雅黑"/>
              </a:defRPr>
            </a:pPr>
            <a:r>
              <a:rPr>
                <a:ea typeface="微软雅黑"/>
              </a:rPr>
              <a:t>”。氨碱法中涉及的反应有：</a:t>
            </a:r>
          </a:p>
        </p:txBody>
      </p:sp>
      <p:sp>
        <p:nvSpPr>
          <p:cNvPr id="7" name="文字_反应I: NaCl + CO₂ + NH₃ + "/>
          <p:cNvSpPr txBox="1"/>
          <p:nvPr/>
        </p:nvSpPr>
        <p:spPr>
          <a:xfrm>
            <a:off x="502920" y="1730311"/>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反应I: NaCl + CO₂ + NH₃ + H₂O = NaHCO₃ ↓ +NH₄Cl</a:t>
            </a:r>
          </a:p>
        </p:txBody>
      </p:sp>
      <p:sp>
        <p:nvSpPr>
          <p:cNvPr id="8" name="文字_反应ⅡI: 2NaHCO₃∆Na₂CO₃ + C"/>
          <p:cNvSpPr txBox="1"/>
          <p:nvPr/>
        </p:nvSpPr>
        <p:spPr>
          <a:xfrm>
            <a:off x="502920" y="2086927"/>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反应ⅡI: 2NaHCO₃∆Na₂CO₃ + CO₂↑ +H₂O</a:t>
            </a:r>
          </a:p>
        </p:txBody>
      </p:sp>
      <p:sp>
        <p:nvSpPr>
          <p:cNvPr id="9" name="文字_下列制取少量Na₂CO₃的实验原理和装置能达到实"/>
          <p:cNvSpPr txBox="1"/>
          <p:nvPr/>
        </p:nvSpPr>
        <p:spPr>
          <a:xfrm>
            <a:off x="502920" y="2443543"/>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下列制取少量Na₂CO₃的实验原理和装置能达到实验目的的是</a:t>
            </a:r>
          </a:p>
        </p:txBody>
      </p:sp>
      <p:pic>
        <p:nvPicPr>
          <p:cNvPr id="10" name="Picture 9" descr="image.png"/>
          <p:cNvPicPr>
            <a:picLocks noChangeAspect="1"/>
          </p:cNvPicPr>
          <p:nvPr/>
        </p:nvPicPr>
        <p:blipFill>
          <a:blip r:embed="rId3"/>
          <a:stretch>
            <a:fillRect/>
          </a:stretch>
        </p:blipFill>
        <p:spPr>
          <a:xfrm>
            <a:off x="502920" y="2800159"/>
            <a:ext cx="11064240" cy="1638579"/>
          </a:xfrm>
          <a:prstGeom prst="rect">
            <a:avLst/>
          </a:prstGeom>
        </p:spPr>
      </p:pic>
      <p:sp>
        <p:nvSpPr>
          <p:cNvPr id="11" name="原题文字_100_8"/>
          <p:cNvSpPr txBox="1"/>
          <p:nvPr/>
        </p:nvSpPr>
        <p:spPr>
          <a:xfrm>
            <a:off x="4806105" y="2839700"/>
            <a:ext cx="384111"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CO₂</a:t>
            </a:r>
          </a:p>
        </p:txBody>
      </p:sp>
      <p:sp>
        <p:nvSpPr>
          <p:cNvPr id="12" name="原题文字_100_9"/>
          <p:cNvSpPr txBox="1"/>
          <p:nvPr/>
        </p:nvSpPr>
        <p:spPr>
          <a:xfrm>
            <a:off x="7309916" y="3023466"/>
            <a:ext cx="897124" cy="368297"/>
          </a:xfrm>
          <a:prstGeom prst="rect">
            <a:avLst/>
          </a:prstGeom>
          <a:noFill/>
        </p:spPr>
        <p:txBody>
          <a:bodyPr wrap="none" lIns="0" rIns="0" tIns="0" bIns="0">
            <a:spAutoFit/>
          </a:bodyPr>
          <a:lstStyle/>
          <a:p>
            <a:pPr>
              <a:lnSpc>
                <a:spcPct val="112000"/>
              </a:lnSpc>
              <a:spcBef>
                <a:spcPts val="0"/>
              </a:spcBef>
              <a:spcAft>
                <a:spcPts val="0"/>
              </a:spcAft>
              <a:defRPr sz="1663" b="0">
                <a:solidFill>
                  <a:srgbClr val="333333"/>
                </a:solidFill>
                <a:latin typeface="微软雅黑"/>
              </a:defRPr>
            </a:pPr>
            <a:r>
              <a:rPr>
                <a:ea typeface="微软雅黑"/>
              </a:rPr>
              <a:t>NaHCO₃</a:t>
            </a:r>
          </a:p>
        </p:txBody>
      </p:sp>
      <p:sp>
        <p:nvSpPr>
          <p:cNvPr id="13" name="原题文字_100_10"/>
          <p:cNvSpPr txBox="1"/>
          <p:nvPr/>
        </p:nvSpPr>
        <p:spPr>
          <a:xfrm>
            <a:off x="5862759" y="3505851"/>
            <a:ext cx="76695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溶有足量</a:t>
            </a:r>
          </a:p>
        </p:txBody>
      </p:sp>
      <p:sp>
        <p:nvSpPr>
          <p:cNvPr id="14" name="原题文字_100_11"/>
          <p:cNvSpPr txBox="1"/>
          <p:nvPr/>
        </p:nvSpPr>
        <p:spPr>
          <a:xfrm>
            <a:off x="3527400" y="3613048"/>
            <a:ext cx="47599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饱和</a:t>
            </a:r>
          </a:p>
        </p:txBody>
      </p:sp>
      <p:sp>
        <p:nvSpPr>
          <p:cNvPr id="15" name="原题文字_100_12"/>
          <p:cNvSpPr txBox="1"/>
          <p:nvPr/>
        </p:nvSpPr>
        <p:spPr>
          <a:xfrm>
            <a:off x="4875017" y="3658989"/>
            <a:ext cx="47599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冷水</a:t>
            </a:r>
          </a:p>
        </p:txBody>
      </p:sp>
      <p:sp>
        <p:nvSpPr>
          <p:cNvPr id="16" name="原题文字_100_13"/>
          <p:cNvSpPr txBox="1"/>
          <p:nvPr/>
        </p:nvSpPr>
        <p:spPr>
          <a:xfrm>
            <a:off x="5878073" y="3666646"/>
            <a:ext cx="75930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氨气的饱</a:t>
            </a:r>
          </a:p>
        </p:txBody>
      </p:sp>
      <p:sp>
        <p:nvSpPr>
          <p:cNvPr id="17" name="原题文字_100_14"/>
          <p:cNvSpPr txBox="1"/>
          <p:nvPr/>
        </p:nvSpPr>
        <p:spPr>
          <a:xfrm>
            <a:off x="1268611" y="3743215"/>
            <a:ext cx="63678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稀盐酸</a:t>
            </a:r>
          </a:p>
        </p:txBody>
      </p:sp>
      <p:sp>
        <p:nvSpPr>
          <p:cNvPr id="18" name="原题文字_100_15"/>
          <p:cNvSpPr txBox="1"/>
          <p:nvPr/>
        </p:nvSpPr>
        <p:spPr>
          <a:xfrm>
            <a:off x="3420204" y="3789157"/>
            <a:ext cx="698044" cy="278711"/>
          </a:xfrm>
          <a:prstGeom prst="rect">
            <a:avLst/>
          </a:prstGeom>
          <a:noFill/>
        </p:spPr>
        <p:txBody>
          <a:bodyPr wrap="none" lIns="0" rIns="0" tIns="0" bIns="0">
            <a:spAutoFit/>
          </a:bodyPr>
          <a:lstStyle/>
          <a:p>
            <a:pPr>
              <a:lnSpc>
                <a:spcPct val="112000"/>
              </a:lnSpc>
              <a:spcBef>
                <a:spcPts val="0"/>
              </a:spcBef>
              <a:spcAft>
                <a:spcPts val="0"/>
              </a:spcAft>
              <a:defRPr sz="1252" b="0">
                <a:solidFill>
                  <a:srgbClr val="333333"/>
                </a:solidFill>
                <a:latin typeface="微软雅黑"/>
              </a:defRPr>
            </a:pPr>
            <a:r>
              <a:rPr>
                <a:ea typeface="微软雅黑"/>
              </a:rPr>
              <a:t>NaHCO₃</a:t>
            </a:r>
          </a:p>
        </p:txBody>
      </p:sp>
      <p:sp>
        <p:nvSpPr>
          <p:cNvPr id="19" name="原题文字_100_16"/>
          <p:cNvSpPr txBox="1"/>
          <p:nvPr/>
        </p:nvSpPr>
        <p:spPr>
          <a:xfrm>
            <a:off x="5870416" y="3812128"/>
            <a:ext cx="766956" cy="318527"/>
          </a:xfrm>
          <a:prstGeom prst="rect">
            <a:avLst/>
          </a:prstGeom>
          <a:noFill/>
        </p:spPr>
        <p:txBody>
          <a:bodyPr wrap="none" lIns="0" rIns="0" tIns="0" bIns="0">
            <a:spAutoFit/>
          </a:bodyPr>
          <a:lstStyle/>
          <a:p>
            <a:pPr>
              <a:lnSpc>
                <a:spcPct val="112000"/>
              </a:lnSpc>
              <a:spcBef>
                <a:spcPts val="0"/>
              </a:spcBef>
              <a:spcAft>
                <a:spcPts val="0"/>
              </a:spcAft>
              <a:defRPr sz="1534" b="0">
                <a:solidFill>
                  <a:srgbClr val="333333"/>
                </a:solidFill>
                <a:latin typeface="微软雅黑"/>
              </a:defRPr>
            </a:pPr>
            <a:r>
              <a:rPr>
                <a:ea typeface="微软雅黑"/>
              </a:rPr>
              <a:t>和食盐水</a:t>
            </a:r>
          </a:p>
        </p:txBody>
      </p:sp>
      <p:sp>
        <p:nvSpPr>
          <p:cNvPr id="20" name="原题文字_100_17"/>
          <p:cNvSpPr txBox="1"/>
          <p:nvPr/>
        </p:nvSpPr>
        <p:spPr>
          <a:xfrm>
            <a:off x="3519743" y="3926981"/>
            <a:ext cx="49130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a:t>
            </a:r>
          </a:p>
        </p:txBody>
      </p:sp>
      <p:sp>
        <p:nvSpPr>
          <p:cNvPr id="21" name="原题文字_100_18"/>
          <p:cNvSpPr txBox="1"/>
          <p:nvPr/>
        </p:nvSpPr>
        <p:spPr>
          <a:xfrm>
            <a:off x="1253297" y="4057149"/>
            <a:ext cx="659760" cy="368297"/>
          </a:xfrm>
          <a:prstGeom prst="rect">
            <a:avLst/>
          </a:prstGeom>
          <a:noFill/>
        </p:spPr>
        <p:txBody>
          <a:bodyPr wrap="none" lIns="0" rIns="0" tIns="0" bIns="0">
            <a:spAutoFit/>
          </a:bodyPr>
          <a:lstStyle/>
          <a:p>
            <a:pPr>
              <a:lnSpc>
                <a:spcPct val="112000"/>
              </a:lnSpc>
              <a:spcBef>
                <a:spcPts val="0"/>
              </a:spcBef>
              <a:spcAft>
                <a:spcPts val="0"/>
              </a:spcAft>
              <a:defRPr sz="1741" b="0">
                <a:solidFill>
                  <a:srgbClr val="333333"/>
                </a:solidFill>
                <a:latin typeface="微软雅黑"/>
              </a:defRPr>
            </a:pPr>
            <a:r>
              <a:rPr>
                <a:ea typeface="微软雅黑"/>
              </a:rPr>
              <a:t>大理石</a:t>
            </a:r>
          </a:p>
        </p:txBody>
      </p:sp>
      <p:sp>
        <p:nvSpPr>
          <p:cNvPr id="22" name="文字_图1 ______ 图2 ______ 图3 _"/>
          <p:cNvSpPr txBox="1"/>
          <p:nvPr/>
        </p:nvSpPr>
        <p:spPr>
          <a:xfrm>
            <a:off x="502920" y="4511890"/>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图1 ______ 图2 ______ 图3 ______ 图4</a:t>
            </a:r>
          </a:p>
        </p:txBody>
      </p:sp>
      <p:sp>
        <p:nvSpPr>
          <p:cNvPr id="23" name="文字_A. 制取CO₂"/>
          <p:cNvSpPr txBox="1"/>
          <p:nvPr/>
        </p:nvSpPr>
        <p:spPr>
          <a:xfrm>
            <a:off x="502920" y="4868506"/>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A. 制取CO₂</a:t>
            </a:r>
          </a:p>
        </p:txBody>
      </p:sp>
      <p:sp>
        <p:nvSpPr>
          <p:cNvPr id="24" name="文字_B. 除去CO₂中HCl"/>
          <p:cNvSpPr txBox="1"/>
          <p:nvPr/>
        </p:nvSpPr>
        <p:spPr>
          <a:xfrm>
            <a:off x="502920" y="5225122"/>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B. 除去CO₂中HCl</a:t>
            </a:r>
          </a:p>
        </p:txBody>
      </p:sp>
      <p:sp>
        <p:nvSpPr>
          <p:cNvPr id="25" name="文字_C. 制取NaHCO₃"/>
          <p:cNvSpPr txBox="1"/>
          <p:nvPr/>
        </p:nvSpPr>
        <p:spPr>
          <a:xfrm>
            <a:off x="502920" y="5581738"/>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C. 制取NaHCO₃</a:t>
            </a:r>
          </a:p>
        </p:txBody>
      </p:sp>
      <p:sp>
        <p:nvSpPr>
          <p:cNvPr id="26" name="文字_D. 制取Na₂CO₃"/>
          <p:cNvSpPr txBox="1"/>
          <p:nvPr/>
        </p:nvSpPr>
        <p:spPr>
          <a:xfrm>
            <a:off x="502920" y="5938354"/>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D. 制取Na₂CO₃</a:t>
            </a:r>
          </a:p>
        </p:txBody>
      </p:sp>
      <p:sp>
        <p:nvSpPr>
          <p:cNvPr id="27" name="文字_单选题  ·  04-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04-045</a:t>
            </a:r>
          </a:p>
        </p:txBody>
      </p:sp>
      <p:sp>
        <p:nvSpPr>
          <p:cNvPr id="28"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变式4</a:t>
            </a:r>
          </a:p>
        </p:txBody>
      </p:sp>
      <p:sp>
        <p:nvSpPr>
          <p:cNvPr id="5" name="文字_P1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P100</a:t>
            </a:r>
          </a:p>
        </p:txBody>
      </p:sp>
      <p:sp>
        <p:nvSpPr>
          <p:cNvPr id="6" name="文字_我国化工专家侯德榜的“侯氏制碱法”曾为世界制碱工"/>
          <p:cNvSpPr txBox="1"/>
          <p:nvPr/>
        </p:nvSpPr>
        <p:spPr>
          <a:xfrm>
            <a:off x="502920" y="1078992"/>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我国化工专家侯德榜的“侯氏制碱法”曾为世界制碱工业作</a:t>
            </a:r>
          </a:p>
          <a:p>
            <a:pPr>
              <a:lnSpc>
                <a:spcPct val="112000"/>
              </a:lnSpc>
              <a:spcBef>
                <a:spcPts val="0"/>
              </a:spcBef>
              <a:spcAft>
                <a:spcPts val="0"/>
              </a:spcAft>
              <a:defRPr sz="1600" b="0">
                <a:solidFill>
                  <a:srgbClr val="333333"/>
                </a:solidFill>
                <a:latin typeface="微软雅黑"/>
              </a:defRPr>
            </a:pPr>
            <a:r>
              <a:rPr>
                <a:ea typeface="微软雅黑"/>
              </a:rPr>
              <a:t>出了突出贡献。以NaCl、NH₃、CO₂等为原料先制得</a:t>
            </a:r>
          </a:p>
          <a:p>
            <a:pPr>
              <a:lnSpc>
                <a:spcPct val="112000"/>
              </a:lnSpc>
              <a:spcBef>
                <a:spcPts val="0"/>
              </a:spcBef>
              <a:spcAft>
                <a:spcPts val="0"/>
              </a:spcAft>
              <a:defRPr sz="1600" b="0">
                <a:solidFill>
                  <a:srgbClr val="333333"/>
                </a:solidFill>
                <a:latin typeface="微软雅黑"/>
              </a:defRPr>
            </a:pPr>
            <a:r>
              <a:rPr>
                <a:ea typeface="微软雅黑"/>
              </a:rPr>
              <a:t>NaHCO₃，进而生产出纯碱。有关反应的化学方程式为：</a:t>
            </a:r>
          </a:p>
        </p:txBody>
      </p:sp>
      <p:sp>
        <p:nvSpPr>
          <p:cNvPr id="7" name="文字_①NH₃ + CO₂ + H₂O=NH₄HCO₃"/>
          <p:cNvSpPr txBox="1"/>
          <p:nvPr/>
        </p:nvSpPr>
        <p:spPr>
          <a:xfrm>
            <a:off x="502920" y="1855216"/>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①NH₃ + CO₂ + H₂O=NH₄HCO₃;</a:t>
            </a:r>
          </a:p>
        </p:txBody>
      </p:sp>
      <p:sp>
        <p:nvSpPr>
          <p:cNvPr id="8" name="文字_②NH₄HCO₃ + NaCl=NaHCO₃↓+"/>
          <p:cNvSpPr txBox="1"/>
          <p:nvPr/>
        </p:nvSpPr>
        <p:spPr>
          <a:xfrm>
            <a:off x="502920" y="2147824"/>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②NH₄HCO₃ + NaCl=NaHCO₃↓+NH₄Cl;</a:t>
            </a:r>
          </a:p>
        </p:txBody>
      </p:sp>
      <p:sp>
        <p:nvSpPr>
          <p:cNvPr id="9" name="文字_③2NaHCO₃=Na₂CO₃ + CO₂↑+H"/>
          <p:cNvSpPr txBox="1"/>
          <p:nvPr/>
        </p:nvSpPr>
        <p:spPr>
          <a:xfrm>
            <a:off x="502920" y="244043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③2NaHCO₃=Na₂CO₃ + CO₂↑+H₂O。</a:t>
            </a:r>
          </a:p>
        </p:txBody>
      </p:sp>
      <p:sp>
        <p:nvSpPr>
          <p:cNvPr id="10" name="文字_已知：NH₃是无色有强烈刺激性气味的碱性气体，极"/>
          <p:cNvSpPr txBox="1"/>
          <p:nvPr/>
        </p:nvSpPr>
        <p:spPr>
          <a:xfrm>
            <a:off x="502920" y="2733039"/>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已知：NH₃是无色有强烈刺激性气味的碱性气体，极易溶于</a:t>
            </a:r>
          </a:p>
          <a:p>
            <a:pPr>
              <a:lnSpc>
                <a:spcPct val="112000"/>
              </a:lnSpc>
              <a:spcBef>
                <a:spcPts val="0"/>
              </a:spcBef>
              <a:spcAft>
                <a:spcPts val="0"/>
              </a:spcAft>
              <a:defRPr sz="1600" b="0">
                <a:solidFill>
                  <a:srgbClr val="333333"/>
                </a:solidFill>
                <a:latin typeface="微软雅黑"/>
              </a:defRPr>
            </a:pPr>
            <a:r>
              <a:rPr>
                <a:ea typeface="微软雅黑"/>
              </a:rPr>
              <a:t>水。</a:t>
            </a:r>
          </a:p>
        </p:txBody>
      </p:sp>
      <p:sp>
        <p:nvSpPr>
          <p:cNvPr id="11" name="文字_I.原理分析"/>
          <p:cNvSpPr txBox="1"/>
          <p:nvPr/>
        </p:nvSpPr>
        <p:spPr>
          <a:xfrm>
            <a:off x="502920" y="326745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I.原理分析</a:t>
            </a:r>
          </a:p>
        </p:txBody>
      </p:sp>
      <p:sp>
        <p:nvSpPr>
          <p:cNvPr id="12" name="文字_(1）碳酸氢铵与饱和食盐水反应，能析出碳酸氢钠晶"/>
          <p:cNvSpPr txBox="1"/>
          <p:nvPr/>
        </p:nvSpPr>
        <p:spPr>
          <a:xfrm>
            <a:off x="502920" y="3560063"/>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(1）碳酸氢铵与饱和食盐水反应，能析出碳酸氢钠晶体的原</a:t>
            </a:r>
          </a:p>
          <a:p>
            <a:pPr>
              <a:lnSpc>
                <a:spcPct val="112000"/>
              </a:lnSpc>
              <a:spcBef>
                <a:spcPts val="0"/>
              </a:spcBef>
              <a:spcAft>
                <a:spcPts val="0"/>
              </a:spcAft>
              <a:defRPr sz="1600" b="0">
                <a:solidFill>
                  <a:srgbClr val="333333"/>
                </a:solidFill>
                <a:latin typeface="微软雅黑"/>
              </a:defRPr>
            </a:pPr>
            <a:r>
              <a:rPr>
                <a:ea typeface="微软雅黑"/>
              </a:rPr>
              <a:t>因是 ______ o</a:t>
            </a:r>
          </a:p>
        </p:txBody>
      </p:sp>
      <p:sp>
        <p:nvSpPr>
          <p:cNvPr id="13" name="文字_a碳酸氢钠难溶于水b碳酸氢钠受热易分解c碳酸氢钠"/>
          <p:cNvSpPr txBox="1"/>
          <p:nvPr/>
        </p:nvSpPr>
        <p:spPr>
          <a:xfrm>
            <a:off x="502920" y="4094479"/>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a碳酸氢钠难溶于水b碳酸氢钠受热易分解c碳酸氢钠的溶解</a:t>
            </a:r>
          </a:p>
          <a:p>
            <a:pPr>
              <a:lnSpc>
                <a:spcPct val="112000"/>
              </a:lnSpc>
              <a:spcBef>
                <a:spcPts val="0"/>
              </a:spcBef>
              <a:spcAft>
                <a:spcPts val="0"/>
              </a:spcAft>
              <a:defRPr sz="1600" b="0">
                <a:solidFill>
                  <a:srgbClr val="333333"/>
                </a:solidFill>
                <a:latin typeface="微软雅黑"/>
              </a:defRPr>
            </a:pPr>
            <a:r>
              <a:rPr>
                <a:ea typeface="微软雅黑"/>
              </a:rPr>
              <a:t>度相对较小，在溶液中首先结晶析出</a:t>
            </a:r>
          </a:p>
        </p:txBody>
      </p:sp>
      <p:sp>
        <p:nvSpPr>
          <p:cNvPr id="14" name="文字_ⅡI.实验探究"/>
          <p:cNvSpPr txBox="1"/>
          <p:nvPr/>
        </p:nvSpPr>
        <p:spPr>
          <a:xfrm>
            <a:off x="502920" y="462889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ⅡI.实验探究</a:t>
            </a:r>
          </a:p>
        </p:txBody>
      </p:sp>
      <p:sp>
        <p:nvSpPr>
          <p:cNvPr id="15" name="文字_(2）一位同学将二氧化碳气体通入含氨的饱和食盐水"/>
          <p:cNvSpPr txBox="1"/>
          <p:nvPr/>
        </p:nvSpPr>
        <p:spPr>
          <a:xfrm>
            <a:off x="6263640" y="1078992"/>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(2）一位同学将二氧化碳气体通入含氨的饱和食盐水中制备</a:t>
            </a:r>
          </a:p>
          <a:p>
            <a:pPr>
              <a:lnSpc>
                <a:spcPct val="112000"/>
              </a:lnSpc>
              <a:spcBef>
                <a:spcPts val="0"/>
              </a:spcBef>
              <a:spcAft>
                <a:spcPts val="0"/>
              </a:spcAft>
              <a:defRPr sz="1600" b="0">
                <a:solidFill>
                  <a:srgbClr val="333333"/>
                </a:solidFill>
                <a:latin typeface="微软雅黑"/>
              </a:defRPr>
            </a:pPr>
            <a:r>
              <a:rPr>
                <a:ea typeface="微软雅黑"/>
              </a:rPr>
              <a:t>碳酸氢钠，实验装置如图所示（图中夹持、固定用的</a:t>
            </a:r>
          </a:p>
        </p:txBody>
      </p:sp>
      <p:pic>
        <p:nvPicPr>
          <p:cNvPr id="16" name="Picture 15" descr="image.png"/>
          <p:cNvPicPr>
            <a:picLocks noChangeAspect="1"/>
          </p:cNvPicPr>
          <p:nvPr/>
        </p:nvPicPr>
        <p:blipFill>
          <a:blip r:embed="rId3"/>
          <a:stretch>
            <a:fillRect/>
          </a:stretch>
        </p:blipFill>
        <p:spPr>
          <a:xfrm>
            <a:off x="6263640" y="1613408"/>
            <a:ext cx="5376672" cy="1704163"/>
          </a:xfrm>
          <a:prstGeom prst="rect">
            <a:avLst/>
          </a:prstGeom>
        </p:spPr>
      </p:pic>
      <p:sp>
        <p:nvSpPr>
          <p:cNvPr id="17" name="原题文字_100_42"/>
          <p:cNvSpPr txBox="1"/>
          <p:nvPr/>
        </p:nvSpPr>
        <p:spPr>
          <a:xfrm>
            <a:off x="6304569" y="1625611"/>
            <a:ext cx="687413"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仪器未画出)。</a:t>
            </a:r>
          </a:p>
        </p:txBody>
      </p:sp>
      <p:sp>
        <p:nvSpPr>
          <p:cNvPr id="18" name="原题文字_100_43"/>
          <p:cNvSpPr txBox="1"/>
          <p:nvPr/>
        </p:nvSpPr>
        <p:spPr>
          <a:xfrm>
            <a:off x="6650611" y="1860027"/>
            <a:ext cx="661367" cy="198322"/>
          </a:xfrm>
          <a:prstGeom prst="rect">
            <a:avLst/>
          </a:prstGeom>
          <a:noFill/>
        </p:spPr>
        <p:txBody>
          <a:bodyPr wrap="none" lIns="0" rIns="0" tIns="0" bIns="0">
            <a:spAutoFit/>
          </a:bodyPr>
          <a:lstStyle/>
          <a:p>
            <a:pPr>
              <a:lnSpc>
                <a:spcPct val="112000"/>
              </a:lnSpc>
              <a:spcBef>
                <a:spcPts val="0"/>
              </a:spcBef>
              <a:spcAft>
                <a:spcPts val="0"/>
              </a:spcAft>
              <a:defRPr sz="913" b="0">
                <a:solidFill>
                  <a:srgbClr val="333333"/>
                </a:solidFill>
                <a:latin typeface="微软雅黑"/>
              </a:defRPr>
            </a:pPr>
            <a:r>
              <a:rPr>
                <a:ea typeface="微软雅黑"/>
              </a:rPr>
              <a:t>6mol/L 盐酸</a:t>
            </a:r>
          </a:p>
        </p:txBody>
      </p:sp>
      <p:sp>
        <p:nvSpPr>
          <p:cNvPr id="19" name="原题文字_100_44"/>
          <p:cNvSpPr txBox="1"/>
          <p:nvPr/>
        </p:nvSpPr>
        <p:spPr>
          <a:xfrm>
            <a:off x="6412475" y="2261882"/>
            <a:ext cx="173932"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一</a:t>
            </a:r>
          </a:p>
        </p:txBody>
      </p:sp>
      <p:sp>
        <p:nvSpPr>
          <p:cNvPr id="20" name="原题文字_100_45"/>
          <p:cNvSpPr txBox="1"/>
          <p:nvPr/>
        </p:nvSpPr>
        <p:spPr>
          <a:xfrm>
            <a:off x="6914794" y="2243277"/>
            <a:ext cx="278116" cy="232182"/>
          </a:xfrm>
          <a:prstGeom prst="rect">
            <a:avLst/>
          </a:prstGeom>
          <a:noFill/>
        </p:spPr>
        <p:txBody>
          <a:bodyPr wrap="none" lIns="0" rIns="0" tIns="0" bIns="0">
            <a:spAutoFit/>
          </a:bodyPr>
          <a:lstStyle/>
          <a:p>
            <a:pPr>
              <a:lnSpc>
                <a:spcPct val="112000"/>
              </a:lnSpc>
              <a:spcBef>
                <a:spcPts val="0"/>
              </a:spcBef>
              <a:spcAft>
                <a:spcPts val="0"/>
              </a:spcAft>
              <a:defRPr sz="1125" b="0">
                <a:solidFill>
                  <a:srgbClr val="333333"/>
                </a:solidFill>
                <a:latin typeface="微软雅黑"/>
              </a:defRPr>
            </a:pPr>
            <a:r>
              <a:rPr>
                <a:ea typeface="微软雅黑"/>
              </a:rPr>
              <a:t>一</a:t>
            </a:r>
          </a:p>
        </p:txBody>
      </p:sp>
      <p:sp>
        <p:nvSpPr>
          <p:cNvPr id="21" name="原题文字_100_46"/>
          <p:cNvSpPr txBox="1"/>
          <p:nvPr/>
        </p:nvSpPr>
        <p:spPr>
          <a:xfrm>
            <a:off x="7167813" y="2347462"/>
            <a:ext cx="222303" cy="536923"/>
          </a:xfrm>
          <a:prstGeom prst="rect">
            <a:avLst/>
          </a:prstGeom>
          <a:noFill/>
        </p:spPr>
        <p:txBody>
          <a:bodyPr wrap="none" lIns="0" rIns="0" tIns="0" bIns="0">
            <a:spAutoFit/>
          </a:bodyPr>
          <a:lstStyle/>
          <a:p>
            <a:pPr>
              <a:lnSpc>
                <a:spcPct val="112000"/>
              </a:lnSpc>
              <a:spcBef>
                <a:spcPts val="0"/>
              </a:spcBef>
              <a:spcAft>
                <a:spcPts val="0"/>
              </a:spcAft>
              <a:defRPr sz="1717" b="0">
                <a:solidFill>
                  <a:srgbClr val="333333"/>
                </a:solidFill>
                <a:latin typeface="微软雅黑"/>
              </a:defRPr>
            </a:pPr>
            <a:r>
              <a:rPr>
                <a:ea typeface="微软雅黑"/>
              </a:rPr>
              <a:t>冷却水</a:t>
            </a:r>
          </a:p>
        </p:txBody>
      </p:sp>
      <p:sp>
        <p:nvSpPr>
          <p:cNvPr id="22" name="原题文字_100_47"/>
          <p:cNvSpPr txBox="1"/>
          <p:nvPr/>
        </p:nvSpPr>
        <p:spPr>
          <a:xfrm>
            <a:off x="6378987" y="2660016"/>
            <a:ext cx="229745"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9000</a:t>
            </a:r>
          </a:p>
        </p:txBody>
      </p:sp>
      <p:sp>
        <p:nvSpPr>
          <p:cNvPr id="23" name="原题文字_100_48"/>
          <p:cNvSpPr txBox="1"/>
          <p:nvPr/>
        </p:nvSpPr>
        <p:spPr>
          <a:xfrm>
            <a:off x="8179893" y="2726992"/>
            <a:ext cx="479044"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一稀硫酸</a:t>
            </a:r>
          </a:p>
        </p:txBody>
      </p:sp>
      <p:sp>
        <p:nvSpPr>
          <p:cNvPr id="24" name="原题文字_100_49"/>
          <p:cNvSpPr txBox="1"/>
          <p:nvPr/>
        </p:nvSpPr>
        <p:spPr>
          <a:xfrm>
            <a:off x="6289686" y="2812572"/>
            <a:ext cx="389743" cy="217671"/>
          </a:xfrm>
          <a:prstGeom prst="rect">
            <a:avLst/>
          </a:prstGeom>
          <a:noFill/>
        </p:spPr>
        <p:txBody>
          <a:bodyPr wrap="none" lIns="0" rIns="0" tIns="0" bIns="0">
            <a:spAutoFit/>
          </a:bodyPr>
          <a:lstStyle/>
          <a:p>
            <a:pPr>
              <a:lnSpc>
                <a:spcPct val="112000"/>
              </a:lnSpc>
              <a:spcBef>
                <a:spcPts val="0"/>
              </a:spcBef>
              <a:spcAft>
                <a:spcPts val="0"/>
              </a:spcAft>
              <a:defRPr sz="878" b="0">
                <a:solidFill>
                  <a:srgbClr val="333333"/>
                </a:solidFill>
                <a:latin typeface="微软雅黑"/>
              </a:defRPr>
            </a:pPr>
            <a:r>
              <a:rPr>
                <a:ea typeface="微软雅黑"/>
              </a:rPr>
              <a:t>CaCO₃</a:t>
            </a:r>
          </a:p>
        </p:txBody>
      </p:sp>
      <p:sp>
        <p:nvSpPr>
          <p:cNvPr id="25" name="原题文字_100_50"/>
          <p:cNvSpPr txBox="1"/>
          <p:nvPr/>
        </p:nvSpPr>
        <p:spPr>
          <a:xfrm>
            <a:off x="7067350" y="2909315"/>
            <a:ext cx="951596"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含氨的饱和食盐水</a:t>
            </a:r>
          </a:p>
        </p:txBody>
      </p:sp>
      <p:sp>
        <p:nvSpPr>
          <p:cNvPr id="26" name="原题文字_100_51"/>
          <p:cNvSpPr txBox="1"/>
          <p:nvPr/>
        </p:nvSpPr>
        <p:spPr>
          <a:xfrm>
            <a:off x="6360382" y="3024662"/>
            <a:ext cx="203699" cy="198322"/>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甲</a:t>
            </a:r>
          </a:p>
        </p:txBody>
      </p:sp>
      <p:sp>
        <p:nvSpPr>
          <p:cNvPr id="27" name="原题文字_100_52"/>
          <p:cNvSpPr txBox="1"/>
          <p:nvPr/>
        </p:nvSpPr>
        <p:spPr>
          <a:xfrm>
            <a:off x="6937119" y="3039546"/>
            <a:ext cx="188815"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乙</a:t>
            </a:r>
          </a:p>
        </p:txBody>
      </p:sp>
      <p:sp>
        <p:nvSpPr>
          <p:cNvPr id="28" name="原题文字_100_53"/>
          <p:cNvSpPr txBox="1"/>
          <p:nvPr/>
        </p:nvSpPr>
        <p:spPr>
          <a:xfrm>
            <a:off x="7428275" y="3035825"/>
            <a:ext cx="214861"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丙</a:t>
            </a:r>
          </a:p>
        </p:txBody>
      </p:sp>
      <p:sp>
        <p:nvSpPr>
          <p:cNvPr id="29" name="原题文字_100_54"/>
          <p:cNvSpPr txBox="1"/>
          <p:nvPr/>
        </p:nvSpPr>
        <p:spPr>
          <a:xfrm>
            <a:off x="7897106" y="3039546"/>
            <a:ext cx="211140"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丁</a:t>
            </a:r>
          </a:p>
        </p:txBody>
      </p:sp>
      <p:sp>
        <p:nvSpPr>
          <p:cNvPr id="30" name="原题文字_100_55"/>
          <p:cNvSpPr txBox="1"/>
          <p:nvPr/>
        </p:nvSpPr>
        <p:spPr>
          <a:xfrm>
            <a:off x="6308290" y="3177218"/>
            <a:ext cx="940433"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回答下列有关问题：</a:t>
            </a:r>
          </a:p>
        </p:txBody>
      </p:sp>
      <p:sp>
        <p:nvSpPr>
          <p:cNvPr id="31" name="文字_a.乙装置中的试剂是 ______ ；该试剂的目"/>
          <p:cNvSpPr txBox="1"/>
          <p:nvPr/>
        </p:nvSpPr>
        <p:spPr>
          <a:xfrm>
            <a:off x="6263640" y="3390723"/>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a.乙装置中的试剂是 ______ ；该试剂的目的：</a:t>
            </a:r>
          </a:p>
        </p:txBody>
      </p:sp>
      <p:sp>
        <p:nvSpPr>
          <p:cNvPr id="32" name="文字_b.丁装置中稀硫酸的作用是 ______ .n"/>
          <p:cNvSpPr txBox="1"/>
          <p:nvPr/>
        </p:nvSpPr>
        <p:spPr>
          <a:xfrm>
            <a:off x="6263640" y="3683331"/>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b.丁装置中稀硫酸的作用是 ______ .n</a:t>
            </a:r>
          </a:p>
        </p:txBody>
      </p:sp>
      <p:sp>
        <p:nvSpPr>
          <p:cNvPr id="33" name="文字_c.实验结束后，分离出NaHCO₃晶体的操作是 "/>
          <p:cNvSpPr txBox="1"/>
          <p:nvPr/>
        </p:nvSpPr>
        <p:spPr>
          <a:xfrm>
            <a:off x="6263640" y="3975939"/>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c.实验结束后，分离出NaHCO₃晶体的操作是 ______ (填分</a:t>
            </a:r>
          </a:p>
          <a:p>
            <a:pPr>
              <a:lnSpc>
                <a:spcPct val="112000"/>
              </a:lnSpc>
              <a:spcBef>
                <a:spcPts val="0"/>
              </a:spcBef>
              <a:spcAft>
                <a:spcPts val="0"/>
              </a:spcAft>
              <a:defRPr sz="1600" b="0">
                <a:solidFill>
                  <a:srgbClr val="333333"/>
                </a:solidFill>
                <a:latin typeface="微软雅黑"/>
              </a:defRPr>
            </a:pPr>
            <a:r>
              <a:rPr>
                <a:ea typeface="微软雅黑"/>
              </a:rPr>
              <a:t>离操作的名称)。</a:t>
            </a:r>
          </a:p>
        </p:txBody>
      </p:sp>
      <p:sp>
        <p:nvSpPr>
          <p:cNvPr id="34" name="文字_解答题  ·  04-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04-046</a:t>
            </a:r>
          </a:p>
        </p:txBody>
      </p:sp>
      <p:sp>
        <p:nvSpPr>
          <p:cNvPr id="35"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巩固1</a:t>
            </a:r>
          </a:p>
        </p:txBody>
      </p:sp>
      <p:sp>
        <p:nvSpPr>
          <p:cNvPr id="5" name="文字_P1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P101</a:t>
            </a:r>
          </a:p>
        </p:txBody>
      </p:sp>
      <p:sp>
        <p:nvSpPr>
          <p:cNvPr id="6" name="文字_金属钠是一种活泼金属，除了具有金属的一般性质外，"/>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金属钠是一种活泼金属，除了具有金属的一般性质外，还具有自己的特性。下列关</a:t>
            </a:r>
          </a:p>
          <a:p>
            <a:pPr>
              <a:lnSpc>
                <a:spcPct val="112000"/>
              </a:lnSpc>
              <a:spcBef>
                <a:spcPts val="0"/>
              </a:spcBef>
              <a:spcAft>
                <a:spcPts val="0"/>
              </a:spcAft>
              <a:defRPr sz="2400" b="0">
                <a:solidFill>
                  <a:srgbClr val="333333"/>
                </a:solidFill>
                <a:latin typeface="微软雅黑"/>
              </a:defRPr>
            </a:pPr>
            <a:r>
              <a:rPr>
                <a:ea typeface="微软雅黑"/>
              </a:rPr>
              <a:t>于钠的叙述中，正确的是</a:t>
            </a:r>
          </a:p>
        </p:txBody>
      </p:sp>
      <p:sp>
        <p:nvSpPr>
          <p:cNvPr id="7" name="文字_A. 钠是银白色金属，硬度大"/>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钠是银白色金属，硬度大</a:t>
            </a:r>
          </a:p>
        </p:txBody>
      </p:sp>
      <p:sp>
        <p:nvSpPr>
          <p:cNvPr id="8" name="文字_B. 钠放置在空气中，会迅速被氧化而生成淡黄色的"/>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钠放置在空气中，会迅速被氧化而生成淡黄色的过氧化钠</a:t>
            </a:r>
          </a:p>
        </p:txBody>
      </p:sp>
      <p:sp>
        <p:nvSpPr>
          <p:cNvPr id="9" name="文字_C. 在氧气中加热时，金属钠剧烈燃烧，发出黄色火"/>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在氧气中加热时，金属钠剧烈燃烧，发出黄色火焰</a:t>
            </a:r>
          </a:p>
        </p:txBody>
      </p:sp>
      <p:sp>
        <p:nvSpPr>
          <p:cNvPr id="10" name="文字_D. 金属钠着火可以用水灭火"/>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金属钠着火可以用水灭火</a:t>
            </a:r>
          </a:p>
        </p:txBody>
      </p:sp>
      <p:sp>
        <p:nvSpPr>
          <p:cNvPr id="11" name="文字_单选题  ·  04-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04-047</a:t>
            </a:r>
          </a:p>
        </p:txBody>
      </p:sp>
      <p:sp>
        <p:nvSpPr>
          <p:cNvPr id="12" name="文字_6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巩固2</a:t>
            </a:r>
          </a:p>
        </p:txBody>
      </p:sp>
      <p:sp>
        <p:nvSpPr>
          <p:cNvPr id="5" name="文字_P1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P101</a:t>
            </a:r>
          </a:p>
        </p:txBody>
      </p:sp>
      <p:sp>
        <p:nvSpPr>
          <p:cNvPr id="6" name="文字_有关焰色反应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有关焰色反应的说法正确的是（）</a:t>
            </a:r>
          </a:p>
        </p:txBody>
      </p:sp>
      <p:sp>
        <p:nvSpPr>
          <p:cNvPr id="7" name="文字_A. 焰色反应是金属单质表现的性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焰色反应是金属单质表现的性质</a:t>
            </a:r>
          </a:p>
        </p:txBody>
      </p:sp>
      <p:sp>
        <p:nvSpPr>
          <p:cNvPr id="8" name="文字_B. 焰色反应是因为发生了化学变化而产生的"/>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焰色反应是因为发生了化学变化而产生的</a:t>
            </a:r>
          </a:p>
        </p:txBody>
      </p:sp>
      <p:sp>
        <p:nvSpPr>
          <p:cNvPr id="9" name="文字_C. 焰色反应看到黄色火焰并不能确定该物质一定不"/>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焰色反应看到黄色火焰并不能确定该物质一定不含钾元素</a:t>
            </a:r>
          </a:p>
        </p:txBody>
      </p:sp>
      <p:sp>
        <p:nvSpPr>
          <p:cNvPr id="10" name="文字_D. 洗涤焰色反应中用到的铂丝可用稀硫酸代替稀盐"/>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洗涤焰色反应中用到的铂丝可用稀硫酸代替稀盐酸</a:t>
            </a:r>
          </a:p>
        </p:txBody>
      </p:sp>
      <p:sp>
        <p:nvSpPr>
          <p:cNvPr id="11" name="文字_单选题  ·  04-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04-048</a:t>
            </a:r>
          </a:p>
        </p:txBody>
      </p:sp>
      <p:sp>
        <p:nvSpPr>
          <p:cNvPr id="12" name="文字_6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巩固3</a:t>
            </a:r>
          </a:p>
        </p:txBody>
      </p:sp>
      <p:sp>
        <p:nvSpPr>
          <p:cNvPr id="5" name="文字_P1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P101</a:t>
            </a:r>
          </a:p>
        </p:txBody>
      </p:sp>
      <p:sp>
        <p:nvSpPr>
          <p:cNvPr id="6" name="文字_观察是研究物质性质的基本方法。一同学将一小块金属"/>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观察是研究物质性质的基本方法。一同学将一小块金属钠露置于空气中，观察到下</a:t>
            </a:r>
          </a:p>
          <a:p>
            <a:pPr>
              <a:lnSpc>
                <a:spcPct val="112000"/>
              </a:lnSpc>
              <a:spcBef>
                <a:spcPts val="0"/>
              </a:spcBef>
              <a:spcAft>
                <a:spcPts val="0"/>
              </a:spcAft>
              <a:defRPr sz="2400" b="0">
                <a:solidFill>
                  <a:srgbClr val="333333"/>
                </a:solidFill>
                <a:latin typeface="微软雅黑"/>
              </a:defRPr>
            </a:pPr>
            <a:r>
              <a:rPr>
                <a:ea typeface="微软雅黑"/>
              </a:rPr>
              <a:t>列现象：银白色①变灰暗</a:t>
            </a:r>
          </a:p>
        </p:txBody>
      </p:sp>
      <p:sp>
        <p:nvSpPr>
          <p:cNvPr id="7" name="文字_②变白色③表面潮湿④白色固体，下列说法不正确的是"/>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②变白色③表面潮湿④白色固体，下列说法不正确的是</a:t>
            </a:r>
          </a:p>
        </p:txBody>
      </p:sp>
      <p:sp>
        <p:nvSpPr>
          <p:cNvPr id="8" name="文字_A. ①中钠发生了氧化反应"/>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①中钠发生了氧化反应</a:t>
            </a:r>
          </a:p>
        </p:txBody>
      </p:sp>
      <p:sp>
        <p:nvSpPr>
          <p:cNvPr id="9" name="文字_B. ②变白色是因为生成了氢氧化钠"/>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②变白色是因为生成了氢氧化钠</a:t>
            </a:r>
          </a:p>
        </p:txBody>
      </p:sp>
      <p:sp>
        <p:nvSpPr>
          <p:cNvPr id="10" name="文字_C. ③发生物理变化"/>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③发生物理变化</a:t>
            </a:r>
          </a:p>
        </p:txBody>
      </p:sp>
      <p:sp>
        <p:nvSpPr>
          <p:cNvPr id="11" name="文字_D. ④生成了碳酸氢钠"/>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④生成了碳酸氢钠</a:t>
            </a:r>
          </a:p>
        </p:txBody>
      </p:sp>
      <p:sp>
        <p:nvSpPr>
          <p:cNvPr id="12" name="文字_单选题  ·  04-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04-049</a:t>
            </a:r>
          </a:p>
        </p:txBody>
      </p:sp>
      <p:sp>
        <p:nvSpPr>
          <p:cNvPr id="13" name="文字_6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巩固4</a:t>
            </a:r>
          </a:p>
        </p:txBody>
      </p:sp>
      <p:sp>
        <p:nvSpPr>
          <p:cNvPr id="5" name="文字_P1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P101</a:t>
            </a:r>
          </a:p>
        </p:txBody>
      </p:sp>
      <p:sp>
        <p:nvSpPr>
          <p:cNvPr id="6" name="文字_侯德榜是我国近代化学工业的奠基人之一。侯氏制碱法"/>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侯德榜是我国近代化学工业的奠基人之一。侯氏制碱法的流程如下图所示。</a:t>
            </a:r>
          </a:p>
        </p:txBody>
      </p:sp>
      <p:sp>
        <p:nvSpPr>
          <p:cNvPr id="7" name="文字_下列说法不正确的是"/>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下列说法不正确的是</a:t>
            </a:r>
          </a:p>
        </p:txBody>
      </p:sp>
      <p:pic>
        <p:nvPicPr>
          <p:cNvPr id="8" name="Picture 7" descr="image.png"/>
          <p:cNvPicPr>
            <a:picLocks noChangeAspect="1"/>
          </p:cNvPicPr>
          <p:nvPr/>
        </p:nvPicPr>
        <p:blipFill>
          <a:blip r:embed="rId3"/>
          <a:stretch>
            <a:fillRect/>
          </a:stretch>
        </p:blipFill>
        <p:spPr>
          <a:xfrm>
            <a:off x="502920" y="1956816"/>
            <a:ext cx="11064240" cy="2511467"/>
          </a:xfrm>
          <a:prstGeom prst="rect">
            <a:avLst/>
          </a:prstGeom>
        </p:spPr>
      </p:pic>
      <p:sp>
        <p:nvSpPr>
          <p:cNvPr id="9" name="原题文字_101_31"/>
          <p:cNvSpPr txBox="1"/>
          <p:nvPr/>
        </p:nvSpPr>
        <p:spPr>
          <a:xfrm>
            <a:off x="594802" y="2049955"/>
            <a:ext cx="444993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 向饱和食盐水中先通入NH₃再持续通入CO₂</a:t>
            </a:r>
          </a:p>
        </p:txBody>
      </p:sp>
      <p:sp>
        <p:nvSpPr>
          <p:cNvPr id="10" name="原题文字_101_32"/>
          <p:cNvSpPr txBox="1"/>
          <p:nvPr/>
        </p:nvSpPr>
        <p:spPr>
          <a:xfrm>
            <a:off x="8175147" y="1988699"/>
            <a:ext cx="629132" cy="597239"/>
          </a:xfrm>
          <a:prstGeom prst="rect">
            <a:avLst/>
          </a:prstGeom>
          <a:noFill/>
        </p:spPr>
        <p:txBody>
          <a:bodyPr wrap="none" lIns="0" rIns="0" tIns="0" bIns="0">
            <a:spAutoFit/>
          </a:bodyPr>
          <a:lstStyle/>
          <a:p>
            <a:pPr>
              <a:lnSpc>
                <a:spcPct val="112000"/>
              </a:lnSpc>
              <a:spcBef>
                <a:spcPts val="0"/>
              </a:spcBef>
              <a:spcAft>
                <a:spcPts val="0"/>
              </a:spcAft>
              <a:defRPr sz="2278" b="0">
                <a:solidFill>
                  <a:srgbClr val="333333"/>
                </a:solidFill>
                <a:latin typeface="微软雅黑"/>
              </a:defRPr>
            </a:pPr>
            <a:r>
              <a:rPr>
                <a:ea typeface="微软雅黑"/>
              </a:rPr>
              <a:t>CO₂</a:t>
            </a:r>
          </a:p>
        </p:txBody>
      </p:sp>
      <p:sp>
        <p:nvSpPr>
          <p:cNvPr id="11" name="原题文字_101_33"/>
          <p:cNvSpPr txBox="1"/>
          <p:nvPr/>
        </p:nvSpPr>
        <p:spPr>
          <a:xfrm>
            <a:off x="5112381" y="2164808"/>
            <a:ext cx="345826" cy="2010705"/>
          </a:xfrm>
          <a:prstGeom prst="rect">
            <a:avLst/>
          </a:prstGeom>
          <a:noFill/>
        </p:spPr>
        <p:txBody>
          <a:bodyPr wrap="none" lIns="0" rIns="0" tIns="0" bIns="0">
            <a:spAutoFit/>
          </a:bodyPr>
          <a:lstStyle/>
          <a:p>
            <a:pPr>
              <a:lnSpc>
                <a:spcPct val="112000"/>
              </a:lnSpc>
              <a:spcBef>
                <a:spcPts val="0"/>
              </a:spcBef>
              <a:spcAft>
                <a:spcPts val="0"/>
              </a:spcAft>
              <a:defRPr sz="6430" b="0">
                <a:solidFill>
                  <a:srgbClr val="333333"/>
                </a:solidFill>
                <a:latin typeface="微软雅黑"/>
              </a:defRPr>
            </a:pPr>
            <a:r>
              <a:rPr>
                <a:ea typeface="微软雅黑"/>
              </a:rPr>
              <a:t>精制饱和食盐水</a:t>
            </a:r>
          </a:p>
        </p:txBody>
      </p:sp>
      <p:sp>
        <p:nvSpPr>
          <p:cNvPr id="12" name="原题文字_101_34"/>
          <p:cNvSpPr txBox="1"/>
          <p:nvPr/>
        </p:nvSpPr>
        <p:spPr>
          <a:xfrm>
            <a:off x="5809161" y="2272005"/>
            <a:ext cx="437709"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NH</a:t>
            </a:r>
          </a:p>
        </p:txBody>
      </p:sp>
      <p:sp>
        <p:nvSpPr>
          <p:cNvPr id="13" name="原题文字_101_35"/>
          <p:cNvSpPr txBox="1"/>
          <p:nvPr/>
        </p:nvSpPr>
        <p:spPr>
          <a:xfrm>
            <a:off x="6482969" y="2233720"/>
            <a:ext cx="376454"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CO</a:t>
            </a:r>
          </a:p>
        </p:txBody>
      </p:sp>
      <p:sp>
        <p:nvSpPr>
          <p:cNvPr id="14" name="原题文字_101_36"/>
          <p:cNvSpPr txBox="1"/>
          <p:nvPr/>
        </p:nvSpPr>
        <p:spPr>
          <a:xfrm>
            <a:off x="908736" y="2363888"/>
            <a:ext cx="1984406" cy="388205"/>
          </a:xfrm>
          <a:prstGeom prst="rect">
            <a:avLst/>
          </a:prstGeom>
          <a:noFill/>
        </p:spPr>
        <p:txBody>
          <a:bodyPr wrap="none" lIns="0" rIns="0" tIns="0" bIns="0">
            <a:spAutoFit/>
          </a:bodyPr>
          <a:lstStyle/>
          <a:p>
            <a:pPr>
              <a:lnSpc>
                <a:spcPct val="112000"/>
              </a:lnSpc>
              <a:spcBef>
                <a:spcPts val="0"/>
              </a:spcBef>
              <a:spcAft>
                <a:spcPts val="0"/>
              </a:spcAft>
              <a:defRPr sz="1762" b="0">
                <a:solidFill>
                  <a:srgbClr val="333333"/>
                </a:solidFill>
                <a:latin typeface="微软雅黑"/>
              </a:defRPr>
            </a:pPr>
            <a:r>
              <a:rPr>
                <a:ea typeface="微软雅黑"/>
              </a:rPr>
              <a:t>，有利于生成HCO₃</a:t>
            </a:r>
          </a:p>
        </p:txBody>
      </p:sp>
      <p:sp>
        <p:nvSpPr>
          <p:cNvPr id="15" name="原题文字_101_37"/>
          <p:cNvSpPr txBox="1"/>
          <p:nvPr/>
        </p:nvSpPr>
        <p:spPr>
          <a:xfrm>
            <a:off x="571832" y="2746734"/>
            <a:ext cx="446524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B.“碳酸化”过程放出大量的热，有利于提高碳</a:t>
            </a:r>
          </a:p>
        </p:txBody>
      </p:sp>
      <p:sp>
        <p:nvSpPr>
          <p:cNvPr id="16" name="原题文字_101_38"/>
          <p:cNvSpPr txBox="1"/>
          <p:nvPr/>
        </p:nvSpPr>
        <p:spPr>
          <a:xfrm>
            <a:off x="5732591" y="2777361"/>
            <a:ext cx="52193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吸氨</a:t>
            </a:r>
          </a:p>
        </p:txBody>
      </p:sp>
      <p:sp>
        <p:nvSpPr>
          <p:cNvPr id="17" name="原题文字_101_39"/>
          <p:cNvSpPr txBox="1"/>
          <p:nvPr/>
        </p:nvSpPr>
        <p:spPr>
          <a:xfrm>
            <a:off x="6567195" y="2785018"/>
            <a:ext cx="72867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碳酸化</a:t>
            </a:r>
          </a:p>
        </p:txBody>
      </p:sp>
      <p:sp>
        <p:nvSpPr>
          <p:cNvPr id="18" name="原题文字_101_40"/>
          <p:cNvSpPr txBox="1"/>
          <p:nvPr/>
        </p:nvSpPr>
        <p:spPr>
          <a:xfrm>
            <a:off x="7554937" y="2769704"/>
            <a:ext cx="56787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过滤</a:t>
            </a:r>
          </a:p>
        </p:txBody>
      </p:sp>
      <p:sp>
        <p:nvSpPr>
          <p:cNvPr id="19" name="原题文字_101_41"/>
          <p:cNvSpPr txBox="1"/>
          <p:nvPr/>
        </p:nvSpPr>
        <p:spPr>
          <a:xfrm>
            <a:off x="8420168" y="2700792"/>
            <a:ext cx="78992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NaHCO</a:t>
            </a:r>
          </a:p>
        </p:txBody>
      </p:sp>
      <p:sp>
        <p:nvSpPr>
          <p:cNvPr id="20" name="原题文字_101_42"/>
          <p:cNvSpPr txBox="1"/>
          <p:nvPr/>
        </p:nvSpPr>
        <p:spPr>
          <a:xfrm>
            <a:off x="9606990" y="2762048"/>
            <a:ext cx="583191"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煅烧</a:t>
            </a:r>
          </a:p>
        </p:txBody>
      </p:sp>
      <p:sp>
        <p:nvSpPr>
          <p:cNvPr id="21" name="原题文字_101_43"/>
          <p:cNvSpPr txBox="1"/>
          <p:nvPr/>
        </p:nvSpPr>
        <p:spPr>
          <a:xfrm>
            <a:off x="10066404" y="2762048"/>
            <a:ext cx="1203401" cy="428021"/>
          </a:xfrm>
          <a:prstGeom prst="rect">
            <a:avLst/>
          </a:prstGeom>
          <a:noFill/>
        </p:spPr>
        <p:txBody>
          <a:bodyPr wrap="none" lIns="0" rIns="0" tIns="0" bIns="0">
            <a:spAutoFit/>
          </a:bodyPr>
          <a:lstStyle/>
          <a:p>
            <a:pPr>
              <a:lnSpc>
                <a:spcPct val="112000"/>
              </a:lnSpc>
              <a:spcBef>
                <a:spcPts val="0"/>
              </a:spcBef>
              <a:spcAft>
                <a:spcPts val="0"/>
              </a:spcAft>
              <a:defRPr sz="1921" b="0">
                <a:solidFill>
                  <a:srgbClr val="333333"/>
                </a:solidFill>
                <a:latin typeface="微软雅黑"/>
              </a:defRPr>
            </a:pPr>
            <a:r>
              <a:rPr>
                <a:ea typeface="微软雅黑"/>
              </a:rPr>
              <a:t>Na₂CO₃₃</a:t>
            </a:r>
          </a:p>
        </p:txBody>
      </p:sp>
      <p:sp>
        <p:nvSpPr>
          <p:cNvPr id="22" name="原题文字_101_44"/>
          <p:cNvSpPr txBox="1"/>
          <p:nvPr/>
        </p:nvSpPr>
        <p:spPr>
          <a:xfrm>
            <a:off x="8565649" y="2861587"/>
            <a:ext cx="583191"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沉淀</a:t>
            </a:r>
          </a:p>
        </p:txBody>
      </p:sp>
      <p:sp>
        <p:nvSpPr>
          <p:cNvPr id="23" name="原题文字_101_45"/>
          <p:cNvSpPr txBox="1"/>
          <p:nvPr/>
        </p:nvSpPr>
        <p:spPr>
          <a:xfrm>
            <a:off x="908736" y="3083638"/>
            <a:ext cx="3286081"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酸化的速率和NaHCO₃的直接析出</a:t>
            </a:r>
          </a:p>
        </p:txBody>
      </p:sp>
      <p:sp>
        <p:nvSpPr>
          <p:cNvPr id="24" name="原题文字_101_46"/>
          <p:cNvSpPr txBox="1"/>
          <p:nvPr/>
        </p:nvSpPr>
        <p:spPr>
          <a:xfrm>
            <a:off x="5686650" y="3328659"/>
            <a:ext cx="629132"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母液2</a:t>
            </a:r>
          </a:p>
        </p:txBody>
      </p:sp>
      <p:sp>
        <p:nvSpPr>
          <p:cNvPr id="25" name="原题文字_101_47"/>
          <p:cNvSpPr txBox="1"/>
          <p:nvPr/>
        </p:nvSpPr>
        <p:spPr>
          <a:xfrm>
            <a:off x="7554937" y="3328659"/>
            <a:ext cx="613818"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母液1</a:t>
            </a:r>
          </a:p>
        </p:txBody>
      </p:sp>
      <p:sp>
        <p:nvSpPr>
          <p:cNvPr id="26" name="原题文字_101_48"/>
          <p:cNvSpPr txBox="1"/>
          <p:nvPr/>
        </p:nvSpPr>
        <p:spPr>
          <a:xfrm>
            <a:off x="594802" y="3458827"/>
            <a:ext cx="222942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C. 母液1吸氨后，发生</a:t>
            </a:r>
          </a:p>
        </p:txBody>
      </p:sp>
      <p:sp>
        <p:nvSpPr>
          <p:cNvPr id="27" name="原题文字_101_49"/>
          <p:cNvSpPr txBox="1"/>
          <p:nvPr/>
        </p:nvSpPr>
        <p:spPr>
          <a:xfrm>
            <a:off x="5893387" y="3619622"/>
            <a:ext cx="230973"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a:t>
            </a:r>
          </a:p>
        </p:txBody>
      </p:sp>
      <p:sp>
        <p:nvSpPr>
          <p:cNvPr id="28" name="原题文字_101_50"/>
          <p:cNvSpPr txBox="1"/>
          <p:nvPr/>
        </p:nvSpPr>
        <p:spPr>
          <a:xfrm>
            <a:off x="878108" y="3772760"/>
            <a:ext cx="4220224" cy="408113"/>
          </a:xfrm>
          <a:prstGeom prst="rect">
            <a:avLst/>
          </a:prstGeom>
          <a:noFill/>
        </p:spPr>
        <p:txBody>
          <a:bodyPr wrap="none" lIns="0" rIns="0" tIns="0" bIns="0">
            <a:spAutoFit/>
          </a:bodyPr>
          <a:lstStyle/>
          <a:p>
            <a:pPr>
              <a:lnSpc>
                <a:spcPct val="112000"/>
              </a:lnSpc>
              <a:spcBef>
                <a:spcPts val="0"/>
              </a:spcBef>
              <a:spcAft>
                <a:spcPts val="0"/>
              </a:spcAft>
              <a:defRPr sz="1580" b="0">
                <a:solidFill>
                  <a:srgbClr val="333333"/>
                </a:solidFill>
                <a:latin typeface="微软雅黑"/>
              </a:defRPr>
            </a:pPr>
            <a:r>
              <a:rPr>
                <a:ea typeface="微软雅黑"/>
              </a:rPr>
              <a:t>HCO₃ + NH₃ · H₂O = NH+ + CO₂⁻ + H₂O</a:t>
            </a:r>
          </a:p>
        </p:txBody>
      </p:sp>
      <p:sp>
        <p:nvSpPr>
          <p:cNvPr id="29" name="原题文字_101_51"/>
          <p:cNvSpPr txBox="1"/>
          <p:nvPr/>
        </p:nvSpPr>
        <p:spPr>
          <a:xfrm>
            <a:off x="5724935" y="3910585"/>
            <a:ext cx="537249"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盐析</a:t>
            </a:r>
          </a:p>
        </p:txBody>
      </p:sp>
      <p:sp>
        <p:nvSpPr>
          <p:cNvPr id="30" name="原题文字_101_52"/>
          <p:cNvSpPr txBox="1"/>
          <p:nvPr/>
        </p:nvSpPr>
        <p:spPr>
          <a:xfrm>
            <a:off x="6620793" y="3910585"/>
            <a:ext cx="567877"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冷析</a:t>
            </a:r>
          </a:p>
        </p:txBody>
      </p:sp>
      <p:sp>
        <p:nvSpPr>
          <p:cNvPr id="31" name="原题文字_101_53"/>
          <p:cNvSpPr txBox="1"/>
          <p:nvPr/>
        </p:nvSpPr>
        <p:spPr>
          <a:xfrm>
            <a:off x="7570251" y="3902928"/>
            <a:ext cx="55256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吸氨</a:t>
            </a:r>
          </a:p>
        </p:txBody>
      </p:sp>
      <p:sp>
        <p:nvSpPr>
          <p:cNvPr id="32" name="原题文字_101_54"/>
          <p:cNvSpPr txBox="1"/>
          <p:nvPr/>
        </p:nvSpPr>
        <p:spPr>
          <a:xfrm>
            <a:off x="8014352" y="3895271"/>
            <a:ext cx="82055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←NH₃</a:t>
            </a:r>
          </a:p>
        </p:txBody>
      </p:sp>
      <p:sp>
        <p:nvSpPr>
          <p:cNvPr id="33" name="原题文字_101_55"/>
          <p:cNvSpPr txBox="1"/>
          <p:nvPr/>
        </p:nvSpPr>
        <p:spPr>
          <a:xfrm>
            <a:off x="571832" y="4163263"/>
            <a:ext cx="4434618" cy="338435"/>
          </a:xfrm>
          <a:prstGeom prst="rect">
            <a:avLst/>
          </a:prstGeom>
          <a:noFill/>
        </p:spPr>
        <p:txBody>
          <a:bodyPr wrap="none" lIns="0" rIns="0" tIns="0" bIns="0">
            <a:spAutoFit/>
          </a:bodyPr>
          <a:lstStyle/>
          <a:p>
            <a:pPr>
              <a:lnSpc>
                <a:spcPct val="112000"/>
              </a:lnSpc>
              <a:spcBef>
                <a:spcPts val="0"/>
              </a:spcBef>
              <a:spcAft>
                <a:spcPts val="0"/>
              </a:spcAft>
              <a:defRPr sz="1607" b="0">
                <a:solidFill>
                  <a:srgbClr val="333333"/>
                </a:solidFill>
                <a:latin typeface="微软雅黑"/>
              </a:defRPr>
            </a:pPr>
            <a:r>
              <a:rPr>
                <a:ea typeface="微软雅黑"/>
              </a:rPr>
              <a:t>D.“冷析”过程析出NH₄Cl，有利于“盐析”时补</a:t>
            </a:r>
          </a:p>
        </p:txBody>
      </p:sp>
      <p:sp>
        <p:nvSpPr>
          <p:cNvPr id="34" name="文字_加的NaCl固体溶解 ______ NaCi固体"/>
          <p:cNvSpPr txBox="1"/>
          <p:nvPr/>
        </p:nvSpPr>
        <p:spPr>
          <a:xfrm>
            <a:off x="502920" y="454143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加的NaCl固体溶解 ______ NaCi固体 NHCl沉淀</a:t>
            </a:r>
          </a:p>
        </p:txBody>
      </p:sp>
      <p:sp>
        <p:nvSpPr>
          <p:cNvPr id="35" name="文字_单选题  ·  04-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04-050</a:t>
            </a:r>
          </a:p>
        </p:txBody>
      </p:sp>
      <p:sp>
        <p:nvSpPr>
          <p:cNvPr id="36" name="文字_6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巩固5</a:t>
            </a:r>
          </a:p>
        </p:txBody>
      </p:sp>
      <p:sp>
        <p:nvSpPr>
          <p:cNvPr id="5" name="文字_P1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P102</a:t>
            </a:r>
          </a:p>
        </p:txBody>
      </p:sp>
      <p:sp>
        <p:nvSpPr>
          <p:cNvPr id="6" name="文字_下列解释实验现象的反应方程式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下列解释实验现象的反应方程式正确的是（）</a:t>
            </a:r>
          </a:p>
        </p:txBody>
      </p:sp>
      <p:sp>
        <p:nvSpPr>
          <p:cNvPr id="7" name="文字_A. 切开的金属Na暴露在空气中，光亮表面逐渐变"/>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切开的金属Na暴露在空气中，光亮表面逐渐变暗：2Na + O₂=Na₂O₂</a:t>
            </a:r>
          </a:p>
        </p:txBody>
      </p:sp>
      <p:sp>
        <p:nvSpPr>
          <p:cNvPr id="8" name="文字_B. 金属钠比通金属铜活泼，金属钠放入CuSO₄"/>
          <p:cNvSpPr txBox="1"/>
          <p:nvPr/>
        </p:nvSpPr>
        <p:spPr>
          <a:xfrm>
            <a:off x="502920" y="195681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金属钠比通金属铜活泼，金属钠放入CuSO₄溶液：CuSO₄ + 2Na=Cu + </a:t>
            </a:r>
          </a:p>
          <a:p>
            <a:pPr>
              <a:lnSpc>
                <a:spcPct val="112000"/>
              </a:lnSpc>
              <a:spcBef>
                <a:spcPts val="0"/>
              </a:spcBef>
              <a:spcAft>
                <a:spcPts val="0"/>
              </a:spcAft>
              <a:defRPr sz="2400" b="0">
                <a:solidFill>
                  <a:srgbClr val="333333"/>
                </a:solidFill>
                <a:latin typeface="微软雅黑"/>
              </a:defRPr>
            </a:pPr>
            <a:r>
              <a:rPr>
                <a:ea typeface="微软雅黑"/>
              </a:rPr>
              <a:t>Na₂SO₄</a:t>
            </a:r>
          </a:p>
        </p:txBody>
      </p:sp>
      <p:sp>
        <p:nvSpPr>
          <p:cNvPr id="9" name="文字_C. Na₂O₂在潮湿的空气中放置一段时间，变成"/>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Na₂O₂在潮湿的空气中放置一段时间，变成白色粘稠物：2Na₂O₂ + 2CO₂=</a:t>
            </a:r>
          </a:p>
          <a:p>
            <a:pPr>
              <a:lnSpc>
                <a:spcPct val="112000"/>
              </a:lnSpc>
              <a:spcBef>
                <a:spcPts val="0"/>
              </a:spcBef>
              <a:spcAft>
                <a:spcPts val="0"/>
              </a:spcAft>
              <a:defRPr sz="2400" b="0">
                <a:solidFill>
                  <a:srgbClr val="333333"/>
                </a:solidFill>
                <a:latin typeface="微软雅黑"/>
              </a:defRPr>
            </a:pPr>
            <a:r>
              <a:rPr>
                <a:ea typeface="微软雅黑"/>
              </a:rPr>
              <a:t>2Na₂CO₃ + O₂</a:t>
            </a:r>
          </a:p>
        </p:txBody>
      </p:sp>
      <p:sp>
        <p:nvSpPr>
          <p:cNvPr id="10" name="文字_D. 将Na块放入水中，产生气体：2Na + 2"/>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将Na块放入水中，产生气体：2Na + 2H₂O=2NaOH + H₂₂↑</a:t>
            </a:r>
          </a:p>
        </p:txBody>
      </p:sp>
      <p:sp>
        <p:nvSpPr>
          <p:cNvPr id="11" name="文字_单选题  ·  04-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04-051</a:t>
            </a:r>
          </a:p>
        </p:txBody>
      </p:sp>
      <p:sp>
        <p:nvSpPr>
          <p:cNvPr id="1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巩固6</a:t>
            </a:r>
          </a:p>
        </p:txBody>
      </p:sp>
      <p:sp>
        <p:nvSpPr>
          <p:cNvPr id="5" name="文字_P1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P102</a:t>
            </a:r>
          </a:p>
        </p:txBody>
      </p:sp>
      <p:sp>
        <p:nvSpPr>
          <p:cNvPr id="6" name="文字_下列有关钠及其化合物的叙述中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下列有关钠及其化合物的叙述中不正确的是</a:t>
            </a:r>
          </a:p>
        </p:txBody>
      </p:sp>
      <p:sp>
        <p:nvSpPr>
          <p:cNvPr id="7" name="文字_A. 将Na投入CuSO₄溶液中，有蓝色沉淀及气"/>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将Na投入CuSO₄溶液中，有蓝色沉淀及气泡产生</a:t>
            </a:r>
          </a:p>
        </p:txBody>
      </p:sp>
      <p:sp>
        <p:nvSpPr>
          <p:cNvPr id="8" name="文字_B. 可用CaCl₂溶液鉴别NaHCO₃和Na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可用CaCl₂溶液鉴别NaHCO₃和Na₂CO₃两种溶液</a:t>
            </a:r>
          </a:p>
        </p:txBody>
      </p:sp>
      <p:sp>
        <p:nvSpPr>
          <p:cNvPr id="9" name="文字_C. 金属钠着火时，可用水来灭火"/>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金属钠着火时，可用水来灭火</a:t>
            </a:r>
          </a:p>
        </p:txBody>
      </p:sp>
      <p:sp>
        <p:nvSpPr>
          <p:cNvPr id="10" name="文字_D.Na、Na₂O、Na₂O₂、NaOH长期放置"/>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D.Na、Na₂O、Na₂O₂、NaOH长期放置在空气中，最终都将变为Na₂CO₃</a:t>
            </a:r>
          </a:p>
        </p:txBody>
      </p:sp>
      <p:sp>
        <p:nvSpPr>
          <p:cNvPr id="11" name="文字_单选题  ·  04-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04-052</a:t>
            </a:r>
          </a:p>
        </p:txBody>
      </p:sp>
      <p:sp>
        <p:nvSpPr>
          <p:cNvPr id="12"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巩固7</a:t>
            </a:r>
          </a:p>
        </p:txBody>
      </p:sp>
      <p:sp>
        <p:nvSpPr>
          <p:cNvPr id="5" name="文字_P1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P102</a:t>
            </a:r>
          </a:p>
        </p:txBody>
      </p:sp>
      <p:sp>
        <p:nvSpPr>
          <p:cNvPr id="6" name="文字_实验室验证钠能与二氧化碳发生反应，并确定其产物的"/>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实验室验证钠能与二氧化碳发生反应，并确定其产物的装置如图所示，(已知：</a:t>
            </a:r>
          </a:p>
          <a:p>
            <a:pPr>
              <a:lnSpc>
                <a:spcPct val="112000"/>
              </a:lnSpc>
              <a:spcBef>
                <a:spcPts val="0"/>
              </a:spcBef>
              <a:spcAft>
                <a:spcPts val="0"/>
              </a:spcAft>
              <a:defRPr sz="2400" b="0">
                <a:solidFill>
                  <a:srgbClr val="333333"/>
                </a:solidFill>
                <a:latin typeface="微软雅黑"/>
              </a:defRPr>
            </a:pPr>
            <a:r>
              <a:rPr>
                <a:ea typeface="微软雅黑"/>
              </a:rPr>
              <a:t>PdC₁₂溶液遇CO能产生黑色的Pd)，</a:t>
            </a:r>
          </a:p>
        </p:txBody>
      </p:sp>
      <p:pic>
        <p:nvPicPr>
          <p:cNvPr id="7" name="Picture 6" descr="image.png"/>
          <p:cNvPicPr>
            <a:picLocks noChangeAspect="1"/>
          </p:cNvPicPr>
          <p:nvPr/>
        </p:nvPicPr>
        <p:blipFill>
          <a:blip r:embed="rId3"/>
          <a:stretch>
            <a:fillRect/>
          </a:stretch>
        </p:blipFill>
        <p:spPr>
          <a:xfrm>
            <a:off x="502920" y="1880616"/>
            <a:ext cx="11064240" cy="3361385"/>
          </a:xfrm>
          <a:prstGeom prst="rect">
            <a:avLst/>
          </a:prstGeom>
        </p:spPr>
      </p:pic>
      <p:sp>
        <p:nvSpPr>
          <p:cNvPr id="8" name="原题文字_102_20"/>
          <p:cNvSpPr txBox="1"/>
          <p:nvPr/>
        </p:nvSpPr>
        <p:spPr>
          <a:xfrm>
            <a:off x="610116" y="1912499"/>
            <a:ext cx="1777669"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下列说法错误的是</a:t>
            </a:r>
          </a:p>
        </p:txBody>
      </p:sp>
      <p:sp>
        <p:nvSpPr>
          <p:cNvPr id="9" name="原题文字_102_21"/>
          <p:cNvSpPr txBox="1"/>
          <p:nvPr/>
        </p:nvSpPr>
        <p:spPr>
          <a:xfrm>
            <a:off x="1620829" y="2394885"/>
            <a:ext cx="575534"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稀盐酸</a:t>
            </a:r>
          </a:p>
        </p:txBody>
      </p:sp>
      <p:sp>
        <p:nvSpPr>
          <p:cNvPr id="10" name="原题文字_102_22"/>
          <p:cNvSpPr txBox="1"/>
          <p:nvPr/>
        </p:nvSpPr>
        <p:spPr>
          <a:xfrm>
            <a:off x="4040414" y="2670534"/>
            <a:ext cx="292228"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Na</a:t>
            </a:r>
          </a:p>
        </p:txBody>
      </p:sp>
      <p:sp>
        <p:nvSpPr>
          <p:cNvPr id="11" name="原题文字_102_23"/>
          <p:cNvSpPr txBox="1"/>
          <p:nvPr/>
        </p:nvSpPr>
        <p:spPr>
          <a:xfrm>
            <a:off x="564175" y="3459196"/>
            <a:ext cx="598504" cy="328481"/>
          </a:xfrm>
          <a:prstGeom prst="rect">
            <a:avLst/>
          </a:prstGeom>
          <a:noFill/>
        </p:spPr>
        <p:txBody>
          <a:bodyPr wrap="none" lIns="0" rIns="0" tIns="0" bIns="0">
            <a:spAutoFit/>
          </a:bodyPr>
          <a:lstStyle/>
          <a:p>
            <a:pPr>
              <a:lnSpc>
                <a:spcPct val="112000"/>
              </a:lnSpc>
              <a:spcBef>
                <a:spcPts val="0"/>
              </a:spcBef>
              <a:spcAft>
                <a:spcPts val="0"/>
              </a:spcAft>
              <a:defRPr sz="1050" b="0">
                <a:solidFill>
                  <a:srgbClr val="333333"/>
                </a:solidFill>
                <a:latin typeface="微软雅黑"/>
              </a:defRPr>
            </a:pPr>
            <a:r>
              <a:rPr>
                <a:ea typeface="微软雅黑"/>
              </a:rPr>
              <a:t>Na₂CO₃₃</a:t>
            </a:r>
          </a:p>
        </p:txBody>
      </p:sp>
      <p:sp>
        <p:nvSpPr>
          <p:cNvPr id="12" name="原题文字_102_24"/>
          <p:cNvSpPr txBox="1"/>
          <p:nvPr/>
        </p:nvSpPr>
        <p:spPr>
          <a:xfrm>
            <a:off x="4607025" y="3619991"/>
            <a:ext cx="43770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澄清</a:t>
            </a:r>
          </a:p>
        </p:txBody>
      </p:sp>
      <p:sp>
        <p:nvSpPr>
          <p:cNvPr id="13" name="原题文字_102_25"/>
          <p:cNvSpPr txBox="1"/>
          <p:nvPr/>
        </p:nvSpPr>
        <p:spPr>
          <a:xfrm>
            <a:off x="4545770" y="3788443"/>
            <a:ext cx="560220"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石灰水</a:t>
            </a:r>
          </a:p>
        </p:txBody>
      </p:sp>
      <p:sp>
        <p:nvSpPr>
          <p:cNvPr id="14" name="原题文字_102_26"/>
          <p:cNvSpPr txBox="1"/>
          <p:nvPr/>
        </p:nvSpPr>
        <p:spPr>
          <a:xfrm>
            <a:off x="5916357" y="3734845"/>
            <a:ext cx="445366" cy="258803"/>
          </a:xfrm>
          <a:prstGeom prst="rect">
            <a:avLst/>
          </a:prstGeom>
          <a:noFill/>
        </p:spPr>
        <p:txBody>
          <a:bodyPr wrap="none" lIns="0" rIns="0" tIns="0" bIns="0">
            <a:spAutoFit/>
          </a:bodyPr>
          <a:lstStyle/>
          <a:p>
            <a:pPr>
              <a:lnSpc>
                <a:spcPct val="112000"/>
              </a:lnSpc>
              <a:spcBef>
                <a:spcPts val="0"/>
              </a:spcBef>
              <a:spcAft>
                <a:spcPts val="0"/>
              </a:spcAft>
              <a:defRPr sz="1196" b="0">
                <a:solidFill>
                  <a:srgbClr val="333333"/>
                </a:solidFill>
                <a:latin typeface="微软雅黑"/>
              </a:defRPr>
            </a:pPr>
            <a:r>
              <a:rPr>
                <a:ea typeface="微软雅黑"/>
              </a:rPr>
              <a:t>PdCl₂</a:t>
            </a:r>
          </a:p>
        </p:txBody>
      </p:sp>
      <p:sp>
        <p:nvSpPr>
          <p:cNvPr id="15" name="原题文字_102_27"/>
          <p:cNvSpPr txBox="1"/>
          <p:nvPr/>
        </p:nvSpPr>
        <p:spPr>
          <a:xfrm>
            <a:off x="5924014" y="3880326"/>
            <a:ext cx="414738"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溶液</a:t>
            </a:r>
          </a:p>
        </p:txBody>
      </p:sp>
      <p:sp>
        <p:nvSpPr>
          <p:cNvPr id="16" name="原题文字_102_28"/>
          <p:cNvSpPr txBox="1"/>
          <p:nvPr/>
        </p:nvSpPr>
        <p:spPr>
          <a:xfrm>
            <a:off x="2332922" y="4332084"/>
            <a:ext cx="208002"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②</a:t>
            </a:r>
          </a:p>
        </p:txBody>
      </p:sp>
      <p:sp>
        <p:nvSpPr>
          <p:cNvPr id="17" name="原题文字_102_29"/>
          <p:cNvSpPr txBox="1"/>
          <p:nvPr/>
        </p:nvSpPr>
        <p:spPr>
          <a:xfrm>
            <a:off x="2968446" y="4332084"/>
            <a:ext cx="208002"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③</a:t>
            </a:r>
          </a:p>
        </p:txBody>
      </p:sp>
      <p:sp>
        <p:nvSpPr>
          <p:cNvPr id="18" name="原题文字_102_30"/>
          <p:cNvSpPr txBox="1"/>
          <p:nvPr/>
        </p:nvSpPr>
        <p:spPr>
          <a:xfrm>
            <a:off x="4025100" y="4324427"/>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④</a:t>
            </a:r>
          </a:p>
        </p:txBody>
      </p:sp>
      <p:sp>
        <p:nvSpPr>
          <p:cNvPr id="19" name="原题文字_102_31"/>
          <p:cNvSpPr txBox="1"/>
          <p:nvPr/>
        </p:nvSpPr>
        <p:spPr>
          <a:xfrm>
            <a:off x="5028155" y="4324427"/>
            <a:ext cx="246286"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⑤</a:t>
            </a:r>
          </a:p>
        </p:txBody>
      </p:sp>
      <p:sp>
        <p:nvSpPr>
          <p:cNvPr id="20" name="原题文字_102_32"/>
          <p:cNvSpPr txBox="1"/>
          <p:nvPr/>
        </p:nvSpPr>
        <p:spPr>
          <a:xfrm>
            <a:off x="5686650" y="4324427"/>
            <a:ext cx="238629"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6</a:t>
            </a:r>
          </a:p>
        </p:txBody>
      </p:sp>
      <p:sp>
        <p:nvSpPr>
          <p:cNvPr id="21" name="原题文字_102_33"/>
          <p:cNvSpPr txBox="1"/>
          <p:nvPr/>
        </p:nvSpPr>
        <p:spPr>
          <a:xfrm>
            <a:off x="594802" y="4561791"/>
            <a:ext cx="343156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装置①的仪器还可以制取H₂气体</a:t>
            </a:r>
          </a:p>
        </p:txBody>
      </p:sp>
      <p:sp>
        <p:nvSpPr>
          <p:cNvPr id="22" name="原题文字_102_34"/>
          <p:cNvSpPr txBox="1"/>
          <p:nvPr/>
        </p:nvSpPr>
        <p:spPr>
          <a:xfrm>
            <a:off x="571832" y="4944637"/>
            <a:ext cx="427382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 装置⑤中石灰水变浑浊后，再点燃酒精灯</a:t>
            </a:r>
          </a:p>
        </p:txBody>
      </p:sp>
      <p:sp>
        <p:nvSpPr>
          <p:cNvPr id="23" name="文字_C. 装置②③中分别盛装饱和Na₂CO₃溶液、浓"/>
          <p:cNvSpPr txBox="1"/>
          <p:nvPr/>
        </p:nvSpPr>
        <p:spPr>
          <a:xfrm>
            <a:off x="502920" y="531515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装置②③中分别盛装饱和Na₂CO₃溶液、浓H₂SO₄</a:t>
            </a:r>
          </a:p>
        </p:txBody>
      </p:sp>
      <p:sp>
        <p:nvSpPr>
          <p:cNvPr id="24" name="文字_D. 装置⑥中有黑色沉淀，发生的反应是PdC₁₂"/>
          <p:cNvSpPr txBox="1"/>
          <p:nvPr/>
        </p:nvSpPr>
        <p:spPr>
          <a:xfrm>
            <a:off x="502920" y="575406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装置⑥中有黑色沉淀，发生的反应是PdC₁₂ + CO + H₂O=Pd↓+CO₂ + 2HCl</a:t>
            </a:r>
          </a:p>
        </p:txBody>
      </p:sp>
      <p:sp>
        <p:nvSpPr>
          <p:cNvPr id="25" name="文字_单选题  ·  04-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04-053</a:t>
            </a:r>
          </a:p>
        </p:txBody>
      </p:sp>
      <p:sp>
        <p:nvSpPr>
          <p:cNvPr id="26"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巩固8</a:t>
            </a:r>
          </a:p>
        </p:txBody>
      </p:sp>
      <p:sp>
        <p:nvSpPr>
          <p:cNvPr id="5" name="文字_P1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P102</a:t>
            </a:r>
          </a:p>
        </p:txBody>
      </p:sp>
      <p:sp>
        <p:nvSpPr>
          <p:cNvPr id="6" name="文字_按要求填空:"/>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按要求填空:</a:t>
            </a:r>
          </a:p>
        </p:txBody>
      </p:sp>
      <p:sp>
        <p:nvSpPr>
          <p:cNvPr id="7" name="文字_(1)钠与水反应（离子方程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(1)钠与水反应（离子方程式）</a:t>
            </a:r>
          </a:p>
        </p:txBody>
      </p:sp>
      <p:sp>
        <p:nvSpPr>
          <p:cNvPr id="8" name="文字_(2)除去碳酸氢钠容液中少量碳酸钠（离子方程式)"/>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(2)除去碳酸氢钠容液中少量碳酸钠（离子方程式)</a:t>
            </a:r>
          </a:p>
        </p:txBody>
      </p:sp>
      <p:sp>
        <p:nvSpPr>
          <p:cNvPr id="9" name="文字_(3)除去碳酸钠固体混有的碳酸氢钠（化学方程式）"/>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(3)除去碳酸钠固体混有的碳酸氢钠（化学方程式）</a:t>
            </a:r>
          </a:p>
        </p:txBody>
      </p:sp>
      <p:sp>
        <p:nvSpPr>
          <p:cNvPr id="10" name="文字_(4)二氧化碳中混有少量氯化氢（离子方程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(4)二氧化碳中混有少量氯化氢（离子方程式)</a:t>
            </a:r>
          </a:p>
        </p:txBody>
      </p:sp>
      <p:sp>
        <p:nvSpPr>
          <p:cNvPr id="11" name="文字_填空题  ·  04-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04-054</a:t>
            </a:r>
          </a:p>
        </p:txBody>
      </p:sp>
      <p:sp>
        <p:nvSpPr>
          <p:cNvPr id="12" name="文字_7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巩固9</a:t>
            </a:r>
          </a:p>
        </p:txBody>
      </p:sp>
      <p:sp>
        <p:nvSpPr>
          <p:cNvPr id="5" name="文字_P102–10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P102–103</a:t>
            </a:r>
          </a:p>
        </p:txBody>
      </p:sp>
      <p:sp>
        <p:nvSpPr>
          <p:cNvPr id="6" name="文字_下列图示中，A为一种常见的单质，B、C、D、E是"/>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下列图示中，A为一种常见的单质，B、C、D、E是含A元素的常见化合物，它们的</a:t>
            </a:r>
          </a:p>
          <a:p>
            <a:pPr>
              <a:lnSpc>
                <a:spcPct val="112000"/>
              </a:lnSpc>
              <a:spcBef>
                <a:spcPts val="0"/>
              </a:spcBef>
              <a:spcAft>
                <a:spcPts val="0"/>
              </a:spcAft>
              <a:defRPr sz="2400" b="0">
                <a:solidFill>
                  <a:srgbClr val="333333"/>
                </a:solidFill>
                <a:latin typeface="微软雅黑"/>
              </a:defRPr>
            </a:pPr>
            <a:r>
              <a:rPr>
                <a:ea typeface="微软雅黑"/>
              </a:rPr>
              <a:t>焰色反应均为黄色。请填写下列空白：</a:t>
            </a:r>
          </a:p>
        </p:txBody>
      </p:sp>
      <p:sp>
        <p:nvSpPr>
          <p:cNvPr id="7" name="文字_点燃+O₂ B +CO₂ D"/>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点燃+O₂ B +CO₂ D</a:t>
            </a:r>
          </a:p>
        </p:txBody>
      </p:sp>
      <p:sp>
        <p:nvSpPr>
          <p:cNvPr id="8" name="文字_(反应①) ______ (反应④)"/>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(反应①) ______ (反应④)</a:t>
            </a:r>
          </a:p>
        </p:txBody>
      </p:sp>
      <p:pic>
        <p:nvPicPr>
          <p:cNvPr id="9" name="Picture 8" descr="image.png"/>
          <p:cNvPicPr>
            <a:picLocks noChangeAspect="1"/>
          </p:cNvPicPr>
          <p:nvPr/>
        </p:nvPicPr>
        <p:blipFill>
          <a:blip r:embed="rId3"/>
          <a:stretch>
            <a:fillRect/>
          </a:stretch>
        </p:blipFill>
        <p:spPr>
          <a:xfrm>
            <a:off x="502920" y="2758440"/>
            <a:ext cx="11064240" cy="1186821"/>
          </a:xfrm>
          <a:prstGeom prst="rect">
            <a:avLst/>
          </a:prstGeom>
        </p:spPr>
      </p:pic>
      <p:sp>
        <p:nvSpPr>
          <p:cNvPr id="10" name="原题文字_103_7"/>
          <p:cNvSpPr txBox="1"/>
          <p:nvPr/>
        </p:nvSpPr>
        <p:spPr>
          <a:xfrm>
            <a:off x="1873507" y="2790323"/>
            <a:ext cx="261600" cy="746549"/>
          </a:xfrm>
          <a:prstGeom prst="rect">
            <a:avLst/>
          </a:prstGeom>
          <a:noFill/>
        </p:spPr>
        <p:txBody>
          <a:bodyPr wrap="none" lIns="0" rIns="0" tIns="0" bIns="0">
            <a:spAutoFit/>
          </a:bodyPr>
          <a:lstStyle/>
          <a:p>
            <a:pPr>
              <a:lnSpc>
                <a:spcPct val="112000"/>
              </a:lnSpc>
              <a:spcBef>
                <a:spcPts val="0"/>
              </a:spcBef>
              <a:spcAft>
                <a:spcPts val="0"/>
              </a:spcAft>
              <a:defRPr sz="2387" b="0">
                <a:solidFill>
                  <a:srgbClr val="333333"/>
                </a:solidFill>
                <a:latin typeface="微软雅黑"/>
              </a:defRPr>
            </a:pPr>
            <a:r>
              <a:rPr>
                <a:ea typeface="微软雅黑"/>
              </a:rPr>
              <a:t>(反应③)</a:t>
            </a:r>
          </a:p>
        </p:txBody>
      </p:sp>
      <p:sp>
        <p:nvSpPr>
          <p:cNvPr id="11" name="原题文字_103_8"/>
          <p:cNvSpPr txBox="1"/>
          <p:nvPr/>
        </p:nvSpPr>
        <p:spPr>
          <a:xfrm>
            <a:off x="3190496" y="2813294"/>
            <a:ext cx="284571" cy="756503"/>
          </a:xfrm>
          <a:prstGeom prst="rect">
            <a:avLst/>
          </a:prstGeom>
          <a:noFill/>
        </p:spPr>
        <p:txBody>
          <a:bodyPr wrap="none" lIns="0" rIns="0" tIns="0" bIns="0">
            <a:spAutoFit/>
          </a:bodyPr>
          <a:lstStyle/>
          <a:p>
            <a:pPr>
              <a:lnSpc>
                <a:spcPct val="112000"/>
              </a:lnSpc>
              <a:spcBef>
                <a:spcPts val="0"/>
              </a:spcBef>
              <a:spcAft>
                <a:spcPts val="0"/>
              </a:spcAft>
              <a:defRPr sz="2419" b="0">
                <a:solidFill>
                  <a:srgbClr val="333333"/>
                </a:solidFill>
                <a:latin typeface="微软雅黑"/>
              </a:defRPr>
            </a:pPr>
            <a:r>
              <a:rPr>
                <a:ea typeface="微软雅黑"/>
              </a:rPr>
              <a:t>(反应⑥)</a:t>
            </a:r>
          </a:p>
        </p:txBody>
      </p:sp>
      <p:sp>
        <p:nvSpPr>
          <p:cNvPr id="12" name="原题文字_103_9"/>
          <p:cNvSpPr txBox="1"/>
          <p:nvPr/>
        </p:nvSpPr>
        <p:spPr>
          <a:xfrm>
            <a:off x="1490661" y="2981746"/>
            <a:ext cx="407082" cy="258803"/>
          </a:xfrm>
          <a:prstGeom prst="rect">
            <a:avLst/>
          </a:prstGeom>
          <a:noFill/>
        </p:spPr>
        <p:txBody>
          <a:bodyPr wrap="none" lIns="0" rIns="0" tIns="0" bIns="0">
            <a:spAutoFit/>
          </a:bodyPr>
          <a:lstStyle/>
          <a:p>
            <a:pPr>
              <a:lnSpc>
                <a:spcPct val="112000"/>
              </a:lnSpc>
              <a:spcBef>
                <a:spcPts val="0"/>
              </a:spcBef>
              <a:spcAft>
                <a:spcPts val="0"/>
              </a:spcAft>
              <a:defRPr sz="1047" b="0">
                <a:solidFill>
                  <a:srgbClr val="333333"/>
                </a:solidFill>
                <a:latin typeface="微软雅黑"/>
              </a:defRPr>
            </a:pPr>
            <a:r>
              <a:rPr>
                <a:ea typeface="微软雅黑"/>
              </a:rPr>
              <a:t>+H₂O</a:t>
            </a:r>
          </a:p>
        </p:txBody>
      </p:sp>
      <p:sp>
        <p:nvSpPr>
          <p:cNvPr id="13" name="原题文字_103_10"/>
          <p:cNvSpPr txBox="1"/>
          <p:nvPr/>
        </p:nvSpPr>
        <p:spPr>
          <a:xfrm>
            <a:off x="2960789" y="2928148"/>
            <a:ext cx="276914" cy="457883"/>
          </a:xfrm>
          <a:prstGeom prst="rect">
            <a:avLst/>
          </a:prstGeom>
          <a:noFill/>
        </p:spPr>
        <p:txBody>
          <a:bodyPr wrap="none" lIns="0" rIns="0" tIns="0" bIns="0">
            <a:spAutoFit/>
          </a:bodyPr>
          <a:lstStyle/>
          <a:p>
            <a:pPr>
              <a:lnSpc>
                <a:spcPct val="112000"/>
              </a:lnSpc>
              <a:spcBef>
                <a:spcPts val="0"/>
              </a:spcBef>
              <a:spcAft>
                <a:spcPts val="0"/>
              </a:spcAft>
              <a:defRPr sz="1464" b="0">
                <a:solidFill>
                  <a:srgbClr val="333333"/>
                </a:solidFill>
                <a:latin typeface="微软雅黑"/>
              </a:defRPr>
            </a:pPr>
            <a:r>
              <a:rPr>
                <a:ea typeface="微软雅黑"/>
              </a:rPr>
              <a:t>加热</a:t>
            </a:r>
          </a:p>
        </p:txBody>
      </p:sp>
      <p:sp>
        <p:nvSpPr>
          <p:cNvPr id="14" name="原题文字_103_11"/>
          <p:cNvSpPr txBox="1"/>
          <p:nvPr/>
        </p:nvSpPr>
        <p:spPr>
          <a:xfrm>
            <a:off x="679029" y="3127227"/>
            <a:ext cx="25394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A</a:t>
            </a:r>
          </a:p>
        </p:txBody>
      </p:sp>
      <p:sp>
        <p:nvSpPr>
          <p:cNvPr id="15" name="原题文字_103_12"/>
          <p:cNvSpPr txBox="1"/>
          <p:nvPr/>
        </p:nvSpPr>
        <p:spPr>
          <a:xfrm>
            <a:off x="1123129" y="3487102"/>
            <a:ext cx="430052" cy="248849"/>
          </a:xfrm>
          <a:prstGeom prst="rect">
            <a:avLst/>
          </a:prstGeom>
          <a:noFill/>
        </p:spPr>
        <p:txBody>
          <a:bodyPr wrap="none" lIns="0" rIns="0" tIns="0" bIns="0">
            <a:spAutoFit/>
          </a:bodyPr>
          <a:lstStyle/>
          <a:p>
            <a:pPr>
              <a:lnSpc>
                <a:spcPct val="112000"/>
              </a:lnSpc>
              <a:spcBef>
                <a:spcPts val="0"/>
              </a:spcBef>
              <a:spcAft>
                <a:spcPts val="0"/>
              </a:spcAft>
              <a:defRPr sz="1080" b="0">
                <a:solidFill>
                  <a:srgbClr val="333333"/>
                </a:solidFill>
                <a:latin typeface="微软雅黑"/>
              </a:defRPr>
            </a:pPr>
            <a:r>
              <a:rPr>
                <a:ea typeface="微软雅黑"/>
              </a:rPr>
              <a:t>+H₂O</a:t>
            </a:r>
          </a:p>
        </p:txBody>
      </p:sp>
      <p:sp>
        <p:nvSpPr>
          <p:cNvPr id="16" name="原题文字_103_13"/>
          <p:cNvSpPr txBox="1"/>
          <p:nvPr/>
        </p:nvSpPr>
        <p:spPr>
          <a:xfrm>
            <a:off x="1789281" y="3571328"/>
            <a:ext cx="24628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C</a:t>
            </a:r>
          </a:p>
        </p:txBody>
      </p:sp>
      <p:sp>
        <p:nvSpPr>
          <p:cNvPr id="17" name="原题文字_103_14"/>
          <p:cNvSpPr txBox="1"/>
          <p:nvPr/>
        </p:nvSpPr>
        <p:spPr>
          <a:xfrm>
            <a:off x="2164470" y="3487102"/>
            <a:ext cx="743986" cy="268757"/>
          </a:xfrm>
          <a:prstGeom prst="rect">
            <a:avLst/>
          </a:prstGeom>
          <a:noFill/>
        </p:spPr>
        <p:txBody>
          <a:bodyPr wrap="none" lIns="0" rIns="0" tIns="0" bIns="0">
            <a:spAutoFit/>
          </a:bodyPr>
          <a:lstStyle/>
          <a:p>
            <a:pPr>
              <a:lnSpc>
                <a:spcPct val="112000"/>
              </a:lnSpc>
              <a:spcBef>
                <a:spcPts val="0"/>
              </a:spcBef>
              <a:spcAft>
                <a:spcPts val="0"/>
              </a:spcAft>
              <a:defRPr sz="1124" b="0">
                <a:solidFill>
                  <a:srgbClr val="333333"/>
                </a:solidFill>
                <a:latin typeface="微软雅黑"/>
              </a:defRPr>
            </a:pPr>
            <a:r>
              <a:rPr>
                <a:ea typeface="微软雅黑"/>
              </a:rPr>
              <a:t>通过量CO₂</a:t>
            </a:r>
          </a:p>
        </p:txBody>
      </p:sp>
      <p:sp>
        <p:nvSpPr>
          <p:cNvPr id="18" name="原题文字_103_15"/>
          <p:cNvSpPr txBox="1"/>
          <p:nvPr/>
        </p:nvSpPr>
        <p:spPr>
          <a:xfrm>
            <a:off x="3029701" y="3533044"/>
            <a:ext cx="322855"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E</a:t>
            </a:r>
          </a:p>
        </p:txBody>
      </p:sp>
      <p:sp>
        <p:nvSpPr>
          <p:cNvPr id="19" name="原题文字_103_16"/>
          <p:cNvSpPr txBox="1"/>
          <p:nvPr/>
        </p:nvSpPr>
        <p:spPr>
          <a:xfrm>
            <a:off x="1015933" y="3670868"/>
            <a:ext cx="606161" cy="278711"/>
          </a:xfrm>
          <a:prstGeom prst="rect">
            <a:avLst/>
          </a:prstGeom>
          <a:noFill/>
        </p:spPr>
        <p:txBody>
          <a:bodyPr wrap="none" lIns="0" rIns="0" tIns="0" bIns="0">
            <a:spAutoFit/>
          </a:bodyPr>
          <a:lstStyle/>
          <a:p>
            <a:pPr>
              <a:lnSpc>
                <a:spcPct val="112000"/>
              </a:lnSpc>
              <a:spcBef>
                <a:spcPts val="0"/>
              </a:spcBef>
              <a:spcAft>
                <a:spcPts val="0"/>
              </a:spcAft>
              <a:defRPr sz="1282" b="0">
                <a:solidFill>
                  <a:srgbClr val="333333"/>
                </a:solidFill>
                <a:latin typeface="微软雅黑"/>
              </a:defRPr>
            </a:pPr>
            <a:r>
              <a:rPr>
                <a:ea typeface="微软雅黑"/>
              </a:rPr>
              <a:t>(反应②)</a:t>
            </a:r>
          </a:p>
        </p:txBody>
      </p:sp>
      <p:sp>
        <p:nvSpPr>
          <p:cNvPr id="20" name="原题文字_103_17"/>
          <p:cNvSpPr txBox="1"/>
          <p:nvPr/>
        </p:nvSpPr>
        <p:spPr>
          <a:xfrm>
            <a:off x="2210411" y="3678525"/>
            <a:ext cx="613818" cy="288665"/>
          </a:xfrm>
          <a:prstGeom prst="rect">
            <a:avLst/>
          </a:prstGeom>
          <a:noFill/>
        </p:spPr>
        <p:txBody>
          <a:bodyPr wrap="none" lIns="0" rIns="0" tIns="0" bIns="0">
            <a:spAutoFit/>
          </a:bodyPr>
          <a:lstStyle/>
          <a:p>
            <a:pPr>
              <a:lnSpc>
                <a:spcPct val="112000"/>
              </a:lnSpc>
              <a:spcBef>
                <a:spcPts val="0"/>
              </a:spcBef>
              <a:spcAft>
                <a:spcPts val="0"/>
              </a:spcAft>
              <a:defRPr sz="1345" b="0">
                <a:solidFill>
                  <a:srgbClr val="333333"/>
                </a:solidFill>
                <a:latin typeface="微软雅黑"/>
              </a:defRPr>
            </a:pPr>
            <a:r>
              <a:rPr>
                <a:ea typeface="微软雅黑"/>
              </a:rPr>
              <a:t>(反应⑤)</a:t>
            </a:r>
          </a:p>
        </p:txBody>
      </p:sp>
      <p:sp>
        <p:nvSpPr>
          <p:cNvPr id="21" name="文字_（1）写出下列物质的化学式:"/>
          <p:cNvSpPr txBox="1"/>
          <p:nvPr/>
        </p:nvSpPr>
        <p:spPr>
          <a:xfrm>
            <a:off x="502920" y="401841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（1）写出下列物质的化学式:</a:t>
            </a:r>
          </a:p>
        </p:txBody>
      </p:sp>
      <p:sp>
        <p:nvSpPr>
          <p:cNvPr id="22" name="文字_A ______ ，B ______ , C _"/>
          <p:cNvSpPr txBox="1"/>
          <p:nvPr/>
        </p:nvSpPr>
        <p:spPr>
          <a:xfrm>
            <a:off x="502920" y="445732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______ ，B ______ , C ______ o</a:t>
            </a:r>
          </a:p>
        </p:txBody>
      </p:sp>
      <p:sp>
        <p:nvSpPr>
          <p:cNvPr id="23" name="文字_(2)写出下列反应的离子方程式、化学方程式："/>
          <p:cNvSpPr txBox="1"/>
          <p:nvPr/>
        </p:nvSpPr>
        <p:spPr>
          <a:xfrm>
            <a:off x="502920" y="489623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(2)写出下列反应的离子方程式、化学方程式：</a:t>
            </a:r>
          </a:p>
        </p:txBody>
      </p:sp>
      <p:sp>
        <p:nvSpPr>
          <p:cNvPr id="24" name="文字_A→C(离子方程式)"/>
          <p:cNvSpPr txBox="1"/>
          <p:nvPr/>
        </p:nvSpPr>
        <p:spPr>
          <a:xfrm>
            <a:off x="502920" y="533514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A→C(离子方程式)</a:t>
            </a:r>
          </a:p>
        </p:txBody>
      </p:sp>
      <p:sp>
        <p:nvSpPr>
          <p:cNvPr id="25" name="文字_B→D(化学方程式)"/>
          <p:cNvSpPr txBox="1"/>
          <p:nvPr/>
        </p:nvSpPr>
        <p:spPr>
          <a:xfrm>
            <a:off x="502920" y="577406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B→D(化学方程式)</a:t>
            </a:r>
          </a:p>
        </p:txBody>
      </p:sp>
      <p:sp>
        <p:nvSpPr>
          <p:cNvPr id="26" name="文字_填空题  ·  04-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04-055</a:t>
            </a:r>
          </a:p>
        </p:txBody>
      </p:sp>
      <p:sp>
        <p:nvSpPr>
          <p:cNvPr id="27" name="文字_7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巩固10</a:t>
            </a:r>
          </a:p>
        </p:txBody>
      </p:sp>
      <p:sp>
        <p:nvSpPr>
          <p:cNvPr id="5" name="文字_P10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P103</a:t>
            </a:r>
          </a:p>
        </p:txBody>
      </p:sp>
      <p:pic>
        <p:nvPicPr>
          <p:cNvPr id="6" name="Picture 5" descr="image.png"/>
          <p:cNvPicPr>
            <a:picLocks noChangeAspect="1"/>
          </p:cNvPicPr>
          <p:nvPr/>
        </p:nvPicPr>
        <p:blipFill>
          <a:blip r:embed="rId3"/>
          <a:stretch>
            <a:fillRect/>
          </a:stretch>
        </p:blipFill>
        <p:spPr>
          <a:xfrm>
            <a:off x="502920" y="1078992"/>
            <a:ext cx="8226534" cy="1605455"/>
          </a:xfrm>
          <a:prstGeom prst="rect">
            <a:avLst/>
          </a:prstGeom>
        </p:spPr>
      </p:pic>
      <p:sp>
        <p:nvSpPr>
          <p:cNvPr id="7" name="原题文字_103_29"/>
          <p:cNvSpPr txBox="1"/>
          <p:nvPr/>
        </p:nvSpPr>
        <p:spPr>
          <a:xfrm>
            <a:off x="548464" y="1089670"/>
            <a:ext cx="7359115" cy="244234"/>
          </a:xfrm>
          <a:prstGeom prst="rect">
            <a:avLst/>
          </a:prstGeom>
          <a:noFill/>
        </p:spPr>
        <p:txBody>
          <a:bodyPr wrap="none" lIns="0" rIns="0" tIns="0" bIns="0">
            <a:spAutoFit/>
          </a:bodyPr>
          <a:lstStyle/>
          <a:p>
            <a:pPr>
              <a:lnSpc>
                <a:spcPct val="112000"/>
              </a:lnSpc>
              <a:spcBef>
                <a:spcPts val="0"/>
              </a:spcBef>
              <a:spcAft>
                <a:spcPts val="0"/>
              </a:spcAft>
              <a:defRPr sz="1183" b="0">
                <a:solidFill>
                  <a:srgbClr val="333333"/>
                </a:solidFill>
                <a:latin typeface="微软雅黑"/>
              </a:defRPr>
            </a:pPr>
            <a:r>
              <a:rPr>
                <a:ea typeface="微软雅黑"/>
              </a:rPr>
              <a:t>I. 如图所示，“二氧化碳是否在有水存在时，才能与过氧化钠反应？”这个问题可通过以下实验加以证明。</a:t>
            </a:r>
          </a:p>
        </p:txBody>
      </p:sp>
      <p:sp>
        <p:nvSpPr>
          <p:cNvPr id="8" name="原题文字_103_30"/>
          <p:cNvSpPr txBox="1"/>
          <p:nvPr/>
        </p:nvSpPr>
        <p:spPr>
          <a:xfrm>
            <a:off x="2034364" y="1573584"/>
            <a:ext cx="174419" cy="155421"/>
          </a:xfrm>
          <a:prstGeom prst="rect">
            <a:avLst/>
          </a:prstGeom>
          <a:noFill/>
        </p:spPr>
        <p:txBody>
          <a:bodyPr wrap="none" lIns="0" rIns="0" tIns="0" bIns="0">
            <a:spAutoFit/>
          </a:bodyPr>
          <a:lstStyle/>
          <a:p>
            <a:pPr>
              <a:lnSpc>
                <a:spcPct val="112000"/>
              </a:lnSpc>
              <a:spcBef>
                <a:spcPts val="0"/>
              </a:spcBef>
              <a:spcAft>
                <a:spcPts val="0"/>
              </a:spcAft>
              <a:defRPr sz="653" b="0">
                <a:solidFill>
                  <a:srgbClr val="333333"/>
                </a:solidFill>
                <a:latin typeface="微软雅黑"/>
              </a:defRPr>
            </a:pPr>
            <a:r>
              <a:rPr>
                <a:ea typeface="微软雅黑"/>
              </a:rPr>
              <a:t>ⅢⅢ</a:t>
            </a:r>
          </a:p>
        </p:txBody>
      </p:sp>
      <p:sp>
        <p:nvSpPr>
          <p:cNvPr id="9" name="原题文字_103_31"/>
          <p:cNvSpPr txBox="1"/>
          <p:nvPr/>
        </p:nvSpPr>
        <p:spPr>
          <a:xfrm>
            <a:off x="2188078" y="1647594"/>
            <a:ext cx="373677" cy="22203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-Na₂O₂</a:t>
            </a:r>
          </a:p>
        </p:txBody>
      </p:sp>
      <p:sp>
        <p:nvSpPr>
          <p:cNvPr id="10" name="原题文字_103_32"/>
          <p:cNvSpPr txBox="1"/>
          <p:nvPr/>
        </p:nvSpPr>
        <p:spPr>
          <a:xfrm>
            <a:off x="1077923" y="1721604"/>
            <a:ext cx="180112" cy="162822"/>
          </a:xfrm>
          <a:prstGeom prst="rect">
            <a:avLst/>
          </a:prstGeom>
          <a:noFill/>
        </p:spPr>
        <p:txBody>
          <a:bodyPr wrap="none" lIns="0" rIns="0" tIns="0" bIns="0">
            <a:spAutoFit/>
          </a:bodyPr>
          <a:lstStyle/>
          <a:p>
            <a:pPr>
              <a:lnSpc>
                <a:spcPct val="112000"/>
              </a:lnSpc>
              <a:spcBef>
                <a:spcPts val="0"/>
              </a:spcBef>
              <a:spcAft>
                <a:spcPts val="0"/>
              </a:spcAft>
              <a:defRPr sz="788" b="0">
                <a:solidFill>
                  <a:srgbClr val="333333"/>
                </a:solidFill>
                <a:latin typeface="微软雅黑"/>
              </a:defRPr>
            </a:pPr>
            <a:r>
              <a:rPr>
                <a:ea typeface="微软雅黑"/>
              </a:rPr>
              <a:t>K₁</a:t>
            </a:r>
          </a:p>
        </p:txBody>
      </p:sp>
      <p:sp>
        <p:nvSpPr>
          <p:cNvPr id="11" name="原题文字_103_33"/>
          <p:cNvSpPr txBox="1"/>
          <p:nvPr/>
        </p:nvSpPr>
        <p:spPr>
          <a:xfrm>
            <a:off x="1402430" y="1818387"/>
            <a:ext cx="185805" cy="155421"/>
          </a:xfrm>
          <a:prstGeom prst="rect">
            <a:avLst/>
          </a:prstGeom>
          <a:noFill/>
        </p:spPr>
        <p:txBody>
          <a:bodyPr wrap="none" lIns="0" rIns="0" tIns="0" bIns="0">
            <a:spAutoFit/>
          </a:bodyPr>
          <a:lstStyle/>
          <a:p>
            <a:pPr>
              <a:lnSpc>
                <a:spcPct val="112000"/>
              </a:lnSpc>
              <a:spcBef>
                <a:spcPts val="0"/>
              </a:spcBef>
              <a:spcAft>
                <a:spcPts val="0"/>
              </a:spcAft>
              <a:defRPr sz="753" b="0">
                <a:solidFill>
                  <a:srgbClr val="333333"/>
                </a:solidFill>
                <a:latin typeface="微软雅黑"/>
              </a:defRPr>
            </a:pPr>
            <a:r>
              <a:rPr>
                <a:ea typeface="微软雅黑"/>
              </a:rPr>
              <a:t>11</a:t>
            </a:r>
          </a:p>
        </p:txBody>
      </p:sp>
      <p:sp>
        <p:nvSpPr>
          <p:cNvPr id="12" name="原题文字_103_34"/>
          <p:cNvSpPr txBox="1"/>
          <p:nvPr/>
        </p:nvSpPr>
        <p:spPr>
          <a:xfrm>
            <a:off x="724951" y="1943636"/>
            <a:ext cx="163032" cy="155421"/>
          </a:xfrm>
          <a:prstGeom prst="rect">
            <a:avLst/>
          </a:prstGeom>
          <a:noFill/>
        </p:spPr>
        <p:txBody>
          <a:bodyPr wrap="none" lIns="0" rIns="0" tIns="0" bIns="0">
            <a:spAutoFit/>
          </a:bodyPr>
          <a:lstStyle/>
          <a:p>
            <a:pPr>
              <a:lnSpc>
                <a:spcPct val="112000"/>
              </a:lnSpc>
              <a:spcBef>
                <a:spcPts val="0"/>
              </a:spcBef>
              <a:spcAft>
                <a:spcPts val="0"/>
              </a:spcAft>
              <a:defRPr sz="753" b="0">
                <a:solidFill>
                  <a:srgbClr val="333333"/>
                </a:solidFill>
                <a:latin typeface="微软雅黑"/>
              </a:defRPr>
            </a:pPr>
            <a:r>
              <a:rPr>
                <a:ea typeface="微软雅黑"/>
              </a:rPr>
              <a:t>X</a:t>
            </a:r>
          </a:p>
        </p:txBody>
      </p:sp>
      <p:sp>
        <p:nvSpPr>
          <p:cNvPr id="13" name="原题文字_103_35"/>
          <p:cNvSpPr txBox="1"/>
          <p:nvPr/>
        </p:nvSpPr>
        <p:spPr>
          <a:xfrm>
            <a:off x="633861" y="2336460"/>
            <a:ext cx="521698" cy="170223"/>
          </a:xfrm>
          <a:prstGeom prst="rect">
            <a:avLst/>
          </a:prstGeom>
          <a:noFill/>
        </p:spPr>
        <p:txBody>
          <a:bodyPr wrap="none" lIns="0" rIns="0" tIns="0" bIns="0">
            <a:spAutoFit/>
          </a:bodyPr>
          <a:lstStyle/>
          <a:p>
            <a:pPr>
              <a:lnSpc>
                <a:spcPct val="112000"/>
              </a:lnSpc>
              <a:spcBef>
                <a:spcPts val="0"/>
              </a:spcBef>
              <a:spcAft>
                <a:spcPts val="0"/>
              </a:spcAft>
              <a:defRPr sz="731" b="0">
                <a:solidFill>
                  <a:srgbClr val="333333"/>
                </a:solidFill>
                <a:latin typeface="微软雅黑"/>
              </a:defRPr>
            </a:pPr>
            <a:r>
              <a:rPr>
                <a:ea typeface="微软雅黑"/>
              </a:rPr>
              <a:t>10% NaOH-</a:t>
            </a:r>
          </a:p>
        </p:txBody>
      </p:sp>
      <p:sp>
        <p:nvSpPr>
          <p:cNvPr id="14" name="原题文字_103_36"/>
          <p:cNvSpPr txBox="1"/>
          <p:nvPr/>
        </p:nvSpPr>
        <p:spPr>
          <a:xfrm>
            <a:off x="759109" y="2421856"/>
            <a:ext cx="293974" cy="192426"/>
          </a:xfrm>
          <a:prstGeom prst="rect">
            <a:avLst/>
          </a:prstGeom>
          <a:noFill/>
        </p:spPr>
        <p:txBody>
          <a:bodyPr wrap="none" lIns="0" rIns="0" tIns="0" bIns="0">
            <a:spAutoFit/>
          </a:bodyPr>
          <a:lstStyle/>
          <a:p>
            <a:pPr>
              <a:lnSpc>
                <a:spcPct val="112000"/>
              </a:lnSpc>
              <a:spcBef>
                <a:spcPts val="0"/>
              </a:spcBef>
              <a:spcAft>
                <a:spcPts val="0"/>
              </a:spcAft>
              <a:defRPr sz="932" b="0">
                <a:solidFill>
                  <a:srgbClr val="333333"/>
                </a:solidFill>
                <a:latin typeface="微软雅黑"/>
              </a:defRPr>
            </a:pPr>
            <a:r>
              <a:rPr>
                <a:ea typeface="微软雅黑"/>
              </a:rPr>
              <a:t>溶液</a:t>
            </a:r>
          </a:p>
        </p:txBody>
      </p:sp>
      <p:sp>
        <p:nvSpPr>
          <p:cNvPr id="15" name="原题文字_103_37"/>
          <p:cNvSpPr txBox="1"/>
          <p:nvPr/>
        </p:nvSpPr>
        <p:spPr>
          <a:xfrm>
            <a:off x="1151933" y="2569877"/>
            <a:ext cx="111795"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ⅡI</a:t>
            </a:r>
          </a:p>
        </p:txBody>
      </p:sp>
      <p:sp>
        <p:nvSpPr>
          <p:cNvPr id="16" name="文字_(1) 按图装置，在干燥的试管Ⅲ中装入Na₂O₂"/>
          <p:cNvSpPr txBox="1"/>
          <p:nvPr/>
        </p:nvSpPr>
        <p:spPr>
          <a:xfrm>
            <a:off x="502920" y="2757599"/>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(1) 按图装置，在干燥的试管Ⅲ中装入Na₂O₂后，在通入CO₂之前，应事先将活塞(K₁、K₂)关闭好，目的是</a:t>
            </a:r>
          </a:p>
        </p:txBody>
      </p:sp>
      <p:sp>
        <p:nvSpPr>
          <p:cNvPr id="17" name="文字_(2) 试管I内的试剂X是 ______ ，打开"/>
          <p:cNvSpPr txBox="1"/>
          <p:nvPr/>
        </p:nvSpPr>
        <p:spPr>
          <a:xfrm>
            <a:off x="502920" y="2995343"/>
            <a:ext cx="11064240" cy="434212"/>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(2) 试管I内的试剂X是 ______ ，打开活塞K₁、K₂，加热试管约5分钟后，将带火星的小木条插入试管Ⅱ的液面上，可观察到带火星的小木条不能剧烈地</a:t>
            </a:r>
          </a:p>
          <a:p>
            <a:pPr>
              <a:lnSpc>
                <a:spcPct val="112000"/>
              </a:lnSpc>
              <a:spcBef>
                <a:spcPts val="0"/>
              </a:spcBef>
              <a:spcAft>
                <a:spcPts val="0"/>
              </a:spcAft>
              <a:defRPr sz="1300" b="0">
                <a:solidFill>
                  <a:srgbClr val="333333"/>
                </a:solidFill>
                <a:latin typeface="微软雅黑"/>
              </a:defRPr>
            </a:pPr>
            <a:r>
              <a:rPr>
                <a:ea typeface="微软雅黑"/>
              </a:rPr>
              <a:t>燃烧起来，且Ⅲ内淡黄色粉末未发生变化。则所得的结论是in</a:t>
            </a:r>
          </a:p>
        </p:txBody>
      </p:sp>
      <p:sp>
        <p:nvSpPr>
          <p:cNvPr id="18" name="文字_(3)试管I内试剂为CO₂饱和水溶液时，其它操作"/>
          <p:cNvSpPr txBox="1"/>
          <p:nvPr/>
        </p:nvSpPr>
        <p:spPr>
          <a:xfrm>
            <a:off x="502920" y="3429556"/>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(3)试管I内试剂为CO₂饱和水溶液时，其它操作同(2)，通过 ______ 的现象，可以证明Na₂O₂与潮湿的CO₂能反应且放出O₂。</a:t>
            </a:r>
          </a:p>
        </p:txBody>
      </p:sp>
      <p:sp>
        <p:nvSpPr>
          <p:cNvPr id="19" name="文字_ⅡI. 现有mg含有Na₂O与Na₂O₂的混合物"/>
          <p:cNvSpPr txBox="1"/>
          <p:nvPr/>
        </p:nvSpPr>
        <p:spPr>
          <a:xfrm>
            <a:off x="502920" y="3667300"/>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ⅡI. 现有mg含有Na₂O与Na₂O₂的混合物样品，某同学在实验室用下图装置(部分夹持仪器已省略)测定Na₂O₂</a:t>
            </a:r>
          </a:p>
        </p:txBody>
      </p:sp>
      <p:pic>
        <p:nvPicPr>
          <p:cNvPr id="20" name="Picture 19" descr="image.png"/>
          <p:cNvPicPr>
            <a:picLocks noChangeAspect="1"/>
          </p:cNvPicPr>
          <p:nvPr/>
        </p:nvPicPr>
        <p:blipFill>
          <a:blip r:embed="rId4"/>
          <a:stretch>
            <a:fillRect/>
          </a:stretch>
        </p:blipFill>
        <p:spPr>
          <a:xfrm>
            <a:off x="502920" y="3905044"/>
            <a:ext cx="8226534" cy="1258175"/>
          </a:xfrm>
          <a:prstGeom prst="rect">
            <a:avLst/>
          </a:prstGeom>
        </p:spPr>
      </p:pic>
      <p:sp>
        <p:nvSpPr>
          <p:cNvPr id="21" name="原题文字_103_50"/>
          <p:cNvSpPr txBox="1"/>
          <p:nvPr/>
        </p:nvSpPr>
        <p:spPr>
          <a:xfrm>
            <a:off x="946982" y="3927108"/>
            <a:ext cx="498926" cy="303442"/>
          </a:xfrm>
          <a:prstGeom prst="rect">
            <a:avLst/>
          </a:prstGeom>
          <a:noFill/>
        </p:spPr>
        <p:txBody>
          <a:bodyPr wrap="none" lIns="0" rIns="0" tIns="0" bIns="0">
            <a:spAutoFit/>
          </a:bodyPr>
          <a:lstStyle/>
          <a:p>
            <a:pPr>
              <a:lnSpc>
                <a:spcPct val="112000"/>
              </a:lnSpc>
              <a:spcBef>
                <a:spcPts val="0"/>
              </a:spcBef>
              <a:spcAft>
                <a:spcPts val="0"/>
              </a:spcAft>
              <a:defRPr sz="1303" b="0">
                <a:solidFill>
                  <a:srgbClr val="333333"/>
                </a:solidFill>
                <a:latin typeface="微软雅黑"/>
              </a:defRPr>
            </a:pPr>
            <a:r>
              <a:rPr>
                <a:ea typeface="微软雅黑"/>
              </a:rPr>
              <a:t>含量：</a:t>
            </a:r>
          </a:p>
        </p:txBody>
      </p:sp>
      <p:sp>
        <p:nvSpPr>
          <p:cNvPr id="22" name="原题文字_103_51"/>
          <p:cNvSpPr txBox="1"/>
          <p:nvPr/>
        </p:nvSpPr>
        <p:spPr>
          <a:xfrm>
            <a:off x="3599968" y="4166219"/>
            <a:ext cx="333826" cy="185025"/>
          </a:xfrm>
          <a:prstGeom prst="rect">
            <a:avLst/>
          </a:prstGeom>
          <a:noFill/>
        </p:spPr>
        <p:txBody>
          <a:bodyPr wrap="none" lIns="0" rIns="0" tIns="0" bIns="0">
            <a:spAutoFit/>
          </a:bodyPr>
          <a:lstStyle/>
          <a:p>
            <a:pPr>
              <a:lnSpc>
                <a:spcPct val="112000"/>
              </a:lnSpc>
              <a:spcBef>
                <a:spcPts val="0"/>
              </a:spcBef>
              <a:spcAft>
                <a:spcPts val="0"/>
              </a:spcAft>
              <a:defRPr sz="896" b="0">
                <a:solidFill>
                  <a:srgbClr val="333333"/>
                </a:solidFill>
                <a:latin typeface="微软雅黑"/>
              </a:defRPr>
            </a:pPr>
            <a:r>
              <a:rPr>
                <a:ea typeface="微软雅黑"/>
              </a:rPr>
              <a:t>稀盐酸</a:t>
            </a:r>
          </a:p>
        </p:txBody>
      </p:sp>
      <p:sp>
        <p:nvSpPr>
          <p:cNvPr id="23" name="原题文字_103_52"/>
          <p:cNvSpPr txBox="1"/>
          <p:nvPr/>
        </p:nvSpPr>
        <p:spPr>
          <a:xfrm>
            <a:off x="3144520" y="4342705"/>
            <a:ext cx="185805" cy="133218"/>
          </a:xfrm>
          <a:prstGeom prst="rect">
            <a:avLst/>
          </a:prstGeom>
          <a:noFill/>
        </p:spPr>
        <p:txBody>
          <a:bodyPr wrap="none" lIns="0" rIns="0" tIns="0" bIns="0">
            <a:spAutoFit/>
          </a:bodyPr>
          <a:lstStyle/>
          <a:p>
            <a:pPr>
              <a:lnSpc>
                <a:spcPct val="112000"/>
              </a:lnSpc>
              <a:spcBef>
                <a:spcPts val="0"/>
              </a:spcBef>
              <a:spcAft>
                <a:spcPts val="0"/>
              </a:spcAft>
              <a:defRPr sz="645" b="0">
                <a:solidFill>
                  <a:srgbClr val="333333"/>
                </a:solidFill>
                <a:latin typeface="微软雅黑"/>
              </a:defRPr>
            </a:pPr>
            <a:r>
              <a:rPr>
                <a:ea typeface="微软雅黑"/>
              </a:rPr>
              <a:t>H</a:t>
            </a:r>
          </a:p>
        </p:txBody>
      </p:sp>
      <p:sp>
        <p:nvSpPr>
          <p:cNvPr id="24" name="原题文字_103_53"/>
          <p:cNvSpPr txBox="1"/>
          <p:nvPr/>
        </p:nvSpPr>
        <p:spPr>
          <a:xfrm>
            <a:off x="3673978" y="4325626"/>
            <a:ext cx="145953" cy="111015"/>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g</a:t>
            </a:r>
          </a:p>
        </p:txBody>
      </p:sp>
      <p:sp>
        <p:nvSpPr>
          <p:cNvPr id="25" name="原题文字_103_54"/>
          <p:cNvSpPr txBox="1"/>
          <p:nvPr/>
        </p:nvSpPr>
        <p:spPr>
          <a:xfrm>
            <a:off x="1271488" y="4661519"/>
            <a:ext cx="521698" cy="170223"/>
          </a:xfrm>
          <a:prstGeom prst="rect">
            <a:avLst/>
          </a:prstGeom>
          <a:noFill/>
        </p:spPr>
        <p:txBody>
          <a:bodyPr wrap="none" lIns="0" rIns="0" tIns="0" bIns="0">
            <a:spAutoFit/>
          </a:bodyPr>
          <a:lstStyle/>
          <a:p>
            <a:pPr>
              <a:lnSpc>
                <a:spcPct val="112000"/>
              </a:lnSpc>
              <a:spcBef>
                <a:spcPts val="0"/>
              </a:spcBef>
              <a:spcAft>
                <a:spcPts val="0"/>
              </a:spcAft>
              <a:defRPr sz="659" b="0">
                <a:solidFill>
                  <a:srgbClr val="333333"/>
                </a:solidFill>
                <a:latin typeface="微软雅黑"/>
              </a:defRPr>
            </a:pPr>
            <a:r>
              <a:rPr>
                <a:ea typeface="微软雅黑"/>
              </a:rPr>
              <a:t>NaHCO₃溶液</a:t>
            </a:r>
          </a:p>
        </p:txBody>
      </p:sp>
      <p:sp>
        <p:nvSpPr>
          <p:cNvPr id="26" name="原题文字_103_55"/>
          <p:cNvSpPr txBox="1"/>
          <p:nvPr/>
        </p:nvSpPr>
        <p:spPr>
          <a:xfrm>
            <a:off x="1391044" y="4598895"/>
            <a:ext cx="237043" cy="125817"/>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饱和</a:t>
            </a:r>
          </a:p>
        </p:txBody>
      </p:sp>
      <p:sp>
        <p:nvSpPr>
          <p:cNvPr id="27" name="原题文字_103_56"/>
          <p:cNvSpPr txBox="1"/>
          <p:nvPr/>
        </p:nvSpPr>
        <p:spPr>
          <a:xfrm>
            <a:off x="2216544" y="4661519"/>
            <a:ext cx="322439" cy="155421"/>
          </a:xfrm>
          <a:prstGeom prst="rect">
            <a:avLst/>
          </a:prstGeom>
          <a:noFill/>
        </p:spPr>
        <p:txBody>
          <a:bodyPr wrap="none" lIns="0" rIns="0" tIns="0" bIns="0">
            <a:spAutoFit/>
          </a:bodyPr>
          <a:lstStyle/>
          <a:p>
            <a:pPr>
              <a:lnSpc>
                <a:spcPct val="112000"/>
              </a:lnSpc>
              <a:spcBef>
                <a:spcPts val="0"/>
              </a:spcBef>
              <a:spcAft>
                <a:spcPts val="0"/>
              </a:spcAft>
              <a:defRPr sz="753" b="0">
                <a:solidFill>
                  <a:srgbClr val="333333"/>
                </a:solidFill>
                <a:latin typeface="微软雅黑"/>
              </a:defRPr>
            </a:pPr>
            <a:r>
              <a:rPr>
                <a:ea typeface="微软雅黑"/>
              </a:rPr>
              <a:t>碱石灰</a:t>
            </a:r>
          </a:p>
        </p:txBody>
      </p:sp>
      <p:sp>
        <p:nvSpPr>
          <p:cNvPr id="28" name="原题文字_103_57"/>
          <p:cNvSpPr txBox="1"/>
          <p:nvPr/>
        </p:nvSpPr>
        <p:spPr>
          <a:xfrm>
            <a:off x="3622740" y="4650133"/>
            <a:ext cx="305360" cy="162822"/>
          </a:xfrm>
          <a:prstGeom prst="rect">
            <a:avLst/>
          </a:prstGeom>
          <a:noFill/>
        </p:spPr>
        <p:txBody>
          <a:bodyPr wrap="none" lIns="0" rIns="0" tIns="0" bIns="0">
            <a:spAutoFit/>
          </a:bodyPr>
          <a:lstStyle/>
          <a:p>
            <a:pPr>
              <a:lnSpc>
                <a:spcPct val="112000"/>
              </a:lnSpc>
              <a:spcBef>
                <a:spcPts val="0"/>
              </a:spcBef>
              <a:spcAft>
                <a:spcPts val="0"/>
              </a:spcAft>
              <a:defRPr sz="736" b="0">
                <a:solidFill>
                  <a:srgbClr val="333333"/>
                </a:solidFill>
                <a:latin typeface="微软雅黑"/>
              </a:defRPr>
            </a:pPr>
            <a:r>
              <a:rPr>
                <a:ea typeface="微软雅黑"/>
              </a:rPr>
              <a:t>CaCO₃</a:t>
            </a:r>
          </a:p>
        </p:txBody>
      </p:sp>
      <p:sp>
        <p:nvSpPr>
          <p:cNvPr id="29" name="原题文字_103_58"/>
          <p:cNvSpPr txBox="1"/>
          <p:nvPr/>
        </p:nvSpPr>
        <p:spPr>
          <a:xfrm>
            <a:off x="3503185" y="4832312"/>
            <a:ext cx="134567" cy="118416"/>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D</a:t>
            </a:r>
          </a:p>
        </p:txBody>
      </p:sp>
      <p:sp>
        <p:nvSpPr>
          <p:cNvPr id="30" name="原题文字_103_59"/>
          <p:cNvSpPr txBox="1"/>
          <p:nvPr/>
        </p:nvSpPr>
        <p:spPr>
          <a:xfrm>
            <a:off x="4192051" y="4832312"/>
            <a:ext cx="134567" cy="118416"/>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E</a:t>
            </a:r>
          </a:p>
        </p:txBody>
      </p:sp>
      <p:sp>
        <p:nvSpPr>
          <p:cNvPr id="31" name="原题文字_103_60"/>
          <p:cNvSpPr txBox="1"/>
          <p:nvPr/>
        </p:nvSpPr>
        <p:spPr>
          <a:xfrm>
            <a:off x="969754" y="4934788"/>
            <a:ext cx="1091008" cy="251635"/>
          </a:xfrm>
          <a:prstGeom prst="rect">
            <a:avLst/>
          </a:prstGeom>
          <a:noFill/>
        </p:spPr>
        <p:txBody>
          <a:bodyPr wrap="none" lIns="0" rIns="0" tIns="0" bIns="0">
            <a:spAutoFit/>
          </a:bodyPr>
          <a:lstStyle/>
          <a:p>
            <a:pPr>
              <a:lnSpc>
                <a:spcPct val="112000"/>
              </a:lnSpc>
              <a:spcBef>
                <a:spcPts val="0"/>
              </a:spcBef>
              <a:spcAft>
                <a:spcPts val="0"/>
              </a:spcAft>
              <a:defRPr sz="1219" b="0">
                <a:solidFill>
                  <a:srgbClr val="333333"/>
                </a:solidFill>
                <a:latin typeface="微软雅黑"/>
              </a:defRPr>
            </a:pPr>
            <a:r>
              <a:rPr>
                <a:ea typeface="微软雅黑"/>
              </a:rPr>
              <a:t>回答下列问题：</a:t>
            </a:r>
          </a:p>
        </p:txBody>
      </p:sp>
      <p:sp>
        <p:nvSpPr>
          <p:cNvPr id="32" name="文字_(4)以上仪器的连接顺序是 ______ (按气"/>
          <p:cNvSpPr txBox="1"/>
          <p:nvPr/>
        </p:nvSpPr>
        <p:spPr>
          <a:xfrm>
            <a:off x="502920" y="5236372"/>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(4)以上仪器的连接顺序是 ______ (按气流从左到右的顺序)</a:t>
            </a:r>
          </a:p>
        </p:txBody>
      </p:sp>
      <p:sp>
        <p:nvSpPr>
          <p:cNvPr id="33" name="文字_g→|→|→e→f→ ______ →h。"/>
          <p:cNvSpPr txBox="1"/>
          <p:nvPr/>
        </p:nvSpPr>
        <p:spPr>
          <a:xfrm>
            <a:off x="502920" y="5474116"/>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g→|→|→e→f→ ______ →h。</a:t>
            </a:r>
          </a:p>
        </p:txBody>
      </p:sp>
      <p:sp>
        <p:nvSpPr>
          <p:cNvPr id="34" name="文字_(5)装置B的作用是 ______ o"/>
          <p:cNvSpPr txBox="1"/>
          <p:nvPr/>
        </p:nvSpPr>
        <p:spPr>
          <a:xfrm>
            <a:off x="502920" y="5711860"/>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(5)装置B的作用是 ______ o</a:t>
            </a:r>
          </a:p>
        </p:txBody>
      </p:sp>
      <p:sp>
        <p:nvSpPr>
          <p:cNvPr id="35" name="文字_(6)实验结束后，装置F中水的体积为VmL，已知"/>
          <p:cNvSpPr txBox="1"/>
          <p:nvPr/>
        </p:nvSpPr>
        <p:spPr>
          <a:xfrm>
            <a:off x="502920" y="5949604"/>
            <a:ext cx="11064240" cy="237744"/>
          </a:xfrm>
          <a:prstGeom prst="rect">
            <a:avLst/>
          </a:prstGeom>
          <a:noFill/>
        </p:spPr>
        <p:txBody>
          <a:bodyPr wrap="square" lIns="0" rIns="0" tIns="0" bIns="0">
            <a:spAutoFit/>
          </a:bodyPr>
          <a:lstStyle/>
          <a:p>
            <a:pPr>
              <a:lnSpc>
                <a:spcPct val="112000"/>
              </a:lnSpc>
              <a:spcBef>
                <a:spcPts val="0"/>
              </a:spcBef>
              <a:spcAft>
                <a:spcPts val="0"/>
              </a:spcAft>
              <a:defRPr sz="1300" b="0">
                <a:solidFill>
                  <a:srgbClr val="333333"/>
                </a:solidFill>
                <a:latin typeface="微软雅黑"/>
              </a:defRPr>
            </a:pPr>
            <a:r>
              <a:rPr>
                <a:ea typeface="微软雅黑"/>
              </a:rPr>
              <a:t>(6)实验结束后，装置F中水的体积为VmL，已知氧气的密度为ρg/L，样品中Na₂O₂质量分数为 ______ (用含p、m、V的代数式表示)。</a:t>
            </a:r>
          </a:p>
        </p:txBody>
      </p:sp>
      <p:sp>
        <p:nvSpPr>
          <p:cNvPr id="36" name="文字_解答题  ·  04-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04-056</a:t>
            </a:r>
          </a:p>
        </p:txBody>
      </p:sp>
      <p:sp>
        <p:nvSpPr>
          <p:cNvPr id="37"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巩固11</a:t>
            </a:r>
          </a:p>
        </p:txBody>
      </p:sp>
      <p:sp>
        <p:nvSpPr>
          <p:cNvPr id="5" name="文字_P10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P104</a:t>
            </a:r>
          </a:p>
        </p:txBody>
      </p:sp>
      <p:sp>
        <p:nvSpPr>
          <p:cNvPr id="6" name="文字_钠元素能形成众多用途广泛的化合物。回答下列问题："/>
          <p:cNvSpPr txBox="1"/>
          <p:nvPr/>
        </p:nvSpPr>
        <p:spPr>
          <a:xfrm>
            <a:off x="502920" y="107899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钠元素能形成众多用途广泛的化合物。回答下列问题：</a:t>
            </a:r>
          </a:p>
        </p:txBody>
      </p:sp>
      <p:sp>
        <p:nvSpPr>
          <p:cNvPr id="7" name="文字_某兴趣小组的学生用下列装置进行“钠与二氧化碳反应"/>
          <p:cNvSpPr txBox="1"/>
          <p:nvPr/>
        </p:nvSpPr>
        <p:spPr>
          <a:xfrm>
            <a:off x="502920" y="1371600"/>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某兴趣小组的学生用下列装置进行“钠与二氧化碳反应”的</a:t>
            </a:r>
          </a:p>
          <a:p>
            <a:pPr>
              <a:lnSpc>
                <a:spcPct val="112000"/>
              </a:lnSpc>
              <a:spcBef>
                <a:spcPts val="0"/>
              </a:spcBef>
              <a:spcAft>
                <a:spcPts val="0"/>
              </a:spcAft>
              <a:defRPr sz="1600" b="0">
                <a:solidFill>
                  <a:srgbClr val="333333"/>
                </a:solidFill>
                <a:latin typeface="微软雅黑"/>
              </a:defRPr>
            </a:pPr>
            <a:r>
              <a:rPr>
                <a:ea typeface="微软雅黑"/>
              </a:rPr>
              <a:t>实验探究（尾气处理装置已略去)。请回答下列问题：</a:t>
            </a:r>
          </a:p>
        </p:txBody>
      </p:sp>
      <p:sp>
        <p:nvSpPr>
          <p:cNvPr id="8" name="文字_已知：①CO₂ + Na₂CO₃ + H₂O=2"/>
          <p:cNvSpPr txBox="1"/>
          <p:nvPr/>
        </p:nvSpPr>
        <p:spPr>
          <a:xfrm>
            <a:off x="502920" y="1906016"/>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已知：①CO₂ + Na₂CO₃ + H₂O=2NaHCO₃</a:t>
            </a:r>
          </a:p>
        </p:txBody>
      </p:sp>
      <p:sp>
        <p:nvSpPr>
          <p:cNvPr id="9" name="文字_②PdCl₂ + CO + H₂O=Pd↓+CO"/>
          <p:cNvSpPr txBox="1"/>
          <p:nvPr/>
        </p:nvSpPr>
        <p:spPr>
          <a:xfrm>
            <a:off x="502920" y="2198623"/>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②PdCl₂ + CO + H₂O=Pd↓+CO₂ + 2HCl，反应生成黑色</a:t>
            </a:r>
          </a:p>
          <a:p>
            <a:pPr>
              <a:lnSpc>
                <a:spcPct val="112000"/>
              </a:lnSpc>
              <a:spcBef>
                <a:spcPts val="0"/>
              </a:spcBef>
              <a:spcAft>
                <a:spcPts val="0"/>
              </a:spcAft>
              <a:defRPr sz="1600" b="0">
                <a:solidFill>
                  <a:srgbClr val="333333"/>
                </a:solidFill>
                <a:latin typeface="微软雅黑"/>
              </a:defRPr>
            </a:pPr>
            <a:r>
              <a:rPr>
                <a:ea typeface="微软雅黑"/>
              </a:rPr>
              <a:t>的金属钯，此反应可用来检测微量CO的存在。</a:t>
            </a:r>
          </a:p>
        </p:txBody>
      </p:sp>
      <p:sp>
        <p:nvSpPr>
          <p:cNvPr id="10" name="文字_(1) ______ 过氧化钠在空气中变质，过程"/>
          <p:cNvSpPr txBox="1"/>
          <p:nvPr/>
        </p:nvSpPr>
        <p:spPr>
          <a:xfrm>
            <a:off x="502920" y="2733039"/>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 ______ 过氧化钠在空气中变质，过程中固体由 ______ 色</a:t>
            </a:r>
          </a:p>
          <a:p>
            <a:pPr>
              <a:lnSpc>
                <a:spcPct val="112000"/>
              </a:lnSpc>
              <a:spcBef>
                <a:spcPts val="0"/>
              </a:spcBef>
              <a:spcAft>
                <a:spcPts val="0"/>
              </a:spcAft>
              <a:defRPr sz="1600" b="0">
                <a:solidFill>
                  <a:srgbClr val="333333"/>
                </a:solidFill>
                <a:latin typeface="微软雅黑"/>
              </a:defRPr>
            </a:pPr>
            <a:r>
              <a:rPr>
                <a:ea typeface="微软雅黑"/>
              </a:rPr>
              <a:t>最终变为 ______ 色，写出一个相应氧化还原反应的化</a:t>
            </a:r>
          </a:p>
        </p:txBody>
      </p:sp>
      <p:sp>
        <p:nvSpPr>
          <p:cNvPr id="11" name="文字_学方程式并用双线桥法标出电子转移的方向与数目："/>
          <p:cNvSpPr txBox="1"/>
          <p:nvPr/>
        </p:nvSpPr>
        <p:spPr>
          <a:xfrm>
            <a:off x="502920" y="326745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学方程式并用双线桥法标出电子转移的方向与数目：</a:t>
            </a:r>
          </a:p>
        </p:txBody>
      </p:sp>
      <p:sp>
        <p:nvSpPr>
          <p:cNvPr id="12" name="文字_(2) 通常实验室制取CO₂气体的离子方程式是 "/>
          <p:cNvSpPr txBox="1"/>
          <p:nvPr/>
        </p:nvSpPr>
        <p:spPr>
          <a:xfrm>
            <a:off x="502920" y="3560063"/>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 通常实验室制取CO₂气体的离子方程式是 ______ ，为了</a:t>
            </a:r>
          </a:p>
          <a:p>
            <a:pPr>
              <a:lnSpc>
                <a:spcPct val="112000"/>
              </a:lnSpc>
              <a:spcBef>
                <a:spcPts val="0"/>
              </a:spcBef>
              <a:spcAft>
                <a:spcPts val="0"/>
              </a:spcAft>
              <a:defRPr sz="1600" b="0">
                <a:solidFill>
                  <a:srgbClr val="333333"/>
                </a:solidFill>
                <a:latin typeface="微软雅黑"/>
              </a:defRPr>
            </a:pPr>
            <a:r>
              <a:rPr>
                <a:ea typeface="微软雅黑"/>
              </a:rPr>
              <a:t>使制气装置能“随开随用，随关随停”，下图A处应选</a:t>
            </a:r>
          </a:p>
        </p:txBody>
      </p:sp>
      <p:pic>
        <p:nvPicPr>
          <p:cNvPr id="13" name="Picture 12" descr="image.png"/>
          <p:cNvPicPr>
            <a:picLocks noChangeAspect="1"/>
          </p:cNvPicPr>
          <p:nvPr/>
        </p:nvPicPr>
        <p:blipFill>
          <a:blip r:embed="rId3"/>
          <a:stretch>
            <a:fillRect/>
          </a:stretch>
        </p:blipFill>
        <p:spPr>
          <a:xfrm>
            <a:off x="6263640" y="1078992"/>
            <a:ext cx="5376672" cy="1949741"/>
          </a:xfrm>
          <a:prstGeom prst="rect">
            <a:avLst/>
          </a:prstGeom>
        </p:spPr>
      </p:pic>
      <p:sp>
        <p:nvSpPr>
          <p:cNvPr id="14" name="原题文字_104_16"/>
          <p:cNvSpPr txBox="1"/>
          <p:nvPr/>
        </p:nvSpPr>
        <p:spPr>
          <a:xfrm>
            <a:off x="6561310" y="1091195"/>
            <a:ext cx="598112"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用的装置是</a:t>
            </a:r>
          </a:p>
        </p:txBody>
      </p:sp>
      <p:sp>
        <p:nvSpPr>
          <p:cNvPr id="15" name="原题文字_104_17"/>
          <p:cNvSpPr txBox="1"/>
          <p:nvPr/>
        </p:nvSpPr>
        <p:spPr>
          <a:xfrm>
            <a:off x="7469205" y="1091195"/>
            <a:ext cx="1081826" cy="183811"/>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(填写“T”、“II”或“II”)。</a:t>
            </a:r>
          </a:p>
        </p:txBody>
      </p:sp>
      <p:sp>
        <p:nvSpPr>
          <p:cNvPr id="16" name="原题文字_104_18"/>
          <p:cNvSpPr txBox="1"/>
          <p:nvPr/>
        </p:nvSpPr>
        <p:spPr>
          <a:xfrm>
            <a:off x="7372462" y="1370261"/>
            <a:ext cx="244628"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止水夹</a:t>
            </a:r>
          </a:p>
        </p:txBody>
      </p:sp>
      <p:sp>
        <p:nvSpPr>
          <p:cNvPr id="17" name="原题文字_104_19"/>
          <p:cNvSpPr txBox="1"/>
          <p:nvPr/>
        </p:nvSpPr>
        <p:spPr>
          <a:xfrm>
            <a:off x="7342695" y="1567468"/>
            <a:ext cx="181373"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有孔</a:t>
            </a:r>
          </a:p>
        </p:txBody>
      </p:sp>
      <p:sp>
        <p:nvSpPr>
          <p:cNvPr id="18" name="原题文字_104_20"/>
          <p:cNvSpPr txBox="1"/>
          <p:nvPr/>
        </p:nvSpPr>
        <p:spPr>
          <a:xfrm>
            <a:off x="7346416" y="1630723"/>
            <a:ext cx="233466" cy="109728"/>
          </a:xfrm>
          <a:prstGeom prst="rect">
            <a:avLst/>
          </a:prstGeom>
          <a:noFill/>
        </p:spPr>
        <p:txBody>
          <a:bodyPr wrap="none" lIns="0" rIns="0" tIns="0" bIns="0">
            <a:spAutoFit/>
          </a:bodyPr>
          <a:lstStyle/>
          <a:p>
            <a:pPr>
              <a:lnSpc>
                <a:spcPct val="112000"/>
              </a:lnSpc>
              <a:spcBef>
                <a:spcPts val="0"/>
              </a:spcBef>
              <a:spcAft>
                <a:spcPts val="0"/>
              </a:spcAft>
              <a:defRPr sz="588" b="0">
                <a:solidFill>
                  <a:srgbClr val="333333"/>
                </a:solidFill>
                <a:latin typeface="微软雅黑"/>
              </a:defRPr>
            </a:pPr>
            <a:r>
              <a:rPr>
                <a:ea typeface="微软雅黑"/>
              </a:rPr>
              <a:t>塑料板</a:t>
            </a:r>
          </a:p>
        </p:txBody>
      </p:sp>
      <p:sp>
        <p:nvSpPr>
          <p:cNvPr id="19" name="原题文字_104_21"/>
          <p:cNvSpPr txBox="1"/>
          <p:nvPr/>
        </p:nvSpPr>
        <p:spPr>
          <a:xfrm>
            <a:off x="6966886" y="1902347"/>
            <a:ext cx="121839"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Ⅱ</a:t>
            </a:r>
          </a:p>
        </p:txBody>
      </p:sp>
      <p:sp>
        <p:nvSpPr>
          <p:cNvPr id="20" name="原题文字_104_22"/>
          <p:cNvSpPr txBox="1"/>
          <p:nvPr/>
        </p:nvSpPr>
        <p:spPr>
          <a:xfrm>
            <a:off x="7275719" y="1902347"/>
            <a:ext cx="133002"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Ⅲ</a:t>
            </a:r>
          </a:p>
        </p:txBody>
      </p:sp>
      <p:sp>
        <p:nvSpPr>
          <p:cNvPr id="21" name="原题文字_104_23"/>
          <p:cNvSpPr txBox="1"/>
          <p:nvPr/>
        </p:nvSpPr>
        <p:spPr>
          <a:xfrm>
            <a:off x="6297127" y="2069787"/>
            <a:ext cx="218582"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(3)</a:t>
            </a:r>
          </a:p>
        </p:txBody>
      </p:sp>
      <p:sp>
        <p:nvSpPr>
          <p:cNvPr id="22" name="原题文字_104_24"/>
          <p:cNvSpPr txBox="1"/>
          <p:nvPr/>
        </p:nvSpPr>
        <p:spPr>
          <a:xfrm>
            <a:off x="6565031" y="2062345"/>
            <a:ext cx="1174848"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装置B中应盛放的试剂是</a:t>
            </a:r>
          </a:p>
        </p:txBody>
      </p:sp>
      <p:sp>
        <p:nvSpPr>
          <p:cNvPr id="23" name="原题文字_104_25"/>
          <p:cNvSpPr txBox="1"/>
          <p:nvPr/>
        </p:nvSpPr>
        <p:spPr>
          <a:xfrm>
            <a:off x="8064546" y="2058624"/>
            <a:ext cx="1658563"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溶液(填写选项字母，下同)，C中为</a:t>
            </a:r>
          </a:p>
        </p:txBody>
      </p:sp>
      <p:sp>
        <p:nvSpPr>
          <p:cNvPr id="24" name="原题文字_104_26"/>
          <p:cNvSpPr txBox="1"/>
          <p:nvPr/>
        </p:nvSpPr>
        <p:spPr>
          <a:xfrm>
            <a:off x="7539901" y="2226064"/>
            <a:ext cx="14044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Na</a:t>
            </a:r>
          </a:p>
        </p:txBody>
      </p:sp>
      <p:sp>
        <p:nvSpPr>
          <p:cNvPr id="25" name="原题文字_104_27"/>
          <p:cNvSpPr txBox="1"/>
          <p:nvPr/>
        </p:nvSpPr>
        <p:spPr>
          <a:xfrm>
            <a:off x="7759433" y="2389782"/>
            <a:ext cx="140444" cy="353111"/>
          </a:xfrm>
          <a:prstGeom prst="rect">
            <a:avLst/>
          </a:prstGeom>
          <a:noFill/>
        </p:spPr>
        <p:txBody>
          <a:bodyPr wrap="none" lIns="0" rIns="0" tIns="0" bIns="0">
            <a:spAutoFit/>
          </a:bodyPr>
          <a:lstStyle/>
          <a:p>
            <a:pPr>
              <a:lnSpc>
                <a:spcPct val="112000"/>
              </a:lnSpc>
              <a:spcBef>
                <a:spcPts val="0"/>
              </a:spcBef>
              <a:spcAft>
                <a:spcPts val="0"/>
              </a:spcAft>
              <a:defRPr sz="1129" b="0">
                <a:solidFill>
                  <a:srgbClr val="333333"/>
                </a:solidFill>
                <a:latin typeface="微软雅黑"/>
              </a:defRPr>
            </a:pPr>
            <a:r>
              <a:rPr>
                <a:ea typeface="微软雅黑"/>
              </a:rPr>
              <a:t>酒精喷灯</a:t>
            </a:r>
          </a:p>
        </p:txBody>
      </p:sp>
      <p:sp>
        <p:nvSpPr>
          <p:cNvPr id="26" name="原题文字_104_28"/>
          <p:cNvSpPr txBox="1"/>
          <p:nvPr/>
        </p:nvSpPr>
        <p:spPr>
          <a:xfrm>
            <a:off x="8034779" y="2363736"/>
            <a:ext cx="144165" cy="493388"/>
          </a:xfrm>
          <a:prstGeom prst="rect">
            <a:avLst/>
          </a:prstGeom>
          <a:noFill/>
        </p:spPr>
        <p:txBody>
          <a:bodyPr wrap="none" lIns="0" rIns="0" tIns="0" bIns="0">
            <a:spAutoFit/>
          </a:bodyPr>
          <a:lstStyle/>
          <a:p>
            <a:pPr>
              <a:lnSpc>
                <a:spcPct val="112000"/>
              </a:lnSpc>
              <a:spcBef>
                <a:spcPts val="0"/>
              </a:spcBef>
              <a:spcAft>
                <a:spcPts val="0"/>
              </a:spcAft>
              <a:defRPr sz="1577" b="0">
                <a:solidFill>
                  <a:srgbClr val="333333"/>
                </a:solidFill>
                <a:latin typeface="微软雅黑"/>
              </a:defRPr>
            </a:pPr>
            <a:r>
              <a:rPr>
                <a:ea typeface="微软雅黑"/>
              </a:rPr>
              <a:t>澄清石灰水</a:t>
            </a:r>
          </a:p>
        </p:txBody>
      </p:sp>
      <p:sp>
        <p:nvSpPr>
          <p:cNvPr id="27" name="原题文字_104_29"/>
          <p:cNvSpPr txBox="1"/>
          <p:nvPr/>
        </p:nvSpPr>
        <p:spPr>
          <a:xfrm>
            <a:off x="8239427" y="2505130"/>
            <a:ext cx="203699" cy="120928"/>
          </a:xfrm>
          <a:prstGeom prst="rect">
            <a:avLst/>
          </a:prstGeom>
          <a:noFill/>
        </p:spPr>
        <p:txBody>
          <a:bodyPr wrap="none" lIns="0" rIns="0" tIns="0" bIns="0">
            <a:spAutoFit/>
          </a:bodyPr>
          <a:lstStyle/>
          <a:p>
            <a:pPr>
              <a:lnSpc>
                <a:spcPct val="112000"/>
              </a:lnSpc>
              <a:spcBef>
                <a:spcPts val="0"/>
              </a:spcBef>
              <a:spcAft>
                <a:spcPts val="0"/>
              </a:spcAft>
              <a:defRPr sz="540" b="0">
                <a:solidFill>
                  <a:srgbClr val="333333"/>
                </a:solidFill>
                <a:latin typeface="微软雅黑"/>
              </a:defRPr>
            </a:pPr>
            <a:r>
              <a:rPr>
                <a:ea typeface="微软雅黑"/>
              </a:rPr>
              <a:t>PdCl₂</a:t>
            </a:r>
          </a:p>
        </p:txBody>
      </p:sp>
      <p:sp>
        <p:nvSpPr>
          <p:cNvPr id="28" name="原题文字_104_30"/>
          <p:cNvSpPr txBox="1"/>
          <p:nvPr/>
        </p:nvSpPr>
        <p:spPr>
          <a:xfrm>
            <a:off x="8239427" y="2564664"/>
            <a:ext cx="199978"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溶液</a:t>
            </a:r>
          </a:p>
        </p:txBody>
      </p:sp>
      <p:sp>
        <p:nvSpPr>
          <p:cNvPr id="29" name="原题文字_104_31"/>
          <p:cNvSpPr txBox="1"/>
          <p:nvPr/>
        </p:nvSpPr>
        <p:spPr>
          <a:xfrm>
            <a:off x="6698982" y="2758149"/>
            <a:ext cx="114398"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A</a:t>
            </a:r>
          </a:p>
        </p:txBody>
      </p:sp>
      <p:sp>
        <p:nvSpPr>
          <p:cNvPr id="30" name="原题文字_104_32"/>
          <p:cNvSpPr txBox="1"/>
          <p:nvPr/>
        </p:nvSpPr>
        <p:spPr>
          <a:xfrm>
            <a:off x="6881306" y="2758149"/>
            <a:ext cx="114398"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B</a:t>
            </a:r>
          </a:p>
        </p:txBody>
      </p:sp>
      <p:sp>
        <p:nvSpPr>
          <p:cNvPr id="31" name="原题文字_104_33"/>
          <p:cNvSpPr txBox="1"/>
          <p:nvPr/>
        </p:nvSpPr>
        <p:spPr>
          <a:xfrm>
            <a:off x="7093396" y="2754429"/>
            <a:ext cx="110677"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C</a:t>
            </a:r>
          </a:p>
        </p:txBody>
      </p:sp>
      <p:sp>
        <p:nvSpPr>
          <p:cNvPr id="32" name="原题文字_104_34"/>
          <p:cNvSpPr txBox="1"/>
          <p:nvPr/>
        </p:nvSpPr>
        <p:spPr>
          <a:xfrm>
            <a:off x="7513855" y="2758149"/>
            <a:ext cx="110677"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D</a:t>
            </a:r>
          </a:p>
        </p:txBody>
      </p:sp>
      <p:sp>
        <p:nvSpPr>
          <p:cNvPr id="33" name="原题文字_104_35"/>
          <p:cNvSpPr txBox="1"/>
          <p:nvPr/>
        </p:nvSpPr>
        <p:spPr>
          <a:xfrm>
            <a:off x="7960361" y="2750708"/>
            <a:ext cx="9951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E</a:t>
            </a:r>
          </a:p>
        </p:txBody>
      </p:sp>
      <p:sp>
        <p:nvSpPr>
          <p:cNvPr id="34" name="原题文字_104_36"/>
          <p:cNvSpPr txBox="1"/>
          <p:nvPr/>
        </p:nvSpPr>
        <p:spPr>
          <a:xfrm>
            <a:off x="8176172" y="2754429"/>
            <a:ext cx="9951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F</a:t>
            </a:r>
          </a:p>
        </p:txBody>
      </p:sp>
      <p:sp>
        <p:nvSpPr>
          <p:cNvPr id="35" name="原题文字_104_37"/>
          <p:cNvSpPr txBox="1"/>
          <p:nvPr/>
        </p:nvSpPr>
        <p:spPr>
          <a:xfrm>
            <a:off x="6561310" y="2869776"/>
            <a:ext cx="572066"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A. 浓硫酸</a:t>
            </a:r>
          </a:p>
        </p:txBody>
      </p:sp>
      <p:sp>
        <p:nvSpPr>
          <p:cNvPr id="36" name="原题文字_104_38"/>
          <p:cNvSpPr txBox="1"/>
          <p:nvPr/>
        </p:nvSpPr>
        <p:spPr>
          <a:xfrm>
            <a:off x="7383624" y="2869776"/>
            <a:ext cx="944154"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B. 饱和NaOH溶液</a:t>
            </a:r>
          </a:p>
        </p:txBody>
      </p:sp>
      <p:sp>
        <p:nvSpPr>
          <p:cNvPr id="37" name="原题文字_104_39"/>
          <p:cNvSpPr txBox="1"/>
          <p:nvPr/>
        </p:nvSpPr>
        <p:spPr>
          <a:xfrm>
            <a:off x="8592911" y="2873497"/>
            <a:ext cx="1044618"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C. 饱和Na₂CO₃溶液</a:t>
            </a:r>
          </a:p>
        </p:txBody>
      </p:sp>
      <p:sp>
        <p:nvSpPr>
          <p:cNvPr id="38" name="原题文字_104_40"/>
          <p:cNvSpPr txBox="1"/>
          <p:nvPr/>
        </p:nvSpPr>
        <p:spPr>
          <a:xfrm>
            <a:off x="9902660" y="2880939"/>
            <a:ext cx="1078106"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D. 饱和NaHCO₃溶液</a:t>
            </a:r>
          </a:p>
        </p:txBody>
      </p:sp>
      <p:sp>
        <p:nvSpPr>
          <p:cNvPr id="39" name="文字_(4) ______ 装配好实验装置后，按以下操"/>
          <p:cNvSpPr txBox="1"/>
          <p:nvPr/>
        </p:nvSpPr>
        <p:spPr>
          <a:xfrm>
            <a:off x="6263640" y="3101885"/>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 ______ 装配好实验装置后，按以下操作顺序进行实验。</a:t>
            </a:r>
          </a:p>
        </p:txBody>
      </p:sp>
      <p:sp>
        <p:nvSpPr>
          <p:cNvPr id="40" name="文字_①检查装置的气密性；②打开CO₂气体发生装置，使"/>
          <p:cNvSpPr txBox="1"/>
          <p:nvPr/>
        </p:nvSpPr>
        <p:spPr>
          <a:xfrm>
            <a:off x="6263640" y="3394493"/>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①检查装置的气密性；②打开CO₂气体发生装置，使装置D</a:t>
            </a:r>
          </a:p>
          <a:p>
            <a:pPr>
              <a:lnSpc>
                <a:spcPct val="112000"/>
              </a:lnSpc>
              <a:spcBef>
                <a:spcPts val="0"/>
              </a:spcBef>
              <a:spcAft>
                <a:spcPts val="0"/>
              </a:spcAft>
              <a:defRPr sz="1600" b="0">
                <a:solidFill>
                  <a:srgbClr val="333333"/>
                </a:solidFill>
                <a:latin typeface="微软雅黑"/>
              </a:defRPr>
            </a:pPr>
            <a:r>
              <a:rPr>
                <a:ea typeface="微软雅黑"/>
              </a:rPr>
              <a:t>中充满CO₂；③点燃酒精喷灯一段时间后，观</a:t>
            </a:r>
          </a:p>
        </p:txBody>
      </p:sp>
      <p:sp>
        <p:nvSpPr>
          <p:cNvPr id="41" name="文字_察到装置D中钠剧烈燃烧，产生大量白烟。"/>
          <p:cNvSpPr txBox="1"/>
          <p:nvPr/>
        </p:nvSpPr>
        <p:spPr>
          <a:xfrm>
            <a:off x="6263640" y="3928909"/>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察到装置D中钠剧烈燃烧，产生大量白烟。</a:t>
            </a:r>
          </a:p>
        </p:txBody>
      </p:sp>
      <p:sp>
        <p:nvSpPr>
          <p:cNvPr id="42" name="文字_①装置F中溶液无明显变化，取少量固体生成物与盐酸"/>
          <p:cNvSpPr txBox="1"/>
          <p:nvPr/>
        </p:nvSpPr>
        <p:spPr>
          <a:xfrm>
            <a:off x="6263640" y="4221517"/>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①装置F中溶液无明显变化，取少量固体生成物与盐酸反应</a:t>
            </a:r>
          </a:p>
          <a:p>
            <a:pPr>
              <a:lnSpc>
                <a:spcPct val="112000"/>
              </a:lnSpc>
              <a:spcBef>
                <a:spcPts val="0"/>
              </a:spcBef>
              <a:spcAft>
                <a:spcPts val="0"/>
              </a:spcAft>
              <a:defRPr sz="1600" b="0">
                <a:solidFill>
                  <a:srgbClr val="333333"/>
                </a:solidFill>
                <a:latin typeface="微软雅黑"/>
              </a:defRPr>
            </a:pPr>
            <a:r>
              <a:rPr>
                <a:ea typeface="微软雅黑"/>
              </a:rPr>
              <a:t>后，有能使澄清石灰水变浑浊的气体放出。则钠与二氧化碳</a:t>
            </a:r>
          </a:p>
          <a:p>
            <a:pPr>
              <a:lnSpc>
                <a:spcPct val="112000"/>
              </a:lnSpc>
              <a:spcBef>
                <a:spcPts val="0"/>
              </a:spcBef>
              <a:spcAft>
                <a:spcPts val="0"/>
              </a:spcAft>
              <a:defRPr sz="1600" b="0">
                <a:solidFill>
                  <a:srgbClr val="333333"/>
                </a:solidFill>
                <a:latin typeface="微软雅黑"/>
              </a:defRPr>
            </a:pPr>
            <a:r>
              <a:rPr>
                <a:ea typeface="微软雅黑"/>
              </a:rPr>
              <a:t>反应的化学方程式 ______ o</a:t>
            </a:r>
          </a:p>
        </p:txBody>
      </p:sp>
      <p:sp>
        <p:nvSpPr>
          <p:cNvPr id="43" name="文字_②装置F中有黑色沉淀生成，取少量固体生成物与盐酸"/>
          <p:cNvSpPr txBox="1"/>
          <p:nvPr/>
        </p:nvSpPr>
        <p:spPr>
          <a:xfrm>
            <a:off x="6263640" y="4997741"/>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②装置F中有黑色沉淀生成，取少量固体生成物与盐酸反应</a:t>
            </a:r>
          </a:p>
          <a:p>
            <a:pPr>
              <a:lnSpc>
                <a:spcPct val="112000"/>
              </a:lnSpc>
              <a:spcBef>
                <a:spcPts val="0"/>
              </a:spcBef>
              <a:spcAft>
                <a:spcPts val="0"/>
              </a:spcAft>
              <a:defRPr sz="1600" b="0">
                <a:solidFill>
                  <a:srgbClr val="333333"/>
                </a:solidFill>
                <a:latin typeface="微软雅黑"/>
              </a:defRPr>
            </a:pPr>
            <a:r>
              <a:rPr>
                <a:ea typeface="微软雅黑"/>
              </a:rPr>
              <a:t>后，有能使澄清石灰水变浑浊的气体放出。则钠与二氧化碳</a:t>
            </a:r>
          </a:p>
          <a:p>
            <a:pPr>
              <a:lnSpc>
                <a:spcPct val="112000"/>
              </a:lnSpc>
              <a:spcBef>
                <a:spcPts val="0"/>
              </a:spcBef>
              <a:spcAft>
                <a:spcPts val="0"/>
              </a:spcAft>
              <a:defRPr sz="1600" b="0">
                <a:solidFill>
                  <a:srgbClr val="333333"/>
                </a:solidFill>
                <a:latin typeface="微软雅黑"/>
              </a:defRPr>
            </a:pPr>
            <a:r>
              <a:rPr>
                <a:ea typeface="微软雅黑"/>
              </a:rPr>
              <a:t>反应的化学方程式是</a:t>
            </a:r>
          </a:p>
        </p:txBody>
      </p:sp>
      <p:sp>
        <p:nvSpPr>
          <p:cNvPr id="44" name="文字_解答题  ·  04-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04-057</a:t>
            </a:r>
          </a:p>
        </p:txBody>
      </p:sp>
      <p:sp>
        <p:nvSpPr>
          <p:cNvPr id="45"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1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巩固12</a:t>
            </a:r>
          </a:p>
        </p:txBody>
      </p:sp>
      <p:sp>
        <p:nvSpPr>
          <p:cNvPr id="5" name="文字_P104–1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P104–105</a:t>
            </a:r>
          </a:p>
        </p:txBody>
      </p:sp>
      <p:sp>
        <p:nvSpPr>
          <p:cNvPr id="6" name="文字_某兴趣小组课后对Na₂CO₃和NaHCO₃的性质"/>
          <p:cNvSpPr txBox="1"/>
          <p:nvPr/>
        </p:nvSpPr>
        <p:spPr>
          <a:xfrm>
            <a:off x="502920" y="107899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某兴趣小组课后对Na₂CO₃和NaHCO₃的性质进行实验探究，回答下列有关问题：</a:t>
            </a:r>
          </a:p>
        </p:txBody>
      </p:sp>
      <p:sp>
        <p:nvSpPr>
          <p:cNvPr id="7" name="文字_(1)实验室两瓶固体试剂标签已经模糊，无法区分N"/>
          <p:cNvSpPr txBox="1"/>
          <p:nvPr/>
        </p:nvSpPr>
        <p:spPr>
          <a:xfrm>
            <a:off x="502920" y="1344168"/>
            <a:ext cx="11064240" cy="484314"/>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(1)实验室两瓶固体试剂标签已经模糊，无法区分Na₂CO₃和NaHCO₃两种白色固体，该小组设计了下述实验方案，方案或结论不正确的</a:t>
            </a:r>
          </a:p>
          <a:p>
            <a:pPr>
              <a:lnSpc>
                <a:spcPct val="112000"/>
              </a:lnSpc>
              <a:spcBef>
                <a:spcPts val="0"/>
              </a:spcBef>
              <a:spcAft>
                <a:spcPts val="0"/>
              </a:spcAft>
              <a:defRPr sz="1450" b="0">
                <a:solidFill>
                  <a:srgbClr val="333333"/>
                </a:solidFill>
                <a:latin typeface="微软雅黑"/>
              </a:defRPr>
            </a:pPr>
            <a:r>
              <a:rPr>
                <a:ea typeface="微软雅黑"/>
              </a:rPr>
              <a:t>是 ______ o</a:t>
            </a:r>
          </a:p>
        </p:txBody>
      </p:sp>
      <p:sp>
        <p:nvSpPr>
          <p:cNvPr id="8" name="文字_A. 将两种固体分别配制成溶液，滴入澄清石灰水，"/>
          <p:cNvSpPr txBox="1"/>
          <p:nvPr/>
        </p:nvSpPr>
        <p:spPr>
          <a:xfrm>
            <a:off x="502920" y="182848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A. 将两种固体分别配制成溶液，滴入澄清石灰水，观察有无浑浊，出现浑浊现象的为Na₂CO₃</a:t>
            </a:r>
          </a:p>
        </p:txBody>
      </p:sp>
      <p:sp>
        <p:nvSpPr>
          <p:cNvPr id="9" name="文字_B. 称取等质量的固体粉末装入气球中，倒入装有足"/>
          <p:cNvSpPr txBox="1"/>
          <p:nvPr/>
        </p:nvSpPr>
        <p:spPr>
          <a:xfrm>
            <a:off x="502920" y="2093658"/>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B. 称取等质量的固体粉末装入气球中，倒入装有足量盐酸的试管中，最终气球体积大的为Na₂CO₃</a:t>
            </a:r>
          </a:p>
        </p:txBody>
      </p:sp>
      <p:sp>
        <p:nvSpPr>
          <p:cNvPr id="10" name="文字_C. 将两种固体分别加入试管中加热，将产生的气体"/>
          <p:cNvSpPr txBox="1"/>
          <p:nvPr/>
        </p:nvSpPr>
        <p:spPr>
          <a:xfrm>
            <a:off x="502920" y="235883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C. 将两种固体分别加入试管中加热，将产生的气体通入澄清石灰水，出现浑浊的为NaHCO₃</a:t>
            </a:r>
          </a:p>
        </p:txBody>
      </p:sp>
      <p:sp>
        <p:nvSpPr>
          <p:cNvPr id="11" name="文字_D. 往两种固体中分别滴入适量的水，用温度计测量"/>
          <p:cNvSpPr txBox="1"/>
          <p:nvPr/>
        </p:nvSpPr>
        <p:spPr>
          <a:xfrm>
            <a:off x="502920" y="262401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D. 往两种固体中分别滴入适量的水，用温度计测量过程中温度的变化，温度升高的为Na₂CO₃</a:t>
            </a:r>
          </a:p>
        </p:txBody>
      </p:sp>
      <p:sp>
        <p:nvSpPr>
          <p:cNvPr id="12" name="文字_(2)确定固体成分后，该小组利用传感器探究Na₂"/>
          <p:cNvSpPr txBox="1"/>
          <p:nvPr/>
        </p:nvSpPr>
        <p:spPr>
          <a:xfrm>
            <a:off x="502920" y="288918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(2)确定固体成分后，该小组利用传感器探究Na₂CO₃和NaHCO₃的性质。</a:t>
            </a:r>
          </a:p>
        </p:txBody>
      </p:sp>
      <p:sp>
        <p:nvSpPr>
          <p:cNvPr id="13" name="文字_(已知：氢氧根离子的浓度越小，pH越小，溶液碱性"/>
          <p:cNvSpPr txBox="1"/>
          <p:nvPr/>
        </p:nvSpPr>
        <p:spPr>
          <a:xfrm>
            <a:off x="502920" y="315436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(已知：氢氧根离子的浓度越小，pH越小，溶液碱性越弱)</a:t>
            </a:r>
          </a:p>
        </p:txBody>
      </p:sp>
      <p:pic>
        <p:nvPicPr>
          <p:cNvPr id="14" name="Picture 13" descr="image.png"/>
          <p:cNvPicPr>
            <a:picLocks noChangeAspect="1"/>
          </p:cNvPicPr>
          <p:nvPr/>
        </p:nvPicPr>
        <p:blipFill>
          <a:blip r:embed="rId3"/>
          <a:stretch>
            <a:fillRect/>
          </a:stretch>
        </p:blipFill>
        <p:spPr>
          <a:xfrm>
            <a:off x="502920" y="3419538"/>
            <a:ext cx="9175750" cy="1987550"/>
          </a:xfrm>
          <a:prstGeom prst="rect">
            <a:avLst/>
          </a:prstGeom>
        </p:spPr>
      </p:pic>
      <p:sp>
        <p:nvSpPr>
          <p:cNvPr id="15" name="原题文字_105_0"/>
          <p:cNvSpPr txBox="1"/>
          <p:nvPr/>
        </p:nvSpPr>
        <p:spPr>
          <a:xfrm>
            <a:off x="1944370" y="3495687"/>
            <a:ext cx="594614" cy="156845"/>
          </a:xfrm>
          <a:prstGeom prst="rect">
            <a:avLst/>
          </a:prstGeom>
          <a:noFill/>
        </p:spPr>
        <p:txBody>
          <a:bodyPr wrap="none" lIns="0" rIns="0" tIns="0" bIns="0">
            <a:spAutoFit/>
          </a:bodyPr>
          <a:lstStyle/>
          <a:p>
            <a:pPr>
              <a:lnSpc>
                <a:spcPct val="112000"/>
              </a:lnSpc>
              <a:spcBef>
                <a:spcPts val="0"/>
              </a:spcBef>
              <a:spcAft>
                <a:spcPts val="0"/>
              </a:spcAft>
              <a:defRPr sz="539" b="0">
                <a:solidFill>
                  <a:srgbClr val="333333"/>
                </a:solidFill>
                <a:latin typeface="微软雅黑"/>
              </a:defRPr>
            </a:pPr>
            <a:r>
              <a:rPr>
                <a:ea typeface="微软雅黑"/>
              </a:rPr>
              <a:t>测量下述验理的#化</a:t>
            </a:r>
          </a:p>
        </p:txBody>
      </p:sp>
      <p:sp>
        <p:nvSpPr>
          <p:cNvPr id="16" name="原题文字_105_1"/>
          <p:cNvSpPr txBox="1"/>
          <p:nvPr/>
        </p:nvSpPr>
        <p:spPr>
          <a:xfrm>
            <a:off x="1010920" y="3762387"/>
            <a:ext cx="493014" cy="313690"/>
          </a:xfrm>
          <a:prstGeom prst="rect">
            <a:avLst/>
          </a:prstGeom>
          <a:noFill/>
        </p:spPr>
        <p:txBody>
          <a:bodyPr wrap="none" lIns="0" rIns="0" tIns="0" bIns="0">
            <a:spAutoFit/>
          </a:bodyPr>
          <a:lstStyle/>
          <a:p>
            <a:pPr>
              <a:lnSpc>
                <a:spcPct val="112000"/>
              </a:lnSpc>
              <a:spcBef>
                <a:spcPts val="0"/>
              </a:spcBef>
              <a:spcAft>
                <a:spcPts val="0"/>
              </a:spcAft>
              <a:defRPr sz="1520" b="0">
                <a:solidFill>
                  <a:srgbClr val="333333"/>
                </a:solidFill>
                <a:latin typeface="微软雅黑"/>
              </a:defRPr>
            </a:pPr>
            <a:r>
              <a:rPr>
                <a:ea typeface="微软雅黑"/>
              </a:rPr>
              <a:t>实验</a:t>
            </a:r>
          </a:p>
        </p:txBody>
      </p:sp>
      <p:sp>
        <p:nvSpPr>
          <p:cNvPr id="17" name="原题文字_105_2"/>
          <p:cNvSpPr txBox="1"/>
          <p:nvPr/>
        </p:nvSpPr>
        <p:spPr>
          <a:xfrm>
            <a:off x="1849120" y="4175137"/>
            <a:ext cx="366014" cy="123825"/>
          </a:xfrm>
          <a:prstGeom prst="rect">
            <a:avLst/>
          </a:prstGeom>
          <a:noFill/>
        </p:spPr>
        <p:txBody>
          <a:bodyPr wrap="none" lIns="0" rIns="0" tIns="0" bIns="0">
            <a:spAutoFit/>
          </a:bodyPr>
          <a:lstStyle/>
          <a:p>
            <a:pPr>
              <a:lnSpc>
                <a:spcPct val="112000"/>
              </a:lnSpc>
              <a:spcBef>
                <a:spcPts val="0"/>
              </a:spcBef>
              <a:spcAft>
                <a:spcPts val="0"/>
              </a:spcAft>
              <a:defRPr sz="396" b="0">
                <a:solidFill>
                  <a:srgbClr val="333333"/>
                </a:solidFill>
                <a:latin typeface="微软雅黑"/>
              </a:defRPr>
            </a:pPr>
            <a:r>
              <a:rPr>
                <a:ea typeface="微软雅黑"/>
              </a:rPr>
              <a:t>10mL 温清石灰水</a:t>
            </a:r>
          </a:p>
        </p:txBody>
      </p:sp>
      <p:sp>
        <p:nvSpPr>
          <p:cNvPr id="18" name="原题文字_105_3"/>
          <p:cNvSpPr txBox="1"/>
          <p:nvPr/>
        </p:nvSpPr>
        <p:spPr>
          <a:xfrm>
            <a:off x="1010920" y="4543437"/>
            <a:ext cx="486664" cy="313690"/>
          </a:xfrm>
          <a:prstGeom prst="rect">
            <a:avLst/>
          </a:prstGeom>
          <a:noFill/>
        </p:spPr>
        <p:txBody>
          <a:bodyPr wrap="none" lIns="0" rIns="0" tIns="0" bIns="0">
            <a:spAutoFit/>
          </a:bodyPr>
          <a:lstStyle/>
          <a:p>
            <a:pPr>
              <a:lnSpc>
                <a:spcPct val="112000"/>
              </a:lnSpc>
              <a:spcBef>
                <a:spcPts val="0"/>
              </a:spcBef>
              <a:spcAft>
                <a:spcPts val="0"/>
              </a:spcAft>
              <a:defRPr sz="1520" b="0">
                <a:solidFill>
                  <a:srgbClr val="333333"/>
                </a:solidFill>
                <a:latin typeface="微软雅黑"/>
              </a:defRPr>
            </a:pPr>
            <a:r>
              <a:rPr>
                <a:ea typeface="微软雅黑"/>
              </a:rPr>
              <a:t>绘图</a:t>
            </a:r>
          </a:p>
        </p:txBody>
      </p:sp>
      <p:sp>
        <p:nvSpPr>
          <p:cNvPr id="19" name="原题文字_105_4"/>
          <p:cNvSpPr txBox="1"/>
          <p:nvPr/>
        </p:nvSpPr>
        <p:spPr>
          <a:xfrm>
            <a:off x="1880870" y="4968887"/>
            <a:ext cx="473964" cy="132080"/>
          </a:xfrm>
          <a:prstGeom prst="rect">
            <a:avLst/>
          </a:prstGeom>
          <a:noFill/>
        </p:spPr>
        <p:txBody>
          <a:bodyPr wrap="none" lIns="0" rIns="0" tIns="0" bIns="0">
            <a:spAutoFit/>
          </a:bodyPr>
          <a:lstStyle/>
          <a:p>
            <a:pPr>
              <a:lnSpc>
                <a:spcPct val="112000"/>
              </a:lnSpc>
              <a:spcBef>
                <a:spcPts val="0"/>
              </a:spcBef>
              <a:spcAft>
                <a:spcPts val="0"/>
              </a:spcAft>
              <a:defRPr sz="422" b="0">
                <a:solidFill>
                  <a:srgbClr val="333333"/>
                </a:solidFill>
                <a:latin typeface="微软雅黑"/>
              </a:defRPr>
            </a:pPr>
            <a:r>
              <a:rPr>
                <a:ea typeface="微软雅黑"/>
              </a:rPr>
              <a:t>加入试剂的体积U/mL</a:t>
            </a:r>
          </a:p>
        </p:txBody>
      </p:sp>
      <p:sp>
        <p:nvSpPr>
          <p:cNvPr id="20" name="原题文字_105_5"/>
          <p:cNvSpPr txBox="1"/>
          <p:nvPr/>
        </p:nvSpPr>
        <p:spPr>
          <a:xfrm>
            <a:off x="2566670" y="4918087"/>
            <a:ext cx="124714"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10</a:t>
            </a:r>
          </a:p>
        </p:txBody>
      </p:sp>
      <p:sp>
        <p:nvSpPr>
          <p:cNvPr id="21" name="原题文字_105_6"/>
          <p:cNvSpPr txBox="1"/>
          <p:nvPr/>
        </p:nvSpPr>
        <p:spPr>
          <a:xfrm>
            <a:off x="1023620" y="5114937"/>
            <a:ext cx="4804664" cy="288925"/>
          </a:xfrm>
          <a:prstGeom prst="rect">
            <a:avLst/>
          </a:prstGeom>
          <a:noFill/>
        </p:spPr>
        <p:txBody>
          <a:bodyPr wrap="none" lIns="0" rIns="0" tIns="0" bIns="0">
            <a:spAutoFit/>
          </a:bodyPr>
          <a:lstStyle/>
          <a:p>
            <a:pPr>
              <a:lnSpc>
                <a:spcPct val="112000"/>
              </a:lnSpc>
              <a:spcBef>
                <a:spcPts val="0"/>
              </a:spcBef>
              <a:spcAft>
                <a:spcPts val="0"/>
              </a:spcAft>
              <a:defRPr sz="1383" b="0">
                <a:solidFill>
                  <a:srgbClr val="333333"/>
                </a:solidFill>
                <a:latin typeface="微软雅黑"/>
              </a:defRPr>
            </a:pPr>
            <a:r>
              <a:rPr>
                <a:ea typeface="微软雅黑"/>
              </a:rPr>
              <a:t>①实验中，Na₂CO₃溶液滴入澄清石灰水，发生的离子反应为</a:t>
            </a:r>
          </a:p>
        </p:txBody>
      </p:sp>
      <p:sp>
        <p:nvSpPr>
          <p:cNvPr id="22" name="原题文字_105_7"/>
          <p:cNvSpPr txBox="1"/>
          <p:nvPr/>
        </p:nvSpPr>
        <p:spPr>
          <a:xfrm>
            <a:off x="6408420" y="5108587"/>
            <a:ext cx="31409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；该反应中OH⁻没有参与反应，图给证</a:t>
            </a:r>
          </a:p>
        </p:txBody>
      </p:sp>
      <p:sp>
        <p:nvSpPr>
          <p:cNvPr id="23" name="文字_据是"/>
          <p:cNvSpPr txBox="1"/>
          <p:nvPr/>
        </p:nvSpPr>
        <p:spPr>
          <a:xfrm>
            <a:off x="502920" y="5480240"/>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据是</a:t>
            </a:r>
          </a:p>
        </p:txBody>
      </p:sp>
      <p:sp>
        <p:nvSpPr>
          <p:cNvPr id="24" name="文字_②实验中，滴加NaHCO₃溶液的pH变化与Na₂"/>
          <p:cNvSpPr txBox="1"/>
          <p:nvPr/>
        </p:nvSpPr>
        <p:spPr>
          <a:xfrm>
            <a:off x="502920" y="5745416"/>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②实验中，滴加NaHCO₃溶液的pH变化与Na₂CO₃溶液的有明显差异，用离子方程式解释滴加NaHCO₃溶液烧杯中pH显著减小的原因</a:t>
            </a:r>
          </a:p>
        </p:txBody>
      </p:sp>
      <p:sp>
        <p:nvSpPr>
          <p:cNvPr id="25" name="文字_解答题  ·  04-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04-058</a:t>
            </a:r>
          </a:p>
        </p:txBody>
      </p:sp>
      <p:sp>
        <p:nvSpPr>
          <p:cNvPr id="26"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焰色反应和侯式制碱法 · 巩固1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焰色反应和侯式制碱法 · 巩固13</a:t>
            </a:r>
          </a:p>
        </p:txBody>
      </p:sp>
      <p:sp>
        <p:nvSpPr>
          <p:cNvPr id="5" name="文字_P1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P106</a:t>
            </a:r>
          </a:p>
        </p:txBody>
      </p:sp>
      <p:sp>
        <p:nvSpPr>
          <p:cNvPr id="6" name="文字_NaC₁除了可用作调味品外，还是一种重要的化工原"/>
          <p:cNvSpPr txBox="1"/>
          <p:nvPr/>
        </p:nvSpPr>
        <p:spPr>
          <a:xfrm>
            <a:off x="502920" y="1078992"/>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NaC₁除了可用作调味品外，还是一种重要的化工原料，可</a:t>
            </a:r>
          </a:p>
          <a:p>
            <a:pPr>
              <a:lnSpc>
                <a:spcPct val="112000"/>
              </a:lnSpc>
              <a:spcBef>
                <a:spcPts val="0"/>
              </a:spcBef>
              <a:spcAft>
                <a:spcPts val="0"/>
              </a:spcAft>
              <a:defRPr sz="1600" b="0">
                <a:solidFill>
                  <a:srgbClr val="333333"/>
                </a:solidFill>
                <a:latin typeface="微软雅黑"/>
              </a:defRPr>
            </a:pPr>
            <a:r>
              <a:rPr>
                <a:ea typeface="微软雅黑"/>
              </a:rPr>
              <a:t>以制备一系列物质，如下图所示(部分反应物、生成物已略去</a:t>
            </a:r>
          </a:p>
          <a:p>
            <a:pPr>
              <a:lnSpc>
                <a:spcPct val="112000"/>
              </a:lnSpc>
              <a:spcBef>
                <a:spcPts val="0"/>
              </a:spcBef>
              <a:spcAft>
                <a:spcPts val="0"/>
              </a:spcAft>
              <a:defRPr sz="1600" b="0">
                <a:solidFill>
                  <a:srgbClr val="333333"/>
                </a:solidFill>
                <a:latin typeface="微软雅黑"/>
              </a:defRPr>
            </a:pPr>
            <a:r>
              <a:rPr>
                <a:ea typeface="微软雅黑"/>
              </a:rPr>
              <a:t>)。</a:t>
            </a:r>
          </a:p>
        </p:txBody>
      </p:sp>
      <p:pic>
        <p:nvPicPr>
          <p:cNvPr id="7" name="Picture 6" descr="image.png"/>
          <p:cNvPicPr>
            <a:picLocks noChangeAspect="1"/>
          </p:cNvPicPr>
          <p:nvPr/>
        </p:nvPicPr>
        <p:blipFill>
          <a:blip r:embed="rId3"/>
          <a:stretch>
            <a:fillRect/>
          </a:stretch>
        </p:blipFill>
        <p:spPr>
          <a:xfrm>
            <a:off x="502920" y="1855216"/>
            <a:ext cx="5376672" cy="2106018"/>
          </a:xfrm>
          <a:prstGeom prst="rect">
            <a:avLst/>
          </a:prstGeom>
        </p:spPr>
      </p:pic>
      <p:sp>
        <p:nvSpPr>
          <p:cNvPr id="8" name="原题文字_106_5"/>
          <p:cNvSpPr txBox="1"/>
          <p:nvPr/>
        </p:nvSpPr>
        <p:spPr>
          <a:xfrm>
            <a:off x="1563370" y="1912070"/>
            <a:ext cx="367417"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NaOH</a:t>
            </a:r>
          </a:p>
        </p:txBody>
      </p:sp>
      <p:sp>
        <p:nvSpPr>
          <p:cNvPr id="9" name="原题文字_106_6"/>
          <p:cNvSpPr txBox="1"/>
          <p:nvPr/>
        </p:nvSpPr>
        <p:spPr>
          <a:xfrm>
            <a:off x="1064772" y="2016254"/>
            <a:ext cx="304162" cy="237020"/>
          </a:xfrm>
          <a:prstGeom prst="rect">
            <a:avLst/>
          </a:prstGeom>
          <a:noFill/>
        </p:spPr>
        <p:txBody>
          <a:bodyPr wrap="none" lIns="0" rIns="0" tIns="0" bIns="0">
            <a:spAutoFit/>
          </a:bodyPr>
          <a:lstStyle/>
          <a:p>
            <a:pPr>
              <a:lnSpc>
                <a:spcPct val="112000"/>
              </a:lnSpc>
              <a:spcBef>
                <a:spcPts val="0"/>
              </a:spcBef>
              <a:spcAft>
                <a:spcPts val="0"/>
              </a:spcAft>
              <a:defRPr sz="1067" b="0">
                <a:solidFill>
                  <a:srgbClr val="333333"/>
                </a:solidFill>
                <a:latin typeface="微软雅黑"/>
              </a:defRPr>
            </a:pPr>
            <a:r>
              <a:rPr>
                <a:ea typeface="微软雅黑"/>
              </a:rPr>
              <a:t>H₂O</a:t>
            </a:r>
          </a:p>
        </p:txBody>
      </p:sp>
      <p:sp>
        <p:nvSpPr>
          <p:cNvPr id="10" name="原题文字_106_7"/>
          <p:cNvSpPr txBox="1"/>
          <p:nvPr/>
        </p:nvSpPr>
        <p:spPr>
          <a:xfrm>
            <a:off x="1641509" y="2086951"/>
            <a:ext cx="237187" cy="222508"/>
          </a:xfrm>
          <a:prstGeom prst="rect">
            <a:avLst/>
          </a:prstGeom>
          <a:noFill/>
        </p:spPr>
        <p:txBody>
          <a:bodyPr wrap="none" lIns="0" rIns="0" tIns="0" bIns="0">
            <a:spAutoFit/>
          </a:bodyPr>
          <a:lstStyle/>
          <a:p>
            <a:pPr>
              <a:lnSpc>
                <a:spcPct val="112000"/>
              </a:lnSpc>
              <a:spcBef>
                <a:spcPts val="0"/>
              </a:spcBef>
              <a:spcAft>
                <a:spcPts val="0"/>
              </a:spcAft>
              <a:defRPr sz="1078" b="0">
                <a:solidFill>
                  <a:srgbClr val="333333"/>
                </a:solidFill>
                <a:latin typeface="微软雅黑"/>
              </a:defRPr>
            </a:pPr>
            <a:r>
              <a:rPr>
                <a:ea typeface="微软雅黑"/>
              </a:rPr>
              <a:t>Cl₂</a:t>
            </a:r>
          </a:p>
        </p:txBody>
      </p:sp>
      <p:sp>
        <p:nvSpPr>
          <p:cNvPr id="11" name="原题文字_106_8"/>
          <p:cNvSpPr txBox="1"/>
          <p:nvPr/>
        </p:nvSpPr>
        <p:spPr>
          <a:xfrm>
            <a:off x="2032201" y="2120439"/>
            <a:ext cx="315325" cy="207997"/>
          </a:xfrm>
          <a:prstGeom prst="rect">
            <a:avLst/>
          </a:prstGeom>
          <a:noFill/>
        </p:spPr>
        <p:txBody>
          <a:bodyPr wrap="none" lIns="0" rIns="0" tIns="0" bIns="0">
            <a:spAutoFit/>
          </a:bodyPr>
          <a:lstStyle/>
          <a:p>
            <a:pPr>
              <a:lnSpc>
                <a:spcPct val="112000"/>
              </a:lnSpc>
              <a:spcBef>
                <a:spcPts val="0"/>
              </a:spcBef>
              <a:spcAft>
                <a:spcPts val="0"/>
              </a:spcAft>
              <a:defRPr sz="1007" b="0">
                <a:solidFill>
                  <a:srgbClr val="333333"/>
                </a:solidFill>
                <a:latin typeface="微软雅黑"/>
              </a:defRPr>
            </a:pPr>
            <a:r>
              <a:rPr>
                <a:ea typeface="微软雅黑"/>
              </a:rPr>
              <a:t>点燃</a:t>
            </a:r>
          </a:p>
        </p:txBody>
      </p:sp>
      <p:sp>
        <p:nvSpPr>
          <p:cNvPr id="12" name="原题文字_106_9"/>
          <p:cNvSpPr txBox="1"/>
          <p:nvPr/>
        </p:nvSpPr>
        <p:spPr>
          <a:xfrm>
            <a:off x="1064772" y="2176252"/>
            <a:ext cx="319046" cy="207997"/>
          </a:xfrm>
          <a:prstGeom prst="rect">
            <a:avLst/>
          </a:prstGeom>
          <a:noFill/>
        </p:spPr>
        <p:txBody>
          <a:bodyPr wrap="none" lIns="0" rIns="0" tIns="0" bIns="0">
            <a:spAutoFit/>
          </a:bodyPr>
          <a:lstStyle/>
          <a:p>
            <a:pPr>
              <a:lnSpc>
                <a:spcPct val="112000"/>
              </a:lnSpc>
              <a:spcBef>
                <a:spcPts val="0"/>
              </a:spcBef>
              <a:spcAft>
                <a:spcPts val="0"/>
              </a:spcAft>
              <a:defRPr sz="1007" b="0">
                <a:solidFill>
                  <a:srgbClr val="333333"/>
                </a:solidFill>
                <a:latin typeface="微软雅黑"/>
              </a:defRPr>
            </a:pPr>
            <a:r>
              <a:rPr>
                <a:ea typeface="微软雅黑"/>
              </a:rPr>
              <a:t>通电</a:t>
            </a:r>
          </a:p>
        </p:txBody>
      </p:sp>
      <p:sp>
        <p:nvSpPr>
          <p:cNvPr id="13" name="原题文字_106_10"/>
          <p:cNvSpPr txBox="1"/>
          <p:nvPr/>
        </p:nvSpPr>
        <p:spPr>
          <a:xfrm>
            <a:off x="2352197" y="2191136"/>
            <a:ext cx="274395"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HCl</a:t>
            </a:r>
          </a:p>
        </p:txBody>
      </p:sp>
      <p:sp>
        <p:nvSpPr>
          <p:cNvPr id="14" name="原题文字_106_11"/>
          <p:cNvSpPr txBox="1"/>
          <p:nvPr/>
        </p:nvSpPr>
        <p:spPr>
          <a:xfrm>
            <a:off x="1674997" y="2291599"/>
            <a:ext cx="207420" cy="203160"/>
          </a:xfrm>
          <a:prstGeom prst="rect">
            <a:avLst/>
          </a:prstGeom>
          <a:noFill/>
        </p:spPr>
        <p:txBody>
          <a:bodyPr wrap="none" lIns="0" rIns="0" tIns="0" bIns="0">
            <a:spAutoFit/>
          </a:bodyPr>
          <a:lstStyle/>
          <a:p>
            <a:pPr>
              <a:lnSpc>
                <a:spcPct val="112000"/>
              </a:lnSpc>
              <a:spcBef>
                <a:spcPts val="0"/>
              </a:spcBef>
              <a:spcAft>
                <a:spcPts val="0"/>
              </a:spcAft>
              <a:defRPr sz="984" b="0">
                <a:solidFill>
                  <a:srgbClr val="333333"/>
                </a:solidFill>
                <a:latin typeface="微软雅黑"/>
              </a:defRPr>
            </a:pPr>
            <a:r>
              <a:rPr>
                <a:ea typeface="微软雅黑"/>
              </a:rPr>
              <a:t>H₂</a:t>
            </a:r>
          </a:p>
        </p:txBody>
      </p:sp>
      <p:sp>
        <p:nvSpPr>
          <p:cNvPr id="15" name="原题文字_106_12"/>
          <p:cNvSpPr txBox="1"/>
          <p:nvPr/>
        </p:nvSpPr>
        <p:spPr>
          <a:xfrm>
            <a:off x="1641509" y="2488806"/>
            <a:ext cx="237187" cy="217671"/>
          </a:xfrm>
          <a:prstGeom prst="rect">
            <a:avLst/>
          </a:prstGeom>
          <a:noFill/>
        </p:spPr>
        <p:txBody>
          <a:bodyPr wrap="none" lIns="0" rIns="0" tIns="0" bIns="0">
            <a:spAutoFit/>
          </a:bodyPr>
          <a:lstStyle/>
          <a:p>
            <a:pPr>
              <a:lnSpc>
                <a:spcPct val="112000"/>
              </a:lnSpc>
              <a:spcBef>
                <a:spcPts val="0"/>
              </a:spcBef>
              <a:spcAft>
                <a:spcPts val="0"/>
              </a:spcAft>
              <a:defRPr sz="1054" b="0">
                <a:solidFill>
                  <a:srgbClr val="333333"/>
                </a:solidFill>
                <a:latin typeface="微软雅黑"/>
              </a:defRPr>
            </a:pPr>
            <a:r>
              <a:rPr>
                <a:ea typeface="微软雅黑"/>
              </a:rPr>
              <a:t>Cl₂</a:t>
            </a:r>
          </a:p>
        </p:txBody>
      </p:sp>
      <p:sp>
        <p:nvSpPr>
          <p:cNvPr id="16" name="原题文字_106_13"/>
          <p:cNvSpPr txBox="1"/>
          <p:nvPr/>
        </p:nvSpPr>
        <p:spPr>
          <a:xfrm>
            <a:off x="1075935" y="2529736"/>
            <a:ext cx="311604" cy="207997"/>
          </a:xfrm>
          <a:prstGeom prst="rect">
            <a:avLst/>
          </a:prstGeom>
          <a:noFill/>
        </p:spPr>
        <p:txBody>
          <a:bodyPr wrap="none" lIns="0" rIns="0" tIns="0" bIns="0">
            <a:spAutoFit/>
          </a:bodyPr>
          <a:lstStyle/>
          <a:p>
            <a:pPr>
              <a:lnSpc>
                <a:spcPct val="112000"/>
              </a:lnSpc>
              <a:spcBef>
                <a:spcPts val="0"/>
              </a:spcBef>
              <a:spcAft>
                <a:spcPts val="0"/>
              </a:spcAft>
              <a:defRPr sz="1007" b="0">
                <a:solidFill>
                  <a:srgbClr val="333333"/>
                </a:solidFill>
                <a:latin typeface="微软雅黑"/>
              </a:defRPr>
            </a:pPr>
            <a:r>
              <a:rPr>
                <a:ea typeface="微软雅黑"/>
              </a:rPr>
              <a:t>熔融</a:t>
            </a:r>
          </a:p>
        </p:txBody>
      </p:sp>
      <p:sp>
        <p:nvSpPr>
          <p:cNvPr id="17" name="原题文字_106_14"/>
          <p:cNvSpPr txBox="1"/>
          <p:nvPr/>
        </p:nvSpPr>
        <p:spPr>
          <a:xfrm>
            <a:off x="651755" y="2600433"/>
            <a:ext cx="326488"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NaCl</a:t>
            </a:r>
          </a:p>
        </p:txBody>
      </p:sp>
      <p:sp>
        <p:nvSpPr>
          <p:cNvPr id="18" name="原题文字_106_15"/>
          <p:cNvSpPr txBox="1"/>
          <p:nvPr/>
        </p:nvSpPr>
        <p:spPr>
          <a:xfrm>
            <a:off x="1079656" y="2671129"/>
            <a:ext cx="307883" cy="188648"/>
          </a:xfrm>
          <a:prstGeom prst="rect">
            <a:avLst/>
          </a:prstGeom>
          <a:noFill/>
        </p:spPr>
        <p:txBody>
          <a:bodyPr wrap="none" lIns="0" rIns="0" tIns="0" bIns="0">
            <a:spAutoFit/>
          </a:bodyPr>
          <a:lstStyle/>
          <a:p>
            <a:pPr>
              <a:lnSpc>
                <a:spcPct val="112000"/>
              </a:lnSpc>
              <a:spcBef>
                <a:spcPts val="0"/>
              </a:spcBef>
              <a:spcAft>
                <a:spcPts val="0"/>
              </a:spcAft>
              <a:defRPr sz="914" b="0">
                <a:solidFill>
                  <a:srgbClr val="333333"/>
                </a:solidFill>
                <a:latin typeface="微软雅黑"/>
              </a:defRPr>
            </a:pPr>
            <a:r>
              <a:rPr>
                <a:ea typeface="微软雅黑"/>
              </a:rPr>
              <a:t>通电</a:t>
            </a:r>
          </a:p>
        </p:txBody>
      </p:sp>
      <p:sp>
        <p:nvSpPr>
          <p:cNvPr id="19" name="原题文字_106_16"/>
          <p:cNvSpPr txBox="1"/>
          <p:nvPr/>
        </p:nvSpPr>
        <p:spPr>
          <a:xfrm>
            <a:off x="1641509" y="2697175"/>
            <a:ext cx="226024"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Na</a:t>
            </a:r>
          </a:p>
        </p:txBody>
      </p:sp>
      <p:sp>
        <p:nvSpPr>
          <p:cNvPr id="20" name="原题文字_106_17"/>
          <p:cNvSpPr txBox="1"/>
          <p:nvPr/>
        </p:nvSpPr>
        <p:spPr>
          <a:xfrm>
            <a:off x="1965225" y="2686013"/>
            <a:ext cx="147886" cy="116091"/>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a:t>
            </a:r>
          </a:p>
        </p:txBody>
      </p:sp>
      <p:sp>
        <p:nvSpPr>
          <p:cNvPr id="21" name="原题文字_106_18"/>
          <p:cNvSpPr txBox="1"/>
          <p:nvPr/>
        </p:nvSpPr>
        <p:spPr>
          <a:xfrm>
            <a:off x="2207083" y="2667408"/>
            <a:ext cx="352534" cy="256368"/>
          </a:xfrm>
          <a:prstGeom prst="rect">
            <a:avLst/>
          </a:prstGeom>
          <a:noFill/>
        </p:spPr>
        <p:txBody>
          <a:bodyPr wrap="none" lIns="0" rIns="0" tIns="0" bIns="0">
            <a:spAutoFit/>
          </a:bodyPr>
          <a:lstStyle/>
          <a:p>
            <a:pPr>
              <a:lnSpc>
                <a:spcPct val="112000"/>
              </a:lnSpc>
              <a:spcBef>
                <a:spcPts val="0"/>
              </a:spcBef>
              <a:spcAft>
                <a:spcPts val="0"/>
              </a:spcAft>
              <a:defRPr sz="959" b="0">
                <a:solidFill>
                  <a:srgbClr val="333333"/>
                </a:solidFill>
                <a:latin typeface="微软雅黑"/>
              </a:defRPr>
            </a:pPr>
            <a:r>
              <a:rPr>
                <a:ea typeface="微软雅黑"/>
              </a:rPr>
              <a:t>Na₂O</a:t>
            </a:r>
          </a:p>
        </p:txBody>
      </p:sp>
      <p:sp>
        <p:nvSpPr>
          <p:cNvPr id="22" name="原题文字_106_19"/>
          <p:cNvSpPr txBox="1"/>
          <p:nvPr/>
        </p:nvSpPr>
        <p:spPr>
          <a:xfrm>
            <a:off x="1142911" y="2827406"/>
            <a:ext cx="300442" cy="246694"/>
          </a:xfrm>
          <a:prstGeom prst="rect">
            <a:avLst/>
          </a:prstGeom>
          <a:noFill/>
        </p:spPr>
        <p:txBody>
          <a:bodyPr wrap="none" lIns="0" rIns="0" tIns="0" bIns="0">
            <a:spAutoFit/>
          </a:bodyPr>
          <a:lstStyle/>
          <a:p>
            <a:pPr>
              <a:lnSpc>
                <a:spcPct val="112000"/>
              </a:lnSpc>
              <a:spcBef>
                <a:spcPts val="0"/>
              </a:spcBef>
              <a:spcAft>
                <a:spcPts val="0"/>
              </a:spcAft>
              <a:defRPr sz="1034" b="0">
                <a:solidFill>
                  <a:srgbClr val="333333"/>
                </a:solidFill>
                <a:latin typeface="微软雅黑"/>
              </a:defRPr>
            </a:pPr>
            <a:r>
              <a:rPr>
                <a:ea typeface="微软雅黑"/>
              </a:rPr>
              <a:t>H₂O</a:t>
            </a:r>
          </a:p>
        </p:txBody>
      </p:sp>
      <p:sp>
        <p:nvSpPr>
          <p:cNvPr id="23" name="原题文字_106_20"/>
          <p:cNvSpPr txBox="1"/>
          <p:nvPr/>
        </p:nvSpPr>
        <p:spPr>
          <a:xfrm>
            <a:off x="1555929" y="2920428"/>
            <a:ext cx="423231"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NaHCO</a:t>
            </a:r>
          </a:p>
        </p:txBody>
      </p:sp>
      <p:sp>
        <p:nvSpPr>
          <p:cNvPr id="24" name="原题文字_106_21"/>
          <p:cNvSpPr txBox="1"/>
          <p:nvPr/>
        </p:nvSpPr>
        <p:spPr>
          <a:xfrm>
            <a:off x="2013597" y="2898103"/>
            <a:ext cx="162769"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a:t>
            </a:r>
          </a:p>
        </p:txBody>
      </p:sp>
      <p:sp>
        <p:nvSpPr>
          <p:cNvPr id="25" name="原题文字_106_22"/>
          <p:cNvSpPr txBox="1"/>
          <p:nvPr/>
        </p:nvSpPr>
        <p:spPr>
          <a:xfrm>
            <a:off x="2255454" y="2901824"/>
            <a:ext cx="412068" cy="222508"/>
          </a:xfrm>
          <a:prstGeom prst="rect">
            <a:avLst/>
          </a:prstGeom>
          <a:noFill/>
        </p:spPr>
        <p:txBody>
          <a:bodyPr wrap="none" lIns="0" rIns="0" tIns="0" bIns="0">
            <a:spAutoFit/>
          </a:bodyPr>
          <a:lstStyle/>
          <a:p>
            <a:pPr>
              <a:lnSpc>
                <a:spcPct val="112000"/>
              </a:lnSpc>
              <a:spcBef>
                <a:spcPts val="0"/>
              </a:spcBef>
              <a:spcAft>
                <a:spcPts val="0"/>
              </a:spcAft>
              <a:defRPr sz="912" b="0">
                <a:solidFill>
                  <a:srgbClr val="333333"/>
                </a:solidFill>
                <a:latin typeface="微软雅黑"/>
              </a:defRPr>
            </a:pPr>
            <a:r>
              <a:rPr>
                <a:ea typeface="微软雅黑"/>
              </a:rPr>
              <a:t>Na₂CO</a:t>
            </a:r>
          </a:p>
        </p:txBody>
      </p:sp>
      <p:sp>
        <p:nvSpPr>
          <p:cNvPr id="26" name="原题文字_106_23"/>
          <p:cNvSpPr txBox="1"/>
          <p:nvPr/>
        </p:nvSpPr>
        <p:spPr>
          <a:xfrm>
            <a:off x="1027564" y="2994846"/>
            <a:ext cx="542299" cy="222508"/>
          </a:xfrm>
          <a:prstGeom prst="rect">
            <a:avLst/>
          </a:prstGeom>
          <a:noFill/>
        </p:spPr>
        <p:txBody>
          <a:bodyPr wrap="none" lIns="0" rIns="0" tIns="0" bIns="0">
            <a:spAutoFit/>
          </a:bodyPr>
          <a:lstStyle/>
          <a:p>
            <a:pPr>
              <a:lnSpc>
                <a:spcPct val="112000"/>
              </a:lnSpc>
              <a:spcBef>
                <a:spcPts val="0"/>
              </a:spcBef>
              <a:spcAft>
                <a:spcPts val="0"/>
              </a:spcAft>
              <a:defRPr sz="787" b="0">
                <a:solidFill>
                  <a:srgbClr val="333333"/>
                </a:solidFill>
                <a:latin typeface="微软雅黑"/>
              </a:defRPr>
            </a:pPr>
            <a:r>
              <a:rPr>
                <a:ea typeface="微软雅黑"/>
              </a:rPr>
              <a:t>NH₃、CO₂</a:t>
            </a:r>
          </a:p>
        </p:txBody>
      </p:sp>
      <p:sp>
        <p:nvSpPr>
          <p:cNvPr id="27" name="原题文字_106_24"/>
          <p:cNvSpPr txBox="1"/>
          <p:nvPr/>
        </p:nvSpPr>
        <p:spPr>
          <a:xfrm>
            <a:off x="555012" y="3199494"/>
            <a:ext cx="1245545"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已知部分物质的溶解度表:</a:t>
            </a:r>
          </a:p>
        </p:txBody>
      </p:sp>
      <p:sp>
        <p:nvSpPr>
          <p:cNvPr id="28" name="原题文字_106_25"/>
          <p:cNvSpPr txBox="1"/>
          <p:nvPr/>
        </p:nvSpPr>
        <p:spPr>
          <a:xfrm>
            <a:off x="547570" y="3385538"/>
            <a:ext cx="322767" cy="212834"/>
          </a:xfrm>
          <a:prstGeom prst="rect">
            <a:avLst/>
          </a:prstGeom>
          <a:noFill/>
        </p:spPr>
        <p:txBody>
          <a:bodyPr wrap="none" lIns="0" rIns="0" tIns="0" bIns="0">
            <a:spAutoFit/>
          </a:bodyPr>
          <a:lstStyle/>
          <a:p>
            <a:pPr>
              <a:lnSpc>
                <a:spcPct val="112000"/>
              </a:lnSpc>
              <a:spcBef>
                <a:spcPts val="0"/>
              </a:spcBef>
              <a:spcAft>
                <a:spcPts val="0"/>
              </a:spcAft>
              <a:defRPr sz="1031" b="0">
                <a:solidFill>
                  <a:srgbClr val="333333"/>
                </a:solidFill>
                <a:latin typeface="微软雅黑"/>
              </a:defRPr>
            </a:pPr>
            <a:r>
              <a:rPr>
                <a:ea typeface="微软雅黑"/>
              </a:rPr>
              <a:t>物质</a:t>
            </a:r>
          </a:p>
        </p:txBody>
      </p:sp>
      <p:sp>
        <p:nvSpPr>
          <p:cNvPr id="29" name="原题文字_106_26"/>
          <p:cNvSpPr txBox="1"/>
          <p:nvPr/>
        </p:nvSpPr>
        <p:spPr>
          <a:xfrm>
            <a:off x="1369885" y="3407864"/>
            <a:ext cx="333930"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NaCl</a:t>
            </a:r>
          </a:p>
        </p:txBody>
      </p:sp>
      <p:sp>
        <p:nvSpPr>
          <p:cNvPr id="30" name="原题文字_106_27"/>
          <p:cNvSpPr txBox="1"/>
          <p:nvPr/>
        </p:nvSpPr>
        <p:spPr>
          <a:xfrm>
            <a:off x="2199641" y="3407864"/>
            <a:ext cx="572066"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NH₄HCO₃</a:t>
            </a:r>
          </a:p>
        </p:txBody>
      </p:sp>
      <p:sp>
        <p:nvSpPr>
          <p:cNvPr id="31" name="原题文字_106_28"/>
          <p:cNvSpPr txBox="1"/>
          <p:nvPr/>
        </p:nvSpPr>
        <p:spPr>
          <a:xfrm>
            <a:off x="3018235" y="3407864"/>
            <a:ext cx="501369" cy="174137"/>
          </a:xfrm>
          <a:prstGeom prst="rect">
            <a:avLst/>
          </a:prstGeom>
          <a:noFill/>
        </p:spPr>
        <p:txBody>
          <a:bodyPr wrap="none" lIns="0" rIns="0" tIns="0" bIns="0">
            <a:spAutoFit/>
          </a:bodyPr>
          <a:lstStyle/>
          <a:p>
            <a:pPr>
              <a:lnSpc>
                <a:spcPct val="112000"/>
              </a:lnSpc>
              <a:spcBef>
                <a:spcPts val="0"/>
              </a:spcBef>
              <a:spcAft>
                <a:spcPts val="0"/>
              </a:spcAft>
              <a:defRPr sz="843" b="0">
                <a:solidFill>
                  <a:srgbClr val="333333"/>
                </a:solidFill>
                <a:latin typeface="微软雅黑"/>
              </a:defRPr>
            </a:pPr>
            <a:r>
              <a:rPr>
                <a:ea typeface="微软雅黑"/>
              </a:rPr>
              <a:t>NaHCO₃</a:t>
            </a:r>
          </a:p>
        </p:txBody>
      </p:sp>
      <p:sp>
        <p:nvSpPr>
          <p:cNvPr id="32" name="原题文字_106_29"/>
          <p:cNvSpPr txBox="1"/>
          <p:nvPr/>
        </p:nvSpPr>
        <p:spPr>
          <a:xfrm>
            <a:off x="3836828" y="3400422"/>
            <a:ext cx="404626"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NH₄Cl</a:t>
            </a:r>
          </a:p>
        </p:txBody>
      </p:sp>
      <p:sp>
        <p:nvSpPr>
          <p:cNvPr id="33" name="原题文字_106_30"/>
          <p:cNvSpPr txBox="1"/>
          <p:nvPr/>
        </p:nvSpPr>
        <p:spPr>
          <a:xfrm>
            <a:off x="558733" y="3601349"/>
            <a:ext cx="706018" cy="188648"/>
          </a:xfrm>
          <a:prstGeom prst="rect">
            <a:avLst/>
          </a:prstGeom>
          <a:noFill/>
        </p:spPr>
        <p:txBody>
          <a:bodyPr wrap="none" lIns="0" rIns="0" tIns="0" bIns="0">
            <a:spAutoFit/>
          </a:bodyPr>
          <a:lstStyle/>
          <a:p>
            <a:pPr>
              <a:lnSpc>
                <a:spcPct val="112000"/>
              </a:lnSpc>
              <a:spcBef>
                <a:spcPts val="0"/>
              </a:spcBef>
              <a:spcAft>
                <a:spcPts val="0"/>
              </a:spcAft>
              <a:defRPr sz="879" b="0">
                <a:solidFill>
                  <a:srgbClr val="333333"/>
                </a:solidFill>
                <a:latin typeface="微软雅黑"/>
              </a:defRPr>
            </a:pPr>
            <a:r>
              <a:rPr>
                <a:ea typeface="微软雅黑"/>
              </a:rPr>
              <a:t>20℃溶解度/g</a:t>
            </a:r>
          </a:p>
        </p:txBody>
      </p:sp>
      <p:sp>
        <p:nvSpPr>
          <p:cNvPr id="34" name="原题文字_106_31"/>
          <p:cNvSpPr txBox="1"/>
          <p:nvPr/>
        </p:nvSpPr>
        <p:spPr>
          <a:xfrm>
            <a:off x="1373605" y="3605070"/>
            <a:ext cx="293000"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36.0</a:t>
            </a:r>
          </a:p>
        </p:txBody>
      </p:sp>
      <p:sp>
        <p:nvSpPr>
          <p:cNvPr id="35" name="原题文字_106_32"/>
          <p:cNvSpPr txBox="1"/>
          <p:nvPr/>
        </p:nvSpPr>
        <p:spPr>
          <a:xfrm>
            <a:off x="2192199" y="3605070"/>
            <a:ext cx="293000"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21.7</a:t>
            </a:r>
          </a:p>
        </p:txBody>
      </p:sp>
      <p:sp>
        <p:nvSpPr>
          <p:cNvPr id="36" name="原题文字_106_33"/>
          <p:cNvSpPr txBox="1"/>
          <p:nvPr/>
        </p:nvSpPr>
        <p:spPr>
          <a:xfrm>
            <a:off x="3014514" y="3605070"/>
            <a:ext cx="237187"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9.6</a:t>
            </a:r>
          </a:p>
        </p:txBody>
      </p:sp>
      <p:sp>
        <p:nvSpPr>
          <p:cNvPr id="37" name="原题文字_106_34"/>
          <p:cNvSpPr txBox="1"/>
          <p:nvPr/>
        </p:nvSpPr>
        <p:spPr>
          <a:xfrm>
            <a:off x="3833107" y="3605070"/>
            <a:ext cx="293000"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37.2</a:t>
            </a:r>
          </a:p>
        </p:txBody>
      </p:sp>
      <p:sp>
        <p:nvSpPr>
          <p:cNvPr id="38" name="原题文字_106_35"/>
          <p:cNvSpPr txBox="1"/>
          <p:nvPr/>
        </p:nvSpPr>
        <p:spPr>
          <a:xfrm>
            <a:off x="536407" y="3794835"/>
            <a:ext cx="750668" cy="183811"/>
          </a:xfrm>
          <a:prstGeom prst="rect">
            <a:avLst/>
          </a:prstGeom>
          <a:noFill/>
        </p:spPr>
        <p:txBody>
          <a:bodyPr wrap="none" lIns="0" rIns="0" tIns="0" bIns="0">
            <a:spAutoFit/>
          </a:bodyPr>
          <a:lstStyle/>
          <a:p>
            <a:pPr>
              <a:lnSpc>
                <a:spcPct val="112000"/>
              </a:lnSpc>
              <a:spcBef>
                <a:spcPts val="0"/>
              </a:spcBef>
              <a:spcAft>
                <a:spcPts val="0"/>
              </a:spcAft>
              <a:defRPr sz="890" b="0">
                <a:solidFill>
                  <a:srgbClr val="333333"/>
                </a:solidFill>
                <a:latin typeface="微软雅黑"/>
              </a:defRPr>
            </a:pPr>
            <a:r>
              <a:rPr>
                <a:ea typeface="微软雅黑"/>
              </a:rPr>
              <a:t>回答下列问题:</a:t>
            </a:r>
          </a:p>
        </p:txBody>
      </p:sp>
      <p:sp>
        <p:nvSpPr>
          <p:cNvPr id="39" name="文字_(1)工业上制取氯气的方法是电解食盐水，其反应的"/>
          <p:cNvSpPr txBox="1"/>
          <p:nvPr/>
        </p:nvSpPr>
        <p:spPr>
          <a:xfrm>
            <a:off x="502920" y="4034386"/>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(1)工业上制取氯气的方法是电解食盐水，其反应的离子方程</a:t>
            </a:r>
          </a:p>
          <a:p>
            <a:pPr>
              <a:lnSpc>
                <a:spcPct val="112000"/>
              </a:lnSpc>
              <a:spcBef>
                <a:spcPts val="0"/>
              </a:spcBef>
              <a:spcAft>
                <a:spcPts val="0"/>
              </a:spcAft>
              <a:defRPr sz="1600" b="0">
                <a:solidFill>
                  <a:srgbClr val="333333"/>
                </a:solidFill>
                <a:latin typeface="微软雅黑"/>
              </a:defRPr>
            </a:pPr>
            <a:r>
              <a:rPr>
                <a:ea typeface="微软雅黑"/>
              </a:rPr>
              <a:t>式为</a:t>
            </a:r>
          </a:p>
        </p:txBody>
      </p:sp>
      <p:sp>
        <p:nvSpPr>
          <p:cNvPr id="40" name="文字_(2) “侯氏制碱法”中的“碱”为 ______"/>
          <p:cNvSpPr txBox="1"/>
          <p:nvPr/>
        </p:nvSpPr>
        <p:spPr>
          <a:xfrm>
            <a:off x="6263640" y="107899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 “侯氏制碱法”中的“碱”为 ______ (填化学式)。</a:t>
            </a:r>
          </a:p>
        </p:txBody>
      </p:sp>
      <p:sp>
        <p:nvSpPr>
          <p:cNvPr id="41" name="文字_(3)“侯氏制碱法”在生产时，向饱和NaCl溶液"/>
          <p:cNvSpPr txBox="1"/>
          <p:nvPr/>
        </p:nvSpPr>
        <p:spPr>
          <a:xfrm>
            <a:off x="6263640" y="1371600"/>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(3)“侯氏制碱法”在生产时，向饱和NaCl溶液中先通入较</a:t>
            </a:r>
          </a:p>
          <a:p>
            <a:pPr>
              <a:lnSpc>
                <a:spcPct val="112000"/>
              </a:lnSpc>
              <a:spcBef>
                <a:spcPts val="0"/>
              </a:spcBef>
              <a:spcAft>
                <a:spcPts val="0"/>
              </a:spcAft>
              <a:defRPr sz="1600" b="0">
                <a:solidFill>
                  <a:srgbClr val="333333"/>
                </a:solidFill>
                <a:latin typeface="微软雅黑"/>
              </a:defRPr>
            </a:pPr>
            <a:r>
              <a:rPr>
                <a:ea typeface="微软雅黑"/>
              </a:rPr>
              <a:t>多的NH₃(溶液显碱性)，再通入足量的CO₂，反应总的化学</a:t>
            </a:r>
          </a:p>
          <a:p>
            <a:pPr>
              <a:lnSpc>
                <a:spcPct val="112000"/>
              </a:lnSpc>
              <a:spcBef>
                <a:spcPts val="0"/>
              </a:spcBef>
              <a:spcAft>
                <a:spcPts val="0"/>
              </a:spcAft>
              <a:defRPr sz="1600" b="0">
                <a:solidFill>
                  <a:srgbClr val="333333"/>
                </a:solidFill>
                <a:latin typeface="微软雅黑"/>
              </a:defRPr>
            </a:pPr>
            <a:r>
              <a:rPr>
                <a:ea typeface="微软雅黑"/>
              </a:rPr>
              <a:t>方程式为 ______ ；这样操作的原因是 ______ (填标号)。</a:t>
            </a:r>
          </a:p>
        </p:txBody>
      </p:sp>
      <p:sp>
        <p:nvSpPr>
          <p:cNvPr id="42" name="文字_A. NH₃比CO₂更易制取"/>
          <p:cNvSpPr txBox="1"/>
          <p:nvPr/>
        </p:nvSpPr>
        <p:spPr>
          <a:xfrm>
            <a:off x="6263640" y="2147824"/>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A. NH₃比CO₂更易制取</a:t>
            </a:r>
          </a:p>
        </p:txBody>
      </p:sp>
      <p:sp>
        <p:nvSpPr>
          <p:cNvPr id="43" name="文字_B. 使CO₂更易被吸收，反应可以产生更多HCO"/>
          <p:cNvSpPr txBox="1"/>
          <p:nvPr/>
        </p:nvSpPr>
        <p:spPr>
          <a:xfrm>
            <a:off x="6263640" y="244043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B. 使CO₂更易被吸收，反应可以产生更多HCO₃</a:t>
            </a:r>
          </a:p>
        </p:txBody>
      </p:sp>
      <p:sp>
        <p:nvSpPr>
          <p:cNvPr id="44" name="文字_C. CO₂的密度比NH₃大"/>
          <p:cNvSpPr txBox="1"/>
          <p:nvPr/>
        </p:nvSpPr>
        <p:spPr>
          <a:xfrm>
            <a:off x="6263640" y="2733039"/>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C. CO₂的密度比NH₃大</a:t>
            </a:r>
          </a:p>
        </p:txBody>
      </p:sp>
      <p:sp>
        <p:nvSpPr>
          <p:cNvPr id="45" name="文字_(4)“侯氏制碱法”中，NaHCO₃先析出的原因"/>
          <p:cNvSpPr txBox="1"/>
          <p:nvPr/>
        </p:nvSpPr>
        <p:spPr>
          <a:xfrm>
            <a:off x="6263640" y="302564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(4)“侯氏制碱法”中，NaHCO₃先析出的原因是</a:t>
            </a:r>
          </a:p>
        </p:txBody>
      </p:sp>
      <p:sp>
        <p:nvSpPr>
          <p:cNvPr id="46" name="文字_(5)“侯氏制碱法”中，从反应后的产物中分离出N"/>
          <p:cNvSpPr txBox="1"/>
          <p:nvPr/>
        </p:nvSpPr>
        <p:spPr>
          <a:xfrm>
            <a:off x="6263640" y="3318255"/>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(5)“侯氏制碱法”中，从反应后的产物中分离出NaHCO₃</a:t>
            </a:r>
          </a:p>
          <a:p>
            <a:pPr>
              <a:lnSpc>
                <a:spcPct val="112000"/>
              </a:lnSpc>
              <a:spcBef>
                <a:spcPts val="0"/>
              </a:spcBef>
              <a:spcAft>
                <a:spcPts val="0"/>
              </a:spcAft>
              <a:defRPr sz="1600" b="0">
                <a:solidFill>
                  <a:srgbClr val="333333"/>
                </a:solidFill>
                <a:latin typeface="微软雅黑"/>
              </a:defRPr>
            </a:pPr>
            <a:r>
              <a:rPr>
                <a:ea typeface="微软雅黑"/>
              </a:rPr>
              <a:t>的操作方法是 ______ ；NaHCO₃转化成Na₂CO₃的化学方</a:t>
            </a:r>
          </a:p>
          <a:p>
            <a:pPr>
              <a:lnSpc>
                <a:spcPct val="112000"/>
              </a:lnSpc>
              <a:spcBef>
                <a:spcPts val="0"/>
              </a:spcBef>
              <a:spcAft>
                <a:spcPts val="0"/>
              </a:spcAft>
              <a:defRPr sz="1600" b="0">
                <a:solidFill>
                  <a:srgbClr val="333333"/>
                </a:solidFill>
                <a:latin typeface="微软雅黑"/>
              </a:defRPr>
            </a:pPr>
            <a:r>
              <a:rPr>
                <a:ea typeface="微软雅黑"/>
              </a:rPr>
              <a:t>程式为 ______ O</a:t>
            </a:r>
          </a:p>
        </p:txBody>
      </p:sp>
      <p:sp>
        <p:nvSpPr>
          <p:cNvPr id="47" name="文字_(6)向稀Na₂CO₃溶液中通入CO₂，其反应的"/>
          <p:cNvSpPr txBox="1"/>
          <p:nvPr/>
        </p:nvSpPr>
        <p:spPr>
          <a:xfrm>
            <a:off x="6263640" y="4094479"/>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(6)向稀Na₂CO₃溶液中通入CO₂，其反应的化学方程式为</a:t>
            </a:r>
          </a:p>
        </p:txBody>
      </p:sp>
      <p:sp>
        <p:nvSpPr>
          <p:cNvPr id="48" name="文字_填空题  ·  04-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04-059</a:t>
            </a:r>
          </a:p>
        </p:txBody>
      </p:sp>
      <p:sp>
        <p:nvSpPr>
          <p:cNvPr id="49"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5"/>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05</a:t>
            </a:r>
          </a:p>
        </p:txBody>
      </p:sp>
      <p:sp>
        <p:nvSpPr>
          <p:cNvPr id="4" name="文字_Na₂O₂ 供氧计算与差量法"/>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Na₂O₂ 供氧计算与差量法</a:t>
            </a:r>
          </a:p>
        </p:txBody>
      </p:sp>
      <p:sp>
        <p:nvSpPr>
          <p:cNvPr id="5" name="文字_知识梳理 · 讲义 P107"/>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P107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Na₂O₂ 供氧计算与差量法"/>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Na₂O₂ 供氧计算与差量法</a:t>
            </a:r>
          </a:p>
        </p:txBody>
      </p:sp>
      <p:sp>
        <p:nvSpPr>
          <p:cNvPr id="5" name="文字_知识讲解 · P10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P107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反应比例：n(Na₂O₂)∶n(CO₂ 或 H₂"/>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反应比例：n(Na₂O₂)∶n(CO₂ 或 H₂O)∶n(O₂) = 2∶2∶1。</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每生成 1 mol O₂，转移 2 mol 电子"/>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每生成 1 mol O₂，转移 2 mol 电子。</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CO₂ 与水蒸气的混合气通过足量 Na₂O₂，充"/>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CO₂ 与水蒸气的混合气通过足量 Na₂O₂，充分反应后生成 O₂ 为原反应气体</a:t>
            </a:r>
          </a:p>
          <a:p>
            <a:pPr>
              <a:lnSpc>
                <a:spcPct val="112000"/>
              </a:lnSpc>
              <a:spcBef>
                <a:spcPts val="0"/>
              </a:spcBef>
              <a:spcAft>
                <a:spcPts val="0"/>
              </a:spcAft>
              <a:defRPr sz="2400" b="0">
                <a:solidFill>
                  <a:srgbClr val="333333"/>
                </a:solidFill>
                <a:latin typeface="微软雅黑"/>
              </a:defRPr>
            </a:pPr>
            <a:r>
              <a:rPr>
                <a:ea typeface="微软雅黑"/>
              </a:rPr>
              <a:t>物质的量的一半。</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吸收 1 mol CO₂，固体增重 28 g；吸"/>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吸收 1 mol CO₂，固体增重 28 g；吸收 1 mol H₂O，固体增重 2 g。</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比较气体体积时温度、压强须相同，并明确水"/>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比较气体体积时温度、压强须相同，并明确水是否以蒸气存在。</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例题1</a:t>
            </a:r>
          </a:p>
        </p:txBody>
      </p:sp>
      <p:sp>
        <p:nvSpPr>
          <p:cNvPr id="5" name="文字_P1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P107</a:t>
            </a:r>
          </a:p>
        </p:txBody>
      </p:sp>
      <p:sp>
        <p:nvSpPr>
          <p:cNvPr id="6" name="文字_将CO₂气体8.8g通入足量Na₂O₂，充分反应"/>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将CO₂气体8.8g通入足量Na₂O₂，充分反应后，生成O₂的质量是</a:t>
            </a:r>
          </a:p>
        </p:txBody>
      </p:sp>
      <p:sp>
        <p:nvSpPr>
          <p:cNvPr id="7" name="文字_A. 6.4g"/>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6.4g</a:t>
            </a:r>
          </a:p>
        </p:txBody>
      </p:sp>
      <p:sp>
        <p:nvSpPr>
          <p:cNvPr id="8" name="文字_B. 0.8g"/>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0.8g</a:t>
            </a:r>
          </a:p>
        </p:txBody>
      </p:sp>
      <p:sp>
        <p:nvSpPr>
          <p:cNvPr id="9" name="文字_C. 1.6g"/>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1.6g</a:t>
            </a:r>
          </a:p>
        </p:txBody>
      </p:sp>
      <p:sp>
        <p:nvSpPr>
          <p:cNvPr id="10" name="文字_D. 3.2g"/>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3.2g</a:t>
            </a:r>
          </a:p>
        </p:txBody>
      </p:sp>
      <p:sp>
        <p:nvSpPr>
          <p:cNvPr id="11" name="文字_单选题  ·  04-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04-060</a:t>
            </a:r>
          </a:p>
        </p:txBody>
      </p:sp>
      <p:sp>
        <p:nvSpPr>
          <p:cNvPr id="12"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例题2</a:t>
            </a:r>
          </a:p>
        </p:txBody>
      </p:sp>
      <p:sp>
        <p:nvSpPr>
          <p:cNvPr id="5" name="文字_P1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P107</a:t>
            </a:r>
          </a:p>
        </p:txBody>
      </p:sp>
      <p:sp>
        <p:nvSpPr>
          <p:cNvPr id="6" name="文字_28gCO气体在1mol的氧气中燃烧后，所得的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28gCO气体在1mol的氧气中燃烧后，所得的气体通过足量Na₂O₂固体中充分反应</a:t>
            </a:r>
          </a:p>
          <a:p>
            <a:pPr>
              <a:lnSpc>
                <a:spcPct val="112000"/>
              </a:lnSpc>
              <a:spcBef>
                <a:spcPts val="0"/>
              </a:spcBef>
              <a:spcAft>
                <a:spcPts val="0"/>
              </a:spcAft>
              <a:defRPr sz="2400" b="0">
                <a:solidFill>
                  <a:srgbClr val="333333"/>
                </a:solidFill>
                <a:latin typeface="微软雅黑"/>
              </a:defRPr>
            </a:pPr>
            <a:r>
              <a:rPr>
                <a:ea typeface="微软雅黑"/>
              </a:rPr>
              <a:t>后，下列说法不正确的是</a:t>
            </a:r>
          </a:p>
        </p:txBody>
      </p:sp>
      <p:sp>
        <p:nvSpPr>
          <p:cNvPr id="7" name="文字_A. CO与氧气反应，只消耗了0.5mol氧气"/>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CO与氧气反应，只消耗了0.5mol氧气</a:t>
            </a:r>
          </a:p>
        </p:txBody>
      </p:sp>
      <p:sp>
        <p:nvSpPr>
          <p:cNvPr id="8" name="文字_B. 充分反应后Na₂O₂固体质量增加了28 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充分反应后Na₂O₂固体质量增加了28 g</a:t>
            </a:r>
          </a:p>
        </p:txBody>
      </p:sp>
      <p:sp>
        <p:nvSpPr>
          <p:cNvPr id="9" name="文字_C. 通过以上两步反应后余下氧气物质的量为0.5"/>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通过以上两步反应后余下氧气物质的量为0.5mol</a:t>
            </a:r>
          </a:p>
        </p:txBody>
      </p:sp>
      <p:sp>
        <p:nvSpPr>
          <p:cNvPr id="10" name="文字_D. 若2gH₂替代28g的CO发生上述反应，则"/>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若2gH₂替代28g的CO发生上述反应，则Na₂O₂固体质量增加了2g</a:t>
            </a:r>
          </a:p>
        </p:txBody>
      </p:sp>
      <p:sp>
        <p:nvSpPr>
          <p:cNvPr id="11" name="文字_单选题  ·  04-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04-061</a:t>
            </a:r>
          </a:p>
        </p:txBody>
      </p:sp>
      <p:sp>
        <p:nvSpPr>
          <p:cNvPr id="12" name="文字_8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例题3</a:t>
            </a:r>
          </a:p>
        </p:txBody>
      </p:sp>
      <p:sp>
        <p:nvSpPr>
          <p:cNvPr id="5" name="文字_P1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P108</a:t>
            </a:r>
          </a:p>
        </p:txBody>
      </p:sp>
      <p:sp>
        <p:nvSpPr>
          <p:cNvPr id="6" name="文字_a g Na₂O₂与一定量的CO₂反应，得到固体"/>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g Na₂O₂与一定量的CO₂反应，得到固体物质44.6 g，该固体物质恰好可与0.5 </a:t>
            </a:r>
          </a:p>
          <a:p>
            <a:pPr>
              <a:lnSpc>
                <a:spcPct val="112000"/>
              </a:lnSpc>
              <a:spcBef>
                <a:spcPts val="0"/>
              </a:spcBef>
              <a:spcAft>
                <a:spcPts val="0"/>
              </a:spcAft>
              <a:defRPr sz="2400" b="0">
                <a:solidFill>
                  <a:srgbClr val="333333"/>
                </a:solidFill>
                <a:latin typeface="微软雅黑"/>
              </a:defRPr>
            </a:pPr>
            <a:r>
              <a:rPr>
                <a:ea typeface="微软雅黑"/>
              </a:rPr>
              <a:t>L 2 mol·L-1的稀盐酸完全反应，且产物中只有一种盐。下列说法错误的是</a:t>
            </a:r>
          </a:p>
        </p:txBody>
      </p:sp>
      <p:sp>
        <p:nvSpPr>
          <p:cNvPr id="7" name="文字_A. a=39"/>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a=39</a:t>
            </a:r>
          </a:p>
        </p:txBody>
      </p:sp>
      <p:sp>
        <p:nvSpPr>
          <p:cNvPr id="8" name="文字_B. 44.6 g固体物质为Na₂CO₃和Na₂"/>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44.6 g固体物质为Na₂CO₃和Na₂O₂的混合物</a:t>
            </a:r>
          </a:p>
        </p:txBody>
      </p:sp>
      <p:sp>
        <p:nvSpPr>
          <p:cNvPr id="9" name="文字_C. 44.6 g固体物质为17.2 g Na₂"/>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44.6 g固体物质为17.2 g Na₂CO₃和27.4 g Na₂O₂的混合物</a:t>
            </a:r>
          </a:p>
        </p:txBody>
      </p:sp>
      <p:sp>
        <p:nvSpPr>
          <p:cNvPr id="10" name="文字_D. 44.6 g固体物质为0.2 mol Na"/>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44.6 g固体物质为0.2 mol Na₂CO₃和0.3 mol Na₂O₂的混合物</a:t>
            </a:r>
          </a:p>
        </p:txBody>
      </p:sp>
      <p:sp>
        <p:nvSpPr>
          <p:cNvPr id="11" name="文字_单选题  ·  04-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04-062</a:t>
            </a:r>
          </a:p>
        </p:txBody>
      </p:sp>
      <p:sp>
        <p:nvSpPr>
          <p:cNvPr id="12" name="文字_8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例题4</a:t>
            </a:r>
          </a:p>
        </p:txBody>
      </p:sp>
      <p:sp>
        <p:nvSpPr>
          <p:cNvPr id="5" name="文字_P1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P108</a:t>
            </a:r>
          </a:p>
        </p:txBody>
      </p:sp>
      <p:sp>
        <p:nvSpPr>
          <p:cNvPr id="6" name="文字_某固体粉末由Na₂O与Na₂O₂组成，将其分成等"/>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某固体粉末由Na₂O与Na₂O₂组成，将其分成等量的两份，第一份恰与3L₀.2mol</a:t>
            </a:r>
          </a:p>
          <a:p>
            <a:pPr>
              <a:lnSpc>
                <a:spcPct val="112000"/>
              </a:lnSpc>
              <a:spcBef>
                <a:spcPts val="0"/>
              </a:spcBef>
              <a:spcAft>
                <a:spcPts val="0"/>
              </a:spcAft>
              <a:defRPr sz="2400" b="0">
                <a:solidFill>
                  <a:srgbClr val="333333"/>
                </a:solidFill>
                <a:latin typeface="微软雅黑"/>
              </a:defRPr>
            </a:pPr>
            <a:r>
              <a:rPr>
                <a:ea typeface="微软雅黑"/>
              </a:rPr>
              <a:t>/L盐酸完全反应；第二份与足量的CO₂气体作用，发现该固体质量增加了11.6g，</a:t>
            </a:r>
          </a:p>
          <a:p>
            <a:pPr>
              <a:lnSpc>
                <a:spcPct val="112000"/>
              </a:lnSpc>
              <a:spcBef>
                <a:spcPts val="0"/>
              </a:spcBef>
              <a:spcAft>
                <a:spcPts val="0"/>
              </a:spcAft>
              <a:defRPr sz="2400" b="0">
                <a:solidFill>
                  <a:srgbClr val="333333"/>
                </a:solidFill>
                <a:latin typeface="微软雅黑"/>
              </a:defRPr>
            </a:pPr>
            <a:r>
              <a:rPr>
                <a:ea typeface="微软雅黑"/>
              </a:rPr>
              <a:t>试计算：</a:t>
            </a:r>
          </a:p>
        </p:txBody>
      </p:sp>
      <p:sp>
        <p:nvSpPr>
          <p:cNvPr id="7" name="文字_(1) 第一份反应所得溶质的质量 ______ "/>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第一份反应所得溶质的质量 ______ go</a:t>
            </a:r>
          </a:p>
        </p:txBody>
      </p:sp>
      <p:sp>
        <p:nvSpPr>
          <p:cNvPr id="8" name="文字_(2)固体中Na₂O与Na₂O₂的物质的量之比是"/>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(2)固体中Na₂O与Na₂O₂的物质的量之比是</a:t>
            </a:r>
          </a:p>
        </p:txBody>
      </p:sp>
      <p:sp>
        <p:nvSpPr>
          <p:cNvPr id="9" name="文字_填空题  ·  04-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04-063</a:t>
            </a:r>
          </a:p>
        </p:txBody>
      </p:sp>
      <p:sp>
        <p:nvSpPr>
          <p:cNvPr id="10"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例题5</a:t>
            </a:r>
          </a:p>
        </p:txBody>
      </p:sp>
      <p:sp>
        <p:nvSpPr>
          <p:cNvPr id="5" name="文字_P1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P108</a:t>
            </a:r>
          </a:p>
        </p:txBody>
      </p:sp>
      <p:sp>
        <p:nvSpPr>
          <p:cNvPr id="6" name="文字_将21.8gNa₂O和Na₂O₂的固体混合物溶于"/>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将21.8gNa₂O和Na₂O₂的固体混合物溶于水得到1000mL溶液，所得溶液用</a:t>
            </a:r>
          </a:p>
          <a:p>
            <a:pPr>
              <a:lnSpc>
                <a:spcPct val="112000"/>
              </a:lnSpc>
              <a:spcBef>
                <a:spcPts val="0"/>
              </a:spcBef>
              <a:spcAft>
                <a:spcPts val="0"/>
              </a:spcAft>
              <a:defRPr sz="2400" b="0">
                <a:solidFill>
                  <a:srgbClr val="333333"/>
                </a:solidFill>
                <a:latin typeface="微软雅黑"/>
              </a:defRPr>
            </a:pPr>
            <a:r>
              <a:rPr>
                <a:ea typeface="微软雅黑"/>
              </a:rPr>
              <a:t>100mL₃.0mol·L-1稀硫酸恰好完全中和。</a:t>
            </a:r>
          </a:p>
        </p:txBody>
      </p:sp>
      <p:sp>
        <p:nvSpPr>
          <p:cNvPr id="7" name="文字_回答下列问题:"/>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回答下列问题:</a:t>
            </a:r>
          </a:p>
        </p:txBody>
      </p:sp>
      <p:sp>
        <p:nvSpPr>
          <p:cNvPr id="8" name="文字_(1)固体混合物中Na₂O₂的物质的量为 ___"/>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(1)固体混合物中Na₂O₂的物质的量为 ______ mol</a:t>
            </a:r>
          </a:p>
        </p:txBody>
      </p:sp>
      <p:sp>
        <p:nvSpPr>
          <p:cNvPr id="9" name="文字_(2)固体混合物与水反应后，所得NaOH溶液的物"/>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(2)固体混合物与水反应后，所得NaOH溶液的物质的量浓度 ______ mol · L−1</a:t>
            </a:r>
          </a:p>
        </p:txBody>
      </p:sp>
      <p:sp>
        <p:nvSpPr>
          <p:cNvPr id="10" name="文字_填空题  ·  04-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04-064</a:t>
            </a:r>
          </a:p>
        </p:txBody>
      </p:sp>
      <p:sp>
        <p:nvSpPr>
          <p:cNvPr id="11"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例题6</a:t>
            </a:r>
          </a:p>
        </p:txBody>
      </p:sp>
      <p:sp>
        <p:nvSpPr>
          <p:cNvPr id="5" name="文字_P1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P108</a:t>
            </a:r>
          </a:p>
        </p:txBody>
      </p:sp>
      <p:sp>
        <p:nvSpPr>
          <p:cNvPr id="6" name="文字_将14gNa₂O和Na₂O₂的混合物加入足量的水"/>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将14gNa₂O和Na₂O₂的混合物加入足量的水充分反应后，生成标准状况下的气体</a:t>
            </a:r>
          </a:p>
          <a:p>
            <a:pPr>
              <a:lnSpc>
                <a:spcPct val="112000"/>
              </a:lnSpc>
              <a:spcBef>
                <a:spcPts val="0"/>
              </a:spcBef>
              <a:spcAft>
                <a:spcPts val="0"/>
              </a:spcAft>
              <a:defRPr sz="2400" b="0">
                <a:solidFill>
                  <a:srgbClr val="333333"/>
                </a:solidFill>
                <a:latin typeface="微软雅黑"/>
              </a:defRPr>
            </a:pPr>
            <a:r>
              <a:rPr>
                <a:ea typeface="微软雅黑"/>
              </a:rPr>
              <a:t>1.12L，所得溶液的体积为400mL。</a:t>
            </a:r>
          </a:p>
        </p:txBody>
      </p:sp>
      <p:sp>
        <p:nvSpPr>
          <p:cNvPr id="7" name="文字_试计算："/>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试计算：</a:t>
            </a:r>
          </a:p>
        </p:txBody>
      </p:sp>
      <p:sp>
        <p:nvSpPr>
          <p:cNvPr id="8" name="文字_(1)原混合物中Na₂O的质量为"/>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(1)原混合物中Na₂O的质量为</a:t>
            </a:r>
          </a:p>
        </p:txBody>
      </p:sp>
      <p:sp>
        <p:nvSpPr>
          <p:cNvPr id="9" name="文字_(2)该溶液在80C时吸收一定量Cl₂后，溶液中"/>
          <p:cNvSpPr txBox="1"/>
          <p:nvPr/>
        </p:nvSpPr>
        <p:spPr>
          <a:xfrm>
            <a:off x="502920" y="27584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(2)该溶液在80C时吸收一定量Cl₂后，溶液中的溶质只有NaCl，NaC₁O和</a:t>
            </a:r>
          </a:p>
          <a:p>
            <a:pPr>
              <a:lnSpc>
                <a:spcPct val="112000"/>
              </a:lnSpc>
              <a:spcBef>
                <a:spcPts val="0"/>
              </a:spcBef>
              <a:spcAft>
                <a:spcPts val="0"/>
              </a:spcAft>
              <a:defRPr sz="2400" b="0">
                <a:solidFill>
                  <a:srgbClr val="333333"/>
                </a:solidFill>
                <a:latin typeface="微软雅黑"/>
              </a:defRPr>
            </a:pPr>
            <a:r>
              <a:rPr>
                <a:ea typeface="微软雅黑"/>
              </a:rPr>
              <a:t>NaClO₃，则吸收的氯气物质的量为</a:t>
            </a:r>
          </a:p>
        </p:txBody>
      </p:sp>
      <p:sp>
        <p:nvSpPr>
          <p:cNvPr id="10" name="文字_解答题  ·  04-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04-065</a:t>
            </a:r>
          </a:p>
        </p:txBody>
      </p:sp>
      <p:sp>
        <p:nvSpPr>
          <p:cNvPr id="11"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6"/>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06</a:t>
            </a:r>
          </a:p>
        </p:txBody>
      </p:sp>
      <p:sp>
        <p:nvSpPr>
          <p:cNvPr id="4" name="文字_碳酸钠与碳酸氢钠的定量关系"/>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碳酸钠与碳酸氢钠的定量关系</a:t>
            </a:r>
          </a:p>
        </p:txBody>
      </p:sp>
      <p:sp>
        <p:nvSpPr>
          <p:cNvPr id="5" name="文字_知识梳理 · 讲义 P109"/>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P109</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碳酸钠与碳酸氢钠的定量关系"/>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碳酸钠与碳酸氢钠的定量关系</a:t>
            </a:r>
          </a:p>
        </p:txBody>
      </p:sp>
      <p:sp>
        <p:nvSpPr>
          <p:cNvPr id="5" name="文字_知识讲解 · P109"/>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P109</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与足量酸反应：1 mol Na₂CO₃ 消耗 2"/>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与足量酸反应：1 mol Na₂CO₃ 消耗 2 mol H⁺，1 mol NaHCO₃ 消耗 1 mol</a:t>
            </a:r>
          </a:p>
          <a:p>
            <a:pPr>
              <a:lnSpc>
                <a:spcPct val="112000"/>
              </a:lnSpc>
              <a:spcBef>
                <a:spcPts val="0"/>
              </a:spcBef>
              <a:spcAft>
                <a:spcPts val="0"/>
              </a:spcAft>
              <a:defRPr sz="2400" b="0">
                <a:solidFill>
                  <a:srgbClr val="333333"/>
                </a:solidFill>
                <a:latin typeface="微软雅黑"/>
              </a:defRPr>
            </a:pPr>
            <a:r>
              <a:rPr>
                <a:ea typeface="微软雅黑"/>
              </a:rPr>
              <a:t> H⁺。</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二者各 1 mol 与足量酸反应，均生成 1 m"/>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二者各 1 mol 与足量酸反应，均生成 1 mol CO₂。</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等质量比较：Na₂CO₃ 耗酸较多；NaHCO₃"/>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等质量比较：Na₂CO₃ 耗酸较多；NaHCO₃ 生成 CO₂ 较多。</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热分解差量：168 g NaHCO₃ → 106"/>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热分解差量：168 g NaHCO₃ → 106 g Na₂CO₃，固体减少 62 g。</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沉淀法：CO₃²⁻ + Ba²⁺ = BaCO₃"/>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沉淀法：CO₃²⁻ + Ba²⁺ = BaCO₃↓，利用沉淀量确定碳酸根的量。</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例题1</a:t>
            </a:r>
          </a:p>
        </p:txBody>
      </p:sp>
      <p:sp>
        <p:nvSpPr>
          <p:cNvPr id="5" name="文字_P1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P109</a:t>
            </a:r>
          </a:p>
        </p:txBody>
      </p:sp>
      <p:sp>
        <p:nvSpPr>
          <p:cNvPr id="6" name="文字_有相同质量的两份NaHCO₃粉末，第一份加入足量"/>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有相同质量的两份NaHCO₃粉末，第一份加入足量盐酸，第二份先加热使其完全</a:t>
            </a:r>
          </a:p>
          <a:p>
            <a:pPr>
              <a:lnSpc>
                <a:spcPct val="112000"/>
              </a:lnSpc>
              <a:spcBef>
                <a:spcPts val="0"/>
              </a:spcBef>
              <a:spcAft>
                <a:spcPts val="0"/>
              </a:spcAft>
              <a:defRPr sz="2400" b="0">
                <a:solidFill>
                  <a:srgbClr val="333333"/>
                </a:solidFill>
                <a:latin typeface="微软雅黑"/>
              </a:defRPr>
            </a:pPr>
            <a:r>
              <a:rPr>
                <a:ea typeface="微软雅黑"/>
              </a:rPr>
              <a:t>分解再加足量同质量分数的盐酸，则两者所消耗的盐酸中氯化氢的质量比为（）</a:t>
            </a:r>
          </a:p>
        </p:txBody>
      </p:sp>
      <p:sp>
        <p:nvSpPr>
          <p:cNvPr id="7" name="文字_A. 1: 1"/>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 1</a:t>
            </a:r>
          </a:p>
        </p:txBody>
      </p:sp>
      <p:sp>
        <p:nvSpPr>
          <p:cNvPr id="8" name="文字_B. 2: 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 1</a:t>
            </a:r>
          </a:p>
        </p:txBody>
      </p:sp>
      <p:sp>
        <p:nvSpPr>
          <p:cNvPr id="9" name="文字_C. 1: 2"/>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 2</a:t>
            </a:r>
          </a:p>
        </p:txBody>
      </p:sp>
      <p:sp>
        <p:nvSpPr>
          <p:cNvPr id="10" name="文字_D. 4: 1"/>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 1</a:t>
            </a:r>
          </a:p>
        </p:txBody>
      </p:sp>
      <p:sp>
        <p:nvSpPr>
          <p:cNvPr id="11" name="文字_单选题  ·  04-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04-066</a:t>
            </a:r>
          </a:p>
        </p:txBody>
      </p:sp>
      <p:sp>
        <p:nvSpPr>
          <p:cNvPr id="12"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例题2</a:t>
            </a:r>
          </a:p>
        </p:txBody>
      </p:sp>
      <p:sp>
        <p:nvSpPr>
          <p:cNvPr id="5" name="文字_P1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P109</a:t>
            </a:r>
          </a:p>
        </p:txBody>
      </p:sp>
      <p:sp>
        <p:nvSpPr>
          <p:cNvPr id="6" name="文字_加热纯碱和小苏打的混合物54.8g，至质量不再变"/>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加热纯碱和小苏打的混合物54.8g，至质量不再变化时，冷却后称量其固体质量是</a:t>
            </a:r>
          </a:p>
          <a:p>
            <a:pPr>
              <a:lnSpc>
                <a:spcPct val="112000"/>
              </a:lnSpc>
              <a:spcBef>
                <a:spcPts val="0"/>
              </a:spcBef>
              <a:spcAft>
                <a:spcPts val="0"/>
              </a:spcAft>
              <a:defRPr sz="2400" b="0">
                <a:solidFill>
                  <a:srgbClr val="333333"/>
                </a:solidFill>
                <a:latin typeface="微软雅黑"/>
              </a:defRPr>
            </a:pPr>
            <a:r>
              <a:rPr>
                <a:ea typeface="微软雅黑"/>
              </a:rPr>
              <a:t>42.4g，求：</a:t>
            </a:r>
          </a:p>
        </p:txBody>
      </p:sp>
      <p:sp>
        <p:nvSpPr>
          <p:cNvPr id="7" name="文字_(1) 原混合物中纯碱的物质的量 ______ "/>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原混合物中纯碱的物质的量 ______ mol。</a:t>
            </a:r>
          </a:p>
        </p:txBody>
      </p:sp>
      <p:sp>
        <p:nvSpPr>
          <p:cNvPr id="8" name="文字_(2)将此混合物与4mol/L的盐酸充分反应放出"/>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(2)将此混合物与4mol/L的盐酸充分反应放出CO₂，需要盐酸的体积至少 ______ </a:t>
            </a:r>
          </a:p>
          <a:p>
            <a:pPr>
              <a:lnSpc>
                <a:spcPct val="112000"/>
              </a:lnSpc>
              <a:spcBef>
                <a:spcPts val="0"/>
              </a:spcBef>
              <a:spcAft>
                <a:spcPts val="0"/>
              </a:spcAft>
              <a:defRPr sz="2400" b="0">
                <a:solidFill>
                  <a:srgbClr val="333333"/>
                </a:solidFill>
                <a:latin typeface="微软雅黑"/>
              </a:defRPr>
            </a:pPr>
            <a:r>
              <a:rPr>
                <a:ea typeface="微软雅黑"/>
              </a:rPr>
              <a:t>mL。</a:t>
            </a:r>
          </a:p>
        </p:txBody>
      </p:sp>
      <p:sp>
        <p:nvSpPr>
          <p:cNvPr id="9" name="文字_解答题  ·  04-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04-067</a:t>
            </a:r>
          </a:p>
        </p:txBody>
      </p:sp>
      <p:sp>
        <p:nvSpPr>
          <p:cNvPr id="10"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例题3</a:t>
            </a:r>
          </a:p>
        </p:txBody>
      </p:sp>
      <p:sp>
        <p:nvSpPr>
          <p:cNvPr id="5" name="文字_P1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P109</a:t>
            </a:r>
          </a:p>
        </p:txBody>
      </p:sp>
      <p:sp>
        <p:nvSpPr>
          <p:cNvPr id="6" name="文字_为测定某种由Na₂CO₃和NaHCO₃组成的混合"/>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为测定某种由Na₂CO₃和NaHCO₃组成的混合物中各成分的含量，称取1.37g固体</a:t>
            </a:r>
          </a:p>
          <a:p>
            <a:pPr>
              <a:lnSpc>
                <a:spcPct val="112000"/>
              </a:lnSpc>
              <a:spcBef>
                <a:spcPts val="0"/>
              </a:spcBef>
              <a:spcAft>
                <a:spcPts val="0"/>
              </a:spcAft>
              <a:defRPr sz="2400" b="0">
                <a:solidFill>
                  <a:srgbClr val="333333"/>
                </a:solidFill>
                <a:latin typeface="微软雅黑"/>
              </a:defRPr>
            </a:pPr>
            <a:r>
              <a:rPr>
                <a:ea typeface="微软雅黑"/>
              </a:rPr>
              <a:t>混合物，加入50mL₀.5mol/L的稀盐酸充分反应（假设CO₂完全逸出），再加入</a:t>
            </a:r>
          </a:p>
          <a:p>
            <a:pPr>
              <a:lnSpc>
                <a:spcPct val="112000"/>
              </a:lnSpc>
              <a:spcBef>
                <a:spcPts val="0"/>
              </a:spcBef>
              <a:spcAft>
                <a:spcPts val="0"/>
              </a:spcAft>
              <a:defRPr sz="2400" b="0">
                <a:solidFill>
                  <a:srgbClr val="333333"/>
                </a:solidFill>
                <a:latin typeface="微软雅黑"/>
              </a:defRPr>
            </a:pPr>
            <a:r>
              <a:rPr>
                <a:ea typeface="微软雅黑"/>
              </a:rPr>
              <a:t>10mL₀.5mol/L的NaOH溶液恰好中和过量的稀盐酸。请计算：</a:t>
            </a:r>
          </a:p>
        </p:txBody>
      </p:sp>
      <p:pic>
        <p:nvPicPr>
          <p:cNvPr id="7" name="Picture 6" descr="image.png"/>
          <p:cNvPicPr>
            <a:picLocks noChangeAspect="1"/>
          </p:cNvPicPr>
          <p:nvPr/>
        </p:nvPicPr>
        <p:blipFill>
          <a:blip r:embed="rId3"/>
          <a:stretch>
            <a:fillRect/>
          </a:stretch>
        </p:blipFill>
        <p:spPr>
          <a:xfrm>
            <a:off x="502920" y="2243328"/>
            <a:ext cx="11064240" cy="811632"/>
          </a:xfrm>
          <a:prstGeom prst="rect">
            <a:avLst/>
          </a:prstGeom>
        </p:spPr>
      </p:pic>
      <p:sp>
        <p:nvSpPr>
          <p:cNvPr id="8" name="原题文字_109_46"/>
          <p:cNvSpPr txBox="1"/>
          <p:nvPr/>
        </p:nvSpPr>
        <p:spPr>
          <a:xfrm>
            <a:off x="1138443" y="2275211"/>
            <a:ext cx="350813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 所用稀盐酸中溶质的物质的量为</a:t>
            </a:r>
          </a:p>
        </p:txBody>
      </p:sp>
      <p:sp>
        <p:nvSpPr>
          <p:cNvPr id="9" name="原题文字_109_47"/>
          <p:cNvSpPr txBox="1"/>
          <p:nvPr/>
        </p:nvSpPr>
        <p:spPr>
          <a:xfrm>
            <a:off x="5403344" y="2428350"/>
            <a:ext cx="154403"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10" name="原题文字_109_48"/>
          <p:cNvSpPr txBox="1"/>
          <p:nvPr/>
        </p:nvSpPr>
        <p:spPr>
          <a:xfrm>
            <a:off x="1138443" y="2665714"/>
            <a:ext cx="4779179" cy="348389"/>
          </a:xfrm>
          <a:prstGeom prst="rect">
            <a:avLst/>
          </a:prstGeom>
          <a:noFill/>
        </p:spPr>
        <p:txBody>
          <a:bodyPr wrap="none" lIns="0" rIns="0" tIns="0" bIns="0">
            <a:spAutoFit/>
          </a:bodyPr>
          <a:lstStyle/>
          <a:p>
            <a:pPr>
              <a:lnSpc>
                <a:spcPct val="112000"/>
              </a:lnSpc>
              <a:spcBef>
                <a:spcPts val="0"/>
              </a:spcBef>
              <a:spcAft>
                <a:spcPts val="0"/>
              </a:spcAft>
              <a:defRPr sz="1634" b="0">
                <a:solidFill>
                  <a:srgbClr val="333333"/>
                </a:solidFill>
                <a:latin typeface="微软雅黑"/>
              </a:defRPr>
            </a:pPr>
            <a:r>
              <a:rPr>
                <a:ea typeface="微软雅黑"/>
              </a:rPr>
              <a:t>(2)混合物中Na₂CO₃₃和NaHCO₃的物质的量之比为</a:t>
            </a:r>
          </a:p>
        </p:txBody>
      </p:sp>
      <p:sp>
        <p:nvSpPr>
          <p:cNvPr id="11" name="文字_(3）反应产生的CO₂在标准状况下的体积为 __"/>
          <p:cNvSpPr txBox="1"/>
          <p:nvPr/>
        </p:nvSpPr>
        <p:spPr>
          <a:xfrm>
            <a:off x="502920" y="312811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(3）反应产生的CO₂在标准状况下的体积为 ______ O</a:t>
            </a:r>
          </a:p>
        </p:txBody>
      </p:sp>
      <p:sp>
        <p:nvSpPr>
          <p:cNvPr id="12" name="文字_填空题  ·  04-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04-068</a:t>
            </a:r>
          </a:p>
        </p:txBody>
      </p:sp>
      <p:sp>
        <p:nvSpPr>
          <p:cNvPr id="13"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7"/>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07</a:t>
            </a:r>
          </a:p>
        </p:txBody>
      </p:sp>
      <p:sp>
        <p:nvSpPr>
          <p:cNvPr id="4" name="文字_CO₂ 通入 NaOH：按比例判断产物"/>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CO₂ 通入 NaOH：按比例判断产物</a:t>
            </a:r>
          </a:p>
        </p:txBody>
      </p:sp>
      <p:sp>
        <p:nvSpPr>
          <p:cNvPr id="5" name="文字_知识梳理 · 讲义 P110"/>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P110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CO₂ 通入 NaOH：按比例判断产物"/>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CO₂ 通入 NaOH：按比例判断产物</a:t>
            </a:r>
          </a:p>
        </p:txBody>
      </p:sp>
      <p:sp>
        <p:nvSpPr>
          <p:cNvPr id="5" name="文字_知识讲解 · P110"/>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P110</a:t>
            </a:r>
          </a:p>
        </p:txBody>
      </p:sp>
      <p:graphicFrame>
        <p:nvGraphicFramePr>
          <p:cNvPr id="6" name="Table 5"/>
          <p:cNvGraphicFramePr>
            <a:graphicFrameLocks noGrp="1"/>
          </p:cNvGraphicFramePr>
          <p:nvPr/>
        </p:nvGraphicFramePr>
        <p:xfrm>
          <a:off x="502920" y="1773936"/>
          <a:ext cx="11109960" cy="2428240"/>
        </p:xfrm>
        <a:graphic>
          <a:graphicData uri="http://schemas.openxmlformats.org/drawingml/2006/table">
            <a:tbl>
              <a:tblPr firstRow="1" bandRow="1">
                <a:tableStyleId>{5C22544A-7EE6-4342-B048-85BDC9FD1C3A}</a:tableStyleId>
              </a:tblPr>
              <a:tblGrid>
                <a:gridCol w="5554980"/>
                <a:gridCol w="5554980"/>
              </a:tblGrid>
              <a:tr h="485648">
                <a:tc>
                  <a:txBody>
                    <a:bodyPr/>
                    <a:lstStyle/>
                    <a:p>
                      <a:pPr>
                        <a:defRPr sz="2000" b="1">
                          <a:solidFill>
                            <a:srgbClr val="FFFFFF"/>
                          </a:solidFill>
                          <a:latin typeface="微软雅黑"/>
                        </a:defRPr>
                      </a:pPr>
                      <a:r>
                        <a:t>r = n(NaOH)／n(CO₂)</a:t>
                      </a:r>
                    </a:p>
                  </a:txBody>
                  <a:tcPr marL="91440" marR="91440" marT="45720" marB="45720" anchor="ctr">
                    <a:solidFill>
                      <a:srgbClr val="F1922F"/>
                    </a:solidFill>
                  </a:tcPr>
                </a:tc>
                <a:tc>
                  <a:txBody>
                    <a:bodyPr/>
                    <a:lstStyle/>
                    <a:p>
                      <a:pPr>
                        <a:defRPr sz="2000" b="1">
                          <a:solidFill>
                            <a:srgbClr val="FFFFFF"/>
                          </a:solidFill>
                          <a:latin typeface="微软雅黑"/>
                        </a:defRPr>
                      </a:pPr>
                      <a:r>
                        <a:t>主要溶质</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r ≤ 1</a:t>
                      </a:r>
                    </a:p>
                  </a:txBody>
                  <a:tcPr marL="91440" marR="91440" marT="45720" marB="45720" anchor="ctr">
                    <a:solidFill>
                      <a:srgbClr val="FDF2E3"/>
                    </a:solidFill>
                  </a:tcPr>
                </a:tc>
                <a:tc>
                  <a:txBody>
                    <a:bodyPr/>
                    <a:lstStyle/>
                    <a:p>
                      <a:pPr>
                        <a:defRPr sz="2000" b="0">
                          <a:solidFill>
                            <a:srgbClr val="333333"/>
                          </a:solidFill>
                          <a:latin typeface="微软雅黑"/>
                        </a:defRPr>
                      </a:pPr>
                      <a:r>
                        <a:t>NaHCO₃；CO₂ 可过量</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1 &lt; r &lt; 2</a:t>
                      </a:r>
                    </a:p>
                  </a:txBody>
                  <a:tcPr marL="91440" marR="91440" marT="45720" marB="45720" anchor="ctr">
                    <a:solidFill>
                      <a:srgbClr val="FFFFFF"/>
                    </a:solidFill>
                  </a:tcPr>
                </a:tc>
                <a:tc>
                  <a:txBody>
                    <a:bodyPr/>
                    <a:lstStyle/>
                    <a:p>
                      <a:pPr>
                        <a:defRPr sz="2000" b="0">
                          <a:solidFill>
                            <a:srgbClr val="333333"/>
                          </a:solidFill>
                          <a:latin typeface="微软雅黑"/>
                        </a:defRPr>
                      </a:pPr>
                      <a:r>
                        <a:t>NaHCO₃ 与 Na₂CO₃</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r = 2</a:t>
                      </a:r>
                    </a:p>
                  </a:txBody>
                  <a:tcPr marL="91440" marR="91440" marT="45720" marB="45720" anchor="ctr">
                    <a:solidFill>
                      <a:srgbClr val="FDF2E3"/>
                    </a:solidFill>
                  </a:tcPr>
                </a:tc>
                <a:tc>
                  <a:txBody>
                    <a:bodyPr/>
                    <a:lstStyle/>
                    <a:p>
                      <a:pPr>
                        <a:defRPr sz="2000" b="0">
                          <a:solidFill>
                            <a:srgbClr val="333333"/>
                          </a:solidFill>
                          <a:latin typeface="微软雅黑"/>
                        </a:defRPr>
                      </a:pPr>
                      <a:r>
                        <a:t>Na₂CO₃</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r &gt; 2</a:t>
                      </a:r>
                    </a:p>
                  </a:txBody>
                  <a:tcPr marL="91440" marR="91440" marT="45720" marB="45720" anchor="ctr">
                    <a:solidFill>
                      <a:srgbClr val="FFFFFF"/>
                    </a:solidFill>
                  </a:tcPr>
                </a:tc>
                <a:tc>
                  <a:txBody>
                    <a:bodyPr/>
                    <a:lstStyle/>
                    <a:p>
                      <a:pPr>
                        <a:defRPr sz="2000" b="0">
                          <a:solidFill>
                            <a:srgbClr val="333333"/>
                          </a:solidFill>
                          <a:latin typeface="微软雅黑"/>
                        </a:defRPr>
                      </a:pPr>
                      <a:r>
                        <a:t>Na₂CO₃ 与 NaOH</a:t>
                      </a:r>
                    </a:p>
                  </a:txBody>
                  <a:tcPr marL="91440" marR="91440" marT="45720" marB="45720" anchor="ctr">
                    <a:solidFill>
                      <a:srgbClr val="FFFFFF"/>
                    </a:solidFill>
                  </a:tcPr>
                </a:tc>
              </a:tr>
            </a:tbl>
          </a:graphicData>
        </a:graphic>
      </p:graphicFrame>
      <p:sp>
        <p:nvSpPr>
          <p:cNvPr id="7" name="Rectangle 6"/>
          <p:cNvSpPr/>
          <p:nvPr/>
        </p:nvSpPr>
        <p:spPr>
          <a:xfrm>
            <a:off x="493776" y="4339336"/>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2NaOH + CO₂ = Na₂CO₃"/>
          <p:cNvSpPr txBox="1"/>
          <p:nvPr/>
        </p:nvSpPr>
        <p:spPr>
          <a:xfrm>
            <a:off x="630936" y="4398772"/>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2NaOH + CO₂ = Na₂CO₃ + H₂O；Na₂CO₃ + CO₂ + H₂O = 2NaHCO₃。</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逐滴加入盐酸：读懂两段图像"/>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逐滴加入盐酸：读懂两段图像</a:t>
            </a:r>
          </a:p>
        </p:txBody>
      </p:sp>
      <p:sp>
        <p:nvSpPr>
          <p:cNvPr id="5" name="文字_知识讲解 · P110"/>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P110</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aHCO₃：一开始就产生 CO₂，直到碳酸氢根"/>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NaHCO₃：一开始就产生 CO₂，直到碳酸氢根耗尽。</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Na₂CO₃：先转化为 HCO₃⁻，无气体；继续"/>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Na₂CO₃：先转化为 HCO₃⁻，无气体；继续加酸才产生 CO₂。纯 Na₂CO₃ </a:t>
            </a:r>
          </a:p>
          <a:p>
            <a:pPr>
              <a:lnSpc>
                <a:spcPct val="112000"/>
              </a:lnSpc>
              <a:spcBef>
                <a:spcPts val="0"/>
              </a:spcBef>
              <a:spcAft>
                <a:spcPts val="0"/>
              </a:spcAft>
              <a:defRPr sz="2400" b="0">
                <a:solidFill>
                  <a:srgbClr val="333333"/>
                </a:solidFill>
                <a:latin typeface="微软雅黑"/>
              </a:defRPr>
            </a:pPr>
            <a:r>
              <a:rPr>
                <a:ea typeface="微软雅黑"/>
              </a:rPr>
              <a:t>两阶段耗酸量相等。</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NaOH + Na₂CO₃：开始产气前，酸先中和"/>
          <p:cNvSpPr txBox="1"/>
          <p:nvPr/>
        </p:nvSpPr>
        <p:spPr>
          <a:xfrm>
            <a:off x="722376" y="3310128"/>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NaOH + Na₂CO₃：开始产气前，酸先中和 OH⁻，并把 CO₃²⁻ 转化为 </a:t>
            </a:r>
          </a:p>
          <a:p>
            <a:pPr>
              <a:lnSpc>
                <a:spcPct val="112000"/>
              </a:lnSpc>
              <a:spcBef>
                <a:spcPts val="0"/>
              </a:spcBef>
              <a:spcAft>
                <a:spcPts val="0"/>
              </a:spcAft>
              <a:defRPr sz="2400" b="0">
                <a:solidFill>
                  <a:srgbClr val="333333"/>
                </a:solidFill>
                <a:latin typeface="微软雅黑"/>
              </a:defRPr>
            </a:pPr>
            <a:r>
              <a:rPr>
                <a:ea typeface="微软雅黑"/>
              </a:rPr>
              <a:t>HCO₃⁻。</a:t>
            </a:r>
          </a:p>
        </p:txBody>
      </p:sp>
      <p:sp>
        <p:nvSpPr>
          <p:cNvPr id="12" name="Rectangle 11"/>
          <p:cNvSpPr/>
          <p:nvPr/>
        </p:nvSpPr>
        <p:spPr>
          <a:xfrm>
            <a:off x="512064" y="434644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Na₂CO₃ + NaHCO₃：无气体阶段只反映"/>
          <p:cNvSpPr txBox="1"/>
          <p:nvPr/>
        </p:nvSpPr>
        <p:spPr>
          <a:xfrm>
            <a:off x="722376" y="426415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Na₂CO₃ + NaHCO₃：无气体阶段只反映原有 CO₃²⁻ 的量；产气阶段反映总</a:t>
            </a:r>
          </a:p>
          <a:p>
            <a:pPr>
              <a:lnSpc>
                <a:spcPct val="112000"/>
              </a:lnSpc>
              <a:spcBef>
                <a:spcPts val="0"/>
              </a:spcBef>
              <a:spcAft>
                <a:spcPts val="0"/>
              </a:spcAft>
              <a:defRPr sz="2400" b="0">
                <a:solidFill>
                  <a:srgbClr val="333333"/>
                </a:solidFill>
                <a:latin typeface="微软雅黑"/>
              </a:defRPr>
            </a:pPr>
            <a:r>
              <a:rPr>
                <a:ea typeface="微软雅黑"/>
              </a:rPr>
              <a:t>碳量。</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先看横纵坐标、拐点和各阶段耗酸量，再列物"/>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先看横纵坐标、拐点和各阶段耗酸量，再列物质的量关系。</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例题4</a:t>
            </a:r>
          </a:p>
        </p:txBody>
      </p:sp>
      <p:sp>
        <p:nvSpPr>
          <p:cNvPr id="5" name="文字_P11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P110</a:t>
            </a:r>
          </a:p>
        </p:txBody>
      </p:sp>
      <p:sp>
        <p:nvSpPr>
          <p:cNvPr id="6" name="文字_取碳酸钠和碳酸氢钠的混合粉末样品54.8g，将其"/>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取碳酸钠和碳酸氢钠的混合粉末样品54.8g，将其加热到质量不再改变，冷却后称</a:t>
            </a:r>
          </a:p>
          <a:p>
            <a:pPr>
              <a:lnSpc>
                <a:spcPct val="112000"/>
              </a:lnSpc>
              <a:spcBef>
                <a:spcPts val="0"/>
              </a:spcBef>
              <a:spcAft>
                <a:spcPts val="0"/>
              </a:spcAft>
              <a:defRPr sz="2400" b="0">
                <a:solidFill>
                  <a:srgbClr val="333333"/>
                </a:solidFill>
                <a:latin typeface="微软雅黑"/>
              </a:defRPr>
            </a:pPr>
            <a:r>
              <a:rPr>
                <a:ea typeface="微软雅黑"/>
              </a:rPr>
              <a:t>得固体质量为42.4g，将得到的固体配成溶液，往溶液中逐滴滴加2mol/L盐酸</a:t>
            </a:r>
          </a:p>
          <a:p>
            <a:pPr>
              <a:lnSpc>
                <a:spcPct val="112000"/>
              </a:lnSpc>
              <a:spcBef>
                <a:spcPts val="0"/>
              </a:spcBef>
              <a:spcAft>
                <a:spcPts val="0"/>
              </a:spcAft>
              <a:defRPr sz="2400" b="0">
                <a:solidFill>
                  <a:srgbClr val="333333"/>
                </a:solidFill>
                <a:latin typeface="微软雅黑"/>
              </a:defRPr>
            </a:pPr>
            <a:r>
              <a:rPr>
                <a:ea typeface="微软雅黑"/>
              </a:rPr>
              <a:t>350mL。请回答：</a:t>
            </a:r>
          </a:p>
        </p:txBody>
      </p:sp>
      <p:sp>
        <p:nvSpPr>
          <p:cNvPr id="7" name="文字_(1)原样品中碳酸氢钠的物质的量为 ______"/>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(1)原样品中碳酸氢钠的物质的量为 ______ mol;</a:t>
            </a:r>
          </a:p>
        </p:txBody>
      </p:sp>
      <p:sp>
        <p:nvSpPr>
          <p:cNvPr id="8" name="文字_(2)所配溶液中加入350mL盐酸后产生的气体在"/>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(2)所配溶液中加入350mL盐酸后产生的气体在标准状况下的体积为 ______ L。</a:t>
            </a:r>
          </a:p>
        </p:txBody>
      </p:sp>
      <p:sp>
        <p:nvSpPr>
          <p:cNvPr id="9" name="文字_解答题  ·  04-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04-069</a:t>
            </a:r>
          </a:p>
        </p:txBody>
      </p:sp>
      <p:sp>
        <p:nvSpPr>
          <p:cNvPr id="10"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例题5</a:t>
            </a:r>
          </a:p>
        </p:txBody>
      </p:sp>
      <p:sp>
        <p:nvSpPr>
          <p:cNvPr id="5" name="文字_P11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P110</a:t>
            </a:r>
          </a:p>
        </p:txBody>
      </p:sp>
      <p:sp>
        <p:nvSpPr>
          <p:cNvPr id="6" name="文字_称取Na₂CO₃和NaOH固体混合物5.32g，"/>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称取Na₂CO₃和NaOH固体混合物5.32g，溶于水后加入60mL₁.0mol/L的</a:t>
            </a:r>
          </a:p>
          <a:p>
            <a:pPr>
              <a:lnSpc>
                <a:spcPct val="112000"/>
              </a:lnSpc>
              <a:spcBef>
                <a:spcPts val="0"/>
              </a:spcBef>
              <a:spcAft>
                <a:spcPts val="0"/>
              </a:spcAft>
              <a:defRPr sz="2400" b="0">
                <a:solidFill>
                  <a:srgbClr val="333333"/>
                </a:solidFill>
                <a:latin typeface="微软雅黑"/>
              </a:defRPr>
            </a:pPr>
            <a:r>
              <a:rPr>
                <a:ea typeface="微软雅黑"/>
              </a:rPr>
              <a:t>Ba(OH)₂溶液充分反应，经过滤、洗涤、干燥，称得沉淀3.94g。为将滤液处理至</a:t>
            </a:r>
          </a:p>
          <a:p>
            <a:pPr>
              <a:lnSpc>
                <a:spcPct val="112000"/>
              </a:lnSpc>
              <a:spcBef>
                <a:spcPts val="0"/>
              </a:spcBef>
              <a:spcAft>
                <a:spcPts val="0"/>
              </a:spcAft>
              <a:defRPr sz="2400" b="0">
                <a:solidFill>
                  <a:srgbClr val="333333"/>
                </a:solidFill>
                <a:latin typeface="微软雅黑"/>
              </a:defRPr>
            </a:pPr>
            <a:r>
              <a:rPr>
                <a:ea typeface="微软雅黑"/>
              </a:rPr>
              <a:t>中性后排放，需加入VmL₂.0mol/L稀硫酸。请计算：</a:t>
            </a:r>
          </a:p>
        </p:txBody>
      </p:sp>
      <p:sp>
        <p:nvSpPr>
          <p:cNvPr id="7" name="文字_(1）混合物中n(Na₂CO₃)：n(NaOH)"/>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(1）混合物中n(Na₂CO₃)：n(NaOH)=</a:t>
            </a:r>
          </a:p>
        </p:txBody>
      </p:sp>
      <p:sp>
        <p:nvSpPr>
          <p:cNvPr id="8" name="文字_(2) 稀硫酸的体积V= ______ m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稀硫酸的体积V= ______ mL。</a:t>
            </a:r>
          </a:p>
        </p:txBody>
      </p:sp>
      <p:sp>
        <p:nvSpPr>
          <p:cNvPr id="9" name="文字_解答题  ·  04-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04-070</a:t>
            </a:r>
          </a:p>
        </p:txBody>
      </p:sp>
      <p:sp>
        <p:nvSpPr>
          <p:cNvPr id="10" name="文字_9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例题6</a:t>
            </a:r>
          </a:p>
        </p:txBody>
      </p:sp>
      <p:sp>
        <p:nvSpPr>
          <p:cNvPr id="5" name="文字_P11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P110</a:t>
            </a:r>
          </a:p>
        </p:txBody>
      </p:sp>
      <p:sp>
        <p:nvSpPr>
          <p:cNvPr id="6" name="文字_实验室中有一瓶碳酸氢钠固体，因受热而部分变质(杂"/>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实验室中有一瓶碳酸氢钠固体，因受热而部分变质(杂质为Na₂CO₃，假设杂质分</a:t>
            </a:r>
          </a:p>
          <a:p>
            <a:pPr>
              <a:lnSpc>
                <a:spcPct val="112000"/>
              </a:lnSpc>
              <a:spcBef>
                <a:spcPts val="0"/>
              </a:spcBef>
              <a:spcAft>
                <a:spcPts val="0"/>
              </a:spcAft>
              <a:defRPr sz="2400" b="0">
                <a:solidFill>
                  <a:srgbClr val="333333"/>
                </a:solidFill>
                <a:latin typeface="微软雅黑"/>
              </a:defRPr>
            </a:pPr>
            <a:r>
              <a:rPr>
                <a:ea typeface="微软雅黑"/>
              </a:rPr>
              <a:t>布均匀)。为测定其组成，用分析天平称称取1.7240g样品溶于水，配成500mL溶</a:t>
            </a:r>
          </a:p>
          <a:p>
            <a:pPr>
              <a:lnSpc>
                <a:spcPct val="112000"/>
              </a:lnSpc>
              <a:spcBef>
                <a:spcPts val="0"/>
              </a:spcBef>
              <a:spcAft>
                <a:spcPts val="0"/>
              </a:spcAft>
              <a:defRPr sz="2400" b="0">
                <a:solidFill>
                  <a:srgbClr val="333333"/>
                </a:solidFill>
                <a:latin typeface="微软雅黑"/>
              </a:defRPr>
            </a:pPr>
            <a:r>
              <a:rPr>
                <a:ea typeface="微软雅黑"/>
              </a:rPr>
              <a:t>液。取出25.00mL该溶液，加入一定物质的量浓度的Ba(OH)₂溶液至</a:t>
            </a:r>
          </a:p>
        </p:txBody>
      </p:sp>
      <p:sp>
        <p:nvSpPr>
          <p:cNvPr id="7" name="文字_20.00mL时沉淀量达到最大值，过滤、洗涤、干"/>
          <p:cNvSpPr txBox="1"/>
          <p:nvPr/>
        </p:nvSpPr>
        <p:spPr>
          <a:xfrm>
            <a:off x="502920" y="22433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20.00mL时沉淀量达到最大值，过滤、洗涤、干燥，称量沉淀质量为0.1970g。请</a:t>
            </a:r>
          </a:p>
          <a:p>
            <a:pPr>
              <a:lnSpc>
                <a:spcPct val="112000"/>
              </a:lnSpc>
              <a:spcBef>
                <a:spcPts val="0"/>
              </a:spcBef>
              <a:spcAft>
                <a:spcPts val="0"/>
              </a:spcAft>
              <a:defRPr sz="2400" b="0">
                <a:solidFill>
                  <a:srgbClr val="333333"/>
                </a:solidFill>
                <a:latin typeface="微软雅黑"/>
              </a:defRPr>
            </a:pPr>
            <a:r>
              <a:rPr>
                <a:ea typeface="微软雅黑"/>
              </a:rPr>
              <a:t>计算：</a:t>
            </a:r>
          </a:p>
        </p:txBody>
      </p:sp>
      <p:sp>
        <p:nvSpPr>
          <p:cNvPr id="8" name="文字_(1)所加Ba(OH)₂溶液的物质的量浓度为 _"/>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(1)所加Ba(OH)₂溶液的物质的量浓度为 ______ mol·L−1</a:t>
            </a:r>
          </a:p>
        </p:txBody>
      </p:sp>
      <p:sp>
        <p:nvSpPr>
          <p:cNvPr id="9" name="文字_(2)样品中n(NaHCO₃) ：n(Na₂CO"/>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(2)样品中n(NaHCO₃) ：n(Na₂CO₃)=</a:t>
            </a:r>
          </a:p>
        </p:txBody>
      </p:sp>
      <p:sp>
        <p:nvSpPr>
          <p:cNvPr id="10" name="文字_解答题  ·  04-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04-071</a:t>
            </a:r>
          </a:p>
        </p:txBody>
      </p:sp>
      <p:sp>
        <p:nvSpPr>
          <p:cNvPr id="11" name="文字_9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例题1</a:t>
            </a:r>
          </a:p>
        </p:txBody>
      </p:sp>
      <p:sp>
        <p:nvSpPr>
          <p:cNvPr id="5" name="文字_P11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P111</a:t>
            </a:r>
          </a:p>
        </p:txBody>
      </p:sp>
      <p:pic>
        <p:nvPicPr>
          <p:cNvPr id="6" name="Picture 5" descr="image.png"/>
          <p:cNvPicPr>
            <a:picLocks noChangeAspect="1"/>
          </p:cNvPicPr>
          <p:nvPr/>
        </p:nvPicPr>
        <p:blipFill>
          <a:blip r:embed="rId3"/>
          <a:stretch>
            <a:fillRect/>
          </a:stretch>
        </p:blipFill>
        <p:spPr>
          <a:xfrm>
            <a:off x="502920" y="1078992"/>
            <a:ext cx="11064240" cy="3154648"/>
          </a:xfrm>
          <a:prstGeom prst="rect">
            <a:avLst/>
          </a:prstGeom>
        </p:spPr>
      </p:pic>
      <p:sp>
        <p:nvSpPr>
          <p:cNvPr id="7" name="原题文字_111_30"/>
          <p:cNvSpPr txBox="1"/>
          <p:nvPr/>
        </p:nvSpPr>
        <p:spPr>
          <a:xfrm>
            <a:off x="602459" y="1080248"/>
            <a:ext cx="755863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下列是某溶液中逐滴滴加稀盐酸产生CO₂的图像，下列对溶质成分分析正确的是</a:t>
            </a:r>
          </a:p>
        </p:txBody>
      </p:sp>
      <p:sp>
        <p:nvSpPr>
          <p:cNvPr id="8" name="原题文字_111_31"/>
          <p:cNvSpPr txBox="1"/>
          <p:nvPr/>
        </p:nvSpPr>
        <p:spPr>
          <a:xfrm>
            <a:off x="602459" y="1470750"/>
            <a:ext cx="835869"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序号A</a:t>
            </a:r>
          </a:p>
        </p:txBody>
      </p:sp>
      <p:sp>
        <p:nvSpPr>
          <p:cNvPr id="9" name="原题文字_111_32"/>
          <p:cNvSpPr txBox="1"/>
          <p:nvPr/>
        </p:nvSpPr>
        <p:spPr>
          <a:xfrm>
            <a:off x="3037358" y="1524349"/>
            <a:ext cx="29988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a:t>
            </a:r>
          </a:p>
        </p:txBody>
      </p:sp>
      <p:sp>
        <p:nvSpPr>
          <p:cNvPr id="10" name="原题文字_111_33"/>
          <p:cNvSpPr txBox="1"/>
          <p:nvPr/>
        </p:nvSpPr>
        <p:spPr>
          <a:xfrm>
            <a:off x="5081754" y="1509035"/>
            <a:ext cx="27691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a:t>
            </a:r>
          </a:p>
        </p:txBody>
      </p:sp>
      <p:sp>
        <p:nvSpPr>
          <p:cNvPr id="11" name="原题文字_111_34"/>
          <p:cNvSpPr txBox="1"/>
          <p:nvPr/>
        </p:nvSpPr>
        <p:spPr>
          <a:xfrm>
            <a:off x="7041924" y="1524349"/>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a:t>
            </a:r>
          </a:p>
        </p:txBody>
      </p:sp>
      <p:sp>
        <p:nvSpPr>
          <p:cNvPr id="12" name="原题文字_111_35"/>
          <p:cNvSpPr txBox="1"/>
          <p:nvPr/>
        </p:nvSpPr>
        <p:spPr>
          <a:xfrm>
            <a:off x="1299239" y="1945479"/>
            <a:ext cx="966036" cy="318527"/>
          </a:xfrm>
          <a:prstGeom prst="rect">
            <a:avLst/>
          </a:prstGeom>
          <a:noFill/>
        </p:spPr>
        <p:txBody>
          <a:bodyPr wrap="none" lIns="0" rIns="0" tIns="0" bIns="0">
            <a:spAutoFit/>
          </a:bodyPr>
          <a:lstStyle/>
          <a:p>
            <a:pPr>
              <a:lnSpc>
                <a:spcPct val="112000"/>
              </a:lnSpc>
              <a:spcBef>
                <a:spcPts val="0"/>
              </a:spcBef>
              <a:spcAft>
                <a:spcPts val="0"/>
              </a:spcAft>
              <a:defRPr sz="1192" b="0">
                <a:solidFill>
                  <a:srgbClr val="333333"/>
                </a:solidFill>
                <a:latin typeface="微软雅黑"/>
              </a:defRPr>
            </a:pPr>
            <a:r>
              <a:rPr>
                <a:ea typeface="微软雅黑"/>
              </a:rPr>
              <a:t>↑ n(CO₂)/mol</a:t>
            </a:r>
          </a:p>
        </p:txBody>
      </p:sp>
      <p:sp>
        <p:nvSpPr>
          <p:cNvPr id="13" name="原题文字_111_36"/>
          <p:cNvSpPr txBox="1"/>
          <p:nvPr/>
        </p:nvSpPr>
        <p:spPr>
          <a:xfrm>
            <a:off x="3205810" y="1914851"/>
            <a:ext cx="1034948" cy="348389"/>
          </a:xfrm>
          <a:prstGeom prst="rect">
            <a:avLst/>
          </a:prstGeom>
          <a:noFill/>
        </p:spPr>
        <p:txBody>
          <a:bodyPr wrap="none" lIns="0" rIns="0" tIns="0" bIns="0">
            <a:spAutoFit/>
          </a:bodyPr>
          <a:lstStyle/>
          <a:p>
            <a:pPr>
              <a:lnSpc>
                <a:spcPct val="112000"/>
              </a:lnSpc>
              <a:spcBef>
                <a:spcPts val="0"/>
              </a:spcBef>
              <a:spcAft>
                <a:spcPts val="0"/>
              </a:spcAft>
              <a:defRPr sz="1323" b="0">
                <a:solidFill>
                  <a:srgbClr val="333333"/>
                </a:solidFill>
                <a:latin typeface="微软雅黑"/>
              </a:defRPr>
            </a:pPr>
            <a:r>
              <a:rPr>
                <a:ea typeface="微软雅黑"/>
              </a:rPr>
              <a:t>↑n(CO₂)/mol</a:t>
            </a:r>
          </a:p>
        </p:txBody>
      </p:sp>
      <p:sp>
        <p:nvSpPr>
          <p:cNvPr id="14" name="原题文字_111_37"/>
          <p:cNvSpPr txBox="1"/>
          <p:nvPr/>
        </p:nvSpPr>
        <p:spPr>
          <a:xfrm>
            <a:off x="5242549" y="1930165"/>
            <a:ext cx="1011978" cy="318527"/>
          </a:xfrm>
          <a:prstGeom prst="rect">
            <a:avLst/>
          </a:prstGeom>
          <a:noFill/>
        </p:spPr>
        <p:txBody>
          <a:bodyPr wrap="non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 n(CO₂)/mol</a:t>
            </a:r>
          </a:p>
        </p:txBody>
      </p:sp>
      <p:sp>
        <p:nvSpPr>
          <p:cNvPr id="15" name="原题文字_111_38"/>
          <p:cNvSpPr txBox="1"/>
          <p:nvPr/>
        </p:nvSpPr>
        <p:spPr>
          <a:xfrm>
            <a:off x="7225690" y="1914851"/>
            <a:ext cx="1019635" cy="348389"/>
          </a:xfrm>
          <a:prstGeom prst="rect">
            <a:avLst/>
          </a:prstGeom>
          <a:noFill/>
        </p:spPr>
        <p:txBody>
          <a:bodyPr wrap="none" lIns="0" rIns="0" tIns="0" bIns="0">
            <a:spAutoFit/>
          </a:bodyPr>
          <a:lstStyle/>
          <a:p>
            <a:pPr>
              <a:lnSpc>
                <a:spcPct val="112000"/>
              </a:lnSpc>
              <a:spcBef>
                <a:spcPts val="0"/>
              </a:spcBef>
              <a:spcAft>
                <a:spcPts val="0"/>
              </a:spcAft>
              <a:defRPr sz="1243" b="0">
                <a:solidFill>
                  <a:srgbClr val="333333"/>
                </a:solidFill>
                <a:latin typeface="微软雅黑"/>
              </a:defRPr>
            </a:pPr>
            <a:r>
              <a:rPr>
                <a:ea typeface="微软雅黑"/>
              </a:rPr>
              <a:t>↑ n(CO₂)/mol</a:t>
            </a:r>
          </a:p>
        </p:txBody>
      </p:sp>
      <p:sp>
        <p:nvSpPr>
          <p:cNvPr id="16" name="原题文字_111_39"/>
          <p:cNvSpPr txBox="1"/>
          <p:nvPr/>
        </p:nvSpPr>
        <p:spPr>
          <a:xfrm>
            <a:off x="617773" y="2512090"/>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图像</a:t>
            </a:r>
          </a:p>
        </p:txBody>
      </p:sp>
      <p:sp>
        <p:nvSpPr>
          <p:cNvPr id="17" name="原题文字_111_40"/>
          <p:cNvSpPr txBox="1"/>
          <p:nvPr/>
        </p:nvSpPr>
        <p:spPr>
          <a:xfrm>
            <a:off x="3427860" y="2435521"/>
            <a:ext cx="935409" cy="1174570"/>
          </a:xfrm>
          <a:prstGeom prst="rect">
            <a:avLst/>
          </a:prstGeom>
          <a:noFill/>
        </p:spPr>
        <p:txBody>
          <a:bodyPr wrap="none" lIns="0" rIns="0" tIns="0" bIns="0">
            <a:spAutoFit/>
          </a:bodyPr>
          <a:lstStyle/>
          <a:p>
            <a:pPr>
              <a:lnSpc>
                <a:spcPct val="112000"/>
              </a:lnSpc>
              <a:spcBef>
                <a:spcPts val="0"/>
              </a:spcBef>
              <a:spcAft>
                <a:spcPts val="0"/>
              </a:spcAft>
              <a:defRPr sz="5691" b="0">
                <a:solidFill>
                  <a:srgbClr val="333333"/>
                </a:solidFill>
                <a:latin typeface="微软雅黑"/>
              </a:defRPr>
            </a:pPr>
            <a:r>
              <a:rPr>
                <a:ea typeface="微软雅黑"/>
              </a:rPr>
              <a:t>7</a:t>
            </a:r>
          </a:p>
        </p:txBody>
      </p:sp>
      <p:sp>
        <p:nvSpPr>
          <p:cNvPr id="18" name="原题文字_111_41"/>
          <p:cNvSpPr txBox="1"/>
          <p:nvPr/>
        </p:nvSpPr>
        <p:spPr>
          <a:xfrm>
            <a:off x="1253297" y="3170585"/>
            <a:ext cx="177374" cy="179171"/>
          </a:xfrm>
          <a:prstGeom prst="rect">
            <a:avLst/>
          </a:prstGeom>
          <a:noFill/>
        </p:spPr>
        <p:txBody>
          <a:bodyPr wrap="none" lIns="0" rIns="0" tIns="0" bIns="0">
            <a:spAutoFit/>
          </a:bodyPr>
          <a:lstStyle/>
          <a:p>
            <a:pPr>
              <a:lnSpc>
                <a:spcPct val="112000"/>
              </a:lnSpc>
              <a:spcBef>
                <a:spcPts val="0"/>
              </a:spcBef>
              <a:spcAft>
                <a:spcPts val="0"/>
              </a:spcAft>
              <a:defRPr sz="868" b="0">
                <a:solidFill>
                  <a:srgbClr val="333333"/>
                </a:solidFill>
                <a:latin typeface="微软雅黑"/>
              </a:defRPr>
            </a:pPr>
            <a:r>
              <a:rPr>
                <a:ea typeface="微软雅黑"/>
              </a:rPr>
              <a:t>0</a:t>
            </a:r>
          </a:p>
        </p:txBody>
      </p:sp>
      <p:sp>
        <p:nvSpPr>
          <p:cNvPr id="19" name="原题文字_111_42"/>
          <p:cNvSpPr txBox="1"/>
          <p:nvPr/>
        </p:nvSpPr>
        <p:spPr>
          <a:xfrm>
            <a:off x="2256353" y="3208870"/>
            <a:ext cx="698044" cy="288665"/>
          </a:xfrm>
          <a:prstGeom prst="rect">
            <a:avLst/>
          </a:prstGeom>
          <a:noFill/>
        </p:spPr>
        <p:txBody>
          <a:bodyPr wrap="none" lIns="0" rIns="0" tIns="0" bIns="0">
            <a:spAutoFit/>
          </a:bodyPr>
          <a:lstStyle/>
          <a:p>
            <a:pPr>
              <a:lnSpc>
                <a:spcPct val="112000"/>
              </a:lnSpc>
              <a:spcBef>
                <a:spcPts val="0"/>
              </a:spcBef>
              <a:spcAft>
                <a:spcPts val="0"/>
              </a:spcAft>
              <a:defRPr sz="1392" b="0">
                <a:solidFill>
                  <a:srgbClr val="333333"/>
                </a:solidFill>
                <a:latin typeface="微软雅黑"/>
              </a:defRPr>
            </a:pPr>
            <a:r>
              <a:rPr>
                <a:ea typeface="微软雅黑"/>
              </a:rPr>
              <a:t>V(HCI)/L</a:t>
            </a:r>
          </a:p>
        </p:txBody>
      </p:sp>
      <p:sp>
        <p:nvSpPr>
          <p:cNvPr id="20" name="原题文字_111_43"/>
          <p:cNvSpPr txBox="1"/>
          <p:nvPr/>
        </p:nvSpPr>
        <p:spPr>
          <a:xfrm>
            <a:off x="3167525" y="3185899"/>
            <a:ext cx="215659" cy="209033"/>
          </a:xfrm>
          <a:prstGeom prst="rect">
            <a:avLst/>
          </a:prstGeom>
          <a:noFill/>
        </p:spPr>
        <p:txBody>
          <a:bodyPr wrap="none" lIns="0" rIns="0" tIns="0" bIns="0">
            <a:spAutoFit/>
          </a:bodyPr>
          <a:lstStyle/>
          <a:p>
            <a:pPr>
              <a:lnSpc>
                <a:spcPct val="112000"/>
              </a:lnSpc>
              <a:spcBef>
                <a:spcPts val="0"/>
              </a:spcBef>
              <a:spcAft>
                <a:spcPts val="0"/>
              </a:spcAft>
              <a:defRPr sz="1012" b="0">
                <a:solidFill>
                  <a:srgbClr val="333333"/>
                </a:solidFill>
                <a:latin typeface="微软雅黑"/>
              </a:defRPr>
            </a:pPr>
            <a:r>
              <a:rPr>
                <a:ea typeface="微软雅黑"/>
              </a:rPr>
              <a:t>0</a:t>
            </a:r>
          </a:p>
        </p:txBody>
      </p:sp>
      <p:sp>
        <p:nvSpPr>
          <p:cNvPr id="21" name="原题文字_111_44"/>
          <p:cNvSpPr txBox="1"/>
          <p:nvPr/>
        </p:nvSpPr>
        <p:spPr>
          <a:xfrm>
            <a:off x="4216523" y="3239497"/>
            <a:ext cx="71335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V(HCI)/L</a:t>
            </a:r>
          </a:p>
        </p:txBody>
      </p:sp>
      <p:sp>
        <p:nvSpPr>
          <p:cNvPr id="22" name="原题文字_111_45"/>
          <p:cNvSpPr txBox="1"/>
          <p:nvPr/>
        </p:nvSpPr>
        <p:spPr>
          <a:xfrm>
            <a:off x="5188951" y="3170585"/>
            <a:ext cx="215659"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0</a:t>
            </a:r>
          </a:p>
        </p:txBody>
      </p:sp>
      <p:sp>
        <p:nvSpPr>
          <p:cNvPr id="23" name="原题文字_111_46"/>
          <p:cNvSpPr txBox="1"/>
          <p:nvPr/>
        </p:nvSpPr>
        <p:spPr>
          <a:xfrm>
            <a:off x="6222634" y="3216526"/>
            <a:ext cx="72867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V(HCI)/L</a:t>
            </a:r>
          </a:p>
        </p:txBody>
      </p:sp>
      <p:sp>
        <p:nvSpPr>
          <p:cNvPr id="24" name="原题文字_111_47"/>
          <p:cNvSpPr txBox="1"/>
          <p:nvPr/>
        </p:nvSpPr>
        <p:spPr>
          <a:xfrm>
            <a:off x="7172091" y="3178242"/>
            <a:ext cx="215659" cy="199079"/>
          </a:xfrm>
          <a:prstGeom prst="rect">
            <a:avLst/>
          </a:prstGeom>
          <a:noFill/>
        </p:spPr>
        <p:txBody>
          <a:bodyPr wrap="none" lIns="0" rIns="0" tIns="0" bIns="0">
            <a:spAutoFit/>
          </a:bodyPr>
          <a:lstStyle/>
          <a:p>
            <a:pPr>
              <a:lnSpc>
                <a:spcPct val="112000"/>
              </a:lnSpc>
              <a:spcBef>
                <a:spcPts val="0"/>
              </a:spcBef>
              <a:spcAft>
                <a:spcPts val="0"/>
              </a:spcAft>
              <a:defRPr sz="964" b="0">
                <a:solidFill>
                  <a:srgbClr val="333333"/>
                </a:solidFill>
                <a:latin typeface="微软雅黑"/>
              </a:defRPr>
            </a:pPr>
            <a:r>
              <a:rPr>
                <a:ea typeface="微软雅黑"/>
              </a:rPr>
              <a:t>0</a:t>
            </a:r>
          </a:p>
        </p:txBody>
      </p:sp>
      <p:sp>
        <p:nvSpPr>
          <p:cNvPr id="25" name="原题文字_111_48"/>
          <p:cNvSpPr txBox="1"/>
          <p:nvPr/>
        </p:nvSpPr>
        <p:spPr>
          <a:xfrm>
            <a:off x="8213431" y="3216526"/>
            <a:ext cx="728672"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V(HCI)/L</a:t>
            </a:r>
          </a:p>
        </p:txBody>
      </p:sp>
      <p:sp>
        <p:nvSpPr>
          <p:cNvPr id="26" name="原题文字_111_49"/>
          <p:cNvSpPr txBox="1"/>
          <p:nvPr/>
        </p:nvSpPr>
        <p:spPr>
          <a:xfrm>
            <a:off x="610116" y="3515146"/>
            <a:ext cx="1479049" cy="408113"/>
          </a:xfrm>
          <a:prstGeom prst="rect">
            <a:avLst/>
          </a:prstGeom>
          <a:noFill/>
        </p:spPr>
        <p:txBody>
          <a:bodyPr wrap="none" lIns="0" rIns="0" tIns="0" bIns="0">
            <a:spAutoFit/>
          </a:bodyPr>
          <a:lstStyle/>
          <a:p>
            <a:pPr>
              <a:lnSpc>
                <a:spcPct val="112000"/>
              </a:lnSpc>
              <a:spcBef>
                <a:spcPts val="0"/>
              </a:spcBef>
              <a:spcAft>
                <a:spcPts val="0"/>
              </a:spcAft>
              <a:defRPr sz="1853" b="0">
                <a:solidFill>
                  <a:srgbClr val="333333"/>
                </a:solidFill>
                <a:latin typeface="微软雅黑"/>
              </a:defRPr>
            </a:pPr>
            <a:r>
              <a:rPr>
                <a:ea typeface="微软雅黑"/>
              </a:rPr>
              <a:t>溶质NaHCO₃</a:t>
            </a:r>
          </a:p>
        </p:txBody>
      </p:sp>
      <p:sp>
        <p:nvSpPr>
          <p:cNvPr id="27" name="原题文字_111_50"/>
          <p:cNvSpPr txBox="1"/>
          <p:nvPr/>
        </p:nvSpPr>
        <p:spPr>
          <a:xfrm>
            <a:off x="3060329" y="3553431"/>
            <a:ext cx="1961435" cy="348389"/>
          </a:xfrm>
          <a:prstGeom prst="rect">
            <a:avLst/>
          </a:prstGeom>
          <a:noFill/>
        </p:spPr>
        <p:txBody>
          <a:bodyPr wrap="none" lIns="0" rIns="0" tIns="0" bIns="0">
            <a:spAutoFit/>
          </a:bodyPr>
          <a:lstStyle/>
          <a:p>
            <a:pPr>
              <a:lnSpc>
                <a:spcPct val="112000"/>
              </a:lnSpc>
              <a:spcBef>
                <a:spcPts val="0"/>
              </a:spcBef>
              <a:spcAft>
                <a:spcPts val="0"/>
              </a:spcAft>
              <a:defRPr sz="1642" b="0">
                <a:solidFill>
                  <a:srgbClr val="333333"/>
                </a:solidFill>
                <a:latin typeface="微软雅黑"/>
              </a:defRPr>
            </a:pPr>
            <a:r>
              <a:rPr>
                <a:ea typeface="微软雅黑"/>
              </a:rPr>
              <a:t>Na₂CO₃、NaHCO₃</a:t>
            </a:r>
          </a:p>
        </p:txBody>
      </p:sp>
      <p:sp>
        <p:nvSpPr>
          <p:cNvPr id="28" name="原题文字_111_51"/>
          <p:cNvSpPr txBox="1"/>
          <p:nvPr/>
        </p:nvSpPr>
        <p:spPr>
          <a:xfrm>
            <a:off x="5081754" y="3553431"/>
            <a:ext cx="1685786" cy="348389"/>
          </a:xfrm>
          <a:prstGeom prst="rect">
            <a:avLst/>
          </a:prstGeom>
          <a:noFill/>
        </p:spPr>
        <p:txBody>
          <a:bodyPr wrap="none" lIns="0" rIns="0" tIns="0" bIns="0">
            <a:spAutoFit/>
          </a:bodyPr>
          <a:lstStyle/>
          <a:p>
            <a:pPr>
              <a:lnSpc>
                <a:spcPct val="112000"/>
              </a:lnSpc>
              <a:spcBef>
                <a:spcPts val="0"/>
              </a:spcBef>
              <a:spcAft>
                <a:spcPts val="0"/>
              </a:spcAft>
              <a:defRPr sz="1644" b="0">
                <a:solidFill>
                  <a:srgbClr val="333333"/>
                </a:solidFill>
                <a:latin typeface="微软雅黑"/>
              </a:defRPr>
            </a:pPr>
            <a:r>
              <a:rPr>
                <a:ea typeface="微软雅黑"/>
              </a:rPr>
              <a:t>Na₂CO₃、NaOH</a:t>
            </a:r>
          </a:p>
        </p:txBody>
      </p:sp>
      <p:sp>
        <p:nvSpPr>
          <p:cNvPr id="29" name="原题文字_111_52"/>
          <p:cNvSpPr txBox="1"/>
          <p:nvPr/>
        </p:nvSpPr>
        <p:spPr>
          <a:xfrm>
            <a:off x="7034267" y="3538117"/>
            <a:ext cx="935409" cy="398159"/>
          </a:xfrm>
          <a:prstGeom prst="rect">
            <a:avLst/>
          </a:prstGeom>
          <a:noFill/>
        </p:spPr>
        <p:txBody>
          <a:bodyPr wrap="none" lIns="0" rIns="0" tIns="0" bIns="0">
            <a:spAutoFit/>
          </a:bodyPr>
          <a:lstStyle/>
          <a:p>
            <a:pPr>
              <a:lnSpc>
                <a:spcPct val="112000"/>
              </a:lnSpc>
              <a:spcBef>
                <a:spcPts val="0"/>
              </a:spcBef>
              <a:spcAft>
                <a:spcPts val="0"/>
              </a:spcAft>
              <a:defRPr sz="1737" b="0">
                <a:solidFill>
                  <a:srgbClr val="333333"/>
                </a:solidFill>
                <a:latin typeface="微软雅黑"/>
              </a:defRPr>
            </a:pPr>
            <a:r>
              <a:rPr>
                <a:ea typeface="微软雅黑"/>
              </a:rPr>
              <a:t>Na₂CO₃</a:t>
            </a:r>
          </a:p>
        </p:txBody>
      </p:sp>
      <p:sp>
        <p:nvSpPr>
          <p:cNvPr id="30" name="原题文字_111_53"/>
          <p:cNvSpPr txBox="1"/>
          <p:nvPr/>
        </p:nvSpPr>
        <p:spPr>
          <a:xfrm>
            <a:off x="564175" y="3974561"/>
            <a:ext cx="61381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A</a:t>
            </a:r>
          </a:p>
        </p:txBody>
      </p:sp>
      <p:sp>
        <p:nvSpPr>
          <p:cNvPr id="31" name="原题文字_111_54"/>
          <p:cNvSpPr txBox="1"/>
          <p:nvPr/>
        </p:nvSpPr>
        <p:spPr>
          <a:xfrm>
            <a:off x="3244095" y="3974561"/>
            <a:ext cx="60616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B</a:t>
            </a:r>
          </a:p>
        </p:txBody>
      </p:sp>
      <p:sp>
        <p:nvSpPr>
          <p:cNvPr id="32" name="原题文字_111_55"/>
          <p:cNvSpPr txBox="1"/>
          <p:nvPr/>
        </p:nvSpPr>
        <p:spPr>
          <a:xfrm>
            <a:off x="5924014" y="3959247"/>
            <a:ext cx="64444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C. C</a:t>
            </a:r>
          </a:p>
        </p:txBody>
      </p:sp>
      <p:sp>
        <p:nvSpPr>
          <p:cNvPr id="33" name="原题文字_111_56"/>
          <p:cNvSpPr txBox="1"/>
          <p:nvPr/>
        </p:nvSpPr>
        <p:spPr>
          <a:xfrm>
            <a:off x="8611591" y="3966904"/>
            <a:ext cx="62147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D. D</a:t>
            </a:r>
          </a:p>
        </p:txBody>
      </p:sp>
      <p:sp>
        <p:nvSpPr>
          <p:cNvPr id="34" name="文字_单选题  ·  04-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04-072</a:t>
            </a:r>
          </a:p>
        </p:txBody>
      </p:sp>
      <p:sp>
        <p:nvSpPr>
          <p:cNvPr id="35" name="文字_9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例题2</a:t>
            </a:r>
          </a:p>
        </p:txBody>
      </p:sp>
      <p:sp>
        <p:nvSpPr>
          <p:cNvPr id="5" name="文字_P11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P112</a:t>
            </a:r>
          </a:p>
        </p:txBody>
      </p:sp>
      <p:sp>
        <p:nvSpPr>
          <p:cNvPr id="6" name="文字_向NaOH和Na₂CO₃的混合溶液中滴加0.1m"/>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向NaOH和Na₂CO₃的混合溶液中滴加0.1mol/L的稀盐酸，生成的CO₂的质量与</a:t>
            </a:r>
          </a:p>
          <a:p>
            <a:pPr>
              <a:lnSpc>
                <a:spcPct val="112000"/>
              </a:lnSpc>
              <a:spcBef>
                <a:spcPts val="0"/>
              </a:spcBef>
              <a:spcAft>
                <a:spcPts val="0"/>
              </a:spcAft>
              <a:defRPr sz="2400" b="0">
                <a:solidFill>
                  <a:srgbClr val="333333"/>
                </a:solidFill>
                <a:latin typeface="微软雅黑"/>
              </a:defRPr>
            </a:pPr>
            <a:r>
              <a:rPr>
                <a:ea typeface="微软雅黑"/>
              </a:rPr>
              <a:t>加入盐酸的体积的关系如图所示。下列判断错误的是</a:t>
            </a:r>
          </a:p>
        </p:txBody>
      </p:sp>
      <p:sp>
        <p:nvSpPr>
          <p:cNvPr id="7" name="文字_A. 在o~a内，发生了酸碱中和反应 _____"/>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在o~a内，发生了酸碱中和反应 ______ ↑m(CO₂)/g</a:t>
            </a:r>
          </a:p>
        </p:txBody>
      </p:sp>
      <p:pic>
        <p:nvPicPr>
          <p:cNvPr id="8" name="Picture 7" descr="image.png"/>
          <p:cNvPicPr>
            <a:picLocks noChangeAspect="1"/>
          </p:cNvPicPr>
          <p:nvPr/>
        </p:nvPicPr>
        <p:blipFill>
          <a:blip r:embed="rId3"/>
          <a:stretch>
            <a:fillRect/>
          </a:stretch>
        </p:blipFill>
        <p:spPr>
          <a:xfrm>
            <a:off x="502920" y="2319528"/>
            <a:ext cx="11064240" cy="1776403"/>
          </a:xfrm>
          <a:prstGeom prst="rect">
            <a:avLst/>
          </a:prstGeom>
        </p:spPr>
      </p:pic>
      <p:sp>
        <p:nvSpPr>
          <p:cNvPr id="9" name="原题文字_112_7"/>
          <p:cNvSpPr txBox="1"/>
          <p:nvPr/>
        </p:nvSpPr>
        <p:spPr>
          <a:xfrm>
            <a:off x="9874982" y="2351411"/>
            <a:ext cx="230973"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b</a:t>
            </a:r>
          </a:p>
        </p:txBody>
      </p:sp>
      <p:sp>
        <p:nvSpPr>
          <p:cNvPr id="10" name="原题文字_112_8"/>
          <p:cNvSpPr txBox="1"/>
          <p:nvPr/>
        </p:nvSpPr>
        <p:spPr>
          <a:xfrm>
            <a:off x="571832" y="2565805"/>
            <a:ext cx="223708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 b点时溶质只有一种</a:t>
            </a:r>
          </a:p>
        </p:txBody>
      </p:sp>
      <p:sp>
        <p:nvSpPr>
          <p:cNvPr id="11" name="原题文字_112_9"/>
          <p:cNvSpPr txBox="1"/>
          <p:nvPr/>
        </p:nvSpPr>
        <p:spPr>
          <a:xfrm>
            <a:off x="8267030" y="2496893"/>
            <a:ext cx="57553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0.04</a:t>
            </a:r>
          </a:p>
        </p:txBody>
      </p:sp>
      <p:sp>
        <p:nvSpPr>
          <p:cNvPr id="12" name="原题文字_112_10"/>
          <p:cNvSpPr txBox="1"/>
          <p:nvPr/>
        </p:nvSpPr>
        <p:spPr>
          <a:xfrm>
            <a:off x="571832" y="2956307"/>
            <a:ext cx="92009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 a=0.3</a:t>
            </a:r>
          </a:p>
        </p:txBody>
      </p:sp>
      <p:sp>
        <p:nvSpPr>
          <p:cNvPr id="13" name="原题文字_112_11"/>
          <p:cNvSpPr txBox="1"/>
          <p:nvPr/>
        </p:nvSpPr>
        <p:spPr>
          <a:xfrm>
            <a:off x="571832" y="3316182"/>
            <a:ext cx="4771522" cy="348389"/>
          </a:xfrm>
          <a:prstGeom prst="rect">
            <a:avLst/>
          </a:prstGeom>
          <a:noFill/>
        </p:spPr>
        <p:txBody>
          <a:bodyPr wrap="none" lIns="0" rIns="0" tIns="0" bIns="0">
            <a:spAutoFit/>
          </a:bodyPr>
          <a:lstStyle/>
          <a:p>
            <a:pPr>
              <a:lnSpc>
                <a:spcPct val="112000"/>
              </a:lnSpc>
              <a:spcBef>
                <a:spcPts val="0"/>
              </a:spcBef>
              <a:spcAft>
                <a:spcPts val="0"/>
              </a:spcAft>
              <a:defRPr sz="1674" b="0">
                <a:solidFill>
                  <a:srgbClr val="333333"/>
                </a:solidFill>
                <a:latin typeface="微软雅黑"/>
              </a:defRPr>
            </a:pPr>
            <a:r>
              <a:rPr>
                <a:ea typeface="微软雅黑"/>
              </a:rPr>
              <a:t>D. 原混合溶液中NaOH与Na₂CO₃的质量之比为1:2</a:t>
            </a:r>
          </a:p>
        </p:txBody>
      </p:sp>
      <p:sp>
        <p:nvSpPr>
          <p:cNvPr id="14" name="原题文字_112_12"/>
          <p:cNvSpPr txBox="1"/>
          <p:nvPr/>
        </p:nvSpPr>
        <p:spPr>
          <a:xfrm>
            <a:off x="8565649" y="3699028"/>
            <a:ext cx="261600"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0</a:t>
            </a:r>
          </a:p>
        </p:txBody>
      </p:sp>
      <p:sp>
        <p:nvSpPr>
          <p:cNvPr id="15" name="原题文字_112_13"/>
          <p:cNvSpPr txBox="1"/>
          <p:nvPr/>
        </p:nvSpPr>
        <p:spPr>
          <a:xfrm>
            <a:off x="9469165" y="3721999"/>
            <a:ext cx="246286"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a</a:t>
            </a:r>
          </a:p>
        </p:txBody>
      </p:sp>
      <p:sp>
        <p:nvSpPr>
          <p:cNvPr id="16" name="原题文字_112_14"/>
          <p:cNvSpPr txBox="1"/>
          <p:nvPr/>
        </p:nvSpPr>
        <p:spPr>
          <a:xfrm>
            <a:off x="9790756" y="3721999"/>
            <a:ext cx="44536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0.4</a:t>
            </a:r>
          </a:p>
        </p:txBody>
      </p:sp>
      <p:sp>
        <p:nvSpPr>
          <p:cNvPr id="17" name="原题文字_112_15"/>
          <p:cNvSpPr txBox="1"/>
          <p:nvPr/>
        </p:nvSpPr>
        <p:spPr>
          <a:xfrm>
            <a:off x="10334396" y="3767940"/>
            <a:ext cx="1057919" cy="408113"/>
          </a:xfrm>
          <a:prstGeom prst="rect">
            <a:avLst/>
          </a:prstGeom>
          <a:noFill/>
        </p:spPr>
        <p:txBody>
          <a:bodyPr wrap="none" lIns="0" rIns="0" tIns="0" bIns="0">
            <a:spAutoFit/>
          </a:bodyPr>
          <a:lstStyle/>
          <a:p>
            <a:pPr>
              <a:lnSpc>
                <a:spcPct val="112000"/>
              </a:lnSpc>
              <a:spcBef>
                <a:spcPts val="0"/>
              </a:spcBef>
              <a:spcAft>
                <a:spcPts val="0"/>
              </a:spcAft>
              <a:defRPr sz="1955" b="0">
                <a:solidFill>
                  <a:srgbClr val="333333"/>
                </a:solidFill>
                <a:latin typeface="微软雅黑"/>
              </a:defRPr>
            </a:pPr>
            <a:r>
              <a:rPr>
                <a:ea typeface="微软雅黑"/>
              </a:rPr>
              <a:t>V(盐酸)/L</a:t>
            </a:r>
          </a:p>
        </p:txBody>
      </p:sp>
      <p:sp>
        <p:nvSpPr>
          <p:cNvPr id="18" name="文字_单选题  ·  04-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04-073</a:t>
            </a:r>
          </a:p>
        </p:txBody>
      </p:sp>
      <p:sp>
        <p:nvSpPr>
          <p:cNvPr id="19" name="文字_9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例题3</a:t>
            </a:r>
          </a:p>
        </p:txBody>
      </p:sp>
      <p:sp>
        <p:nvSpPr>
          <p:cNvPr id="5" name="文字_P11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P112</a:t>
            </a:r>
          </a:p>
        </p:txBody>
      </p:sp>
      <p:sp>
        <p:nvSpPr>
          <p:cNvPr id="6" name="文字_某种天然碱的化学式为aNa₂CO₃·bNaHCO"/>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某种天然碱的化学式为aNa₂CO₃·bNaHCO₃·cH₂O，取一定质量该天然碱溶于水</a:t>
            </a:r>
          </a:p>
          <a:p>
            <a:pPr>
              <a:lnSpc>
                <a:spcPct val="112000"/>
              </a:lnSpc>
              <a:spcBef>
                <a:spcPts val="0"/>
              </a:spcBef>
              <a:spcAft>
                <a:spcPts val="0"/>
              </a:spcAft>
              <a:defRPr sz="2400" b="0">
                <a:solidFill>
                  <a:srgbClr val="333333"/>
                </a:solidFill>
                <a:latin typeface="微软雅黑"/>
              </a:defRPr>
            </a:pPr>
            <a:r>
              <a:rPr>
                <a:ea typeface="微软雅黑"/>
              </a:rPr>
              <a:t>，逐滴加入稀盐酸，溶液中的NaHCO₃的物质的量与加入HCl的物质的量关系如图</a:t>
            </a:r>
          </a:p>
          <a:p>
            <a:pPr>
              <a:lnSpc>
                <a:spcPct val="112000"/>
              </a:lnSpc>
              <a:spcBef>
                <a:spcPts val="0"/>
              </a:spcBef>
              <a:spcAft>
                <a:spcPts val="0"/>
              </a:spcAft>
              <a:defRPr sz="2400" b="0">
                <a:solidFill>
                  <a:srgbClr val="333333"/>
                </a:solidFill>
                <a:latin typeface="微软雅黑"/>
              </a:defRPr>
            </a:pPr>
            <a:r>
              <a:rPr>
                <a:ea typeface="微软雅黑"/>
              </a:rPr>
              <a:t>所示。下列说法正确的是</a:t>
            </a:r>
          </a:p>
        </p:txBody>
      </p:sp>
      <p:pic>
        <p:nvPicPr>
          <p:cNvPr id="7" name="Picture 6" descr="image.png"/>
          <p:cNvPicPr>
            <a:picLocks noChangeAspect="1"/>
          </p:cNvPicPr>
          <p:nvPr/>
        </p:nvPicPr>
        <p:blipFill>
          <a:blip r:embed="rId3"/>
          <a:stretch>
            <a:fillRect/>
          </a:stretch>
        </p:blipFill>
        <p:spPr>
          <a:xfrm>
            <a:off x="502920" y="2243328"/>
            <a:ext cx="11064240" cy="2304730"/>
          </a:xfrm>
          <a:prstGeom prst="rect">
            <a:avLst/>
          </a:prstGeom>
        </p:spPr>
      </p:pic>
      <p:sp>
        <p:nvSpPr>
          <p:cNvPr id="8" name="原题文字_112_21"/>
          <p:cNvSpPr txBox="1"/>
          <p:nvPr/>
        </p:nvSpPr>
        <p:spPr>
          <a:xfrm>
            <a:off x="571832" y="2290525"/>
            <a:ext cx="133356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a: b = 1:2</a:t>
            </a:r>
          </a:p>
        </p:txBody>
      </p:sp>
      <p:sp>
        <p:nvSpPr>
          <p:cNvPr id="9" name="原题文字_112_22"/>
          <p:cNvSpPr txBox="1"/>
          <p:nvPr/>
        </p:nvSpPr>
        <p:spPr>
          <a:xfrm>
            <a:off x="8489080" y="2275211"/>
            <a:ext cx="1532648" cy="308573"/>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An(NaHCO₃)/mol</a:t>
            </a:r>
          </a:p>
        </p:txBody>
      </p:sp>
      <p:sp>
        <p:nvSpPr>
          <p:cNvPr id="10" name="原题文字_112_23"/>
          <p:cNvSpPr txBox="1"/>
          <p:nvPr/>
        </p:nvSpPr>
        <p:spPr>
          <a:xfrm>
            <a:off x="8335942" y="2489605"/>
            <a:ext cx="23097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4</a:t>
            </a:r>
          </a:p>
        </p:txBody>
      </p:sp>
      <p:sp>
        <p:nvSpPr>
          <p:cNvPr id="11" name="原题文字_112_24"/>
          <p:cNvSpPr txBox="1"/>
          <p:nvPr/>
        </p:nvSpPr>
        <p:spPr>
          <a:xfrm>
            <a:off x="571832" y="2658057"/>
            <a:ext cx="314060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P点处溶液中c(Na+):c(Cl)=1:2</a:t>
            </a:r>
          </a:p>
        </p:txBody>
      </p:sp>
      <p:sp>
        <p:nvSpPr>
          <p:cNvPr id="12" name="原题文字_112_25"/>
          <p:cNvSpPr txBox="1"/>
          <p:nvPr/>
        </p:nvSpPr>
        <p:spPr>
          <a:xfrm>
            <a:off x="8971466" y="2788224"/>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N</a:t>
            </a:r>
          </a:p>
        </p:txBody>
      </p:sp>
      <p:sp>
        <p:nvSpPr>
          <p:cNvPr id="13" name="原题文字_112_26"/>
          <p:cNvSpPr txBox="1"/>
          <p:nvPr/>
        </p:nvSpPr>
        <p:spPr>
          <a:xfrm>
            <a:off x="8328285" y="2903078"/>
            <a:ext cx="230973"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3</a:t>
            </a:r>
          </a:p>
        </p:txBody>
      </p:sp>
      <p:sp>
        <p:nvSpPr>
          <p:cNvPr id="14" name="原题文字_112_27"/>
          <p:cNvSpPr txBox="1"/>
          <p:nvPr/>
        </p:nvSpPr>
        <p:spPr>
          <a:xfrm>
            <a:off x="564175" y="3010275"/>
            <a:ext cx="5835833" cy="388205"/>
          </a:xfrm>
          <a:prstGeom prst="rect">
            <a:avLst/>
          </a:prstGeom>
          <a:noFill/>
        </p:spPr>
        <p:txBody>
          <a:bodyPr wrap="none" lIns="0" rIns="0" tIns="0" bIns="0">
            <a:spAutoFit/>
          </a:bodyPr>
          <a:lstStyle/>
          <a:p>
            <a:pPr>
              <a:lnSpc>
                <a:spcPct val="112000"/>
              </a:lnSpc>
              <a:spcBef>
                <a:spcPts val="0"/>
              </a:spcBef>
              <a:spcAft>
                <a:spcPts val="0"/>
              </a:spcAft>
              <a:defRPr sz="1754" b="0">
                <a:solidFill>
                  <a:srgbClr val="333333"/>
                </a:solidFill>
                <a:latin typeface="微软雅黑"/>
              </a:defRPr>
            </a:pPr>
            <a:r>
              <a:rPr>
                <a:ea typeface="微软雅黑"/>
              </a:rPr>
              <a:t>C. 若Q点时溶液体积为5 L，溶液中的Na+浓度为0.8mol·L-1</a:t>
            </a:r>
          </a:p>
        </p:txBody>
      </p:sp>
      <p:sp>
        <p:nvSpPr>
          <p:cNvPr id="15" name="原题文字_112_28"/>
          <p:cNvSpPr txBox="1"/>
          <p:nvPr/>
        </p:nvSpPr>
        <p:spPr>
          <a:xfrm>
            <a:off x="9392596" y="3194041"/>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P</a:t>
            </a:r>
          </a:p>
        </p:txBody>
      </p:sp>
      <p:sp>
        <p:nvSpPr>
          <p:cNvPr id="16" name="原题文字_112_29"/>
          <p:cNvSpPr txBox="1"/>
          <p:nvPr/>
        </p:nvSpPr>
        <p:spPr>
          <a:xfrm>
            <a:off x="8335942" y="3308895"/>
            <a:ext cx="23097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2</a:t>
            </a:r>
          </a:p>
        </p:txBody>
      </p:sp>
      <p:sp>
        <p:nvSpPr>
          <p:cNvPr id="17" name="原题文字_112_30"/>
          <p:cNvSpPr txBox="1"/>
          <p:nvPr/>
        </p:nvSpPr>
        <p:spPr>
          <a:xfrm>
            <a:off x="587146" y="3423748"/>
            <a:ext cx="271946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 N点溶液为碳酸氢钠溶液</a:t>
            </a:r>
          </a:p>
        </p:txBody>
      </p:sp>
      <p:sp>
        <p:nvSpPr>
          <p:cNvPr id="18" name="原题文字_112_31"/>
          <p:cNvSpPr txBox="1"/>
          <p:nvPr/>
        </p:nvSpPr>
        <p:spPr>
          <a:xfrm>
            <a:off x="8550336" y="3439062"/>
            <a:ext cx="32285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M</a:t>
            </a:r>
          </a:p>
        </p:txBody>
      </p:sp>
      <p:sp>
        <p:nvSpPr>
          <p:cNvPr id="19" name="原题文字_112_32"/>
          <p:cNvSpPr txBox="1"/>
          <p:nvPr/>
        </p:nvSpPr>
        <p:spPr>
          <a:xfrm>
            <a:off x="8358913" y="3737682"/>
            <a:ext cx="185031"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1</a:t>
            </a:r>
          </a:p>
        </p:txBody>
      </p:sp>
      <p:sp>
        <p:nvSpPr>
          <p:cNvPr id="20" name="原题文字_112_33"/>
          <p:cNvSpPr txBox="1"/>
          <p:nvPr/>
        </p:nvSpPr>
        <p:spPr>
          <a:xfrm>
            <a:off x="10204229" y="4020988"/>
            <a:ext cx="30754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Q</a:t>
            </a:r>
          </a:p>
        </p:txBody>
      </p:sp>
      <p:sp>
        <p:nvSpPr>
          <p:cNvPr id="21" name="原题文字_112_34"/>
          <p:cNvSpPr txBox="1"/>
          <p:nvPr/>
        </p:nvSpPr>
        <p:spPr>
          <a:xfrm>
            <a:off x="8358913" y="4135841"/>
            <a:ext cx="208002"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0</a:t>
            </a:r>
          </a:p>
        </p:txBody>
      </p:sp>
      <p:sp>
        <p:nvSpPr>
          <p:cNvPr id="22" name="原题文字_112_35"/>
          <p:cNvSpPr txBox="1"/>
          <p:nvPr/>
        </p:nvSpPr>
        <p:spPr>
          <a:xfrm>
            <a:off x="8910211" y="4273666"/>
            <a:ext cx="185031"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1</a:t>
            </a:r>
          </a:p>
        </p:txBody>
      </p:sp>
      <p:sp>
        <p:nvSpPr>
          <p:cNvPr id="23" name="原题文字_112_36"/>
          <p:cNvSpPr txBox="1"/>
          <p:nvPr/>
        </p:nvSpPr>
        <p:spPr>
          <a:xfrm>
            <a:off x="9285399" y="4266009"/>
            <a:ext cx="23862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2</a:t>
            </a:r>
          </a:p>
        </p:txBody>
      </p:sp>
      <p:sp>
        <p:nvSpPr>
          <p:cNvPr id="24" name="原题文字_112_37"/>
          <p:cNvSpPr txBox="1"/>
          <p:nvPr/>
        </p:nvSpPr>
        <p:spPr>
          <a:xfrm>
            <a:off x="9714186" y="4266009"/>
            <a:ext cx="22331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3</a:t>
            </a:r>
          </a:p>
        </p:txBody>
      </p:sp>
      <p:sp>
        <p:nvSpPr>
          <p:cNvPr id="25" name="原题文字_112_38"/>
          <p:cNvSpPr txBox="1"/>
          <p:nvPr/>
        </p:nvSpPr>
        <p:spPr>
          <a:xfrm>
            <a:off x="10104689" y="4258352"/>
            <a:ext cx="1234028" cy="378251"/>
          </a:xfrm>
          <a:prstGeom prst="rect">
            <a:avLst/>
          </a:prstGeom>
          <a:noFill/>
        </p:spPr>
        <p:txBody>
          <a:bodyPr wrap="none" lIns="0" rIns="0" tIns="0" bIns="0">
            <a:spAutoFit/>
          </a:bodyPr>
          <a:lstStyle/>
          <a:p>
            <a:pPr>
              <a:lnSpc>
                <a:spcPct val="112000"/>
              </a:lnSpc>
              <a:spcBef>
                <a:spcPts val="0"/>
              </a:spcBef>
              <a:spcAft>
                <a:spcPts val="0"/>
              </a:spcAft>
              <a:defRPr sz="1592" b="0">
                <a:solidFill>
                  <a:srgbClr val="333333"/>
                </a:solidFill>
                <a:latin typeface="微软雅黑"/>
              </a:defRPr>
            </a:pPr>
            <a:r>
              <a:rPr>
                <a:ea typeface="微软雅黑"/>
              </a:rPr>
              <a:t>4 n(HCl)/mol</a:t>
            </a:r>
          </a:p>
        </p:txBody>
      </p:sp>
      <p:sp>
        <p:nvSpPr>
          <p:cNvPr id="26" name="文字_多选题  ·  04-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多选题  ·  04-074</a:t>
            </a:r>
          </a:p>
        </p:txBody>
      </p:sp>
      <p:sp>
        <p:nvSpPr>
          <p:cNvPr id="27" name="文字_9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例题4</a:t>
            </a:r>
          </a:p>
        </p:txBody>
      </p:sp>
      <p:sp>
        <p:nvSpPr>
          <p:cNvPr id="5" name="文字_P11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P112</a:t>
            </a:r>
          </a:p>
        </p:txBody>
      </p:sp>
      <p:sp>
        <p:nvSpPr>
          <p:cNvPr id="6" name="文字_分别取等物质的量浓度的氢氧化钠溶液各100mL盛"/>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分别取等物质的量浓度的氢氧化钠溶液各100mL盛放在A、B两个烧杯中，再通入</a:t>
            </a:r>
          </a:p>
          <a:p>
            <a:pPr>
              <a:lnSpc>
                <a:spcPct val="112000"/>
              </a:lnSpc>
              <a:spcBef>
                <a:spcPts val="0"/>
              </a:spcBef>
              <a:spcAft>
                <a:spcPts val="0"/>
              </a:spcAft>
              <a:defRPr sz="2400" b="0">
                <a:solidFill>
                  <a:srgbClr val="333333"/>
                </a:solidFill>
                <a:latin typeface="微软雅黑"/>
              </a:defRPr>
            </a:pPr>
            <a:r>
              <a:rPr>
                <a:ea typeface="微软雅黑"/>
              </a:rPr>
              <a:t>一定量的CO₂后，分别各取20mL溶液，向其中逐滴滴入0.2mol·L-1的盐酸，产生</a:t>
            </a:r>
          </a:p>
          <a:p>
            <a:pPr>
              <a:lnSpc>
                <a:spcPct val="112000"/>
              </a:lnSpc>
              <a:spcBef>
                <a:spcPts val="0"/>
              </a:spcBef>
              <a:spcAft>
                <a:spcPts val="0"/>
              </a:spcAft>
              <a:defRPr sz="2400" b="0">
                <a:solidFill>
                  <a:srgbClr val="333333"/>
                </a:solidFill>
                <a:latin typeface="微软雅黑"/>
              </a:defRPr>
            </a:pPr>
            <a:r>
              <a:rPr>
                <a:ea typeface="微软雅黑"/>
              </a:rPr>
              <a:t>CO₂的体积(y轴)与所加入盐酸的体积(x轴)的关系如下图所示，下列说法正确的是</a:t>
            </a:r>
          </a:p>
        </p:txBody>
      </p:sp>
      <p:pic>
        <p:nvPicPr>
          <p:cNvPr id="7" name="Picture 6" descr="image.png"/>
          <p:cNvPicPr>
            <a:picLocks noChangeAspect="1"/>
          </p:cNvPicPr>
          <p:nvPr/>
        </p:nvPicPr>
        <p:blipFill>
          <a:blip r:embed="rId3"/>
          <a:stretch>
            <a:fillRect/>
          </a:stretch>
        </p:blipFill>
        <p:spPr>
          <a:xfrm>
            <a:off x="502920" y="2243328"/>
            <a:ext cx="11064240" cy="2143935"/>
          </a:xfrm>
          <a:prstGeom prst="rect">
            <a:avLst/>
          </a:prstGeom>
        </p:spPr>
      </p:pic>
      <p:sp>
        <p:nvSpPr>
          <p:cNvPr id="8" name="原题文字_112_45"/>
          <p:cNvSpPr txBox="1"/>
          <p:nvPr/>
        </p:nvSpPr>
        <p:spPr>
          <a:xfrm>
            <a:off x="656058" y="2275211"/>
            <a:ext cx="812898"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↑y/mL</a:t>
            </a:r>
          </a:p>
        </p:txBody>
      </p:sp>
      <p:sp>
        <p:nvSpPr>
          <p:cNvPr id="9" name="原题文字_112_46"/>
          <p:cNvSpPr txBox="1"/>
          <p:nvPr/>
        </p:nvSpPr>
        <p:spPr>
          <a:xfrm>
            <a:off x="3228781" y="2290525"/>
            <a:ext cx="78227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↑y/mL</a:t>
            </a:r>
          </a:p>
        </p:txBody>
      </p:sp>
      <p:sp>
        <p:nvSpPr>
          <p:cNvPr id="10" name="原题文字_112_47"/>
          <p:cNvSpPr txBox="1"/>
          <p:nvPr/>
        </p:nvSpPr>
        <p:spPr>
          <a:xfrm>
            <a:off x="3443174" y="3515631"/>
            <a:ext cx="261600"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P</a:t>
            </a:r>
          </a:p>
        </p:txBody>
      </p:sp>
      <p:sp>
        <p:nvSpPr>
          <p:cNvPr id="11" name="原题文字_112_48"/>
          <p:cNvSpPr txBox="1"/>
          <p:nvPr/>
        </p:nvSpPr>
        <p:spPr>
          <a:xfrm>
            <a:off x="633087" y="3821908"/>
            <a:ext cx="299885"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0</a:t>
            </a:r>
          </a:p>
        </p:txBody>
      </p:sp>
      <p:sp>
        <p:nvSpPr>
          <p:cNvPr id="12" name="原题文字_112_49"/>
          <p:cNvSpPr txBox="1"/>
          <p:nvPr/>
        </p:nvSpPr>
        <p:spPr>
          <a:xfrm>
            <a:off x="1077188" y="3814251"/>
            <a:ext cx="38411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50</a:t>
            </a:r>
          </a:p>
        </p:txBody>
      </p:sp>
      <p:sp>
        <p:nvSpPr>
          <p:cNvPr id="13" name="原题文字_112_50"/>
          <p:cNvSpPr txBox="1"/>
          <p:nvPr/>
        </p:nvSpPr>
        <p:spPr>
          <a:xfrm>
            <a:off x="1528946" y="3791280"/>
            <a:ext cx="203800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100 150 x/mL 0</a:t>
            </a:r>
          </a:p>
        </p:txBody>
      </p:sp>
      <p:sp>
        <p:nvSpPr>
          <p:cNvPr id="14" name="原题文字_112_51"/>
          <p:cNvSpPr txBox="1"/>
          <p:nvPr/>
        </p:nvSpPr>
        <p:spPr>
          <a:xfrm>
            <a:off x="3603969" y="3783623"/>
            <a:ext cx="2060975"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50 100 150 x/mL</a:t>
            </a:r>
          </a:p>
        </p:txBody>
      </p:sp>
      <p:sp>
        <p:nvSpPr>
          <p:cNvPr id="15" name="原题文字_112_52"/>
          <p:cNvSpPr txBox="1"/>
          <p:nvPr/>
        </p:nvSpPr>
        <p:spPr>
          <a:xfrm>
            <a:off x="1689741" y="4066929"/>
            <a:ext cx="32285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A</a:t>
            </a:r>
          </a:p>
        </p:txBody>
      </p:sp>
      <p:sp>
        <p:nvSpPr>
          <p:cNvPr id="16" name="原题文字_112_53"/>
          <p:cNvSpPr txBox="1"/>
          <p:nvPr/>
        </p:nvSpPr>
        <p:spPr>
          <a:xfrm>
            <a:off x="4193552" y="4074586"/>
            <a:ext cx="2769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B</a:t>
            </a:r>
          </a:p>
        </p:txBody>
      </p:sp>
      <p:sp>
        <p:nvSpPr>
          <p:cNvPr id="17" name="文字_A. 在A烧杯中通入CO₂后的溶质是NaOH和N"/>
          <p:cNvSpPr txBox="1"/>
          <p:nvPr/>
        </p:nvSpPr>
        <p:spPr>
          <a:xfrm>
            <a:off x="502920" y="446041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在A烧杯中通入CO₂后的溶质是NaOH和Na₂CO₃，且物质的量之比为2：1</a:t>
            </a:r>
          </a:p>
        </p:txBody>
      </p:sp>
      <p:sp>
        <p:nvSpPr>
          <p:cNvPr id="18" name="文字_B. 在B烧杯中所示的P点的溶液中，Na+、OH"/>
          <p:cNvSpPr txBox="1"/>
          <p:nvPr/>
        </p:nvSpPr>
        <p:spPr>
          <a:xfrm>
            <a:off x="502920" y="489932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在B烧杯中所示的P点的溶液中，Na+、OH、Cl-可大量共存</a:t>
            </a:r>
          </a:p>
        </p:txBody>
      </p:sp>
      <p:sp>
        <p:nvSpPr>
          <p:cNvPr id="19" name="文字_C. 在B烧杯中通入CO₂的在标准状况下体积为4"/>
          <p:cNvSpPr txBox="1"/>
          <p:nvPr/>
        </p:nvSpPr>
        <p:spPr>
          <a:xfrm>
            <a:off x="502920" y="53382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在B烧杯中通入CO₂的在标准状况下体积为448mL</a:t>
            </a:r>
          </a:p>
        </p:txBody>
      </p:sp>
      <p:sp>
        <p:nvSpPr>
          <p:cNvPr id="20" name="文字_D. 原氢氧化钠溶液的物质的量浓度为1.5 mo"/>
          <p:cNvSpPr txBox="1"/>
          <p:nvPr/>
        </p:nvSpPr>
        <p:spPr>
          <a:xfrm>
            <a:off x="502920" y="57771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原氢氧化钠溶液的物质的量浓度为1.5 mol·L-1</a:t>
            </a:r>
          </a:p>
        </p:txBody>
      </p:sp>
      <p:sp>
        <p:nvSpPr>
          <p:cNvPr id="21" name="文字_单选题  ·  04-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04-075</a:t>
            </a:r>
          </a:p>
        </p:txBody>
      </p:sp>
      <p:sp>
        <p:nvSpPr>
          <p:cNvPr id="22" name="文字_9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例题5</a:t>
            </a:r>
          </a:p>
        </p:txBody>
      </p:sp>
      <p:sp>
        <p:nvSpPr>
          <p:cNvPr id="5" name="文字_P11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P113</a:t>
            </a:r>
          </a:p>
        </p:txBody>
      </p:sp>
      <p:sp>
        <p:nvSpPr>
          <p:cNvPr id="6" name="文字_将 0.4 g NaOH 和1.06 g Na₂"/>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 0.4 g NaOH 和1.06 g Na₂CO₃ 混合并配成溶液，向溶液中滴加 0.1 mol·L-1</a:t>
            </a:r>
          </a:p>
          <a:p>
            <a:pPr>
              <a:lnSpc>
                <a:spcPct val="112000"/>
              </a:lnSpc>
              <a:spcBef>
                <a:spcPts val="0"/>
              </a:spcBef>
              <a:spcAft>
                <a:spcPts val="0"/>
              </a:spcAft>
              <a:defRPr sz="2400" b="0">
                <a:solidFill>
                  <a:srgbClr val="333333"/>
                </a:solidFill>
                <a:latin typeface="微软雅黑"/>
              </a:defRPr>
            </a:pPr>
            <a:r>
              <a:rPr>
                <a:ea typeface="微软雅黑"/>
              </a:rPr>
              <a:t>稀盐酸。下列图象能正确表示加入盐酸的体积和生成CO₂的物质的量的关系的是(</a:t>
            </a:r>
          </a:p>
        </p:txBody>
      </p:sp>
      <p:sp>
        <p:nvSpPr>
          <p:cNvPr id="7" name="文字_n(CO₂)/mol ______ n(CO)/"/>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n(CO₂)/mol ______ n(CO)/mol ______ n(CO₂)/mol ______ n(CO₂)/mol</a:t>
            </a:r>
          </a:p>
        </p:txBody>
      </p:sp>
      <p:pic>
        <p:nvPicPr>
          <p:cNvPr id="8" name="Picture 7" descr="image.png"/>
          <p:cNvPicPr>
            <a:picLocks noChangeAspect="1"/>
          </p:cNvPicPr>
          <p:nvPr/>
        </p:nvPicPr>
        <p:blipFill>
          <a:blip r:embed="rId3"/>
          <a:stretch>
            <a:fillRect/>
          </a:stretch>
        </p:blipFill>
        <p:spPr>
          <a:xfrm>
            <a:off x="502920" y="2319528"/>
            <a:ext cx="11064240" cy="1194478"/>
          </a:xfrm>
          <a:prstGeom prst="rect">
            <a:avLst/>
          </a:prstGeom>
        </p:spPr>
      </p:pic>
      <p:sp>
        <p:nvSpPr>
          <p:cNvPr id="9" name="原题文字_113_9"/>
          <p:cNvSpPr txBox="1"/>
          <p:nvPr/>
        </p:nvSpPr>
        <p:spPr>
          <a:xfrm>
            <a:off x="931707" y="2359068"/>
            <a:ext cx="50662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0.01</a:t>
            </a:r>
          </a:p>
        </p:txBody>
      </p:sp>
      <p:sp>
        <p:nvSpPr>
          <p:cNvPr id="10" name="原题文字_113_10"/>
          <p:cNvSpPr txBox="1"/>
          <p:nvPr/>
        </p:nvSpPr>
        <p:spPr>
          <a:xfrm>
            <a:off x="3588656" y="2374382"/>
            <a:ext cx="52959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0.01</a:t>
            </a:r>
          </a:p>
        </p:txBody>
      </p:sp>
      <p:sp>
        <p:nvSpPr>
          <p:cNvPr id="11" name="原题文字_113_11"/>
          <p:cNvSpPr txBox="1"/>
          <p:nvPr/>
        </p:nvSpPr>
        <p:spPr>
          <a:xfrm>
            <a:off x="6306860" y="2374382"/>
            <a:ext cx="50662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0.01</a:t>
            </a:r>
          </a:p>
        </p:txBody>
      </p:sp>
      <p:sp>
        <p:nvSpPr>
          <p:cNvPr id="12" name="原题文字_113_12"/>
          <p:cNvSpPr txBox="1"/>
          <p:nvPr/>
        </p:nvSpPr>
        <p:spPr>
          <a:xfrm>
            <a:off x="8986780" y="2351411"/>
            <a:ext cx="52193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0.01</a:t>
            </a:r>
          </a:p>
        </p:txBody>
      </p:sp>
      <p:sp>
        <p:nvSpPr>
          <p:cNvPr id="13" name="原题文字_113_13"/>
          <p:cNvSpPr txBox="1"/>
          <p:nvPr/>
        </p:nvSpPr>
        <p:spPr>
          <a:xfrm>
            <a:off x="587146" y="2611746"/>
            <a:ext cx="29222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A.</a:t>
            </a:r>
          </a:p>
        </p:txBody>
      </p:sp>
      <p:sp>
        <p:nvSpPr>
          <p:cNvPr id="14" name="原题文字_113_14"/>
          <p:cNvSpPr txBox="1"/>
          <p:nvPr/>
        </p:nvSpPr>
        <p:spPr>
          <a:xfrm>
            <a:off x="3236438" y="2604089"/>
            <a:ext cx="34582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a:t>
            </a:r>
          </a:p>
        </p:txBody>
      </p:sp>
      <p:sp>
        <p:nvSpPr>
          <p:cNvPr id="15" name="原题文字_113_15"/>
          <p:cNvSpPr txBox="1"/>
          <p:nvPr/>
        </p:nvSpPr>
        <p:spPr>
          <a:xfrm>
            <a:off x="5931671" y="2581119"/>
            <a:ext cx="345826"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a:t>
            </a:r>
          </a:p>
        </p:txBody>
      </p:sp>
      <p:sp>
        <p:nvSpPr>
          <p:cNvPr id="16" name="原题文字_113_16"/>
          <p:cNvSpPr txBox="1"/>
          <p:nvPr/>
        </p:nvSpPr>
        <p:spPr>
          <a:xfrm>
            <a:off x="8619248" y="2588776"/>
            <a:ext cx="345826"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D.</a:t>
            </a:r>
          </a:p>
        </p:txBody>
      </p:sp>
      <p:sp>
        <p:nvSpPr>
          <p:cNvPr id="17" name="原题文字_113_17"/>
          <p:cNvSpPr txBox="1"/>
          <p:nvPr/>
        </p:nvSpPr>
        <p:spPr>
          <a:xfrm>
            <a:off x="1276268" y="3170701"/>
            <a:ext cx="1953778" cy="388205"/>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0 0.1 0.2 0.3 V(HCl)/L</a:t>
            </a:r>
          </a:p>
        </p:txBody>
      </p:sp>
      <p:sp>
        <p:nvSpPr>
          <p:cNvPr id="18" name="原题文字_113_18"/>
          <p:cNvSpPr txBox="1"/>
          <p:nvPr/>
        </p:nvSpPr>
        <p:spPr>
          <a:xfrm>
            <a:off x="3833677" y="3193672"/>
            <a:ext cx="2083946" cy="398159"/>
          </a:xfrm>
          <a:prstGeom prst="rect">
            <a:avLst/>
          </a:prstGeom>
          <a:noFill/>
        </p:spPr>
        <p:txBody>
          <a:bodyPr wrap="none" lIns="0" rIns="0" tIns="0" bIns="0">
            <a:spAutoFit/>
          </a:bodyPr>
          <a:lstStyle/>
          <a:p>
            <a:pPr>
              <a:lnSpc>
                <a:spcPct val="112000"/>
              </a:lnSpc>
              <a:spcBef>
                <a:spcPts val="0"/>
              </a:spcBef>
              <a:spcAft>
                <a:spcPts val="0"/>
              </a:spcAft>
              <a:defRPr sz="1667" b="0">
                <a:solidFill>
                  <a:srgbClr val="333333"/>
                </a:solidFill>
                <a:latin typeface="微软雅黑"/>
              </a:defRPr>
            </a:pPr>
            <a:r>
              <a:rPr>
                <a:ea typeface="微软雅黑"/>
              </a:rPr>
              <a:t>0 0.1 0.2 0.3 V(HCI)/L</a:t>
            </a:r>
          </a:p>
        </p:txBody>
      </p:sp>
      <p:sp>
        <p:nvSpPr>
          <p:cNvPr id="19" name="原题文字_113_19"/>
          <p:cNvSpPr txBox="1"/>
          <p:nvPr/>
        </p:nvSpPr>
        <p:spPr>
          <a:xfrm>
            <a:off x="6628450" y="3178358"/>
            <a:ext cx="1969092" cy="358343"/>
          </a:xfrm>
          <a:prstGeom prst="rect">
            <a:avLst/>
          </a:prstGeom>
          <a:noFill/>
        </p:spPr>
        <p:txBody>
          <a:bodyPr wrap="none" lIns="0" rIns="0" tIns="0" bIns="0">
            <a:spAutoFit/>
          </a:bodyPr>
          <a:lstStyle/>
          <a:p>
            <a:pPr>
              <a:lnSpc>
                <a:spcPct val="112000"/>
              </a:lnSpc>
              <a:spcBef>
                <a:spcPts val="0"/>
              </a:spcBef>
              <a:spcAft>
                <a:spcPts val="0"/>
              </a:spcAft>
              <a:defRPr sz="1580" b="0">
                <a:solidFill>
                  <a:srgbClr val="333333"/>
                </a:solidFill>
                <a:latin typeface="微软雅黑"/>
              </a:defRPr>
            </a:pPr>
            <a:r>
              <a:rPr>
                <a:ea typeface="微软雅黑"/>
              </a:rPr>
              <a:t>0 0.1 0.2 0.3 V(HCl)/L</a:t>
            </a:r>
          </a:p>
        </p:txBody>
      </p:sp>
      <p:sp>
        <p:nvSpPr>
          <p:cNvPr id="20" name="原题文字_113_20"/>
          <p:cNvSpPr txBox="1"/>
          <p:nvPr/>
        </p:nvSpPr>
        <p:spPr>
          <a:xfrm>
            <a:off x="9270085" y="3216642"/>
            <a:ext cx="201503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0 0.1 0.2 0.3 V(HCI)/L</a:t>
            </a:r>
          </a:p>
        </p:txBody>
      </p:sp>
      <p:sp>
        <p:nvSpPr>
          <p:cNvPr id="21" name="文字_单选题  ·  04-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04-076</a:t>
            </a:r>
          </a:p>
        </p:txBody>
      </p:sp>
      <p:sp>
        <p:nvSpPr>
          <p:cNvPr id="22" name="文字_10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例题6</a:t>
            </a:r>
          </a:p>
        </p:txBody>
      </p:sp>
      <p:sp>
        <p:nvSpPr>
          <p:cNvPr id="5" name="文字_P11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P113</a:t>
            </a:r>
          </a:p>
        </p:txBody>
      </p:sp>
      <p:sp>
        <p:nvSpPr>
          <p:cNvPr id="6" name="文字_将一定量Na₂CO₃、NaHCO₃组成的混合物溶"/>
          <p:cNvSpPr txBox="1"/>
          <p:nvPr/>
        </p:nvSpPr>
        <p:spPr>
          <a:xfrm>
            <a:off x="502920" y="1078992"/>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将一定量Na₂CO₃、NaHCO₃组成的混合物溶于水配成50 mL溶液，逐滴加入0.05 mol·L-1盐酸，得到各成分</a:t>
            </a:r>
          </a:p>
          <a:p>
            <a:pPr>
              <a:lnSpc>
                <a:spcPct val="112000"/>
              </a:lnSpc>
              <a:spcBef>
                <a:spcPts val="0"/>
              </a:spcBef>
              <a:spcAft>
                <a:spcPts val="0"/>
              </a:spcAft>
              <a:defRPr sz="1800" b="0">
                <a:solidFill>
                  <a:srgbClr val="333333"/>
                </a:solidFill>
                <a:latin typeface="微软雅黑"/>
              </a:defRPr>
            </a:pPr>
            <a:r>
              <a:rPr>
                <a:ea typeface="微软雅黑"/>
              </a:rPr>
              <a:t>物质的量变化如图所示(已知1 mol=1000 mmol)，下列说法不正确的是</a:t>
            </a:r>
          </a:p>
        </p:txBody>
      </p:sp>
      <p:pic>
        <p:nvPicPr>
          <p:cNvPr id="7" name="Picture 6" descr="image.png"/>
          <p:cNvPicPr>
            <a:picLocks noChangeAspect="1"/>
          </p:cNvPicPr>
          <p:nvPr/>
        </p:nvPicPr>
        <p:blipFill>
          <a:blip r:embed="rId3"/>
          <a:stretch>
            <a:fillRect/>
          </a:stretch>
        </p:blipFill>
        <p:spPr>
          <a:xfrm>
            <a:off x="502920" y="1680210"/>
            <a:ext cx="11064240" cy="3606406"/>
          </a:xfrm>
          <a:prstGeom prst="rect">
            <a:avLst/>
          </a:prstGeom>
        </p:spPr>
      </p:pic>
      <p:sp>
        <p:nvSpPr>
          <p:cNvPr id="8" name="原题文字_113_26"/>
          <p:cNvSpPr txBox="1"/>
          <p:nvPr/>
        </p:nvSpPr>
        <p:spPr>
          <a:xfrm>
            <a:off x="724970" y="1712093"/>
            <a:ext cx="261600" cy="796319"/>
          </a:xfrm>
          <a:prstGeom prst="rect">
            <a:avLst/>
          </a:prstGeom>
          <a:noFill/>
        </p:spPr>
        <p:txBody>
          <a:bodyPr wrap="none" lIns="0" rIns="0" tIns="0" bIns="0">
            <a:spAutoFit/>
          </a:bodyPr>
          <a:lstStyle/>
          <a:p>
            <a:pPr>
              <a:lnSpc>
                <a:spcPct val="112000"/>
              </a:lnSpc>
              <a:spcBef>
                <a:spcPts val="0"/>
              </a:spcBef>
              <a:spcAft>
                <a:spcPts val="0"/>
              </a:spcAft>
              <a:defRPr sz="2546" b="0">
                <a:solidFill>
                  <a:srgbClr val="333333"/>
                </a:solidFill>
                <a:latin typeface="微软雅黑"/>
              </a:defRPr>
            </a:pPr>
            <a:r>
              <a:rPr>
                <a:ea typeface="微软雅黑"/>
              </a:rPr>
              <a:t>[o</a:t>
            </a:r>
          </a:p>
        </p:txBody>
      </p:sp>
      <p:sp>
        <p:nvSpPr>
          <p:cNvPr id="9" name="原题文字_113_27"/>
          <p:cNvSpPr txBox="1"/>
          <p:nvPr/>
        </p:nvSpPr>
        <p:spPr>
          <a:xfrm>
            <a:off x="1237983" y="1781005"/>
            <a:ext cx="131433" cy="129401"/>
          </a:xfrm>
          <a:prstGeom prst="rect">
            <a:avLst/>
          </a:prstGeom>
          <a:noFill/>
        </p:spPr>
        <p:txBody>
          <a:bodyPr wrap="none" lIns="0" rIns="0" tIns="0" bIns="0">
            <a:spAutoFit/>
          </a:bodyPr>
          <a:lstStyle/>
          <a:p>
            <a:pPr>
              <a:lnSpc>
                <a:spcPct val="112000"/>
              </a:lnSpc>
              <a:spcBef>
                <a:spcPts val="0"/>
              </a:spcBef>
              <a:spcAft>
                <a:spcPts val="0"/>
              </a:spcAft>
              <a:defRPr sz="627" b="0">
                <a:solidFill>
                  <a:srgbClr val="333333"/>
                </a:solidFill>
                <a:latin typeface="微软雅黑"/>
              </a:defRPr>
            </a:pPr>
            <a:r>
              <a:rPr>
                <a:ea typeface="微软雅黑"/>
              </a:rPr>
              <a:t>4</a:t>
            </a:r>
          </a:p>
        </p:txBody>
      </p:sp>
      <p:sp>
        <p:nvSpPr>
          <p:cNvPr id="10" name="原题文字_113_28"/>
          <p:cNvSpPr txBox="1"/>
          <p:nvPr/>
        </p:nvSpPr>
        <p:spPr>
          <a:xfrm>
            <a:off x="656058" y="2179165"/>
            <a:ext cx="407082" cy="1373650"/>
          </a:xfrm>
          <a:prstGeom prst="rect">
            <a:avLst/>
          </a:prstGeom>
          <a:noFill/>
        </p:spPr>
        <p:txBody>
          <a:bodyPr wrap="none" lIns="0" rIns="0" tIns="0" bIns="0">
            <a:spAutoFit/>
          </a:bodyPr>
          <a:lstStyle/>
          <a:p>
            <a:pPr>
              <a:lnSpc>
                <a:spcPct val="112000"/>
              </a:lnSpc>
              <a:spcBef>
                <a:spcPts val="0"/>
              </a:spcBef>
              <a:spcAft>
                <a:spcPts val="0"/>
              </a:spcAft>
              <a:defRPr sz="4393" b="0">
                <a:solidFill>
                  <a:srgbClr val="333333"/>
                </a:solidFill>
                <a:latin typeface="微软雅黑"/>
              </a:defRPr>
            </a:pPr>
            <a:r>
              <a:rPr>
                <a:ea typeface="微软雅黑"/>
              </a:rPr>
              <a:t>民访</a:t>
            </a:r>
          </a:p>
        </p:txBody>
      </p:sp>
      <p:sp>
        <p:nvSpPr>
          <p:cNvPr id="11" name="原题文字_113_29"/>
          <p:cNvSpPr txBox="1"/>
          <p:nvPr/>
        </p:nvSpPr>
        <p:spPr>
          <a:xfrm>
            <a:off x="862794" y="2248077"/>
            <a:ext cx="453023"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7.5</a:t>
            </a:r>
          </a:p>
        </p:txBody>
      </p:sp>
      <p:sp>
        <p:nvSpPr>
          <p:cNvPr id="12" name="原题文字_113_30"/>
          <p:cNvSpPr txBox="1"/>
          <p:nvPr/>
        </p:nvSpPr>
        <p:spPr>
          <a:xfrm>
            <a:off x="3573342" y="2477785"/>
            <a:ext cx="606161"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NaCl</a:t>
            </a:r>
          </a:p>
        </p:txBody>
      </p:sp>
      <p:sp>
        <p:nvSpPr>
          <p:cNvPr id="13" name="原题文字_113_31"/>
          <p:cNvSpPr txBox="1"/>
          <p:nvPr/>
        </p:nvSpPr>
        <p:spPr>
          <a:xfrm>
            <a:off x="1988361" y="2699835"/>
            <a:ext cx="973693" cy="418067"/>
          </a:xfrm>
          <a:prstGeom prst="rect">
            <a:avLst/>
          </a:prstGeom>
          <a:noFill/>
        </p:spPr>
        <p:txBody>
          <a:bodyPr wrap="none" lIns="0" rIns="0" tIns="0" bIns="0">
            <a:spAutoFit/>
          </a:bodyPr>
          <a:lstStyle/>
          <a:p>
            <a:pPr>
              <a:lnSpc>
                <a:spcPct val="112000"/>
              </a:lnSpc>
              <a:spcBef>
                <a:spcPts val="0"/>
              </a:spcBef>
              <a:spcAft>
                <a:spcPts val="0"/>
              </a:spcAft>
              <a:defRPr sz="1768" b="0">
                <a:solidFill>
                  <a:srgbClr val="333333"/>
                </a:solidFill>
                <a:latin typeface="微软雅黑"/>
              </a:defRPr>
            </a:pPr>
            <a:r>
              <a:rPr>
                <a:ea typeface="微软雅黑"/>
              </a:rPr>
              <a:t>NaHCO₃</a:t>
            </a:r>
          </a:p>
        </p:txBody>
      </p:sp>
      <p:sp>
        <p:nvSpPr>
          <p:cNvPr id="14" name="原题文字_113_32"/>
          <p:cNvSpPr txBox="1"/>
          <p:nvPr/>
        </p:nvSpPr>
        <p:spPr>
          <a:xfrm>
            <a:off x="977648" y="2898915"/>
            <a:ext cx="23097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5</a:t>
            </a:r>
          </a:p>
        </p:txBody>
      </p:sp>
      <p:sp>
        <p:nvSpPr>
          <p:cNvPr id="15" name="原题文字_113_33"/>
          <p:cNvSpPr txBox="1"/>
          <p:nvPr/>
        </p:nvSpPr>
        <p:spPr>
          <a:xfrm>
            <a:off x="2884220" y="3097995"/>
            <a:ext cx="246286"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b</a:t>
            </a:r>
          </a:p>
        </p:txBody>
      </p:sp>
      <p:sp>
        <p:nvSpPr>
          <p:cNvPr id="16" name="原题文字_113_34"/>
          <p:cNvSpPr txBox="1"/>
          <p:nvPr/>
        </p:nvSpPr>
        <p:spPr>
          <a:xfrm>
            <a:off x="878108" y="3542096"/>
            <a:ext cx="437709"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2.5</a:t>
            </a:r>
          </a:p>
        </p:txBody>
      </p:sp>
      <p:sp>
        <p:nvSpPr>
          <p:cNvPr id="17" name="原题文字_113_35"/>
          <p:cNvSpPr txBox="1"/>
          <p:nvPr/>
        </p:nvSpPr>
        <p:spPr>
          <a:xfrm>
            <a:off x="1750996" y="3779460"/>
            <a:ext cx="223316"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a</a:t>
            </a:r>
          </a:p>
        </p:txBody>
      </p:sp>
      <p:sp>
        <p:nvSpPr>
          <p:cNvPr id="18" name="原题文字_113_36"/>
          <p:cNvSpPr txBox="1"/>
          <p:nvPr/>
        </p:nvSpPr>
        <p:spPr>
          <a:xfrm>
            <a:off x="2172127" y="3993853"/>
            <a:ext cx="858839" cy="358343"/>
          </a:xfrm>
          <a:prstGeom prst="rect">
            <a:avLst/>
          </a:prstGeom>
          <a:noFill/>
        </p:spPr>
        <p:txBody>
          <a:bodyPr wrap="none" lIns="0" rIns="0" tIns="0" bIns="0">
            <a:spAutoFit/>
          </a:bodyPr>
          <a:lstStyle/>
          <a:p>
            <a:pPr>
              <a:lnSpc>
                <a:spcPct val="112000"/>
              </a:lnSpc>
              <a:spcBef>
                <a:spcPts val="0"/>
              </a:spcBef>
              <a:spcAft>
                <a:spcPts val="0"/>
              </a:spcAft>
              <a:defRPr sz="1366" b="0">
                <a:solidFill>
                  <a:srgbClr val="333333"/>
                </a:solidFill>
                <a:latin typeface="微软雅黑"/>
              </a:defRPr>
            </a:pPr>
            <a:r>
              <a:rPr>
                <a:ea typeface="微软雅黑"/>
              </a:rPr>
              <a:t>Na₂CO₃₃</a:t>
            </a:r>
          </a:p>
        </p:txBody>
      </p:sp>
      <p:sp>
        <p:nvSpPr>
          <p:cNvPr id="19" name="原题文字_113_37"/>
          <p:cNvSpPr txBox="1"/>
          <p:nvPr/>
        </p:nvSpPr>
        <p:spPr>
          <a:xfrm>
            <a:off x="1184385" y="4353728"/>
            <a:ext cx="23862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0</a:t>
            </a:r>
          </a:p>
        </p:txBody>
      </p:sp>
      <p:sp>
        <p:nvSpPr>
          <p:cNvPr id="20" name="原题文字_113_38"/>
          <p:cNvSpPr txBox="1"/>
          <p:nvPr/>
        </p:nvSpPr>
        <p:spPr>
          <a:xfrm>
            <a:off x="1636143" y="4346072"/>
            <a:ext cx="36114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25</a:t>
            </a:r>
          </a:p>
        </p:txBody>
      </p:sp>
      <p:sp>
        <p:nvSpPr>
          <p:cNvPr id="21" name="原题文字_113_39"/>
          <p:cNvSpPr txBox="1"/>
          <p:nvPr/>
        </p:nvSpPr>
        <p:spPr>
          <a:xfrm>
            <a:off x="2225725" y="4338415"/>
            <a:ext cx="37645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50</a:t>
            </a:r>
          </a:p>
        </p:txBody>
      </p:sp>
      <p:sp>
        <p:nvSpPr>
          <p:cNvPr id="22" name="原题文字_113_40"/>
          <p:cNvSpPr txBox="1"/>
          <p:nvPr/>
        </p:nvSpPr>
        <p:spPr>
          <a:xfrm>
            <a:off x="2838278" y="4346072"/>
            <a:ext cx="36114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75</a:t>
            </a:r>
          </a:p>
        </p:txBody>
      </p:sp>
      <p:sp>
        <p:nvSpPr>
          <p:cNvPr id="23" name="原题文字_113_41"/>
          <p:cNvSpPr txBox="1"/>
          <p:nvPr/>
        </p:nvSpPr>
        <p:spPr>
          <a:xfrm>
            <a:off x="3374262" y="4346072"/>
            <a:ext cx="48365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100</a:t>
            </a:r>
          </a:p>
        </p:txBody>
      </p:sp>
      <p:sp>
        <p:nvSpPr>
          <p:cNvPr id="24" name="原题文字_113_42"/>
          <p:cNvSpPr txBox="1"/>
          <p:nvPr/>
        </p:nvSpPr>
        <p:spPr>
          <a:xfrm>
            <a:off x="3864305" y="4330758"/>
            <a:ext cx="105026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125 150</a:t>
            </a:r>
          </a:p>
        </p:txBody>
      </p:sp>
      <p:sp>
        <p:nvSpPr>
          <p:cNvPr id="25" name="原题文字_113_43"/>
          <p:cNvSpPr txBox="1"/>
          <p:nvPr/>
        </p:nvSpPr>
        <p:spPr>
          <a:xfrm>
            <a:off x="3879618" y="4575779"/>
            <a:ext cx="135653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盐酸体积/mL</a:t>
            </a:r>
          </a:p>
        </p:txBody>
      </p:sp>
      <p:sp>
        <p:nvSpPr>
          <p:cNvPr id="26" name="原题文字_113_44"/>
          <p:cNvSpPr txBox="1"/>
          <p:nvPr/>
        </p:nvSpPr>
        <p:spPr>
          <a:xfrm>
            <a:off x="587146" y="4973938"/>
            <a:ext cx="4036459" cy="348389"/>
          </a:xfrm>
          <a:prstGeom prst="rect">
            <a:avLst/>
          </a:prstGeom>
          <a:noFill/>
        </p:spPr>
        <p:txBody>
          <a:bodyPr wrap="none" lIns="0" rIns="0" tIns="0" bIns="0">
            <a:spAutoFit/>
          </a:bodyPr>
          <a:lstStyle/>
          <a:p>
            <a:pPr>
              <a:lnSpc>
                <a:spcPct val="112000"/>
              </a:lnSpc>
              <a:spcBef>
                <a:spcPts val="0"/>
              </a:spcBef>
              <a:spcAft>
                <a:spcPts val="0"/>
              </a:spcAft>
              <a:defRPr sz="1678" b="0">
                <a:solidFill>
                  <a:srgbClr val="333333"/>
                </a:solidFill>
                <a:latin typeface="微软雅黑"/>
              </a:defRPr>
            </a:pPr>
            <a:r>
              <a:rPr>
                <a:ea typeface="微软雅黑"/>
              </a:rPr>
              <a:t>A. a点溶液中Na₂CO₃与NaCl物质的量相等</a:t>
            </a:r>
          </a:p>
        </p:txBody>
      </p:sp>
      <p:sp>
        <p:nvSpPr>
          <p:cNvPr id="27" name="文字_B. b点溶液中发生反应的化学方程式为：NaHC"/>
          <p:cNvSpPr txBox="1"/>
          <p:nvPr/>
        </p:nvSpPr>
        <p:spPr>
          <a:xfrm>
            <a:off x="502920" y="5359768"/>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B. b点溶液中发生反应的化学方程式为：NaHCO₃ + HCl= NaCl + H₂O + CO₂↑</a:t>
            </a:r>
          </a:p>
        </p:txBody>
      </p:sp>
      <p:sp>
        <p:nvSpPr>
          <p:cNvPr id="28" name="文字_C. c点溶液中氯化钠的物质的量浓度为0.05 "/>
          <p:cNvSpPr txBox="1"/>
          <p:nvPr/>
        </p:nvSpPr>
        <p:spPr>
          <a:xfrm>
            <a:off x="502920" y="5688952"/>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C. c点溶液中氯化钠的物质的量浓度为0.05 mol·L-1</a:t>
            </a:r>
          </a:p>
        </p:txBody>
      </p:sp>
      <p:sp>
        <p:nvSpPr>
          <p:cNvPr id="29" name="文字_D. 当盐酸加到150 mL时，混合物样品恰好完"/>
          <p:cNvSpPr txBox="1"/>
          <p:nvPr/>
        </p:nvSpPr>
        <p:spPr>
          <a:xfrm>
            <a:off x="502920" y="6018136"/>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D. 当盐酸加到150 mL时，混合物样品恰好完全反应</a:t>
            </a:r>
          </a:p>
        </p:txBody>
      </p:sp>
      <p:sp>
        <p:nvSpPr>
          <p:cNvPr id="30" name="文字_单选题  ·  04-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04-077</a:t>
            </a:r>
          </a:p>
        </p:txBody>
      </p:sp>
      <p:sp>
        <p:nvSpPr>
          <p:cNvPr id="31" name="文字_10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例题7</a:t>
            </a:r>
          </a:p>
        </p:txBody>
      </p:sp>
      <p:sp>
        <p:nvSpPr>
          <p:cNvPr id="5" name="文字_P11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P113</a:t>
            </a:r>
          </a:p>
        </p:txBody>
      </p:sp>
      <p:sp>
        <p:nvSpPr>
          <p:cNvPr id="6" name="文字_向NaOH和Na₂CO₃混合溶液中滴加稀盐酸，C"/>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向NaOH和Na₂CO₃混合溶液中滴加稀盐酸，CO₂的生成量与加入0.1mol/L盐酸</a:t>
            </a:r>
          </a:p>
          <a:p>
            <a:pPr>
              <a:lnSpc>
                <a:spcPct val="112000"/>
              </a:lnSpc>
              <a:spcBef>
                <a:spcPts val="0"/>
              </a:spcBef>
              <a:spcAft>
                <a:spcPts val="0"/>
              </a:spcAft>
              <a:defRPr sz="2400" b="0">
                <a:solidFill>
                  <a:srgbClr val="333333"/>
                </a:solidFill>
                <a:latin typeface="微软雅黑"/>
              </a:defRPr>
            </a:pPr>
            <a:r>
              <a:rPr>
                <a:ea typeface="微软雅黑"/>
              </a:rPr>
              <a:t>的体积的关系如图所示。下列判断正确的是（）</a:t>
            </a:r>
          </a:p>
        </p:txBody>
      </p:sp>
      <p:sp>
        <p:nvSpPr>
          <p:cNvPr id="7" name="文字_↑n(CO₂)/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↑n(CO₂)/mol</a:t>
            </a:r>
          </a:p>
        </p:txBody>
      </p:sp>
      <p:pic>
        <p:nvPicPr>
          <p:cNvPr id="8" name="Picture 7" descr="image.png"/>
          <p:cNvPicPr>
            <a:picLocks noChangeAspect="1"/>
          </p:cNvPicPr>
          <p:nvPr/>
        </p:nvPicPr>
        <p:blipFill>
          <a:blip r:embed="rId3"/>
          <a:stretch>
            <a:fillRect/>
          </a:stretch>
        </p:blipFill>
        <p:spPr>
          <a:xfrm>
            <a:off x="502920" y="2319528"/>
            <a:ext cx="11064240" cy="1431842"/>
          </a:xfrm>
          <a:prstGeom prst="rect">
            <a:avLst/>
          </a:prstGeom>
        </p:spPr>
      </p:pic>
      <p:sp>
        <p:nvSpPr>
          <p:cNvPr id="9" name="原题文字_113_54"/>
          <p:cNvSpPr txBox="1"/>
          <p:nvPr/>
        </p:nvSpPr>
        <p:spPr>
          <a:xfrm>
            <a:off x="671372" y="2412667"/>
            <a:ext cx="4913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0.01</a:t>
            </a:r>
          </a:p>
        </p:txBody>
      </p:sp>
      <p:sp>
        <p:nvSpPr>
          <p:cNvPr id="10" name="原题文字_113_55"/>
          <p:cNvSpPr txBox="1"/>
          <p:nvPr/>
        </p:nvSpPr>
        <p:spPr>
          <a:xfrm>
            <a:off x="2386520" y="2351411"/>
            <a:ext cx="208002"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b</a:t>
            </a:r>
          </a:p>
        </p:txBody>
      </p:sp>
      <p:sp>
        <p:nvSpPr>
          <p:cNvPr id="11" name="原题文字_113_56"/>
          <p:cNvSpPr txBox="1"/>
          <p:nvPr/>
        </p:nvSpPr>
        <p:spPr>
          <a:xfrm>
            <a:off x="992962" y="3408065"/>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0</a:t>
            </a:r>
          </a:p>
        </p:txBody>
      </p:sp>
      <p:sp>
        <p:nvSpPr>
          <p:cNvPr id="12" name="原题文字_113_57"/>
          <p:cNvSpPr txBox="1"/>
          <p:nvPr/>
        </p:nvSpPr>
        <p:spPr>
          <a:xfrm>
            <a:off x="1988361" y="3438693"/>
            <a:ext cx="215659"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a</a:t>
            </a:r>
          </a:p>
        </p:txBody>
      </p:sp>
      <p:sp>
        <p:nvSpPr>
          <p:cNvPr id="13" name="原题文字_113_58"/>
          <p:cNvSpPr txBox="1"/>
          <p:nvPr/>
        </p:nvSpPr>
        <p:spPr>
          <a:xfrm>
            <a:off x="2325265" y="3408065"/>
            <a:ext cx="39176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0.4</a:t>
            </a:r>
          </a:p>
        </p:txBody>
      </p:sp>
      <p:sp>
        <p:nvSpPr>
          <p:cNvPr id="14" name="原题文字_113_59"/>
          <p:cNvSpPr txBox="1"/>
          <p:nvPr/>
        </p:nvSpPr>
        <p:spPr>
          <a:xfrm>
            <a:off x="2799994" y="3392752"/>
            <a:ext cx="958379" cy="408113"/>
          </a:xfrm>
          <a:prstGeom prst="rect">
            <a:avLst/>
          </a:prstGeom>
          <a:noFill/>
        </p:spPr>
        <p:txBody>
          <a:bodyPr wrap="none" lIns="0" rIns="0" tIns="0" bIns="0">
            <a:spAutoFit/>
          </a:bodyPr>
          <a:lstStyle/>
          <a:p>
            <a:pPr>
              <a:lnSpc>
                <a:spcPct val="112000"/>
              </a:lnSpc>
              <a:spcBef>
                <a:spcPts val="0"/>
              </a:spcBef>
              <a:spcAft>
                <a:spcPts val="0"/>
              </a:spcAft>
              <a:defRPr sz="1770" b="0">
                <a:solidFill>
                  <a:srgbClr val="333333"/>
                </a:solidFill>
                <a:latin typeface="微软雅黑"/>
              </a:defRPr>
            </a:pPr>
            <a:r>
              <a:rPr>
                <a:ea typeface="微软雅黑"/>
              </a:rPr>
              <a:t>V(盐酸)/L</a:t>
            </a:r>
          </a:p>
        </p:txBody>
      </p:sp>
      <p:sp>
        <p:nvSpPr>
          <p:cNvPr id="15" name="文字_A. 在0～a范围内，只发生中和反应"/>
          <p:cNvSpPr txBox="1"/>
          <p:nvPr/>
        </p:nvSpPr>
        <p:spPr>
          <a:xfrm>
            <a:off x="502920" y="382452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在0～a范围内，只发生中和反应</a:t>
            </a:r>
          </a:p>
        </p:txBody>
      </p:sp>
      <p:sp>
        <p:nvSpPr>
          <p:cNvPr id="16" name="文字_B. ab段发生反应的离子方程式为CO₂⁻ + "/>
          <p:cNvSpPr txBox="1"/>
          <p:nvPr/>
        </p:nvSpPr>
        <p:spPr>
          <a:xfrm>
            <a:off x="502920" y="426343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ab段发生反应的离子方程式为CO₂⁻ + 2H+=CO₂↑+H₂O</a:t>
            </a:r>
          </a:p>
        </p:txBody>
      </p:sp>
      <p:sp>
        <p:nvSpPr>
          <p:cNvPr id="17" name="文字_C. a=0.3"/>
          <p:cNvSpPr txBox="1"/>
          <p:nvPr/>
        </p:nvSpPr>
        <p:spPr>
          <a:xfrm>
            <a:off x="502920" y="470234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a=0.3</a:t>
            </a:r>
          </a:p>
        </p:txBody>
      </p:sp>
      <p:sp>
        <p:nvSpPr>
          <p:cNvPr id="18" name="文字_D. 原混合溶液中NaOH与Na₂CO₃的物质的"/>
          <p:cNvSpPr txBox="1"/>
          <p:nvPr/>
        </p:nvSpPr>
        <p:spPr>
          <a:xfrm>
            <a:off x="502920" y="514125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原混合溶液中NaOH与Na₂CO₃的物质的量之比为1：2</a:t>
            </a:r>
          </a:p>
        </p:txBody>
      </p:sp>
      <p:sp>
        <p:nvSpPr>
          <p:cNvPr id="19" name="文字_单选题  ·  04-07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04-078</a:t>
            </a:r>
          </a:p>
        </p:txBody>
      </p:sp>
      <p:sp>
        <p:nvSpPr>
          <p:cNvPr id="20" name="文字_10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例题8</a:t>
            </a:r>
          </a:p>
        </p:txBody>
      </p:sp>
      <p:sp>
        <p:nvSpPr>
          <p:cNvPr id="5" name="文字_P1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P114</a:t>
            </a:r>
          </a:p>
        </p:txBody>
      </p:sp>
      <p:sp>
        <p:nvSpPr>
          <p:cNvPr id="6" name="文字_数形结合思想是化学学科的重要思维方式。向两份物质"/>
          <p:cNvSpPr txBox="1"/>
          <p:nvPr/>
        </p:nvSpPr>
        <p:spPr>
          <a:xfrm>
            <a:off x="502920" y="1078992"/>
            <a:ext cx="11064240" cy="1115822"/>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数形结合思想是化学学科的重要思维方式。向两份物质的量浓度相同体积均为10mL的</a:t>
            </a:r>
          </a:p>
          <a:p>
            <a:pPr>
              <a:lnSpc>
                <a:spcPct val="112000"/>
              </a:lnSpc>
              <a:spcBef>
                <a:spcPts val="0"/>
              </a:spcBef>
              <a:spcAft>
                <a:spcPts val="0"/>
              </a:spcAft>
              <a:defRPr sz="2300" b="0">
                <a:solidFill>
                  <a:srgbClr val="333333"/>
                </a:solidFill>
                <a:latin typeface="微软雅黑"/>
              </a:defRPr>
            </a:pPr>
            <a:r>
              <a:rPr>
                <a:ea typeface="微软雅黑"/>
              </a:rPr>
              <a:t>NaOH溶液中分别通入一定量的CO₂得到溶液甲和乙。再向甲、乙两溶液中分别滴加</a:t>
            </a:r>
          </a:p>
          <a:p>
            <a:pPr>
              <a:lnSpc>
                <a:spcPct val="112000"/>
              </a:lnSpc>
              <a:spcBef>
                <a:spcPts val="0"/>
              </a:spcBef>
              <a:spcAft>
                <a:spcPts val="0"/>
              </a:spcAft>
              <a:defRPr sz="2300" b="0">
                <a:solidFill>
                  <a:srgbClr val="333333"/>
                </a:solidFill>
                <a:latin typeface="微软雅黑"/>
              </a:defRPr>
            </a:pPr>
            <a:r>
              <a:rPr>
                <a:ea typeface="微软雅黑"/>
              </a:rPr>
              <a:t>0.1mol·L-¹盐酸，生成CO₂体积(标准状况)与所加盐酸体积间的关系如下图所示。</a:t>
            </a:r>
          </a:p>
        </p:txBody>
      </p:sp>
      <p:pic>
        <p:nvPicPr>
          <p:cNvPr id="7" name="Picture 6" descr="image.png"/>
          <p:cNvPicPr>
            <a:picLocks noChangeAspect="1"/>
          </p:cNvPicPr>
          <p:nvPr/>
        </p:nvPicPr>
        <p:blipFill>
          <a:blip r:embed="rId3"/>
          <a:stretch>
            <a:fillRect/>
          </a:stretch>
        </p:blipFill>
        <p:spPr>
          <a:xfrm>
            <a:off x="502920" y="2194814"/>
            <a:ext cx="11064240" cy="2006111"/>
          </a:xfrm>
          <a:prstGeom prst="rect">
            <a:avLst/>
          </a:prstGeom>
        </p:spPr>
      </p:pic>
      <p:sp>
        <p:nvSpPr>
          <p:cNvPr id="8" name="原题文字_114_6"/>
          <p:cNvSpPr txBox="1"/>
          <p:nvPr/>
        </p:nvSpPr>
        <p:spPr>
          <a:xfrm>
            <a:off x="663715" y="2226697"/>
            <a:ext cx="1027292" cy="408113"/>
          </a:xfrm>
          <a:prstGeom prst="rect">
            <a:avLst/>
          </a:prstGeom>
          <a:noFill/>
        </p:spPr>
        <p:txBody>
          <a:bodyPr wrap="none" lIns="0" rIns="0" tIns="0" bIns="0">
            <a:spAutoFit/>
          </a:bodyPr>
          <a:lstStyle/>
          <a:p>
            <a:pPr>
              <a:lnSpc>
                <a:spcPct val="112000"/>
              </a:lnSpc>
              <a:spcBef>
                <a:spcPts val="0"/>
              </a:spcBef>
              <a:spcAft>
                <a:spcPts val="0"/>
              </a:spcAft>
              <a:defRPr sz="1502" b="0">
                <a:solidFill>
                  <a:srgbClr val="333333"/>
                </a:solidFill>
                <a:latin typeface="微软雅黑"/>
              </a:defRPr>
            </a:pPr>
            <a:r>
              <a:rPr>
                <a:ea typeface="微软雅黑"/>
              </a:rPr>
              <a:t>V(CO₂)/mL</a:t>
            </a:r>
          </a:p>
        </p:txBody>
      </p:sp>
      <p:sp>
        <p:nvSpPr>
          <p:cNvPr id="9" name="原题文字_114_7"/>
          <p:cNvSpPr txBox="1"/>
          <p:nvPr/>
        </p:nvSpPr>
        <p:spPr>
          <a:xfrm>
            <a:off x="1980704" y="3015359"/>
            <a:ext cx="28457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甲</a:t>
            </a:r>
          </a:p>
        </p:txBody>
      </p:sp>
      <p:sp>
        <p:nvSpPr>
          <p:cNvPr id="10" name="原题文字_114_8"/>
          <p:cNvSpPr txBox="1"/>
          <p:nvPr/>
        </p:nvSpPr>
        <p:spPr>
          <a:xfrm>
            <a:off x="2279323" y="3505402"/>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乙</a:t>
            </a:r>
          </a:p>
        </p:txBody>
      </p:sp>
      <p:sp>
        <p:nvSpPr>
          <p:cNvPr id="11" name="原题文字_114_9"/>
          <p:cNvSpPr txBox="1"/>
          <p:nvPr/>
        </p:nvSpPr>
        <p:spPr>
          <a:xfrm>
            <a:off x="1452377" y="3865277"/>
            <a:ext cx="54490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0 10</a:t>
            </a:r>
          </a:p>
        </p:txBody>
      </p:sp>
      <p:sp>
        <p:nvSpPr>
          <p:cNvPr id="12" name="原题文字_114_10"/>
          <p:cNvSpPr txBox="1"/>
          <p:nvPr/>
        </p:nvSpPr>
        <p:spPr>
          <a:xfrm>
            <a:off x="2225725" y="3834649"/>
            <a:ext cx="1440765" cy="418067"/>
          </a:xfrm>
          <a:prstGeom prst="rect">
            <a:avLst/>
          </a:prstGeom>
          <a:noFill/>
        </p:spPr>
        <p:txBody>
          <a:bodyPr wrap="none" lIns="0" rIns="0" tIns="0" bIns="0">
            <a:spAutoFit/>
          </a:bodyPr>
          <a:lstStyle/>
          <a:p>
            <a:pPr>
              <a:lnSpc>
                <a:spcPct val="112000"/>
              </a:lnSpc>
              <a:spcBef>
                <a:spcPts val="0"/>
              </a:spcBef>
              <a:spcAft>
                <a:spcPts val="0"/>
              </a:spcAft>
              <a:defRPr sz="1459" b="0">
                <a:solidFill>
                  <a:srgbClr val="333333"/>
                </a:solidFill>
                <a:latin typeface="微软雅黑"/>
              </a:defRPr>
            </a:pPr>
            <a:r>
              <a:rPr>
                <a:ea typeface="微软雅黑"/>
              </a:rPr>
              <a:t>40 50 V(HCl)/mL</a:t>
            </a:r>
          </a:p>
        </p:txBody>
      </p:sp>
      <p:sp>
        <p:nvSpPr>
          <p:cNvPr id="13" name="文字_请回答相关问题:"/>
          <p:cNvSpPr txBox="1"/>
          <p:nvPr/>
        </p:nvSpPr>
        <p:spPr>
          <a:xfrm>
            <a:off x="502920" y="4274077"/>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请回答相关问题:</a:t>
            </a:r>
          </a:p>
        </p:txBody>
      </p:sp>
      <p:sp>
        <p:nvSpPr>
          <p:cNvPr id="14" name="文字_(1) 当0 &lt; V (HCl) &lt; 10mL时"/>
          <p:cNvSpPr txBox="1"/>
          <p:nvPr/>
        </p:nvSpPr>
        <p:spPr>
          <a:xfrm>
            <a:off x="502920" y="4694701"/>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(1) 当0 &lt; V (HCl) &lt; 10mL时，甲溶液中发生反应的离子方程式为</a:t>
            </a:r>
          </a:p>
        </p:txBody>
      </p:sp>
      <p:sp>
        <p:nvSpPr>
          <p:cNvPr id="15" name="文字_(2) 得到的甲、乙溶液中所通入CO₂的物质的量"/>
          <p:cNvSpPr txBox="1"/>
          <p:nvPr/>
        </p:nvSpPr>
        <p:spPr>
          <a:xfrm>
            <a:off x="502920" y="5115325"/>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(2) 得到的甲、乙溶液中所通入CO₂的物质的量之比为</a:t>
            </a:r>
          </a:p>
        </p:txBody>
      </p:sp>
      <p:sp>
        <p:nvSpPr>
          <p:cNvPr id="16" name="文字_(3)原NaOH溶液的物质的量浓度为 _____"/>
          <p:cNvSpPr txBox="1"/>
          <p:nvPr/>
        </p:nvSpPr>
        <p:spPr>
          <a:xfrm>
            <a:off x="502920" y="5535949"/>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(3)原NaOH溶液的物质的量浓度为 ______ O</a:t>
            </a:r>
          </a:p>
        </p:txBody>
      </p:sp>
      <p:sp>
        <p:nvSpPr>
          <p:cNvPr id="17" name="文字_解答题  ·  04-07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04-079</a:t>
            </a:r>
          </a:p>
        </p:txBody>
      </p:sp>
      <p:sp>
        <p:nvSpPr>
          <p:cNvPr id="18" name="文字_10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变式1</a:t>
            </a:r>
          </a:p>
        </p:txBody>
      </p:sp>
      <p:sp>
        <p:nvSpPr>
          <p:cNvPr id="5" name="文字_P1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P114</a:t>
            </a:r>
          </a:p>
        </p:txBody>
      </p:sp>
      <p:sp>
        <p:nvSpPr>
          <p:cNvPr id="6" name="文字_下列实验方案中，不能测定Na₂CO₃和NaHCO"/>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下列实验方案中，不能测定Na₂CO₃和NaHCO₃混合物中NaHCO₃质量分数的方</a:t>
            </a:r>
          </a:p>
          <a:p>
            <a:pPr>
              <a:lnSpc>
                <a:spcPct val="112000"/>
              </a:lnSpc>
              <a:spcBef>
                <a:spcPts val="0"/>
              </a:spcBef>
              <a:spcAft>
                <a:spcPts val="0"/>
              </a:spcAft>
              <a:defRPr sz="2400" b="0">
                <a:solidFill>
                  <a:srgbClr val="333333"/>
                </a:solidFill>
                <a:latin typeface="微软雅黑"/>
              </a:defRPr>
            </a:pPr>
            <a:r>
              <a:rPr>
                <a:ea typeface="微软雅黑"/>
              </a:rPr>
              <a:t>案有</a:t>
            </a:r>
          </a:p>
        </p:txBody>
      </p:sp>
      <p:sp>
        <p:nvSpPr>
          <p:cNvPr id="7" name="文字_A. 取a克混合物充分加热后，用碱石灰吸收，碱石"/>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取a克混合物充分加热后，用碱石灰吸收，碱石灰增重bg</a:t>
            </a:r>
          </a:p>
        </p:txBody>
      </p:sp>
      <p:sp>
        <p:nvSpPr>
          <p:cNvPr id="8" name="文字_B. 取a克混合物与稀硫酸充分反应，逸出气体用碱"/>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取a克混合物与稀硫酸充分反应，逸出气体用碱石灰吸收，增重b克</a:t>
            </a:r>
          </a:p>
        </p:txBody>
      </p:sp>
      <p:sp>
        <p:nvSpPr>
          <p:cNvPr id="9" name="文字_C. 取a克混合物与足量Ca(OH)₂溶液充分反"/>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取a克混合物与足量Ca(OH)₂溶液充分反应，过滤、洗涤、烘干，得b克固体</a:t>
            </a:r>
          </a:p>
        </p:txBody>
      </p:sp>
      <p:sp>
        <p:nvSpPr>
          <p:cNvPr id="10" name="文字_D. 取a克混合物与足量稀盐酸充分反应，加热、蒸"/>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取a克混合物与足量稀盐酸充分反应，加热、蒸干、灼烧，得b克固体</a:t>
            </a:r>
          </a:p>
        </p:txBody>
      </p:sp>
      <p:sp>
        <p:nvSpPr>
          <p:cNvPr id="11" name="文字_单选题  ·  04-08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04-080</a:t>
            </a:r>
          </a:p>
        </p:txBody>
      </p:sp>
      <p:sp>
        <p:nvSpPr>
          <p:cNvPr id="12" name="文字_10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变式2</a:t>
            </a:r>
          </a:p>
        </p:txBody>
      </p:sp>
      <p:sp>
        <p:nvSpPr>
          <p:cNvPr id="5" name="文字_P1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P114</a:t>
            </a:r>
          </a:p>
        </p:txBody>
      </p:sp>
      <p:sp>
        <p:nvSpPr>
          <p:cNvPr id="6" name="文字_在大试管内将足量NaHCO₃加热到200C，将产"/>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在大试管内将足量NaHCO₃加热到200C，将产生的混合气体通入到盛有</a:t>
            </a:r>
          </a:p>
          <a:p>
            <a:pPr>
              <a:lnSpc>
                <a:spcPct val="112000"/>
              </a:lnSpc>
              <a:spcBef>
                <a:spcPts val="0"/>
              </a:spcBef>
              <a:spcAft>
                <a:spcPts val="0"/>
              </a:spcAft>
              <a:defRPr sz="2400" b="0">
                <a:solidFill>
                  <a:srgbClr val="333333"/>
                </a:solidFill>
                <a:latin typeface="微软雅黑"/>
              </a:defRPr>
            </a:pPr>
            <a:r>
              <a:rPr>
                <a:ea typeface="微软雅黑"/>
              </a:rPr>
              <a:t>1.87gNa₂O和Na₂O₂的密闭容器中，待Na₂O和Na₂O₂全部反应后，得到标准</a:t>
            </a:r>
          </a:p>
          <a:p>
            <a:pPr>
              <a:lnSpc>
                <a:spcPct val="112000"/>
              </a:lnSpc>
              <a:spcBef>
                <a:spcPts val="0"/>
              </a:spcBef>
              <a:spcAft>
                <a:spcPts val="0"/>
              </a:spcAft>
              <a:defRPr sz="2400" b="0">
                <a:solidFill>
                  <a:srgbClr val="333333"/>
                </a:solidFill>
                <a:latin typeface="微软雅黑"/>
              </a:defRPr>
            </a:pPr>
            <a:r>
              <a:rPr>
                <a:ea typeface="微软雅黑"/>
              </a:rPr>
              <a:t>状况下224mLO₂；再将反应后密闭容器内的固体全部溶于水配成100mL溶液。下</a:t>
            </a:r>
          </a:p>
          <a:p>
            <a:pPr>
              <a:lnSpc>
                <a:spcPct val="112000"/>
              </a:lnSpc>
              <a:spcBef>
                <a:spcPts val="0"/>
              </a:spcBef>
              <a:spcAft>
                <a:spcPts val="0"/>
              </a:spcAft>
              <a:defRPr sz="2400" b="0">
                <a:solidFill>
                  <a:srgbClr val="333333"/>
                </a:solidFill>
                <a:latin typeface="微软雅黑"/>
              </a:defRPr>
            </a:pPr>
            <a:r>
              <a:rPr>
                <a:ea typeface="微软雅黑"/>
              </a:rPr>
              <a:t>列说法正确的是</a:t>
            </a:r>
          </a:p>
        </p:txBody>
      </p:sp>
      <p:sp>
        <p:nvSpPr>
          <p:cNvPr id="7" name="文字_A. Na₂O和Na₂O₂均为碱性氧化物"/>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Na₂O和Na₂O₂均为碱性氧化物</a:t>
            </a:r>
          </a:p>
        </p:txBody>
      </p:sp>
      <p:sp>
        <p:nvSpPr>
          <p:cNvPr id="8" name="文字_B. 在Na₂O₂与CO₂的反应中，Na₂O₂只"/>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在Na₂O₂与CO₂的反应中，Na₂O₂只作氧化剂</a:t>
            </a:r>
          </a:p>
        </p:txBody>
      </p:sp>
      <p:sp>
        <p:nvSpPr>
          <p:cNvPr id="9" name="文字_C. 反应过程中总共转移0.04mol电子"/>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反应过程中总共转移0.04mol电子</a:t>
            </a:r>
          </a:p>
        </p:txBody>
      </p:sp>
      <p:sp>
        <p:nvSpPr>
          <p:cNvPr id="10" name="文字_D. 配成的100mL溶液中c (Na+) = "/>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配成的100mL溶液中c (Na+) = 0.5mol/L</a:t>
            </a:r>
          </a:p>
        </p:txBody>
      </p:sp>
      <p:sp>
        <p:nvSpPr>
          <p:cNvPr id="11" name="文字_单选题  ·  04-08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04-081</a:t>
            </a:r>
          </a:p>
        </p:txBody>
      </p:sp>
      <p:sp>
        <p:nvSpPr>
          <p:cNvPr id="12" name="文字_10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变式3</a:t>
            </a:r>
          </a:p>
        </p:txBody>
      </p:sp>
      <p:sp>
        <p:nvSpPr>
          <p:cNvPr id="5" name="文字_P1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P115</a:t>
            </a:r>
          </a:p>
        </p:txBody>
      </p:sp>
      <p:sp>
        <p:nvSpPr>
          <p:cNvPr id="6" name="文字_向VL某NaOH溶液中通入CO₂气体后得溶液M，"/>
          <p:cNvSpPr txBox="1"/>
          <p:nvPr/>
        </p:nvSpPr>
        <p:spPr>
          <a:xfrm>
            <a:off x="502920" y="1078992"/>
            <a:ext cx="11064240" cy="1091565"/>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向VL某NaOH溶液中通入CO₂气体后得溶液M，因CO₂通入量的不同，溶液M的组成也</a:t>
            </a:r>
          </a:p>
          <a:p>
            <a:pPr>
              <a:lnSpc>
                <a:spcPct val="112000"/>
              </a:lnSpc>
              <a:spcBef>
                <a:spcPts val="0"/>
              </a:spcBef>
              <a:spcAft>
                <a:spcPts val="0"/>
              </a:spcAft>
              <a:defRPr sz="2250" b="0">
                <a:solidFill>
                  <a:srgbClr val="333333"/>
                </a:solidFill>
                <a:latin typeface="微软雅黑"/>
              </a:defRPr>
            </a:pPr>
            <a:r>
              <a:rPr>
                <a:ea typeface="微软雅黑"/>
              </a:rPr>
              <a:t>不同．若向M中逐滴加入盐酸，产生的气体体积V（CO₂）与加入盐酸的体积V（HCl）</a:t>
            </a:r>
          </a:p>
          <a:p>
            <a:pPr>
              <a:lnSpc>
                <a:spcPct val="112000"/>
              </a:lnSpc>
              <a:spcBef>
                <a:spcPts val="0"/>
              </a:spcBef>
              <a:spcAft>
                <a:spcPts val="0"/>
              </a:spcAft>
              <a:defRPr sz="2250" b="0">
                <a:solidFill>
                  <a:srgbClr val="333333"/>
                </a:solidFill>
                <a:latin typeface="微软雅黑"/>
              </a:defRPr>
            </a:pPr>
            <a:r>
              <a:rPr>
                <a:ea typeface="微软雅黑"/>
              </a:rPr>
              <a:t>的关系有下列图示四种情况，且（2）中有OA&lt;AB，</a:t>
            </a:r>
          </a:p>
        </p:txBody>
      </p:sp>
      <p:sp>
        <p:nvSpPr>
          <p:cNvPr id="7" name="文字_(3）中有OA=AB，（4）中有OA&gt;AB，已知"/>
          <p:cNvSpPr txBox="1"/>
          <p:nvPr/>
        </p:nvSpPr>
        <p:spPr>
          <a:xfrm>
            <a:off x="502920" y="2170557"/>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(3）中有OA=AB，（4）中有OA&gt;AB，已知B点时盐酸的用量为3mol，则下列分析与</a:t>
            </a:r>
          </a:p>
          <a:p>
            <a:pPr>
              <a:lnSpc>
                <a:spcPct val="112000"/>
              </a:lnSpc>
              <a:spcBef>
                <a:spcPts val="0"/>
              </a:spcBef>
              <a:spcAft>
                <a:spcPts val="0"/>
              </a:spcAft>
              <a:defRPr sz="2250" b="0">
                <a:solidFill>
                  <a:srgbClr val="333333"/>
                </a:solidFill>
                <a:latin typeface="微软雅黑"/>
              </a:defRPr>
            </a:pPr>
            <a:r>
              <a:rPr>
                <a:ea typeface="微软雅黑"/>
              </a:rPr>
              <a:t>判断不正确的是（不计CO₂的溶解）（）</a:t>
            </a:r>
          </a:p>
        </p:txBody>
      </p:sp>
      <p:pic>
        <p:nvPicPr>
          <p:cNvPr id="8" name="Picture 7" descr="image.png"/>
          <p:cNvPicPr>
            <a:picLocks noChangeAspect="1"/>
          </p:cNvPicPr>
          <p:nvPr/>
        </p:nvPicPr>
        <p:blipFill>
          <a:blip r:embed="rId3"/>
          <a:stretch>
            <a:fillRect/>
          </a:stretch>
        </p:blipFill>
        <p:spPr>
          <a:xfrm>
            <a:off x="502920" y="2922079"/>
            <a:ext cx="11064240" cy="2113308"/>
          </a:xfrm>
          <a:prstGeom prst="rect">
            <a:avLst/>
          </a:prstGeom>
        </p:spPr>
      </p:pic>
      <p:sp>
        <p:nvSpPr>
          <p:cNvPr id="9" name="原题文字_115_7"/>
          <p:cNvSpPr txBox="1"/>
          <p:nvPr/>
        </p:nvSpPr>
        <p:spPr>
          <a:xfrm>
            <a:off x="1207356" y="3007561"/>
            <a:ext cx="989007" cy="487745"/>
          </a:xfrm>
          <a:prstGeom prst="rect">
            <a:avLst/>
          </a:prstGeom>
          <a:noFill/>
        </p:spPr>
        <p:txBody>
          <a:bodyPr wrap="none" lIns="0" rIns="0" tIns="0" bIns="0">
            <a:spAutoFit/>
          </a:bodyPr>
          <a:lstStyle/>
          <a:p>
            <a:pPr>
              <a:lnSpc>
                <a:spcPct val="112000"/>
              </a:lnSpc>
              <a:spcBef>
                <a:spcPts val="0"/>
              </a:spcBef>
              <a:spcAft>
                <a:spcPts val="0"/>
              </a:spcAft>
              <a:defRPr sz="2197" b="0">
                <a:solidFill>
                  <a:srgbClr val="333333"/>
                </a:solidFill>
                <a:latin typeface="微软雅黑"/>
              </a:defRPr>
            </a:pPr>
            <a:r>
              <a:rPr>
                <a:ea typeface="微软雅黑"/>
              </a:rPr>
              <a:t>V(CO₂)</a:t>
            </a:r>
          </a:p>
        </p:txBody>
      </p:sp>
      <p:sp>
        <p:nvSpPr>
          <p:cNvPr id="10" name="原题文字_115_8"/>
          <p:cNvSpPr txBox="1"/>
          <p:nvPr/>
        </p:nvSpPr>
        <p:spPr>
          <a:xfrm>
            <a:off x="3787735" y="2953963"/>
            <a:ext cx="1073233" cy="557423"/>
          </a:xfrm>
          <a:prstGeom prst="rect">
            <a:avLst/>
          </a:prstGeom>
          <a:noFill/>
        </p:spPr>
        <p:txBody>
          <a:bodyPr wrap="none" lIns="0" rIns="0" tIns="0" bIns="0">
            <a:spAutoFit/>
          </a:bodyPr>
          <a:lstStyle/>
          <a:p>
            <a:pPr>
              <a:lnSpc>
                <a:spcPct val="112000"/>
              </a:lnSpc>
              <a:spcBef>
                <a:spcPts val="0"/>
              </a:spcBef>
              <a:spcAft>
                <a:spcPts val="0"/>
              </a:spcAft>
              <a:defRPr sz="2701" b="0">
                <a:solidFill>
                  <a:srgbClr val="333333"/>
                </a:solidFill>
                <a:latin typeface="微软雅黑"/>
              </a:defRPr>
            </a:pPr>
            <a:r>
              <a:rPr>
                <a:ea typeface="微软雅黑"/>
              </a:rPr>
              <a:t>V(CO)</a:t>
            </a:r>
          </a:p>
        </p:txBody>
      </p:sp>
      <p:sp>
        <p:nvSpPr>
          <p:cNvPr id="11" name="原题文字_115_9"/>
          <p:cNvSpPr txBox="1"/>
          <p:nvPr/>
        </p:nvSpPr>
        <p:spPr>
          <a:xfrm>
            <a:off x="6467655" y="3022875"/>
            <a:ext cx="1011978"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V(CO)</a:t>
            </a:r>
          </a:p>
        </p:txBody>
      </p:sp>
      <p:sp>
        <p:nvSpPr>
          <p:cNvPr id="12" name="原题文字_115_10"/>
          <p:cNvSpPr txBox="1"/>
          <p:nvPr/>
        </p:nvSpPr>
        <p:spPr>
          <a:xfrm>
            <a:off x="9063349" y="3045846"/>
            <a:ext cx="973693"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V(CO,)</a:t>
            </a:r>
          </a:p>
        </p:txBody>
      </p:sp>
      <p:sp>
        <p:nvSpPr>
          <p:cNvPr id="13" name="原题文字_115_11"/>
          <p:cNvSpPr txBox="1"/>
          <p:nvPr/>
        </p:nvSpPr>
        <p:spPr>
          <a:xfrm>
            <a:off x="1636143" y="4209697"/>
            <a:ext cx="261600"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A</a:t>
            </a:r>
          </a:p>
        </p:txBody>
      </p:sp>
      <p:sp>
        <p:nvSpPr>
          <p:cNvPr id="14" name="原题文字_115_12"/>
          <p:cNvSpPr txBox="1"/>
          <p:nvPr/>
        </p:nvSpPr>
        <p:spPr>
          <a:xfrm>
            <a:off x="2156813" y="4133127"/>
            <a:ext cx="950722" cy="497699"/>
          </a:xfrm>
          <a:prstGeom prst="rect">
            <a:avLst/>
          </a:prstGeom>
          <a:noFill/>
        </p:spPr>
        <p:txBody>
          <a:bodyPr wrap="none" lIns="0" rIns="0" tIns="0" bIns="0">
            <a:spAutoFit/>
          </a:bodyPr>
          <a:lstStyle/>
          <a:p>
            <a:pPr>
              <a:lnSpc>
                <a:spcPct val="112000"/>
              </a:lnSpc>
              <a:spcBef>
                <a:spcPts val="0"/>
              </a:spcBef>
              <a:spcAft>
                <a:spcPts val="0"/>
              </a:spcAft>
              <a:defRPr sz="2411" b="0">
                <a:solidFill>
                  <a:srgbClr val="333333"/>
                </a:solidFill>
                <a:latin typeface="微软雅黑"/>
              </a:defRPr>
            </a:pPr>
            <a:r>
              <a:rPr>
                <a:ea typeface="微软雅黑"/>
              </a:rPr>
              <a:t>V(HCI)</a:t>
            </a:r>
          </a:p>
        </p:txBody>
      </p:sp>
      <p:sp>
        <p:nvSpPr>
          <p:cNvPr id="15" name="原题文字_115_13"/>
          <p:cNvSpPr txBox="1"/>
          <p:nvPr/>
        </p:nvSpPr>
        <p:spPr>
          <a:xfrm>
            <a:off x="4147610" y="4232667"/>
            <a:ext cx="284571"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A</a:t>
            </a:r>
          </a:p>
        </p:txBody>
      </p:sp>
      <p:sp>
        <p:nvSpPr>
          <p:cNvPr id="16" name="原题文字_115_14"/>
          <p:cNvSpPr txBox="1"/>
          <p:nvPr/>
        </p:nvSpPr>
        <p:spPr>
          <a:xfrm>
            <a:off x="4607025" y="4179069"/>
            <a:ext cx="1195744"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B V(HCI)</a:t>
            </a:r>
          </a:p>
        </p:txBody>
      </p:sp>
      <p:sp>
        <p:nvSpPr>
          <p:cNvPr id="17" name="原题文字_115_15"/>
          <p:cNvSpPr txBox="1"/>
          <p:nvPr/>
        </p:nvSpPr>
        <p:spPr>
          <a:xfrm>
            <a:off x="6835187" y="4217353"/>
            <a:ext cx="315199"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A</a:t>
            </a:r>
          </a:p>
        </p:txBody>
      </p:sp>
      <p:sp>
        <p:nvSpPr>
          <p:cNvPr id="18" name="原题文字_115_16"/>
          <p:cNvSpPr txBox="1"/>
          <p:nvPr/>
        </p:nvSpPr>
        <p:spPr>
          <a:xfrm>
            <a:off x="7172091" y="4179069"/>
            <a:ext cx="1256999"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B V(HCI)</a:t>
            </a:r>
          </a:p>
        </p:txBody>
      </p:sp>
      <p:sp>
        <p:nvSpPr>
          <p:cNvPr id="19" name="原题文字_115_17"/>
          <p:cNvSpPr txBox="1"/>
          <p:nvPr/>
        </p:nvSpPr>
        <p:spPr>
          <a:xfrm>
            <a:off x="8979123" y="4232667"/>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0</a:t>
            </a:r>
          </a:p>
        </p:txBody>
      </p:sp>
      <p:sp>
        <p:nvSpPr>
          <p:cNvPr id="20" name="原题文字_115_18"/>
          <p:cNvSpPr txBox="1"/>
          <p:nvPr/>
        </p:nvSpPr>
        <p:spPr>
          <a:xfrm>
            <a:off x="9338998" y="4133127"/>
            <a:ext cx="1509677" cy="497699"/>
          </a:xfrm>
          <a:prstGeom prst="rect">
            <a:avLst/>
          </a:prstGeom>
          <a:noFill/>
        </p:spPr>
        <p:txBody>
          <a:bodyPr wrap="none" lIns="0" rIns="0" tIns="0" bIns="0">
            <a:spAutoFit/>
          </a:bodyPr>
          <a:lstStyle/>
          <a:p>
            <a:pPr>
              <a:lnSpc>
                <a:spcPct val="112000"/>
              </a:lnSpc>
              <a:spcBef>
                <a:spcPts val="0"/>
              </a:spcBef>
              <a:spcAft>
                <a:spcPts val="0"/>
              </a:spcAft>
              <a:defRPr sz="2384" b="0">
                <a:solidFill>
                  <a:srgbClr val="333333"/>
                </a:solidFill>
                <a:latin typeface="微软雅黑"/>
              </a:defRPr>
            </a:pPr>
            <a:r>
              <a:rPr>
                <a:ea typeface="微软雅黑"/>
              </a:rPr>
              <a:t>A B V(HCI)</a:t>
            </a:r>
          </a:p>
        </p:txBody>
      </p:sp>
      <p:sp>
        <p:nvSpPr>
          <p:cNvPr id="21" name="原题文字_115_19"/>
          <p:cNvSpPr txBox="1"/>
          <p:nvPr/>
        </p:nvSpPr>
        <p:spPr>
          <a:xfrm>
            <a:off x="1628486" y="4424090"/>
            <a:ext cx="475994"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(1)</a:t>
            </a:r>
          </a:p>
        </p:txBody>
      </p:sp>
      <p:sp>
        <p:nvSpPr>
          <p:cNvPr id="22" name="原题文字_115_20"/>
          <p:cNvSpPr txBox="1"/>
          <p:nvPr/>
        </p:nvSpPr>
        <p:spPr>
          <a:xfrm>
            <a:off x="4415602" y="4431747"/>
            <a:ext cx="48365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(2)</a:t>
            </a:r>
          </a:p>
        </p:txBody>
      </p:sp>
      <p:sp>
        <p:nvSpPr>
          <p:cNvPr id="23" name="原题文字_115_21"/>
          <p:cNvSpPr txBox="1"/>
          <p:nvPr/>
        </p:nvSpPr>
        <p:spPr>
          <a:xfrm>
            <a:off x="7118493" y="4431747"/>
            <a:ext cx="483651"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(3)</a:t>
            </a:r>
          </a:p>
        </p:txBody>
      </p:sp>
      <p:sp>
        <p:nvSpPr>
          <p:cNvPr id="24" name="原题文字_115_22"/>
          <p:cNvSpPr txBox="1"/>
          <p:nvPr/>
        </p:nvSpPr>
        <p:spPr>
          <a:xfrm>
            <a:off x="9499793" y="4416433"/>
            <a:ext cx="521935"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(4)</a:t>
            </a:r>
          </a:p>
        </p:txBody>
      </p:sp>
      <p:sp>
        <p:nvSpPr>
          <p:cNvPr id="25" name="原题文字_115_23"/>
          <p:cNvSpPr txBox="1"/>
          <p:nvPr/>
        </p:nvSpPr>
        <p:spPr>
          <a:xfrm>
            <a:off x="571832" y="4715053"/>
            <a:ext cx="4335078" cy="358343"/>
          </a:xfrm>
          <a:prstGeom prst="rect">
            <a:avLst/>
          </a:prstGeom>
          <a:noFill/>
        </p:spPr>
        <p:txBody>
          <a:bodyPr wrap="none" lIns="0" rIns="0" tIns="0" bIns="0">
            <a:spAutoFit/>
          </a:bodyPr>
          <a:lstStyle/>
          <a:p>
            <a:pPr>
              <a:lnSpc>
                <a:spcPct val="112000"/>
              </a:lnSpc>
              <a:spcBef>
                <a:spcPts val="0"/>
              </a:spcBef>
              <a:spcAft>
                <a:spcPts val="0"/>
              </a:spcAft>
              <a:defRPr sz="1714" b="0">
                <a:solidFill>
                  <a:srgbClr val="333333"/>
                </a:solidFill>
                <a:latin typeface="微软雅黑"/>
              </a:defRPr>
            </a:pPr>
            <a:r>
              <a:rPr>
                <a:ea typeface="微软雅黑"/>
              </a:rPr>
              <a:t>A. 图（3）显示通入CO₂的物质的量为1.5mol</a:t>
            </a:r>
          </a:p>
        </p:txBody>
      </p:sp>
      <p:sp>
        <p:nvSpPr>
          <p:cNvPr id="26" name="文字_B. 图（2）显示M中一定有：c（NaHCO₃）"/>
          <p:cNvSpPr txBox="1"/>
          <p:nvPr/>
        </p:nvSpPr>
        <p:spPr>
          <a:xfrm>
            <a:off x="502920" y="5108539"/>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B. 图（2）显示M中一定有：c（NaHCO₃）&gt;c（Na₂CO₃）</a:t>
            </a:r>
          </a:p>
        </p:txBody>
      </p:sp>
      <p:sp>
        <p:nvSpPr>
          <p:cNvPr id="27" name="文字_C. 该NaOH的浓度为3/V mol·L-1"/>
          <p:cNvSpPr txBox="1"/>
          <p:nvPr/>
        </p:nvSpPr>
        <p:spPr>
          <a:xfrm>
            <a:off x="502920" y="5520019"/>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C. 该NaOH的浓度为3/V mol·L-1</a:t>
            </a:r>
          </a:p>
        </p:txBody>
      </p:sp>
      <p:sp>
        <p:nvSpPr>
          <p:cNvPr id="28" name="文字_D. 若图（4）中OA：AB=3:2，则M所含的"/>
          <p:cNvSpPr txBox="1"/>
          <p:nvPr/>
        </p:nvSpPr>
        <p:spPr>
          <a:xfrm>
            <a:off x="502920" y="5931499"/>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D. 若图（4）中OA：AB=3:2，则M所含的溶质为NaOH：Na₂CO₃=1:2</a:t>
            </a:r>
          </a:p>
        </p:txBody>
      </p:sp>
      <p:sp>
        <p:nvSpPr>
          <p:cNvPr id="29" name="文字_单选题  ·  04-08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04-082</a:t>
            </a:r>
          </a:p>
        </p:txBody>
      </p:sp>
      <p:sp>
        <p:nvSpPr>
          <p:cNvPr id="30" name="文字_10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变式4</a:t>
            </a:r>
          </a:p>
        </p:txBody>
      </p:sp>
      <p:sp>
        <p:nvSpPr>
          <p:cNvPr id="5" name="文字_P1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P115</a:t>
            </a:r>
          </a:p>
        </p:txBody>
      </p:sp>
      <p:sp>
        <p:nvSpPr>
          <p:cNvPr id="6" name="文字_为测定某天然碱(xNa₂CO₃·yNaHCO₃·"/>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为测定某天然碱(xNa₂CO₃·yNaHCO₃·zH₂O)的组成.取4.04g天然碱样品，逐滴</a:t>
            </a:r>
          </a:p>
          <a:p>
            <a:pPr>
              <a:lnSpc>
                <a:spcPct val="112000"/>
              </a:lnSpc>
              <a:spcBef>
                <a:spcPts val="0"/>
              </a:spcBef>
              <a:spcAft>
                <a:spcPts val="0"/>
              </a:spcAft>
              <a:defRPr sz="2400" b="0">
                <a:solidFill>
                  <a:srgbClr val="333333"/>
                </a:solidFill>
                <a:latin typeface="微软雅黑"/>
              </a:defRPr>
            </a:pPr>
            <a:r>
              <a:rPr>
                <a:ea typeface="微软雅黑"/>
              </a:rPr>
              <a:t>加入1mol/L的盐酸，产生的CO₂体积(标况)与加入盐酸的体积关系如图所示，请回</a:t>
            </a:r>
          </a:p>
          <a:p>
            <a:pPr>
              <a:lnSpc>
                <a:spcPct val="112000"/>
              </a:lnSpc>
              <a:spcBef>
                <a:spcPts val="0"/>
              </a:spcBef>
              <a:spcAft>
                <a:spcPts val="0"/>
              </a:spcAft>
              <a:defRPr sz="2400" b="0">
                <a:solidFill>
                  <a:srgbClr val="333333"/>
                </a:solidFill>
                <a:latin typeface="微软雅黑"/>
              </a:defRPr>
            </a:pPr>
            <a:r>
              <a:rPr>
                <a:ea typeface="微软雅黑"/>
              </a:rPr>
              <a:t>答下列问题:</a:t>
            </a:r>
          </a:p>
        </p:txBody>
      </p:sp>
      <p:sp>
        <p:nvSpPr>
          <p:cNvPr id="7" name="文字_V(CO₂)/m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V(CO₂)/mL</a:t>
            </a:r>
          </a:p>
        </p:txBody>
      </p:sp>
      <p:pic>
        <p:nvPicPr>
          <p:cNvPr id="8" name="Picture 7" descr="image.png"/>
          <p:cNvPicPr>
            <a:picLocks noChangeAspect="1"/>
          </p:cNvPicPr>
          <p:nvPr/>
        </p:nvPicPr>
        <p:blipFill>
          <a:blip r:embed="rId3"/>
          <a:stretch>
            <a:fillRect/>
          </a:stretch>
        </p:blipFill>
        <p:spPr>
          <a:xfrm>
            <a:off x="502920" y="2682240"/>
            <a:ext cx="11064240" cy="1339959"/>
          </a:xfrm>
          <a:prstGeom prst="rect">
            <a:avLst/>
          </a:prstGeom>
        </p:spPr>
      </p:pic>
      <p:sp>
        <p:nvSpPr>
          <p:cNvPr id="9" name="原题文字_115_33"/>
          <p:cNvSpPr txBox="1"/>
          <p:nvPr/>
        </p:nvSpPr>
        <p:spPr>
          <a:xfrm>
            <a:off x="602459" y="2714123"/>
            <a:ext cx="46068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672</a:t>
            </a:r>
          </a:p>
        </p:txBody>
      </p:sp>
      <p:sp>
        <p:nvSpPr>
          <p:cNvPr id="10" name="原题文字_115_34"/>
          <p:cNvSpPr txBox="1"/>
          <p:nvPr/>
        </p:nvSpPr>
        <p:spPr>
          <a:xfrm>
            <a:off x="1421749" y="3701865"/>
            <a:ext cx="36114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20</a:t>
            </a:r>
          </a:p>
        </p:txBody>
      </p:sp>
      <p:sp>
        <p:nvSpPr>
          <p:cNvPr id="11" name="原题文字_115_35"/>
          <p:cNvSpPr txBox="1"/>
          <p:nvPr/>
        </p:nvSpPr>
        <p:spPr>
          <a:xfrm>
            <a:off x="3029701" y="3648267"/>
            <a:ext cx="1180430" cy="428021"/>
          </a:xfrm>
          <a:prstGeom prst="rect">
            <a:avLst/>
          </a:prstGeom>
          <a:noFill/>
        </p:spPr>
        <p:txBody>
          <a:bodyPr wrap="none" lIns="0" rIns="0" tIns="0" bIns="0">
            <a:spAutoFit/>
          </a:bodyPr>
          <a:lstStyle/>
          <a:p>
            <a:pPr>
              <a:lnSpc>
                <a:spcPct val="112000"/>
              </a:lnSpc>
              <a:spcBef>
                <a:spcPts val="0"/>
              </a:spcBef>
              <a:spcAft>
                <a:spcPts val="0"/>
              </a:spcAft>
              <a:defRPr sz="1779" b="0">
                <a:solidFill>
                  <a:srgbClr val="333333"/>
                </a:solidFill>
                <a:latin typeface="微软雅黑"/>
              </a:defRPr>
            </a:pPr>
            <a:r>
              <a:rPr>
                <a:ea typeface="微软雅黑"/>
              </a:rPr>
              <a:t>V(盐酸)/mL</a:t>
            </a:r>
          </a:p>
        </p:txBody>
      </p:sp>
      <p:sp>
        <p:nvSpPr>
          <p:cNvPr id="12" name="文字_(1) 最终产生的CO₂的物质的量为 _____"/>
          <p:cNvSpPr txBox="1"/>
          <p:nvPr/>
        </p:nvSpPr>
        <p:spPr>
          <a:xfrm>
            <a:off x="502920" y="40953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最终产生的CO₂的物质的量为 ______ molo</a:t>
            </a:r>
          </a:p>
        </p:txBody>
      </p:sp>
      <p:pic>
        <p:nvPicPr>
          <p:cNvPr id="13" name="Picture 12" descr="image.png"/>
          <p:cNvPicPr>
            <a:picLocks noChangeAspect="1"/>
          </p:cNvPicPr>
          <p:nvPr/>
        </p:nvPicPr>
        <p:blipFill>
          <a:blip r:embed="rId4"/>
          <a:stretch>
            <a:fillRect/>
          </a:stretch>
        </p:blipFill>
        <p:spPr>
          <a:xfrm>
            <a:off x="502920" y="4534263"/>
            <a:ext cx="11064240" cy="444100"/>
          </a:xfrm>
          <a:prstGeom prst="rect">
            <a:avLst/>
          </a:prstGeom>
        </p:spPr>
      </p:pic>
      <p:sp>
        <p:nvSpPr>
          <p:cNvPr id="14" name="原题文字_115_38"/>
          <p:cNvSpPr txBox="1"/>
          <p:nvPr/>
        </p:nvSpPr>
        <p:spPr>
          <a:xfrm>
            <a:off x="564175" y="4581461"/>
            <a:ext cx="46068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(2)</a:t>
            </a:r>
          </a:p>
        </p:txBody>
      </p:sp>
      <p:sp>
        <p:nvSpPr>
          <p:cNvPr id="15" name="原题文字_115_39"/>
          <p:cNvSpPr txBox="1"/>
          <p:nvPr/>
        </p:nvSpPr>
        <p:spPr>
          <a:xfrm>
            <a:off x="1069531" y="4566147"/>
            <a:ext cx="206097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该天然碱的化学式为</a:t>
            </a:r>
          </a:p>
        </p:txBody>
      </p:sp>
      <p:sp>
        <p:nvSpPr>
          <p:cNvPr id="16" name="原题文字_115_40"/>
          <p:cNvSpPr txBox="1"/>
          <p:nvPr/>
        </p:nvSpPr>
        <p:spPr>
          <a:xfrm>
            <a:off x="3718823" y="4719285"/>
            <a:ext cx="162060"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0</a:t>
            </a:r>
          </a:p>
        </p:txBody>
      </p:sp>
      <p:sp>
        <p:nvSpPr>
          <p:cNvPr id="17" name="文字_填空题  ·  04-08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04-083</a:t>
            </a:r>
          </a:p>
        </p:txBody>
      </p:sp>
      <p:sp>
        <p:nvSpPr>
          <p:cNvPr id="18" name="文字_10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变式5</a:t>
            </a:r>
          </a:p>
        </p:txBody>
      </p:sp>
      <p:sp>
        <p:nvSpPr>
          <p:cNvPr id="5" name="文字_P1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P115</a:t>
            </a:r>
          </a:p>
        </p:txBody>
      </p:sp>
      <p:sp>
        <p:nvSpPr>
          <p:cNvPr id="6" name="文字_将某碳酸钠和碳酸氢钠混合物2.43g加热到质量不"/>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将某碳酸钠和碳酸氢钠混合物2.43g加热到质量不再变化时，剩余物质的质量为</a:t>
            </a:r>
          </a:p>
          <a:p>
            <a:pPr>
              <a:lnSpc>
                <a:spcPct val="112000"/>
              </a:lnSpc>
              <a:spcBef>
                <a:spcPts val="0"/>
              </a:spcBef>
              <a:spcAft>
                <a:spcPts val="0"/>
              </a:spcAft>
              <a:defRPr sz="2400" b="0">
                <a:solidFill>
                  <a:srgbClr val="333333"/>
                </a:solidFill>
                <a:latin typeface="微软雅黑"/>
              </a:defRPr>
            </a:pPr>
            <a:r>
              <a:rPr>
                <a:ea typeface="微软雅黑"/>
              </a:rPr>
              <a:t>2.12g，求：</a:t>
            </a:r>
          </a:p>
        </p:txBody>
      </p:sp>
      <p:sp>
        <p:nvSpPr>
          <p:cNvPr id="7" name="文字_(1)写出加热过程中发生反应的化学方程式"/>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(1)写出加热过程中发生反应的化学方程式</a:t>
            </a:r>
          </a:p>
        </p:txBody>
      </p:sp>
      <p:sp>
        <p:nvSpPr>
          <p:cNvPr id="8" name="文字_(2)碳酸氢钠的质量为 ______ 克？碳酸钠"/>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(2)碳酸氢钠的质量为 ______ 克？碳酸钠的质量分数为 ______ (保留三位有效数字)?</a:t>
            </a:r>
          </a:p>
        </p:txBody>
      </p:sp>
      <p:sp>
        <p:nvSpPr>
          <p:cNvPr id="9" name="文字_解答题  ·  04-08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04-084</a:t>
            </a:r>
          </a:p>
        </p:txBody>
      </p:sp>
      <p:sp>
        <p:nvSpPr>
          <p:cNvPr id="10" name="文字_10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变式6</a:t>
            </a:r>
          </a:p>
        </p:txBody>
      </p:sp>
      <p:sp>
        <p:nvSpPr>
          <p:cNvPr id="5" name="文字_P1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P115</a:t>
            </a:r>
          </a:p>
        </p:txBody>
      </p:sp>
      <p:sp>
        <p:nvSpPr>
          <p:cNvPr id="6" name="文字_潜水艇中常用过氧化钠作供氧剂。若某密闭舱内有72"/>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潜水艇中常用过氧化钠作供氧剂。若某密闭舱内有72g水和一定量的CO₂与足量过</a:t>
            </a:r>
          </a:p>
          <a:p>
            <a:pPr>
              <a:lnSpc>
                <a:spcPct val="112000"/>
              </a:lnSpc>
              <a:spcBef>
                <a:spcPts val="0"/>
              </a:spcBef>
              <a:spcAft>
                <a:spcPts val="0"/>
              </a:spcAft>
              <a:defRPr sz="2400" b="0">
                <a:solidFill>
                  <a:srgbClr val="333333"/>
                </a:solidFill>
                <a:latin typeface="微软雅黑"/>
              </a:defRPr>
            </a:pPr>
            <a:r>
              <a:rPr>
                <a:ea typeface="微软雅黑"/>
              </a:rPr>
              <a:t>氧化钠充分反应产生112LO₂(标准状况)，请回答下列问题：</a:t>
            </a:r>
          </a:p>
        </p:txBody>
      </p:sp>
      <p:sp>
        <p:nvSpPr>
          <p:cNvPr id="7" name="文字_(1)反应前密闭舱中CO₂的物质的量 _____"/>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(1)反应前密闭舱中CO₂的物质的量 ______ mol。</a:t>
            </a:r>
          </a:p>
        </p:txBody>
      </p:sp>
      <p:sp>
        <p:nvSpPr>
          <p:cNvPr id="8" name="文字_(2)若将该密闭舱中气体通入2.0LNaOH溶液"/>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(2)若将该密闭舱中气体通入2.0LNaOH溶液中，CO₂被完全吸收。若NaOH完全反</a:t>
            </a:r>
          </a:p>
          <a:p>
            <a:pPr>
              <a:lnSpc>
                <a:spcPct val="112000"/>
              </a:lnSpc>
              <a:spcBef>
                <a:spcPts val="0"/>
              </a:spcBef>
              <a:spcAft>
                <a:spcPts val="0"/>
              </a:spcAft>
              <a:defRPr sz="2400" b="0">
                <a:solidFill>
                  <a:srgbClr val="333333"/>
                </a:solidFill>
                <a:latin typeface="微软雅黑"/>
              </a:defRPr>
            </a:pPr>
            <a:r>
              <a:rPr>
                <a:ea typeface="微软雅黑"/>
              </a:rPr>
              <a:t>应，则该NaOH溶液的浓度(用c表示)范围为 ______ mol/L。</a:t>
            </a:r>
          </a:p>
        </p:txBody>
      </p:sp>
      <p:sp>
        <p:nvSpPr>
          <p:cNvPr id="9" name="文字_填空题  ·  04-08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04-085</a:t>
            </a:r>
          </a:p>
        </p:txBody>
      </p:sp>
      <p:sp>
        <p:nvSpPr>
          <p:cNvPr id="10" name="文字_10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变式7</a:t>
            </a:r>
          </a:p>
        </p:txBody>
      </p:sp>
      <p:sp>
        <p:nvSpPr>
          <p:cNvPr id="5" name="文字_P11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P116</a:t>
            </a:r>
          </a:p>
        </p:txBody>
      </p:sp>
      <p:sp>
        <p:nvSpPr>
          <p:cNvPr id="6" name="文字_某金属钠和氧化钠的混合固体质量为24.6g，投入"/>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某金属钠和氧化钠的混合固体质量为24.6g，投入水中生成NaOH溶液，同时收集</a:t>
            </a:r>
          </a:p>
          <a:p>
            <a:pPr>
              <a:lnSpc>
                <a:spcPct val="112000"/>
              </a:lnSpc>
              <a:spcBef>
                <a:spcPts val="0"/>
              </a:spcBef>
              <a:spcAft>
                <a:spcPts val="0"/>
              </a:spcAft>
              <a:defRPr sz="2400" b="0">
                <a:solidFill>
                  <a:srgbClr val="333333"/>
                </a:solidFill>
                <a:latin typeface="微软雅黑"/>
              </a:defRPr>
            </a:pPr>
            <a:r>
              <a:rPr>
                <a:ea typeface="微软雅黑"/>
              </a:rPr>
              <a:t>到标准状况下的气体8.96L。在所得NaOH溶液中通入一定体积的CO₂气体后，测</a:t>
            </a:r>
          </a:p>
          <a:p>
            <a:pPr>
              <a:lnSpc>
                <a:spcPct val="112000"/>
              </a:lnSpc>
              <a:spcBef>
                <a:spcPts val="0"/>
              </a:spcBef>
              <a:spcAft>
                <a:spcPts val="0"/>
              </a:spcAft>
              <a:defRPr sz="2400" b="0">
                <a:solidFill>
                  <a:srgbClr val="333333"/>
                </a:solidFill>
                <a:latin typeface="微软雅黑"/>
              </a:defRPr>
            </a:pPr>
            <a:r>
              <a:rPr>
                <a:ea typeface="微软雅黑"/>
              </a:rPr>
              <a:t>得溶液中CO₂⁻3和HCO-3的物质的量之比为1：3。求：</a:t>
            </a:r>
          </a:p>
        </p:txBody>
      </p:sp>
      <p:sp>
        <p:nvSpPr>
          <p:cNvPr id="7" name="文字_（1）原混合固体中金属钠的质量为 ______ "/>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（1）原混合固体中金属钠的质量为 ______ go</a:t>
            </a:r>
          </a:p>
        </p:txBody>
      </p:sp>
      <p:sp>
        <p:nvSpPr>
          <p:cNvPr id="8" name="文字_(2)通入NaOH溶液的CO₂气体在标准状况下的"/>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(2)通入NaOH溶液的CO₂气体在标准状况下的体积为 ______ Lo</a:t>
            </a:r>
          </a:p>
        </p:txBody>
      </p:sp>
      <p:sp>
        <p:nvSpPr>
          <p:cNvPr id="9" name="文字_填空题  ·  04-08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04-086</a:t>
            </a:r>
          </a:p>
        </p:txBody>
      </p:sp>
      <p:sp>
        <p:nvSpPr>
          <p:cNvPr id="10" name="文字_1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钠的计算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钠的计算 · 变式8</a:t>
            </a:r>
          </a:p>
        </p:txBody>
      </p:sp>
      <p:sp>
        <p:nvSpPr>
          <p:cNvPr id="5" name="文字_P11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P116</a:t>
            </a:r>
          </a:p>
        </p:txBody>
      </p:sp>
      <p:sp>
        <p:nvSpPr>
          <p:cNvPr id="6" name="文字_取一定物质的量浓度的NaOH溶液100mL，然后"/>
          <p:cNvSpPr txBox="1"/>
          <p:nvPr/>
        </p:nvSpPr>
        <p:spPr>
          <a:xfrm>
            <a:off x="502920" y="1078992"/>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取一定物质的量浓度的NaOH溶液100mL，然后向其通入一定量的CO₂气体，得到溶液A</a:t>
            </a:r>
          </a:p>
          <a:p>
            <a:pPr>
              <a:lnSpc>
                <a:spcPct val="112000"/>
              </a:lnSpc>
              <a:spcBef>
                <a:spcPts val="0"/>
              </a:spcBef>
              <a:spcAft>
                <a:spcPts val="0"/>
              </a:spcAft>
              <a:defRPr sz="2200" b="0">
                <a:solidFill>
                  <a:srgbClr val="333333"/>
                </a:solidFill>
                <a:latin typeface="微软雅黑"/>
              </a:defRPr>
            </a:pPr>
            <a:r>
              <a:rPr>
                <a:ea typeface="微软雅黑"/>
              </a:rPr>
              <a:t>，向A中逐滴缓慢加入</a:t>
            </a:r>
          </a:p>
        </p:txBody>
      </p:sp>
      <p:sp>
        <p:nvSpPr>
          <p:cNvPr id="7" name="文字_0.1mol/L的HCl溶液，产生的CO₂气体体"/>
          <p:cNvSpPr txBox="1"/>
          <p:nvPr/>
        </p:nvSpPr>
        <p:spPr>
          <a:xfrm>
            <a:off x="502920" y="1813814"/>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0.1mol/L的HCl溶液，产生的CO₂气体体积（标准状况）与所加HCl溶液的体积之间关系</a:t>
            </a:r>
          </a:p>
          <a:p>
            <a:pPr>
              <a:lnSpc>
                <a:spcPct val="112000"/>
              </a:lnSpc>
              <a:spcBef>
                <a:spcPts val="0"/>
              </a:spcBef>
              <a:spcAft>
                <a:spcPts val="0"/>
              </a:spcAft>
              <a:defRPr sz="2200" b="0">
                <a:solidFill>
                  <a:srgbClr val="333333"/>
                </a:solidFill>
                <a:latin typeface="微软雅黑"/>
              </a:defRPr>
            </a:pPr>
            <a:r>
              <a:rPr>
                <a:ea typeface="微软雅黑"/>
              </a:rPr>
              <a:t>如图所示，通过计算回答：</a:t>
            </a:r>
          </a:p>
        </p:txBody>
      </p:sp>
      <p:pic>
        <p:nvPicPr>
          <p:cNvPr id="8" name="Picture 7" descr="image.png"/>
          <p:cNvPicPr>
            <a:picLocks noChangeAspect="1"/>
          </p:cNvPicPr>
          <p:nvPr/>
        </p:nvPicPr>
        <p:blipFill>
          <a:blip r:embed="rId3"/>
          <a:stretch>
            <a:fillRect/>
          </a:stretch>
        </p:blipFill>
        <p:spPr>
          <a:xfrm>
            <a:off x="502920" y="2548635"/>
            <a:ext cx="11064240" cy="2166906"/>
          </a:xfrm>
          <a:prstGeom prst="rect">
            <a:avLst/>
          </a:prstGeom>
        </p:spPr>
      </p:pic>
      <p:sp>
        <p:nvSpPr>
          <p:cNvPr id="9" name="原题文字_116_14"/>
          <p:cNvSpPr txBox="1"/>
          <p:nvPr/>
        </p:nvSpPr>
        <p:spPr>
          <a:xfrm>
            <a:off x="4920959" y="2580519"/>
            <a:ext cx="101963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V(CO₂)mL</a:t>
            </a:r>
          </a:p>
        </p:txBody>
      </p:sp>
      <p:sp>
        <p:nvSpPr>
          <p:cNvPr id="10" name="原题文字_116_15"/>
          <p:cNvSpPr txBox="1"/>
          <p:nvPr/>
        </p:nvSpPr>
        <p:spPr>
          <a:xfrm>
            <a:off x="5265520" y="4134873"/>
            <a:ext cx="1861895" cy="338435"/>
          </a:xfrm>
          <a:prstGeom prst="rect">
            <a:avLst/>
          </a:prstGeom>
          <a:noFill/>
        </p:spPr>
        <p:txBody>
          <a:bodyPr wrap="none" lIns="0" rIns="0" tIns="0" bIns="0">
            <a:spAutoFit/>
          </a:bodyPr>
          <a:lstStyle/>
          <a:p>
            <a:pPr>
              <a:lnSpc>
                <a:spcPct val="112000"/>
              </a:lnSpc>
              <a:spcBef>
                <a:spcPts val="0"/>
              </a:spcBef>
              <a:spcAft>
                <a:spcPts val="0"/>
              </a:spcAft>
              <a:defRPr sz="1594" b="0">
                <a:solidFill>
                  <a:srgbClr val="333333"/>
                </a:solidFill>
                <a:latin typeface="微软雅黑"/>
              </a:defRPr>
            </a:pPr>
            <a:r>
              <a:rPr>
                <a:ea typeface="微软雅黑"/>
              </a:rPr>
              <a:t>25 50 75 V(HCI)/mL</a:t>
            </a:r>
          </a:p>
        </p:txBody>
      </p:sp>
      <p:sp>
        <p:nvSpPr>
          <p:cNvPr id="11" name="原题文字_116_16"/>
          <p:cNvSpPr txBox="1"/>
          <p:nvPr/>
        </p:nvSpPr>
        <p:spPr>
          <a:xfrm>
            <a:off x="724970" y="4418179"/>
            <a:ext cx="212988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(1)A溶液中的溶质为</a:t>
            </a:r>
          </a:p>
        </p:txBody>
      </p:sp>
      <p:sp>
        <p:nvSpPr>
          <p:cNvPr id="12" name="原题文字_116_17"/>
          <p:cNvSpPr txBox="1"/>
          <p:nvPr/>
        </p:nvSpPr>
        <p:spPr>
          <a:xfrm>
            <a:off x="3580999" y="4425835"/>
            <a:ext cx="2841980"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(化学式)，其物质的量之比是</a:t>
            </a:r>
          </a:p>
        </p:txBody>
      </p:sp>
      <p:sp>
        <p:nvSpPr>
          <p:cNvPr id="13" name="文字_(2) 通入CO₂气体体积 ______ (标准"/>
          <p:cNvSpPr txBox="1"/>
          <p:nvPr/>
        </p:nvSpPr>
        <p:spPr>
          <a:xfrm>
            <a:off x="502920" y="4788694"/>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(2) 通入CO₂气体体积 ______ (标准状况)。</a:t>
            </a:r>
          </a:p>
        </p:txBody>
      </p:sp>
      <p:sp>
        <p:nvSpPr>
          <p:cNvPr id="14" name="文字_(3）NaOH溶液的物质的量浓度 ______ "/>
          <p:cNvSpPr txBox="1"/>
          <p:nvPr/>
        </p:nvSpPr>
        <p:spPr>
          <a:xfrm>
            <a:off x="502920" y="5191030"/>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(3）NaOH溶液的物质的量浓度 ______ o</a:t>
            </a:r>
          </a:p>
        </p:txBody>
      </p:sp>
      <p:sp>
        <p:nvSpPr>
          <p:cNvPr id="15" name="文字_(4) 假如通入的CO₂气体为112mL,画出得"/>
          <p:cNvSpPr txBox="1"/>
          <p:nvPr/>
        </p:nvSpPr>
        <p:spPr>
          <a:xfrm>
            <a:off x="502920" y="5593366"/>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(4) 假如通入的CO₂气体为112mL,画出得到溶液逐滴缓慢加入0.1mol/L的HCl溶液体积，</a:t>
            </a:r>
          </a:p>
          <a:p>
            <a:pPr>
              <a:lnSpc>
                <a:spcPct val="112000"/>
              </a:lnSpc>
              <a:spcBef>
                <a:spcPts val="0"/>
              </a:spcBef>
              <a:spcAft>
                <a:spcPts val="0"/>
              </a:spcAft>
              <a:defRPr sz="2200" b="0">
                <a:solidFill>
                  <a:srgbClr val="333333"/>
                </a:solidFill>
                <a:latin typeface="微软雅黑"/>
              </a:defRPr>
            </a:pPr>
            <a:r>
              <a:rPr>
                <a:ea typeface="微软雅黑"/>
              </a:rPr>
              <a:t>与产生的CO₂气体体积(标准状况）的关系图 ______ 。(应体现关键点的数据)</a:t>
            </a:r>
          </a:p>
        </p:txBody>
      </p:sp>
      <p:sp>
        <p:nvSpPr>
          <p:cNvPr id="16" name="文字_解答题  ·  04-08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04-087</a:t>
            </a:r>
          </a:p>
        </p:txBody>
      </p:sp>
      <p:sp>
        <p:nvSpPr>
          <p:cNvPr id="17" name="文字_1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钠及其化合物</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
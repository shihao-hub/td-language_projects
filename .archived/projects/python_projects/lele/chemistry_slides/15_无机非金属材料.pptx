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P327；PDF 文件第 329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P327；PDF 文件第 329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P328；PDF 文件第 330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P329；PDF 文件第 331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P329；PDF 文件第 331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例题 1 / 单选题</a:t>
            </a:r>
          </a:p>
          <a:p>
            <a:r>
              <a:t>讲义印刷页：P330</a:t>
            </a:r>
          </a:p>
          <a:p>
            <a:r>
              <a:t>PDF 文件页：332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例题 2 / 单选题</a:t>
            </a:r>
          </a:p>
          <a:p>
            <a:r>
              <a:t>讲义印刷页：P330</a:t>
            </a:r>
          </a:p>
          <a:p>
            <a:r>
              <a:t>PDF 文件页：332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例题 3 / 单选题</a:t>
            </a:r>
          </a:p>
          <a:p>
            <a:r>
              <a:t>讲义印刷页：P331</a:t>
            </a:r>
          </a:p>
          <a:p>
            <a:r>
              <a:t>PDF 文件页：333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例题 4 / 单选题</a:t>
            </a:r>
          </a:p>
          <a:p>
            <a:r>
              <a:t>讲义印刷页：P331</a:t>
            </a:r>
          </a:p>
          <a:p>
            <a:r>
              <a:t>PDF 文件页：333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例题 5 / 单选题</a:t>
            </a:r>
          </a:p>
          <a:p>
            <a:r>
              <a:t>讲义印刷页：P331</a:t>
            </a:r>
          </a:p>
          <a:p>
            <a:r>
              <a:t>PDF 文件页：333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例题 6 / 单选题</a:t>
            </a:r>
          </a:p>
          <a:p>
            <a:r>
              <a:t>讲义印刷页：P331</a:t>
            </a:r>
          </a:p>
          <a:p>
            <a:r>
              <a:t>PDF 文件页：333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例题 7 / 单选题</a:t>
            </a:r>
          </a:p>
          <a:p>
            <a:r>
              <a:t>讲义印刷页：P332</a:t>
            </a:r>
          </a:p>
          <a:p>
            <a:r>
              <a:t>PDF 文件页：334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例题 8 / 填空题</a:t>
            </a:r>
          </a:p>
          <a:p>
            <a:r>
              <a:t>讲义印刷页：P332</a:t>
            </a:r>
          </a:p>
          <a:p>
            <a:r>
              <a:t>PDF 文件页：334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变式 1 / 单选题</a:t>
            </a:r>
          </a:p>
          <a:p>
            <a:r>
              <a:t>讲义印刷页：P332</a:t>
            </a:r>
          </a:p>
          <a:p>
            <a:r>
              <a:t>PDF 文件页：334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变式 2 / 单选题</a:t>
            </a:r>
          </a:p>
          <a:p>
            <a:r>
              <a:t>讲义印刷页：P333</a:t>
            </a:r>
          </a:p>
          <a:p>
            <a:r>
              <a:t>PDF 文件页：335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变式 3 / 单选题</a:t>
            </a:r>
          </a:p>
          <a:p>
            <a:r>
              <a:t>讲义印刷页：P333</a:t>
            </a:r>
          </a:p>
          <a:p>
            <a:r>
              <a:t>PDF 文件页：335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变式 4 / 单选题</a:t>
            </a:r>
          </a:p>
          <a:p>
            <a:r>
              <a:t>讲义印刷页：P333</a:t>
            </a:r>
          </a:p>
          <a:p>
            <a:r>
              <a:t>PDF 文件页：335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变式 5 / 单选题</a:t>
            </a:r>
          </a:p>
          <a:p>
            <a:r>
              <a:t>讲义印刷页：P333</a:t>
            </a:r>
          </a:p>
          <a:p>
            <a:r>
              <a:t>PDF 文件页：335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变式 6 / 单选题</a:t>
            </a:r>
          </a:p>
          <a:p>
            <a:r>
              <a:t>讲义印刷页：P334</a:t>
            </a:r>
          </a:p>
          <a:p>
            <a:r>
              <a:t>PDF 文件页：336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P334：∆</a:t>
            </a:r>
          </a:p>
          <a:p>
            <a:r>
              <a:t>P334：∆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原题定位：知识点2无机非金属材料 / 变式 7 / 解答题</a:t>
            </a:r>
          </a:p>
          <a:p>
            <a:r>
              <a:t>讲义印刷页：P334</a:t>
            </a:r>
          </a:p>
          <a:p>
            <a:r>
              <a:t>PDF 文件页：336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P334：SiCl₄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无机非金属材料"/>
          <p:cNvSpPr txBox="1"/>
          <p:nvPr/>
        </p:nvSpPr>
        <p:spPr>
          <a:xfrm>
            <a:off x="713232" y="2103120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</a:t>
            </a:r>
          </a:p>
        </p:txBody>
      </p:sp>
      <p:sp>
        <p:nvSpPr>
          <p:cNvPr id="4" name="文字_第 15 章  ·  高一化学"/>
          <p:cNvSpPr txBox="1"/>
          <p:nvPr/>
        </p:nvSpPr>
        <p:spPr>
          <a:xfrm>
            <a:off x="777240" y="15179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第 15 章  ·  高一化学</a:t>
            </a:r>
          </a:p>
        </p:txBody>
      </p:sp>
      <p:sp>
        <p:nvSpPr>
          <p:cNvPr id="5" name="文字_知识讲解  ·  例题与变式  ·  综合练习"/>
          <p:cNvSpPr txBox="1"/>
          <p:nvPr/>
        </p:nvSpPr>
        <p:spPr>
          <a:xfrm>
            <a:off x="777240" y="3474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知识讲解  ·  例题与变式  ·  综合练习</a:t>
            </a:r>
          </a:p>
        </p:txBody>
      </p:sp>
      <p:sp>
        <p:nvSpPr>
          <p:cNvPr id="6" name="文字_讲义 P327–334"/>
          <p:cNvSpPr txBox="1"/>
          <p:nvPr/>
        </p:nvSpPr>
        <p:spPr>
          <a:xfrm>
            <a:off x="804672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讲义 P327–334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1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01</a:t>
            </a:r>
          </a:p>
        </p:txBody>
      </p:sp>
      <p:sp>
        <p:nvSpPr>
          <p:cNvPr id="4" name="文字_硅单质的性质与制备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硅单质的性质与制备</a:t>
            </a:r>
          </a:p>
        </p:txBody>
      </p:sp>
      <p:sp>
        <p:nvSpPr>
          <p:cNvPr id="5" name="文字_知识梳理 · 讲义 P327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P327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硅单质的性质与制备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硅单质的性质与制备</a:t>
            </a:r>
          </a:p>
        </p:txBody>
      </p:sp>
      <p:sp>
        <p:nvSpPr>
          <p:cNvPr id="5" name="文字_知识讲解 · P32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P327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晶体硅：灰黑色、有金属光泽、硬而脆；结构类似金刚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晶体硅：灰黑色、有金属光泽、硬而脆；结构类似金刚石；良好的半导体材料。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常温下性质不活泼，只与 F₂、HF、强碱反应：S"/>
          <p:cNvSpPr txBox="1"/>
          <p:nvPr/>
        </p:nvSpPr>
        <p:spPr>
          <a:xfrm>
            <a:off x="722376" y="2356104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常温下性质不活泼，只与 F₂、HF、强碱反应：Si + 2NaOH + H₂O =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Na₂SiO₃ + 2H₂↑。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Si + O₂ —高温→ SiO₂（加热条件下燃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Si + O₂ —高温→ SiO₂（加热条件下燃烧）。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工业制粗硅：SiO₂ + 2C —高温→ Si "/>
          <p:cNvSpPr txBox="1"/>
          <p:nvPr/>
        </p:nvSpPr>
        <p:spPr>
          <a:xfrm>
            <a:off x="722376" y="389229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工业制粗硅：SiO₂ + 2C —高温→ Si + 2CO↑（碳过量，产物为 CO 不是 CO₂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92861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制纯硅：Si + 2Cl₂ —加热→ SiCl₄"/>
          <p:cNvSpPr txBox="1"/>
          <p:nvPr/>
        </p:nvSpPr>
        <p:spPr>
          <a:xfrm>
            <a:off x="722376" y="484632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制纯硅：Si + 2Cl₂ —加热→ SiCl₄，SiCl₄ + 2H₂ —高温→ Si + 4HCl。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551078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自然界中硅全部以化合态（二氧化硅、硅酸盐）存在，"/>
          <p:cNvSpPr txBox="1"/>
          <p:nvPr/>
        </p:nvSpPr>
        <p:spPr>
          <a:xfrm>
            <a:off x="722376" y="542848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自然界中硅全部以化合态（二氧化硅、硅酸盐）存在，含量仅次于氧。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574243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字_提示  硅是半导体，用于芯片、太阳能电池；粗硅提"/>
          <p:cNvSpPr txBox="1"/>
          <p:nvPr/>
        </p:nvSpPr>
        <p:spPr>
          <a:xfrm>
            <a:off x="630936" y="580186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硅是半导体，用于芯片、太阳能电池；粗硅提纯用"氯化—还原"两步。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二氧化硅的性质与用途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二氧化硅的性质与用途</a:t>
            </a:r>
          </a:p>
        </p:txBody>
      </p:sp>
      <p:sp>
        <p:nvSpPr>
          <p:cNvPr id="5" name="文字_知识讲解 · P327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P327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SiO₂ 是原子晶体（共价晶体），坚硬难熔，熔沸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SiO₂ 是原子晶体（共价晶体），坚硬难熔，熔沸点高；不溶于水。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酸性氧化物但不与水反应：SiO₂ + 2NaOH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酸性氧化物但不与水反应：SiO₂ + 2NaOH = Na₂SiO₃ + H₂O。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盛 NaOH 等碱液不能用玻璃塞：生成的 Na₂"/>
          <p:cNvSpPr txBox="1"/>
          <p:nvPr/>
        </p:nvSpPr>
        <p:spPr>
          <a:xfrm>
            <a:off x="722376" y="2938272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盛 NaOH 等碱液不能用玻璃塞：生成的 Na₂SiO₃ 有黏性，会粘住瓶塞（用橡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胶塞）。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与 HF：SiO₂ + 4HF = SiF₄↑ 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与 HF：SiO₂ + 4HF = SiF₄↑ + 2H₂O（蚀刻玻璃）。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弱氧化性：SiO₂ + 2C —高温→ Si +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弱氧化性：SiO₂ + 2C —高温→ Si + 2CO↑。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513892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用途：光导纤维、石英玻璃、光学仪器、电子元件、玛"/>
          <p:cNvSpPr txBox="1"/>
          <p:nvPr/>
        </p:nvSpPr>
        <p:spPr>
          <a:xfrm>
            <a:off x="722376" y="505663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用途：光导纤维、石英玻璃、光学仪器、电子元件、玛瑙饰品。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5684520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字_提示  HF 是唯一能与 SiO₂ 反应的常见酸"/>
          <p:cNvSpPr txBox="1"/>
          <p:nvPr/>
        </p:nvSpPr>
        <p:spPr>
          <a:xfrm>
            <a:off x="630936" y="5743956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HF 是唯一能与 SiO₂ 反应的常见酸；SiO₂ 不属于"能溶于水的酸性氧化物"。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2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02</a:t>
            </a:r>
          </a:p>
        </p:txBody>
      </p:sp>
      <p:sp>
        <p:nvSpPr>
          <p:cNvPr id="4" name="文字_硅酸与硅酸盐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硅酸与硅酸盐</a:t>
            </a:r>
          </a:p>
        </p:txBody>
      </p:sp>
      <p:sp>
        <p:nvSpPr>
          <p:cNvPr id="5" name="文字_知识梳理 · 讲义 P328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P328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硅酸与硅酸盐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硅酸与硅酸盐</a:t>
            </a:r>
          </a:p>
        </p:txBody>
      </p:sp>
      <p:sp>
        <p:nvSpPr>
          <p:cNvPr id="5" name="文字_知识讲解 · P328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P328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硅酸（H₂SiO₃）难溶于水，酸性比碳酸弱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硅酸（H₂SiO₃）难溶于水，酸性比碳酸弱。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CO₂ 通入 Na₂SiO₃ 溶液析出白色沉淀："/>
          <p:cNvSpPr txBox="1"/>
          <p:nvPr/>
        </p:nvSpPr>
        <p:spPr>
          <a:xfrm>
            <a:off x="722376" y="2356104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CO₂ 通入 Na₂SiO₃ 溶液析出白色沉淀：Na₂SiO₃ + CO₂ + H₂O =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H₂SiO₃↓ + Na₂CO₃。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可溶性硅酸盐 + 盐酸制硅酸：Na₂SiO₃ +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可溶性硅酸盐 + 盐酸制硅酸：Na₂SiO₃ + 2HCl = H₂SiO₃↓ + 2NaCl。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Na₂SiO₃ 水溶液俗称水玻璃（泡花碱），用作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Na₂SiO₃ 水溶液俗称水玻璃（泡花碱），用作黏合剂、防火剂、防腐剂。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硅酸盐是构成地壳岩石的主要成分，常用氧化物的形式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硅酸盐是构成地壳岩石的主要成分，常用氧化物的形式表示其组成。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提示  酸性比较实验：向硅酸钠溶液中通 CO₂ 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酸性比较实验：向硅酸钠溶液中通 CO₂ 出现沉淀，证明碳酸酸性强于硅酸。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3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03</a:t>
            </a:r>
          </a:p>
        </p:txBody>
      </p:sp>
      <p:sp>
        <p:nvSpPr>
          <p:cNvPr id="4" name="文字_传统硅酸盐材料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传统硅酸盐材料</a:t>
            </a:r>
          </a:p>
        </p:txBody>
      </p:sp>
      <p:sp>
        <p:nvSpPr>
          <p:cNvPr id="5" name="文字_知识梳理 · 讲义 P329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P329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传统硅酸盐材料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传统硅酸盐材料</a:t>
            </a:r>
          </a:p>
        </p:txBody>
      </p:sp>
      <p:sp>
        <p:nvSpPr>
          <p:cNvPr id="5" name="文字_知识讲解 · P329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P329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3263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产品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主要原料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主要成分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要点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1146047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玻璃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纯碱、石灰石、石英砂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Na₂SiO₃、CaSiO₃、SiO₂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普通玻璃；铅玻璃制光学仪器；蓝色钴玻璃、红色玻璃为有色玻璃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水泥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石灰石、黏土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硅酸二钙、硅酸三钙、铝酸三钙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加石膏调节凝结时间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58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陶瓷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黏土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硅酸盐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人类应用最早的硅酸盐材料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5174488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玻璃不是晶体（玻璃态物质），没有固定熔点"/>
          <p:cNvSpPr txBox="1"/>
          <p:nvPr/>
        </p:nvSpPr>
        <p:spPr>
          <a:xfrm>
            <a:off x="630936" y="5233924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玻璃不是晶体（玻璃态物质），没有固定熔点。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新型陶瓷与碳纳米材料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新型陶瓷与碳纳米材料</a:t>
            </a:r>
          </a:p>
        </p:txBody>
      </p:sp>
      <p:sp>
        <p:nvSpPr>
          <p:cNvPr id="5" name="文字_知识讲解 · P329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P329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高温结构陶瓷（如氮化硅 Si₃N₄）：熔点高、硬"/>
          <p:cNvSpPr txBox="1"/>
          <p:nvPr/>
        </p:nvSpPr>
        <p:spPr>
          <a:xfrm>
            <a:off x="722376" y="1773936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高温结构陶瓷（如氮化硅 Si₃N₄）：熔点高、硬度大、抗侵蚀、绝缘，用于发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动机、高温材料。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81025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生物陶瓷：对机体无排异，用于人造骨骼、牙齿。"/>
          <p:cNvSpPr txBox="1"/>
          <p:nvPr/>
        </p:nvSpPr>
        <p:spPr>
          <a:xfrm>
            <a:off x="722376" y="272796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生物陶瓷：对机体无排异，用于人造骨骼、牙齿。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压电陶瓷：机械能与电能相互转化，用于扬声器、超声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压电陶瓷：机械能与电能相互转化，用于扬声器、超声波探伤。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透明陶瓷、超导陶瓷：光学性能优异、临界温度下电阻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透明陶瓷、超导陶瓷：光学性能优异、临界温度下电阻为零。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55676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碳化硅 SiC（金刚砂）：结构与金刚石类似，硬度"/>
          <p:cNvSpPr txBox="1"/>
          <p:nvPr/>
        </p:nvSpPr>
        <p:spPr>
          <a:xfrm>
            <a:off x="722376" y="447446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碳化硅 SiC（金刚砂）：结构与金刚石类似，硬度大，作磨料、耐高温材料。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513892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文字_碳纳米材料：富勒烯（C₆₀）、碳纳米管、石墨烯，"/>
          <p:cNvSpPr txBox="1"/>
          <p:nvPr/>
        </p:nvSpPr>
        <p:spPr>
          <a:xfrm>
            <a:off x="722376" y="505663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碳纳米材料：富勒烯（C₆₀）、碳纳米管、石墨烯，均为碳的同素异形体。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5684520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文字_提示  C₆₀、碳纳米管、石墨烯与金刚石、石墨互"/>
          <p:cNvSpPr txBox="1"/>
          <p:nvPr/>
        </p:nvSpPr>
        <p:spPr>
          <a:xfrm>
            <a:off x="630936" y="5743956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C₆₀、碳纳米管、石墨烯与金刚石、石墨互为同素异形体。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例题1</a:t>
            </a:r>
          </a:p>
        </p:txBody>
      </p:sp>
      <p:sp>
        <p:nvSpPr>
          <p:cNvPr id="5" name="文字_P33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P330</a:t>
            </a:r>
          </a:p>
        </p:txBody>
      </p:sp>
      <p:sp>
        <p:nvSpPr>
          <p:cNvPr id="6" name="文字_下列叙述错误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下列叙述错误是（）</a:t>
            </a:r>
          </a:p>
        </p:txBody>
      </p:sp>
      <p:sp>
        <p:nvSpPr>
          <p:cNvPr id="7" name="文字_A. 硅在自然界中主要以单质形式存在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硅在自然界中主要以单质形式存在</a:t>
            </a:r>
          </a:p>
        </p:txBody>
      </p:sp>
      <p:sp>
        <p:nvSpPr>
          <p:cNvPr id="8" name="文字_B. 二氧化硅可用来生产光导纤维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二氧化硅可用来生产光导纤维</a:t>
            </a:r>
          </a:p>
        </p:txBody>
      </p:sp>
      <p:sp>
        <p:nvSpPr>
          <p:cNvPr id="9" name="文字_C. 高纯度的硅可用于制造计算机芯片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高纯度的硅可用于制造计算机芯片</a:t>
            </a:r>
          </a:p>
        </p:txBody>
      </p:sp>
      <p:sp>
        <p:nvSpPr>
          <p:cNvPr id="10" name="文字_D. 硅是非金属元素，但它的单质是有金属光泽的灰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硅是非金属元素，但它的单质是有金属光泽的灰黑色固体</a:t>
            </a:r>
          </a:p>
        </p:txBody>
      </p:sp>
      <p:sp>
        <p:nvSpPr>
          <p:cNvPr id="11" name="文字_单选题  ·  15-00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15-001</a:t>
            </a:r>
          </a:p>
        </p:txBody>
      </p:sp>
      <p:sp>
        <p:nvSpPr>
          <p:cNvPr id="12" name="文字_1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例题2</a:t>
            </a:r>
          </a:p>
        </p:txBody>
      </p:sp>
      <p:sp>
        <p:nvSpPr>
          <p:cNvPr id="5" name="文字_P33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P330</a:t>
            </a:r>
          </a:p>
        </p:txBody>
      </p:sp>
      <p:sp>
        <p:nvSpPr>
          <p:cNvPr id="6" name="文字_下列叙述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下列叙述正确的是</a:t>
            </a:r>
          </a:p>
        </p:txBody>
      </p:sp>
      <p:sp>
        <p:nvSpPr>
          <p:cNvPr id="7" name="文字_A. SiO₂既能和NaOH溶液反应，又能和氢氟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SiO₂既能和NaOH溶液反应，又能和氢氟酸反应，所以SiO₂属于两性氧化物</a:t>
            </a:r>
          </a:p>
        </p:txBody>
      </p:sp>
      <p:sp>
        <p:nvSpPr>
          <p:cNvPr id="8" name="文字_B. CO₂和SiO₂都能与碳反应，且都作氧化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CO₂和SiO₂都能与碳反应，且都作氧化剂</a:t>
            </a:r>
          </a:p>
        </p:txBody>
      </p:sp>
      <p:sp>
        <p:nvSpPr>
          <p:cNvPr id="9" name="文字_C. 因为Na₂CO₃ + SiO₂高温Na₂S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因为Na₂CO₃ + SiO₂高温Na₂SiO₃ + CO₂ ↑，所以硅酸的酸性比碳酸强</a:t>
            </a:r>
          </a:p>
        </p:txBody>
      </p:sp>
      <p:sp>
        <p:nvSpPr>
          <p:cNvPr id="10" name="文字_D. 硅既不易失去电子又不易得到电子，所以既不能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硅既不易失去电子又不易得到电子，所以既不能作氧化剂，又不能作还原剂</a:t>
            </a:r>
          </a:p>
        </p:txBody>
      </p:sp>
      <p:sp>
        <p:nvSpPr>
          <p:cNvPr id="11" name="文字_单选题  ·  15-00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15-002</a:t>
            </a:r>
          </a:p>
        </p:txBody>
      </p:sp>
      <p:sp>
        <p:nvSpPr>
          <p:cNvPr id="12" name="文字_1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例题3</a:t>
            </a:r>
          </a:p>
        </p:txBody>
      </p:sp>
      <p:sp>
        <p:nvSpPr>
          <p:cNvPr id="5" name="文字_P33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P331</a:t>
            </a:r>
          </a:p>
        </p:txBody>
      </p:sp>
      <p:sp>
        <p:nvSpPr>
          <p:cNvPr id="6" name="文字_信息技术离不开芯片，现代芯片离不开高纯度的硅，工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信息技术离不开芯片，现代芯片离不开高纯度的硅，工业上生产高纯硅的工艺流程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如下：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1117909"/>
          </a:xfrm>
          <a:prstGeom prst="rect">
            <a:avLst/>
          </a:prstGeom>
        </p:spPr>
      </p:pic>
      <p:sp>
        <p:nvSpPr>
          <p:cNvPr id="8" name="原题文字_331_4"/>
          <p:cNvSpPr txBox="1"/>
          <p:nvPr/>
        </p:nvSpPr>
        <p:spPr>
          <a:xfrm>
            <a:off x="786225" y="1912499"/>
            <a:ext cx="483651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焦炭</a:t>
            </a:r>
          </a:p>
        </p:txBody>
      </p:sp>
      <p:sp>
        <p:nvSpPr>
          <p:cNvPr id="9" name="原题文字_331_5"/>
          <p:cNvSpPr txBox="1"/>
          <p:nvPr/>
        </p:nvSpPr>
        <p:spPr>
          <a:xfrm>
            <a:off x="2202754" y="1927813"/>
            <a:ext cx="437709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HCl</a:t>
            </a:r>
          </a:p>
        </p:txBody>
      </p:sp>
      <p:sp>
        <p:nvSpPr>
          <p:cNvPr id="10" name="原题文字_331_6"/>
          <p:cNvSpPr txBox="1"/>
          <p:nvPr/>
        </p:nvSpPr>
        <p:spPr>
          <a:xfrm>
            <a:off x="3741794" y="1943127"/>
            <a:ext cx="315199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</a:t>
            </a:r>
          </a:p>
        </p:txBody>
      </p:sp>
      <p:sp>
        <p:nvSpPr>
          <p:cNvPr id="11" name="原题文字_331_7"/>
          <p:cNvSpPr txBox="1"/>
          <p:nvPr/>
        </p:nvSpPr>
        <p:spPr>
          <a:xfrm>
            <a:off x="1337523" y="2402542"/>
            <a:ext cx="851183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高温还原</a:t>
            </a:r>
          </a:p>
        </p:txBody>
      </p:sp>
      <p:sp>
        <p:nvSpPr>
          <p:cNvPr id="12" name="原题文字_331_8"/>
          <p:cNvSpPr txBox="1"/>
          <p:nvPr/>
        </p:nvSpPr>
        <p:spPr>
          <a:xfrm>
            <a:off x="2639198" y="2417856"/>
            <a:ext cx="943065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300℃置换</a:t>
            </a:r>
          </a:p>
        </p:txBody>
      </p:sp>
      <p:sp>
        <p:nvSpPr>
          <p:cNvPr id="13" name="原题文字_331_9"/>
          <p:cNvSpPr txBox="1"/>
          <p:nvPr/>
        </p:nvSpPr>
        <p:spPr>
          <a:xfrm>
            <a:off x="4201209" y="2402542"/>
            <a:ext cx="1019635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1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1100℃置换</a:t>
            </a:r>
          </a:p>
        </p:txBody>
      </p:sp>
      <p:sp>
        <p:nvSpPr>
          <p:cNvPr id="14" name="原题文字_331_10"/>
          <p:cNvSpPr txBox="1"/>
          <p:nvPr/>
        </p:nvSpPr>
        <p:spPr>
          <a:xfrm>
            <a:off x="686685" y="2570994"/>
            <a:ext cx="682730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石英砂</a:t>
            </a:r>
          </a:p>
        </p:txBody>
      </p:sp>
      <p:sp>
        <p:nvSpPr>
          <p:cNvPr id="15" name="原题文字_331_11"/>
          <p:cNvSpPr txBox="1"/>
          <p:nvPr/>
        </p:nvSpPr>
        <p:spPr>
          <a:xfrm>
            <a:off x="2156813" y="2563337"/>
            <a:ext cx="514278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粗硅</a:t>
            </a:r>
          </a:p>
        </p:txBody>
      </p:sp>
      <p:sp>
        <p:nvSpPr>
          <p:cNvPr id="16" name="原题文字_331_12"/>
          <p:cNvSpPr txBox="1"/>
          <p:nvPr/>
        </p:nvSpPr>
        <p:spPr>
          <a:xfrm>
            <a:off x="3565685" y="2555680"/>
            <a:ext cx="667417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2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SiHCl₃</a:t>
            </a:r>
          </a:p>
        </p:txBody>
      </p:sp>
      <p:sp>
        <p:nvSpPr>
          <p:cNvPr id="17" name="原题文字_331_13"/>
          <p:cNvSpPr txBox="1"/>
          <p:nvPr/>
        </p:nvSpPr>
        <p:spPr>
          <a:xfrm>
            <a:off x="5173637" y="2555680"/>
            <a:ext cx="698044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高纯硅</a:t>
            </a:r>
          </a:p>
        </p:txBody>
      </p:sp>
      <p:sp>
        <p:nvSpPr>
          <p:cNvPr id="18" name="原题文字_331_14"/>
          <p:cNvSpPr txBox="1"/>
          <p:nvPr/>
        </p:nvSpPr>
        <p:spPr>
          <a:xfrm>
            <a:off x="1620829" y="2716475"/>
            <a:ext cx="284571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</a:t>
            </a:r>
          </a:p>
        </p:txBody>
      </p:sp>
      <p:sp>
        <p:nvSpPr>
          <p:cNvPr id="19" name="原题文字_331_15"/>
          <p:cNvSpPr txBox="1"/>
          <p:nvPr/>
        </p:nvSpPr>
        <p:spPr>
          <a:xfrm>
            <a:off x="2976103" y="2724132"/>
            <a:ext cx="284571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</a:t>
            </a:r>
          </a:p>
        </p:txBody>
      </p:sp>
      <p:sp>
        <p:nvSpPr>
          <p:cNvPr id="20" name="原题文字_331_16"/>
          <p:cNvSpPr txBox="1"/>
          <p:nvPr/>
        </p:nvSpPr>
        <p:spPr>
          <a:xfrm>
            <a:off x="4576397" y="2724132"/>
            <a:ext cx="276914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</a:t>
            </a:r>
          </a:p>
        </p:txBody>
      </p:sp>
      <p:sp>
        <p:nvSpPr>
          <p:cNvPr id="21" name="文字_则下列说法正确的是"/>
          <p:cNvSpPr txBox="1"/>
          <p:nvPr/>
        </p:nvSpPr>
        <p:spPr>
          <a:xfrm>
            <a:off x="502920" y="3071677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则下列说法正确的是</a:t>
            </a:r>
          </a:p>
        </p:txBody>
      </p:sp>
      <p:sp>
        <p:nvSpPr>
          <p:cNvPr id="22" name="文字_A. 工业上用焦炭还原石英砂制硅的反应为：SiO"/>
          <p:cNvSpPr txBox="1"/>
          <p:nvPr/>
        </p:nvSpPr>
        <p:spPr>
          <a:xfrm>
            <a:off x="502920" y="3510589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工业上用焦炭还原石英砂制硅的反应为：SiO₂ + C高温Si + CO₂ ↑</a:t>
            </a:r>
          </a:p>
        </p:txBody>
      </p:sp>
      <p:sp>
        <p:nvSpPr>
          <p:cNvPr id="23" name="文字_B. 高纯硅可以用于制备光导纤维"/>
          <p:cNvSpPr txBox="1"/>
          <p:nvPr/>
        </p:nvSpPr>
        <p:spPr>
          <a:xfrm>
            <a:off x="502920" y="394950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高纯硅可以用于制备光导纤维</a:t>
            </a:r>
          </a:p>
        </p:txBody>
      </p:sp>
      <p:sp>
        <p:nvSpPr>
          <p:cNvPr id="24" name="文字_C. 上述流程②、③反应属于可逆反应"/>
          <p:cNvSpPr txBox="1"/>
          <p:nvPr/>
        </p:nvSpPr>
        <p:spPr>
          <a:xfrm>
            <a:off x="502920" y="438841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上述流程②、③反应属于可逆反应</a:t>
            </a:r>
          </a:p>
        </p:txBody>
      </p:sp>
      <p:sp>
        <p:nvSpPr>
          <p:cNvPr id="25" name="文字_D. 上述流程中能循环利用的物质有HCl和H₂"/>
          <p:cNvSpPr txBox="1"/>
          <p:nvPr/>
        </p:nvSpPr>
        <p:spPr>
          <a:xfrm>
            <a:off x="502920" y="4827325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上述流程中能循环利用的物质有HCl和H₂</a:t>
            </a:r>
          </a:p>
        </p:txBody>
      </p:sp>
      <p:sp>
        <p:nvSpPr>
          <p:cNvPr id="26" name="文字_单选题  ·  15-00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15-003</a:t>
            </a:r>
          </a:p>
        </p:txBody>
      </p:sp>
      <p:sp>
        <p:nvSpPr>
          <p:cNvPr id="27" name="文字_1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例题4</a:t>
            </a:r>
          </a:p>
        </p:txBody>
      </p:sp>
      <p:sp>
        <p:nvSpPr>
          <p:cNvPr id="5" name="文字_P33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P331</a:t>
            </a:r>
          </a:p>
        </p:txBody>
      </p:sp>
      <p:sp>
        <p:nvSpPr>
          <p:cNvPr id="6" name="文字_下列关于水玻璃的性质和用途的叙述中正确的是(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下列关于水玻璃的性质和用途的叙述中正确的是(</a:t>
            </a:r>
          </a:p>
        </p:txBody>
      </p:sp>
      <p:sp>
        <p:nvSpPr>
          <p:cNvPr id="7" name="文字_A. 它是一种纯净物，既不燃烧也不易腐蚀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它是一种纯净物，既不燃烧也不易腐蚀</a:t>
            </a:r>
          </a:p>
        </p:txBody>
      </p:sp>
      <p:sp>
        <p:nvSpPr>
          <p:cNvPr id="8" name="文字_B. 水玻璃是生产玻璃的主要原料之一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水玻璃是生产玻璃的主要原料之一</a:t>
            </a:r>
          </a:p>
        </p:txBody>
      </p:sp>
      <p:sp>
        <p:nvSpPr>
          <p:cNvPr id="9" name="文字_C. 木材、织物浸过水玻璃后具有防腐性能且不易燃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木材、织物浸过水玻璃后具有防腐性能且不易燃烧</a:t>
            </a:r>
          </a:p>
        </p:txBody>
      </p:sp>
      <p:sp>
        <p:nvSpPr>
          <p:cNvPr id="10" name="文字_D. 水玻璃的化学性质稳定，在空气中不易变质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水玻璃的化学性质稳定，在空气中不易变质</a:t>
            </a:r>
          </a:p>
        </p:txBody>
      </p:sp>
      <p:sp>
        <p:nvSpPr>
          <p:cNvPr id="11" name="文字_单选题  ·  15-00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15-004</a:t>
            </a:r>
          </a:p>
        </p:txBody>
      </p:sp>
      <p:sp>
        <p:nvSpPr>
          <p:cNvPr id="12" name="文字_1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例题5</a:t>
            </a:r>
          </a:p>
        </p:txBody>
      </p:sp>
      <p:sp>
        <p:nvSpPr>
          <p:cNvPr id="5" name="文字_P33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P331</a:t>
            </a:r>
          </a:p>
        </p:txBody>
      </p:sp>
      <p:sp>
        <p:nvSpPr>
          <p:cNvPr id="6" name="文字_下列说法不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下列说法不正确的是（）</a:t>
            </a:r>
          </a:p>
        </p:txBody>
      </p:sp>
      <p:sp>
        <p:nvSpPr>
          <p:cNvPr id="7" name="文字_A. 石灰石、纯碱、石英可作为制备水泥的主要原料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石灰石、纯碱、石英可作为制备水泥的主要原料</a:t>
            </a:r>
          </a:p>
        </p:txBody>
      </p:sp>
      <p:sp>
        <p:nvSpPr>
          <p:cNvPr id="8" name="文字_B. 制取水泥和玻璃的共同特点反应都在高温下进行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制取水泥和玻璃的共同特点反应都在高温下进行</a:t>
            </a:r>
          </a:p>
        </p:txBody>
      </p:sp>
      <p:sp>
        <p:nvSpPr>
          <p:cNvPr id="9" name="文字_C. 不能用陶瓷坩埚熔融NaOH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不能用陶瓷坩埚熔融NaOH</a:t>
            </a:r>
          </a:p>
        </p:txBody>
      </p:sp>
      <p:sp>
        <p:nvSpPr>
          <p:cNvPr id="10" name="文字_D. 陶瓷具有耐腐蚀的特点，所以可以用来盛装所有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陶瓷具有耐腐蚀的特点，所以可以用来盛装所有的溶液</a:t>
            </a:r>
          </a:p>
        </p:txBody>
      </p:sp>
      <p:sp>
        <p:nvSpPr>
          <p:cNvPr id="11" name="文字_单选题  ·  15-00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15-005</a:t>
            </a:r>
          </a:p>
        </p:txBody>
      </p:sp>
      <p:sp>
        <p:nvSpPr>
          <p:cNvPr id="12" name="文字_1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例题6</a:t>
            </a:r>
          </a:p>
        </p:txBody>
      </p:sp>
      <p:sp>
        <p:nvSpPr>
          <p:cNvPr id="5" name="文字_P33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P331</a:t>
            </a:r>
          </a:p>
        </p:txBody>
      </p:sp>
      <p:sp>
        <p:nvSpPr>
          <p:cNvPr id="6" name="文字_化学与社会、生活息息相关，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化学与社会、生活息息相关，下列说法正确的是</a:t>
            </a:r>
          </a:p>
        </p:txBody>
      </p:sp>
      <p:sp>
        <p:nvSpPr>
          <p:cNvPr id="7" name="文字_A. 为防止形成酸雨，工业上常用石膏与含硫的煤混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为防止形成酸雨，工业上常用石膏与含硫的煤混合燃烧</a:t>
            </a:r>
          </a:p>
        </p:txBody>
      </p:sp>
      <p:sp>
        <p:nvSpPr>
          <p:cNvPr id="8" name="文字_B. 如果发生氯气泄漏，附近人员应迅速远离泄漏点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如果发生氯气泄漏，附近人员应迅速远离泄漏点，并顺风往低洼处跑</a:t>
            </a:r>
          </a:p>
        </p:txBody>
      </p:sp>
      <p:sp>
        <p:nvSpPr>
          <p:cNvPr id="9" name="文字_C. 碳化硅、氧化铝陶瓷为新型无机非金属材料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碳化硅、氧化铝陶瓷为新型无机非金属材料</a:t>
            </a:r>
          </a:p>
        </p:txBody>
      </p:sp>
      <p:sp>
        <p:nvSpPr>
          <p:cNvPr id="10" name="文字_D. 节日燃放的五彩缤纷的烟花，所呈现的是各种金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节日燃放的五彩缤纷的烟花，所呈现的是各种金属单质的焰色</a:t>
            </a:r>
          </a:p>
        </p:txBody>
      </p:sp>
      <p:sp>
        <p:nvSpPr>
          <p:cNvPr id="11" name="文字_单选题  ·  15-00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15-006</a:t>
            </a:r>
          </a:p>
        </p:txBody>
      </p:sp>
      <p:sp>
        <p:nvSpPr>
          <p:cNvPr id="12" name="文字_1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例题7</a:t>
            </a:r>
          </a:p>
        </p:txBody>
      </p:sp>
      <p:sp>
        <p:nvSpPr>
          <p:cNvPr id="5" name="文字_P33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P332</a:t>
            </a:r>
          </a:p>
        </p:txBody>
      </p:sp>
      <p:sp>
        <p:nvSpPr>
          <p:cNvPr id="6" name="文字_硅是组成无机非金属材料的一种主要元素，下列有关硅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硅是组成无机非金属材料的一种主要元素，下列有关硅的化合物的叙述错误的是</a:t>
            </a:r>
          </a:p>
        </p:txBody>
      </p:sp>
      <p:sp>
        <p:nvSpPr>
          <p:cNvPr id="7" name="文字_A. 氮化硅陶瓷是一种新型无机非金属材料，氮化硅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氮化硅陶瓷是一种新型无机非金属材料，氮化硅的化学式为Si₃N₄</a:t>
            </a:r>
          </a:p>
        </p:txBody>
      </p:sp>
      <p:sp>
        <p:nvSpPr>
          <p:cNvPr id="8" name="文字_B. 碳化硅(SiC)的硬度大，熔点高，可用于制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碳化硅(SiC)的硬度大，熔点高，可用于制作高温结构陶瓷和轴承</a:t>
            </a:r>
          </a:p>
        </p:txBody>
      </p:sp>
      <p:sp>
        <p:nvSpPr>
          <p:cNvPr id="9" name="文字_C. 光导纤维是一种新型无机非金属材料，其主要成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光导纤维是一种新型无机非金属材料，其主要成分为Si</a:t>
            </a:r>
          </a:p>
        </p:txBody>
      </p:sp>
      <p:sp>
        <p:nvSpPr>
          <p:cNvPr id="10" name="文字_D. 氮化硅、氧化铝、碳化硅和二氧化锆都可作为制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氮化硅、氧化铝、碳化硅和二氧化锆都可作为制高温结构陶瓷的材料</a:t>
            </a:r>
          </a:p>
        </p:txBody>
      </p:sp>
      <p:sp>
        <p:nvSpPr>
          <p:cNvPr id="11" name="文字_单选题  ·  15-00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15-007</a:t>
            </a:r>
          </a:p>
        </p:txBody>
      </p:sp>
      <p:sp>
        <p:nvSpPr>
          <p:cNvPr id="12" name="文字_1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例题8</a:t>
            </a:r>
          </a:p>
        </p:txBody>
      </p:sp>
      <p:sp>
        <p:nvSpPr>
          <p:cNvPr id="5" name="文字_P33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P332</a:t>
            </a:r>
          </a:p>
        </p:txBody>
      </p:sp>
      <p:sp>
        <p:nvSpPr>
          <p:cNvPr id="6" name="文字_Si是现代社会半导体工业发展的基石。回答下列问题"/>
          <p:cNvSpPr txBox="1"/>
          <p:nvPr/>
        </p:nvSpPr>
        <p:spPr>
          <a:xfrm>
            <a:off x="502920" y="10789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Si是现代社会半导体工业发展的基石。回答下列问题：</a:t>
            </a:r>
          </a:p>
        </p:txBody>
      </p:sp>
      <p:sp>
        <p:nvSpPr>
          <p:cNvPr id="7" name="文字_(1) 硅元素在自然界中的存在形式有 _____"/>
          <p:cNvSpPr txBox="1"/>
          <p:nvPr/>
        </p:nvSpPr>
        <p:spPr>
          <a:xfrm>
            <a:off x="502920" y="1389888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硅元素在自然界中的存在形式有 ______ (填字母)。</a:t>
            </a:r>
          </a:p>
        </p:txBody>
      </p:sp>
      <p:sp>
        <p:nvSpPr>
          <p:cNvPr id="8" name="文字_A. 游离态"/>
          <p:cNvSpPr txBox="1"/>
          <p:nvPr/>
        </p:nvSpPr>
        <p:spPr>
          <a:xfrm>
            <a:off x="502920" y="1700784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游离态</a:t>
            </a:r>
          </a:p>
        </p:txBody>
      </p:sp>
      <p:sp>
        <p:nvSpPr>
          <p:cNvPr id="9" name="文字_B. 化合态"/>
          <p:cNvSpPr txBox="1"/>
          <p:nvPr/>
        </p:nvSpPr>
        <p:spPr>
          <a:xfrm>
            <a:off x="502920" y="2011680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化合态</a:t>
            </a:r>
          </a:p>
        </p:txBody>
      </p:sp>
      <p:sp>
        <p:nvSpPr>
          <p:cNvPr id="10" name="文字_C. 游离态和化合态都有"/>
          <p:cNvSpPr txBox="1"/>
          <p:nvPr/>
        </p:nvSpPr>
        <p:spPr>
          <a:xfrm>
            <a:off x="502920" y="2322576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游离态和化合态都有</a:t>
            </a:r>
          </a:p>
        </p:txBody>
      </p:sp>
      <p:sp>
        <p:nvSpPr>
          <p:cNvPr id="11" name="文字_(2) Na₂SiO₃可通过SiO₂与纯碱混合高"/>
          <p:cNvSpPr txBox="1"/>
          <p:nvPr/>
        </p:nvSpPr>
        <p:spPr>
          <a:xfrm>
            <a:off x="502920" y="263347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Na₂SiO₃可通过SiO₂与纯碱混合高温熔融反应制得，高温熔融纯碱时，下列坩埚可选用的是 ______ (填字母)。</a:t>
            </a:r>
          </a:p>
        </p:txBody>
      </p:sp>
      <p:sp>
        <p:nvSpPr>
          <p:cNvPr id="12" name="文字_A. 普通玻璃坩埚"/>
          <p:cNvSpPr txBox="1"/>
          <p:nvPr/>
        </p:nvSpPr>
        <p:spPr>
          <a:xfrm>
            <a:off x="502920" y="2944368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普通玻璃坩埚</a:t>
            </a:r>
          </a:p>
        </p:txBody>
      </p:sp>
      <p:sp>
        <p:nvSpPr>
          <p:cNvPr id="13" name="文字_B. 石英玻璃坩埚"/>
          <p:cNvSpPr txBox="1"/>
          <p:nvPr/>
        </p:nvSpPr>
        <p:spPr>
          <a:xfrm>
            <a:off x="502920" y="3255263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石英玻璃坩埚</a:t>
            </a:r>
          </a:p>
        </p:txBody>
      </p:sp>
      <p:sp>
        <p:nvSpPr>
          <p:cNvPr id="14" name="文字_C. 氧化铝坩埚"/>
          <p:cNvSpPr txBox="1"/>
          <p:nvPr/>
        </p:nvSpPr>
        <p:spPr>
          <a:xfrm>
            <a:off x="502920" y="3566159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氧化铝坩埚</a:t>
            </a:r>
          </a:p>
        </p:txBody>
      </p:sp>
      <p:sp>
        <p:nvSpPr>
          <p:cNvPr id="15" name="文字_D. 铁坩埚"/>
          <p:cNvSpPr txBox="1"/>
          <p:nvPr/>
        </p:nvSpPr>
        <p:spPr>
          <a:xfrm>
            <a:off x="502920" y="3877055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铁坩埚</a:t>
            </a:r>
          </a:p>
        </p:txBody>
      </p:sp>
      <p:sp>
        <p:nvSpPr>
          <p:cNvPr id="16" name="文字_(3)制备硅半导体材料必须先得到高纯硅，三氯甲硅"/>
          <p:cNvSpPr txBox="1"/>
          <p:nvPr/>
        </p:nvSpPr>
        <p:spPr>
          <a:xfrm>
            <a:off x="502920" y="4187951"/>
            <a:ext cx="11064240" cy="56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(3)制备硅半导体材料必须先得到高纯硅，三氯甲硅烷(SiHCl₃)还原法是当前制备高纯硅的主要方法，生产过程示意图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如图：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55768"/>
            <a:ext cx="10757775" cy="1332624"/>
          </a:xfrm>
          <a:prstGeom prst="rect">
            <a:avLst/>
          </a:prstGeom>
        </p:spPr>
      </p:pic>
      <p:sp>
        <p:nvSpPr>
          <p:cNvPr id="18" name="原题文字_332_27"/>
          <p:cNvSpPr txBox="1"/>
          <p:nvPr/>
        </p:nvSpPr>
        <p:spPr>
          <a:xfrm>
            <a:off x="1805764" y="4794037"/>
            <a:ext cx="561112" cy="367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焦炭</a:t>
            </a:r>
          </a:p>
        </p:txBody>
      </p:sp>
      <p:sp>
        <p:nvSpPr>
          <p:cNvPr id="19" name="原题文字_332_28"/>
          <p:cNvSpPr txBox="1"/>
          <p:nvPr/>
        </p:nvSpPr>
        <p:spPr>
          <a:xfrm>
            <a:off x="3153278" y="4808926"/>
            <a:ext cx="494108" cy="3290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HCl</a:t>
            </a:r>
          </a:p>
        </p:txBody>
      </p:sp>
      <p:sp>
        <p:nvSpPr>
          <p:cNvPr id="20" name="原题文字_332_29"/>
          <p:cNvSpPr txBox="1"/>
          <p:nvPr/>
        </p:nvSpPr>
        <p:spPr>
          <a:xfrm>
            <a:off x="4858144" y="4786592"/>
            <a:ext cx="553667" cy="367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精馏</a:t>
            </a:r>
          </a:p>
        </p:txBody>
      </p:sp>
      <p:sp>
        <p:nvSpPr>
          <p:cNvPr id="21" name="原题文字_332_30"/>
          <p:cNvSpPr txBox="1"/>
          <p:nvPr/>
        </p:nvSpPr>
        <p:spPr>
          <a:xfrm>
            <a:off x="6533230" y="4808926"/>
            <a:ext cx="382436" cy="396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</a:t>
            </a:r>
          </a:p>
        </p:txBody>
      </p:sp>
      <p:sp>
        <p:nvSpPr>
          <p:cNvPr id="22" name="原题文字_332_31"/>
          <p:cNvSpPr txBox="1"/>
          <p:nvPr/>
        </p:nvSpPr>
        <p:spPr>
          <a:xfrm>
            <a:off x="1113395" y="4972713"/>
            <a:ext cx="762122" cy="3484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石英砂</a:t>
            </a:r>
          </a:p>
        </p:txBody>
      </p:sp>
      <p:sp>
        <p:nvSpPr>
          <p:cNvPr id="23" name="原题文字_332_32"/>
          <p:cNvSpPr txBox="1"/>
          <p:nvPr/>
        </p:nvSpPr>
        <p:spPr>
          <a:xfrm>
            <a:off x="2349237" y="4972713"/>
            <a:ext cx="605781" cy="3580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粗硅</a:t>
            </a:r>
          </a:p>
        </p:txBody>
      </p:sp>
      <p:sp>
        <p:nvSpPr>
          <p:cNvPr id="24" name="原题文字_332_33"/>
          <p:cNvSpPr txBox="1"/>
          <p:nvPr/>
        </p:nvSpPr>
        <p:spPr>
          <a:xfrm>
            <a:off x="3808423" y="4995047"/>
            <a:ext cx="1112029" cy="3387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4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SiHCl₃(粗)</a:t>
            </a:r>
          </a:p>
        </p:txBody>
      </p:sp>
      <p:sp>
        <p:nvSpPr>
          <p:cNvPr id="25" name="原题文字_332_34"/>
          <p:cNvSpPr txBox="1"/>
          <p:nvPr/>
        </p:nvSpPr>
        <p:spPr>
          <a:xfrm>
            <a:off x="4850699" y="4995047"/>
            <a:ext cx="1625722" cy="3290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—SiHCl₃(纯)</a:t>
            </a:r>
          </a:p>
        </p:txBody>
      </p:sp>
      <p:sp>
        <p:nvSpPr>
          <p:cNvPr id="26" name="原题文字_332_35"/>
          <p:cNvSpPr txBox="1"/>
          <p:nvPr/>
        </p:nvSpPr>
        <p:spPr>
          <a:xfrm>
            <a:off x="6957585" y="4972713"/>
            <a:ext cx="806791" cy="3484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高纯硅</a:t>
            </a:r>
          </a:p>
        </p:txBody>
      </p:sp>
      <p:sp>
        <p:nvSpPr>
          <p:cNvPr id="27" name="原题文字_332_36"/>
          <p:cNvSpPr txBox="1"/>
          <p:nvPr/>
        </p:nvSpPr>
        <p:spPr>
          <a:xfrm>
            <a:off x="1820654" y="5151388"/>
            <a:ext cx="538777" cy="3387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4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28" name="原题文字_332_37"/>
          <p:cNvSpPr txBox="1"/>
          <p:nvPr/>
        </p:nvSpPr>
        <p:spPr>
          <a:xfrm>
            <a:off x="2892709" y="5151388"/>
            <a:ext cx="1007801" cy="3387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4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573K以上</a:t>
            </a:r>
          </a:p>
        </p:txBody>
      </p:sp>
      <p:sp>
        <p:nvSpPr>
          <p:cNvPr id="29" name="原题文字_332_38"/>
          <p:cNvSpPr txBox="1"/>
          <p:nvPr/>
        </p:nvSpPr>
        <p:spPr>
          <a:xfrm>
            <a:off x="6414113" y="5166278"/>
            <a:ext cx="620670" cy="309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357K</a:t>
            </a:r>
          </a:p>
        </p:txBody>
      </p:sp>
      <p:sp>
        <p:nvSpPr>
          <p:cNvPr id="30" name="原题文字_332_39"/>
          <p:cNvSpPr txBox="1"/>
          <p:nvPr/>
        </p:nvSpPr>
        <p:spPr>
          <a:xfrm>
            <a:off x="1120840" y="5449181"/>
            <a:ext cx="4104850" cy="2903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0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①写出由石英砂制备粗硅的化学反应方程式：</a:t>
            </a:r>
          </a:p>
        </p:txBody>
      </p:sp>
      <p:sp>
        <p:nvSpPr>
          <p:cNvPr id="31" name="原题文字_332_40"/>
          <p:cNvSpPr txBox="1"/>
          <p:nvPr/>
        </p:nvSpPr>
        <p:spPr>
          <a:xfrm>
            <a:off x="1120840" y="5813978"/>
            <a:ext cx="4529205" cy="3000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5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②写出由纯SiHCl₃制备高纯硅的化学反应方程式：</a:t>
            </a:r>
          </a:p>
        </p:txBody>
      </p:sp>
      <p:sp>
        <p:nvSpPr>
          <p:cNvPr id="32" name="文字_填空题  ·  15-00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15-008</a:t>
            </a:r>
          </a:p>
        </p:txBody>
      </p:sp>
      <p:sp>
        <p:nvSpPr>
          <p:cNvPr id="33" name="文字_1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变式1</a:t>
            </a:r>
          </a:p>
        </p:txBody>
      </p:sp>
      <p:sp>
        <p:nvSpPr>
          <p:cNvPr id="5" name="文字_P33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P332</a:t>
            </a:r>
          </a:p>
        </p:txBody>
      </p:sp>
      <p:sp>
        <p:nvSpPr>
          <p:cNvPr id="6" name="文字_嘀嗒嘀嗒，时间都去哪儿了！计时器的发展史铭刻着化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嘀嗒嘀嗒，时间都去哪儿了！计时器的发展史铭刻着化学的贡献。下列说法不正确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的是</a:t>
            </a:r>
          </a:p>
        </p:txBody>
      </p:sp>
      <p:sp>
        <p:nvSpPr>
          <p:cNvPr id="7" name="文字_A. 制作日晷圆盘的石材，属于无机非金属材料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制作日晷圆盘的石材，属于无机非金属材料</a:t>
            </a:r>
          </a:p>
        </p:txBody>
      </p:sp>
      <p:sp>
        <p:nvSpPr>
          <p:cNvPr id="8" name="文字_B. 机械表中由钼钴镍铬等元素组成的发条，其材质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机械表中由钼钴镍铬等元素组成的发条，其材质属于合金</a:t>
            </a:r>
          </a:p>
        </p:txBody>
      </p:sp>
      <p:sp>
        <p:nvSpPr>
          <p:cNvPr id="9" name="文字_C. 基于石英晶体振荡特性计时的石英表，其中石英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基于石英晶体振荡特性计时的石英表，其中石英的成分为SiC</a:t>
            </a:r>
          </a:p>
        </p:txBody>
      </p:sp>
      <p:sp>
        <p:nvSpPr>
          <p:cNvPr id="10" name="文字_D. 目前“北京时间”授时以铯原子钟为基准，13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目前“北京时间”授时以铯原子钟为基准，135Cs的质子数为55</a:t>
            </a:r>
          </a:p>
        </p:txBody>
      </p:sp>
      <p:sp>
        <p:nvSpPr>
          <p:cNvPr id="11" name="文字_单选题  ·  15-00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15-009</a:t>
            </a:r>
          </a:p>
        </p:txBody>
      </p:sp>
      <p:sp>
        <p:nvSpPr>
          <p:cNvPr id="12" name="文字_1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变式2</a:t>
            </a:r>
          </a:p>
        </p:txBody>
      </p:sp>
      <p:sp>
        <p:nvSpPr>
          <p:cNvPr id="5" name="文字_P33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P333</a:t>
            </a:r>
          </a:p>
        </p:txBody>
      </p:sp>
      <p:sp>
        <p:nvSpPr>
          <p:cNvPr id="6" name="文字_下列有关物质性质或应用的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下列有关物质性质或应用的说法正确的是</a:t>
            </a:r>
          </a:p>
        </p:txBody>
      </p:sp>
      <p:sp>
        <p:nvSpPr>
          <p:cNvPr id="7" name="文字_A. 二氧化硅可用于制造太阳能电池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二氧化硅可用于制造太阳能电池</a:t>
            </a:r>
          </a:p>
        </p:txBody>
      </p:sp>
      <p:sp>
        <p:nvSpPr>
          <p:cNvPr id="8" name="文字_B. 制普通玻璃的原料中含有石灰石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制普通玻璃的原料中含有石灰石</a:t>
            </a:r>
          </a:p>
        </p:txBody>
      </p:sp>
      <p:sp>
        <p:nvSpPr>
          <p:cNvPr id="9" name="文字_C. 碳化硅属于传统无机非金属材料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碳化硅属于传统无机非金属材料</a:t>
            </a:r>
          </a:p>
        </p:txBody>
      </p:sp>
      <p:sp>
        <p:nvSpPr>
          <p:cNvPr id="10" name="文字_D. 利用Al₂O₃制作的坩埚熔融烧碱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利用Al₂O₃制作的坩埚熔融烧碱</a:t>
            </a:r>
          </a:p>
        </p:txBody>
      </p:sp>
      <p:sp>
        <p:nvSpPr>
          <p:cNvPr id="11" name="文字_单选题  ·  15-01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15-010</a:t>
            </a:r>
          </a:p>
        </p:txBody>
      </p:sp>
      <p:sp>
        <p:nvSpPr>
          <p:cNvPr id="12" name="文字_1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变式3</a:t>
            </a:r>
          </a:p>
        </p:txBody>
      </p:sp>
      <p:sp>
        <p:nvSpPr>
          <p:cNvPr id="5" name="文字_P33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P333</a:t>
            </a:r>
          </a:p>
        </p:txBody>
      </p:sp>
      <p:sp>
        <p:nvSpPr>
          <p:cNvPr id="6" name="文字_工业上采用Si与HCl在350C左右反应生成Si"/>
          <p:cNvSpPr txBox="1"/>
          <p:nvPr/>
        </p:nvSpPr>
        <p:spPr>
          <a:xfrm>
            <a:off x="502920" y="1078992"/>
            <a:ext cx="11064240" cy="11158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工业上采用Si与HCl在350C左右反应生成SiHCl₃，之后将其还原、结晶得到高纯度的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单晶硅产品。已知SiHCl₃的熔点为-128℃，沸点为33℃，且遇O₂和H₂O均剧烈反应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。现要在实验室中制取少量SiHCl₃，其实验装置如下图所示，则下列说法正确的是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814"/>
            <a:ext cx="11064240" cy="2672262"/>
          </a:xfrm>
          <a:prstGeom prst="rect">
            <a:avLst/>
          </a:prstGeom>
        </p:spPr>
      </p:pic>
      <p:sp>
        <p:nvSpPr>
          <p:cNvPr id="8" name="原题文字_333_14"/>
          <p:cNvSpPr txBox="1"/>
          <p:nvPr/>
        </p:nvSpPr>
        <p:spPr>
          <a:xfrm>
            <a:off x="1276268" y="2226697"/>
            <a:ext cx="1011978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浓H₂SO₄</a:t>
            </a:r>
          </a:p>
        </p:txBody>
      </p:sp>
      <p:sp>
        <p:nvSpPr>
          <p:cNvPr id="9" name="原题文字_333_15"/>
          <p:cNvSpPr txBox="1"/>
          <p:nvPr/>
        </p:nvSpPr>
        <p:spPr>
          <a:xfrm>
            <a:off x="4852046" y="2716740"/>
            <a:ext cx="828212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碱石灰</a:t>
            </a:r>
          </a:p>
        </p:txBody>
      </p:sp>
      <p:sp>
        <p:nvSpPr>
          <p:cNvPr id="10" name="原题文字_333_16"/>
          <p:cNvSpPr txBox="1"/>
          <p:nvPr/>
        </p:nvSpPr>
        <p:spPr>
          <a:xfrm>
            <a:off x="2815307" y="2839250"/>
            <a:ext cx="613818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粗硅</a:t>
            </a:r>
          </a:p>
        </p:txBody>
      </p:sp>
      <p:sp>
        <p:nvSpPr>
          <p:cNvPr id="11" name="原题文字_333_17"/>
          <p:cNvSpPr txBox="1"/>
          <p:nvPr/>
        </p:nvSpPr>
        <p:spPr>
          <a:xfrm>
            <a:off x="1199699" y="3015359"/>
            <a:ext cx="613818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NaCl</a:t>
            </a:r>
          </a:p>
        </p:txBody>
      </p:sp>
      <p:sp>
        <p:nvSpPr>
          <p:cNvPr id="12" name="原题文字_333_18"/>
          <p:cNvSpPr txBox="1"/>
          <p:nvPr/>
        </p:nvSpPr>
        <p:spPr>
          <a:xfrm>
            <a:off x="1398778" y="4217495"/>
            <a:ext cx="950722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4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浓H₂SO₄</a:t>
            </a:r>
          </a:p>
        </p:txBody>
      </p:sp>
      <p:sp>
        <p:nvSpPr>
          <p:cNvPr id="13" name="原题文字_333_19"/>
          <p:cNvSpPr txBox="1"/>
          <p:nvPr/>
        </p:nvSpPr>
        <p:spPr>
          <a:xfrm>
            <a:off x="3757108" y="4217495"/>
            <a:ext cx="812898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冰盐浴</a:t>
            </a:r>
          </a:p>
        </p:txBody>
      </p:sp>
      <p:sp>
        <p:nvSpPr>
          <p:cNvPr id="14" name="原题文字_333_20"/>
          <p:cNvSpPr txBox="1"/>
          <p:nvPr/>
        </p:nvSpPr>
        <p:spPr>
          <a:xfrm>
            <a:off x="587146" y="4546742"/>
            <a:ext cx="4044115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反应时，应该先点燃“粗硅”处的酒精灯</a:t>
            </a:r>
          </a:p>
        </p:txBody>
      </p:sp>
      <p:sp>
        <p:nvSpPr>
          <p:cNvPr id="15" name="文字_B. 使用浓H₂SO₄和NaCl混合加热制取HC"/>
          <p:cNvSpPr txBox="1"/>
          <p:nvPr/>
        </p:nvSpPr>
        <p:spPr>
          <a:xfrm>
            <a:off x="502920" y="4940228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使用浓H₂SO₄和NaCl混合加热制取HCl利用了浓H₂SO₄的脱水性和强酸性</a:t>
            </a:r>
          </a:p>
        </p:txBody>
      </p:sp>
      <p:sp>
        <p:nvSpPr>
          <p:cNvPr id="16" name="文字_C. 冰盐浴的目的为降低收集容器的温度，使SiH"/>
          <p:cNvSpPr txBox="1"/>
          <p:nvPr/>
        </p:nvSpPr>
        <p:spPr>
          <a:xfrm>
            <a:off x="502920" y="5360852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冰盐浴的目的为降低收集容器的温度，使SiHCl₃冷凝为液体</a:t>
            </a:r>
          </a:p>
        </p:txBody>
      </p:sp>
      <p:sp>
        <p:nvSpPr>
          <p:cNvPr id="17" name="文字_D. 可以用无水CaCl₂替换干燥管中的碱石灰"/>
          <p:cNvSpPr txBox="1"/>
          <p:nvPr/>
        </p:nvSpPr>
        <p:spPr>
          <a:xfrm>
            <a:off x="502920" y="5781476"/>
            <a:ext cx="11064240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可以用无水CaCl₂替换干燥管中的碱石灰</a:t>
            </a:r>
          </a:p>
        </p:txBody>
      </p:sp>
      <p:sp>
        <p:nvSpPr>
          <p:cNvPr id="18" name="文字_单选题  ·  15-01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15-011</a:t>
            </a:r>
          </a:p>
        </p:txBody>
      </p:sp>
      <p:sp>
        <p:nvSpPr>
          <p:cNvPr id="19" name="文字_2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变式4</a:t>
            </a:r>
          </a:p>
        </p:txBody>
      </p:sp>
      <p:sp>
        <p:nvSpPr>
          <p:cNvPr id="5" name="文字_P33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P333</a:t>
            </a:r>
          </a:p>
        </p:txBody>
      </p:sp>
      <p:sp>
        <p:nvSpPr>
          <p:cNvPr id="6" name="文字_下列说法不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下列说法不正确的是（）</a:t>
            </a:r>
          </a:p>
        </p:txBody>
      </p:sp>
      <p:sp>
        <p:nvSpPr>
          <p:cNvPr id="7" name="文字_A. 石灰石是制造玻璃和水泥的主要原料之一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石灰石是制造玻璃和水泥的主要原料之一</a:t>
            </a:r>
          </a:p>
        </p:txBody>
      </p:sp>
      <p:sp>
        <p:nvSpPr>
          <p:cNvPr id="8" name="文字_B. 高纯二氧化硅广泛用于制作光导纤维，光导纤维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高纯二氧化硅广泛用于制作光导纤维，光导纤维遇强碱会“断路”</a:t>
            </a:r>
          </a:p>
        </p:txBody>
      </p:sp>
      <p:sp>
        <p:nvSpPr>
          <p:cNvPr id="9" name="文字_C. 硅酸钠不可以保存在磨口玻璃塞试剂瓶中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硅酸钠不可以保存在磨口玻璃塞试剂瓶中</a:t>
            </a:r>
          </a:p>
        </p:txBody>
      </p:sp>
      <p:sp>
        <p:nvSpPr>
          <p:cNvPr id="10" name="文字_D. 普通玻璃、石英玻璃、水泥等均属于硅酸盐材料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普通玻璃、石英玻璃、水泥等均属于硅酸盐材料</a:t>
            </a:r>
          </a:p>
        </p:txBody>
      </p:sp>
      <p:sp>
        <p:nvSpPr>
          <p:cNvPr id="11" name="文字_单选题  ·  15-01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15-012</a:t>
            </a:r>
          </a:p>
        </p:txBody>
      </p:sp>
      <p:sp>
        <p:nvSpPr>
          <p:cNvPr id="12" name="文字_2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变式5</a:t>
            </a:r>
          </a:p>
        </p:txBody>
      </p:sp>
      <p:sp>
        <p:nvSpPr>
          <p:cNvPr id="5" name="文字_P33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P333</a:t>
            </a:r>
          </a:p>
        </p:txBody>
      </p:sp>
      <p:sp>
        <p:nvSpPr>
          <p:cNvPr id="6" name="文字_无论是传统的或是新型的无机非金属材料，硅元素都占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无论是传统的或是新型的无机非金属材料，硅元素都占有非常重要的地位。由于硅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在太阳能发电中的重要作用，有些科学家称硅是“二十一世纪的能源”。下列关于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硅说法正确的是</a:t>
            </a:r>
          </a:p>
        </p:txBody>
      </p:sp>
      <p:sp>
        <p:nvSpPr>
          <p:cNvPr id="7" name="文字_A. 自然界中硅单质的含量居各元素的第二位"/>
          <p:cNvSpPr txBox="1"/>
          <p:nvPr/>
        </p:nvSpPr>
        <p:spPr>
          <a:xfrm>
            <a:off x="502920" y="22433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自然界中硅单质的含量居各元素的第二位</a:t>
            </a:r>
          </a:p>
        </p:txBody>
      </p:sp>
      <p:sp>
        <p:nvSpPr>
          <p:cNvPr id="8" name="文字_B. 高纯度的硅是制半导体的重要材料"/>
          <p:cNvSpPr txBox="1"/>
          <p:nvPr/>
        </p:nvSpPr>
        <p:spPr>
          <a:xfrm>
            <a:off x="502920" y="26822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高纯度的硅是制半导体的重要材料</a:t>
            </a:r>
          </a:p>
        </p:txBody>
      </p:sp>
      <p:sp>
        <p:nvSpPr>
          <p:cNvPr id="9" name="文字_C. 水泥、玻璃、陶瓷、光导纤维都是传统的硅酸盐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水泥、玻璃、陶瓷、光导纤维都是传统的硅酸盐工业产品</a:t>
            </a:r>
          </a:p>
        </p:txBody>
      </p:sp>
      <p:sp>
        <p:nvSpPr>
          <p:cNvPr id="10" name="文字_D. 石英砂属于天然的硅酸盐产品"/>
          <p:cNvSpPr txBox="1"/>
          <p:nvPr/>
        </p:nvSpPr>
        <p:spPr>
          <a:xfrm>
            <a:off x="502920" y="35600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石英砂属于天然的硅酸盐产品</a:t>
            </a:r>
          </a:p>
        </p:txBody>
      </p:sp>
      <p:sp>
        <p:nvSpPr>
          <p:cNvPr id="11" name="文字_单选题  ·  15-01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15-013</a:t>
            </a:r>
          </a:p>
        </p:txBody>
      </p:sp>
      <p:sp>
        <p:nvSpPr>
          <p:cNvPr id="12" name="文字_2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变式6</a:t>
            </a:r>
          </a:p>
        </p:txBody>
      </p:sp>
      <p:sp>
        <p:nvSpPr>
          <p:cNvPr id="5" name="文字_P33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P334</a:t>
            </a:r>
          </a:p>
        </p:txBody>
      </p:sp>
      <p:sp>
        <p:nvSpPr>
          <p:cNvPr id="6" name="文字_开发和利用矿物资源有重要的意义。某厂用无机矿物资"/>
          <p:cNvSpPr txBox="1"/>
          <p:nvPr/>
        </p:nvSpPr>
        <p:spPr>
          <a:xfrm>
            <a:off x="502920" y="1078992"/>
            <a:ext cx="11064240" cy="5678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开发和利用矿物资源有重要的意义。某厂用无机矿物资源生产部分材料，其产品流程示意图如下，下列有关说法正确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的是（）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6809"/>
            <a:ext cx="10757775" cy="3707524"/>
          </a:xfrm>
          <a:prstGeom prst="rect">
            <a:avLst/>
          </a:prstGeom>
        </p:spPr>
      </p:pic>
      <p:sp>
        <p:nvSpPr>
          <p:cNvPr id="8" name="原题文字_334_5"/>
          <p:cNvSpPr txBox="1"/>
          <p:nvPr/>
        </p:nvSpPr>
        <p:spPr>
          <a:xfrm>
            <a:off x="4121106" y="1677632"/>
            <a:ext cx="583446" cy="4064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6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电解</a:t>
            </a:r>
          </a:p>
        </p:txBody>
      </p:sp>
      <p:sp>
        <p:nvSpPr>
          <p:cNvPr id="9" name="原题文字_334_6"/>
          <p:cNvSpPr txBox="1"/>
          <p:nvPr/>
        </p:nvSpPr>
        <p:spPr>
          <a:xfrm>
            <a:off x="1165509" y="1781859"/>
            <a:ext cx="3025350" cy="445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5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铝土矿→除杂→A₁₂O₃</a:t>
            </a:r>
          </a:p>
        </p:txBody>
      </p:sp>
      <p:sp>
        <p:nvSpPr>
          <p:cNvPr id="10" name="原题文字_334_7"/>
          <p:cNvSpPr txBox="1"/>
          <p:nvPr/>
        </p:nvSpPr>
        <p:spPr>
          <a:xfrm>
            <a:off x="4567795" y="1833973"/>
            <a:ext cx="479219" cy="3484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→Al</a:t>
            </a:r>
          </a:p>
        </p:txBody>
      </p:sp>
      <p:sp>
        <p:nvSpPr>
          <p:cNvPr id="11" name="原题文字_334_8"/>
          <p:cNvSpPr txBox="1"/>
          <p:nvPr/>
        </p:nvSpPr>
        <p:spPr>
          <a:xfrm>
            <a:off x="629482" y="1930756"/>
            <a:ext cx="300543" cy="367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矿</a:t>
            </a:r>
          </a:p>
        </p:txBody>
      </p:sp>
      <p:sp>
        <p:nvSpPr>
          <p:cNvPr id="12" name="原题文字_334_9"/>
          <p:cNvSpPr txBox="1"/>
          <p:nvPr/>
        </p:nvSpPr>
        <p:spPr>
          <a:xfrm>
            <a:off x="3101164" y="2221104"/>
            <a:ext cx="374991" cy="396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O₂</a:t>
            </a:r>
          </a:p>
        </p:txBody>
      </p:sp>
      <p:sp>
        <p:nvSpPr>
          <p:cNvPr id="13" name="原题文字_334_10"/>
          <p:cNvSpPr txBox="1"/>
          <p:nvPr/>
        </p:nvSpPr>
        <p:spPr>
          <a:xfrm>
            <a:off x="4322116" y="2221104"/>
            <a:ext cx="590891" cy="464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电解</a:t>
            </a:r>
          </a:p>
        </p:txBody>
      </p:sp>
      <p:sp>
        <p:nvSpPr>
          <p:cNvPr id="14" name="原题文字_334_11"/>
          <p:cNvSpPr txBox="1"/>
          <p:nvPr/>
        </p:nvSpPr>
        <p:spPr>
          <a:xfrm>
            <a:off x="1880213" y="2422115"/>
            <a:ext cx="419660" cy="4258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6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O₂</a:t>
            </a:r>
          </a:p>
        </p:txBody>
      </p:sp>
      <p:sp>
        <p:nvSpPr>
          <p:cNvPr id="15" name="原题文字_334_12"/>
          <p:cNvSpPr txBox="1"/>
          <p:nvPr/>
        </p:nvSpPr>
        <p:spPr>
          <a:xfrm>
            <a:off x="2408795" y="2362556"/>
            <a:ext cx="732343" cy="4548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→Cu₂S</a:t>
            </a:r>
          </a:p>
        </p:txBody>
      </p:sp>
      <p:sp>
        <p:nvSpPr>
          <p:cNvPr id="16" name="原题文字_334_13"/>
          <p:cNvSpPr txBox="1"/>
          <p:nvPr/>
        </p:nvSpPr>
        <p:spPr>
          <a:xfrm>
            <a:off x="3101164" y="2481673"/>
            <a:ext cx="538777" cy="37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17" name="原题文字_334_14"/>
          <p:cNvSpPr txBox="1"/>
          <p:nvPr/>
        </p:nvSpPr>
        <p:spPr>
          <a:xfrm>
            <a:off x="3480851" y="2317887"/>
            <a:ext cx="918464" cy="4742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4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→Cu(粗)</a:t>
            </a:r>
          </a:p>
        </p:txBody>
      </p:sp>
      <p:sp>
        <p:nvSpPr>
          <p:cNvPr id="18" name="原题文字_334_15"/>
          <p:cNvSpPr txBox="1"/>
          <p:nvPr/>
        </p:nvSpPr>
        <p:spPr>
          <a:xfrm>
            <a:off x="4716692" y="2317887"/>
            <a:ext cx="948243" cy="4355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1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Cu(精)</a:t>
            </a:r>
          </a:p>
        </p:txBody>
      </p:sp>
      <p:sp>
        <p:nvSpPr>
          <p:cNvPr id="19" name="原题文字_334_16"/>
          <p:cNvSpPr txBox="1"/>
          <p:nvPr/>
        </p:nvSpPr>
        <p:spPr>
          <a:xfrm>
            <a:off x="1158064" y="2571011"/>
            <a:ext cx="799346" cy="3871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-黄铜矿</a:t>
            </a:r>
          </a:p>
        </p:txBody>
      </p:sp>
      <p:sp>
        <p:nvSpPr>
          <p:cNvPr id="20" name="原题文字_334_17"/>
          <p:cNvSpPr txBox="1"/>
          <p:nvPr/>
        </p:nvSpPr>
        <p:spPr>
          <a:xfrm>
            <a:off x="629482" y="2690128"/>
            <a:ext cx="352657" cy="4064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6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物</a:t>
            </a:r>
          </a:p>
        </p:txBody>
      </p:sp>
      <p:sp>
        <p:nvSpPr>
          <p:cNvPr id="21" name="原题文字_334_18"/>
          <p:cNvSpPr txBox="1"/>
          <p:nvPr/>
        </p:nvSpPr>
        <p:spPr>
          <a:xfrm>
            <a:off x="1842988" y="2697573"/>
            <a:ext cx="531332" cy="37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22" name="原题文字_334_19"/>
          <p:cNvSpPr txBox="1"/>
          <p:nvPr/>
        </p:nvSpPr>
        <p:spPr>
          <a:xfrm>
            <a:off x="2319457" y="2749687"/>
            <a:ext cx="1759729" cy="3774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→FeO + SO₂⁺废渣</a:t>
            </a:r>
          </a:p>
        </p:txBody>
      </p:sp>
      <p:sp>
        <p:nvSpPr>
          <p:cNvPr id="23" name="原题文字_334_20"/>
          <p:cNvSpPr txBox="1"/>
          <p:nvPr/>
        </p:nvSpPr>
        <p:spPr>
          <a:xfrm>
            <a:off x="607147" y="3419721"/>
            <a:ext cx="1201367" cy="493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资石英</a:t>
            </a:r>
          </a:p>
        </p:txBody>
      </p:sp>
      <p:sp>
        <p:nvSpPr>
          <p:cNvPr id="24" name="原题文字_334_21"/>
          <p:cNvSpPr txBox="1"/>
          <p:nvPr/>
        </p:nvSpPr>
        <p:spPr>
          <a:xfrm>
            <a:off x="1917437" y="3322939"/>
            <a:ext cx="270764" cy="3290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25" name="原题文字_334_22"/>
          <p:cNvSpPr txBox="1"/>
          <p:nvPr/>
        </p:nvSpPr>
        <p:spPr>
          <a:xfrm>
            <a:off x="2237564" y="3427166"/>
            <a:ext cx="806791" cy="4064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→Si(粗)</a:t>
            </a:r>
          </a:p>
        </p:txBody>
      </p:sp>
      <p:sp>
        <p:nvSpPr>
          <p:cNvPr id="26" name="原题文字_334_23"/>
          <p:cNvSpPr txBox="1"/>
          <p:nvPr/>
        </p:nvSpPr>
        <p:spPr>
          <a:xfrm>
            <a:off x="3071385" y="3315494"/>
            <a:ext cx="412215" cy="367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Cl₂</a:t>
            </a:r>
          </a:p>
        </p:txBody>
      </p:sp>
      <p:sp>
        <p:nvSpPr>
          <p:cNvPr id="27" name="原题文字_334_24"/>
          <p:cNvSpPr txBox="1"/>
          <p:nvPr/>
        </p:nvSpPr>
        <p:spPr>
          <a:xfrm>
            <a:off x="3406402" y="3427166"/>
            <a:ext cx="806791" cy="4355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2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→SiCl₄</a:t>
            </a:r>
          </a:p>
        </p:txBody>
      </p:sp>
      <p:sp>
        <p:nvSpPr>
          <p:cNvPr id="28" name="原题文字_334_25"/>
          <p:cNvSpPr txBox="1"/>
          <p:nvPr/>
        </p:nvSpPr>
        <p:spPr>
          <a:xfrm>
            <a:off x="4247668" y="3300604"/>
            <a:ext cx="352657" cy="3387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4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</a:t>
            </a:r>
          </a:p>
        </p:txBody>
      </p:sp>
      <p:sp>
        <p:nvSpPr>
          <p:cNvPr id="29" name="原题文字_334_26"/>
          <p:cNvSpPr txBox="1"/>
          <p:nvPr/>
        </p:nvSpPr>
        <p:spPr>
          <a:xfrm>
            <a:off x="4538016" y="3389942"/>
            <a:ext cx="881239" cy="416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7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→Si(纯)</a:t>
            </a:r>
          </a:p>
        </p:txBody>
      </p:sp>
      <p:sp>
        <p:nvSpPr>
          <p:cNvPr id="30" name="原题文字_334_27"/>
          <p:cNvSpPr txBox="1"/>
          <p:nvPr/>
        </p:nvSpPr>
        <p:spPr>
          <a:xfrm>
            <a:off x="1783430" y="3568618"/>
            <a:ext cx="576001" cy="4161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1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31" name="原题文字_334_28"/>
          <p:cNvSpPr txBox="1"/>
          <p:nvPr/>
        </p:nvSpPr>
        <p:spPr>
          <a:xfrm>
            <a:off x="3168168" y="3583508"/>
            <a:ext cx="240984" cy="2709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∆</a:t>
            </a:r>
          </a:p>
        </p:txBody>
      </p:sp>
      <p:sp>
        <p:nvSpPr>
          <p:cNvPr id="32" name="原题文字_334_29"/>
          <p:cNvSpPr txBox="1"/>
          <p:nvPr/>
        </p:nvSpPr>
        <p:spPr>
          <a:xfrm>
            <a:off x="4337006" y="3561173"/>
            <a:ext cx="248429" cy="2419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7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∆</a:t>
            </a:r>
          </a:p>
        </p:txBody>
      </p:sp>
      <p:sp>
        <p:nvSpPr>
          <p:cNvPr id="33" name="原题文字_334_30"/>
          <p:cNvSpPr txBox="1"/>
          <p:nvPr/>
        </p:nvSpPr>
        <p:spPr>
          <a:xfrm>
            <a:off x="1976995" y="4119535"/>
            <a:ext cx="1246036" cy="396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纯碱、石英</a:t>
            </a:r>
          </a:p>
        </p:txBody>
      </p:sp>
      <p:sp>
        <p:nvSpPr>
          <p:cNvPr id="34" name="原题文字_334_31"/>
          <p:cNvSpPr txBox="1"/>
          <p:nvPr/>
        </p:nvSpPr>
        <p:spPr>
          <a:xfrm>
            <a:off x="607147" y="4238653"/>
            <a:ext cx="1387488" cy="4645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5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源石灰石</a:t>
            </a:r>
          </a:p>
        </p:txBody>
      </p:sp>
      <p:sp>
        <p:nvSpPr>
          <p:cNvPr id="35" name="原题文字_334_32"/>
          <p:cNvSpPr txBox="1"/>
          <p:nvPr/>
        </p:nvSpPr>
        <p:spPr>
          <a:xfrm>
            <a:off x="3093719" y="4275877"/>
            <a:ext cx="702564" cy="3968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4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→玻璃</a:t>
            </a:r>
          </a:p>
        </p:txBody>
      </p:sp>
      <p:sp>
        <p:nvSpPr>
          <p:cNvPr id="36" name="原题文字_334_33"/>
          <p:cNvSpPr txBox="1"/>
          <p:nvPr/>
        </p:nvSpPr>
        <p:spPr>
          <a:xfrm>
            <a:off x="2274788" y="4394994"/>
            <a:ext cx="583446" cy="4258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6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37" name="原题文字_334_34"/>
          <p:cNvSpPr txBox="1"/>
          <p:nvPr/>
        </p:nvSpPr>
        <p:spPr>
          <a:xfrm>
            <a:off x="569923" y="5050139"/>
            <a:ext cx="5720377" cy="3387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4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在制粗硅的反应中，还原剂与氧化剂的物质的量之比为1:1</a:t>
            </a:r>
          </a:p>
        </p:txBody>
      </p:sp>
      <p:sp>
        <p:nvSpPr>
          <p:cNvPr id="38" name="文字_B. 生产铝、铜、高纯硅及玻璃的过程中都涉及氧化"/>
          <p:cNvSpPr txBox="1"/>
          <p:nvPr/>
        </p:nvSpPr>
        <p:spPr>
          <a:xfrm>
            <a:off x="502920" y="5427485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生产铝、铜、高纯硅及玻璃的过程中都涉及氧化还原反应</a:t>
            </a:r>
          </a:p>
        </p:txBody>
      </p:sp>
      <p:sp>
        <p:nvSpPr>
          <p:cNvPr id="39" name="文字_C. 黄铜矿冶炼钢时，产生的SO₂可用于生产硫酸"/>
          <p:cNvSpPr txBox="1"/>
          <p:nvPr/>
        </p:nvSpPr>
        <p:spPr>
          <a:xfrm>
            <a:off x="502920" y="5738381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黄铜矿冶炼钢时，产生的SO₂可用于生产硫酸，产生的FeO可用作冶炼铁的原料</a:t>
            </a:r>
          </a:p>
        </p:txBody>
      </p:sp>
      <p:sp>
        <p:nvSpPr>
          <p:cNvPr id="40" name="文字_D. 黄铜(CuFeS₂)与O₂反应产生的Cu₂"/>
          <p:cNvSpPr txBox="1"/>
          <p:nvPr/>
        </p:nvSpPr>
        <p:spPr>
          <a:xfrm>
            <a:off x="502920" y="6049277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黄铜(CuFeS₂)与O₂反应产生的Cu₂S、SO₂均是还原产物</a:t>
            </a:r>
          </a:p>
        </p:txBody>
      </p:sp>
      <p:sp>
        <p:nvSpPr>
          <p:cNvPr id="41" name="文字_单选题  ·  15-01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15-014</a:t>
            </a:r>
          </a:p>
        </p:txBody>
      </p:sp>
      <p:sp>
        <p:nvSpPr>
          <p:cNvPr id="42" name="文字_2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无机非金属材料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无机非金属材料 · 变式7</a:t>
            </a:r>
          </a:p>
        </p:txBody>
      </p:sp>
      <p:sp>
        <p:nvSpPr>
          <p:cNvPr id="5" name="文字_P33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P334</a:t>
            </a:r>
          </a:p>
        </p:txBody>
      </p:sp>
      <p:sp>
        <p:nvSpPr>
          <p:cNvPr id="6" name="文字_以含硅废石(主要成分为SiO₂、含少量Fe₃O₄"/>
          <p:cNvSpPr txBox="1"/>
          <p:nvPr/>
        </p:nvSpPr>
        <p:spPr>
          <a:xfrm>
            <a:off x="502920" y="1078992"/>
            <a:ext cx="11064240" cy="68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以含硅废石(主要成分为SiO₂、含少量Fe₃O₄、Al₂O₃等杂质)为原料，工业上有以下两种制备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高纯硅的工艺。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3712"/>
            <a:ext cx="11064240" cy="2343015"/>
          </a:xfrm>
          <a:prstGeom prst="rect">
            <a:avLst/>
          </a:prstGeom>
        </p:spPr>
      </p:pic>
      <p:sp>
        <p:nvSpPr>
          <p:cNvPr id="8" name="原题文字_334_42"/>
          <p:cNvSpPr txBox="1"/>
          <p:nvPr/>
        </p:nvSpPr>
        <p:spPr>
          <a:xfrm>
            <a:off x="4852046" y="1795596"/>
            <a:ext cx="391768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Cl₂</a:t>
            </a:r>
          </a:p>
        </p:txBody>
      </p:sp>
      <p:sp>
        <p:nvSpPr>
          <p:cNvPr id="9" name="原题文字_334_43"/>
          <p:cNvSpPr txBox="1"/>
          <p:nvPr/>
        </p:nvSpPr>
        <p:spPr>
          <a:xfrm>
            <a:off x="6337488" y="1818567"/>
            <a:ext cx="353483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</a:t>
            </a:r>
          </a:p>
        </p:txBody>
      </p:sp>
      <p:sp>
        <p:nvSpPr>
          <p:cNvPr id="10" name="原题文字_334_44"/>
          <p:cNvSpPr txBox="1"/>
          <p:nvPr/>
        </p:nvSpPr>
        <p:spPr>
          <a:xfrm>
            <a:off x="1659113" y="2178441"/>
            <a:ext cx="552563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盐酸</a:t>
            </a:r>
          </a:p>
        </p:txBody>
      </p:sp>
      <p:sp>
        <p:nvSpPr>
          <p:cNvPr id="11" name="原题文字_334_45"/>
          <p:cNvSpPr txBox="1"/>
          <p:nvPr/>
        </p:nvSpPr>
        <p:spPr>
          <a:xfrm>
            <a:off x="3029701" y="2178441"/>
            <a:ext cx="544906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焦炭</a:t>
            </a:r>
          </a:p>
        </p:txBody>
      </p:sp>
      <p:sp>
        <p:nvSpPr>
          <p:cNvPr id="12" name="原题文字_334_46"/>
          <p:cNvSpPr txBox="1"/>
          <p:nvPr/>
        </p:nvSpPr>
        <p:spPr>
          <a:xfrm>
            <a:off x="4224179" y="2500032"/>
            <a:ext cx="460680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粗硅</a:t>
            </a:r>
          </a:p>
        </p:txBody>
      </p:sp>
      <p:sp>
        <p:nvSpPr>
          <p:cNvPr id="13" name="原题文字_334_47"/>
          <p:cNvSpPr txBox="1"/>
          <p:nvPr/>
        </p:nvSpPr>
        <p:spPr>
          <a:xfrm>
            <a:off x="5456943" y="2492375"/>
            <a:ext cx="560220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6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SiCl₄</a:t>
            </a:r>
          </a:p>
        </p:txBody>
      </p:sp>
      <p:sp>
        <p:nvSpPr>
          <p:cNvPr id="14" name="原题文字_334_48"/>
          <p:cNvSpPr txBox="1"/>
          <p:nvPr/>
        </p:nvSpPr>
        <p:spPr>
          <a:xfrm>
            <a:off x="4760163" y="2607229"/>
            <a:ext cx="544906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加热</a:t>
            </a:r>
          </a:p>
        </p:txBody>
      </p:sp>
      <p:sp>
        <p:nvSpPr>
          <p:cNvPr id="15" name="原题文字_334_49"/>
          <p:cNvSpPr txBox="1"/>
          <p:nvPr/>
        </p:nvSpPr>
        <p:spPr>
          <a:xfrm>
            <a:off x="6214977" y="2599572"/>
            <a:ext cx="552563" cy="3882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8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16" name="原题文字_334_50"/>
          <p:cNvSpPr txBox="1"/>
          <p:nvPr/>
        </p:nvSpPr>
        <p:spPr>
          <a:xfrm>
            <a:off x="7057237" y="2599572"/>
            <a:ext cx="805241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→纯硅</a:t>
            </a:r>
          </a:p>
        </p:txBody>
      </p:sp>
      <p:sp>
        <p:nvSpPr>
          <p:cNvPr id="17" name="原题文字_334_51"/>
          <p:cNvSpPr txBox="1"/>
          <p:nvPr/>
        </p:nvSpPr>
        <p:spPr>
          <a:xfrm>
            <a:off x="587146" y="2867564"/>
            <a:ext cx="537249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含硅</a:t>
            </a:r>
          </a:p>
        </p:txBody>
      </p:sp>
      <p:sp>
        <p:nvSpPr>
          <p:cNvPr id="18" name="原题文字_334_52"/>
          <p:cNvSpPr txBox="1"/>
          <p:nvPr/>
        </p:nvSpPr>
        <p:spPr>
          <a:xfrm>
            <a:off x="2225725" y="2829279"/>
            <a:ext cx="560220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洗涤</a:t>
            </a:r>
          </a:p>
        </p:txBody>
      </p:sp>
      <p:sp>
        <p:nvSpPr>
          <p:cNvPr id="19" name="原题文字_334_53"/>
          <p:cNvSpPr txBox="1"/>
          <p:nvPr/>
        </p:nvSpPr>
        <p:spPr>
          <a:xfrm>
            <a:off x="3558028" y="2844593"/>
            <a:ext cx="636789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工艺I</a:t>
            </a:r>
          </a:p>
        </p:txBody>
      </p:sp>
      <p:sp>
        <p:nvSpPr>
          <p:cNvPr id="20" name="原题文字_334_54"/>
          <p:cNvSpPr txBox="1"/>
          <p:nvPr/>
        </p:nvSpPr>
        <p:spPr>
          <a:xfrm>
            <a:off x="4323719" y="2768024"/>
            <a:ext cx="307542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</a:t>
            </a:r>
          </a:p>
        </p:txBody>
      </p:sp>
      <p:sp>
        <p:nvSpPr>
          <p:cNvPr id="21" name="原题文字_334_55"/>
          <p:cNvSpPr txBox="1"/>
          <p:nvPr/>
        </p:nvSpPr>
        <p:spPr>
          <a:xfrm>
            <a:off x="1659113" y="2974760"/>
            <a:ext cx="552563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酸浸</a:t>
            </a:r>
          </a:p>
        </p:txBody>
      </p:sp>
      <p:sp>
        <p:nvSpPr>
          <p:cNvPr id="22" name="原题文字_334_56"/>
          <p:cNvSpPr txBox="1"/>
          <p:nvPr/>
        </p:nvSpPr>
        <p:spPr>
          <a:xfrm>
            <a:off x="3014387" y="2982417"/>
            <a:ext cx="567877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还原</a:t>
            </a:r>
          </a:p>
        </p:txBody>
      </p:sp>
      <p:sp>
        <p:nvSpPr>
          <p:cNvPr id="23" name="原题文字_334_57"/>
          <p:cNvSpPr txBox="1"/>
          <p:nvPr/>
        </p:nvSpPr>
        <p:spPr>
          <a:xfrm>
            <a:off x="571832" y="3097271"/>
            <a:ext cx="544906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废石</a:t>
            </a:r>
          </a:p>
        </p:txBody>
      </p:sp>
      <p:sp>
        <p:nvSpPr>
          <p:cNvPr id="24" name="原题文字_334_58"/>
          <p:cNvSpPr txBox="1"/>
          <p:nvPr/>
        </p:nvSpPr>
        <p:spPr>
          <a:xfrm>
            <a:off x="2210411" y="3081957"/>
            <a:ext cx="583191" cy="4280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7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干燥</a:t>
            </a:r>
          </a:p>
        </p:txBody>
      </p:sp>
      <p:sp>
        <p:nvSpPr>
          <p:cNvPr id="25" name="原题文字_334_59"/>
          <p:cNvSpPr txBox="1"/>
          <p:nvPr/>
        </p:nvSpPr>
        <p:spPr>
          <a:xfrm>
            <a:off x="3519743" y="3104928"/>
            <a:ext cx="721015" cy="408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9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工艺Ⅱ</a:t>
            </a:r>
          </a:p>
        </p:txBody>
      </p:sp>
      <p:sp>
        <p:nvSpPr>
          <p:cNvPr id="26" name="原题文字_334_60"/>
          <p:cNvSpPr txBox="1"/>
          <p:nvPr/>
        </p:nvSpPr>
        <p:spPr>
          <a:xfrm>
            <a:off x="4254807" y="3227439"/>
            <a:ext cx="483651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粗硅</a:t>
            </a:r>
          </a:p>
        </p:txBody>
      </p:sp>
      <p:sp>
        <p:nvSpPr>
          <p:cNvPr id="27" name="原题文字_334_61"/>
          <p:cNvSpPr txBox="1"/>
          <p:nvPr/>
        </p:nvSpPr>
        <p:spPr>
          <a:xfrm>
            <a:off x="4760163" y="3296351"/>
            <a:ext cx="552563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加热</a:t>
            </a:r>
          </a:p>
        </p:txBody>
      </p:sp>
      <p:sp>
        <p:nvSpPr>
          <p:cNvPr id="28" name="原题文字_334_62"/>
          <p:cNvSpPr txBox="1"/>
          <p:nvPr/>
        </p:nvSpPr>
        <p:spPr>
          <a:xfrm>
            <a:off x="5411001" y="3204468"/>
            <a:ext cx="652103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SiHCl₃</a:t>
            </a:r>
          </a:p>
        </p:txBody>
      </p:sp>
      <p:sp>
        <p:nvSpPr>
          <p:cNvPr id="29" name="原题文字_334_63"/>
          <p:cNvSpPr txBox="1"/>
          <p:nvPr/>
        </p:nvSpPr>
        <p:spPr>
          <a:xfrm>
            <a:off x="6222634" y="3296351"/>
            <a:ext cx="544906" cy="3981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92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高温</a:t>
            </a:r>
          </a:p>
        </p:txBody>
      </p:sp>
      <p:sp>
        <p:nvSpPr>
          <p:cNvPr id="30" name="原题文字_334_64"/>
          <p:cNvSpPr txBox="1"/>
          <p:nvPr/>
        </p:nvSpPr>
        <p:spPr>
          <a:xfrm>
            <a:off x="7041924" y="3296351"/>
            <a:ext cx="812898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→纯硅</a:t>
            </a:r>
          </a:p>
        </p:txBody>
      </p:sp>
      <p:sp>
        <p:nvSpPr>
          <p:cNvPr id="31" name="原题文字_334_65"/>
          <p:cNvSpPr txBox="1"/>
          <p:nvPr/>
        </p:nvSpPr>
        <p:spPr>
          <a:xfrm>
            <a:off x="4331376" y="3495431"/>
            <a:ext cx="322855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</a:t>
            </a:r>
          </a:p>
        </p:txBody>
      </p:sp>
      <p:sp>
        <p:nvSpPr>
          <p:cNvPr id="32" name="原题文字_334_66"/>
          <p:cNvSpPr txBox="1"/>
          <p:nvPr/>
        </p:nvSpPr>
        <p:spPr>
          <a:xfrm>
            <a:off x="1659113" y="3794050"/>
            <a:ext cx="537249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浸液</a:t>
            </a:r>
          </a:p>
        </p:txBody>
      </p:sp>
      <p:sp>
        <p:nvSpPr>
          <p:cNvPr id="33" name="文字_HCl ______ H₂"/>
          <p:cNvSpPr txBox="1"/>
          <p:nvPr/>
        </p:nvSpPr>
        <p:spPr>
          <a:xfrm>
            <a:off x="502920" y="4179880"/>
            <a:ext cx="110642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HCl ______ H₂</a:t>
            </a:r>
          </a:p>
        </p:txBody>
      </p:sp>
      <p:sp>
        <p:nvSpPr>
          <p:cNvPr id="34" name="文字_(1)SiO₂是玻璃的主要成分之一，保存氢氧化钠"/>
          <p:cNvSpPr txBox="1"/>
          <p:nvPr/>
        </p:nvSpPr>
        <p:spPr>
          <a:xfrm>
            <a:off x="502920" y="4554784"/>
            <a:ext cx="11064240" cy="68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(1)SiO₂是玻璃的主要成分之一，保存氢氧化钠溶液的玻璃试剂瓶应用橡胶塞的原因是 ______ (用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离子方程式表示)。</a:t>
            </a:r>
          </a:p>
        </p:txBody>
      </p:sp>
      <p:sp>
        <p:nvSpPr>
          <p:cNvPr id="35" name="文字_(2)酸浸所得的浸液中含有的金属离子是"/>
          <p:cNvSpPr txBox="1"/>
          <p:nvPr/>
        </p:nvSpPr>
        <p:spPr>
          <a:xfrm>
            <a:off x="502920" y="5239504"/>
            <a:ext cx="110642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(2)酸浸所得的浸液中含有的金属离子是</a:t>
            </a:r>
          </a:p>
        </p:txBody>
      </p:sp>
      <p:sp>
        <p:nvSpPr>
          <p:cNvPr id="36" name="文字_(3)写出“还原”过程的化学方程式 ______"/>
          <p:cNvSpPr txBox="1"/>
          <p:nvPr/>
        </p:nvSpPr>
        <p:spPr>
          <a:xfrm>
            <a:off x="502920" y="5614408"/>
            <a:ext cx="110642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(3)写出“还原”过程的化学方程式 ______ 。当有1 mol C参与反应时，该反应转移的电子数是</a:t>
            </a:r>
          </a:p>
        </p:txBody>
      </p:sp>
      <p:sp>
        <p:nvSpPr>
          <p:cNvPr id="37" name="文字_(4)写出工艺Ⅱ在高温条件下制备纯硅这一步的化学"/>
          <p:cNvSpPr txBox="1"/>
          <p:nvPr/>
        </p:nvSpPr>
        <p:spPr>
          <a:xfrm>
            <a:off x="502920" y="5989312"/>
            <a:ext cx="110642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5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(4)写出工艺Ⅱ在高温条件下制备纯硅这一步的化学方程式 ______ ，工艺Ⅱ与工艺I相比，其优点</a:t>
            </a:r>
          </a:p>
        </p:txBody>
      </p:sp>
      <p:sp>
        <p:nvSpPr>
          <p:cNvPr id="38" name="文字_解答题  ·  15-01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15-015</a:t>
            </a:r>
          </a:p>
        </p:txBody>
      </p:sp>
      <p:sp>
        <p:nvSpPr>
          <p:cNvPr id="39" name="文字_2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第15章 无机非金属材料</dc:title>
  <dc:subject>高一化学课堂课件：知识讲解与原题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zh-CN</dc:language>
</cp:coreProperties>
</file>
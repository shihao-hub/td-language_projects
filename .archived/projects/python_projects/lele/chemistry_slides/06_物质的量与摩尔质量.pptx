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P134；PDF 文件第 136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P134；PDF 文件第 136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原题定位：知识点1物质的量与阿伏伽德罗常数 / 例题 1 / 单选题</a:t>
            </a:r>
          </a:p>
          <a:p>
            <a:r>
              <a:t>讲义印刷页：P135</a:t>
            </a:r>
          </a:p>
          <a:p>
            <a:r>
              <a:t>PDF 文件页：137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原题定位：知识点1物质的量与阿伏伽德罗常数 / 例题 2 / 单选题</a:t>
            </a:r>
          </a:p>
          <a:p>
            <a:r>
              <a:t>讲义印刷页：P135</a:t>
            </a:r>
          </a:p>
          <a:p>
            <a:r>
              <a:t>PDF 文件页：137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原题定位：知识点1物质的量与阿伏伽德罗常数 / 例题 3 / 单选题</a:t>
            </a:r>
          </a:p>
          <a:p>
            <a:r>
              <a:t>讲义印刷页：P135</a:t>
            </a:r>
          </a:p>
          <a:p>
            <a:r>
              <a:t>PDF 文件页：137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原题定位：知识点1物质的量与阿伏伽德罗常数 / 例题 4 / 单选题</a:t>
            </a:r>
          </a:p>
          <a:p>
            <a:r>
              <a:t>讲义印刷页：P135</a:t>
            </a:r>
          </a:p>
          <a:p>
            <a:r>
              <a:t>PDF 文件页：137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原题定位：知识点1物质的量与阿伏伽德罗常数 / 例题 5 / 填空题</a:t>
            </a:r>
          </a:p>
          <a:p>
            <a:r>
              <a:t>讲义印刷页：P135</a:t>
            </a:r>
          </a:p>
          <a:p>
            <a:r>
              <a:t>PDF 文件页：137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原题定位：知识点1物质的量与阿伏伽德罗常数 / 变式 1 / 单选题</a:t>
            </a:r>
          </a:p>
          <a:p>
            <a:r>
              <a:t>讲义印刷页：P136</a:t>
            </a:r>
          </a:p>
          <a:p>
            <a:r>
              <a:t>PDF 文件页：138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原题定位：知识点1物质的量与阿伏伽德罗常数 / 变式 2 / 单选题</a:t>
            </a:r>
          </a:p>
          <a:p>
            <a:r>
              <a:t>讲义印刷页：P136</a:t>
            </a:r>
          </a:p>
          <a:p>
            <a:r>
              <a:t>PDF 文件页：138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原题定位：知识点1物质的量与阿伏伽德罗常数 / 变式 3 / 单选题</a:t>
            </a:r>
          </a:p>
          <a:p>
            <a:r>
              <a:t>讲义印刷页：P136</a:t>
            </a:r>
          </a:p>
          <a:p>
            <a:r>
              <a:t>PDF 文件页：138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原题定位：知识点1物质的量与阿伏伽德罗常数 / 变式 4 / 单选题</a:t>
            </a:r>
          </a:p>
          <a:p>
            <a:r>
              <a:t>讲义印刷页：P136</a:t>
            </a:r>
          </a:p>
          <a:p>
            <a:r>
              <a:t>PDF 文件页：138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原题定位：知识点1物质的量与阿伏伽德罗常数 / 变式 5 / 填空题</a:t>
            </a:r>
          </a:p>
          <a:p>
            <a:r>
              <a:t>讲义印刷页：P136</a:t>
            </a:r>
          </a:p>
          <a:p>
            <a:r>
              <a:t>PDF 文件页：138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P137；PDF 文件第 139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P137；PDF 文件第 139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例题 1 / 单选题</a:t>
            </a:r>
          </a:p>
          <a:p>
            <a:r>
              <a:t>讲义印刷页：P137</a:t>
            </a:r>
          </a:p>
          <a:p>
            <a:r>
              <a:t>PDF 文件页：139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例题 2 / 单选题</a:t>
            </a:r>
          </a:p>
          <a:p>
            <a:r>
              <a:t>讲义印刷页：P137</a:t>
            </a:r>
          </a:p>
          <a:p>
            <a:r>
              <a:t>PDF 文件页：139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P137：x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例题 3 / 单选题</a:t>
            </a:r>
          </a:p>
          <a:p>
            <a:r>
              <a:t>讲义印刷页：P137</a:t>
            </a:r>
          </a:p>
          <a:p>
            <a:r>
              <a:t>PDF 文件页：139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例题 4 / 单选题</a:t>
            </a:r>
          </a:p>
          <a:p>
            <a:r>
              <a:t>讲义印刷页：P137</a:t>
            </a:r>
          </a:p>
          <a:p>
            <a:r>
              <a:t>PDF 文件页：139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例题 5 / 单选题</a:t>
            </a:r>
          </a:p>
          <a:p>
            <a:r>
              <a:t>讲义印刷页：P138</a:t>
            </a:r>
          </a:p>
          <a:p>
            <a:r>
              <a:t>PDF 文件页：140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例题 6 / 单选题</a:t>
            </a:r>
          </a:p>
          <a:p>
            <a:r>
              <a:t>讲义印刷页：P138</a:t>
            </a:r>
          </a:p>
          <a:p>
            <a:r>
              <a:t>PDF 文件页：140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例题 7 / 单选题</a:t>
            </a:r>
          </a:p>
          <a:p>
            <a:r>
              <a:t>讲义印刷页：P138</a:t>
            </a:r>
          </a:p>
          <a:p>
            <a:r>
              <a:t>PDF 文件页：140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例题 8 / 单选题</a:t>
            </a:r>
          </a:p>
          <a:p>
            <a:r>
              <a:t>讲义印刷页：P138</a:t>
            </a:r>
          </a:p>
          <a:p>
            <a:r>
              <a:t>PDF 文件页：140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例题 9 / 解答题</a:t>
            </a:r>
          </a:p>
          <a:p>
            <a:r>
              <a:t>讲义印刷页：P138</a:t>
            </a:r>
          </a:p>
          <a:p>
            <a:r>
              <a:t>PDF 文件页：140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例题 10 / 填空题</a:t>
            </a:r>
          </a:p>
          <a:p>
            <a:r>
              <a:t>讲义印刷页：P138</a:t>
            </a:r>
          </a:p>
          <a:p>
            <a:r>
              <a:t>PDF 文件页：140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变式 1 / 单选题</a:t>
            </a:r>
          </a:p>
          <a:p>
            <a:r>
              <a:t>讲义印刷页：P139</a:t>
            </a:r>
          </a:p>
          <a:p>
            <a:r>
              <a:t>PDF 文件页：141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变式 2 / 单选题</a:t>
            </a:r>
          </a:p>
          <a:p>
            <a:r>
              <a:t>讲义印刷页：P139</a:t>
            </a:r>
          </a:p>
          <a:p>
            <a:r>
              <a:t>PDF 文件页：141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变式 3 / 单选题</a:t>
            </a:r>
          </a:p>
          <a:p>
            <a:r>
              <a:t>讲义印刷页：P139</a:t>
            </a:r>
          </a:p>
          <a:p>
            <a:r>
              <a:t>PDF 文件页：141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变式 4 / 单选题</a:t>
            </a:r>
          </a:p>
          <a:p>
            <a:r>
              <a:t>讲义印刷页：P139</a:t>
            </a:r>
          </a:p>
          <a:p>
            <a:r>
              <a:t>PDF 文件页：141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变式 5 / 单选题</a:t>
            </a:r>
          </a:p>
          <a:p>
            <a:r>
              <a:t>讲义印刷页：P139</a:t>
            </a:r>
          </a:p>
          <a:p>
            <a:r>
              <a:t>PDF 文件页：141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变式 6 / 填空题</a:t>
            </a:r>
          </a:p>
          <a:p>
            <a:r>
              <a:t>讲义印刷页：P139</a:t>
            </a:r>
          </a:p>
          <a:p>
            <a:r>
              <a:t>PDF 文件页：141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P139：o</a:t>
            </a:r>
          </a:p>
          <a:p>
            <a:r>
              <a:t>P139：o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变式 7 / 解答题</a:t>
            </a:r>
          </a:p>
          <a:p>
            <a:r>
              <a:t>讲义印刷页：P140</a:t>
            </a:r>
          </a:p>
          <a:p>
            <a:r>
              <a:t>PDF 文件页：142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原题定位：知识点2摩尔质量 / 变式 8 / 填空题</a:t>
            </a:r>
          </a:p>
          <a:p>
            <a:r>
              <a:t>讲义印刷页：P140</a:t>
            </a:r>
          </a:p>
          <a:p>
            <a:r>
              <a:t>PDF 文件页：142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物质的量与摩尔质量"/>
          <p:cNvSpPr txBox="1"/>
          <p:nvPr/>
        </p:nvSpPr>
        <p:spPr>
          <a:xfrm>
            <a:off x="713232" y="2103120"/>
            <a:ext cx="10744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物质的量与摩尔质量</a:t>
            </a:r>
          </a:p>
        </p:txBody>
      </p:sp>
      <p:sp>
        <p:nvSpPr>
          <p:cNvPr id="4" name="文字_第 06 章  ·  高一化学"/>
          <p:cNvSpPr txBox="1"/>
          <p:nvPr/>
        </p:nvSpPr>
        <p:spPr>
          <a:xfrm>
            <a:off x="777240" y="151790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第 06 章  ·  高一化学</a:t>
            </a:r>
          </a:p>
        </p:txBody>
      </p:sp>
      <p:sp>
        <p:nvSpPr>
          <p:cNvPr id="5" name="文字_知识讲解  ·  例题与变式  ·  综合练习"/>
          <p:cNvSpPr txBox="1"/>
          <p:nvPr/>
        </p:nvSpPr>
        <p:spPr>
          <a:xfrm>
            <a:off x="777240" y="34747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知识讲解  ·  例题与变式  ·  综合练习</a:t>
            </a:r>
          </a:p>
        </p:txBody>
      </p:sp>
      <p:sp>
        <p:nvSpPr>
          <p:cNvPr id="6" name="文字_讲义 P134–140"/>
          <p:cNvSpPr txBox="1"/>
          <p:nvPr/>
        </p:nvSpPr>
        <p:spPr>
          <a:xfrm>
            <a:off x="804672" y="4892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讲义 P134–140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1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01</a:t>
            </a:r>
          </a:p>
        </p:txBody>
      </p:sp>
      <p:sp>
        <p:nvSpPr>
          <p:cNvPr id="4" name="文字_物质的量与阿伏伽德罗常数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物质的量与阿伏伽德罗常数</a:t>
            </a:r>
          </a:p>
        </p:txBody>
      </p:sp>
      <p:sp>
        <p:nvSpPr>
          <p:cNvPr id="5" name="文字_知识梳理 · 讲义 P134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P134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物质的量与阿伏伽德罗常数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物质的量与阿伏伽德罗常数</a:t>
            </a:r>
          </a:p>
        </p:txBody>
      </p:sp>
      <p:sp>
        <p:nvSpPr>
          <p:cNvPr id="5" name="文字_知识讲解 · P134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P134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物质的量是基本物理量，符号 n，单位摩尔（mol"/>
          <p:cNvSpPr txBox="1"/>
          <p:nvPr/>
        </p:nvSpPr>
        <p:spPr>
          <a:xfrm>
            <a:off x="722376" y="1773936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物质的量是基本物理量，符号 n，单位摩尔（mol），用来计量指定的微观粒子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81025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使用时必须指明粒子：分子、原子、离子、电子等，例"/>
          <p:cNvSpPr txBox="1"/>
          <p:nvPr/>
        </p:nvSpPr>
        <p:spPr>
          <a:xfrm>
            <a:off x="722376" y="272796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使用时必须指明粒子：分子、原子、离子、电子等，例如 1 mol H₂O。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392424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1 mol 指定粒子包含 6.02214076×"/>
          <p:cNvSpPr txBox="1"/>
          <p:nvPr/>
        </p:nvSpPr>
        <p:spPr>
          <a:xfrm>
            <a:off x="722376" y="3310128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 mol 指定粒子包含 6.02214076×10²³ 个粒子；Nₐ = 6.02214076×10²³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mol⁻¹。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434644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计算常取 Nₐ ≈ 6.02×10²³ mol⁻"/>
          <p:cNvSpPr txBox="1"/>
          <p:nvPr/>
        </p:nvSpPr>
        <p:spPr>
          <a:xfrm>
            <a:off x="722376" y="426415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计算常取 Nₐ ≈ 6.02×10²³ mol⁻¹。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92861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粒子数 N = nNₐ；物质的量 n = N／N"/>
          <p:cNvSpPr txBox="1"/>
          <p:nvPr/>
        </p:nvSpPr>
        <p:spPr>
          <a:xfrm>
            <a:off x="722376" y="484632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粒子数 N = nNₐ；物质的量 n = N／Nₐ。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提示  物质的量、物质的质量、粒子数是不同物理量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物质的量、物质的质量、粒子数是不同物理量；Nₐ 有单位，粒子数 N 无量纲。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从化学式读出微粒数量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从化学式读出微粒数量</a:t>
            </a:r>
          </a:p>
        </p:txBody>
      </p:sp>
      <p:sp>
        <p:nvSpPr>
          <p:cNvPr id="5" name="文字_知识讲解 · P134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P134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先确定计量对象，再用化学式中的组成比例换算。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先确定计量对象，再用化学式中的组成比例换算。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1 mol H₂O 含 1 mol 水分子、2 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 mol H₂O 含 1 mol 水分子、2 mol H 原子、1 mol O 原子。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1 mol Na₂SO₄ 完全电离时产生 2 m"/>
          <p:cNvSpPr txBox="1"/>
          <p:nvPr/>
        </p:nvSpPr>
        <p:spPr>
          <a:xfrm>
            <a:off x="722376" y="293827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 mol Na₂SO₄ 完全电离时产生 2 mol Na⁺ 和 1 mol SO₄²⁻。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60273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质子数、电子数：先求每个微粒中的数目，再乘微粒总"/>
          <p:cNvSpPr txBox="1"/>
          <p:nvPr/>
        </p:nvSpPr>
        <p:spPr>
          <a:xfrm>
            <a:off x="722376" y="352044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质子数、电子数：先求每个微粒中的数目，再乘微粒总数。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184903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方程式中化学计量数之比 = 参与反应的物质的量之"/>
          <p:cNvSpPr txBox="1"/>
          <p:nvPr/>
        </p:nvSpPr>
        <p:spPr>
          <a:xfrm>
            <a:off x="722376" y="4102607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方程式中化学计量数之比 = 参与反应的物质的量之比。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提示  离子所带电荷不等于其电子总数；计算混合物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离子所带电荷不等于其电子总数；计算混合物时逐种微粒分别统计。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物质的量与阿伏伽德罗常数 · 例题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物质的量与阿伏伽德罗常数 · 例题1</a:t>
            </a:r>
          </a:p>
        </p:txBody>
      </p:sp>
      <p:sp>
        <p:nvSpPr>
          <p:cNvPr id="5" name="文字_P13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P135</a:t>
            </a:r>
          </a:p>
        </p:txBody>
      </p:sp>
      <p:sp>
        <p:nvSpPr>
          <p:cNvPr id="6" name="文字_下列关于物质的量的说法中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下列关于物质的量的说法中正确的是</a:t>
            </a:r>
          </a:p>
        </p:txBody>
      </p:sp>
      <p:sp>
        <p:nvSpPr>
          <p:cNvPr id="7" name="文字_A. 摩尔是国际单位制中的一个物理量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摩尔是国际单位制中的一个物理量</a:t>
            </a:r>
          </a:p>
        </p:txBody>
      </p:sp>
      <p:sp>
        <p:nvSpPr>
          <p:cNvPr id="8" name="文字_B. 物质的量是指物质中所含微粒的个数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物质的量是指物质中所含微粒的个数</a:t>
            </a:r>
          </a:p>
        </p:txBody>
      </p:sp>
      <p:sp>
        <p:nvSpPr>
          <p:cNvPr id="9" name="文字_C. 物质的量就是物质的质量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物质的量就是物质的质量</a:t>
            </a:r>
          </a:p>
        </p:txBody>
      </p:sp>
      <p:sp>
        <p:nvSpPr>
          <p:cNvPr id="10" name="文字_D. 物质的量只能计量微观粒子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物质的量只能计量微观粒子</a:t>
            </a:r>
          </a:p>
        </p:txBody>
      </p:sp>
      <p:sp>
        <p:nvSpPr>
          <p:cNvPr id="11" name="文字_单选题  ·  06-00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06-001</a:t>
            </a:r>
          </a:p>
        </p:txBody>
      </p:sp>
      <p:sp>
        <p:nvSpPr>
          <p:cNvPr id="12" name="文字_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物质的量与阿伏伽德罗常数 · 例题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物质的量与阿伏伽德罗常数 · 例题2</a:t>
            </a:r>
          </a:p>
        </p:txBody>
      </p:sp>
      <p:sp>
        <p:nvSpPr>
          <p:cNvPr id="5" name="文字_P13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P135</a:t>
            </a:r>
          </a:p>
        </p:txBody>
      </p:sp>
      <p:sp>
        <p:nvSpPr>
          <p:cNvPr id="6" name="文字_准确理解概念内涵才能准确把握概念本质。下列有关1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准确理解概念内涵才能准确把握概念本质。下列有关1mol的含义叙述中错误的是</a:t>
            </a:r>
          </a:p>
        </p:txBody>
      </p:sp>
      <p:sp>
        <p:nvSpPr>
          <p:cNvPr id="7" name="文字_A. 1mol任何物质都含有6.02×1023个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1mol任何物质都含有6.02×1023个分子</a:t>
            </a:r>
          </a:p>
        </p:txBody>
      </p:sp>
      <p:sp>
        <p:nvSpPr>
          <p:cNvPr id="8" name="文字_B. 16gO₂约含有6.02×1023个氧原子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16gO₂约含有6.02×1023个氧原子</a:t>
            </a:r>
          </a:p>
        </p:txBody>
      </p:sp>
      <p:sp>
        <p:nvSpPr>
          <p:cNvPr id="9" name="文字_C. 4mol水中含有8molH和4molO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4mol水中含有8molH和4molO</a:t>
            </a:r>
          </a:p>
        </p:txBody>
      </p:sp>
      <p:sp>
        <p:nvSpPr>
          <p:cNvPr id="10" name="文字_D. 1molNe中含有6.02×1023个电子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1molNe中含有6.02×1023个电子</a:t>
            </a:r>
          </a:p>
        </p:txBody>
      </p:sp>
      <p:sp>
        <p:nvSpPr>
          <p:cNvPr id="11" name="文字_单选题  ·  06-00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06-002</a:t>
            </a:r>
          </a:p>
        </p:txBody>
      </p:sp>
      <p:sp>
        <p:nvSpPr>
          <p:cNvPr id="12" name="文字_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物质的量与阿伏伽德罗常数 · 例题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物质的量与阿伏伽德罗常数 · 例题3</a:t>
            </a:r>
          </a:p>
        </p:txBody>
      </p:sp>
      <p:sp>
        <p:nvSpPr>
          <p:cNvPr id="5" name="文字_P13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P135</a:t>
            </a:r>
          </a:p>
        </p:txBody>
      </p:sp>
      <p:sp>
        <p:nvSpPr>
          <p:cNvPr id="6" name="文字_下列关于0.2 mol硫酸铜晶体(CuSO₄·5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下列关于0.2 mol硫酸铜晶体(CuSO₄·5H₂O)的说法中，错误的是(</a:t>
            </a:r>
          </a:p>
        </p:txBody>
      </p:sp>
      <p:sp>
        <p:nvSpPr>
          <p:cNvPr id="7" name="文字_A. 含有铜离子的数目为0.2NA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含有铜离子的数目为0.2NA</a:t>
            </a:r>
          </a:p>
        </p:txBody>
      </p:sp>
      <p:sp>
        <p:nvSpPr>
          <p:cNvPr id="8" name="文字_B. 含有结晶水的数目为NA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含有结晶水的数目为NA</a:t>
            </a:r>
          </a:p>
        </p:txBody>
      </p:sp>
      <p:sp>
        <p:nvSpPr>
          <p:cNvPr id="9" name="文字_C. 含有氢原子的数目为2NA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含有氢原子的数目为2NA</a:t>
            </a:r>
          </a:p>
        </p:txBody>
      </p:sp>
      <p:sp>
        <p:nvSpPr>
          <p:cNvPr id="10" name="文字_D. 含有氧原子的数目为0.8NA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含有氧原子的数目为0.8NA</a:t>
            </a:r>
          </a:p>
        </p:txBody>
      </p:sp>
      <p:sp>
        <p:nvSpPr>
          <p:cNvPr id="11" name="文字_单选题  ·  06-00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06-003</a:t>
            </a:r>
          </a:p>
        </p:txBody>
      </p:sp>
      <p:sp>
        <p:nvSpPr>
          <p:cNvPr id="12" name="文字_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物质的量与阿伏伽德罗常数 · 例题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物质的量与阿伏伽德罗常数 · 例题4</a:t>
            </a:r>
          </a:p>
        </p:txBody>
      </p:sp>
      <p:sp>
        <p:nvSpPr>
          <p:cNvPr id="5" name="文字_P13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P135</a:t>
            </a:r>
          </a:p>
        </p:txBody>
      </p:sp>
      <p:sp>
        <p:nvSpPr>
          <p:cNvPr id="6" name="文字_下列物质所含原子数由多到少的顺序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下列物质所含原子数由多到少的顺序是（）</a:t>
            </a:r>
          </a:p>
        </p:txBody>
      </p:sp>
      <p:sp>
        <p:nvSpPr>
          <p:cNvPr id="7" name="文字_①1.204×1024个C ②0.7 mol N"/>
          <p:cNvSpPr txBox="1"/>
          <p:nvPr/>
        </p:nvSpPr>
        <p:spPr>
          <a:xfrm>
            <a:off x="502920" y="1517904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①1.204×1024个C ②0.7 mol NH₃ ③1.204×1023个钠原子 ④0.2 mol H₂SO₄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⑤1mol He</a:t>
            </a:r>
          </a:p>
        </p:txBody>
      </p:sp>
      <p:sp>
        <p:nvSpPr>
          <p:cNvPr id="8" name="文字_A. ①③②④⑤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①③②④⑤</a:t>
            </a:r>
          </a:p>
        </p:txBody>
      </p:sp>
      <p:sp>
        <p:nvSpPr>
          <p:cNvPr id="9" name="文字_B. ②①④⑤③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②①④⑤③</a:t>
            </a:r>
          </a:p>
        </p:txBody>
      </p:sp>
      <p:sp>
        <p:nvSpPr>
          <p:cNvPr id="10" name="文字_C. ②④①⑤③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②④①⑤③</a:t>
            </a:r>
          </a:p>
        </p:txBody>
      </p:sp>
      <p:sp>
        <p:nvSpPr>
          <p:cNvPr id="11" name="文字_D. ④⑤②①③"/>
          <p:cNvSpPr txBox="1"/>
          <p:nvPr/>
        </p:nvSpPr>
        <p:spPr>
          <a:xfrm>
            <a:off x="502920" y="36362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④⑤②①③</a:t>
            </a:r>
          </a:p>
        </p:txBody>
      </p:sp>
      <p:sp>
        <p:nvSpPr>
          <p:cNvPr id="12" name="文字_单选题  ·  06-00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06-004</a:t>
            </a:r>
          </a:p>
        </p:txBody>
      </p:sp>
      <p:sp>
        <p:nvSpPr>
          <p:cNvPr id="13" name="文字_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物质的量与阿伏伽德罗常数 · 例题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物质的量与阿伏伽德罗常数 · 例题5</a:t>
            </a:r>
          </a:p>
        </p:txBody>
      </p:sp>
      <p:sp>
        <p:nvSpPr>
          <p:cNvPr id="5" name="文字_P13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P135</a:t>
            </a:r>
          </a:p>
        </p:txBody>
      </p:sp>
      <p:sp>
        <p:nvSpPr>
          <p:cNvPr id="6" name="文字_(1)约3.01×1023个OH-的物质的量为 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(1)约3.01×1023个OH-的物质的量为 ______ mol。</a:t>
            </a:r>
          </a:p>
        </p:txBody>
      </p:sp>
      <p:sp>
        <p:nvSpPr>
          <p:cNvPr id="7" name="文字_(2) 4molCH₄约含有 ______ 个C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4molCH₄约含有 ______ 个CH₄分子。</a:t>
            </a:r>
          </a:p>
        </p:txBody>
      </p:sp>
      <p:sp>
        <p:nvSpPr>
          <p:cNvPr id="8" name="文字_(3） 0.3molH₃PO₄中所含有的原子的物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(3） 0.3molH₃PO₄中所含有的原子的物质的量为 ______ molo</a:t>
            </a:r>
          </a:p>
        </p:txBody>
      </p:sp>
      <p:sp>
        <p:nvSpPr>
          <p:cNvPr id="9" name="文字_(4）某Fe₂(SO₄)₃溶液中，含有0.9mo"/>
          <p:cNvSpPr txBox="1"/>
          <p:nvPr/>
        </p:nvSpPr>
        <p:spPr>
          <a:xfrm>
            <a:off x="502920" y="2395728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(4）某Fe₂(SO₄)₃溶液中，含有0.9mol的SO₄²⁻，则Fe₂(SO₄)₃的物质的量是 __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____ mol，Fe³⁺的物质的量是molo</a:t>
            </a:r>
          </a:p>
        </p:txBody>
      </p:sp>
      <p:sp>
        <p:nvSpPr>
          <p:cNvPr id="10" name="文字_填空题  ·  06-00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06-005</a:t>
            </a:r>
          </a:p>
        </p:txBody>
      </p:sp>
      <p:sp>
        <p:nvSpPr>
          <p:cNvPr id="11" name="文字_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物质的量与阿伏伽德罗常数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物质的量与阿伏伽德罗常数 · 变式1</a:t>
            </a:r>
          </a:p>
        </p:txBody>
      </p:sp>
      <p:sp>
        <p:nvSpPr>
          <p:cNvPr id="5" name="文字_P13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P136</a:t>
            </a:r>
          </a:p>
        </p:txBody>
      </p:sp>
      <p:sp>
        <p:nvSpPr>
          <p:cNvPr id="6" name="文字_下列叙述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下列叙述正确的是（）</a:t>
            </a:r>
          </a:p>
        </p:txBody>
      </p:sp>
      <p:sp>
        <p:nvSpPr>
          <p:cNvPr id="7" name="文字_A. 摩尔的计量对象可以是分子、离子、原子、质子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摩尔的计量对象可以是分子、离子、原子、质子、中子、电子和原子团</a:t>
            </a:r>
          </a:p>
        </p:txBody>
      </p:sp>
      <p:sp>
        <p:nvSpPr>
          <p:cNvPr id="8" name="文字_B. 摩尔是国际单位制中七个基本物理量之一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摩尔是国际单位制中七个基本物理量之一</a:t>
            </a:r>
          </a:p>
        </p:txBody>
      </p:sp>
      <p:sp>
        <p:nvSpPr>
          <p:cNvPr id="9" name="文字_C. 阿伏加德罗常数是0.012kg12C中所含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阿伏加德罗常数是0.012kg12C中所含的原子数</a:t>
            </a:r>
          </a:p>
        </p:txBody>
      </p:sp>
      <p:sp>
        <p:nvSpPr>
          <p:cNvPr id="10" name="文字_D. 1mol任何物质都含有约6.02×1023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1mol任何物质都含有约6.02×1023个原子</a:t>
            </a:r>
          </a:p>
        </p:txBody>
      </p:sp>
      <p:sp>
        <p:nvSpPr>
          <p:cNvPr id="11" name="文字_单选题  ·  06-00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06-006</a:t>
            </a:r>
          </a:p>
        </p:txBody>
      </p:sp>
      <p:sp>
        <p:nvSpPr>
          <p:cNvPr id="12" name="文字_1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物质的量与阿伏伽德罗常数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物质的量与阿伏伽德罗常数 · 变式2</a:t>
            </a:r>
          </a:p>
        </p:txBody>
      </p:sp>
      <p:sp>
        <p:nvSpPr>
          <p:cNvPr id="5" name="文字_P13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P136</a:t>
            </a:r>
          </a:p>
        </p:txBody>
      </p:sp>
      <p:sp>
        <p:nvSpPr>
          <p:cNvPr id="6" name="文字_NA为阿伏加德罗常数的值。下列说法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NA为阿伏加德罗常数的值。下列说法正确的是（）</a:t>
            </a:r>
          </a:p>
        </p:txBody>
      </p:sp>
      <p:sp>
        <p:nvSpPr>
          <p:cNvPr id="7" name="文字_A. 0.1molNH₄⁺含有电子数为1.1NA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0.1molNH₄⁺含有电子数为1.1NA</a:t>
            </a:r>
          </a:p>
        </p:txBody>
      </p:sp>
      <p:sp>
        <p:nvSpPr>
          <p:cNvPr id="8" name="文字_B. 1mol K₂SO₄中含有K+的数目为2N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1mol K₂SO₄中含有K+的数目为2NA</a:t>
            </a:r>
          </a:p>
        </p:txBody>
      </p:sp>
      <p:sp>
        <p:nvSpPr>
          <p:cNvPr id="9" name="文字_C. 2gH₂O中含有质子数、中子数、电子数均为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2gH₂O中含有质子数、中子数、电子数均为NA</a:t>
            </a:r>
          </a:p>
        </p:txBody>
      </p:sp>
      <p:sp>
        <p:nvSpPr>
          <p:cNvPr id="10" name="文字_D. 6.02×1023就是阿伏加德罗常数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6.02×1023就是阿伏加德罗常数</a:t>
            </a:r>
          </a:p>
        </p:txBody>
      </p:sp>
      <p:sp>
        <p:nvSpPr>
          <p:cNvPr id="11" name="文字_单选题  ·  06-00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06-007</a:t>
            </a:r>
          </a:p>
        </p:txBody>
      </p:sp>
      <p:sp>
        <p:nvSpPr>
          <p:cNvPr id="12" name="文字_1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物质的量与阿伏伽德罗常数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物质的量与阿伏伽德罗常数 · 变式3</a:t>
            </a:r>
          </a:p>
        </p:txBody>
      </p:sp>
      <p:sp>
        <p:nvSpPr>
          <p:cNvPr id="5" name="文字_P13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P136</a:t>
            </a:r>
          </a:p>
        </p:txBody>
      </p:sp>
      <p:sp>
        <p:nvSpPr>
          <p:cNvPr id="6" name="文字_下列关于3molSO₂叙述中，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下列关于3molSO₂叙述中，正确的是（）</a:t>
            </a:r>
          </a:p>
        </p:txBody>
      </p:sp>
      <p:sp>
        <p:nvSpPr>
          <p:cNvPr id="7" name="文字_A. 与3molSO₃的原子数目相同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与3molSO₃的原子数目相同</a:t>
            </a:r>
          </a:p>
        </p:txBody>
      </p:sp>
      <p:sp>
        <p:nvSpPr>
          <p:cNvPr id="8" name="文字_B. 含有2mol氧原子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含有2mol氧原子</a:t>
            </a:r>
          </a:p>
        </p:txBody>
      </p:sp>
      <p:sp>
        <p:nvSpPr>
          <p:cNvPr id="9" name="文字_C. 与1molC₂H₄的原子数目相同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与1molC₂H₄的原子数目相同</a:t>
            </a:r>
          </a:p>
        </p:txBody>
      </p:sp>
      <p:sp>
        <p:nvSpPr>
          <p:cNvPr id="10" name="文字_D. 3molSO₂与1molSO₃中氧原子物质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3molSO₂与1molSO₃中氧原子物质的量之比为2:1</a:t>
            </a:r>
          </a:p>
        </p:txBody>
      </p:sp>
      <p:sp>
        <p:nvSpPr>
          <p:cNvPr id="11" name="文字_单选题  ·  06-00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06-008</a:t>
            </a:r>
          </a:p>
        </p:txBody>
      </p:sp>
      <p:sp>
        <p:nvSpPr>
          <p:cNvPr id="12" name="文字_1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物质的量与阿伏伽德罗常数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物质的量与阿伏伽德罗常数 · 变式4</a:t>
            </a:r>
          </a:p>
        </p:txBody>
      </p:sp>
      <p:sp>
        <p:nvSpPr>
          <p:cNvPr id="5" name="文字_P13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P136</a:t>
            </a:r>
          </a:p>
        </p:txBody>
      </p:sp>
      <p:sp>
        <p:nvSpPr>
          <p:cNvPr id="6" name="文字_相等物质的量的CO和CO₂相比较,下列有关叙述中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相等物质的量的CO和CO₂相比较,下列有关叙述中正确的是（）</a:t>
            </a:r>
          </a:p>
        </p:txBody>
      </p:sp>
      <p:sp>
        <p:nvSpPr>
          <p:cNvPr id="7" name="文字_①它们所含的分子数目之比为1:1②它们所含的0原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①它们所含的分子数目之比为1:1②它们所含的0原子数目之比为1:2</a:t>
            </a:r>
          </a:p>
        </p:txBody>
      </p:sp>
      <p:sp>
        <p:nvSpPr>
          <p:cNvPr id="8" name="文字_③它们所含的原子总数目之比为2:3④它们所含的C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③它们所含的原子总数目之比为2:3④它们所含的C原子数目之比为1:1</a:t>
            </a:r>
          </a:p>
        </p:txBody>
      </p:sp>
      <p:sp>
        <p:nvSpPr>
          <p:cNvPr id="9" name="文字_⑤它们所含的电子数目之比为7:11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⑤它们所含的电子数目之比为7:11</a:t>
            </a:r>
          </a:p>
        </p:txBody>
      </p:sp>
      <p:sp>
        <p:nvSpPr>
          <p:cNvPr id="10" name="文字_A. ①②③④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①②③④</a:t>
            </a:r>
          </a:p>
        </p:txBody>
      </p:sp>
      <p:sp>
        <p:nvSpPr>
          <p:cNvPr id="11" name="文字_B. ②和③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②和③</a:t>
            </a:r>
          </a:p>
        </p:txBody>
      </p:sp>
      <p:sp>
        <p:nvSpPr>
          <p:cNvPr id="12" name="文字_C. ④和⑤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④和⑤</a:t>
            </a:r>
          </a:p>
        </p:txBody>
      </p:sp>
      <p:sp>
        <p:nvSpPr>
          <p:cNvPr id="13" name="文字_D. ①②③④⑤"/>
          <p:cNvSpPr txBox="1"/>
          <p:nvPr/>
        </p:nvSpPr>
        <p:spPr>
          <a:xfrm>
            <a:off x="502920" y="41513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①②③④⑤</a:t>
            </a:r>
          </a:p>
        </p:txBody>
      </p:sp>
      <p:sp>
        <p:nvSpPr>
          <p:cNvPr id="14" name="文字_单选题  ·  06-00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06-009</a:t>
            </a:r>
          </a:p>
        </p:txBody>
      </p:sp>
      <p:sp>
        <p:nvSpPr>
          <p:cNvPr id="15" name="文字_1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物质的量与阿伏伽德罗常数 · 变式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物质的量与阿伏伽德罗常数 · 变式5</a:t>
            </a:r>
          </a:p>
        </p:txBody>
      </p:sp>
      <p:sp>
        <p:nvSpPr>
          <p:cNvPr id="5" name="文字_P13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P136</a:t>
            </a:r>
          </a:p>
        </p:txBody>
      </p:sp>
      <p:sp>
        <p:nvSpPr>
          <p:cNvPr id="6" name="文字_(1) 0.5mol H₂O中含有 ______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 0.5mol H₂O中含有 ______ 个氧原子， ______ 个氢原子</a:t>
            </a:r>
          </a:p>
        </p:txBody>
      </p:sp>
      <p:sp>
        <p:nvSpPr>
          <p:cNvPr id="7" name="文字_(2) 0.1mol H₂SO₄约含 _____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0.1mol H₂SO₄约含 ______ 个H原子，溶于水后电离产生 ______ 个SO₄²⁻</a:t>
            </a:r>
          </a:p>
        </p:txBody>
      </p:sp>
      <p:sp>
        <p:nvSpPr>
          <p:cNvPr id="8" name="文字_(3）要使NH₃与CH₄含相同数目的H原子，则N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(3）要使NH₃与CH₄含相同数目的H原子，则NH₃和CH₄的物质的量之比为</a:t>
            </a:r>
          </a:p>
        </p:txBody>
      </p:sp>
      <p:sp>
        <p:nvSpPr>
          <p:cNvPr id="9" name="文字_(4) 下列各物质：①6.02×1023个CH₄"/>
          <p:cNvSpPr txBox="1"/>
          <p:nvPr/>
        </p:nvSpPr>
        <p:spPr>
          <a:xfrm>
            <a:off x="502920" y="2395728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 下列各物质：①6.02×1023个CH₄②2.5molH₂S③1.5molNH₃所含氢原子数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目由多到少的顺序是</a:t>
            </a:r>
          </a:p>
        </p:txBody>
      </p:sp>
      <p:sp>
        <p:nvSpPr>
          <p:cNvPr id="10" name="文字_(5）amolH₂SO₄中含有b个氧原子，则阿伏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(5）amolH₂SO₄中含有b个氧原子，则阿伏加德罗常数可以表示为</a:t>
            </a:r>
          </a:p>
        </p:txBody>
      </p:sp>
      <p:sp>
        <p:nvSpPr>
          <p:cNvPr id="11" name="文字_填空题  ·  06-01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06-010</a:t>
            </a:r>
          </a:p>
        </p:txBody>
      </p:sp>
      <p:sp>
        <p:nvSpPr>
          <p:cNvPr id="12" name="文字_1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2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02</a:t>
            </a:r>
          </a:p>
        </p:txBody>
      </p:sp>
      <p:sp>
        <p:nvSpPr>
          <p:cNvPr id="4" name="文字_摩尔质量与三种基本换算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摩尔质量与三种基本换算</a:t>
            </a:r>
          </a:p>
        </p:txBody>
      </p:sp>
      <p:sp>
        <p:nvSpPr>
          <p:cNvPr id="5" name="文字_知识梳理 · 讲义 P137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P137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摩尔质量与三种基本换算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摩尔质量与三种基本换算</a:t>
            </a:r>
          </a:p>
        </p:txBody>
      </p:sp>
      <p:sp>
        <p:nvSpPr>
          <p:cNvPr id="5" name="文字_知识讲解 · P137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P137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73936"/>
          <a:ext cx="11109960" cy="3244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4980"/>
                <a:gridCol w="5554980"/>
              </a:tblGrid>
              <a:tr h="485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物理量或关系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表达式与单位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摩尔质量 M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 = m／n，常用单位 g·mol⁻¹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质量 → 物质的量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n = m／M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粒子数 → 物质的量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n = N／Nₐ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质量 → 粒子数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N = (m／M)Nₐ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58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数值关系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以 g·mol⁻¹ 表示时，M 的数值等于相对原子／分子质量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93776" y="5155184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字_提示  例如 Fe 的相对原子质量约为 56，摩"/>
          <p:cNvSpPr txBox="1"/>
          <p:nvPr/>
        </p:nvSpPr>
        <p:spPr>
          <a:xfrm>
            <a:off x="630936" y="5214620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例如 Fe 的相对原子质量约为 56，摩尔质量约为 56 g·mol⁻¹。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摩尔质量计算的常见易错点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摩尔质量计算的常见易错点</a:t>
            </a:r>
          </a:p>
        </p:txBody>
      </p:sp>
      <p:sp>
        <p:nvSpPr>
          <p:cNvPr id="5" name="文字_知识讲解 · P137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P137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结晶水必须计入摩尔质量，例如 CuSO₄·5H₂"/>
          <p:cNvSpPr txBox="1"/>
          <p:nvPr/>
        </p:nvSpPr>
        <p:spPr>
          <a:xfrm>
            <a:off x="722376" y="1773936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结晶水必须计入摩尔质量，例如 CuSO₄·5H₂O；称量晶体不能直接使用无水盐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的 M。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81025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分子与原子不要混淆，例如 1 mol O₂ 与 "/>
          <p:cNvSpPr txBox="1"/>
          <p:nvPr/>
        </p:nvSpPr>
        <p:spPr>
          <a:xfrm>
            <a:off x="722376" y="272796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分子与原子不要混淆，例如 1 mol O₂ 与 1 mol O 的质量不同。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392424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同素异形体可有相同元素质量关系，但分子数不一定相"/>
          <p:cNvSpPr txBox="1"/>
          <p:nvPr/>
        </p:nvSpPr>
        <p:spPr>
          <a:xfrm>
            <a:off x="722376" y="3310128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同素异形体可有相同元素质量关系，但分子数不一定相同，如 O₂ 与 O₃。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97459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反应中的比例先换成 mol，再按方程式计算，最后"/>
          <p:cNvSpPr txBox="1"/>
          <p:nvPr/>
        </p:nvSpPr>
        <p:spPr>
          <a:xfrm>
            <a:off x="722376" y="389229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反应中的比例先换成 mol，再按方程式计算，最后换回所求量。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例题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例题1</a:t>
            </a:r>
          </a:p>
        </p:txBody>
      </p:sp>
      <p:sp>
        <p:nvSpPr>
          <p:cNvPr id="5" name="文字_P13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P137</a:t>
            </a:r>
          </a:p>
        </p:txBody>
      </p:sp>
      <p:sp>
        <p:nvSpPr>
          <p:cNvPr id="6" name="文字_下列叙述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下列叙述正确的是（）</a:t>
            </a:r>
          </a:p>
        </p:txBody>
      </p:sp>
      <p:sp>
        <p:nvSpPr>
          <p:cNvPr id="7" name="文字_A. 1molH₂SO₄的质量为98g·mol⁻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1molH₂SO₄的质量为98g·mol⁻¹</a:t>
            </a:r>
          </a:p>
        </p:txBody>
      </p:sp>
      <p:sp>
        <p:nvSpPr>
          <p:cNvPr id="8" name="文字_B. H₂SO₄的摩尔质量为98g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H₂SO₄的摩尔质量为98g</a:t>
            </a:r>
          </a:p>
        </p:txBody>
      </p:sp>
      <p:sp>
        <p:nvSpPr>
          <p:cNvPr id="9" name="文字_C. 9.8gH₂SO₄中含有NA个H₂SO₄分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9.8gH₂SO₄中含有NA个H₂SO₄分子</a:t>
            </a:r>
          </a:p>
        </p:txBody>
      </p:sp>
      <p:sp>
        <p:nvSpPr>
          <p:cNvPr id="10" name="文字_D. 6.02×1023个H₂SO₄分子的质量为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6.02×1023个H₂SO₄分子的质量为98g</a:t>
            </a:r>
          </a:p>
        </p:txBody>
      </p:sp>
      <p:sp>
        <p:nvSpPr>
          <p:cNvPr id="11" name="文字_单选题  ·  06-01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06-011</a:t>
            </a:r>
          </a:p>
        </p:txBody>
      </p:sp>
      <p:sp>
        <p:nvSpPr>
          <p:cNvPr id="12" name="文字_1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例题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例题2</a:t>
            </a:r>
          </a:p>
        </p:txBody>
      </p:sp>
      <p:sp>
        <p:nvSpPr>
          <p:cNvPr id="5" name="文字_P13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P137</a:t>
            </a:r>
          </a:p>
        </p:txBody>
      </p:sp>
      <p:sp>
        <p:nvSpPr>
          <p:cNvPr id="6" name="文字_若mgCO₂中含有x个原子，则阿伏加德罗常数可表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若mgCO₂中含有x个原子，则阿伏加德罗常数可表示为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7904"/>
            <a:ext cx="11064240" cy="589582"/>
          </a:xfrm>
          <a:prstGeom prst="rect">
            <a:avLst/>
          </a:prstGeom>
        </p:spPr>
      </p:pic>
      <p:sp>
        <p:nvSpPr>
          <p:cNvPr id="8" name="原题文字_137_23"/>
          <p:cNvSpPr txBox="1"/>
          <p:nvPr/>
        </p:nvSpPr>
        <p:spPr>
          <a:xfrm>
            <a:off x="564175" y="1702926"/>
            <a:ext cx="345826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</a:t>
            </a:r>
          </a:p>
        </p:txBody>
      </p:sp>
      <p:sp>
        <p:nvSpPr>
          <p:cNvPr id="9" name="原题文字_137_24"/>
          <p:cNvSpPr txBox="1"/>
          <p:nvPr/>
        </p:nvSpPr>
        <p:spPr>
          <a:xfrm>
            <a:off x="985305" y="1572758"/>
            <a:ext cx="246286" cy="2886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9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</a:t>
            </a:r>
          </a:p>
        </p:txBody>
      </p:sp>
      <p:sp>
        <p:nvSpPr>
          <p:cNvPr id="10" name="原题文字_137_25"/>
          <p:cNvSpPr txBox="1"/>
          <p:nvPr/>
        </p:nvSpPr>
        <p:spPr>
          <a:xfrm>
            <a:off x="1153757" y="1634013"/>
            <a:ext cx="667417" cy="4777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8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-mol-1</a:t>
            </a:r>
          </a:p>
        </p:txBody>
      </p:sp>
      <p:sp>
        <p:nvSpPr>
          <p:cNvPr id="11" name="原题文字_137_26"/>
          <p:cNvSpPr txBox="1"/>
          <p:nvPr/>
        </p:nvSpPr>
        <p:spPr>
          <a:xfrm>
            <a:off x="3236438" y="1649327"/>
            <a:ext cx="361140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</a:t>
            </a:r>
          </a:p>
        </p:txBody>
      </p:sp>
      <p:sp>
        <p:nvSpPr>
          <p:cNvPr id="12" name="原题文字_137_27"/>
          <p:cNvSpPr txBox="1"/>
          <p:nvPr/>
        </p:nvSpPr>
        <p:spPr>
          <a:xfrm>
            <a:off x="3657568" y="1565101"/>
            <a:ext cx="261600" cy="2588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5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x</a:t>
            </a:r>
          </a:p>
        </p:txBody>
      </p:sp>
      <p:sp>
        <p:nvSpPr>
          <p:cNvPr id="13" name="原题文字_137_28"/>
          <p:cNvSpPr txBox="1"/>
          <p:nvPr/>
        </p:nvSpPr>
        <p:spPr>
          <a:xfrm>
            <a:off x="3833677" y="1595729"/>
            <a:ext cx="652103" cy="4578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-mol-1</a:t>
            </a:r>
          </a:p>
        </p:txBody>
      </p:sp>
      <p:sp>
        <p:nvSpPr>
          <p:cNvPr id="14" name="原题文字_137_29"/>
          <p:cNvSpPr txBox="1"/>
          <p:nvPr/>
        </p:nvSpPr>
        <p:spPr>
          <a:xfrm>
            <a:off x="5924014" y="1672298"/>
            <a:ext cx="376454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</a:t>
            </a:r>
          </a:p>
        </p:txBody>
      </p:sp>
      <p:sp>
        <p:nvSpPr>
          <p:cNvPr id="15" name="原题文字_137_30"/>
          <p:cNvSpPr txBox="1"/>
          <p:nvPr/>
        </p:nvSpPr>
        <p:spPr>
          <a:xfrm>
            <a:off x="6314517" y="1565101"/>
            <a:ext cx="368797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3x</a:t>
            </a:r>
          </a:p>
        </p:txBody>
      </p:sp>
      <p:sp>
        <p:nvSpPr>
          <p:cNvPr id="16" name="原题文字_137_31"/>
          <p:cNvSpPr txBox="1"/>
          <p:nvPr/>
        </p:nvSpPr>
        <p:spPr>
          <a:xfrm>
            <a:off x="6536567" y="1634013"/>
            <a:ext cx="667417" cy="4678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mol-1</a:t>
            </a:r>
          </a:p>
        </p:txBody>
      </p:sp>
      <p:sp>
        <p:nvSpPr>
          <p:cNvPr id="17" name="原题文字_137_32"/>
          <p:cNvSpPr txBox="1"/>
          <p:nvPr/>
        </p:nvSpPr>
        <p:spPr>
          <a:xfrm>
            <a:off x="8619248" y="1710582"/>
            <a:ext cx="353483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</a:t>
            </a:r>
          </a:p>
        </p:txBody>
      </p:sp>
      <p:sp>
        <p:nvSpPr>
          <p:cNvPr id="18" name="原题文字_137_33"/>
          <p:cNvSpPr txBox="1"/>
          <p:nvPr/>
        </p:nvSpPr>
        <p:spPr>
          <a:xfrm>
            <a:off x="9002093" y="1549787"/>
            <a:ext cx="475994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44x</a:t>
            </a:r>
          </a:p>
        </p:txBody>
      </p:sp>
      <p:sp>
        <p:nvSpPr>
          <p:cNvPr id="19" name="原题文字_137_34"/>
          <p:cNvSpPr txBox="1"/>
          <p:nvPr/>
        </p:nvSpPr>
        <p:spPr>
          <a:xfrm>
            <a:off x="9308370" y="1634013"/>
            <a:ext cx="698044" cy="5176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5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-mol-1</a:t>
            </a:r>
          </a:p>
        </p:txBody>
      </p:sp>
      <p:sp>
        <p:nvSpPr>
          <p:cNvPr id="20" name="原题文字_137_35"/>
          <p:cNvSpPr txBox="1"/>
          <p:nvPr/>
        </p:nvSpPr>
        <p:spPr>
          <a:xfrm>
            <a:off x="939364" y="1848407"/>
            <a:ext cx="361140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44</a:t>
            </a:r>
          </a:p>
        </p:txBody>
      </p:sp>
      <p:sp>
        <p:nvSpPr>
          <p:cNvPr id="21" name="原题文字_137_36"/>
          <p:cNvSpPr txBox="1"/>
          <p:nvPr/>
        </p:nvSpPr>
        <p:spPr>
          <a:xfrm>
            <a:off x="3611626" y="1802465"/>
            <a:ext cx="368797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22</a:t>
            </a:r>
          </a:p>
        </p:txBody>
      </p:sp>
      <p:sp>
        <p:nvSpPr>
          <p:cNvPr id="22" name="原题文字_137_37"/>
          <p:cNvSpPr txBox="1"/>
          <p:nvPr/>
        </p:nvSpPr>
        <p:spPr>
          <a:xfrm>
            <a:off x="6322174" y="1848407"/>
            <a:ext cx="353483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44</a:t>
            </a:r>
          </a:p>
        </p:txBody>
      </p:sp>
      <p:sp>
        <p:nvSpPr>
          <p:cNvPr id="23" name="原题文字_137_38"/>
          <p:cNvSpPr txBox="1"/>
          <p:nvPr/>
        </p:nvSpPr>
        <p:spPr>
          <a:xfrm>
            <a:off x="9109290" y="1871378"/>
            <a:ext cx="246286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</a:t>
            </a:r>
          </a:p>
        </p:txBody>
      </p:sp>
      <p:sp>
        <p:nvSpPr>
          <p:cNvPr id="24" name="文字_单选题  ·  06-01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06-012</a:t>
            </a:r>
          </a:p>
        </p:txBody>
      </p:sp>
      <p:sp>
        <p:nvSpPr>
          <p:cNvPr id="25" name="文字_1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例题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例题3</a:t>
            </a:r>
          </a:p>
        </p:txBody>
      </p:sp>
      <p:sp>
        <p:nvSpPr>
          <p:cNvPr id="5" name="文字_P13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P137</a:t>
            </a:r>
          </a:p>
        </p:txBody>
      </p:sp>
      <p:sp>
        <p:nvSpPr>
          <p:cNvPr id="6" name="文字_偏二甲肼（C₂HgN₂）是一种高能燃料，燃烧产生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偏二甲肼（C₂HgN₂）是一种高能燃料，燃烧产生的巨大能量可作为航天运载火箭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的推动力，下列叙述正确的是（）</a:t>
            </a:r>
          </a:p>
        </p:txBody>
      </p:sp>
      <p:sp>
        <p:nvSpPr>
          <p:cNvPr id="7" name="文字_A.偏二甲肼（C₂H₈N₂）的摩尔质量为60g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A.偏二甲肼（C₂H₈N₂）的摩尔质量为60g</a:t>
            </a:r>
          </a:p>
        </p:txBody>
      </p:sp>
      <p:sp>
        <p:nvSpPr>
          <p:cNvPr id="8" name="文字_B. 偏二甲肼（C₂H₈N₂）的摩尔质量就等于其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偏二甲肼（C₂H₈N₂）的摩尔质量就等于其相对分子质量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58440"/>
            <a:ext cx="11064240" cy="949457"/>
          </a:xfrm>
          <a:prstGeom prst="rect">
            <a:avLst/>
          </a:prstGeom>
        </p:spPr>
      </p:pic>
      <p:sp>
        <p:nvSpPr>
          <p:cNvPr id="10" name="原题文字_137_45"/>
          <p:cNvSpPr txBox="1"/>
          <p:nvPr/>
        </p:nvSpPr>
        <p:spPr>
          <a:xfrm>
            <a:off x="556518" y="2790323"/>
            <a:ext cx="4626041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1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1 mol 偏二甲肼（C₂H₈N₂）的质量为60 g/mol</a:t>
            </a:r>
          </a:p>
        </p:txBody>
      </p:sp>
      <p:sp>
        <p:nvSpPr>
          <p:cNvPr id="11" name="原题文字_137_46"/>
          <p:cNvSpPr txBox="1"/>
          <p:nvPr/>
        </p:nvSpPr>
        <p:spPr>
          <a:xfrm>
            <a:off x="5464599" y="3127227"/>
            <a:ext cx="345826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60</a:t>
            </a:r>
          </a:p>
        </p:txBody>
      </p:sp>
      <p:sp>
        <p:nvSpPr>
          <p:cNvPr id="12" name="原题文字_137_47"/>
          <p:cNvSpPr txBox="1"/>
          <p:nvPr/>
        </p:nvSpPr>
        <p:spPr>
          <a:xfrm>
            <a:off x="548861" y="3226767"/>
            <a:ext cx="4595413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1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D.一个偏二甲肼（C₂H₈N₂）分子的质量约等于</a:t>
            </a:r>
          </a:p>
        </p:txBody>
      </p:sp>
      <p:sp>
        <p:nvSpPr>
          <p:cNvPr id="13" name="原题文字_137_48"/>
          <p:cNvSpPr txBox="1"/>
          <p:nvPr/>
        </p:nvSpPr>
        <p:spPr>
          <a:xfrm>
            <a:off x="4982214" y="3249738"/>
            <a:ext cx="1463736" cy="776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8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6.02 × 1023 g</a:t>
            </a:r>
          </a:p>
        </p:txBody>
      </p:sp>
      <p:sp>
        <p:nvSpPr>
          <p:cNvPr id="14" name="文字_单选题  ·  06-01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06-013</a:t>
            </a:r>
          </a:p>
        </p:txBody>
      </p:sp>
      <p:sp>
        <p:nvSpPr>
          <p:cNvPr id="15" name="文字_2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例题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例题4</a:t>
            </a:r>
          </a:p>
        </p:txBody>
      </p:sp>
      <p:sp>
        <p:nvSpPr>
          <p:cNvPr id="5" name="文字_P13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P137</a:t>
            </a:r>
          </a:p>
        </p:txBody>
      </p:sp>
      <p:sp>
        <p:nvSpPr>
          <p:cNvPr id="6" name="文字_已知1.505×1023个X气体分子的质量为8g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已知1.505×1023个X气体分子的质量为8g，则x气体的摩尔质量是</a:t>
            </a:r>
          </a:p>
        </p:txBody>
      </p:sp>
      <p:sp>
        <p:nvSpPr>
          <p:cNvPr id="7" name="文字_A. 16g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16g</a:t>
            </a:r>
          </a:p>
        </p:txBody>
      </p:sp>
      <p:sp>
        <p:nvSpPr>
          <p:cNvPr id="8" name="文字_B. 32g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32g</a:t>
            </a:r>
          </a:p>
        </p:txBody>
      </p:sp>
      <p:sp>
        <p:nvSpPr>
          <p:cNvPr id="9" name="文字_C. 64g/mol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64g/mol</a:t>
            </a:r>
          </a:p>
        </p:txBody>
      </p:sp>
      <p:sp>
        <p:nvSpPr>
          <p:cNvPr id="10" name="文字_D. 32g/mol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32g/mol</a:t>
            </a:r>
          </a:p>
        </p:txBody>
      </p:sp>
      <p:sp>
        <p:nvSpPr>
          <p:cNvPr id="11" name="文字_单选题  ·  06-01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06-014</a:t>
            </a:r>
          </a:p>
        </p:txBody>
      </p:sp>
      <p:sp>
        <p:nvSpPr>
          <p:cNvPr id="12" name="文字_2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例题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例题5</a:t>
            </a:r>
          </a:p>
        </p:txBody>
      </p:sp>
      <p:sp>
        <p:nvSpPr>
          <p:cNvPr id="5" name="文字_P13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P138</a:t>
            </a:r>
          </a:p>
        </p:txBody>
      </p:sp>
      <p:sp>
        <p:nvSpPr>
          <p:cNvPr id="6" name="文字_5.4gM和16.0gN恰好完全反应，生成0.2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5.4gM和16.0gN恰好完全反应，生成0.2molX和10.2gY，则X的摩尔质量为（）</a:t>
            </a:r>
          </a:p>
        </p:txBody>
      </p:sp>
      <p:sp>
        <p:nvSpPr>
          <p:cNvPr id="7" name="文字_A. 28g·mol-1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28g·mol-1</a:t>
            </a:r>
          </a:p>
        </p:txBody>
      </p:sp>
      <p:sp>
        <p:nvSpPr>
          <p:cNvPr id="8" name="文字_B. 56g·mol-1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56g·mol-1</a:t>
            </a:r>
          </a:p>
        </p:txBody>
      </p:sp>
      <p:sp>
        <p:nvSpPr>
          <p:cNvPr id="9" name="文字_C. 84g·mol-1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84g·mol-1</a:t>
            </a:r>
          </a:p>
        </p:txBody>
      </p:sp>
      <p:sp>
        <p:nvSpPr>
          <p:cNvPr id="10" name="文字_D. 112g·mol-1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112g·mol-1</a:t>
            </a:r>
          </a:p>
        </p:txBody>
      </p:sp>
      <p:sp>
        <p:nvSpPr>
          <p:cNvPr id="11" name="文字_单选题  ·  06-01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06-015</a:t>
            </a:r>
          </a:p>
        </p:txBody>
      </p:sp>
      <p:sp>
        <p:nvSpPr>
          <p:cNvPr id="12" name="文字_2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例题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例题6</a:t>
            </a:r>
          </a:p>
        </p:txBody>
      </p:sp>
      <p:sp>
        <p:nvSpPr>
          <p:cNvPr id="5" name="文字_P13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P138</a:t>
            </a:r>
          </a:p>
        </p:txBody>
      </p:sp>
      <p:sp>
        <p:nvSpPr>
          <p:cNvPr id="6" name="文字_把一小块钠放入足量水中，会发生如下反应：2Na 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把一小块钠放入足量水中，会发生如下反应：2Na + 2H₂O=2NaOH + H₂↑．下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列有关该反应的说法正确的是（）</a:t>
            </a:r>
          </a:p>
        </p:txBody>
      </p:sp>
      <p:sp>
        <p:nvSpPr>
          <p:cNvPr id="7" name="文字_A. 反应中Na与NaOH的质量相等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反应中Na与NaOH的质量相等</a:t>
            </a:r>
          </a:p>
        </p:txBody>
      </p:sp>
      <p:sp>
        <p:nvSpPr>
          <p:cNvPr id="8" name="文字_B. 反应中H₂O和H₂的质量相等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反应中H₂O和H₂的质量相等</a:t>
            </a:r>
          </a:p>
        </p:txBody>
      </p:sp>
      <p:sp>
        <p:nvSpPr>
          <p:cNvPr id="9" name="文字_C. 反应中H₂O和H₂的质量比为2：1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反应中H₂O和H₂的质量比为2：1</a:t>
            </a:r>
          </a:p>
        </p:txBody>
      </p:sp>
      <p:sp>
        <p:nvSpPr>
          <p:cNvPr id="10" name="文字_D. 反应中Na与NaOH的物质的量之比为1：1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反应中Na与NaOH的物质的量之比为1：1</a:t>
            </a:r>
          </a:p>
        </p:txBody>
      </p:sp>
      <p:sp>
        <p:nvSpPr>
          <p:cNvPr id="11" name="文字_单选题  ·  06-01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06-016</a:t>
            </a:r>
          </a:p>
        </p:txBody>
      </p:sp>
      <p:sp>
        <p:nvSpPr>
          <p:cNvPr id="12" name="文字_2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例题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例题7</a:t>
            </a:r>
          </a:p>
        </p:txBody>
      </p:sp>
      <p:sp>
        <p:nvSpPr>
          <p:cNvPr id="5" name="文字_P13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P138</a:t>
            </a:r>
          </a:p>
        </p:txBody>
      </p:sp>
      <p:sp>
        <p:nvSpPr>
          <p:cNvPr id="6" name="文字_同温同压下等质量的SO₂气体和O₂气体，下列比较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同温同压下等质量的SO₂气体和O₂气体，下列比较正确的是</a:t>
            </a:r>
          </a:p>
        </p:txBody>
      </p:sp>
      <p:sp>
        <p:nvSpPr>
          <p:cNvPr id="7" name="文字_A. 分子数之比为1：2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分子数之比为1：2</a:t>
            </a:r>
          </a:p>
        </p:txBody>
      </p:sp>
      <p:sp>
        <p:nvSpPr>
          <p:cNvPr id="8" name="文字_B. 物质的量之比为 2：1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物质的量之比为 2：1</a:t>
            </a:r>
          </a:p>
        </p:txBody>
      </p:sp>
      <p:sp>
        <p:nvSpPr>
          <p:cNvPr id="9" name="文字_C. 氧原子数之比为1：1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氧原子数之比为1：1</a:t>
            </a:r>
          </a:p>
        </p:txBody>
      </p:sp>
      <p:sp>
        <p:nvSpPr>
          <p:cNvPr id="10" name="文字_D. 质子数之比为 2：1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质子数之比为 2：1</a:t>
            </a:r>
          </a:p>
        </p:txBody>
      </p:sp>
      <p:sp>
        <p:nvSpPr>
          <p:cNvPr id="11" name="文字_单选题  ·  06-01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06-017</a:t>
            </a:r>
          </a:p>
        </p:txBody>
      </p:sp>
      <p:sp>
        <p:nvSpPr>
          <p:cNvPr id="12" name="文字_2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例题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例题8</a:t>
            </a:r>
          </a:p>
        </p:txBody>
      </p:sp>
      <p:sp>
        <p:nvSpPr>
          <p:cNvPr id="5" name="文字_P13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P138</a:t>
            </a:r>
          </a:p>
        </p:txBody>
      </p:sp>
      <p:sp>
        <p:nvSpPr>
          <p:cNvPr id="6" name="文字_我国女科学家屠呦呦发现青蒿素，它是一种用于治疗疟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我国女科学家屠呦呦发现青蒿素，它是一种用于治疗疟疾的药物，2015年10月获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得诺贝尔生理医学奖。下列有关青蒿素(化学式：C₁₅H₂₂O₅)叙述正确的是</a:t>
            </a:r>
          </a:p>
        </p:txBody>
      </p:sp>
      <p:sp>
        <p:nvSpPr>
          <p:cNvPr id="7" name="文字_A. 青蒿素的摩尔质量为282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青蒿素的摩尔质量为282</a:t>
            </a:r>
          </a:p>
        </p:txBody>
      </p:sp>
      <p:sp>
        <p:nvSpPr>
          <p:cNvPr id="8" name="文字_B. 6.02 × 1023个青蒿素分子的质量约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6.02 × 1023个青蒿素分子的质量约为282g</a:t>
            </a:r>
          </a:p>
        </p:txBody>
      </p:sp>
      <p:sp>
        <p:nvSpPr>
          <p:cNvPr id="9" name="文字_C. 1mol青蒿素的质量为282g·mol−¹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1mol青蒿素的质量为282g·mol−¹</a:t>
            </a:r>
          </a:p>
        </p:txBody>
      </p:sp>
      <p:sp>
        <p:nvSpPr>
          <p:cNvPr id="10" name="文字_D. 282g青蒿素中含有15个碳原子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282g青蒿素中含有15个碳原子</a:t>
            </a:r>
          </a:p>
        </p:txBody>
      </p:sp>
      <p:sp>
        <p:nvSpPr>
          <p:cNvPr id="11" name="文字_单选题  ·  06-01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06-018</a:t>
            </a:r>
          </a:p>
        </p:txBody>
      </p:sp>
      <p:sp>
        <p:nvSpPr>
          <p:cNvPr id="12" name="文字_2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例题9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例题9</a:t>
            </a:r>
          </a:p>
        </p:txBody>
      </p:sp>
      <p:sp>
        <p:nvSpPr>
          <p:cNvPr id="5" name="文字_P13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P138</a:t>
            </a:r>
          </a:p>
        </p:txBody>
      </p:sp>
      <p:sp>
        <p:nvSpPr>
          <p:cNvPr id="6" name="文字_有五种物质是①6gH₂；②0.5molCO₂₂；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有五种物质是①6gH₂；②0.5molCO₂₂；③1.204×1024个HCl；④147g硫酸；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⑤92g乙醇(C₂H₅OH)，它们的物质的量最大的是 ______ ，所含分子数最多的是 _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_____ ，含有原子个数最多的是 ______ ，质量最大的是</a:t>
            </a:r>
          </a:p>
        </p:txBody>
      </p:sp>
      <p:sp>
        <p:nvSpPr>
          <p:cNvPr id="7" name="文字_解答题  ·  06-01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解答题  ·  06-019</a:t>
            </a:r>
          </a:p>
        </p:txBody>
      </p:sp>
      <p:sp>
        <p:nvSpPr>
          <p:cNvPr id="8" name="文字_2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例题10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例题10</a:t>
            </a:r>
          </a:p>
        </p:txBody>
      </p:sp>
      <p:sp>
        <p:nvSpPr>
          <p:cNvPr id="5" name="文字_P13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P138</a:t>
            </a:r>
          </a:p>
        </p:txBody>
      </p:sp>
      <p:sp>
        <p:nvSpPr>
          <p:cNvPr id="6" name="文字_(1)6.02×1023个CO₂与 ______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(1)6.02×1023个CO₂与 ______ molH₂的质量相等，与 ______ g SO₂含有的氧原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子数相等。</a:t>
            </a:r>
          </a:p>
        </p:txBody>
      </p:sp>
      <p:sp>
        <p:nvSpPr>
          <p:cNvPr id="7" name="文字_(2)含0.4molCl'的氯化镁是 _____"/>
          <p:cNvSpPr txBox="1"/>
          <p:nvPr/>
        </p:nvSpPr>
        <p:spPr>
          <a:xfrm>
            <a:off x="502920" y="1880616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(2)含0.4molCl'的氯化镁是 ______ mol，质量是 ______ g,它跟 ______ g氯化钠含有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相同数目的Cl。</a:t>
            </a:r>
          </a:p>
        </p:txBody>
      </p:sp>
      <p:sp>
        <p:nvSpPr>
          <p:cNvPr id="8" name="文字_(3)4mol Na₂CO₃与 ______ m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(3)4mol Na₂CO₃与 ______ mol Na₂SO₄所含氧原子数相等。</a:t>
            </a:r>
          </a:p>
        </p:txBody>
      </p:sp>
      <p:sp>
        <p:nvSpPr>
          <p:cNvPr id="9" name="文字_(4)8g甲烷是 ______ mol，约含 _"/>
          <p:cNvSpPr txBox="1"/>
          <p:nvPr/>
        </p:nvSpPr>
        <p:spPr>
          <a:xfrm>
            <a:off x="502920" y="312115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(4)8g甲烷是 ______ mol，约含 ______ 个甲烷分子， ______ g碳元素， ______ mol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氢原子。</a:t>
            </a:r>
          </a:p>
        </p:txBody>
      </p:sp>
      <p:sp>
        <p:nvSpPr>
          <p:cNvPr id="10" name="文字_(5) 若某原子的摩尔质量是M g/mol，则一"/>
          <p:cNvSpPr txBox="1"/>
          <p:nvPr/>
        </p:nvSpPr>
        <p:spPr>
          <a:xfrm>
            <a:off x="502920" y="39227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(5) 若某原子的摩尔质量是M g/mol，则一个该原子的真实质量是</a:t>
            </a:r>
          </a:p>
        </p:txBody>
      </p:sp>
      <p:sp>
        <p:nvSpPr>
          <p:cNvPr id="11" name="文字_填空题  ·  06-02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06-020</a:t>
            </a:r>
          </a:p>
        </p:txBody>
      </p:sp>
      <p:sp>
        <p:nvSpPr>
          <p:cNvPr id="12" name="文字_2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变式1</a:t>
            </a:r>
          </a:p>
        </p:txBody>
      </p:sp>
      <p:sp>
        <p:nvSpPr>
          <p:cNvPr id="5" name="文字_P13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P139</a:t>
            </a:r>
          </a:p>
        </p:txBody>
      </p:sp>
      <p:sp>
        <p:nvSpPr>
          <p:cNvPr id="6" name="文字_已知在3.2g某气体中所含分子数目为3.01×1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已知在3.2g某气体中所含分子数目为3.01×1022，由此可推知该气体的摩尔质量是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（）</a:t>
            </a:r>
          </a:p>
        </p:txBody>
      </p:sp>
      <p:sp>
        <p:nvSpPr>
          <p:cNvPr id="7" name="文字_A. 64g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64g</a:t>
            </a:r>
          </a:p>
        </p:txBody>
      </p:sp>
      <p:sp>
        <p:nvSpPr>
          <p:cNvPr id="8" name="文字_B. 32g/mol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32g/mol</a:t>
            </a:r>
          </a:p>
        </p:txBody>
      </p:sp>
      <p:sp>
        <p:nvSpPr>
          <p:cNvPr id="9" name="文字_C. 32g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32g</a:t>
            </a:r>
          </a:p>
        </p:txBody>
      </p:sp>
      <p:sp>
        <p:nvSpPr>
          <p:cNvPr id="10" name="文字_D. 64g/mol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64g/mol</a:t>
            </a:r>
          </a:p>
        </p:txBody>
      </p:sp>
      <p:sp>
        <p:nvSpPr>
          <p:cNvPr id="11" name="文字_单选题  ·  06-02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06-021</a:t>
            </a:r>
          </a:p>
        </p:txBody>
      </p:sp>
      <p:sp>
        <p:nvSpPr>
          <p:cNvPr id="12" name="文字_2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变式2</a:t>
            </a:r>
          </a:p>
        </p:txBody>
      </p:sp>
      <p:sp>
        <p:nvSpPr>
          <p:cNvPr id="5" name="文字_P13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P139</a:t>
            </a:r>
          </a:p>
        </p:txBody>
      </p:sp>
      <p:sp>
        <p:nvSpPr>
          <p:cNvPr id="6" name="文字_已知12.3gA与4.6gB恰好完全反应生成了3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已知12.3gA与4.6gB恰好完全反应生成了3.2gC、4.5gD和0.2molE，则E的摩尔质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量是</a:t>
            </a:r>
          </a:p>
        </p:txBody>
      </p:sp>
      <p:sp>
        <p:nvSpPr>
          <p:cNvPr id="7" name="文字_A. 46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46</a:t>
            </a:r>
          </a:p>
        </p:txBody>
      </p:sp>
      <p:sp>
        <p:nvSpPr>
          <p:cNvPr id="8" name="文字_B. 46g/mol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46g/mol</a:t>
            </a:r>
          </a:p>
        </p:txBody>
      </p:sp>
      <p:sp>
        <p:nvSpPr>
          <p:cNvPr id="9" name="文字_C. 64g/mol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64g/mol</a:t>
            </a:r>
          </a:p>
        </p:txBody>
      </p:sp>
      <p:sp>
        <p:nvSpPr>
          <p:cNvPr id="10" name="文字_D. 64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64</a:t>
            </a:r>
          </a:p>
        </p:txBody>
      </p:sp>
      <p:sp>
        <p:nvSpPr>
          <p:cNvPr id="11" name="文字_单选题  ·  06-02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06-022</a:t>
            </a:r>
          </a:p>
        </p:txBody>
      </p:sp>
      <p:sp>
        <p:nvSpPr>
          <p:cNvPr id="12" name="文字_2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变式3</a:t>
            </a:r>
          </a:p>
        </p:txBody>
      </p:sp>
      <p:sp>
        <p:nvSpPr>
          <p:cNvPr id="5" name="文字_P13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P139</a:t>
            </a:r>
          </a:p>
        </p:txBody>
      </p:sp>
      <p:sp>
        <p:nvSpPr>
          <p:cNvPr id="6" name="文字_一块表面已被氧化为Na₂O的钠块10.8g，将其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一块表面已被氧化为Na₂O的钠块10.8g，将其投入100g水中，产生H₂₀.2g，则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被氧化的钠是</a:t>
            </a:r>
          </a:p>
        </p:txBody>
      </p:sp>
      <p:sp>
        <p:nvSpPr>
          <p:cNvPr id="7" name="文字_A. 9.2g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9.2g</a:t>
            </a:r>
          </a:p>
        </p:txBody>
      </p:sp>
      <p:sp>
        <p:nvSpPr>
          <p:cNvPr id="8" name="文字_B. 10.6g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10.6g</a:t>
            </a:r>
          </a:p>
        </p:txBody>
      </p:sp>
      <p:sp>
        <p:nvSpPr>
          <p:cNvPr id="9" name="文字_C. 6.2g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6.2g</a:t>
            </a:r>
          </a:p>
        </p:txBody>
      </p:sp>
      <p:sp>
        <p:nvSpPr>
          <p:cNvPr id="10" name="文字_D. 4.6g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4.6g</a:t>
            </a:r>
          </a:p>
        </p:txBody>
      </p:sp>
      <p:sp>
        <p:nvSpPr>
          <p:cNvPr id="11" name="文字_单选题  ·  06-02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06-023</a:t>
            </a:r>
          </a:p>
        </p:txBody>
      </p:sp>
      <p:sp>
        <p:nvSpPr>
          <p:cNvPr id="12" name="文字_3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变式4</a:t>
            </a:r>
          </a:p>
        </p:txBody>
      </p:sp>
      <p:sp>
        <p:nvSpPr>
          <p:cNvPr id="5" name="文字_P13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P139</a:t>
            </a:r>
          </a:p>
        </p:txBody>
      </p:sp>
      <p:sp>
        <p:nvSpPr>
          <p:cNvPr id="6" name="文字_相等物质的量的SO₂和SO₃相比较，下列有关叙述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相等物质的量的SO₂和SO₃相比较，下列有关叙述正确的是</a:t>
            </a:r>
          </a:p>
        </p:txBody>
      </p:sp>
      <p:sp>
        <p:nvSpPr>
          <p:cNvPr id="7" name="文字_①它们所含的分子数目之比为1：1 ______ 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①它们所含的分子数目之比为1：1 ______ ②它们所含的氧原子数目之比为2：3</a:t>
            </a:r>
          </a:p>
        </p:txBody>
      </p:sp>
      <p:sp>
        <p:nvSpPr>
          <p:cNvPr id="8" name="文字_③它们所含的原子总数目之比为3：4 ______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③它们所含的原子总数目之比为3：4 ______ ④它们所含的硫原子数目之比为1：1</a:t>
            </a:r>
          </a:p>
        </p:txBody>
      </p:sp>
      <p:sp>
        <p:nvSpPr>
          <p:cNvPr id="9" name="文字_⑤它们所含的质量之比为4：5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⑤它们所含的质量之比为4：5</a:t>
            </a:r>
          </a:p>
        </p:txBody>
      </p:sp>
      <p:sp>
        <p:nvSpPr>
          <p:cNvPr id="10" name="文字_A. ①②③④⑤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①②③④⑤</a:t>
            </a:r>
          </a:p>
        </p:txBody>
      </p:sp>
      <p:sp>
        <p:nvSpPr>
          <p:cNvPr id="11" name="文字_B. ①②③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①②③</a:t>
            </a:r>
          </a:p>
        </p:txBody>
      </p:sp>
      <p:sp>
        <p:nvSpPr>
          <p:cNvPr id="12" name="文字_C. ②③④⑤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②③④⑤</a:t>
            </a:r>
          </a:p>
        </p:txBody>
      </p:sp>
      <p:sp>
        <p:nvSpPr>
          <p:cNvPr id="13" name="文字_D. ①②③④"/>
          <p:cNvSpPr txBox="1"/>
          <p:nvPr/>
        </p:nvSpPr>
        <p:spPr>
          <a:xfrm>
            <a:off x="502920" y="41513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①②③④</a:t>
            </a:r>
          </a:p>
        </p:txBody>
      </p:sp>
      <p:sp>
        <p:nvSpPr>
          <p:cNvPr id="14" name="文字_单选题  ·  06-02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06-024</a:t>
            </a:r>
          </a:p>
        </p:txBody>
      </p:sp>
      <p:sp>
        <p:nvSpPr>
          <p:cNvPr id="15" name="文字_3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变式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变式5</a:t>
            </a:r>
          </a:p>
        </p:txBody>
      </p:sp>
      <p:sp>
        <p:nvSpPr>
          <p:cNvPr id="5" name="文字_P13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P139</a:t>
            </a:r>
          </a:p>
        </p:txBody>
      </p:sp>
      <p:sp>
        <p:nvSpPr>
          <p:cNvPr id="6" name="文字_下列说法不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下列说法不正确的是（）</a:t>
            </a:r>
          </a:p>
        </p:txBody>
      </p:sp>
      <p:sp>
        <p:nvSpPr>
          <p:cNvPr id="7" name="文字_A. 磷酸的摩尔质量以g·mol-1为单位时，与"/>
          <p:cNvSpPr txBox="1"/>
          <p:nvPr/>
        </p:nvSpPr>
        <p:spPr>
          <a:xfrm>
            <a:off x="502920" y="1517904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磷酸的摩尔质量以g·mol-1为单位时，与6.02×1023个磷酸分子的质量（g）在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数值上相等</a:t>
            </a:r>
          </a:p>
        </p:txBody>
      </p:sp>
      <p:sp>
        <p:nvSpPr>
          <p:cNvPr id="8" name="文字_B. 6.02×1023个N₂和6.02×102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6.02×1023个N₂和6.02×1023个H₂的质量之比为14：1</a:t>
            </a:r>
          </a:p>
        </p:txBody>
      </p:sp>
      <p:sp>
        <p:nvSpPr>
          <p:cNvPr id="9" name="文字_C. 32 g O₂所含的原子数为2×6.02×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32 g O₂所含的原子数为2×6.02×1023</a:t>
            </a:r>
          </a:p>
        </p:txBody>
      </p:sp>
      <p:sp>
        <p:nvSpPr>
          <p:cNvPr id="10" name="文字_D. 常温、常压下，0.5×6.02×1023个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常温、常压下，0.5×6.02×1023个一氧化碳分子的质量是28 g</a:t>
            </a:r>
          </a:p>
        </p:txBody>
      </p:sp>
      <p:sp>
        <p:nvSpPr>
          <p:cNvPr id="11" name="文字_单选题  ·  06-02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06-025</a:t>
            </a:r>
          </a:p>
        </p:txBody>
      </p:sp>
      <p:sp>
        <p:nvSpPr>
          <p:cNvPr id="12" name="文字_3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变式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变式6</a:t>
            </a:r>
          </a:p>
        </p:txBody>
      </p:sp>
      <p:sp>
        <p:nvSpPr>
          <p:cNvPr id="5" name="文字_P13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P139</a:t>
            </a:r>
          </a:p>
        </p:txBody>
      </p:sp>
      <p:sp>
        <p:nvSpPr>
          <p:cNvPr id="6" name="文字_(1）27.2g某二价金属的氯化物ACl₂中含有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(1）27.2g某二价金属的氯化物ACl₂中含有0.4mol Cl离子，ACl₂的摩尔质量是 __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____ ，A的相对原子质量是o</a:t>
            </a:r>
          </a:p>
        </p:txBody>
      </p:sp>
      <p:sp>
        <p:nvSpPr>
          <p:cNvPr id="7" name="文字_(2) 4.5g水与 ______ 硫酸所含的分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4.5g水与 ______ 硫酸所含的分子数相等.</a:t>
            </a:r>
          </a:p>
        </p:txBody>
      </p:sp>
      <p:sp>
        <p:nvSpPr>
          <p:cNvPr id="8" name="文字_(3) 23.4g化合物Na₂A中含有0.6mo"/>
          <p:cNvSpPr txBox="1"/>
          <p:nvPr/>
        </p:nvSpPr>
        <p:spPr>
          <a:xfrm>
            <a:off x="502920" y="2319528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 23.4g化合物Na₂A中含有0.6molNa+，Na₂A的摩尔质量是 ______ ，A的相对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原子质量是 ______ ，A的元素符号是 ______ o</a:t>
            </a:r>
          </a:p>
        </p:txBody>
      </p:sp>
      <p:sp>
        <p:nvSpPr>
          <p:cNvPr id="9" name="文字_(4)NA为阿伏加德罗常数，已知ag某气体中含分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(4)NA为阿伏加德罗常数，已知ag某气体中含分子数为b，则该气体的摩尔质量为</a:t>
            </a:r>
          </a:p>
        </p:txBody>
      </p:sp>
      <p:sp>
        <p:nvSpPr>
          <p:cNvPr id="10" name="文字_填空题  ·  06-02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06-026</a:t>
            </a:r>
          </a:p>
        </p:txBody>
      </p:sp>
      <p:sp>
        <p:nvSpPr>
          <p:cNvPr id="11" name="文字_3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变式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变式7</a:t>
            </a:r>
          </a:p>
        </p:txBody>
      </p:sp>
      <p:sp>
        <p:nvSpPr>
          <p:cNvPr id="5" name="文字_P14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P140</a:t>
            </a:r>
          </a:p>
        </p:txBody>
      </p:sp>
      <p:sp>
        <p:nvSpPr>
          <p:cNvPr id="6" name="文字_用化学用语回答下列题目"/>
          <p:cNvSpPr txBox="1"/>
          <p:nvPr/>
        </p:nvSpPr>
        <p:spPr>
          <a:xfrm>
            <a:off x="502920" y="1078992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用化学用语回答下列题目</a:t>
            </a:r>
          </a:p>
        </p:txBody>
      </p:sp>
      <p:sp>
        <p:nvSpPr>
          <p:cNvPr id="7" name="文字_(1） 1mol的硫酸中含有 ______ mo"/>
          <p:cNvSpPr txBox="1"/>
          <p:nvPr/>
        </p:nvSpPr>
        <p:spPr>
          <a:xfrm>
            <a:off x="502920" y="1499616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(1） 1mol的硫酸中含有 ______ mol氢原子。</a:t>
            </a:r>
          </a:p>
        </p:txBody>
      </p:sp>
      <p:sp>
        <p:nvSpPr>
          <p:cNvPr id="8" name="文字_(2) 下列几组物质中：含有分子数最多的是 __"/>
          <p:cNvSpPr txBox="1"/>
          <p:nvPr/>
        </p:nvSpPr>
        <p:spPr>
          <a:xfrm>
            <a:off x="502920" y="1920239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下列几组物质中：含有分子数最多的是 ______ ；含有原子数最多的是</a:t>
            </a:r>
          </a:p>
        </p:txBody>
      </p:sp>
      <p:sp>
        <p:nvSpPr>
          <p:cNvPr id="9" name="文字_①1gH₂②2.408×1023个甲烷 ③3mo"/>
          <p:cNvSpPr txBox="1"/>
          <p:nvPr/>
        </p:nvSpPr>
        <p:spPr>
          <a:xfrm>
            <a:off x="502920" y="2340863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①1gH₂②2.408×1023个甲烷 ③3molO₂ ④3.01×1023个H₂O</a:t>
            </a:r>
          </a:p>
        </p:txBody>
      </p:sp>
      <p:sp>
        <p:nvSpPr>
          <p:cNvPr id="10" name="文字_(3) 2mol氧气含有的氧原子个数是"/>
          <p:cNvSpPr txBox="1"/>
          <p:nvPr/>
        </p:nvSpPr>
        <p:spPr>
          <a:xfrm>
            <a:off x="502920" y="2761487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 2mol氧气含有的氧原子个数是</a:t>
            </a:r>
          </a:p>
        </p:txBody>
      </p:sp>
      <p:sp>
        <p:nvSpPr>
          <p:cNvPr id="11" name="文字_(4) 将0.1molNaHSO₄溶解在水中，产"/>
          <p:cNvSpPr txBox="1"/>
          <p:nvPr/>
        </p:nvSpPr>
        <p:spPr>
          <a:xfrm>
            <a:off x="502920" y="3182111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 将0.1molNaHSO₄溶解在水中，产生的离子数目是</a:t>
            </a:r>
          </a:p>
        </p:txBody>
      </p:sp>
      <p:sp>
        <p:nvSpPr>
          <p:cNvPr id="12" name="文字_(5) 1molNe中所含有的电子数是"/>
          <p:cNvSpPr txBox="1"/>
          <p:nvPr/>
        </p:nvSpPr>
        <p:spPr>
          <a:xfrm>
            <a:off x="502920" y="3602735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(5) 1molNe中所含有的电子数是</a:t>
            </a:r>
          </a:p>
        </p:txBody>
      </p:sp>
      <p:sp>
        <p:nvSpPr>
          <p:cNvPr id="13" name="文字_(6) 2molMg²⁺中所含有的电子数是"/>
          <p:cNvSpPr txBox="1"/>
          <p:nvPr/>
        </p:nvSpPr>
        <p:spPr>
          <a:xfrm>
            <a:off x="502920" y="4023359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(6) 2molMg²⁺中所含有的电子数是</a:t>
            </a:r>
          </a:p>
        </p:txBody>
      </p:sp>
      <p:sp>
        <p:nvSpPr>
          <p:cNvPr id="14" name="文字_(7) 含有3.01×1022个O原子的SO₂是"/>
          <p:cNvSpPr txBox="1"/>
          <p:nvPr/>
        </p:nvSpPr>
        <p:spPr>
          <a:xfrm>
            <a:off x="502920" y="4443983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(7) 含有3.01×1022个O原子的SO₂是 ______ mol</a:t>
            </a:r>
          </a:p>
        </p:txBody>
      </p:sp>
      <p:sp>
        <p:nvSpPr>
          <p:cNvPr id="15" name="文字_(8) 1.204×1023个HCl分子物质的量"/>
          <p:cNvSpPr txBox="1"/>
          <p:nvPr/>
        </p:nvSpPr>
        <p:spPr>
          <a:xfrm>
            <a:off x="502920" y="4864607"/>
            <a:ext cx="11064240" cy="7682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(8) 1.204×1023个HCl分子物质的量为 ______ mol，1.505×1023硫酸分子中含 ______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 mol氧原子。</a:t>
            </a:r>
          </a:p>
        </p:txBody>
      </p:sp>
      <p:sp>
        <p:nvSpPr>
          <p:cNvPr id="16" name="文字_(9) 0.5mol NaOH中含Na+ ___"/>
          <p:cNvSpPr txBox="1"/>
          <p:nvPr/>
        </p:nvSpPr>
        <p:spPr>
          <a:xfrm>
            <a:off x="502920" y="5632830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(9) 0.5mol NaOH中含Na+ ______ 个，1.806×1023个OH-的Ba(OH)₂的物质的量为</a:t>
            </a:r>
          </a:p>
        </p:txBody>
      </p:sp>
      <p:sp>
        <p:nvSpPr>
          <p:cNvPr id="17" name="文字_解答题  ·  06-02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解答题  ·  06-027</a:t>
            </a:r>
          </a:p>
        </p:txBody>
      </p:sp>
      <p:sp>
        <p:nvSpPr>
          <p:cNvPr id="18" name="文字_3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摩尔质量 · 变式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摩尔质量 · 变式8</a:t>
            </a:r>
          </a:p>
        </p:txBody>
      </p:sp>
      <p:sp>
        <p:nvSpPr>
          <p:cNvPr id="5" name="文字_P14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P140</a:t>
            </a:r>
          </a:p>
        </p:txBody>
      </p:sp>
      <p:sp>
        <p:nvSpPr>
          <p:cNvPr id="6" name="文字_(1）在0.2mol Na₂CO₃中含有的Na⁺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(1）在0.2mol Na₂CO₃中含有的Na⁺数和 ______ g NaOH中含有的Na⁺ 数相等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。</a:t>
            </a:r>
          </a:p>
        </p:txBody>
      </p:sp>
      <p:sp>
        <p:nvSpPr>
          <p:cNvPr id="7" name="文字_(2) 10.8 g X₂O₅中含有3.01×1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10.8 g X₂O₅中含有3.01×1023个O原子，则X的相对原子质量是</a:t>
            </a:r>
          </a:p>
        </p:txBody>
      </p:sp>
      <p:sp>
        <p:nvSpPr>
          <p:cNvPr id="8" name="文字_(3）amol硫酸中含有b个氧原子，则阿伏伽德罗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(3）amol硫酸中含有b个氧原子，则阿伏伽德罗常数可表示为</a:t>
            </a:r>
          </a:p>
        </p:txBody>
      </p:sp>
      <p:sp>
        <p:nvSpPr>
          <p:cNvPr id="9" name="文字_(4)下列几组物质中：含有分子数最多的是 ___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(4)下列几组物质中：含有分子数最多的是 ______ ；含有原子数最多的是</a:t>
            </a:r>
          </a:p>
        </p:txBody>
      </p:sp>
      <p:sp>
        <p:nvSpPr>
          <p:cNvPr id="10" name="文字_①1gH₂; ②2.408×1023个CH₄； 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①1gH₂; ②2.408×1023个CH₄； ③10.8gH₂O; ④ 0.4molO₂</a:t>
            </a:r>
          </a:p>
        </p:txBody>
      </p:sp>
      <p:sp>
        <p:nvSpPr>
          <p:cNvPr id="11" name="文字_填空题  ·  06-02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06-028</a:t>
            </a:r>
          </a:p>
        </p:txBody>
      </p:sp>
      <p:sp>
        <p:nvSpPr>
          <p:cNvPr id="12" name="文字_3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物质的量与摩尔质量</dc:title>
  <dc:subject>高一化学课堂课件：知识讲解与原题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zh-CN</dc:language>
</cp:coreProperties>
</file>
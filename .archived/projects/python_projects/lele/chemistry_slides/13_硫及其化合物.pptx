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P276；PDF 文件第 278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P277；PDF 文件第 279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P277；PDF 文件第 279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P278；PDF 文件第 280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P278；PDF 文件第 280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1 / 单选题</a:t>
            </a:r>
          </a:p>
          <a:p>
            <a:r>
              <a:t>讲义印刷页：P279</a:t>
            </a:r>
          </a:p>
          <a:p>
            <a:r>
              <a:t>PDF 文件页：281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2 / 单选题</a:t>
            </a:r>
          </a:p>
          <a:p>
            <a:r>
              <a:t>讲义印刷页：P279</a:t>
            </a:r>
          </a:p>
          <a:p>
            <a:r>
              <a:t>PDF 文件页：281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3 / 单选题</a:t>
            </a:r>
          </a:p>
          <a:p>
            <a:r>
              <a:t>讲义印刷页：P279</a:t>
            </a:r>
          </a:p>
          <a:p>
            <a:r>
              <a:t>PDF 文件页：281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4 / 单选题</a:t>
            </a:r>
          </a:p>
          <a:p>
            <a:r>
              <a:t>讲义印刷页：P279</a:t>
            </a:r>
          </a:p>
          <a:p>
            <a:r>
              <a:t>PDF 文件页：281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P279：X  Y 3 Z =→ W NaH T (钠盐)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5 / 单选题</a:t>
            </a:r>
          </a:p>
          <a:p>
            <a:r>
              <a:t>讲义印刷页：P280</a:t>
            </a:r>
          </a:p>
          <a:p>
            <a:r>
              <a:t>PDF 文件页：282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P280：工</a:t>
            </a:r>
          </a:p>
          <a:p>
            <a:r>
              <a:t>P280：回</a:t>
            </a:r>
          </a:p>
          <a:p>
            <a:r>
              <a:t>P280：8</a:t>
            </a:r>
          </a:p>
          <a:p>
            <a:r>
              <a:t>P280：吉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6 / 单选题</a:t>
            </a:r>
          </a:p>
          <a:p>
            <a:r>
              <a:t>讲义印刷页：P280</a:t>
            </a:r>
          </a:p>
          <a:p>
            <a:r>
              <a:t>PDF 文件页：282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P280：1</a:t>
            </a:r>
          </a:p>
          <a:p>
            <a:r>
              <a:t>P280：C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7 / 单选题</a:t>
            </a:r>
          </a:p>
          <a:p>
            <a:r>
              <a:t>讲义印刷页：P281</a:t>
            </a:r>
          </a:p>
          <a:p>
            <a:r>
              <a:t>PDF 文件页：283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例题 8 / 填空题</a:t>
            </a:r>
          </a:p>
          <a:p>
            <a:r>
              <a:t>讲义印刷页：P281</a:t>
            </a:r>
          </a:p>
          <a:p>
            <a:r>
              <a:t>PDF 文件页：283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P281：O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1 / 单选题</a:t>
            </a:r>
          </a:p>
          <a:p>
            <a:r>
              <a:t>讲义印刷页：P282</a:t>
            </a:r>
          </a:p>
          <a:p>
            <a:r>
              <a:t>PDF 文件页：284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2 / 单选题</a:t>
            </a:r>
          </a:p>
          <a:p>
            <a:r>
              <a:t>讲义印刷页：P282</a:t>
            </a:r>
          </a:p>
          <a:p>
            <a:r>
              <a:t>PDF 文件页：284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3 / 单选题</a:t>
            </a:r>
          </a:p>
          <a:p>
            <a:r>
              <a:t>讲义印刷页：P282</a:t>
            </a:r>
          </a:p>
          <a:p>
            <a:r>
              <a:t>PDF 文件页：284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4 / 单选题</a:t>
            </a:r>
          </a:p>
          <a:p>
            <a:r>
              <a:t>讲义印刷页：P282</a:t>
            </a:r>
          </a:p>
          <a:p>
            <a:r>
              <a:t>PDF 文件页：284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P282：↑O_2</a:t>
            </a:r>
          </a:p>
          <a:p>
            <a:r>
              <a:t>P282：x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5 / 单选题</a:t>
            </a:r>
          </a:p>
          <a:p>
            <a:r>
              <a:t>讲义印刷页：P283</a:t>
            </a:r>
          </a:p>
          <a:p>
            <a:r>
              <a:t>PDF 文件页：285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6 / 单选题</a:t>
            </a:r>
          </a:p>
          <a:p>
            <a:r>
              <a:t>讲义印刷页：P283</a:t>
            </a:r>
          </a:p>
          <a:p>
            <a:r>
              <a:t>PDF 文件页：285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7 / 单选题</a:t>
            </a:r>
          </a:p>
          <a:p>
            <a:r>
              <a:t>讲义印刷页：P283</a:t>
            </a:r>
          </a:p>
          <a:p>
            <a:r>
              <a:t>PDF 文件页：285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原题定位：知识点1硫和二氧化硫 / 变式 8 / 解答题</a:t>
            </a:r>
          </a:p>
          <a:p>
            <a:r>
              <a:t>讲义印刷页：P284</a:t>
            </a:r>
          </a:p>
          <a:p>
            <a:r>
              <a:t>PDF 文件页：286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排版提示：本题原文较长，按要求保持一题一页；可按教学需要自行调整字号与布局。</a:t>
            </a:r>
          </a:p>
          <a:p>
            <a:r>
              <a:t>OCR 重点复核位置（请对照原讲义检查公式、上下标和字符）：</a:t>
            </a:r>
          </a:p>
          <a:p>
            <a:r>
              <a:t>P284：o</a:t>
            </a:r>
          </a:p>
          <a:p>
            <a:r>
              <a:t>P284：O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P285；PDF 文件第 287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P286；PDF 文件第 288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P287；PDF 文件第 289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1 / 单选题</a:t>
            </a:r>
          </a:p>
          <a:p>
            <a:r>
              <a:t>讲义印刷页：P288</a:t>
            </a:r>
          </a:p>
          <a:p>
            <a:r>
              <a:t>PDF 文件页：290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2 / 单选题</a:t>
            </a:r>
          </a:p>
          <a:p>
            <a:r>
              <a:t>讲义印刷页：P288</a:t>
            </a:r>
          </a:p>
          <a:p>
            <a:r>
              <a:t>PDF 文件页：290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3 / 单选题</a:t>
            </a:r>
          </a:p>
          <a:p>
            <a:r>
              <a:t>讲义印刷页：P288</a:t>
            </a:r>
          </a:p>
          <a:p>
            <a:r>
              <a:t>PDF 文件页：290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4 / 单选题</a:t>
            </a:r>
          </a:p>
          <a:p>
            <a:r>
              <a:t>讲义印刷页：P288</a:t>
            </a:r>
          </a:p>
          <a:p>
            <a:r>
              <a:t>PDF 文件页：290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5 / 填空题</a:t>
            </a:r>
          </a:p>
          <a:p>
            <a:r>
              <a:t>讲义印刷页：P289</a:t>
            </a:r>
          </a:p>
          <a:p>
            <a:r>
              <a:t>PDF 文件页：291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6 / 单选题</a:t>
            </a:r>
          </a:p>
          <a:p>
            <a:r>
              <a:t>讲义印刷页：P289</a:t>
            </a:r>
          </a:p>
          <a:p>
            <a:r>
              <a:t>PDF 文件页：291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7 / 解答题</a:t>
            </a:r>
          </a:p>
          <a:p>
            <a:r>
              <a:t>讲义印刷页：P289, P290</a:t>
            </a:r>
          </a:p>
          <a:p>
            <a:r>
              <a:t>PDF 文件页：291, 292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排版提示：本题原文较长，按要求保持一题一页；可按教学需要自行调整字号与布局。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例题 8 / 解答题</a:t>
            </a:r>
          </a:p>
          <a:p>
            <a:r>
              <a:t>讲义印刷页：P290</a:t>
            </a:r>
          </a:p>
          <a:p>
            <a:r>
              <a:t>PDF 文件页：292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P290：I</a:t>
            </a:r>
          </a:p>
          <a:p>
            <a:r>
              <a:t>P290：音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1 / 单选题</a:t>
            </a:r>
          </a:p>
          <a:p>
            <a:r>
              <a:t>讲义印刷页：P290</a:t>
            </a:r>
          </a:p>
          <a:p>
            <a:r>
              <a:t>PDF 文件页：292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2 / 单选题</a:t>
            </a:r>
          </a:p>
          <a:p>
            <a:r>
              <a:t>讲义印刷页：P290</a:t>
            </a:r>
          </a:p>
          <a:p>
            <a:r>
              <a:t>PDF 文件页：292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3 / 单选题</a:t>
            </a:r>
          </a:p>
          <a:p>
            <a:r>
              <a:t>讲义印刷页：P291</a:t>
            </a:r>
          </a:p>
          <a:p>
            <a:r>
              <a:t>PDF 文件页：293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4 / 单选题</a:t>
            </a:r>
          </a:p>
          <a:p>
            <a:r>
              <a:t>讲义印刷页：P291</a:t>
            </a:r>
          </a:p>
          <a:p>
            <a:r>
              <a:t>PDF 文件页：293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P291：SO₂</a:t>
            </a:r>
          </a:p>
          <a:p>
            <a:r>
              <a:t>P291：SO₃</a:t>
            </a:r>
          </a:p>
          <a:p>
            <a:r>
              <a:t>P291：H₂SO₄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5 / 单选题</a:t>
            </a:r>
          </a:p>
          <a:p>
            <a:r>
              <a:t>讲义印刷页：P292</a:t>
            </a:r>
          </a:p>
          <a:p>
            <a:r>
              <a:t>PDF 文件页：294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P292：V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6 / 解答题</a:t>
            </a:r>
          </a:p>
          <a:p>
            <a:r>
              <a:t>讲义印刷页：P292</a:t>
            </a:r>
          </a:p>
          <a:p>
            <a:r>
              <a:t>PDF 文件页：294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P292：1</a:t>
            </a:r>
          </a:p>
          <a:p>
            <a:r>
              <a:t>P292：一</a:t>
            </a:r>
          </a:p>
          <a:p>
            <a:r>
              <a:t>P292：一</a:t>
            </a:r>
          </a:p>
          <a:p>
            <a:r>
              <a:t>P292：一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7 / 实验题</a:t>
            </a:r>
          </a:p>
          <a:p>
            <a:r>
              <a:t>讲义印刷页：P293, P294</a:t>
            </a:r>
          </a:p>
          <a:p>
            <a:r>
              <a:t>PDF 文件页：295, 296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1 / 单选题</a:t>
            </a:r>
          </a:p>
          <a:p>
            <a:r>
              <a:t>讲义印刷页：P294</a:t>
            </a:r>
          </a:p>
          <a:p>
            <a:r>
              <a:t>PDF 文件页：296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P294：过程I</a:t>
            </a:r>
          </a:p>
          <a:p>
            <a:r>
              <a:t>P294：S←</a:t>
            </a:r>
          </a:p>
          <a:p>
            <a:r>
              <a:t>P294：-O₂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2 / 单选题</a:t>
            </a:r>
          </a:p>
          <a:p>
            <a:r>
              <a:t>讲义印刷页：P294</a:t>
            </a:r>
          </a:p>
          <a:p>
            <a:r>
              <a:t>PDF 文件页：296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P294：过程ⅢⅢ</a:t>
            </a:r>
          </a:p>
          <a:p>
            <a:r>
              <a:t>P294：I₂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3 / 单选题</a:t>
            </a:r>
          </a:p>
          <a:p>
            <a:r>
              <a:t>讲义印刷页：P294</a:t>
            </a:r>
          </a:p>
          <a:p>
            <a:r>
              <a:t>PDF 文件页：296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P294：Cu²⁺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4 / 单选题</a:t>
            </a:r>
          </a:p>
          <a:p>
            <a:r>
              <a:t>讲义印刷页：P294</a:t>
            </a:r>
          </a:p>
          <a:p>
            <a:r>
              <a:t>PDF 文件页：296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P294：过程I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5 / 单选题</a:t>
            </a:r>
          </a:p>
          <a:p>
            <a:r>
              <a:t>讲义印刷页：P295</a:t>
            </a:r>
          </a:p>
          <a:p>
            <a:r>
              <a:t>PDF 文件页：297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P295：S₂O₂</a:t>
            </a:r>
          </a:p>
          <a:p>
            <a:r>
              <a:t>P295：IⅢI</a:t>
            </a:r>
          </a:p>
          <a:p>
            <a:r>
              <a:t>P295：AS₂S₃</a:t>
            </a:r>
          </a:p>
          <a:p>
            <a:r>
              <a:t>P295：H₂S</a:t>
            </a:r>
          </a:p>
          <a:p>
            <a:r>
              <a:t>P295：ⅣV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1 / 单选题</a:t>
            </a:r>
          </a:p>
          <a:p>
            <a:r>
              <a:t>讲义印刷页：P295</a:t>
            </a:r>
          </a:p>
          <a:p>
            <a:r>
              <a:t>PDF 文件页：297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2 / 单选题</a:t>
            </a:r>
          </a:p>
          <a:p>
            <a:r>
              <a:t>讲义印刷页：P295</a:t>
            </a:r>
          </a:p>
          <a:p>
            <a:r>
              <a:t>PDF 文件页：297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3 / 解答题</a:t>
            </a:r>
          </a:p>
          <a:p>
            <a:r>
              <a:t>讲义印刷页：P295</a:t>
            </a:r>
          </a:p>
          <a:p>
            <a:r>
              <a:t>PDF 文件页：297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原题定位：知识点1硫酸及硫酸盐的重要性质 / 变式 4 / 填空题</a:t>
            </a:r>
          </a:p>
          <a:p>
            <a:r>
              <a:t>讲义印刷页：P295</a:t>
            </a:r>
          </a:p>
          <a:p>
            <a:r>
              <a:t>PDF 文件页：297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4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硫及其化合物"/>
          <p:cNvSpPr txBox="1"/>
          <p:nvPr/>
        </p:nvSpPr>
        <p:spPr>
          <a:xfrm>
            <a:off x="713232" y="2103120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硫及其化合物</a:t>
            </a:r>
          </a:p>
        </p:txBody>
      </p:sp>
      <p:sp>
        <p:nvSpPr>
          <p:cNvPr id="4" name="文字_第 13 章  ·  高一化学"/>
          <p:cNvSpPr txBox="1"/>
          <p:nvPr/>
        </p:nvSpPr>
        <p:spPr>
          <a:xfrm>
            <a:off x="777240" y="1517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第 13 章  ·  高一化学</a:t>
            </a:r>
          </a:p>
        </p:txBody>
      </p:sp>
      <p:sp>
        <p:nvSpPr>
          <p:cNvPr id="5" name="文字_知识讲解  ·  例题与变式  ·  综合练习"/>
          <p:cNvSpPr txBox="1"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知识讲解  ·  例题与变式  ·  综合练习</a:t>
            </a:r>
          </a:p>
        </p:txBody>
      </p:sp>
      <p:sp>
        <p:nvSpPr>
          <p:cNvPr id="6" name="文字_讲义 P276–296"/>
          <p:cNvSpPr txBox="1"/>
          <p:nvPr/>
        </p:nvSpPr>
        <p:spPr>
          <a:xfrm>
            <a:off x="804672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讲义 P276–296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1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4" name="文字_硫单质的性质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硫单质的性质</a:t>
            </a:r>
          </a:p>
        </p:txBody>
      </p:sp>
      <p:sp>
        <p:nvSpPr>
          <p:cNvPr id="5" name="文字_知识梳理 · 讲义 P276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硫单质的性质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硫单质的性质</a:t>
            </a:r>
          </a:p>
        </p:txBody>
      </p:sp>
      <p:sp>
        <p:nvSpPr>
          <p:cNvPr id="5" name="文字_知识讲解 · P276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P276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淡黄色晶体（硫磺），难溶于水，微溶于乙醇，易溶于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淡黄色晶体（硫磺），难溶于水，微溶于乙醇，易溶于 CS₂。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化合价：最高 +6、最低 −2，既有氧化性又有还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化合价：最高 +6、最低 −2，既有氧化性又有还原性。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与金属（表现氧化性，变价金属生成低价硫化物）：F"/>
          <p:cNvSpPr txBox="1"/>
          <p:nvPr/>
        </p:nvSpPr>
        <p:spPr>
          <a:xfrm>
            <a:off x="722376" y="2938272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与金属（表现氧化性，变价金属生成低价硫化物）：Fe + S → FeS、2Cu + S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 Cu₂S、S + 2Ag = Ag₂S。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Hg + S = HgS（常温），用于除去洒落的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Hg + S = HgS（常温），用于除去洒落的汞。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与非金属：S + O₂ —点燃→ SO₂（淡蓝色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与非金属：S + O₂ —点燃→ SO₂（淡蓝色火焰）；S + H₂ —加热→ H₂S。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13892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与热碱：3S + 6NaOH —加热→ 2Na₂"/>
          <p:cNvSpPr txBox="1"/>
          <p:nvPr/>
        </p:nvSpPr>
        <p:spPr>
          <a:xfrm>
            <a:off x="722376" y="5056632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与热碱：3S + 6NaOH —加热→ 2Na₂S + Na₂SO₃ + 3H₂O（清洗内壁的硫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74243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S 与变价金属生成低价态，氧化性弱于 C"/>
          <p:cNvSpPr txBox="1"/>
          <p:nvPr/>
        </p:nvSpPr>
        <p:spPr>
          <a:xfrm>
            <a:off x="630936" y="580186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S 与变价金属生成低价态，氧化性弱于 Cl₂；制 Al₂S₃ 只能用单质直接化合。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2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4" name="文字_SO₂ 的物理性质与酸性氧化物通性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的物理性质与酸性氧化物通性</a:t>
            </a:r>
          </a:p>
        </p:txBody>
      </p:sp>
      <p:sp>
        <p:nvSpPr>
          <p:cNvPr id="5" name="文字_知识梳理 · 讲义 P277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SO₂ 的物理性质与酸性氧化物通性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的物理性质与酸性氧化物通性</a:t>
            </a:r>
          </a:p>
        </p:txBody>
      </p:sp>
      <p:sp>
        <p:nvSpPr>
          <p:cNvPr id="5" name="文字_知识讲解 · P27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无色、有刺激性气味的有毒气体；易溶于水（1 体积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无色、有刺激性气味的有毒气体；易溶于水（1 体积水溶约 40 体积 SO₂）。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是形成酸雨的主要气体之一；燃煤需脱硫。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是形成酸雨的主要气体之一；燃煤需脱硫。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与水：SO₂ + H₂O ⇌ H₂SO₃（中强酸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与水：SO₂ + H₂O ⇌ H₂SO₃（中强酸、不稳定，使石蕊变红不褪色）。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与碱：SO₂ + 2NaOH = Na₂SO₃ "/>
          <p:cNvSpPr txBox="1"/>
          <p:nvPr/>
        </p:nvSpPr>
        <p:spPr>
          <a:xfrm>
            <a:off x="722376" y="3520440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与碱：SO₂ + 2NaOH = Na₂SO₃ + H₂O；SO₂ + NaOH = NaHSO₃（SO₂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 足量）。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与石灰水：少量 SO₂ 生成 CaSO₃ 白色沉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与石灰水：少量 SO₂ 生成 CaSO₃ 白色沉淀，过量生成可溶的 Ca(HSO₃)₂。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13892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与碳酸钠：SO₂ + Na₂CO₃ = Na₂S"/>
          <p:cNvSpPr txBox="1"/>
          <p:nvPr/>
        </p:nvSpPr>
        <p:spPr>
          <a:xfrm>
            <a:off x="722376" y="505663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与碳酸钠：SO₂ + Na₂CO₃ = Na₂SO₃ + CO₂（亚硫酸酸性 &gt; 碳酸）。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684520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SO₂ 不与 BaCl₂、Ba(NO₃)"/>
          <p:cNvSpPr txBox="1"/>
          <p:nvPr/>
        </p:nvSpPr>
        <p:spPr>
          <a:xfrm>
            <a:off x="630936" y="5743956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SO₂ 不与 BaCl₂、Ba(NO₃)₂ 溶液直接反应生成 BaSO₃ 沉淀，常用于排除干扰。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SO₂ 的漂白性与三类漂白原理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的漂白性与三类漂白原理</a:t>
            </a:r>
          </a:p>
        </p:txBody>
      </p:sp>
      <p:sp>
        <p:nvSpPr>
          <p:cNvPr id="5" name="文字_知识讲解 · P27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P277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SO₂ 使品红等有色物质褪色，加热后恢复原色（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使品红等有色物质褪色，加热后恢复原色（暂时性漂白）。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原理：SO₂ 与有色物质化合生成不稳定的无色物质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原理：SO₂ 与有色物质化合生成不稳定的无色物质（化合型）。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氧化型漂白：HClO、NaClO、H₂O₂、O₃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氧化型漂白：HClO、NaClO、H₂O₂、O₃，漂白后颜色不可恢复。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吸附型漂白：活性炭、胶体靠疏松多孔结构吸附色素。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吸附型漂白：活性炭、胶体靠疏松多孔结构吸附色素。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SO₂ 不能漂白酸碱指示剂：石蕊只变红不褪色。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不能漂白酸碱指示剂：石蕊只变红不褪色。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鉴别 SO₂ 与 Cl₂：通入品红再加热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鉴别 SO₂ 与 Cl₂：通入品红再加热，恢复原色的是 SO₂。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3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03</a:t>
            </a:r>
          </a:p>
        </p:txBody>
      </p:sp>
      <p:sp>
        <p:nvSpPr>
          <p:cNvPr id="4" name="文字_SO₂ 的还原性与氧化性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的还原性与氧化性</a:t>
            </a:r>
          </a:p>
        </p:txBody>
      </p:sp>
      <p:sp>
        <p:nvSpPr>
          <p:cNvPr id="5" name="文字_知识梳理 · 讲义 P278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SO₂ 的还原性与氧化性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的还原性与氧化性</a:t>
            </a:r>
          </a:p>
        </p:txBody>
      </p:sp>
      <p:sp>
        <p:nvSpPr>
          <p:cNvPr id="5" name="文字_知识讲解 · P278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还原性（主要）：使酸性 KMnO₄、溴水、氯水褪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还原性（主要）：使酸性 KMnO₄、溴水、氯水褪色。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SO₂ + Br₂ + 2H₂O = H₂SO₄"/>
          <p:cNvSpPr txBox="1"/>
          <p:nvPr/>
        </p:nvSpPr>
        <p:spPr>
          <a:xfrm>
            <a:off x="722376" y="235610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+ Br₂ + 2H₂O = H₂SO₄ + 2HBr；SO₂ + Cl₂ + 2H₂O = H₂SO₄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2HCl。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5SO₂ + 2KMnO₄ + 2H₂O = K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5SO₂ + 2KMnO₄ + 2H₂O = K₂SO₄ + 2MnSO₄ + 2H₂SO₄。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催化氧化：2SO₂ + O₂ ⇌(催化剂、加热)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催化氧化：2SO₂ + O₂ ⇌(催化剂、加热) 2SO₃，工业制硫酸关键步骤。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氧化性（弱）：SO₂ + 2H₂S = 3S↓ 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氧化性（弱）：SO₂ + 2H₂S = 3S↓ + 2H₂O（淡黄色沉淀）。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13892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亚硫酸盐同样易被氧化：2SO₃²⁻ + O₂ ="/>
          <p:cNvSpPr txBox="1"/>
          <p:nvPr/>
        </p:nvSpPr>
        <p:spPr>
          <a:xfrm>
            <a:off x="722376" y="505663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亚硫酸盐同样易被氧化：2SO₃²⁻ + O₂ = 2SO₄²⁻。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684520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同样是褪色，原理可能不同：溴水褪色是还原"/>
          <p:cNvSpPr txBox="1"/>
          <p:nvPr/>
        </p:nvSpPr>
        <p:spPr>
          <a:xfrm>
            <a:off x="630936" y="5743956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同样是褪色，原理可能不同：溴水褪色是还原性，品红褪色是化合漂白。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SO₂ 的实验室制法与 SO₃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的实验室制法与 SO₃</a:t>
            </a:r>
          </a:p>
        </p:txBody>
      </p:sp>
      <p:sp>
        <p:nvSpPr>
          <p:cNvPr id="5" name="文字_知识讲解 · P278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P278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原理：Na₂SO₃ + H₂SO₄(较浓) = 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原理：Na₂SO₃ + H₂SO₄(较浓) = Na₂SO₄ + H₂O + SO₂↑。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不能用稀硫酸（SO₂ 溶解多）、盐酸（挥发引入 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不能用稀硫酸（SO₂ 溶解多）、盐酸（挥发引入 HCl）、硝酸（氧化 SO₂）。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收集：向上排空气法；尾气用 NaOH 溶液吸收。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收集：向上排空气法；尾气用 NaOH 溶液吸收。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检验：品红溶液褪色、加热恢复原色。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检验：品红溶液褪色、加热恢复原色。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SO₃：标准状况为固态、常温为液态；SO₃ + 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SO₃：标准状况为固态、常温为液态；SO₃ + H₂O = H₂SO₄。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约 70% 的硫酸最合适：太稀 SO₂ 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约 70% 的硫酸最合适：太稀 SO₂ 溶解损失，98% 浓硫酸氢离子浓度小反应慢。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例题1</a:t>
            </a:r>
          </a:p>
        </p:txBody>
      </p:sp>
      <p:sp>
        <p:nvSpPr>
          <p:cNvPr id="5" name="文字_P27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P279</a:t>
            </a:r>
          </a:p>
        </p:txBody>
      </p:sp>
      <p:sp>
        <p:nvSpPr>
          <p:cNvPr id="6" name="文字_硫是一种重要的非金属，下列说法中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硫是一种重要的非金属，下列说法中正确的是</a:t>
            </a:r>
          </a:p>
        </p:txBody>
      </p:sp>
      <p:sp>
        <p:nvSpPr>
          <p:cNvPr id="7" name="文字_A. 硫在空气中燃烧有SO₃生成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硫在空气中燃烧有SO₃生成</a:t>
            </a:r>
          </a:p>
        </p:txBody>
      </p:sp>
      <p:sp>
        <p:nvSpPr>
          <p:cNvPr id="8" name="文字_B. 硫为白色晶体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硫为白色晶体</a:t>
            </a:r>
          </a:p>
        </p:txBody>
      </p:sp>
      <p:sp>
        <p:nvSpPr>
          <p:cNvPr id="9" name="文字_C. S与Cu反应生成CuS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S与Cu反应生成CuS</a:t>
            </a:r>
          </a:p>
        </p:txBody>
      </p:sp>
      <p:sp>
        <p:nvSpPr>
          <p:cNvPr id="10" name="文字_D. 硫是一种难溶于水的晶体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硫是一种难溶于水的晶体</a:t>
            </a:r>
          </a:p>
        </p:txBody>
      </p:sp>
      <p:sp>
        <p:nvSpPr>
          <p:cNvPr id="11" name="文字_单选题  ·  13-00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13-001</a:t>
            </a:r>
          </a:p>
        </p:txBody>
      </p:sp>
      <p:sp>
        <p:nvSpPr>
          <p:cNvPr id="12" name="文字_1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例题2</a:t>
            </a:r>
          </a:p>
        </p:txBody>
      </p:sp>
      <p:sp>
        <p:nvSpPr>
          <p:cNvPr id="5" name="文字_P27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P279</a:t>
            </a:r>
          </a:p>
        </p:txBody>
      </p:sp>
      <p:sp>
        <p:nvSpPr>
          <p:cNvPr id="6" name="文字_《神农本草经》记载，石流黄(即硫黄)能化金银钢铁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《神农本草经》记载，石流黄(即硫黄)能化金银钢铁。下列关于硫的叙述中，正确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的是</a:t>
            </a:r>
          </a:p>
        </p:txBody>
      </p:sp>
      <p:sp>
        <p:nvSpPr>
          <p:cNvPr id="7" name="文字_A. S易溶于乙醇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S易溶于乙醇</a:t>
            </a:r>
          </a:p>
        </p:txBody>
      </p:sp>
      <p:sp>
        <p:nvSpPr>
          <p:cNvPr id="8" name="文字_B. S与Cu加热生成Cu₂S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S与Cu加热生成Cu₂S</a:t>
            </a:r>
          </a:p>
        </p:txBody>
      </p:sp>
      <p:sp>
        <p:nvSpPr>
          <p:cNvPr id="9" name="文字_C. S在O₂中燃烧生成SO₃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S在O₂中燃烧生成SO₃</a:t>
            </a:r>
          </a:p>
        </p:txBody>
      </p:sp>
      <p:sp>
        <p:nvSpPr>
          <p:cNvPr id="10" name="文字_D. S的得电子能力强于O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S的得电子能力强于O</a:t>
            </a:r>
          </a:p>
        </p:txBody>
      </p:sp>
      <p:sp>
        <p:nvSpPr>
          <p:cNvPr id="11" name="文字_单选题  ·  13-00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13-002</a:t>
            </a:r>
          </a:p>
        </p:txBody>
      </p:sp>
      <p:sp>
        <p:nvSpPr>
          <p:cNvPr id="12" name="文字_1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例题3</a:t>
            </a:r>
          </a:p>
        </p:txBody>
      </p:sp>
      <p:sp>
        <p:nvSpPr>
          <p:cNvPr id="5" name="文字_P27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P279</a:t>
            </a:r>
          </a:p>
        </p:txBody>
      </p:sp>
      <p:sp>
        <p:nvSpPr>
          <p:cNvPr id="6" name="文字_自然界中硫元素的部分转化如图。下列有关说法正确的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自然界中硫元素的部分转化如图。下列有关说法正确的是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2205191"/>
          </a:xfrm>
          <a:prstGeom prst="rect">
            <a:avLst/>
          </a:prstGeom>
        </p:spPr>
      </p:pic>
      <p:sp>
        <p:nvSpPr>
          <p:cNvPr id="8" name="原题文字_279_21"/>
          <p:cNvSpPr txBox="1"/>
          <p:nvPr/>
        </p:nvSpPr>
        <p:spPr>
          <a:xfrm>
            <a:off x="1705055" y="1549787"/>
            <a:ext cx="338169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</a:t>
            </a:r>
          </a:p>
        </p:txBody>
      </p:sp>
      <p:sp>
        <p:nvSpPr>
          <p:cNvPr id="9" name="原题文字_279_22"/>
          <p:cNvSpPr txBox="1"/>
          <p:nvPr/>
        </p:nvSpPr>
        <p:spPr>
          <a:xfrm>
            <a:off x="2746395" y="2055144"/>
            <a:ext cx="284571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</a:t>
            </a:r>
          </a:p>
        </p:txBody>
      </p:sp>
      <p:sp>
        <p:nvSpPr>
          <p:cNvPr id="10" name="原题文字_279_23"/>
          <p:cNvSpPr txBox="1"/>
          <p:nvPr/>
        </p:nvSpPr>
        <p:spPr>
          <a:xfrm>
            <a:off x="3267065" y="1993888"/>
            <a:ext cx="483651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H₂SO₄</a:t>
            </a:r>
          </a:p>
        </p:txBody>
      </p:sp>
      <p:sp>
        <p:nvSpPr>
          <p:cNvPr id="11" name="原题文字_279_24"/>
          <p:cNvSpPr txBox="1"/>
          <p:nvPr/>
        </p:nvSpPr>
        <p:spPr>
          <a:xfrm>
            <a:off x="3267065" y="2192968"/>
            <a:ext cx="483651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H₂SO₃</a:t>
            </a:r>
          </a:p>
        </p:txBody>
      </p:sp>
      <p:sp>
        <p:nvSpPr>
          <p:cNvPr id="12" name="原题文字_279_25"/>
          <p:cNvSpPr txBox="1"/>
          <p:nvPr/>
        </p:nvSpPr>
        <p:spPr>
          <a:xfrm>
            <a:off x="2317608" y="2621755"/>
            <a:ext cx="453023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地表：</a:t>
            </a:r>
          </a:p>
        </p:txBody>
      </p:sp>
      <p:sp>
        <p:nvSpPr>
          <p:cNvPr id="13" name="原题文字_279_26"/>
          <p:cNvSpPr txBox="1"/>
          <p:nvPr/>
        </p:nvSpPr>
        <p:spPr>
          <a:xfrm>
            <a:off x="2455432" y="2790207"/>
            <a:ext cx="1348882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Na₂SOd·10H₂O(芒硝)</a:t>
            </a:r>
          </a:p>
        </p:txBody>
      </p:sp>
      <p:sp>
        <p:nvSpPr>
          <p:cNvPr id="14" name="原题文字_279_27"/>
          <p:cNvSpPr txBox="1"/>
          <p:nvPr/>
        </p:nvSpPr>
        <p:spPr>
          <a:xfrm>
            <a:off x="3879618" y="2790207"/>
            <a:ext cx="1195744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CaSO₄·2H₂O(石膏)</a:t>
            </a:r>
          </a:p>
        </p:txBody>
      </p:sp>
      <p:sp>
        <p:nvSpPr>
          <p:cNvPr id="15" name="原题文字_279_28"/>
          <p:cNvSpPr txBox="1"/>
          <p:nvPr/>
        </p:nvSpPr>
        <p:spPr>
          <a:xfrm>
            <a:off x="1046560" y="3188367"/>
            <a:ext cx="2305996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地下：FeS₂(黄铁矿)CuFeS₂(黄铜矿)</a:t>
            </a:r>
          </a:p>
        </p:txBody>
      </p:sp>
      <p:sp>
        <p:nvSpPr>
          <p:cNvPr id="16" name="原题文字_279_29"/>
          <p:cNvSpPr txBox="1"/>
          <p:nvPr/>
        </p:nvSpPr>
        <p:spPr>
          <a:xfrm>
            <a:off x="3711166" y="3127111"/>
            <a:ext cx="1172773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4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受氧气和水的作用</a:t>
            </a:r>
          </a:p>
        </p:txBody>
      </p:sp>
      <p:sp>
        <p:nvSpPr>
          <p:cNvPr id="17" name="原题文字_279_30"/>
          <p:cNvSpPr txBox="1"/>
          <p:nvPr/>
        </p:nvSpPr>
        <p:spPr>
          <a:xfrm>
            <a:off x="594802" y="3418074"/>
            <a:ext cx="3806751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含硫矿物中硫元素的化合价均为-2价</a:t>
            </a:r>
          </a:p>
        </p:txBody>
      </p:sp>
      <p:sp>
        <p:nvSpPr>
          <p:cNvPr id="18" name="文字_B. 硫元素在自然界中没有游离态只有化合态"/>
          <p:cNvSpPr txBox="1"/>
          <p:nvPr/>
        </p:nvSpPr>
        <p:spPr>
          <a:xfrm>
            <a:off x="502920" y="379624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硫元素在自然界中没有游离态只有化合态</a:t>
            </a:r>
          </a:p>
        </p:txBody>
      </p:sp>
      <p:sp>
        <p:nvSpPr>
          <p:cNvPr id="19" name="文字_C. 硫元素在自然界的转化过程中既可被氧化又可被"/>
          <p:cNvSpPr txBox="1"/>
          <p:nvPr/>
        </p:nvSpPr>
        <p:spPr>
          <a:xfrm>
            <a:off x="502920" y="423515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硫元素在自然界的转化过程中既可被氧化又可被还原</a:t>
            </a:r>
          </a:p>
        </p:txBody>
      </p:sp>
      <p:sp>
        <p:nvSpPr>
          <p:cNvPr id="20" name="文字_D. 硫燃烧时直接转化为三氧化硫进入大气"/>
          <p:cNvSpPr txBox="1"/>
          <p:nvPr/>
        </p:nvSpPr>
        <p:spPr>
          <a:xfrm>
            <a:off x="502920" y="467407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硫燃烧时直接转化为三氧化硫进入大气</a:t>
            </a:r>
          </a:p>
        </p:txBody>
      </p:sp>
      <p:sp>
        <p:nvSpPr>
          <p:cNvPr id="21" name="文字_单选题  ·  13-00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13-003</a:t>
            </a:r>
          </a:p>
        </p:txBody>
      </p:sp>
      <p:sp>
        <p:nvSpPr>
          <p:cNvPr id="22" name="文字_1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例题4</a:t>
            </a:r>
          </a:p>
        </p:txBody>
      </p:sp>
      <p:sp>
        <p:nvSpPr>
          <p:cNvPr id="5" name="文字_P27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P279</a:t>
            </a:r>
          </a:p>
        </p:txBody>
      </p:sp>
      <p:sp>
        <p:nvSpPr>
          <p:cNvPr id="6" name="文字_X是一种淡黄色固体单质，一定条件下，X存在如图所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X是一种淡黄色固体单质，一定条件下，X存在如图所示的转化关系。下列说法正确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的是</a:t>
            </a:r>
          </a:p>
        </p:txBody>
      </p:sp>
      <p:sp>
        <p:nvSpPr>
          <p:cNvPr id="7" name="文字_X  Y 3 Z =→ W NaH T (钠盐)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  Y 3 Z =→ W NaH T (钠盐)O₂ H₂O NaOH</a:t>
            </a:r>
          </a:p>
        </p:txBody>
      </p:sp>
      <p:sp>
        <p:nvSpPr>
          <p:cNvPr id="8" name="文字_A. X在足量氧气中燃烧生成Z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X在足量氧气中燃烧生成Z</a:t>
            </a:r>
          </a:p>
        </p:txBody>
      </p:sp>
      <p:sp>
        <p:nvSpPr>
          <p:cNvPr id="9" name="文字_B. 任何条件下，X都不可能与W发生反应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任何条件下，X都不可能与W发生反应</a:t>
            </a:r>
          </a:p>
        </p:txBody>
      </p:sp>
      <p:sp>
        <p:nvSpPr>
          <p:cNvPr id="10" name="文字_H₂O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H₂O</a:t>
            </a:r>
          </a:p>
        </p:txBody>
      </p:sp>
      <p:sp>
        <p:nvSpPr>
          <p:cNvPr id="11" name="文字_C. z→ W的反应为氧化还原反应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z→ W的反应为氧化还原反应</a:t>
            </a:r>
          </a:p>
        </p:txBody>
      </p:sp>
      <p:sp>
        <p:nvSpPr>
          <p:cNvPr id="12" name="文字_D. 可用盐酸和氯化钡溶液检验T溶液中的阴离子"/>
          <p:cNvSpPr txBox="1"/>
          <p:nvPr/>
        </p:nvSpPr>
        <p:spPr>
          <a:xfrm>
            <a:off x="502920" y="40751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可用盐酸和氯化钡溶液检验T溶液中的阴离子</a:t>
            </a:r>
          </a:p>
        </p:txBody>
      </p:sp>
      <p:sp>
        <p:nvSpPr>
          <p:cNvPr id="13" name="文字_单选题  ·  13-00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13-004</a:t>
            </a:r>
          </a:p>
        </p:txBody>
      </p:sp>
      <p:sp>
        <p:nvSpPr>
          <p:cNvPr id="14" name="文字_1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例题5</a:t>
            </a:r>
          </a:p>
        </p:txBody>
      </p:sp>
      <p:sp>
        <p:nvSpPr>
          <p:cNvPr id="5" name="文字_P28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P280</a:t>
            </a:r>
          </a:p>
        </p:txBody>
      </p:sp>
      <p:sp>
        <p:nvSpPr>
          <p:cNvPr id="6" name="文字_某化学小组将二氧化硫的制备与多个性质实验进行了一"/>
          <p:cNvSpPr txBox="1"/>
          <p:nvPr/>
        </p:nvSpPr>
        <p:spPr>
          <a:xfrm>
            <a:off x="502920" y="107899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某化学小组将二氧化硫的制备与多个性质实验进行了一体化设计，实验装置如图示。试管①中反应为：</a:t>
            </a:r>
          </a:p>
        </p:txBody>
      </p:sp>
      <p:sp>
        <p:nvSpPr>
          <p:cNvPr id="7" name="文字_Na₂S₂O₃ + H₂SO₄ = Na₂SO₄"/>
          <p:cNvSpPr txBox="1"/>
          <p:nvPr/>
        </p:nvSpPr>
        <p:spPr>
          <a:xfrm>
            <a:off x="502920" y="1426464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Na₂S₂O₃ + H₂SO₄ = Na₂SO₄ + SO₂ ↑ +S↓ +H₂O，下列说法不正确的是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73936"/>
            <a:ext cx="11064240" cy="3292472"/>
          </a:xfrm>
          <a:prstGeom prst="rect">
            <a:avLst/>
          </a:prstGeom>
        </p:spPr>
      </p:pic>
      <p:sp>
        <p:nvSpPr>
          <p:cNvPr id="9" name="原题文字_280_5"/>
          <p:cNvSpPr txBox="1"/>
          <p:nvPr/>
        </p:nvSpPr>
        <p:spPr>
          <a:xfrm>
            <a:off x="1306895" y="1805819"/>
            <a:ext cx="261600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</a:t>
            </a:r>
          </a:p>
        </p:txBody>
      </p:sp>
      <p:sp>
        <p:nvSpPr>
          <p:cNvPr id="10" name="原题文字_280_6"/>
          <p:cNvSpPr txBox="1"/>
          <p:nvPr/>
        </p:nvSpPr>
        <p:spPr>
          <a:xfrm>
            <a:off x="694342" y="2181008"/>
            <a:ext cx="636789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稀硫酸</a:t>
            </a:r>
          </a:p>
        </p:txBody>
      </p:sp>
      <p:sp>
        <p:nvSpPr>
          <p:cNvPr id="11" name="原题文字_280_7"/>
          <p:cNvSpPr txBox="1"/>
          <p:nvPr/>
        </p:nvSpPr>
        <p:spPr>
          <a:xfrm>
            <a:off x="1896478" y="2579168"/>
            <a:ext cx="613818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止水夹</a:t>
            </a:r>
          </a:p>
        </p:txBody>
      </p:sp>
      <p:sp>
        <p:nvSpPr>
          <p:cNvPr id="12" name="原题文字_280_8"/>
          <p:cNvSpPr txBox="1"/>
          <p:nvPr/>
        </p:nvSpPr>
        <p:spPr>
          <a:xfrm>
            <a:off x="1789281" y="3053896"/>
            <a:ext cx="621475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湿润的</a:t>
            </a:r>
          </a:p>
        </p:txBody>
      </p:sp>
      <p:sp>
        <p:nvSpPr>
          <p:cNvPr id="13" name="原题文字_280_9"/>
          <p:cNvSpPr txBox="1"/>
          <p:nvPr/>
        </p:nvSpPr>
        <p:spPr>
          <a:xfrm>
            <a:off x="2738738" y="3053896"/>
            <a:ext cx="483651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鲜花</a:t>
            </a:r>
          </a:p>
        </p:txBody>
      </p:sp>
      <p:sp>
        <p:nvSpPr>
          <p:cNvPr id="14" name="原题文字_280_10"/>
          <p:cNvSpPr txBox="1"/>
          <p:nvPr/>
        </p:nvSpPr>
        <p:spPr>
          <a:xfrm>
            <a:off x="3389576" y="3069210"/>
            <a:ext cx="621475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止水夹</a:t>
            </a:r>
          </a:p>
        </p:txBody>
      </p:sp>
      <p:sp>
        <p:nvSpPr>
          <p:cNvPr id="15" name="原题文字_280_11"/>
          <p:cNvSpPr txBox="1"/>
          <p:nvPr/>
        </p:nvSpPr>
        <p:spPr>
          <a:xfrm>
            <a:off x="1467691" y="3145779"/>
            <a:ext cx="215659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16" name="原题文字_280_12"/>
          <p:cNvSpPr txBox="1"/>
          <p:nvPr/>
        </p:nvSpPr>
        <p:spPr>
          <a:xfrm>
            <a:off x="610116" y="3329545"/>
            <a:ext cx="897124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Na₂S₂O₃</a:t>
            </a:r>
          </a:p>
        </p:txBody>
      </p:sp>
      <p:sp>
        <p:nvSpPr>
          <p:cNvPr id="17" name="原题文字_280_13"/>
          <p:cNvSpPr txBox="1"/>
          <p:nvPr/>
        </p:nvSpPr>
        <p:spPr>
          <a:xfrm>
            <a:off x="1781624" y="3275947"/>
            <a:ext cx="675073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pH试纸</a:t>
            </a:r>
          </a:p>
        </p:txBody>
      </p:sp>
      <p:sp>
        <p:nvSpPr>
          <p:cNvPr id="18" name="原题文字_280_14"/>
          <p:cNvSpPr txBox="1"/>
          <p:nvPr/>
        </p:nvSpPr>
        <p:spPr>
          <a:xfrm>
            <a:off x="2807650" y="3337202"/>
            <a:ext cx="246286" cy="1692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回</a:t>
            </a:r>
          </a:p>
        </p:txBody>
      </p:sp>
      <p:sp>
        <p:nvSpPr>
          <p:cNvPr id="19" name="原题文字_280_15"/>
          <p:cNvSpPr txBox="1"/>
          <p:nvPr/>
        </p:nvSpPr>
        <p:spPr>
          <a:xfrm>
            <a:off x="3619283" y="3245319"/>
            <a:ext cx="177374" cy="149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2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  <p:sp>
        <p:nvSpPr>
          <p:cNvPr id="20" name="原题文字_280_16"/>
          <p:cNvSpPr txBox="1"/>
          <p:nvPr/>
        </p:nvSpPr>
        <p:spPr>
          <a:xfrm>
            <a:off x="2822964" y="3528625"/>
            <a:ext cx="81289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Na₂S溶液</a:t>
            </a:r>
          </a:p>
        </p:txBody>
      </p:sp>
      <p:sp>
        <p:nvSpPr>
          <p:cNvPr id="21" name="原题文字_280_17"/>
          <p:cNvSpPr txBox="1"/>
          <p:nvPr/>
        </p:nvSpPr>
        <p:spPr>
          <a:xfrm>
            <a:off x="3948531" y="3720048"/>
            <a:ext cx="261600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吉</a:t>
            </a:r>
          </a:p>
        </p:txBody>
      </p:sp>
      <p:sp>
        <p:nvSpPr>
          <p:cNvPr id="22" name="原题文字_280_18"/>
          <p:cNvSpPr txBox="1"/>
          <p:nvPr/>
        </p:nvSpPr>
        <p:spPr>
          <a:xfrm>
            <a:off x="2754052" y="3857872"/>
            <a:ext cx="1057919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品红溶液(内)</a:t>
            </a:r>
          </a:p>
        </p:txBody>
      </p:sp>
      <p:sp>
        <p:nvSpPr>
          <p:cNvPr id="23" name="原题文字_280_19"/>
          <p:cNvSpPr txBox="1"/>
          <p:nvPr/>
        </p:nvSpPr>
        <p:spPr>
          <a:xfrm>
            <a:off x="2769366" y="4072266"/>
            <a:ext cx="981350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7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KMnO₄溶液</a:t>
            </a:r>
          </a:p>
        </p:txBody>
      </p:sp>
      <p:sp>
        <p:nvSpPr>
          <p:cNvPr id="24" name="原题文字_280_20"/>
          <p:cNvSpPr txBox="1"/>
          <p:nvPr/>
        </p:nvSpPr>
        <p:spPr>
          <a:xfrm>
            <a:off x="3045015" y="4286659"/>
            <a:ext cx="422395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(外)</a:t>
            </a:r>
          </a:p>
        </p:txBody>
      </p:sp>
      <p:sp>
        <p:nvSpPr>
          <p:cNvPr id="25" name="原题文字_280_21"/>
          <p:cNvSpPr txBox="1"/>
          <p:nvPr/>
        </p:nvSpPr>
        <p:spPr>
          <a:xfrm>
            <a:off x="594802" y="4761388"/>
            <a:ext cx="5567841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挤压注射器的活塞，试管①中的反应只体现硫酸的酸性</a:t>
            </a:r>
          </a:p>
        </p:txBody>
      </p:sp>
      <p:sp>
        <p:nvSpPr>
          <p:cNvPr id="26" name="文字_B. 实验时，湿润的pH试纸、品红溶液、鲜花、K"/>
          <p:cNvSpPr txBox="1"/>
          <p:nvPr/>
        </p:nvSpPr>
        <p:spPr>
          <a:xfrm>
            <a:off x="502920" y="513956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实验时，湿润的pH试纸、品红溶液、鲜花、KMnO₄溶液均褪色，Na₂S溶液出现淡黄色沉淀</a:t>
            </a:r>
          </a:p>
        </p:txBody>
      </p:sp>
      <p:sp>
        <p:nvSpPr>
          <p:cNvPr id="27" name="文字_C. 此设计可证明SO₂水溶液的酸性，SO₂的氧"/>
          <p:cNvSpPr txBox="1"/>
          <p:nvPr/>
        </p:nvSpPr>
        <p:spPr>
          <a:xfrm>
            <a:off x="502920" y="548703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此设计可证明SO₂水溶液的酸性，SO₂的氧化性、还原性、漂白性</a:t>
            </a:r>
          </a:p>
        </p:txBody>
      </p:sp>
      <p:sp>
        <p:nvSpPr>
          <p:cNvPr id="28" name="文字_D. 点燃酒精灯进行加热，可证明SO₂使品红溶液"/>
          <p:cNvSpPr txBox="1"/>
          <p:nvPr/>
        </p:nvSpPr>
        <p:spPr>
          <a:xfrm>
            <a:off x="502920" y="5834504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点燃酒精灯进行加热，可证明SO₂使品红溶液褪色具有可逆性</a:t>
            </a:r>
          </a:p>
        </p:txBody>
      </p:sp>
      <p:sp>
        <p:nvSpPr>
          <p:cNvPr id="29" name="文字_单选题  ·  13-00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13-005</a:t>
            </a:r>
          </a:p>
        </p:txBody>
      </p:sp>
      <p:sp>
        <p:nvSpPr>
          <p:cNvPr id="30" name="文字_1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例题6</a:t>
            </a:r>
          </a:p>
        </p:txBody>
      </p:sp>
      <p:sp>
        <p:nvSpPr>
          <p:cNvPr id="5" name="文字_P28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P280</a:t>
            </a:r>
          </a:p>
        </p:txBody>
      </p:sp>
      <p:sp>
        <p:nvSpPr>
          <p:cNvPr id="6" name="文字_若将铜丝插入热浓硫酸中进行如图(a～d均为浸有相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若将铜丝插入热浓硫酸中进行如图(a～d均为浸有相应试液的棉花)所示的探究实验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，下列操作及分析正确的是</a:t>
            </a:r>
          </a:p>
        </p:txBody>
      </p:sp>
      <p:sp>
        <p:nvSpPr>
          <p:cNvPr id="7" name="文字_品红 浓NaOH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品红 浓NaOH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9528"/>
            <a:ext cx="11064240" cy="2258789"/>
          </a:xfrm>
          <a:prstGeom prst="rect">
            <a:avLst/>
          </a:prstGeom>
        </p:spPr>
      </p:pic>
      <p:sp>
        <p:nvSpPr>
          <p:cNvPr id="9" name="原题文字_280_31"/>
          <p:cNvSpPr txBox="1"/>
          <p:nvPr/>
        </p:nvSpPr>
        <p:spPr>
          <a:xfrm>
            <a:off x="625430" y="2405010"/>
            <a:ext cx="468337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</a:t>
            </a:r>
          </a:p>
        </p:txBody>
      </p:sp>
      <p:sp>
        <p:nvSpPr>
          <p:cNvPr id="10" name="原题文字_280_32"/>
          <p:cNvSpPr txBox="1"/>
          <p:nvPr/>
        </p:nvSpPr>
        <p:spPr>
          <a:xfrm>
            <a:off x="2164470" y="2351411"/>
            <a:ext cx="238629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1" name="原题文字_280_33"/>
          <p:cNvSpPr txBox="1"/>
          <p:nvPr/>
        </p:nvSpPr>
        <p:spPr>
          <a:xfrm>
            <a:off x="3052672" y="2397353"/>
            <a:ext cx="200345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2" name="原题文字_280_34"/>
          <p:cNvSpPr txBox="1"/>
          <p:nvPr/>
        </p:nvSpPr>
        <p:spPr>
          <a:xfrm>
            <a:off x="1773967" y="3408065"/>
            <a:ext cx="192688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3" name="原题文字_280_35"/>
          <p:cNvSpPr txBox="1"/>
          <p:nvPr/>
        </p:nvSpPr>
        <p:spPr>
          <a:xfrm>
            <a:off x="2585600" y="3408065"/>
            <a:ext cx="162060" cy="1791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14" name="原题文字_280_36"/>
          <p:cNvSpPr txBox="1"/>
          <p:nvPr/>
        </p:nvSpPr>
        <p:spPr>
          <a:xfrm>
            <a:off x="3619283" y="3408065"/>
            <a:ext cx="552563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安全</a:t>
            </a:r>
          </a:p>
        </p:txBody>
      </p:sp>
      <p:sp>
        <p:nvSpPr>
          <p:cNvPr id="15" name="原题文字_280_37"/>
          <p:cNvSpPr txBox="1"/>
          <p:nvPr/>
        </p:nvSpPr>
        <p:spPr>
          <a:xfrm>
            <a:off x="1620829" y="3561204"/>
            <a:ext cx="50662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紫色</a:t>
            </a:r>
          </a:p>
        </p:txBody>
      </p:sp>
      <p:sp>
        <p:nvSpPr>
          <p:cNvPr id="16" name="原题文字_280_38"/>
          <p:cNvSpPr txBox="1"/>
          <p:nvPr/>
        </p:nvSpPr>
        <p:spPr>
          <a:xfrm>
            <a:off x="2409491" y="3553547"/>
            <a:ext cx="521935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酸性</a:t>
            </a:r>
          </a:p>
        </p:txBody>
      </p:sp>
      <p:sp>
        <p:nvSpPr>
          <p:cNvPr id="17" name="原题文字_280_39"/>
          <p:cNvSpPr txBox="1"/>
          <p:nvPr/>
        </p:nvSpPr>
        <p:spPr>
          <a:xfrm>
            <a:off x="3619283" y="3637773"/>
            <a:ext cx="537249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气球</a:t>
            </a:r>
          </a:p>
        </p:txBody>
      </p:sp>
      <p:sp>
        <p:nvSpPr>
          <p:cNvPr id="18" name="原题文字_280_40"/>
          <p:cNvSpPr txBox="1"/>
          <p:nvPr/>
        </p:nvSpPr>
        <p:spPr>
          <a:xfrm>
            <a:off x="1597858" y="3813882"/>
            <a:ext cx="529592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石蕊</a:t>
            </a:r>
          </a:p>
        </p:txBody>
      </p:sp>
      <p:sp>
        <p:nvSpPr>
          <p:cNvPr id="19" name="原题文字_280_41"/>
          <p:cNvSpPr txBox="1"/>
          <p:nvPr/>
        </p:nvSpPr>
        <p:spPr>
          <a:xfrm>
            <a:off x="2279323" y="3798568"/>
            <a:ext cx="782270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5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KMnO₄</a:t>
            </a:r>
          </a:p>
        </p:txBody>
      </p:sp>
      <p:sp>
        <p:nvSpPr>
          <p:cNvPr id="20" name="原题文字_280_42"/>
          <p:cNvSpPr txBox="1"/>
          <p:nvPr/>
        </p:nvSpPr>
        <p:spPr>
          <a:xfrm>
            <a:off x="594802" y="4280953"/>
            <a:ext cx="4733238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Cu与浓硫酸反应，只体现了H₂SO₄的强氧化性</a:t>
            </a:r>
          </a:p>
        </p:txBody>
      </p:sp>
      <p:sp>
        <p:nvSpPr>
          <p:cNvPr id="21" name="文字_B. a处浸有紫色石蕊试液的棉花变红，说明SO₂"/>
          <p:cNvSpPr txBox="1"/>
          <p:nvPr/>
        </p:nvSpPr>
        <p:spPr>
          <a:xfrm>
            <a:off x="502920" y="465146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a处浸有紫色石蕊试液的棉花变红，说明SO₂是酸性氧化物</a:t>
            </a:r>
          </a:p>
        </p:txBody>
      </p:sp>
      <p:sp>
        <p:nvSpPr>
          <p:cNvPr id="22" name="文字_C. b处浸有品红试液的棉花或c处浸有酸性高锰酸"/>
          <p:cNvSpPr txBox="1"/>
          <p:nvPr/>
        </p:nvSpPr>
        <p:spPr>
          <a:xfrm>
            <a:off x="502920" y="5090381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b处浸有品红试液的棉花或c处浸有酸性高锰酸钾溶液的棉花褪色，均说明SO₂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具有漂白性</a:t>
            </a:r>
          </a:p>
        </p:txBody>
      </p:sp>
      <p:sp>
        <p:nvSpPr>
          <p:cNvPr id="23" name="文字_D. 反应一段时间后试管底部出现白色固体，直接向"/>
          <p:cNvSpPr txBox="1"/>
          <p:nvPr/>
        </p:nvSpPr>
        <p:spPr>
          <a:xfrm>
            <a:off x="502920" y="589200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反应一段时间后试管底部出现白色固体，直接向试管加水可得到蓝色溶液</a:t>
            </a:r>
          </a:p>
        </p:txBody>
      </p:sp>
      <p:sp>
        <p:nvSpPr>
          <p:cNvPr id="24" name="文字_单选题  ·  13-00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13-006</a:t>
            </a:r>
          </a:p>
        </p:txBody>
      </p:sp>
      <p:sp>
        <p:nvSpPr>
          <p:cNvPr id="25" name="文字_1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例题7</a:t>
            </a:r>
          </a:p>
        </p:txBody>
      </p:sp>
      <p:sp>
        <p:nvSpPr>
          <p:cNvPr id="5" name="文字_P28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P281</a:t>
            </a:r>
          </a:p>
        </p:txBody>
      </p:sp>
      <p:sp>
        <p:nvSpPr>
          <p:cNvPr id="6" name="文字_用工业废碱渣(主要成分为Na₂CO₃)吸收烟气中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用工业废碱渣(主要成分为Na₂CO₃)吸收烟气中的SO₂，得到亚硫酸钠(Na₂SO₃)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粗品，其流程如下。下列说法不正确的是</a:t>
            </a:r>
          </a:p>
        </p:txBody>
      </p:sp>
      <p:sp>
        <p:nvSpPr>
          <p:cNvPr id="7" name="文字_含SO₂的烟气 ______ NaOH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含SO₂的烟气 ______ NaOH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9528"/>
            <a:ext cx="11064240" cy="1485441"/>
          </a:xfrm>
          <a:prstGeom prst="rect">
            <a:avLst/>
          </a:prstGeom>
        </p:spPr>
      </p:pic>
      <p:sp>
        <p:nvSpPr>
          <p:cNvPr id="9" name="原题文字_281_7"/>
          <p:cNvSpPr txBox="1"/>
          <p:nvPr/>
        </p:nvSpPr>
        <p:spPr>
          <a:xfrm>
            <a:off x="2960789" y="2351411"/>
            <a:ext cx="552563" cy="5076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5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②↓</a:t>
            </a:r>
          </a:p>
        </p:txBody>
      </p:sp>
      <p:sp>
        <p:nvSpPr>
          <p:cNvPr id="10" name="原题文字_281_8"/>
          <p:cNvSpPr txBox="1"/>
          <p:nvPr/>
        </p:nvSpPr>
        <p:spPr>
          <a:xfrm>
            <a:off x="5081754" y="2374382"/>
            <a:ext cx="529592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1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↓③</a:t>
            </a:r>
          </a:p>
        </p:txBody>
      </p:sp>
      <p:sp>
        <p:nvSpPr>
          <p:cNvPr id="11" name="原题文字_281_9"/>
          <p:cNvSpPr txBox="1"/>
          <p:nvPr/>
        </p:nvSpPr>
        <p:spPr>
          <a:xfrm>
            <a:off x="6628450" y="2382039"/>
            <a:ext cx="1563275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6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亚硫酸钠粗品</a:t>
            </a:r>
          </a:p>
        </p:txBody>
      </p:sp>
      <p:sp>
        <p:nvSpPr>
          <p:cNvPr id="12" name="原题文字_281_10"/>
          <p:cNvSpPr txBox="1"/>
          <p:nvPr/>
        </p:nvSpPr>
        <p:spPr>
          <a:xfrm>
            <a:off x="5985270" y="2596432"/>
            <a:ext cx="330512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</a:t>
            </a:r>
          </a:p>
        </p:txBody>
      </p:sp>
      <p:sp>
        <p:nvSpPr>
          <p:cNvPr id="13" name="原题文字_281_11"/>
          <p:cNvSpPr txBox="1"/>
          <p:nvPr/>
        </p:nvSpPr>
        <p:spPr>
          <a:xfrm>
            <a:off x="2493717" y="2703629"/>
            <a:ext cx="1547962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5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Na₂CO₃溶液</a:t>
            </a:r>
          </a:p>
        </p:txBody>
      </p:sp>
      <p:sp>
        <p:nvSpPr>
          <p:cNvPr id="14" name="原题文字_281_12"/>
          <p:cNvSpPr txBox="1"/>
          <p:nvPr/>
        </p:nvSpPr>
        <p:spPr>
          <a:xfrm>
            <a:off x="4262464" y="2734257"/>
            <a:ext cx="1678129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NaHSO₃溶液</a:t>
            </a:r>
          </a:p>
        </p:txBody>
      </p:sp>
      <p:sp>
        <p:nvSpPr>
          <p:cNvPr id="15" name="原题文字_281_13"/>
          <p:cNvSpPr txBox="1"/>
          <p:nvPr/>
        </p:nvSpPr>
        <p:spPr>
          <a:xfrm>
            <a:off x="1980704" y="2948651"/>
            <a:ext cx="330512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16" name="原题文字_281_14"/>
          <p:cNvSpPr txBox="1"/>
          <p:nvPr/>
        </p:nvSpPr>
        <p:spPr>
          <a:xfrm>
            <a:off x="656058" y="3071161"/>
            <a:ext cx="1341225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工业废碱渣</a:t>
            </a:r>
          </a:p>
        </p:txBody>
      </p:sp>
      <p:sp>
        <p:nvSpPr>
          <p:cNvPr id="17" name="原题文字_281_15"/>
          <p:cNvSpPr txBox="1"/>
          <p:nvPr/>
        </p:nvSpPr>
        <p:spPr>
          <a:xfrm>
            <a:off x="6605480" y="3063504"/>
            <a:ext cx="675073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1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母液</a:t>
            </a:r>
          </a:p>
        </p:txBody>
      </p:sp>
      <p:sp>
        <p:nvSpPr>
          <p:cNvPr id="18" name="原题文字_281_16"/>
          <p:cNvSpPr txBox="1"/>
          <p:nvPr/>
        </p:nvSpPr>
        <p:spPr>
          <a:xfrm>
            <a:off x="2646855" y="3400408"/>
            <a:ext cx="675073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废渣</a:t>
            </a:r>
          </a:p>
        </p:txBody>
      </p:sp>
      <p:sp>
        <p:nvSpPr>
          <p:cNvPr id="19" name="文字_A. 操作①需要使用玻璃棒"/>
          <p:cNvSpPr txBox="1"/>
          <p:nvPr/>
        </p:nvSpPr>
        <p:spPr>
          <a:xfrm>
            <a:off x="502920" y="387812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操作①需要使用玻璃棒</a:t>
            </a:r>
          </a:p>
        </p:txBody>
      </p:sp>
      <p:sp>
        <p:nvSpPr>
          <p:cNvPr id="20" name="文字_B. NaHSO₃具有还原性，可用于处理酸性废水"/>
          <p:cNvSpPr txBox="1"/>
          <p:nvPr/>
        </p:nvSpPr>
        <p:spPr>
          <a:xfrm>
            <a:off x="502920" y="431703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NaHSO₃具有还原性，可用于处理酸性废水中的Cr₂O₂⁻</a:t>
            </a:r>
          </a:p>
        </p:txBody>
      </p:sp>
      <p:sp>
        <p:nvSpPr>
          <p:cNvPr id="21" name="文字_C. 操作②会释放出CO₂，该反应的化学方程式为"/>
          <p:cNvSpPr txBox="1"/>
          <p:nvPr/>
        </p:nvSpPr>
        <p:spPr>
          <a:xfrm>
            <a:off x="502920" y="4755945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操作②会释放出CO₂，该反应的化学方程式为2SO₂ + Na₂CO₃ + H₂O =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2NaHSO₃ + CO₂</a:t>
            </a:r>
          </a:p>
        </p:txBody>
      </p:sp>
      <p:sp>
        <p:nvSpPr>
          <p:cNvPr id="22" name="文字_D. 向少量Na₂SO₃粗品中加入过量稀H₂SO"/>
          <p:cNvSpPr txBox="1"/>
          <p:nvPr/>
        </p:nvSpPr>
        <p:spPr>
          <a:xfrm>
            <a:off x="502920" y="5557569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向少量Na₂SO₃粗品中加入过量稀H₂SO₄，充分溶解后再加入BaCl₂溶液，若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出现白色沉淀，则证明Na₂SO₃粗品中含Na₂SO₄</a:t>
            </a:r>
          </a:p>
        </p:txBody>
      </p:sp>
      <p:sp>
        <p:nvSpPr>
          <p:cNvPr id="23" name="文字_单选题  ·  13-00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13-007</a:t>
            </a:r>
          </a:p>
        </p:txBody>
      </p:sp>
      <p:sp>
        <p:nvSpPr>
          <p:cNvPr id="24" name="文字_1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例题8</a:t>
            </a:r>
          </a:p>
        </p:txBody>
      </p:sp>
      <p:sp>
        <p:nvSpPr>
          <p:cNvPr id="5" name="文字_P28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P281</a:t>
            </a:r>
          </a:p>
        </p:txBody>
      </p:sp>
      <p:sp>
        <p:nvSpPr>
          <p:cNvPr id="6" name="文字_工业烟气的主要成分有：空气、固体颗粒物、CO₂、"/>
          <p:cNvSpPr txBox="1"/>
          <p:nvPr/>
        </p:nvSpPr>
        <p:spPr>
          <a:xfrm>
            <a:off x="502920" y="1078992"/>
            <a:ext cx="11064240" cy="534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工业烟气的主要成分有：空气、固体颗粒物、CO₂、SO₂，可能含有SO₃。工业上使用“钠钙双碱法：先钠(NaOH)后钙[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Ca(OH)₂]”净化工业烟气，简化流程如图：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3408"/>
            <a:ext cx="10124965" cy="2277241"/>
          </a:xfrm>
          <a:prstGeom prst="rect">
            <a:avLst/>
          </a:prstGeom>
        </p:spPr>
      </p:pic>
      <p:sp>
        <p:nvSpPr>
          <p:cNvPr id="8" name="原题文字_281_27"/>
          <p:cNvSpPr txBox="1"/>
          <p:nvPr/>
        </p:nvSpPr>
        <p:spPr>
          <a:xfrm>
            <a:off x="5645982" y="1670069"/>
            <a:ext cx="734532" cy="5101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7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烟渣</a:t>
            </a:r>
          </a:p>
        </p:txBody>
      </p:sp>
      <p:sp>
        <p:nvSpPr>
          <p:cNvPr id="9" name="原题文字_281_28"/>
          <p:cNvSpPr txBox="1"/>
          <p:nvPr/>
        </p:nvSpPr>
        <p:spPr>
          <a:xfrm>
            <a:off x="6697016" y="1698096"/>
            <a:ext cx="1007801" cy="5465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足量O₂</a:t>
            </a:r>
          </a:p>
        </p:txBody>
      </p:sp>
      <p:sp>
        <p:nvSpPr>
          <p:cNvPr id="10" name="原题文字_281_29"/>
          <p:cNvSpPr txBox="1"/>
          <p:nvPr/>
        </p:nvSpPr>
        <p:spPr>
          <a:xfrm>
            <a:off x="4265623" y="2146538"/>
            <a:ext cx="874670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操作1</a:t>
            </a:r>
          </a:p>
        </p:txBody>
      </p:sp>
      <p:sp>
        <p:nvSpPr>
          <p:cNvPr id="11" name="原题文字_281_30"/>
          <p:cNvSpPr txBox="1"/>
          <p:nvPr/>
        </p:nvSpPr>
        <p:spPr>
          <a:xfrm>
            <a:off x="8490782" y="2279669"/>
            <a:ext cx="1589374" cy="4281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1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 NaOH溶液</a:t>
            </a:r>
          </a:p>
        </p:txBody>
      </p:sp>
      <p:sp>
        <p:nvSpPr>
          <p:cNvPr id="12" name="原题文字_281_31"/>
          <p:cNvSpPr txBox="1"/>
          <p:nvPr/>
        </p:nvSpPr>
        <p:spPr>
          <a:xfrm>
            <a:off x="790202" y="2377765"/>
            <a:ext cx="1239029" cy="47366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工业烟气</a:t>
            </a:r>
          </a:p>
        </p:txBody>
      </p:sp>
      <p:sp>
        <p:nvSpPr>
          <p:cNvPr id="13" name="原题文字_281_32"/>
          <p:cNvSpPr txBox="1"/>
          <p:nvPr/>
        </p:nvSpPr>
        <p:spPr>
          <a:xfrm>
            <a:off x="2717099" y="2384772"/>
            <a:ext cx="1232022" cy="464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脱硫除尘</a:t>
            </a:r>
          </a:p>
        </p:txBody>
      </p:sp>
      <p:sp>
        <p:nvSpPr>
          <p:cNvPr id="14" name="原题文字_281_33"/>
          <p:cNvSpPr txBox="1"/>
          <p:nvPr/>
        </p:nvSpPr>
        <p:spPr>
          <a:xfrm>
            <a:off x="5491830" y="2531917"/>
            <a:ext cx="1232022" cy="4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吸收后液</a:t>
            </a:r>
          </a:p>
        </p:txBody>
      </p:sp>
      <p:sp>
        <p:nvSpPr>
          <p:cNvPr id="15" name="原题文字_281_34"/>
          <p:cNvSpPr txBox="1"/>
          <p:nvPr/>
        </p:nvSpPr>
        <p:spPr>
          <a:xfrm>
            <a:off x="7481788" y="2517903"/>
            <a:ext cx="867664" cy="5009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2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操作2</a:t>
            </a:r>
          </a:p>
        </p:txBody>
      </p:sp>
      <p:sp>
        <p:nvSpPr>
          <p:cNvPr id="16" name="原题文字_281_35"/>
          <p:cNvSpPr txBox="1"/>
          <p:nvPr/>
        </p:nvSpPr>
        <p:spPr>
          <a:xfrm>
            <a:off x="6830147" y="2616000"/>
            <a:ext cx="727526" cy="5192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再生</a:t>
            </a:r>
          </a:p>
        </p:txBody>
      </p:sp>
      <p:sp>
        <p:nvSpPr>
          <p:cNvPr id="17" name="原题文字_281_36"/>
          <p:cNvSpPr txBox="1"/>
          <p:nvPr/>
        </p:nvSpPr>
        <p:spPr>
          <a:xfrm>
            <a:off x="8497788" y="3127503"/>
            <a:ext cx="1680464" cy="4281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→固体副产品</a:t>
            </a:r>
          </a:p>
        </p:txBody>
      </p:sp>
      <p:sp>
        <p:nvSpPr>
          <p:cNvPr id="18" name="原题文字_281_37"/>
          <p:cNvSpPr txBox="1"/>
          <p:nvPr/>
        </p:nvSpPr>
        <p:spPr>
          <a:xfrm>
            <a:off x="2464851" y="3379752"/>
            <a:ext cx="1743526" cy="4190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3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净化烟气排放</a:t>
            </a:r>
          </a:p>
        </p:txBody>
      </p:sp>
      <p:sp>
        <p:nvSpPr>
          <p:cNvPr id="19" name="原题文字_281_38"/>
          <p:cNvSpPr txBox="1"/>
          <p:nvPr/>
        </p:nvSpPr>
        <p:spPr>
          <a:xfrm>
            <a:off x="6711030" y="3477848"/>
            <a:ext cx="972767" cy="482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石灰浆</a:t>
            </a:r>
          </a:p>
        </p:txBody>
      </p:sp>
      <p:sp>
        <p:nvSpPr>
          <p:cNvPr id="20" name="文字_(1) 在“脱硫除尘”中，NaOH溶液吸收SO₂"/>
          <p:cNvSpPr txBox="1"/>
          <p:nvPr/>
        </p:nvSpPr>
        <p:spPr>
          <a:xfrm>
            <a:off x="502920" y="3963801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在“脱硫除尘”中，NaOH溶液吸收SO₂反应的离子方程式为</a:t>
            </a:r>
          </a:p>
        </p:txBody>
      </p:sp>
      <p:sp>
        <p:nvSpPr>
          <p:cNvPr id="21" name="文字_还可以用氯水吸收SO₂，反应的离子方程式为 __"/>
          <p:cNvSpPr txBox="1"/>
          <p:nvPr/>
        </p:nvSpPr>
        <p:spPr>
          <a:xfrm>
            <a:off x="502920" y="4256409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还可以用氯水吸收SO₂，反应的离子方程式为 ______ O</a:t>
            </a:r>
          </a:p>
        </p:txBody>
      </p:sp>
      <p:sp>
        <p:nvSpPr>
          <p:cNvPr id="22" name="文字_(2)操作1的名称为 ______ ，操作1得到"/>
          <p:cNvSpPr txBox="1"/>
          <p:nvPr/>
        </p:nvSpPr>
        <p:spPr>
          <a:xfrm>
            <a:off x="502920" y="4549017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(2)操作1的名称为 ______ ，操作1得到的“吸收后液”中主要含有Na₂SO₃、NaOH、</a:t>
            </a:r>
          </a:p>
        </p:txBody>
      </p:sp>
      <p:sp>
        <p:nvSpPr>
          <p:cNvPr id="23" name="文字_(3)在“再生”中，Na₂SO₃发生反应的化学方"/>
          <p:cNvSpPr txBox="1"/>
          <p:nvPr/>
        </p:nvSpPr>
        <p:spPr>
          <a:xfrm>
            <a:off x="502920" y="4841625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(3)在“再生”中，Na₂SO₃发生反应的化学方程式为</a:t>
            </a:r>
          </a:p>
        </p:txBody>
      </p:sp>
      <p:sp>
        <p:nvSpPr>
          <p:cNvPr id="24" name="文字_(4)双碱法脱硫过程中可循环利用的物质为"/>
          <p:cNvSpPr txBox="1"/>
          <p:nvPr/>
        </p:nvSpPr>
        <p:spPr>
          <a:xfrm>
            <a:off x="502920" y="5134233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(4)双碱法脱硫过程中可循环利用的物质为</a:t>
            </a:r>
          </a:p>
        </p:txBody>
      </p:sp>
      <p:sp>
        <p:nvSpPr>
          <p:cNvPr id="25" name="文字_(5)SO₂直接排放到空气中导致的环境问题是 _"/>
          <p:cNvSpPr txBox="1"/>
          <p:nvPr/>
        </p:nvSpPr>
        <p:spPr>
          <a:xfrm>
            <a:off x="502920" y="5426841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(5)SO₂直接排放到空气中导致的环境问题是 ______ 。食品中添加适量的SO₂的作用是 ______ 。(任写一种)</a:t>
            </a:r>
          </a:p>
        </p:txBody>
      </p:sp>
      <p:sp>
        <p:nvSpPr>
          <p:cNvPr id="26" name="文字_(6)有学者提出利用Fe³⁺、Fe²⁺等离子的作"/>
          <p:cNvSpPr txBox="1"/>
          <p:nvPr/>
        </p:nvSpPr>
        <p:spPr>
          <a:xfrm>
            <a:off x="502920" y="5719449"/>
            <a:ext cx="11064240" cy="534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(6)有学者提出利用Fe³⁺、Fe²⁺等离子的作用，在常温下将SO₂氧化成SO₄²⁻而实现SO₂的回收利用。写出Fe³⁺将SO₂氧化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成SO₄²⁻反应的离子方程式:</a:t>
            </a:r>
          </a:p>
        </p:txBody>
      </p:sp>
      <p:sp>
        <p:nvSpPr>
          <p:cNvPr id="27" name="文字_填空题  ·  13-00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13-008</a:t>
            </a:r>
          </a:p>
        </p:txBody>
      </p:sp>
      <p:sp>
        <p:nvSpPr>
          <p:cNvPr id="28" name="文字_1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变式1</a:t>
            </a:r>
          </a:p>
        </p:txBody>
      </p:sp>
      <p:sp>
        <p:nvSpPr>
          <p:cNvPr id="5" name="文字_P28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P282</a:t>
            </a:r>
          </a:p>
        </p:txBody>
      </p:sp>
      <p:sp>
        <p:nvSpPr>
          <p:cNvPr id="6" name="文字_硫是一种重要的非金属元素。下列说法错误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硫是一种重要的非金属元素。下列说法错误的是</a:t>
            </a:r>
          </a:p>
        </p:txBody>
      </p:sp>
      <p:sp>
        <p:nvSpPr>
          <p:cNvPr id="7" name="文字_A. 火山口附近存在游离态的硫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火山口附近存在游离态的硫</a:t>
            </a:r>
          </a:p>
        </p:txBody>
      </p:sp>
      <p:sp>
        <p:nvSpPr>
          <p:cNvPr id="8" name="文字_B. 硫单质在足量的O₂中燃烧生成SO₃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硫单质在足量的O₂中燃烧生成SO₃</a:t>
            </a:r>
          </a:p>
        </p:txBody>
      </p:sp>
      <p:sp>
        <p:nvSpPr>
          <p:cNvPr id="9" name="文字_C. 适量SO₂可用作食品的漂白剂和防腐剂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适量SO₂可用作食品的漂白剂和防腐剂</a:t>
            </a:r>
          </a:p>
        </p:txBody>
      </p:sp>
      <p:sp>
        <p:nvSpPr>
          <p:cNvPr id="10" name="文字_D. 硫难溶于水，易溶于CS₂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硫难溶于水，易溶于CS₂</a:t>
            </a:r>
          </a:p>
        </p:txBody>
      </p:sp>
      <p:sp>
        <p:nvSpPr>
          <p:cNvPr id="11" name="文字_单选题  ·  13-00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13-009</a:t>
            </a:r>
          </a:p>
        </p:txBody>
      </p:sp>
      <p:sp>
        <p:nvSpPr>
          <p:cNvPr id="12" name="文字_1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变式2</a:t>
            </a:r>
          </a:p>
        </p:txBody>
      </p:sp>
      <p:sp>
        <p:nvSpPr>
          <p:cNvPr id="5" name="文字_P28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P282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硫的非金属性较强，所以只以化合态存在于自然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硫的非金属性较强，所以只以化合态存在于自然界中</a:t>
            </a:r>
          </a:p>
        </p:txBody>
      </p:sp>
      <p:sp>
        <p:nvSpPr>
          <p:cNvPr id="8" name="文字_B. 硫在过量纯氧中的燃烧产物是三氧化硫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硫在过量纯氧中的燃烧产物是三氧化硫</a:t>
            </a:r>
          </a:p>
        </p:txBody>
      </p:sp>
      <p:sp>
        <p:nvSpPr>
          <p:cNvPr id="9" name="文字_C. 硫与非金属反应时既可能作氧化剂，又可能做还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硫与非金属反应时既可能作氧化剂，又可能做还原剂</a:t>
            </a:r>
          </a:p>
        </p:txBody>
      </p:sp>
      <p:sp>
        <p:nvSpPr>
          <p:cNvPr id="10" name="文字_D. 硫的氧化性比氯气的强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硫的氧化性比氯气的强</a:t>
            </a:r>
          </a:p>
        </p:txBody>
      </p:sp>
      <p:sp>
        <p:nvSpPr>
          <p:cNvPr id="11" name="文字_单选题  ·  13-01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13-010</a:t>
            </a:r>
          </a:p>
        </p:txBody>
      </p:sp>
      <p:sp>
        <p:nvSpPr>
          <p:cNvPr id="12" name="文字_1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变式3</a:t>
            </a:r>
          </a:p>
        </p:txBody>
      </p:sp>
      <p:sp>
        <p:nvSpPr>
          <p:cNvPr id="5" name="文字_P28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P282</a:t>
            </a:r>
          </a:p>
        </p:txBody>
      </p:sp>
      <p:sp>
        <p:nvSpPr>
          <p:cNvPr id="6" name="文字_下列关于硫及其化合物的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下列关于硫及其化合物的说法正确的是</a:t>
            </a:r>
          </a:p>
        </p:txBody>
      </p:sp>
      <p:sp>
        <p:nvSpPr>
          <p:cNvPr id="7" name="文字_A. SO₂只有氧化性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SO₂只有氧化性</a:t>
            </a:r>
          </a:p>
        </p:txBody>
      </p:sp>
      <p:sp>
        <p:nvSpPr>
          <p:cNvPr id="8" name="文字_B. 浓硫酸可干燥氨气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浓硫酸可干燥氨气</a:t>
            </a:r>
          </a:p>
        </p:txBody>
      </p:sp>
      <p:sp>
        <p:nvSpPr>
          <p:cNvPr id="9" name="文字_C. 硫在空气中燃烧生成SO₃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硫在空气中燃烧生成SO₃</a:t>
            </a:r>
          </a:p>
        </p:txBody>
      </p:sp>
      <p:sp>
        <p:nvSpPr>
          <p:cNvPr id="10" name="文字_D. SO₂可使品红溶液褪色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SO₂可使品红溶液褪色</a:t>
            </a:r>
          </a:p>
        </p:txBody>
      </p:sp>
      <p:sp>
        <p:nvSpPr>
          <p:cNvPr id="11" name="文字_单选题  ·  13-01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13-011</a:t>
            </a:r>
          </a:p>
        </p:txBody>
      </p:sp>
      <p:sp>
        <p:nvSpPr>
          <p:cNvPr id="12" name="文字_2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变式4</a:t>
            </a:r>
          </a:p>
        </p:txBody>
      </p:sp>
      <p:sp>
        <p:nvSpPr>
          <p:cNvPr id="5" name="文字_P28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P282</a:t>
            </a:r>
          </a:p>
        </p:txBody>
      </p:sp>
      <p:sp>
        <p:nvSpPr>
          <p:cNvPr id="6" name="文字_硫及其化合物的“价-类”二维图体现了化学变化之美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硫及其化合物的“价-类”二维图体现了化学变化之美。下列说法正确的是</a:t>
            </a:r>
          </a:p>
        </p:txBody>
      </p:sp>
      <p:sp>
        <p:nvSpPr>
          <p:cNvPr id="7" name="文字_化合价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化合价</a:t>
            </a:r>
          </a:p>
        </p:txBody>
      </p:sp>
      <p:sp>
        <p:nvSpPr>
          <p:cNvPr id="8" name="文字_M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</a:t>
            </a:r>
          </a:p>
        </p:txBody>
      </p:sp>
      <p:sp>
        <p:nvSpPr>
          <p:cNvPr id="9" name="文字_↑O_2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↑O_2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34640"/>
            <a:ext cx="11064240" cy="1378244"/>
          </a:xfrm>
          <a:prstGeom prst="rect">
            <a:avLst/>
          </a:prstGeom>
        </p:spPr>
      </p:pic>
      <p:sp>
        <p:nvSpPr>
          <p:cNvPr id="11" name="原题文字_282_32"/>
          <p:cNvSpPr txBox="1"/>
          <p:nvPr/>
        </p:nvSpPr>
        <p:spPr>
          <a:xfrm>
            <a:off x="633087" y="2866523"/>
            <a:ext cx="345826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+4</a:t>
            </a:r>
          </a:p>
        </p:txBody>
      </p:sp>
      <p:sp>
        <p:nvSpPr>
          <p:cNvPr id="12" name="原题文字_282_33"/>
          <p:cNvSpPr txBox="1"/>
          <p:nvPr/>
        </p:nvSpPr>
        <p:spPr>
          <a:xfrm>
            <a:off x="2172127" y="2904808"/>
            <a:ext cx="246286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</a:t>
            </a:r>
          </a:p>
        </p:txBody>
      </p:sp>
      <p:sp>
        <p:nvSpPr>
          <p:cNvPr id="13" name="原题文字_282_34"/>
          <p:cNvSpPr txBox="1"/>
          <p:nvPr/>
        </p:nvSpPr>
        <p:spPr>
          <a:xfrm>
            <a:off x="1613172" y="3486733"/>
            <a:ext cx="192688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</a:t>
            </a:r>
          </a:p>
        </p:txBody>
      </p:sp>
      <p:sp>
        <p:nvSpPr>
          <p:cNvPr id="14" name="原题文字_282_35"/>
          <p:cNvSpPr txBox="1"/>
          <p:nvPr/>
        </p:nvSpPr>
        <p:spPr>
          <a:xfrm>
            <a:off x="916393" y="3593930"/>
            <a:ext cx="644446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氢化物</a:t>
            </a:r>
          </a:p>
        </p:txBody>
      </p:sp>
      <p:sp>
        <p:nvSpPr>
          <p:cNvPr id="15" name="原题文字_282_36"/>
          <p:cNvSpPr txBox="1"/>
          <p:nvPr/>
        </p:nvSpPr>
        <p:spPr>
          <a:xfrm>
            <a:off x="2003675" y="3586273"/>
            <a:ext cx="606161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氧化物</a:t>
            </a:r>
          </a:p>
        </p:txBody>
      </p:sp>
      <p:sp>
        <p:nvSpPr>
          <p:cNvPr id="16" name="原题文字_282_37"/>
          <p:cNvSpPr txBox="1"/>
          <p:nvPr/>
        </p:nvSpPr>
        <p:spPr>
          <a:xfrm>
            <a:off x="2807650" y="3601587"/>
            <a:ext cx="307542" cy="2886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</a:t>
            </a:r>
          </a:p>
        </p:txBody>
      </p:sp>
      <p:sp>
        <p:nvSpPr>
          <p:cNvPr id="17" name="原题文字_282_38"/>
          <p:cNvSpPr txBox="1"/>
          <p:nvPr/>
        </p:nvSpPr>
        <p:spPr>
          <a:xfrm>
            <a:off x="3282379" y="3601587"/>
            <a:ext cx="292228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盐</a:t>
            </a:r>
          </a:p>
        </p:txBody>
      </p:sp>
      <p:sp>
        <p:nvSpPr>
          <p:cNvPr id="18" name="原题文字_282_39"/>
          <p:cNvSpPr txBox="1"/>
          <p:nvPr/>
        </p:nvSpPr>
        <p:spPr>
          <a:xfrm>
            <a:off x="3810706" y="3616901"/>
            <a:ext cx="759300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物质类别</a:t>
            </a:r>
          </a:p>
        </p:txBody>
      </p:sp>
      <p:sp>
        <p:nvSpPr>
          <p:cNvPr id="19" name="原题文字_282_40"/>
          <p:cNvSpPr txBox="1"/>
          <p:nvPr/>
        </p:nvSpPr>
        <p:spPr>
          <a:xfrm>
            <a:off x="694342" y="3854265"/>
            <a:ext cx="315199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20" name="原题文字_282_41"/>
          <p:cNvSpPr txBox="1"/>
          <p:nvPr/>
        </p:nvSpPr>
        <p:spPr>
          <a:xfrm>
            <a:off x="1100159" y="3823637"/>
            <a:ext cx="399425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</a:t>
            </a:r>
          </a:p>
        </p:txBody>
      </p:sp>
      <p:sp>
        <p:nvSpPr>
          <p:cNvPr id="21" name="文字_A. S和H₂常温下反应生成H₂S"/>
          <p:cNvSpPr txBox="1"/>
          <p:nvPr/>
        </p:nvSpPr>
        <p:spPr>
          <a:xfrm>
            <a:off x="502920" y="428603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S和H₂常温下反应生成H₂S</a:t>
            </a:r>
          </a:p>
        </p:txBody>
      </p:sp>
      <p:sp>
        <p:nvSpPr>
          <p:cNvPr id="22" name="文字_B. S在过量O₂中燃烧可生成Y"/>
          <p:cNvSpPr txBox="1"/>
          <p:nvPr/>
        </p:nvSpPr>
        <p:spPr>
          <a:xfrm>
            <a:off x="502920" y="472494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S在过量O₂中燃烧可生成Y</a:t>
            </a:r>
          </a:p>
        </p:txBody>
      </p:sp>
      <p:sp>
        <p:nvSpPr>
          <p:cNvPr id="23" name="文字_C. X通入紫色石蕊溶液中，溶液先变红后褪色"/>
          <p:cNvSpPr txBox="1"/>
          <p:nvPr/>
        </p:nvSpPr>
        <p:spPr>
          <a:xfrm>
            <a:off x="502920" y="516386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X通入紫色石蕊溶液中，溶液先变红后褪色</a:t>
            </a:r>
          </a:p>
        </p:txBody>
      </p:sp>
      <p:sp>
        <p:nvSpPr>
          <p:cNvPr id="24" name="文字_D. 含0.2 mol Z的浓溶液与足量铜反应，"/>
          <p:cNvSpPr txBox="1"/>
          <p:nvPr/>
        </p:nvSpPr>
        <p:spPr>
          <a:xfrm>
            <a:off x="502920" y="560277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含0.2 mol Z的浓溶液与足量铜反应，生成M的物质的量小于0.1 mol</a:t>
            </a:r>
          </a:p>
        </p:txBody>
      </p:sp>
      <p:sp>
        <p:nvSpPr>
          <p:cNvPr id="25" name="文字_单选题  ·  13-01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13-012</a:t>
            </a:r>
          </a:p>
        </p:txBody>
      </p:sp>
      <p:sp>
        <p:nvSpPr>
          <p:cNvPr id="26" name="文字_2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变式5</a:t>
            </a:r>
          </a:p>
        </p:txBody>
      </p:sp>
      <p:sp>
        <p:nvSpPr>
          <p:cNvPr id="5" name="文字_P28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P283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因为SO₂具有漂白性，所以它能使品红溶液、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因为SO₂具有漂白性，所以它能使品红溶液、溴水、酸性KMnO₄溶液、石蕊溶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液褪色</a:t>
            </a:r>
          </a:p>
        </p:txBody>
      </p:sp>
      <p:sp>
        <p:nvSpPr>
          <p:cNvPr id="8" name="文字_B. SO₂和Cl₂混合使用，将会有更强的漂白能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SO₂和Cl₂混合使用，将会有更强的漂白能力</a:t>
            </a:r>
          </a:p>
        </p:txBody>
      </p:sp>
      <p:sp>
        <p:nvSpPr>
          <p:cNvPr id="9" name="文字_C. SO₂、漂白粉、活性炭、Na₂O₂都能使红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SO₂、漂白粉、活性炭、Na₂O₂都能使红墨水褪色，其原理相同</a:t>
            </a:r>
          </a:p>
        </p:txBody>
      </p:sp>
      <p:sp>
        <p:nvSpPr>
          <p:cNvPr id="10" name="文字_D. 能使品红溶液褪色的不一定是SO₂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能使品红溶液褪色的不一定是SO₂</a:t>
            </a:r>
          </a:p>
        </p:txBody>
      </p:sp>
      <p:sp>
        <p:nvSpPr>
          <p:cNvPr id="11" name="文字_单选题  ·  13-01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13-013</a:t>
            </a:r>
          </a:p>
        </p:txBody>
      </p:sp>
      <p:sp>
        <p:nvSpPr>
          <p:cNvPr id="12" name="文字_2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变式6</a:t>
            </a:r>
          </a:p>
        </p:txBody>
      </p:sp>
      <p:sp>
        <p:nvSpPr>
          <p:cNvPr id="5" name="文字_P28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P283</a:t>
            </a:r>
          </a:p>
        </p:txBody>
      </p:sp>
      <p:sp>
        <p:nvSpPr>
          <p:cNvPr id="6" name="文字_某实验小组验证SO₂的性质，按如图所示装置进行实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某实验小组验证SO₂的性质，按如图所示装置进行实验。推动注射器1，向试管(含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有小破洞)中注入浓硫酸。下列说法正确的是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2465526"/>
          </a:xfrm>
          <a:prstGeom prst="rect">
            <a:avLst/>
          </a:prstGeom>
        </p:spPr>
      </p:pic>
      <p:sp>
        <p:nvSpPr>
          <p:cNvPr id="8" name="原题文字_283_13"/>
          <p:cNvSpPr txBox="1"/>
          <p:nvPr/>
        </p:nvSpPr>
        <p:spPr>
          <a:xfrm>
            <a:off x="1904135" y="1958441"/>
            <a:ext cx="491308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7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注射器1</a:t>
            </a:r>
          </a:p>
        </p:txBody>
      </p:sp>
      <p:sp>
        <p:nvSpPr>
          <p:cNvPr id="9" name="原题文字_283_14"/>
          <p:cNvSpPr txBox="1"/>
          <p:nvPr/>
        </p:nvSpPr>
        <p:spPr>
          <a:xfrm>
            <a:off x="1911792" y="2103922"/>
            <a:ext cx="437709" cy="199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</a:t>
            </a:r>
          </a:p>
        </p:txBody>
      </p:sp>
      <p:sp>
        <p:nvSpPr>
          <p:cNvPr id="10" name="原题文字_283_15"/>
          <p:cNvSpPr txBox="1"/>
          <p:nvPr/>
        </p:nvSpPr>
        <p:spPr>
          <a:xfrm>
            <a:off x="862794" y="2310659"/>
            <a:ext cx="491308" cy="2090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注射器2</a:t>
            </a:r>
          </a:p>
        </p:txBody>
      </p:sp>
      <p:sp>
        <p:nvSpPr>
          <p:cNvPr id="11" name="原题文字_283_16"/>
          <p:cNvSpPr txBox="1"/>
          <p:nvPr/>
        </p:nvSpPr>
        <p:spPr>
          <a:xfrm>
            <a:off x="862794" y="2425512"/>
            <a:ext cx="552563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2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Na₂S溶液</a:t>
            </a:r>
          </a:p>
        </p:txBody>
      </p:sp>
      <p:sp>
        <p:nvSpPr>
          <p:cNvPr id="12" name="原题文字_283_17"/>
          <p:cNvSpPr txBox="1"/>
          <p:nvPr/>
        </p:nvSpPr>
        <p:spPr>
          <a:xfrm>
            <a:off x="1965390" y="2425512"/>
            <a:ext cx="644446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NaOH溶液</a:t>
            </a:r>
          </a:p>
        </p:txBody>
      </p:sp>
      <p:sp>
        <p:nvSpPr>
          <p:cNvPr id="13" name="原题文字_283_18"/>
          <p:cNvSpPr txBox="1"/>
          <p:nvPr/>
        </p:nvSpPr>
        <p:spPr>
          <a:xfrm>
            <a:off x="855138" y="2953840"/>
            <a:ext cx="468337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7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Na₂SO₃</a:t>
            </a:r>
          </a:p>
        </p:txBody>
      </p:sp>
      <p:sp>
        <p:nvSpPr>
          <p:cNvPr id="14" name="原题文字_283_19"/>
          <p:cNvSpPr txBox="1"/>
          <p:nvPr/>
        </p:nvSpPr>
        <p:spPr>
          <a:xfrm>
            <a:off x="939364" y="3084007"/>
            <a:ext cx="361140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固体</a:t>
            </a:r>
          </a:p>
        </p:txBody>
      </p:sp>
      <p:sp>
        <p:nvSpPr>
          <p:cNvPr id="15" name="原题文字_283_20"/>
          <p:cNvSpPr txBox="1"/>
          <p:nvPr/>
        </p:nvSpPr>
        <p:spPr>
          <a:xfrm>
            <a:off x="2003675" y="3106978"/>
            <a:ext cx="445366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小破洞</a:t>
            </a:r>
          </a:p>
        </p:txBody>
      </p:sp>
      <p:sp>
        <p:nvSpPr>
          <p:cNvPr id="16" name="原题文字_283_21"/>
          <p:cNvSpPr txBox="1"/>
          <p:nvPr/>
        </p:nvSpPr>
        <p:spPr>
          <a:xfrm>
            <a:off x="1973047" y="3344342"/>
            <a:ext cx="491308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KMnO₄</a:t>
            </a:r>
          </a:p>
        </p:txBody>
      </p:sp>
      <p:sp>
        <p:nvSpPr>
          <p:cNvPr id="17" name="原题文字_283_22"/>
          <p:cNvSpPr txBox="1"/>
          <p:nvPr/>
        </p:nvSpPr>
        <p:spPr>
          <a:xfrm>
            <a:off x="2064930" y="3497480"/>
            <a:ext cx="338169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8" name="原题文字_283_23"/>
          <p:cNvSpPr txBox="1"/>
          <p:nvPr/>
        </p:nvSpPr>
        <p:spPr>
          <a:xfrm>
            <a:off x="617773" y="3734845"/>
            <a:ext cx="743986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紫色石蕊溶液</a:t>
            </a:r>
          </a:p>
        </p:txBody>
      </p:sp>
      <p:sp>
        <p:nvSpPr>
          <p:cNvPr id="19" name="原题文字_283_24"/>
          <p:cNvSpPr txBox="1"/>
          <p:nvPr/>
        </p:nvSpPr>
        <p:spPr>
          <a:xfrm>
            <a:off x="2080244" y="3811414"/>
            <a:ext cx="567877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品红溶液</a:t>
            </a:r>
          </a:p>
        </p:txBody>
      </p:sp>
      <p:sp>
        <p:nvSpPr>
          <p:cNvPr id="20" name="原题文字_283_25"/>
          <p:cNvSpPr txBox="1"/>
          <p:nvPr/>
        </p:nvSpPr>
        <p:spPr>
          <a:xfrm>
            <a:off x="571832" y="4033464"/>
            <a:ext cx="4480560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KMnO₄溶液逐渐褪色，说明SO₂具有还原性</a:t>
            </a:r>
          </a:p>
        </p:txBody>
      </p:sp>
      <p:sp>
        <p:nvSpPr>
          <p:cNvPr id="21" name="文字_B. 品红溶液逐渐褪色，说明SO₂可以漂白品红且"/>
          <p:cNvSpPr txBox="1"/>
          <p:nvPr/>
        </p:nvSpPr>
        <p:spPr>
          <a:xfrm>
            <a:off x="502920" y="441929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品红溶液逐渐褪色，说明SO₂可以漂白品红且与氯气漂白品红原理相同</a:t>
            </a:r>
          </a:p>
        </p:txBody>
      </p:sp>
      <p:sp>
        <p:nvSpPr>
          <p:cNvPr id="22" name="文字_C. 紫色石蕊溶液变红，说明SO₂与水反应生成了"/>
          <p:cNvSpPr txBox="1"/>
          <p:nvPr/>
        </p:nvSpPr>
        <p:spPr>
          <a:xfrm>
            <a:off x="502920" y="485820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紫色石蕊溶液变红，说明SO₂与水反应生成了硫酸</a:t>
            </a:r>
          </a:p>
        </p:txBody>
      </p:sp>
      <p:sp>
        <p:nvSpPr>
          <p:cNvPr id="23" name="文字_D. 拉动注射器2，Na₂S溶液变浑浊，且氧化产"/>
          <p:cNvSpPr txBox="1"/>
          <p:nvPr/>
        </p:nvSpPr>
        <p:spPr>
          <a:xfrm>
            <a:off x="502920" y="529711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拉动注射器2，Na₂S溶液变浑浊，且氧化产物与还原产物物质的量之比是1：2</a:t>
            </a:r>
          </a:p>
        </p:txBody>
      </p:sp>
      <p:sp>
        <p:nvSpPr>
          <p:cNvPr id="24" name="文字_单选题  ·  13-01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13-014</a:t>
            </a:r>
          </a:p>
        </p:txBody>
      </p:sp>
      <p:sp>
        <p:nvSpPr>
          <p:cNvPr id="25" name="文字_2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变式7</a:t>
            </a:r>
          </a:p>
        </p:txBody>
      </p:sp>
      <p:sp>
        <p:nvSpPr>
          <p:cNvPr id="5" name="文字_P28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P283</a:t>
            </a:r>
          </a:p>
        </p:txBody>
      </p:sp>
      <p:sp>
        <p:nvSpPr>
          <p:cNvPr id="6" name="文字_Na₂S₂O₅是常用的防腐剂和漂白剂。可利用烟道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Na₂S₂O₅是常用的防腐剂和漂白剂。可利用烟道气中的SO₂生产Na₂S₂O₅，其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流程如下：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087281"/>
          </a:xfrm>
          <a:prstGeom prst="rect">
            <a:avLst/>
          </a:prstGeom>
        </p:spPr>
      </p:pic>
      <p:sp>
        <p:nvSpPr>
          <p:cNvPr id="8" name="原题文字_283_33"/>
          <p:cNvSpPr txBox="1"/>
          <p:nvPr/>
        </p:nvSpPr>
        <p:spPr>
          <a:xfrm>
            <a:off x="1590201" y="1935470"/>
            <a:ext cx="399425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</a:t>
            </a:r>
          </a:p>
        </p:txBody>
      </p:sp>
      <p:sp>
        <p:nvSpPr>
          <p:cNvPr id="9" name="原题文字_283_34"/>
          <p:cNvSpPr txBox="1"/>
          <p:nvPr/>
        </p:nvSpPr>
        <p:spPr>
          <a:xfrm>
            <a:off x="2195097" y="1912499"/>
            <a:ext cx="1019635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7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Na₂CO₃固体</a:t>
            </a:r>
          </a:p>
        </p:txBody>
      </p:sp>
      <p:sp>
        <p:nvSpPr>
          <p:cNvPr id="10" name="原题文字_283_35"/>
          <p:cNvSpPr txBox="1"/>
          <p:nvPr/>
        </p:nvSpPr>
        <p:spPr>
          <a:xfrm>
            <a:off x="3381919" y="1935470"/>
            <a:ext cx="407082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</a:t>
            </a:r>
          </a:p>
        </p:txBody>
      </p:sp>
      <p:sp>
        <p:nvSpPr>
          <p:cNvPr id="11" name="原题文字_283_36"/>
          <p:cNvSpPr txBox="1"/>
          <p:nvPr/>
        </p:nvSpPr>
        <p:spPr>
          <a:xfrm>
            <a:off x="640744" y="2035010"/>
            <a:ext cx="858839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Na₂CO₃饱</a:t>
            </a:r>
          </a:p>
        </p:txBody>
      </p:sp>
      <p:sp>
        <p:nvSpPr>
          <p:cNvPr id="12" name="原题文字_283_37"/>
          <p:cNvSpPr txBox="1"/>
          <p:nvPr/>
        </p:nvSpPr>
        <p:spPr>
          <a:xfrm>
            <a:off x="3473802" y="2126893"/>
            <a:ext cx="230973" cy="2787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sp>
        <p:nvSpPr>
          <p:cNvPr id="13" name="原题文字_283_38"/>
          <p:cNvSpPr txBox="1"/>
          <p:nvPr/>
        </p:nvSpPr>
        <p:spPr>
          <a:xfrm>
            <a:off x="656058" y="2234090"/>
            <a:ext cx="659760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和溶液</a:t>
            </a:r>
          </a:p>
        </p:txBody>
      </p:sp>
      <p:sp>
        <p:nvSpPr>
          <p:cNvPr id="14" name="原题文字_283_39"/>
          <p:cNvSpPr txBox="1"/>
          <p:nvPr/>
        </p:nvSpPr>
        <p:spPr>
          <a:xfrm>
            <a:off x="1666770" y="2364257"/>
            <a:ext cx="230973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15" name="原题文字_283_40"/>
          <p:cNvSpPr txBox="1"/>
          <p:nvPr/>
        </p:nvSpPr>
        <p:spPr>
          <a:xfrm>
            <a:off x="2554972" y="2371914"/>
            <a:ext cx="238629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Ⅱ</a:t>
            </a:r>
          </a:p>
        </p:txBody>
      </p:sp>
      <p:sp>
        <p:nvSpPr>
          <p:cNvPr id="16" name="原题文字_283_41"/>
          <p:cNvSpPr txBox="1"/>
          <p:nvPr/>
        </p:nvSpPr>
        <p:spPr>
          <a:xfrm>
            <a:off x="3481459" y="2371914"/>
            <a:ext cx="269257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Ⅲ</a:t>
            </a:r>
          </a:p>
        </p:txBody>
      </p:sp>
      <p:sp>
        <p:nvSpPr>
          <p:cNvPr id="17" name="原题文字_283_42"/>
          <p:cNvSpPr txBox="1"/>
          <p:nvPr/>
        </p:nvSpPr>
        <p:spPr>
          <a:xfrm>
            <a:off x="4124640" y="2348943"/>
            <a:ext cx="996664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结晶脱水</a:t>
            </a:r>
          </a:p>
        </p:txBody>
      </p:sp>
      <p:sp>
        <p:nvSpPr>
          <p:cNvPr id="18" name="原题文字_283_43"/>
          <p:cNvSpPr txBox="1"/>
          <p:nvPr/>
        </p:nvSpPr>
        <p:spPr>
          <a:xfrm>
            <a:off x="4989871" y="2364257"/>
            <a:ext cx="1019635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→Na₂S₂O₅</a:t>
            </a:r>
          </a:p>
        </p:txBody>
      </p:sp>
      <p:sp>
        <p:nvSpPr>
          <p:cNvPr id="19" name="原题文字_283_44"/>
          <p:cNvSpPr txBox="1"/>
          <p:nvPr/>
        </p:nvSpPr>
        <p:spPr>
          <a:xfrm>
            <a:off x="1460034" y="2678191"/>
            <a:ext cx="667417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pH=4.1</a:t>
            </a:r>
          </a:p>
        </p:txBody>
      </p:sp>
      <p:sp>
        <p:nvSpPr>
          <p:cNvPr id="20" name="原题文字_283_45"/>
          <p:cNvSpPr txBox="1"/>
          <p:nvPr/>
        </p:nvSpPr>
        <p:spPr>
          <a:xfrm>
            <a:off x="2294637" y="2662877"/>
            <a:ext cx="751643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7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pH=7~8</a:t>
            </a:r>
          </a:p>
        </p:txBody>
      </p:sp>
      <p:sp>
        <p:nvSpPr>
          <p:cNvPr id="21" name="原题文字_283_46"/>
          <p:cNvSpPr txBox="1"/>
          <p:nvPr/>
        </p:nvSpPr>
        <p:spPr>
          <a:xfrm>
            <a:off x="3244095" y="2678191"/>
            <a:ext cx="652103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pH=4.1</a:t>
            </a:r>
          </a:p>
        </p:txBody>
      </p:sp>
      <p:sp>
        <p:nvSpPr>
          <p:cNvPr id="22" name="文字_下列说法正确的是"/>
          <p:cNvSpPr txBox="1"/>
          <p:nvPr/>
        </p:nvSpPr>
        <p:spPr>
          <a:xfrm>
            <a:off x="502920" y="304104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23" name="文字_A. 上述制备过程所涉及的物质中只有一种酸性氧化"/>
          <p:cNvSpPr txBox="1"/>
          <p:nvPr/>
        </p:nvSpPr>
        <p:spPr>
          <a:xfrm>
            <a:off x="502920" y="347996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上述制备过程所涉及的物质中只有一种酸性氧化物</a:t>
            </a:r>
          </a:p>
        </p:txBody>
      </p:sp>
      <p:sp>
        <p:nvSpPr>
          <p:cNvPr id="24" name="文字_B. Na₂S₂O₅不具有还原性"/>
          <p:cNvSpPr txBox="1"/>
          <p:nvPr/>
        </p:nvSpPr>
        <p:spPr>
          <a:xfrm>
            <a:off x="502920" y="391887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Na₂S₂O₅不具有还原性</a:t>
            </a:r>
          </a:p>
        </p:txBody>
      </p:sp>
      <p:sp>
        <p:nvSpPr>
          <p:cNvPr id="25" name="文字_C. 上述流程中的实验操作Ⅲ是过滤，主要仪器有漏"/>
          <p:cNvSpPr txBox="1"/>
          <p:nvPr/>
        </p:nvSpPr>
        <p:spPr>
          <a:xfrm>
            <a:off x="502920" y="435778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上述流程中的实验操作Ⅲ是过滤，主要仪器有漏斗、滤纸、烧杯及玻璃棒</a:t>
            </a:r>
          </a:p>
        </p:txBody>
      </p:sp>
      <p:sp>
        <p:nvSpPr>
          <p:cNvPr id="26" name="文字_D. SO₂不能与Na₂CO₃溶液反应产生CO₂"/>
          <p:cNvSpPr txBox="1"/>
          <p:nvPr/>
        </p:nvSpPr>
        <p:spPr>
          <a:xfrm>
            <a:off x="502920" y="479669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SO₂不能与Na₂CO₃溶液反应产生CO₂</a:t>
            </a:r>
          </a:p>
        </p:txBody>
      </p:sp>
      <p:sp>
        <p:nvSpPr>
          <p:cNvPr id="27" name="文字_单选题  ·  13-01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13-015</a:t>
            </a:r>
          </a:p>
        </p:txBody>
      </p:sp>
      <p:sp>
        <p:nvSpPr>
          <p:cNvPr id="28" name="文字_2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和二氧化硫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硫和二氧化硫 · 变式8</a:t>
            </a:r>
          </a:p>
        </p:txBody>
      </p:sp>
      <p:sp>
        <p:nvSpPr>
          <p:cNvPr id="5" name="文字_P28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P284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8542939" cy="2075136"/>
          </a:xfrm>
          <a:prstGeom prst="rect">
            <a:avLst/>
          </a:prstGeom>
        </p:spPr>
      </p:pic>
      <p:sp>
        <p:nvSpPr>
          <p:cNvPr id="7" name="原题文字_284_3"/>
          <p:cNvSpPr txBox="1"/>
          <p:nvPr/>
        </p:nvSpPr>
        <p:spPr>
          <a:xfrm>
            <a:off x="567952" y="1084415"/>
            <a:ext cx="5854603" cy="268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某研究小组用如图装置进行SO₂与FeCl₃溶液反应的相关实验（夹持装置已略去）。</a:t>
            </a:r>
          </a:p>
        </p:txBody>
      </p:sp>
      <p:sp>
        <p:nvSpPr>
          <p:cNvPr id="8" name="原题文字_284_4"/>
          <p:cNvSpPr txBox="1"/>
          <p:nvPr/>
        </p:nvSpPr>
        <p:spPr>
          <a:xfrm>
            <a:off x="692106" y="1527820"/>
            <a:ext cx="604686" cy="2766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浓H₂SO₄</a:t>
            </a:r>
          </a:p>
        </p:txBody>
      </p:sp>
      <p:sp>
        <p:nvSpPr>
          <p:cNvPr id="9" name="原题文字_284_5"/>
          <p:cNvSpPr txBox="1"/>
          <p:nvPr/>
        </p:nvSpPr>
        <p:spPr>
          <a:xfrm>
            <a:off x="579776" y="2320037"/>
            <a:ext cx="521917" cy="2613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Na₂SO₃</a:t>
            </a:r>
          </a:p>
        </p:txBody>
      </p:sp>
      <p:sp>
        <p:nvSpPr>
          <p:cNvPr id="10" name="原题文字_284_6"/>
          <p:cNvSpPr txBox="1"/>
          <p:nvPr/>
        </p:nvSpPr>
        <p:spPr>
          <a:xfrm>
            <a:off x="2796802" y="2331861"/>
            <a:ext cx="445060" cy="2843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FeCl₃</a:t>
            </a:r>
          </a:p>
        </p:txBody>
      </p:sp>
      <p:sp>
        <p:nvSpPr>
          <p:cNvPr id="11" name="原题文字_284_7"/>
          <p:cNvSpPr txBox="1"/>
          <p:nvPr/>
        </p:nvSpPr>
        <p:spPr>
          <a:xfrm>
            <a:off x="3813678" y="2343686"/>
            <a:ext cx="456884" cy="2075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12" name="原题文字_284_8"/>
          <p:cNvSpPr txBox="1"/>
          <p:nvPr/>
        </p:nvSpPr>
        <p:spPr>
          <a:xfrm>
            <a:off x="632985" y="2479663"/>
            <a:ext cx="421412" cy="292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固体</a:t>
            </a:r>
          </a:p>
        </p:txBody>
      </p:sp>
      <p:sp>
        <p:nvSpPr>
          <p:cNvPr id="13" name="原题文字_284_9"/>
          <p:cNvSpPr txBox="1"/>
          <p:nvPr/>
        </p:nvSpPr>
        <p:spPr>
          <a:xfrm>
            <a:off x="2808626" y="2497399"/>
            <a:ext cx="409588" cy="268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4" name="原题文字_284_10"/>
          <p:cNvSpPr txBox="1"/>
          <p:nvPr/>
        </p:nvSpPr>
        <p:spPr>
          <a:xfrm>
            <a:off x="3831414" y="2461927"/>
            <a:ext cx="421412" cy="268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5" name="原题文字_284_11"/>
          <p:cNvSpPr txBox="1"/>
          <p:nvPr/>
        </p:nvSpPr>
        <p:spPr>
          <a:xfrm>
            <a:off x="1366082" y="2710234"/>
            <a:ext cx="202665" cy="222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6" name="原题文字_284_12"/>
          <p:cNvSpPr txBox="1"/>
          <p:nvPr/>
        </p:nvSpPr>
        <p:spPr>
          <a:xfrm>
            <a:off x="2040057" y="2716146"/>
            <a:ext cx="208577" cy="2075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7" name="原题文字_284_13"/>
          <p:cNvSpPr txBox="1"/>
          <p:nvPr/>
        </p:nvSpPr>
        <p:spPr>
          <a:xfrm>
            <a:off x="2613528" y="2710234"/>
            <a:ext cx="202665" cy="2151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4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18" name="原题文字_284_14"/>
          <p:cNvSpPr txBox="1"/>
          <p:nvPr/>
        </p:nvSpPr>
        <p:spPr>
          <a:xfrm>
            <a:off x="3376185" y="2704322"/>
            <a:ext cx="226314" cy="2382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9" name="原题文字_284_15"/>
          <p:cNvSpPr txBox="1"/>
          <p:nvPr/>
        </p:nvSpPr>
        <p:spPr>
          <a:xfrm>
            <a:off x="650721" y="2893508"/>
            <a:ext cx="3897708" cy="2766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（1）在配制氯化铁溶液时，需先把氯化铁晶体溶解在</a:t>
            </a:r>
          </a:p>
        </p:txBody>
      </p:sp>
      <p:sp>
        <p:nvSpPr>
          <p:cNvPr id="20" name="原题文字_284_16"/>
          <p:cNvSpPr txBox="1"/>
          <p:nvPr/>
        </p:nvSpPr>
        <p:spPr>
          <a:xfrm>
            <a:off x="4966532" y="2911244"/>
            <a:ext cx="2744855" cy="2536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中，再加水稀释，这样操作的目的是</a:t>
            </a:r>
          </a:p>
        </p:txBody>
      </p:sp>
      <p:sp>
        <p:nvSpPr>
          <p:cNvPr id="21" name="原题文字_284_17"/>
          <p:cNvSpPr txBox="1"/>
          <p:nvPr/>
        </p:nvSpPr>
        <p:spPr>
          <a:xfrm>
            <a:off x="8105840" y="2887596"/>
            <a:ext cx="793872" cy="2997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5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，操作中</a:t>
            </a:r>
          </a:p>
        </p:txBody>
      </p:sp>
      <p:sp>
        <p:nvSpPr>
          <p:cNvPr id="22" name="文字_不需要的仪器有 ______ (填入正确选项前的"/>
          <p:cNvSpPr txBox="1"/>
          <p:nvPr/>
        </p:nvSpPr>
        <p:spPr>
          <a:xfrm>
            <a:off x="502920" y="32272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不需要的仪器有 ______ (填入正确选项前的字母)。</a:t>
            </a:r>
          </a:p>
        </p:txBody>
      </p:sp>
      <p:sp>
        <p:nvSpPr>
          <p:cNvPr id="23" name="文字_a. 药匙b. 烧杯 c. 石棉网 d. 玻璃棒"/>
          <p:cNvSpPr txBox="1"/>
          <p:nvPr/>
        </p:nvSpPr>
        <p:spPr>
          <a:xfrm>
            <a:off x="502920" y="3474168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药匙b. 烧杯 c. 石棉网 d. 玻璃棒 e. 坩埚</a:t>
            </a:r>
          </a:p>
        </p:txBody>
      </p:sp>
      <p:sp>
        <p:nvSpPr>
          <p:cNvPr id="24" name="文字_(2) 通入足量SO₂时，C中观察到的现象为 _"/>
          <p:cNvSpPr txBox="1"/>
          <p:nvPr/>
        </p:nvSpPr>
        <p:spPr>
          <a:xfrm>
            <a:off x="502920" y="3721056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通入足量SO₂时，C中观察到的现象为 ______ o</a:t>
            </a:r>
          </a:p>
        </p:txBody>
      </p:sp>
      <p:sp>
        <p:nvSpPr>
          <p:cNvPr id="25" name="文字_(3） 根据以上现象，该小组同学认为SO₂与Fe"/>
          <p:cNvSpPr txBox="1"/>
          <p:nvPr/>
        </p:nvSpPr>
        <p:spPr>
          <a:xfrm>
            <a:off x="502920" y="3967944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(3） 根据以上现象，该小组同学认为SO₂与FeCl₃溶液发生了氧化还原反应。</a:t>
            </a:r>
          </a:p>
        </p:txBody>
      </p:sp>
      <p:sp>
        <p:nvSpPr>
          <p:cNvPr id="26" name="文字_①写出SO₂与FeCl₃溶液反应的离子方程式："/>
          <p:cNvSpPr txBox="1"/>
          <p:nvPr/>
        </p:nvSpPr>
        <p:spPr>
          <a:xfrm>
            <a:off x="502920" y="4214832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①写出SO₂与FeCl₃溶液反应的离子方程式：</a:t>
            </a:r>
          </a:p>
        </p:txBody>
      </p:sp>
      <p:sp>
        <p:nvSpPr>
          <p:cNvPr id="27" name="文字_②请设计实验方案检验有Fe²⁺生成:"/>
          <p:cNvSpPr txBox="1"/>
          <p:nvPr/>
        </p:nvSpPr>
        <p:spPr>
          <a:xfrm>
            <a:off x="502920" y="446172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②请设计实验方案检验有Fe²⁺生成:</a:t>
            </a:r>
          </a:p>
        </p:txBody>
      </p:sp>
      <p:sp>
        <p:nvSpPr>
          <p:cNvPr id="28" name="文字_③该小组同学向C试管反应后的溶液中加入硝酸酸化的"/>
          <p:cNvSpPr txBox="1"/>
          <p:nvPr/>
        </p:nvSpPr>
        <p:spPr>
          <a:xfrm>
            <a:off x="502920" y="4708608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③该小组同学向C试管反应后的溶液中加入硝酸酸化的BaCl₂溶液，若出现白色沉淀，即可证明反应生成了SO₄²⁻。</a:t>
            </a:r>
          </a:p>
        </p:txBody>
      </p:sp>
      <p:sp>
        <p:nvSpPr>
          <p:cNvPr id="29" name="文字_该做法 ______ (填“合理”或“不合理”)"/>
          <p:cNvSpPr txBox="1"/>
          <p:nvPr/>
        </p:nvSpPr>
        <p:spPr>
          <a:xfrm>
            <a:off x="502920" y="4955496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该做法 ______ (填“合理”或“不合理”)，理由是 ______ O</a:t>
            </a:r>
          </a:p>
        </p:txBody>
      </p:sp>
      <p:sp>
        <p:nvSpPr>
          <p:cNvPr id="30" name="文字_(4) D装置中倒置漏斗的作用是"/>
          <p:cNvSpPr txBox="1"/>
          <p:nvPr/>
        </p:nvSpPr>
        <p:spPr>
          <a:xfrm>
            <a:off x="502920" y="5202384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D装置中倒置漏斗的作用是</a:t>
            </a:r>
          </a:p>
        </p:txBody>
      </p:sp>
      <p:sp>
        <p:nvSpPr>
          <p:cNvPr id="31" name="文字_(5）为了验证SO₂具有还原性，实验中可以代替F"/>
          <p:cNvSpPr txBox="1"/>
          <p:nvPr/>
        </p:nvSpPr>
        <p:spPr>
          <a:xfrm>
            <a:off x="502920" y="5449272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(5）为了验证SO₂具有还原性，实验中可以代替FeCl₃的试剂有 ______ (填入正确选项前的字母)。</a:t>
            </a:r>
          </a:p>
        </p:txBody>
      </p:sp>
      <p:sp>
        <p:nvSpPr>
          <p:cNvPr id="32" name="文字_a. 浓H₂SO₄b. 酸性KMnO₄溶液"/>
          <p:cNvSpPr txBox="1"/>
          <p:nvPr/>
        </p:nvSpPr>
        <p:spPr>
          <a:xfrm>
            <a:off x="502920" y="569616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浓H₂SO₄b. 酸性KMnO₄溶液</a:t>
            </a:r>
          </a:p>
        </p:txBody>
      </p:sp>
      <p:sp>
        <p:nvSpPr>
          <p:cNvPr id="33" name="文字_c. 碘水 ______ d. NaCl溶液"/>
          <p:cNvSpPr txBox="1"/>
          <p:nvPr/>
        </p:nvSpPr>
        <p:spPr>
          <a:xfrm>
            <a:off x="502920" y="5943048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碘水 ______ d. NaCl溶液</a:t>
            </a:r>
          </a:p>
        </p:txBody>
      </p:sp>
      <p:sp>
        <p:nvSpPr>
          <p:cNvPr id="34" name="文字_解答题  ·  13-01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13-016</a:t>
            </a:r>
          </a:p>
        </p:txBody>
      </p:sp>
      <p:sp>
        <p:nvSpPr>
          <p:cNvPr id="35" name="文字_2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4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04</a:t>
            </a:r>
          </a:p>
        </p:txBody>
      </p:sp>
      <p:sp>
        <p:nvSpPr>
          <p:cNvPr id="4" name="文字_浓硫酸的吸水性与脱水性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浓硫酸的吸水性与脱水性</a:t>
            </a:r>
          </a:p>
        </p:txBody>
      </p:sp>
      <p:sp>
        <p:nvSpPr>
          <p:cNvPr id="5" name="文字_知识梳理 · 讲义 P285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P285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浓硫酸的吸水性与脱水性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浓硫酸的吸水性与脱水性</a:t>
            </a:r>
          </a:p>
        </p:txBody>
      </p:sp>
      <p:sp>
        <p:nvSpPr>
          <p:cNvPr id="5" name="文字_知识讲解 · P285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P285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吸水性：吸收现成的水分子，用作气体干燥剂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吸水性：吸收现成的水分子，用作气体干燥剂。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不可干燥强还原性气体：HI、HBr、H₂S；SO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不可干燥强还原性气体：HI、HBr、H₂S；SO₂ 可以。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脱水性：按 2:1 的氢氧比夺取有机物中的 H、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脱水性：按 2:1 的氢氧比夺取有机物中的 H、O（蔗糖碳化、木材碳化）。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黑面包实验：蔗糖 + 浓硫酸 → 疏松多孔的海绵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黑面包实验：蔗糖 + 浓硫酸 → 疏松多孔的海绵状炭。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常见干燥剂：酸性（浓硫酸、P₂O₅、硅胶）；碱性"/>
          <p:cNvSpPr txBox="1"/>
          <p:nvPr/>
        </p:nvSpPr>
        <p:spPr>
          <a:xfrm>
            <a:off x="722376" y="4102607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常见干燥剂：酸性（浓硫酸、P₂O₅、硅胶）；碱性（碱石灰，不能干燥 CO₂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、SO₂、HCl）；中性（无水 CaCl₂，不能干燥 NH₃）。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吸水针对现成的水，脱水针对化合物中的氢氧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吸水针对现成的水，脱水针对化合物中的氢氧元素，两者本质不同。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5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05</a:t>
            </a:r>
          </a:p>
        </p:txBody>
      </p:sp>
      <p:sp>
        <p:nvSpPr>
          <p:cNvPr id="4" name="文字_浓硫酸的强氧化性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浓硫酸的强氧化性</a:t>
            </a:r>
          </a:p>
        </p:txBody>
      </p:sp>
      <p:sp>
        <p:nvSpPr>
          <p:cNvPr id="5" name="文字_知识梳理 · 讲义 P286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P286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浓硫酸的强氧化性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浓硫酸的强氧化性</a:t>
            </a:r>
          </a:p>
        </p:txBody>
      </p:sp>
      <p:sp>
        <p:nvSpPr>
          <p:cNvPr id="5" name="文字_知识讲解 · P286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P286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常温下使 Fe、Al 钝化（致密氧化膜），可用铝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常温下使 Fe、Al 钝化（致密氧化膜），可用铝槽车运输浓硫酸。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加热时与绝大多数金属反应，还原产物为 SO₂：C"/>
          <p:cNvSpPr txBox="1"/>
          <p:nvPr/>
        </p:nvSpPr>
        <p:spPr>
          <a:xfrm>
            <a:off x="722376" y="235610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加热时与绝大多数金属反应，还原产物为 SO₂：Cu + 2H₂SO₄(浓) —加热→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CuSO₄ + SO₂↑ + 2H₂O。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与非金属：C + 2H₂SO₄(浓) —加热→ 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与非金属：C + 2H₂SO₄(浓) —加热→ CO₂↑ + 2SO₂↑ + 2H₂O。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既体现酸性（生成盐）又体现强氧化性（生成 SO₂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既体现酸性（生成盐）又体现强氧化性（生成 SO₂）。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反应中硫酸逐渐变稀，稀硫酸与 Cu 不反应，金属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反应中硫酸逐渐变稀，稀硫酸与 Cu 不反应，金属不能完全溶解。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Cu 与浓硫酸不生成 H₂；钝化生成了致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Cu 与浓硫酸不生成 H₂；钝化生成了致密氧化膜，属于化学变化。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6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06</a:t>
            </a:r>
          </a:p>
        </p:txBody>
      </p:sp>
      <p:sp>
        <p:nvSpPr>
          <p:cNvPr id="4" name="文字_硫酸根的检验与常见硫酸盐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硫酸根的检验与常见硫酸盐</a:t>
            </a:r>
          </a:p>
        </p:txBody>
      </p:sp>
      <p:sp>
        <p:nvSpPr>
          <p:cNvPr id="5" name="文字_知识梳理 · 讲义 P287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P287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硫酸根的检验与常见硫酸盐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硫酸根的检验与常见硫酸盐</a:t>
            </a:r>
          </a:p>
        </p:txBody>
      </p:sp>
      <p:sp>
        <p:nvSpPr>
          <p:cNvPr id="5" name="文字_知识讲解 · P28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P287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SO₄²⁻ 检验（排除 CO₃²⁻、SO₃²⁻、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SO₄²⁻ 检验（排除 CO₃²⁻、SO₃²⁻、Ag⁺）：先加足量稀盐酸酸化无现象，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再加 BaCl₂ 溶液产生白色沉淀。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不能先加 BaCl₂ 再酸化（Ag⁺ 干扰）；不"/>
          <p:cNvSpPr txBox="1"/>
          <p:nvPr/>
        </p:nvSpPr>
        <p:spPr>
          <a:xfrm>
            <a:off x="722376" y="2727960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不能先加 BaCl₂ 再酸化（Ag⁺ 干扰）；不能用稀硝酸酸化（氧化 SO₃²⁻ 造成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误判）。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76428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H₂SO₃：二元弱酸、不稳定，易被氧化为 H₂S"/>
          <p:cNvSpPr txBox="1"/>
          <p:nvPr/>
        </p:nvSpPr>
        <p:spPr>
          <a:xfrm>
            <a:off x="722376" y="368198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H₂SO₃：二元弱酸、不稳定，易被氧化为 H₂SO₄。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34644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Na₂SO₃、NaHSO₃：不稳定，易被氧气或强"/>
          <p:cNvSpPr txBox="1"/>
          <p:nvPr/>
        </p:nvSpPr>
        <p:spPr>
          <a:xfrm>
            <a:off x="722376" y="426415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Na₂SO₃、NaHSO₃：不稳定，易被氧气或强氧化剂氧化为硫酸盐。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92861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常见硫酸盐：石膏 CaSO₄·2H₂O、重晶石 "/>
          <p:cNvSpPr txBox="1"/>
          <p:nvPr/>
        </p:nvSpPr>
        <p:spPr>
          <a:xfrm>
            <a:off x="722376" y="4846320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常见硫酸盐：石膏 CaSO₄·2H₂O、重晶石 BaSO₄（钡餐）、绿矾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FeSO₄·7H₂O、胆矾 CuSO₄·5H₂O、明矾 KAl(SO₄)₂·12H₂O（净水剂）。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74243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先盐酸酸化、再加 BaCl₂，顺序不能颠"/>
          <p:cNvSpPr txBox="1"/>
          <p:nvPr/>
        </p:nvSpPr>
        <p:spPr>
          <a:xfrm>
            <a:off x="630936" y="580186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先盐酸酸化、再加 BaCl₂，顺序不能颠倒，是检验题的规范答案。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例题1</a:t>
            </a:r>
          </a:p>
        </p:txBody>
      </p:sp>
      <p:sp>
        <p:nvSpPr>
          <p:cNvPr id="5" name="文字_P28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P288</a:t>
            </a:r>
          </a:p>
        </p:txBody>
      </p:sp>
      <p:sp>
        <p:nvSpPr>
          <p:cNvPr id="6" name="文字_下列实验试剂的保存或处理方法错误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下列实验试剂的保存或处理方法错误的是</a:t>
            </a:r>
          </a:p>
        </p:txBody>
      </p:sp>
      <p:sp>
        <p:nvSpPr>
          <p:cNvPr id="7" name="文字_A. 碘保存在盛有水的棕色试剂瓶中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碘保存在盛有水的棕色试剂瓶中</a:t>
            </a:r>
          </a:p>
        </p:txBody>
      </p:sp>
      <p:sp>
        <p:nvSpPr>
          <p:cNvPr id="8" name="文字_B. 浓硫酸保存在无色玻璃瓶中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浓硫酸保存在无色玻璃瓶中</a:t>
            </a:r>
          </a:p>
        </p:txBody>
      </p:sp>
      <p:sp>
        <p:nvSpPr>
          <p:cNvPr id="9" name="文字_C. 新制氯水应密封保存在棕色试剂瓶中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新制氯水应密封保存在棕色试剂瓶中</a:t>
            </a:r>
          </a:p>
        </p:txBody>
      </p:sp>
      <p:sp>
        <p:nvSpPr>
          <p:cNvPr id="10" name="文字_D. 配制FeSO₄溶液时，需加入少量稀硫酸和铁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配制FeSO₄溶液时，需加入少量稀硫酸和铁粉</a:t>
            </a:r>
          </a:p>
        </p:txBody>
      </p:sp>
      <p:sp>
        <p:nvSpPr>
          <p:cNvPr id="11" name="文字_单选题  ·  13-01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13-017</a:t>
            </a:r>
          </a:p>
        </p:txBody>
      </p:sp>
      <p:sp>
        <p:nvSpPr>
          <p:cNvPr id="12" name="文字_3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例题2</a:t>
            </a:r>
          </a:p>
        </p:txBody>
      </p:sp>
      <p:sp>
        <p:nvSpPr>
          <p:cNvPr id="5" name="文字_P28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P288</a:t>
            </a:r>
          </a:p>
        </p:txBody>
      </p:sp>
      <p:sp>
        <p:nvSpPr>
          <p:cNvPr id="6" name="文字_下列关于浓硫酸的叙述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下列关于浓硫酸的叙述正确的是</a:t>
            </a:r>
          </a:p>
        </p:txBody>
      </p:sp>
      <p:sp>
        <p:nvSpPr>
          <p:cNvPr id="7" name="文字_A. 浓硫酸具有吸水性，因而能使蔗糖炭化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浓硫酸具有吸水性，因而能使蔗糖炭化</a:t>
            </a:r>
          </a:p>
        </p:txBody>
      </p:sp>
      <p:sp>
        <p:nvSpPr>
          <p:cNvPr id="8" name="文字_B. 浓硫酸敞口久置于空气中，质量增加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浓硫酸敞口久置于空气中，质量增加</a:t>
            </a:r>
          </a:p>
        </p:txBody>
      </p:sp>
      <p:sp>
        <p:nvSpPr>
          <p:cNvPr id="9" name="文字_C. 浓硫酸是一种干燥剂，能够干燥氨气、氢气等气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浓硫酸是一种干燥剂，能够干燥氨气、氢气等气体</a:t>
            </a:r>
          </a:p>
        </p:txBody>
      </p:sp>
      <p:sp>
        <p:nvSpPr>
          <p:cNvPr id="10" name="文字_D. 常温下，不可以用铁、铝质容器盛装浓硫酸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常温下，不可以用铁、铝质容器盛装浓硫酸</a:t>
            </a:r>
          </a:p>
        </p:txBody>
      </p:sp>
      <p:sp>
        <p:nvSpPr>
          <p:cNvPr id="11" name="文字_单选题  ·  13-01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13-018</a:t>
            </a:r>
          </a:p>
        </p:txBody>
      </p:sp>
      <p:sp>
        <p:nvSpPr>
          <p:cNvPr id="12" name="文字_3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例题3</a:t>
            </a:r>
          </a:p>
        </p:txBody>
      </p:sp>
      <p:sp>
        <p:nvSpPr>
          <p:cNvPr id="5" name="文字_P28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P288</a:t>
            </a:r>
          </a:p>
        </p:txBody>
      </p:sp>
      <p:sp>
        <p:nvSpPr>
          <p:cNvPr id="6" name="文字_下列有关H₂SO₄的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下列有关H₂SO₄的说法不正确的是</a:t>
            </a:r>
          </a:p>
        </p:txBody>
      </p:sp>
      <p:sp>
        <p:nvSpPr>
          <p:cNvPr id="7" name="文字_A. 属于电解质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属于电解质</a:t>
            </a:r>
          </a:p>
        </p:txBody>
      </p:sp>
      <p:sp>
        <p:nvSpPr>
          <p:cNvPr id="8" name="文字_B. 与水能反应放出大量的热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与水能反应放出大量的热</a:t>
            </a:r>
          </a:p>
        </p:txBody>
      </p:sp>
      <p:sp>
        <p:nvSpPr>
          <p:cNvPr id="9" name="文字_C. 热稳定性比HNO₃强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热稳定性比HNO₃强</a:t>
            </a:r>
          </a:p>
        </p:txBody>
      </p:sp>
      <p:sp>
        <p:nvSpPr>
          <p:cNvPr id="10" name="文字_D. 浓溶液能与Cu在加热条件下生成CuSO₄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浓溶液能与Cu在加热条件下生成CuSO₄</a:t>
            </a:r>
          </a:p>
        </p:txBody>
      </p:sp>
      <p:sp>
        <p:nvSpPr>
          <p:cNvPr id="11" name="文字_单选题  ·  13-01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13-019</a:t>
            </a:r>
          </a:p>
        </p:txBody>
      </p:sp>
      <p:sp>
        <p:nvSpPr>
          <p:cNvPr id="12" name="文字_3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例题4</a:t>
            </a:r>
          </a:p>
        </p:txBody>
      </p:sp>
      <p:sp>
        <p:nvSpPr>
          <p:cNvPr id="5" name="文字_P28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P288</a:t>
            </a:r>
          </a:p>
        </p:txBody>
      </p:sp>
      <p:sp>
        <p:nvSpPr>
          <p:cNvPr id="6" name="文字_实验安全是化学探究的重要保障。下列实验操作或要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实验安全是化学探究的重要保障。下列实验操作或要求错误的是</a:t>
            </a:r>
          </a:p>
        </p:txBody>
      </p:sp>
      <p:sp>
        <p:nvSpPr>
          <p:cNvPr id="7" name="文字_A. 稀释浓硫酸时，应将浓硫酸沿烧杯内壁缓慢注入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稀释浓硫酸时，应将浓硫酸沿烧杯内壁缓慢注入水中，并不断搅拌</a:t>
            </a:r>
          </a:p>
        </p:txBody>
      </p:sp>
      <p:sp>
        <p:nvSpPr>
          <p:cNvPr id="8" name="文字_B. 进行氯气制备与性质探究实验时，应在通风橱中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进行氯气制备与性质探究实验时，应在通风橱中进行，并须尾气处理</a:t>
            </a:r>
          </a:p>
        </p:txBody>
      </p:sp>
      <p:sp>
        <p:nvSpPr>
          <p:cNvPr id="9" name="文字_C. 取用金属钠时，若不慎将小块钠掉落桌面，应立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取用金属钠时，若不慎将小块钠掉落桌面，应立即用大量水冲洗</a:t>
            </a:r>
          </a:p>
        </p:txBody>
      </p:sp>
      <p:sp>
        <p:nvSpPr>
          <p:cNvPr id="10" name="文字_D. 加热液体混合物时，应加入碎瓷片或沸石，防止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加热液体混合物时，应加入碎瓷片或沸石，防止暴沸</a:t>
            </a:r>
          </a:p>
        </p:txBody>
      </p:sp>
      <p:sp>
        <p:nvSpPr>
          <p:cNvPr id="11" name="文字_单选题  ·  13-02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13-020</a:t>
            </a:r>
          </a:p>
        </p:txBody>
      </p:sp>
      <p:sp>
        <p:nvSpPr>
          <p:cNvPr id="12" name="文字_3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例题5</a:t>
            </a:r>
          </a:p>
        </p:txBody>
      </p:sp>
      <p:sp>
        <p:nvSpPr>
          <p:cNvPr id="5" name="文字_P28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P289</a:t>
            </a:r>
          </a:p>
        </p:txBody>
      </p:sp>
      <p:sp>
        <p:nvSpPr>
          <p:cNvPr id="6" name="文字_硫酸是中学化学实验室的常见药品，其性质有①酸性②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硫酸是中学化学实验室的常见药品，其性质有①酸性②吸水性 ③脱水性④强氧化性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⑤催化作用，请将序号填在相应的横线上：</a:t>
            </a:r>
          </a:p>
        </p:txBody>
      </p:sp>
      <p:sp>
        <p:nvSpPr>
          <p:cNvPr id="7" name="文字_(1)锌和稀H₂SO₄反应制H₂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(1)锌和稀H₂SO₄反应制H₂</a:t>
            </a:r>
          </a:p>
        </p:txBody>
      </p:sp>
      <p:sp>
        <p:nvSpPr>
          <p:cNvPr id="8" name="文字_(2)浓硫酸作干燥剂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(2)浓硫酸作干燥剂</a:t>
            </a:r>
          </a:p>
        </p:txBody>
      </p:sp>
      <p:sp>
        <p:nvSpPr>
          <p:cNvPr id="9" name="文字_(3)浓硫酸与蔗糖的炭化实验（黑面包实验）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(3)浓硫酸与蔗糖的炭化实验（黑面包实验）</a:t>
            </a:r>
          </a:p>
        </p:txBody>
      </p:sp>
      <p:sp>
        <p:nvSpPr>
          <p:cNvPr id="10" name="文字_(4)浓硫酸与铜的反应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(4)浓硫酸与铜的反应</a:t>
            </a:r>
          </a:p>
        </p:txBody>
      </p:sp>
      <p:sp>
        <p:nvSpPr>
          <p:cNvPr id="11" name="文字_(5)浓硫酸使湿润石蕊试纸变红，后来又变黑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(5)浓硫酸使湿润石蕊试纸变红，后来又变黑</a:t>
            </a:r>
          </a:p>
        </p:txBody>
      </p:sp>
      <p:sp>
        <p:nvSpPr>
          <p:cNvPr id="12" name="文字_填空题  ·  13-02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13-021</a:t>
            </a:r>
          </a:p>
        </p:txBody>
      </p:sp>
      <p:sp>
        <p:nvSpPr>
          <p:cNvPr id="13" name="文字_3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例题6</a:t>
            </a:r>
          </a:p>
        </p:txBody>
      </p:sp>
      <p:sp>
        <p:nvSpPr>
          <p:cNvPr id="5" name="文字_P28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P289</a:t>
            </a:r>
          </a:p>
        </p:txBody>
      </p:sp>
      <p:sp>
        <p:nvSpPr>
          <p:cNvPr id="6" name="文字_工业以硫黄或黄铁矿(主要成分为FeS₂，焙烧后的"/>
          <p:cNvSpPr txBox="1"/>
          <p:nvPr/>
        </p:nvSpPr>
        <p:spPr>
          <a:xfrm>
            <a:off x="502920" y="1078992"/>
            <a:ext cx="11064240" cy="6346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工业以硫黄或黄铁矿(主要成分为FeS₂，焙烧后的烧渣成分为Fe₂O₃)为原料生产硫酸的主要流程如图所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示。设NA为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13610"/>
            <a:ext cx="11064240" cy="2986196"/>
          </a:xfrm>
          <a:prstGeom prst="rect">
            <a:avLst/>
          </a:prstGeom>
        </p:spPr>
      </p:pic>
      <p:sp>
        <p:nvSpPr>
          <p:cNvPr id="8" name="原题文字_289_19"/>
          <p:cNvSpPr txBox="1"/>
          <p:nvPr/>
        </p:nvSpPr>
        <p:spPr>
          <a:xfrm>
            <a:off x="587146" y="1745494"/>
            <a:ext cx="3952232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阿伏加德罗常数的值。下列说法正确的是</a:t>
            </a:r>
          </a:p>
        </p:txBody>
      </p:sp>
      <p:sp>
        <p:nvSpPr>
          <p:cNvPr id="9" name="原题文字_289_20"/>
          <p:cNvSpPr txBox="1"/>
          <p:nvPr/>
        </p:nvSpPr>
        <p:spPr>
          <a:xfrm>
            <a:off x="855138" y="2166625"/>
            <a:ext cx="904781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硫黄或</a:t>
            </a:r>
          </a:p>
        </p:txBody>
      </p:sp>
      <p:sp>
        <p:nvSpPr>
          <p:cNvPr id="10" name="原题文字_289_21"/>
          <p:cNvSpPr txBox="1"/>
          <p:nvPr/>
        </p:nvSpPr>
        <p:spPr>
          <a:xfrm>
            <a:off x="2562629" y="2266164"/>
            <a:ext cx="598504" cy="5076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3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</a:t>
            </a:r>
          </a:p>
        </p:txBody>
      </p:sp>
      <p:sp>
        <p:nvSpPr>
          <p:cNvPr id="11" name="原题文字_289_22"/>
          <p:cNvSpPr txBox="1"/>
          <p:nvPr/>
        </p:nvSpPr>
        <p:spPr>
          <a:xfrm>
            <a:off x="3611626" y="2189595"/>
            <a:ext cx="1042605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6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400~500℃</a:t>
            </a:r>
          </a:p>
        </p:txBody>
      </p:sp>
      <p:sp>
        <p:nvSpPr>
          <p:cNvPr id="12" name="原题文字_289_23"/>
          <p:cNvSpPr txBox="1"/>
          <p:nvPr/>
        </p:nvSpPr>
        <p:spPr>
          <a:xfrm>
            <a:off x="5296147" y="2250851"/>
            <a:ext cx="613818" cy="537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SO₃</a:t>
            </a:r>
          </a:p>
        </p:txBody>
      </p:sp>
      <p:sp>
        <p:nvSpPr>
          <p:cNvPr id="13" name="原题文字_289_24"/>
          <p:cNvSpPr txBox="1"/>
          <p:nvPr/>
        </p:nvSpPr>
        <p:spPr>
          <a:xfrm>
            <a:off x="6008240" y="2143654"/>
            <a:ext cx="1165116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98%浓硫酸</a:t>
            </a:r>
          </a:p>
        </p:txBody>
      </p:sp>
      <p:sp>
        <p:nvSpPr>
          <p:cNvPr id="14" name="原题文字_289_25"/>
          <p:cNvSpPr txBox="1"/>
          <p:nvPr/>
        </p:nvSpPr>
        <p:spPr>
          <a:xfrm>
            <a:off x="7363514" y="2250851"/>
            <a:ext cx="1264656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H₂SO₄·SO₃</a:t>
            </a:r>
          </a:p>
        </p:txBody>
      </p:sp>
      <p:sp>
        <p:nvSpPr>
          <p:cNvPr id="15" name="原题文字_289_26"/>
          <p:cNvSpPr txBox="1"/>
          <p:nvPr/>
        </p:nvSpPr>
        <p:spPr>
          <a:xfrm>
            <a:off x="862794" y="2426960"/>
            <a:ext cx="897124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黄铁矿</a:t>
            </a:r>
          </a:p>
        </p:txBody>
      </p:sp>
      <p:sp>
        <p:nvSpPr>
          <p:cNvPr id="16" name="原题文字_289_27"/>
          <p:cNvSpPr txBox="1"/>
          <p:nvPr/>
        </p:nvSpPr>
        <p:spPr>
          <a:xfrm>
            <a:off x="3489116" y="2442273"/>
            <a:ext cx="1341225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▲ V₂O₅(催化剂)</a:t>
            </a:r>
          </a:p>
        </p:txBody>
      </p:sp>
      <p:sp>
        <p:nvSpPr>
          <p:cNvPr id="17" name="原题文字_289_28"/>
          <p:cNvSpPr txBox="1"/>
          <p:nvPr/>
        </p:nvSpPr>
        <p:spPr>
          <a:xfrm>
            <a:off x="6306860" y="2488215"/>
            <a:ext cx="606161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吸收</a:t>
            </a:r>
          </a:p>
        </p:txBody>
      </p:sp>
      <p:sp>
        <p:nvSpPr>
          <p:cNvPr id="18" name="原题文字_289_29"/>
          <p:cNvSpPr txBox="1"/>
          <p:nvPr/>
        </p:nvSpPr>
        <p:spPr>
          <a:xfrm>
            <a:off x="1008276" y="3920058"/>
            <a:ext cx="690387" cy="477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空气</a:t>
            </a:r>
          </a:p>
        </p:txBody>
      </p:sp>
      <p:sp>
        <p:nvSpPr>
          <p:cNvPr id="19" name="原题文字_289_30"/>
          <p:cNvSpPr txBox="1"/>
          <p:nvPr/>
        </p:nvSpPr>
        <p:spPr>
          <a:xfrm>
            <a:off x="564175" y="4356502"/>
            <a:ext cx="4419304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9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高温焙烧1molFeS₂时转移的电子数为11NA</a:t>
            </a:r>
          </a:p>
        </p:txBody>
      </p:sp>
      <p:sp>
        <p:nvSpPr>
          <p:cNvPr id="20" name="文字_B. 100g98%硫酸所含氧原子数目为4NA"/>
          <p:cNvSpPr txBox="1"/>
          <p:nvPr/>
        </p:nvSpPr>
        <p:spPr>
          <a:xfrm>
            <a:off x="502920" y="4772959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100g98%硫酸所含氧原子数目为4NA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120431"/>
            <a:ext cx="11064240" cy="803975"/>
          </a:xfrm>
          <a:prstGeom prst="rect">
            <a:avLst/>
          </a:prstGeom>
        </p:spPr>
      </p:pic>
      <p:sp>
        <p:nvSpPr>
          <p:cNvPr id="22" name="原题文字_289_32"/>
          <p:cNvSpPr txBox="1"/>
          <p:nvPr/>
        </p:nvSpPr>
        <p:spPr>
          <a:xfrm>
            <a:off x="556518" y="5336080"/>
            <a:ext cx="1325911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32 g硫黄(</a:t>
            </a:r>
          </a:p>
        </p:txBody>
      </p:sp>
      <p:sp>
        <p:nvSpPr>
          <p:cNvPr id="23" name="原题文字_289_33"/>
          <p:cNvSpPr txBox="1"/>
          <p:nvPr/>
        </p:nvSpPr>
        <p:spPr>
          <a:xfrm>
            <a:off x="2976103" y="5336080"/>
            <a:ext cx="2811352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)中含有的S — S键个数为2NA</a:t>
            </a:r>
          </a:p>
        </p:txBody>
      </p:sp>
      <p:sp>
        <p:nvSpPr>
          <p:cNvPr id="24" name="文字_D. 用水吸收SO₃效率更高"/>
          <p:cNvSpPr txBox="1"/>
          <p:nvPr/>
        </p:nvSpPr>
        <p:spPr>
          <a:xfrm>
            <a:off x="502920" y="5997559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用水吸收SO₃效率更高</a:t>
            </a:r>
          </a:p>
        </p:txBody>
      </p:sp>
      <p:sp>
        <p:nvSpPr>
          <p:cNvPr id="25" name="文字_单选题  ·  13-02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13-022</a:t>
            </a:r>
          </a:p>
        </p:txBody>
      </p:sp>
      <p:sp>
        <p:nvSpPr>
          <p:cNvPr id="26" name="文字_3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例题7</a:t>
            </a:r>
          </a:p>
        </p:txBody>
      </p:sp>
      <p:sp>
        <p:nvSpPr>
          <p:cNvPr id="5" name="文字_P289–29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P289–290</a:t>
            </a:r>
          </a:p>
        </p:txBody>
      </p:sp>
      <p:sp>
        <p:nvSpPr>
          <p:cNvPr id="6" name="文字_同学们设计了如图所示实验装置，探究不同价态硫元素"/>
          <p:cNvSpPr txBox="1"/>
          <p:nvPr/>
        </p:nvSpPr>
        <p:spPr>
          <a:xfrm>
            <a:off x="502920" y="1078992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同学们设计了如图所示实验装置，探究不同价态硫元素之间的转化。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35024"/>
            <a:ext cx="8859344" cy="2599558"/>
          </a:xfrm>
          <a:prstGeom prst="rect">
            <a:avLst/>
          </a:prstGeom>
        </p:spPr>
      </p:pic>
      <p:sp>
        <p:nvSpPr>
          <p:cNvPr id="8" name="原题文字_289_39"/>
          <p:cNvSpPr txBox="1"/>
          <p:nvPr/>
        </p:nvSpPr>
        <p:spPr>
          <a:xfrm>
            <a:off x="1496147" y="1500292"/>
            <a:ext cx="643443" cy="294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</a:t>
            </a:r>
          </a:p>
        </p:txBody>
      </p:sp>
      <p:sp>
        <p:nvSpPr>
          <p:cNvPr id="9" name="原题文字_289_40"/>
          <p:cNvSpPr txBox="1"/>
          <p:nvPr/>
        </p:nvSpPr>
        <p:spPr>
          <a:xfrm>
            <a:off x="1655554" y="2493519"/>
            <a:ext cx="269450" cy="286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铜</a:t>
            </a:r>
          </a:p>
        </p:txBody>
      </p:sp>
      <p:sp>
        <p:nvSpPr>
          <p:cNvPr id="10" name="原题文字_289_41"/>
          <p:cNvSpPr txBox="1"/>
          <p:nvPr/>
        </p:nvSpPr>
        <p:spPr>
          <a:xfrm>
            <a:off x="4892740" y="2603878"/>
            <a:ext cx="606657" cy="326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8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仪器m</a:t>
            </a:r>
          </a:p>
        </p:txBody>
      </p:sp>
      <p:sp>
        <p:nvSpPr>
          <p:cNvPr id="11" name="原题文字_289_42"/>
          <p:cNvSpPr txBox="1"/>
          <p:nvPr/>
        </p:nvSpPr>
        <p:spPr>
          <a:xfrm>
            <a:off x="4071182" y="3045312"/>
            <a:ext cx="306236" cy="701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稀硝酸</a:t>
            </a:r>
          </a:p>
        </p:txBody>
      </p:sp>
      <p:sp>
        <p:nvSpPr>
          <p:cNvPr id="12" name="原题文字_289_43"/>
          <p:cNvSpPr txBox="1"/>
          <p:nvPr/>
        </p:nvSpPr>
        <p:spPr>
          <a:xfrm>
            <a:off x="2532292" y="3155671"/>
            <a:ext cx="441119" cy="278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品红</a:t>
            </a:r>
          </a:p>
        </p:txBody>
      </p:sp>
      <p:sp>
        <p:nvSpPr>
          <p:cNvPr id="13" name="原题文字_289_44"/>
          <p:cNvSpPr txBox="1"/>
          <p:nvPr/>
        </p:nvSpPr>
        <p:spPr>
          <a:xfrm>
            <a:off x="3212837" y="3155671"/>
            <a:ext cx="625050" cy="286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9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硫化氢</a:t>
            </a:r>
          </a:p>
        </p:txBody>
      </p:sp>
      <p:sp>
        <p:nvSpPr>
          <p:cNvPr id="14" name="原题文字_289_45"/>
          <p:cNvSpPr txBox="1"/>
          <p:nvPr/>
        </p:nvSpPr>
        <p:spPr>
          <a:xfrm>
            <a:off x="4990837" y="3229243"/>
            <a:ext cx="582132" cy="2949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试剂X</a:t>
            </a:r>
          </a:p>
        </p:txBody>
      </p:sp>
      <p:sp>
        <p:nvSpPr>
          <p:cNvPr id="15" name="原题文字_289_46"/>
          <p:cNvSpPr txBox="1"/>
          <p:nvPr/>
        </p:nvSpPr>
        <p:spPr>
          <a:xfrm>
            <a:off x="2507768" y="3345733"/>
            <a:ext cx="465643" cy="3028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6" name="原题文字_289_47"/>
          <p:cNvSpPr txBox="1"/>
          <p:nvPr/>
        </p:nvSpPr>
        <p:spPr>
          <a:xfrm>
            <a:off x="3280278" y="3345733"/>
            <a:ext cx="484036" cy="3108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7" name="原题文字_289_48"/>
          <p:cNvSpPr txBox="1"/>
          <p:nvPr/>
        </p:nvSpPr>
        <p:spPr>
          <a:xfrm>
            <a:off x="1263168" y="3689071"/>
            <a:ext cx="244926" cy="263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7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8" name="原题文字_289_49"/>
          <p:cNvSpPr txBox="1"/>
          <p:nvPr/>
        </p:nvSpPr>
        <p:spPr>
          <a:xfrm>
            <a:off x="2280920" y="3695202"/>
            <a:ext cx="208139" cy="2391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9" name="原题文字_289_50"/>
          <p:cNvSpPr txBox="1"/>
          <p:nvPr/>
        </p:nvSpPr>
        <p:spPr>
          <a:xfrm>
            <a:off x="3053430" y="3695202"/>
            <a:ext cx="208139" cy="231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2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20" name="原题文字_289_51"/>
          <p:cNvSpPr txBox="1"/>
          <p:nvPr/>
        </p:nvSpPr>
        <p:spPr>
          <a:xfrm>
            <a:off x="3764630" y="3695202"/>
            <a:ext cx="232664" cy="2550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3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21" name="原题文字_289_52"/>
          <p:cNvSpPr txBox="1"/>
          <p:nvPr/>
        </p:nvSpPr>
        <p:spPr>
          <a:xfrm>
            <a:off x="4586188" y="3682940"/>
            <a:ext cx="232664" cy="2789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E</a:t>
            </a:r>
          </a:p>
        </p:txBody>
      </p:sp>
      <p:sp>
        <p:nvSpPr>
          <p:cNvPr id="22" name="文字_请回答下列问题："/>
          <p:cNvSpPr txBox="1"/>
          <p:nvPr/>
        </p:nvSpPr>
        <p:spPr>
          <a:xfrm>
            <a:off x="502920" y="4007734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请回答下列问题：</a:t>
            </a:r>
          </a:p>
        </p:txBody>
      </p:sp>
      <p:sp>
        <p:nvSpPr>
          <p:cNvPr id="23" name="文字_(1) 下列有关硫酸的说法正确的是 ______"/>
          <p:cNvSpPr txBox="1"/>
          <p:nvPr/>
        </p:nvSpPr>
        <p:spPr>
          <a:xfrm>
            <a:off x="502920" y="426376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下列有关硫酸的说法正确的是 ______ (填标号)。</a:t>
            </a:r>
          </a:p>
        </p:txBody>
      </p:sp>
      <p:sp>
        <p:nvSpPr>
          <p:cNvPr id="24" name="文字_a. 属于电解质 b. 属于离子化合物c. 含有"/>
          <p:cNvSpPr txBox="1"/>
          <p:nvPr/>
        </p:nvSpPr>
        <p:spPr>
          <a:xfrm>
            <a:off x="502920" y="451979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属于电解质 b. 属于离子化合物c. 含有极性共价键 d. 酸性强于HClO₄</a:t>
            </a:r>
          </a:p>
        </p:txBody>
      </p:sp>
      <p:sp>
        <p:nvSpPr>
          <p:cNvPr id="25" name="文字_(2)装置A中铜与浓硫酸的反应，体现了浓硫酸的 "/>
          <p:cNvSpPr txBox="1"/>
          <p:nvPr/>
        </p:nvSpPr>
        <p:spPr>
          <a:xfrm>
            <a:off x="502920" y="4775830"/>
            <a:ext cx="11064240" cy="4676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(2)装置A中铜与浓硫酸的反应，体现了浓硫酸的 ______ (填化学性质)。若用6.4 g Cu与11 mL 18.4~mol · L−1硫酸溶液反应，生成SO₂的体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积(标准状况) ______ (填“大于”“小于”或“等于”)2.24L。</a:t>
            </a:r>
          </a:p>
        </p:txBody>
      </p:sp>
      <p:sp>
        <p:nvSpPr>
          <p:cNvPr id="26" name="文字_(3)装置B中的现象为"/>
          <p:cNvSpPr txBox="1"/>
          <p:nvPr/>
        </p:nvSpPr>
        <p:spPr>
          <a:xfrm>
            <a:off x="502920" y="5243444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(3)装置B中的现象为</a:t>
            </a:r>
          </a:p>
        </p:txBody>
      </p:sp>
      <p:sp>
        <p:nvSpPr>
          <p:cNvPr id="27" name="文字_(4)装置C中可观察到溶液变浑浊，原因是 ___"/>
          <p:cNvSpPr txBox="1"/>
          <p:nvPr/>
        </p:nvSpPr>
        <p:spPr>
          <a:xfrm>
            <a:off x="502920" y="5499476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(4)装置C中可观察到溶液变浑浊，原因是 ______ (用化学方程式表示)。</a:t>
            </a:r>
          </a:p>
        </p:txBody>
      </p:sp>
      <p:sp>
        <p:nvSpPr>
          <p:cNvPr id="28" name="文字_(5)SO₂进入装置D时，开始无明显现象，一段时"/>
          <p:cNvSpPr txBox="1"/>
          <p:nvPr/>
        </p:nvSpPr>
        <p:spPr>
          <a:xfrm>
            <a:off x="502920" y="575550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(5)SO₂进入装置D时，开始无明显现象，一段时间后可观察到试管上方出现红棕色气体，写出SO₂与稀硝酸反应的离子方程式：</a:t>
            </a:r>
          </a:p>
        </p:txBody>
      </p:sp>
      <p:sp>
        <p:nvSpPr>
          <p:cNvPr id="29" name="文字_(6)装置E的作用是吸收尾气中的污染气体。仪器m"/>
          <p:cNvSpPr txBox="1"/>
          <p:nvPr/>
        </p:nvSpPr>
        <p:spPr>
          <a:xfrm>
            <a:off x="502920" y="601154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(6)装置E的作用是吸收尾气中的污染气体。仪器m的名称为 ______ ，其作用是 ______ ；试剂X可以是 ______ (填试剂名称)。</a:t>
            </a:r>
          </a:p>
        </p:txBody>
      </p:sp>
      <p:sp>
        <p:nvSpPr>
          <p:cNvPr id="30" name="文字_解答题  ·  13-02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13-023</a:t>
            </a:r>
          </a:p>
        </p:txBody>
      </p:sp>
      <p:sp>
        <p:nvSpPr>
          <p:cNvPr id="31" name="文字_3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例题8</a:t>
            </a:r>
          </a:p>
        </p:txBody>
      </p:sp>
      <p:sp>
        <p:nvSpPr>
          <p:cNvPr id="5" name="文字_P29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P290</a:t>
            </a:r>
          </a:p>
        </p:txBody>
      </p:sp>
      <p:sp>
        <p:nvSpPr>
          <p:cNvPr id="6" name="文字_某课外活动小组的同学在实验室做锌与浓硫酸反应的实"/>
          <p:cNvSpPr txBox="1"/>
          <p:nvPr/>
        </p:nvSpPr>
        <p:spPr>
          <a:xfrm>
            <a:off x="502920" y="1078992"/>
            <a:ext cx="11064240" cy="848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某课外活动小组的同学在实验室做锌与浓硫酸反应的实验中，甲同学认为产生的气体是二氧化硫,而乙同学认为除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二氧化硫气体外,还可能产生氢气。为了验证哪位同学的判断正确,丙同学设计了图中的实验装置(锌与浓硫酸共热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时产生的气体为X,且该反应装置略去)。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7986"/>
            <a:ext cx="11064240" cy="2810087"/>
          </a:xfrm>
          <a:prstGeom prst="rect">
            <a:avLst/>
          </a:prstGeom>
        </p:spPr>
      </p:pic>
      <p:sp>
        <p:nvSpPr>
          <p:cNvPr id="8" name="原题文字_290_25"/>
          <p:cNvSpPr txBox="1"/>
          <p:nvPr/>
        </p:nvSpPr>
        <p:spPr>
          <a:xfrm>
            <a:off x="6299203" y="1959870"/>
            <a:ext cx="53724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CuO</a:t>
            </a:r>
          </a:p>
        </p:txBody>
      </p:sp>
      <p:sp>
        <p:nvSpPr>
          <p:cNvPr id="9" name="原题文字_290_26"/>
          <p:cNvSpPr txBox="1"/>
          <p:nvPr/>
        </p:nvSpPr>
        <p:spPr>
          <a:xfrm>
            <a:off x="1551917" y="2220205"/>
            <a:ext cx="743986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气体X</a:t>
            </a:r>
          </a:p>
        </p:txBody>
      </p:sp>
      <p:sp>
        <p:nvSpPr>
          <p:cNvPr id="10" name="原题文字_290_27"/>
          <p:cNvSpPr txBox="1"/>
          <p:nvPr/>
        </p:nvSpPr>
        <p:spPr>
          <a:xfrm>
            <a:off x="8037322" y="2158950"/>
            <a:ext cx="253943" cy="248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11" name="原题文字_290_28"/>
          <p:cNvSpPr txBox="1"/>
          <p:nvPr/>
        </p:nvSpPr>
        <p:spPr>
          <a:xfrm>
            <a:off x="9323684" y="2158950"/>
            <a:ext cx="246286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E</a:t>
            </a:r>
          </a:p>
        </p:txBody>
      </p:sp>
      <p:sp>
        <p:nvSpPr>
          <p:cNvPr id="12" name="原题文字_290_29"/>
          <p:cNvSpPr txBox="1"/>
          <p:nvPr/>
        </p:nvSpPr>
        <p:spPr>
          <a:xfrm>
            <a:off x="8512051" y="2388657"/>
            <a:ext cx="1479049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13" name="原题文字_290_30"/>
          <p:cNvSpPr txBox="1"/>
          <p:nvPr/>
        </p:nvSpPr>
        <p:spPr>
          <a:xfrm>
            <a:off x="1437063" y="2725562"/>
            <a:ext cx="307542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音</a:t>
            </a:r>
          </a:p>
        </p:txBody>
      </p:sp>
      <p:sp>
        <p:nvSpPr>
          <p:cNvPr id="14" name="原题文字_290_31"/>
          <p:cNvSpPr txBox="1"/>
          <p:nvPr/>
        </p:nvSpPr>
        <p:spPr>
          <a:xfrm>
            <a:off x="556518" y="3345772"/>
            <a:ext cx="851183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7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</a:t>
            </a:r>
          </a:p>
        </p:txBody>
      </p:sp>
      <p:sp>
        <p:nvSpPr>
          <p:cNvPr id="15" name="原题文字_290_32"/>
          <p:cNvSpPr txBox="1"/>
          <p:nvPr/>
        </p:nvSpPr>
        <p:spPr>
          <a:xfrm>
            <a:off x="755598" y="3690333"/>
            <a:ext cx="659760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Zn粒</a:t>
            </a:r>
          </a:p>
        </p:txBody>
      </p:sp>
      <p:sp>
        <p:nvSpPr>
          <p:cNvPr id="16" name="原题文字_290_33"/>
          <p:cNvSpPr txBox="1"/>
          <p:nvPr/>
        </p:nvSpPr>
        <p:spPr>
          <a:xfrm>
            <a:off x="2348236" y="3874099"/>
            <a:ext cx="284571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7" name="原题文字_290_34"/>
          <p:cNvSpPr txBox="1"/>
          <p:nvPr/>
        </p:nvSpPr>
        <p:spPr>
          <a:xfrm>
            <a:off x="3144555" y="3843471"/>
            <a:ext cx="789927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KMnO</a:t>
            </a:r>
          </a:p>
        </p:txBody>
      </p:sp>
      <p:sp>
        <p:nvSpPr>
          <p:cNvPr id="18" name="原题文字_290_35"/>
          <p:cNvSpPr txBox="1"/>
          <p:nvPr/>
        </p:nvSpPr>
        <p:spPr>
          <a:xfrm>
            <a:off x="4415602" y="3874099"/>
            <a:ext cx="276914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9" name="原题文字_290_36"/>
          <p:cNvSpPr txBox="1"/>
          <p:nvPr/>
        </p:nvSpPr>
        <p:spPr>
          <a:xfrm>
            <a:off x="3221124" y="4119120"/>
            <a:ext cx="613818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20" name="原题文字_290_37"/>
          <p:cNvSpPr txBox="1"/>
          <p:nvPr/>
        </p:nvSpPr>
        <p:spPr>
          <a:xfrm>
            <a:off x="587146" y="4433053"/>
            <a:ext cx="1647502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试回答下列问题:</a:t>
            </a:r>
          </a:p>
        </p:txBody>
      </p:sp>
      <p:sp>
        <p:nvSpPr>
          <p:cNvPr id="21" name="文字_(1)上述反应中生成二氧化硫的化学方程式为"/>
          <p:cNvSpPr txBox="1"/>
          <p:nvPr/>
        </p:nvSpPr>
        <p:spPr>
          <a:xfrm>
            <a:off x="502920" y="4811226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(1)上述反应中生成二氧化硫的化学方程式为</a:t>
            </a:r>
          </a:p>
        </p:txBody>
      </p:sp>
      <p:sp>
        <p:nvSpPr>
          <p:cNvPr id="22" name="文字_(2) 乙同学认为还可能产生氢气的理由是"/>
          <p:cNvSpPr txBox="1"/>
          <p:nvPr/>
        </p:nvSpPr>
        <p:spPr>
          <a:xfrm>
            <a:off x="502920" y="5131266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乙同学认为还可能产生氢气的理由是</a:t>
            </a:r>
          </a:p>
        </p:txBody>
      </p:sp>
      <p:sp>
        <p:nvSpPr>
          <p:cNvPr id="23" name="文字_(3) A中加入的试剂可能是 ______ ,作"/>
          <p:cNvSpPr txBox="1"/>
          <p:nvPr/>
        </p:nvSpPr>
        <p:spPr>
          <a:xfrm>
            <a:off x="502920" y="5451306"/>
            <a:ext cx="11064240" cy="584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A中加入的试剂可能是 ______ ,作用是 ______ ;B中加入的试剂可能是 ______ ,作用是 ______ ;E中加入的试剂可能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是 ,作用是</a:t>
            </a:r>
          </a:p>
        </p:txBody>
      </p:sp>
      <p:sp>
        <p:nvSpPr>
          <p:cNvPr id="24" name="文字_(4) 可以证明气体X中含有氢气的实验现象：C中"/>
          <p:cNvSpPr txBox="1"/>
          <p:nvPr/>
        </p:nvSpPr>
        <p:spPr>
          <a:xfrm>
            <a:off x="502920" y="6035823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可以证明气体X中含有氢气的实验现象：C中 ______ ,D中</a:t>
            </a:r>
          </a:p>
        </p:txBody>
      </p:sp>
      <p:sp>
        <p:nvSpPr>
          <p:cNvPr id="25" name="文字_解答题  ·  13-02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13-024</a:t>
            </a:r>
          </a:p>
        </p:txBody>
      </p:sp>
      <p:sp>
        <p:nvSpPr>
          <p:cNvPr id="26" name="文字_3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变式1</a:t>
            </a:r>
          </a:p>
        </p:txBody>
      </p:sp>
      <p:sp>
        <p:nvSpPr>
          <p:cNvPr id="5" name="文字_P29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P290</a:t>
            </a:r>
          </a:p>
        </p:txBody>
      </p:sp>
      <p:sp>
        <p:nvSpPr>
          <p:cNvPr id="6" name="文字_“浓硫酸与蔗糖反应”实验中蔗糖变黑主要体现浓硫酸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“浓硫酸与蔗糖反应”实验中蔗糖变黑主要体现浓硫酸具有的性质为</a:t>
            </a:r>
          </a:p>
        </p:txBody>
      </p:sp>
      <p:sp>
        <p:nvSpPr>
          <p:cNvPr id="7" name="文字_A. 吸水性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吸水性</a:t>
            </a:r>
          </a:p>
        </p:txBody>
      </p:sp>
      <p:sp>
        <p:nvSpPr>
          <p:cNvPr id="8" name="文字_B. 脱水性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脱水性</a:t>
            </a:r>
          </a:p>
        </p:txBody>
      </p:sp>
      <p:sp>
        <p:nvSpPr>
          <p:cNvPr id="9" name="文字_C. 强氧化性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强氧化性</a:t>
            </a:r>
          </a:p>
        </p:txBody>
      </p:sp>
      <p:sp>
        <p:nvSpPr>
          <p:cNvPr id="10" name="文字_D. 难挥发性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难挥发性</a:t>
            </a:r>
          </a:p>
        </p:txBody>
      </p:sp>
      <p:sp>
        <p:nvSpPr>
          <p:cNvPr id="11" name="文字_单选题  ·  13-02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13-025</a:t>
            </a:r>
          </a:p>
        </p:txBody>
      </p:sp>
      <p:sp>
        <p:nvSpPr>
          <p:cNvPr id="12" name="文字_4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变式2</a:t>
            </a:r>
          </a:p>
        </p:txBody>
      </p:sp>
      <p:sp>
        <p:nvSpPr>
          <p:cNvPr id="5" name="文字_P29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P290</a:t>
            </a:r>
          </a:p>
        </p:txBody>
      </p:sp>
      <p:sp>
        <p:nvSpPr>
          <p:cNvPr id="6" name="文字_下列有关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下列有关说法正确的是</a:t>
            </a:r>
          </a:p>
        </p:txBody>
      </p:sp>
      <p:sp>
        <p:nvSpPr>
          <p:cNvPr id="7" name="文字_A. 常温下，浓H₂SO₄与铁、铝不反应，所以可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常温下，浓H₂SO₄与铁、铝不反应，所以可用铁、铝质容器盛放浓H₂SO₄</a:t>
            </a:r>
          </a:p>
        </p:txBody>
      </p:sp>
      <p:sp>
        <p:nvSpPr>
          <p:cNvPr id="8" name="文字_B. 白纸上滴加浓硫酸后变黑体现了浓硫酸的吸水性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白纸上滴加浓硫酸后变黑体现了浓硫酸的吸水性</a:t>
            </a:r>
          </a:p>
        </p:txBody>
      </p:sp>
      <p:sp>
        <p:nvSpPr>
          <p:cNvPr id="9" name="文字_C. 浓硫酸主要以H₂SO₄分子存在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浓硫酸主要以H₂SO₄分子存在</a:t>
            </a:r>
          </a:p>
        </p:txBody>
      </p:sp>
      <p:sp>
        <p:nvSpPr>
          <p:cNvPr id="10" name="文字_D. 稀硫酸和浓硫酸性质完全相同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稀硫酸和浓硫酸性质完全相同</a:t>
            </a:r>
          </a:p>
        </p:txBody>
      </p:sp>
      <p:sp>
        <p:nvSpPr>
          <p:cNvPr id="11" name="文字_单选题  ·  13-02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13-026</a:t>
            </a:r>
          </a:p>
        </p:txBody>
      </p:sp>
      <p:sp>
        <p:nvSpPr>
          <p:cNvPr id="12" name="文字_4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变式3</a:t>
            </a:r>
          </a:p>
        </p:txBody>
      </p:sp>
      <p:sp>
        <p:nvSpPr>
          <p:cNvPr id="5" name="文字_P29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P291</a:t>
            </a:r>
          </a:p>
        </p:txBody>
      </p:sp>
      <p:sp>
        <p:nvSpPr>
          <p:cNvPr id="6" name="文字_硫酸是一种重要的酸，下列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硫酸是一种重要的酸，下列说法不正确的是</a:t>
            </a:r>
          </a:p>
        </p:txBody>
      </p:sp>
      <p:sp>
        <p:nvSpPr>
          <p:cNvPr id="7" name="文字_A. 浓硫酸是一种粘稠的液体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浓硫酸是一种粘稠的液体</a:t>
            </a:r>
          </a:p>
        </p:txBody>
      </p:sp>
      <p:sp>
        <p:nvSpPr>
          <p:cNvPr id="8" name="文字_B. 稀硫酸没有氧化性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稀硫酸没有氧化性</a:t>
            </a:r>
          </a:p>
        </p:txBody>
      </p:sp>
      <p:sp>
        <p:nvSpPr>
          <p:cNvPr id="9" name="文字_C. 可用浓硫酸与固体NaCl加热制取HCl气体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可用浓硫酸与固体NaCl加热制取HCl气体</a:t>
            </a:r>
          </a:p>
        </p:txBody>
      </p:sp>
      <p:sp>
        <p:nvSpPr>
          <p:cNvPr id="10" name="文字_D. 三氧化硫与水反应生成硫酸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三氧化硫与水反应生成硫酸</a:t>
            </a:r>
          </a:p>
        </p:txBody>
      </p:sp>
      <p:sp>
        <p:nvSpPr>
          <p:cNvPr id="11" name="文字_单选题  ·  13-02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13-027</a:t>
            </a:r>
          </a:p>
        </p:txBody>
      </p:sp>
      <p:sp>
        <p:nvSpPr>
          <p:cNvPr id="12" name="文字_4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变式4</a:t>
            </a:r>
          </a:p>
        </p:txBody>
      </p:sp>
      <p:sp>
        <p:nvSpPr>
          <p:cNvPr id="5" name="文字_P29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P291</a:t>
            </a:r>
          </a:p>
        </p:txBody>
      </p:sp>
      <p:sp>
        <p:nvSpPr>
          <p:cNvPr id="6" name="文字_以黄铁矿为原料来生产硫酸的工艺流程如图。下列说法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以黄铁矿为原料来生产硫酸的工艺流程如图。下列说法错误的是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1814688"/>
          </a:xfrm>
          <a:prstGeom prst="rect">
            <a:avLst/>
          </a:prstGeom>
        </p:spPr>
      </p:pic>
      <p:sp>
        <p:nvSpPr>
          <p:cNvPr id="8" name="原题文字_291_12"/>
          <p:cNvSpPr txBox="1"/>
          <p:nvPr/>
        </p:nvSpPr>
        <p:spPr>
          <a:xfrm>
            <a:off x="1682084" y="1549787"/>
            <a:ext cx="1172773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粉碎、煅烧</a:t>
            </a:r>
          </a:p>
        </p:txBody>
      </p:sp>
      <p:sp>
        <p:nvSpPr>
          <p:cNvPr id="9" name="原题文字_291_13"/>
          <p:cNvSpPr txBox="1"/>
          <p:nvPr/>
        </p:nvSpPr>
        <p:spPr>
          <a:xfrm>
            <a:off x="717313" y="1771838"/>
            <a:ext cx="805241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黄铁矿</a:t>
            </a:r>
          </a:p>
        </p:txBody>
      </p:sp>
      <p:sp>
        <p:nvSpPr>
          <p:cNvPr id="10" name="原题文字_291_14"/>
          <p:cNvSpPr txBox="1"/>
          <p:nvPr/>
        </p:nvSpPr>
        <p:spPr>
          <a:xfrm>
            <a:off x="3098613" y="2016859"/>
            <a:ext cx="1096204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400~500℃</a:t>
            </a:r>
          </a:p>
        </p:txBody>
      </p:sp>
      <p:sp>
        <p:nvSpPr>
          <p:cNvPr id="11" name="原题文字_291_15"/>
          <p:cNvSpPr txBox="1"/>
          <p:nvPr/>
        </p:nvSpPr>
        <p:spPr>
          <a:xfrm>
            <a:off x="5035812" y="2024516"/>
            <a:ext cx="912438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4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98.3%的</a:t>
            </a:r>
          </a:p>
        </p:txBody>
      </p:sp>
      <p:sp>
        <p:nvSpPr>
          <p:cNvPr id="12" name="原题文字_291_16"/>
          <p:cNvSpPr txBox="1"/>
          <p:nvPr/>
        </p:nvSpPr>
        <p:spPr>
          <a:xfrm>
            <a:off x="2317608" y="2162340"/>
            <a:ext cx="506621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</a:t>
            </a:r>
          </a:p>
        </p:txBody>
      </p:sp>
      <p:sp>
        <p:nvSpPr>
          <p:cNvPr id="13" name="原题文字_291_17"/>
          <p:cNvSpPr txBox="1"/>
          <p:nvPr/>
        </p:nvSpPr>
        <p:spPr>
          <a:xfrm>
            <a:off x="4446230" y="2154683"/>
            <a:ext cx="498964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SO₃</a:t>
            </a:r>
          </a:p>
        </p:txBody>
      </p:sp>
      <p:sp>
        <p:nvSpPr>
          <p:cNvPr id="14" name="原题文字_291_18"/>
          <p:cNvSpPr txBox="1"/>
          <p:nvPr/>
        </p:nvSpPr>
        <p:spPr>
          <a:xfrm>
            <a:off x="6276232" y="2139370"/>
            <a:ext cx="728672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1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H₂SO₄</a:t>
            </a:r>
          </a:p>
        </p:txBody>
      </p:sp>
      <p:sp>
        <p:nvSpPr>
          <p:cNvPr id="15" name="原题文字_291_19"/>
          <p:cNvSpPr txBox="1"/>
          <p:nvPr/>
        </p:nvSpPr>
        <p:spPr>
          <a:xfrm>
            <a:off x="2960789" y="2315479"/>
            <a:ext cx="1425451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8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↑V₂O₅(催化剂)</a:t>
            </a:r>
          </a:p>
        </p:txBody>
      </p:sp>
      <p:sp>
        <p:nvSpPr>
          <p:cNvPr id="16" name="原题文字_291_20"/>
          <p:cNvSpPr txBox="1"/>
          <p:nvPr/>
        </p:nvSpPr>
        <p:spPr>
          <a:xfrm>
            <a:off x="5058783" y="2284851"/>
            <a:ext cx="120340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浓硫酸吸收</a:t>
            </a:r>
          </a:p>
        </p:txBody>
      </p:sp>
      <p:sp>
        <p:nvSpPr>
          <p:cNvPr id="17" name="原题文字_291_21"/>
          <p:cNvSpPr txBox="1"/>
          <p:nvPr/>
        </p:nvSpPr>
        <p:spPr>
          <a:xfrm>
            <a:off x="740284" y="2614098"/>
            <a:ext cx="583191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空气</a:t>
            </a:r>
          </a:p>
        </p:txBody>
      </p:sp>
      <p:sp>
        <p:nvSpPr>
          <p:cNvPr id="18" name="原题文字_291_22"/>
          <p:cNvSpPr txBox="1"/>
          <p:nvPr/>
        </p:nvSpPr>
        <p:spPr>
          <a:xfrm>
            <a:off x="587146" y="3027572"/>
            <a:ext cx="7290647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将黄铁矿粉碎的目的是增大接触面积，加快反应速率，提高原料的转化率</a:t>
            </a:r>
          </a:p>
        </p:txBody>
      </p:sp>
      <p:sp>
        <p:nvSpPr>
          <p:cNvPr id="19" name="文字_B. 煅烧黄铁矿发生的反应为：4FeS₂ + 1"/>
          <p:cNvSpPr txBox="1"/>
          <p:nvPr/>
        </p:nvSpPr>
        <p:spPr>
          <a:xfrm>
            <a:off x="502920" y="340574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煅烧黄铁矿发生的反应为：4FeS₂ + 11O₂高温2Fe₂O₃ + 8SO₂, FeS₂中S的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化合价为-1价</a:t>
            </a:r>
          </a:p>
        </p:txBody>
      </p:sp>
      <p:sp>
        <p:nvSpPr>
          <p:cNvPr id="20" name="文字_C. SO₂氧化成SO₃的反应中SO₂能全部转化"/>
          <p:cNvSpPr txBox="1"/>
          <p:nvPr/>
        </p:nvSpPr>
        <p:spPr>
          <a:xfrm>
            <a:off x="502920" y="420736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SO₂氧化成SO₃的反应中SO₂能全部转化为SO₃</a:t>
            </a:r>
          </a:p>
        </p:txBody>
      </p:sp>
      <p:sp>
        <p:nvSpPr>
          <p:cNvPr id="21" name="文字_D. 用98.3%的浓硫酸吸收三氧化硫可避免形成"/>
          <p:cNvSpPr txBox="1"/>
          <p:nvPr/>
        </p:nvSpPr>
        <p:spPr>
          <a:xfrm>
            <a:off x="502920" y="464628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用98.3%的浓硫酸吸收三氧化硫可避免形成酸雾</a:t>
            </a:r>
          </a:p>
        </p:txBody>
      </p:sp>
      <p:sp>
        <p:nvSpPr>
          <p:cNvPr id="22" name="文字_单选题  ·  13-02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13-028</a:t>
            </a:r>
          </a:p>
        </p:txBody>
      </p:sp>
      <p:sp>
        <p:nvSpPr>
          <p:cNvPr id="23" name="文字_4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变式5</a:t>
            </a:r>
          </a:p>
        </p:txBody>
      </p:sp>
      <p:sp>
        <p:nvSpPr>
          <p:cNvPr id="5" name="文字_P29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P292</a:t>
            </a:r>
          </a:p>
        </p:txBody>
      </p:sp>
      <p:sp>
        <p:nvSpPr>
          <p:cNvPr id="6" name="文字_以硫铁矿(主要成分为FeS₂，还有少量SiO₂等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以硫铁矿(主要成分为FeS₂，还有少量SiO₂等杂质)为原料制备绿矾晶体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(FeSO₄·7H₂O)的工艺流程如图所示，下列说法错误的是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807031"/>
          </a:xfrm>
          <a:prstGeom prst="rect">
            <a:avLst/>
          </a:prstGeom>
        </p:spPr>
      </p:pic>
      <p:sp>
        <p:nvSpPr>
          <p:cNvPr id="8" name="原题文字_292_5"/>
          <p:cNvSpPr txBox="1"/>
          <p:nvPr/>
        </p:nvSpPr>
        <p:spPr>
          <a:xfrm>
            <a:off x="1728026" y="1943127"/>
            <a:ext cx="50662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空气</a:t>
            </a:r>
          </a:p>
        </p:txBody>
      </p:sp>
      <p:sp>
        <p:nvSpPr>
          <p:cNvPr id="9" name="原题文字_292_6"/>
          <p:cNvSpPr txBox="1"/>
          <p:nvPr/>
        </p:nvSpPr>
        <p:spPr>
          <a:xfrm>
            <a:off x="2754052" y="1966098"/>
            <a:ext cx="820555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20%硫酸</a:t>
            </a:r>
          </a:p>
        </p:txBody>
      </p:sp>
      <p:sp>
        <p:nvSpPr>
          <p:cNvPr id="10" name="原题文字_292_7"/>
          <p:cNvSpPr txBox="1"/>
          <p:nvPr/>
        </p:nvSpPr>
        <p:spPr>
          <a:xfrm>
            <a:off x="5089411" y="1912499"/>
            <a:ext cx="644446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试剂Y</a:t>
            </a:r>
          </a:p>
        </p:txBody>
      </p:sp>
      <p:sp>
        <p:nvSpPr>
          <p:cNvPr id="11" name="原题文字_292_8"/>
          <p:cNvSpPr txBox="1"/>
          <p:nvPr/>
        </p:nvSpPr>
        <p:spPr>
          <a:xfrm>
            <a:off x="1850536" y="2211119"/>
            <a:ext cx="269257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V</a:t>
            </a:r>
          </a:p>
        </p:txBody>
      </p:sp>
      <p:sp>
        <p:nvSpPr>
          <p:cNvPr id="12" name="原题文字_292_9"/>
          <p:cNvSpPr txBox="1"/>
          <p:nvPr/>
        </p:nvSpPr>
        <p:spPr>
          <a:xfrm>
            <a:off x="5257863" y="2195805"/>
            <a:ext cx="28457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↓</a:t>
            </a:r>
          </a:p>
        </p:txBody>
      </p:sp>
      <p:sp>
        <p:nvSpPr>
          <p:cNvPr id="13" name="原题文字_292_10"/>
          <p:cNvSpPr txBox="1"/>
          <p:nvPr/>
        </p:nvSpPr>
        <p:spPr>
          <a:xfrm>
            <a:off x="594802" y="2517395"/>
            <a:ext cx="920095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硫铁矿</a:t>
            </a:r>
          </a:p>
        </p:txBody>
      </p:sp>
      <p:sp>
        <p:nvSpPr>
          <p:cNvPr id="14" name="原题文字_292_11"/>
          <p:cNvSpPr txBox="1"/>
          <p:nvPr/>
        </p:nvSpPr>
        <p:spPr>
          <a:xfrm>
            <a:off x="1728026" y="2486768"/>
            <a:ext cx="537249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焙烧</a:t>
            </a:r>
          </a:p>
        </p:txBody>
      </p:sp>
      <p:sp>
        <p:nvSpPr>
          <p:cNvPr id="15" name="原题文字_292_12"/>
          <p:cNvSpPr txBox="1"/>
          <p:nvPr/>
        </p:nvSpPr>
        <p:spPr>
          <a:xfrm>
            <a:off x="2930161" y="2509739"/>
            <a:ext cx="50662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酸溶</a:t>
            </a:r>
          </a:p>
        </p:txBody>
      </p:sp>
      <p:sp>
        <p:nvSpPr>
          <p:cNvPr id="16" name="原题文字_292_13"/>
          <p:cNvSpPr txBox="1"/>
          <p:nvPr/>
        </p:nvSpPr>
        <p:spPr>
          <a:xfrm>
            <a:off x="4002129" y="2471454"/>
            <a:ext cx="537249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过滤</a:t>
            </a:r>
          </a:p>
        </p:txBody>
      </p:sp>
      <p:sp>
        <p:nvSpPr>
          <p:cNvPr id="17" name="原题文字_292_14"/>
          <p:cNvSpPr txBox="1"/>
          <p:nvPr/>
        </p:nvSpPr>
        <p:spPr>
          <a:xfrm>
            <a:off x="5127695" y="2471454"/>
            <a:ext cx="544906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还原</a:t>
            </a:r>
          </a:p>
        </p:txBody>
      </p:sp>
      <p:sp>
        <p:nvSpPr>
          <p:cNvPr id="18" name="原题文字_292_15"/>
          <p:cNvSpPr txBox="1"/>
          <p:nvPr/>
        </p:nvSpPr>
        <p:spPr>
          <a:xfrm>
            <a:off x="6138408" y="2486768"/>
            <a:ext cx="1463736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… 粗产品</a:t>
            </a:r>
          </a:p>
        </p:txBody>
      </p:sp>
      <p:sp>
        <p:nvSpPr>
          <p:cNvPr id="19" name="原题文字_292_16"/>
          <p:cNvSpPr txBox="1"/>
          <p:nvPr/>
        </p:nvSpPr>
        <p:spPr>
          <a:xfrm>
            <a:off x="1758653" y="3091664"/>
            <a:ext cx="50662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尾气</a:t>
            </a:r>
          </a:p>
        </p:txBody>
      </p:sp>
      <p:sp>
        <p:nvSpPr>
          <p:cNvPr id="20" name="原题文字_292_17"/>
          <p:cNvSpPr txBox="1"/>
          <p:nvPr/>
        </p:nvSpPr>
        <p:spPr>
          <a:xfrm>
            <a:off x="3994472" y="3068693"/>
            <a:ext cx="644446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滤渣X</a:t>
            </a:r>
          </a:p>
        </p:txBody>
      </p:sp>
      <p:sp>
        <p:nvSpPr>
          <p:cNvPr id="21" name="原题文字_292_18"/>
          <p:cNvSpPr txBox="1"/>
          <p:nvPr/>
        </p:nvSpPr>
        <p:spPr>
          <a:xfrm>
            <a:off x="594802" y="3374970"/>
            <a:ext cx="271946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滤渣X的主要成分为SiO₂</a:t>
            </a:r>
          </a:p>
        </p:txBody>
      </p:sp>
      <p:sp>
        <p:nvSpPr>
          <p:cNvPr id="22" name="文字_B. “焙烧”硫铁矿的焙烧炉中，空气从矿石下方进"/>
          <p:cNvSpPr txBox="1"/>
          <p:nvPr/>
        </p:nvSpPr>
        <p:spPr>
          <a:xfrm>
            <a:off x="502920" y="376079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“焙烧”硫铁矿的焙烧炉中，空气从矿石下方进料口通入</a:t>
            </a:r>
          </a:p>
        </p:txBody>
      </p:sp>
      <p:sp>
        <p:nvSpPr>
          <p:cNvPr id="23" name="文字_C. 实验室模拟“过滤”中分离操作，所用的玻璃仪"/>
          <p:cNvSpPr txBox="1"/>
          <p:nvPr/>
        </p:nvSpPr>
        <p:spPr>
          <a:xfrm>
            <a:off x="502920" y="419971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实验室模拟“过滤”中分离操作，所用的玻璃仪器有(普通)漏斗、玻璃棒和烧杯</a:t>
            </a:r>
          </a:p>
        </p:txBody>
      </p:sp>
      <p:sp>
        <p:nvSpPr>
          <p:cNvPr id="24" name="文字_D. “还原”中试剂Y可能为Fe₂O₃"/>
          <p:cNvSpPr txBox="1"/>
          <p:nvPr/>
        </p:nvSpPr>
        <p:spPr>
          <a:xfrm>
            <a:off x="502920" y="463862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“还原”中试剂Y可能为Fe₂O₃</a:t>
            </a:r>
          </a:p>
        </p:txBody>
      </p:sp>
      <p:sp>
        <p:nvSpPr>
          <p:cNvPr id="25" name="文字_单选题  ·  13-02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13-029</a:t>
            </a:r>
          </a:p>
        </p:txBody>
      </p:sp>
      <p:sp>
        <p:nvSpPr>
          <p:cNvPr id="26" name="文字_4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变式6</a:t>
            </a:r>
          </a:p>
        </p:txBody>
      </p:sp>
      <p:sp>
        <p:nvSpPr>
          <p:cNvPr id="5" name="文字_P29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P292</a:t>
            </a:r>
          </a:p>
        </p:txBody>
      </p:sp>
      <p:sp>
        <p:nvSpPr>
          <p:cNvPr id="6" name="文字_浓硫酸与木炭在加热条件下可发生化学反应，为检验反"/>
          <p:cNvSpPr txBox="1"/>
          <p:nvPr/>
        </p:nvSpPr>
        <p:spPr>
          <a:xfrm>
            <a:off x="502920" y="1078992"/>
            <a:ext cx="5376672" cy="534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浓硫酸与木炭在加热条件下可发生化学反应，为检验反应的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产物，某同学设计了如下图所示的实验。请据此回答下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3408"/>
            <a:ext cx="5376672" cy="1804626"/>
          </a:xfrm>
          <a:prstGeom prst="rect">
            <a:avLst/>
          </a:prstGeom>
        </p:spPr>
      </p:pic>
      <p:sp>
        <p:nvSpPr>
          <p:cNvPr id="8" name="原题文字_292_26"/>
          <p:cNvSpPr txBox="1"/>
          <p:nvPr/>
        </p:nvSpPr>
        <p:spPr>
          <a:xfrm>
            <a:off x="528966" y="1625611"/>
            <a:ext cx="445556" cy="178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列问题。</a:t>
            </a:r>
          </a:p>
        </p:txBody>
      </p:sp>
      <p:sp>
        <p:nvSpPr>
          <p:cNvPr id="9" name="原题文字_292_27"/>
          <p:cNvSpPr txBox="1"/>
          <p:nvPr/>
        </p:nvSpPr>
        <p:spPr>
          <a:xfrm>
            <a:off x="875008" y="1759563"/>
            <a:ext cx="434393" cy="178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</a:t>
            </a:r>
          </a:p>
        </p:txBody>
      </p:sp>
      <p:sp>
        <p:nvSpPr>
          <p:cNvPr id="10" name="原题文字_292_28"/>
          <p:cNvSpPr txBox="1"/>
          <p:nvPr/>
        </p:nvSpPr>
        <p:spPr>
          <a:xfrm>
            <a:off x="648034" y="1811655"/>
            <a:ext cx="140444" cy="130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1" name="原题文字_292_29"/>
          <p:cNvSpPr txBox="1"/>
          <p:nvPr/>
        </p:nvSpPr>
        <p:spPr>
          <a:xfrm>
            <a:off x="1399652" y="1837701"/>
            <a:ext cx="590670" cy="16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2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无水硫酸铜</a:t>
            </a:r>
          </a:p>
        </p:txBody>
      </p:sp>
      <p:sp>
        <p:nvSpPr>
          <p:cNvPr id="12" name="原题文字_292_30"/>
          <p:cNvSpPr txBox="1"/>
          <p:nvPr/>
        </p:nvSpPr>
        <p:spPr>
          <a:xfrm>
            <a:off x="1310351" y="2120488"/>
            <a:ext cx="170211" cy="1451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0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3" name="原题文字_292_31"/>
          <p:cNvSpPr txBox="1"/>
          <p:nvPr/>
        </p:nvSpPr>
        <p:spPr>
          <a:xfrm>
            <a:off x="1648951" y="2206068"/>
            <a:ext cx="118118" cy="16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2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</a:t>
            </a:r>
          </a:p>
        </p:txBody>
      </p:sp>
      <p:sp>
        <p:nvSpPr>
          <p:cNvPr id="14" name="原题文字_292_32"/>
          <p:cNvSpPr txBox="1"/>
          <p:nvPr/>
        </p:nvSpPr>
        <p:spPr>
          <a:xfrm>
            <a:off x="1012680" y="2470251"/>
            <a:ext cx="386022" cy="178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木炭粉</a:t>
            </a:r>
          </a:p>
        </p:txBody>
      </p:sp>
      <p:sp>
        <p:nvSpPr>
          <p:cNvPr id="15" name="原题文字_292_33"/>
          <p:cNvSpPr txBox="1"/>
          <p:nvPr/>
        </p:nvSpPr>
        <p:spPr>
          <a:xfrm>
            <a:off x="1630346" y="2459088"/>
            <a:ext cx="199978" cy="1257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一</a:t>
            </a:r>
          </a:p>
        </p:txBody>
      </p:sp>
      <p:sp>
        <p:nvSpPr>
          <p:cNvPr id="16" name="原题文字_292_34"/>
          <p:cNvSpPr txBox="1"/>
          <p:nvPr/>
        </p:nvSpPr>
        <p:spPr>
          <a:xfrm>
            <a:off x="1994992" y="2459088"/>
            <a:ext cx="196257" cy="1257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一</a:t>
            </a:r>
          </a:p>
        </p:txBody>
      </p:sp>
      <p:sp>
        <p:nvSpPr>
          <p:cNvPr id="17" name="原题文字_292_35"/>
          <p:cNvSpPr txBox="1"/>
          <p:nvPr/>
        </p:nvSpPr>
        <p:spPr>
          <a:xfrm>
            <a:off x="2352197" y="2459088"/>
            <a:ext cx="199978" cy="1257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6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一</a:t>
            </a:r>
          </a:p>
        </p:txBody>
      </p:sp>
      <p:sp>
        <p:nvSpPr>
          <p:cNvPr id="18" name="原题文字_292_36"/>
          <p:cNvSpPr txBox="1"/>
          <p:nvPr/>
        </p:nvSpPr>
        <p:spPr>
          <a:xfrm>
            <a:off x="1589417" y="3032104"/>
            <a:ext cx="296721" cy="16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2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品红</a:t>
            </a:r>
          </a:p>
        </p:txBody>
      </p:sp>
      <p:sp>
        <p:nvSpPr>
          <p:cNvPr id="19" name="原题文字_292_37"/>
          <p:cNvSpPr txBox="1"/>
          <p:nvPr/>
        </p:nvSpPr>
        <p:spPr>
          <a:xfrm>
            <a:off x="1857320" y="3032104"/>
            <a:ext cx="784156" cy="16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2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酸性高锰 澄清</a:t>
            </a:r>
          </a:p>
        </p:txBody>
      </p:sp>
      <p:sp>
        <p:nvSpPr>
          <p:cNvPr id="20" name="原题文字_292_38"/>
          <p:cNvSpPr txBox="1"/>
          <p:nvPr/>
        </p:nvSpPr>
        <p:spPr>
          <a:xfrm>
            <a:off x="1589417" y="3158614"/>
            <a:ext cx="330209" cy="159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21" name="原题文字_292_39"/>
          <p:cNvSpPr txBox="1"/>
          <p:nvPr/>
        </p:nvSpPr>
        <p:spPr>
          <a:xfrm>
            <a:off x="1823832" y="3162335"/>
            <a:ext cx="854853" cy="149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酸钾溶液石灰水</a:t>
            </a:r>
          </a:p>
        </p:txBody>
      </p:sp>
      <p:sp>
        <p:nvSpPr>
          <p:cNvPr id="22" name="原题文字_292_40"/>
          <p:cNvSpPr txBox="1"/>
          <p:nvPr/>
        </p:nvSpPr>
        <p:spPr>
          <a:xfrm>
            <a:off x="1652672" y="3277682"/>
            <a:ext cx="170211" cy="1499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2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23" name="原题文字_292_41"/>
          <p:cNvSpPr txBox="1"/>
          <p:nvPr/>
        </p:nvSpPr>
        <p:spPr>
          <a:xfrm>
            <a:off x="2024760" y="3277682"/>
            <a:ext cx="166490" cy="1451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0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24" name="原题文字_292_42"/>
          <p:cNvSpPr txBox="1"/>
          <p:nvPr/>
        </p:nvSpPr>
        <p:spPr>
          <a:xfrm>
            <a:off x="2426615" y="3277682"/>
            <a:ext cx="173932" cy="1451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0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25" name="文字_(1)仪器a的名称是"/>
          <p:cNvSpPr txBox="1"/>
          <p:nvPr/>
        </p:nvSpPr>
        <p:spPr>
          <a:xfrm>
            <a:off x="502920" y="3491186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(1)仪器a的名称是</a:t>
            </a:r>
          </a:p>
        </p:txBody>
      </p:sp>
      <p:sp>
        <p:nvSpPr>
          <p:cNvPr id="26" name="文字_(2)装置A中出现 ______ 现象，证明气体"/>
          <p:cNvSpPr txBox="1"/>
          <p:nvPr/>
        </p:nvSpPr>
        <p:spPr>
          <a:xfrm>
            <a:off x="502920" y="3783794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(2)装置A中出现 ______ 现象，证明气体产物中有H₂O。</a:t>
            </a:r>
          </a:p>
        </p:txBody>
      </p:sp>
      <p:sp>
        <p:nvSpPr>
          <p:cNvPr id="27" name="文字_(3)为验证产物中是否含有SO₂，该同学思考如下"/>
          <p:cNvSpPr txBox="1"/>
          <p:nvPr/>
        </p:nvSpPr>
        <p:spPr>
          <a:xfrm>
            <a:off x="502920" y="4076402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(3)为验证产物中是否含有SO₂，该同学思考如下：</a:t>
            </a:r>
          </a:p>
        </p:txBody>
      </p:sp>
      <p:sp>
        <p:nvSpPr>
          <p:cNvPr id="28" name="文字_①B装置可证明产物中有SO₂生成，现象是"/>
          <p:cNvSpPr txBox="1"/>
          <p:nvPr/>
        </p:nvSpPr>
        <p:spPr>
          <a:xfrm>
            <a:off x="6263640" y="1078992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①B装置可证明产物中有SO₂生成，现象是</a:t>
            </a:r>
          </a:p>
        </p:txBody>
      </p:sp>
      <p:sp>
        <p:nvSpPr>
          <p:cNvPr id="29" name="文字_②该同学认为，如果去掉装置B也能实现产物SO₂的"/>
          <p:cNvSpPr txBox="1"/>
          <p:nvPr/>
        </p:nvSpPr>
        <p:spPr>
          <a:xfrm>
            <a:off x="6263640" y="1371600"/>
            <a:ext cx="5376672" cy="534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②该同学认为，如果去掉装置B也能实现产物SO₂的验证，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该同学依据的实验现象是</a:t>
            </a:r>
          </a:p>
        </p:txBody>
      </p:sp>
      <p:sp>
        <p:nvSpPr>
          <p:cNvPr id="30" name="文字_③在不影响实验检验结果的情况下，理论上以下试剂中"/>
          <p:cNvSpPr txBox="1"/>
          <p:nvPr/>
        </p:nvSpPr>
        <p:spPr>
          <a:xfrm>
            <a:off x="6263640" y="1906016"/>
            <a:ext cx="5376672" cy="534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③在不影响实验检验结果的情况下，理论上以下试剂中可以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用来代替装置B中的品红溶液的有 ______ (填序号)。</a:t>
            </a:r>
          </a:p>
        </p:txBody>
      </p:sp>
      <p:sp>
        <p:nvSpPr>
          <p:cNvPr id="31" name="文字_A. H₂O₂溶液"/>
          <p:cNvSpPr txBox="1"/>
          <p:nvPr/>
        </p:nvSpPr>
        <p:spPr>
          <a:xfrm>
            <a:off x="6263640" y="2440432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H₂O₂溶液</a:t>
            </a:r>
          </a:p>
        </p:txBody>
      </p:sp>
      <p:sp>
        <p:nvSpPr>
          <p:cNvPr id="32" name="文字_B. 饱和NaHCO₃溶液"/>
          <p:cNvSpPr txBox="1"/>
          <p:nvPr/>
        </p:nvSpPr>
        <p:spPr>
          <a:xfrm>
            <a:off x="6263640" y="2733039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饱和NaHCO₃溶液</a:t>
            </a:r>
          </a:p>
        </p:txBody>
      </p:sp>
      <p:sp>
        <p:nvSpPr>
          <p:cNvPr id="33" name="文字_C. 氯水"/>
          <p:cNvSpPr txBox="1"/>
          <p:nvPr/>
        </p:nvSpPr>
        <p:spPr>
          <a:xfrm>
            <a:off x="6263640" y="3025647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氯水</a:t>
            </a:r>
          </a:p>
        </p:txBody>
      </p:sp>
      <p:sp>
        <p:nvSpPr>
          <p:cNvPr id="34" name="文字_D. H₂S溶液"/>
          <p:cNvSpPr txBox="1"/>
          <p:nvPr/>
        </p:nvSpPr>
        <p:spPr>
          <a:xfrm>
            <a:off x="6263640" y="3318255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H₂S溶液</a:t>
            </a:r>
          </a:p>
        </p:txBody>
      </p:sp>
      <p:sp>
        <p:nvSpPr>
          <p:cNvPr id="35" name="文字_(4)为验证产物中是否含有CO₂，该同学思考如下"/>
          <p:cNvSpPr txBox="1"/>
          <p:nvPr/>
        </p:nvSpPr>
        <p:spPr>
          <a:xfrm>
            <a:off x="6263640" y="361086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(4)为验证产物中是否含有CO₂，该同学思考如下：</a:t>
            </a:r>
          </a:p>
        </p:txBody>
      </p:sp>
      <p:sp>
        <p:nvSpPr>
          <p:cNvPr id="36" name="文字_①C装置的作用是"/>
          <p:cNvSpPr txBox="1"/>
          <p:nvPr/>
        </p:nvSpPr>
        <p:spPr>
          <a:xfrm>
            <a:off x="6263640" y="3903471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①C装置的作用是</a:t>
            </a:r>
          </a:p>
        </p:txBody>
      </p:sp>
      <p:sp>
        <p:nvSpPr>
          <p:cNvPr id="37" name="文字_②C装置中发生反应的离子方程式是"/>
          <p:cNvSpPr txBox="1"/>
          <p:nvPr/>
        </p:nvSpPr>
        <p:spPr>
          <a:xfrm>
            <a:off x="6263640" y="4196080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②C装置中发生反应的离子方程式是</a:t>
            </a:r>
          </a:p>
        </p:txBody>
      </p:sp>
      <p:sp>
        <p:nvSpPr>
          <p:cNvPr id="38" name="文字_解答题  ·  13-03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13-030</a:t>
            </a:r>
          </a:p>
        </p:txBody>
      </p:sp>
      <p:sp>
        <p:nvSpPr>
          <p:cNvPr id="39" name="文字_4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变式7</a:t>
            </a:r>
          </a:p>
        </p:txBody>
      </p:sp>
      <p:sp>
        <p:nvSpPr>
          <p:cNvPr id="5" name="文字_P293–29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P293–294</a:t>
            </a:r>
          </a:p>
        </p:txBody>
      </p:sp>
      <p:sp>
        <p:nvSpPr>
          <p:cNvPr id="6" name="文字_I：实验室为探究铁与浓硫酸的反应，并验证SO₂的"/>
          <p:cNvSpPr txBox="1"/>
          <p:nvPr/>
        </p:nvSpPr>
        <p:spPr>
          <a:xfrm>
            <a:off x="502920" y="1078992"/>
            <a:ext cx="5376672" cy="534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I：实验室为探究铁与浓硫酸的反应，并验证SO₂的性质，设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计如图所示装置进行实验。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13408"/>
            <a:ext cx="5376672" cy="1287424"/>
          </a:xfrm>
          <a:prstGeom prst="rect">
            <a:avLst/>
          </a:prstGeom>
        </p:spPr>
      </p:pic>
      <p:sp>
        <p:nvSpPr>
          <p:cNvPr id="8" name="原题文字_293_4"/>
          <p:cNvSpPr txBox="1"/>
          <p:nvPr/>
        </p:nvSpPr>
        <p:spPr>
          <a:xfrm>
            <a:off x="1035005" y="1625611"/>
            <a:ext cx="772993" cy="188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1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可抽动的铁丝</a:t>
            </a:r>
          </a:p>
        </p:txBody>
      </p:sp>
      <p:sp>
        <p:nvSpPr>
          <p:cNvPr id="9" name="原题文字_293_5"/>
          <p:cNvSpPr txBox="1"/>
          <p:nvPr/>
        </p:nvSpPr>
        <p:spPr>
          <a:xfrm>
            <a:off x="566174" y="1785609"/>
            <a:ext cx="992525" cy="3337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1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浓硫酸a</a:t>
            </a:r>
          </a:p>
        </p:txBody>
      </p:sp>
      <p:sp>
        <p:nvSpPr>
          <p:cNvPr id="10" name="原题文字_293_6"/>
          <p:cNvSpPr txBox="1"/>
          <p:nvPr/>
        </p:nvSpPr>
        <p:spPr>
          <a:xfrm>
            <a:off x="2914050" y="1882352"/>
            <a:ext cx="337650" cy="20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品红</a:t>
            </a:r>
          </a:p>
        </p:txBody>
      </p:sp>
      <p:sp>
        <p:nvSpPr>
          <p:cNvPr id="11" name="原题文字_293_7"/>
          <p:cNvSpPr txBox="1"/>
          <p:nvPr/>
        </p:nvSpPr>
        <p:spPr>
          <a:xfrm>
            <a:off x="2895446" y="2012583"/>
            <a:ext cx="348813" cy="198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2" name="原题文字_293_8"/>
          <p:cNvSpPr txBox="1"/>
          <p:nvPr/>
        </p:nvSpPr>
        <p:spPr>
          <a:xfrm>
            <a:off x="1079656" y="2232115"/>
            <a:ext cx="341371" cy="203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酸性</a:t>
            </a:r>
          </a:p>
        </p:txBody>
      </p:sp>
      <p:sp>
        <p:nvSpPr>
          <p:cNvPr id="13" name="原题文字_293_9"/>
          <p:cNvSpPr txBox="1"/>
          <p:nvPr/>
        </p:nvSpPr>
        <p:spPr>
          <a:xfrm>
            <a:off x="1046168" y="2373508"/>
            <a:ext cx="434393" cy="178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KMnO₄</a:t>
            </a:r>
          </a:p>
        </p:txBody>
      </p:sp>
      <p:sp>
        <p:nvSpPr>
          <p:cNvPr id="14" name="原题文字_293_10"/>
          <p:cNvSpPr txBox="1"/>
          <p:nvPr/>
        </p:nvSpPr>
        <p:spPr>
          <a:xfrm>
            <a:off x="1068493" y="2473972"/>
            <a:ext cx="356255" cy="227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5" name="原题文字_293_11"/>
          <p:cNvSpPr txBox="1"/>
          <p:nvPr/>
        </p:nvSpPr>
        <p:spPr>
          <a:xfrm>
            <a:off x="1961505" y="2433042"/>
            <a:ext cx="534857" cy="2128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3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H₂S溶液</a:t>
            </a:r>
          </a:p>
        </p:txBody>
      </p:sp>
      <p:sp>
        <p:nvSpPr>
          <p:cNvPr id="16" name="原题文字_293_12"/>
          <p:cNvSpPr txBox="1"/>
          <p:nvPr/>
        </p:nvSpPr>
        <p:spPr>
          <a:xfrm>
            <a:off x="3367997" y="2462809"/>
            <a:ext cx="412068" cy="178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17" name="原题文字_293_13"/>
          <p:cNvSpPr txBox="1"/>
          <p:nvPr/>
        </p:nvSpPr>
        <p:spPr>
          <a:xfrm>
            <a:off x="3360556" y="2574436"/>
            <a:ext cx="341371" cy="2079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溶液</a:t>
            </a:r>
          </a:p>
        </p:txBody>
      </p:sp>
      <p:sp>
        <p:nvSpPr>
          <p:cNvPr id="18" name="原题文字_293_14"/>
          <p:cNvSpPr txBox="1"/>
          <p:nvPr/>
        </p:nvSpPr>
        <p:spPr>
          <a:xfrm>
            <a:off x="781986" y="2738154"/>
            <a:ext cx="177653" cy="1789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9" name="原题文字_293_15"/>
          <p:cNvSpPr txBox="1"/>
          <p:nvPr/>
        </p:nvSpPr>
        <p:spPr>
          <a:xfrm>
            <a:off x="1481511" y="2745596"/>
            <a:ext cx="162769" cy="159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20" name="原题文字_293_16"/>
          <p:cNvSpPr txBox="1"/>
          <p:nvPr/>
        </p:nvSpPr>
        <p:spPr>
          <a:xfrm>
            <a:off x="1805228" y="2741875"/>
            <a:ext cx="166490" cy="164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21" name="原题文字_293_17"/>
          <p:cNvSpPr txBox="1"/>
          <p:nvPr/>
        </p:nvSpPr>
        <p:spPr>
          <a:xfrm>
            <a:off x="2690797" y="2745596"/>
            <a:ext cx="173932" cy="159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</a:t>
            </a:r>
          </a:p>
        </p:txBody>
      </p:sp>
      <p:sp>
        <p:nvSpPr>
          <p:cNvPr id="22" name="原题文字_293_18"/>
          <p:cNvSpPr txBox="1"/>
          <p:nvPr/>
        </p:nvSpPr>
        <p:spPr>
          <a:xfrm>
            <a:off x="3215441" y="2741875"/>
            <a:ext cx="170211" cy="164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E</a:t>
            </a:r>
          </a:p>
        </p:txBody>
      </p:sp>
      <p:sp>
        <p:nvSpPr>
          <p:cNvPr id="23" name="文字_请回答下列问题："/>
          <p:cNvSpPr txBox="1"/>
          <p:nvPr/>
        </p:nvSpPr>
        <p:spPr>
          <a:xfrm>
            <a:off x="502920" y="2973984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请回答下列问题：</a:t>
            </a:r>
          </a:p>
        </p:txBody>
      </p:sp>
      <p:sp>
        <p:nvSpPr>
          <p:cNvPr id="24" name="文字_(1)装置B中酸性KMnO₄逐渐褪色，体现了SO"/>
          <p:cNvSpPr txBox="1"/>
          <p:nvPr/>
        </p:nvSpPr>
        <p:spPr>
          <a:xfrm>
            <a:off x="502920" y="3266592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(1)装置B中酸性KMnO₄逐渐褪色，体现了SO₂的 性。</a:t>
            </a:r>
          </a:p>
        </p:txBody>
      </p:sp>
      <p:sp>
        <p:nvSpPr>
          <p:cNvPr id="25" name="文字_(2)装置C中现象为"/>
          <p:cNvSpPr txBox="1"/>
          <p:nvPr/>
        </p:nvSpPr>
        <p:spPr>
          <a:xfrm>
            <a:off x="502920" y="3559200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(2)装置C中现象为</a:t>
            </a:r>
          </a:p>
        </p:txBody>
      </p:sp>
      <p:sp>
        <p:nvSpPr>
          <p:cNvPr id="26" name="文字_(3)欲探究A装置中反应后铁元素的价态，设计实验"/>
          <p:cNvSpPr txBox="1"/>
          <p:nvPr/>
        </p:nvSpPr>
        <p:spPr>
          <a:xfrm>
            <a:off x="502920" y="3851808"/>
            <a:ext cx="5376672" cy="7762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(3)欲探究A装置中反应后铁元素的价态，设计实验方案如下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：将反应后试管中的溶液稀释。取少许溶液，滴加几滴 溶液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，若溶液呈红色，则证明含有Fe³⁺，否则不含Fe³⁺。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078992"/>
            <a:ext cx="5376672" cy="811151"/>
          </a:xfrm>
          <a:prstGeom prst="rect">
            <a:avLst/>
          </a:prstGeom>
        </p:spPr>
      </p:pic>
      <p:sp>
        <p:nvSpPr>
          <p:cNvPr id="28" name="原题文字_293_29"/>
          <p:cNvSpPr txBox="1"/>
          <p:nvPr/>
        </p:nvSpPr>
        <p:spPr>
          <a:xfrm>
            <a:off x="6561310" y="1091195"/>
            <a:ext cx="2112510" cy="164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Ⅱ：下表列出了3种燃煤烟气脱硫方法的原理。</a:t>
            </a:r>
          </a:p>
        </p:txBody>
      </p:sp>
      <p:sp>
        <p:nvSpPr>
          <p:cNvPr id="29" name="原题文字_293_30"/>
          <p:cNvSpPr txBox="1"/>
          <p:nvPr/>
        </p:nvSpPr>
        <p:spPr>
          <a:xfrm>
            <a:off x="6591077" y="1269797"/>
            <a:ext cx="356255" cy="203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方法I</a:t>
            </a:r>
          </a:p>
        </p:txBody>
      </p:sp>
      <p:sp>
        <p:nvSpPr>
          <p:cNvPr id="30" name="原题文字_293_31"/>
          <p:cNvSpPr txBox="1"/>
          <p:nvPr/>
        </p:nvSpPr>
        <p:spPr>
          <a:xfrm>
            <a:off x="7450600" y="1284681"/>
            <a:ext cx="2406460" cy="16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用氨水将SO₂转化为NH₄HSO₃，再氧化为(NH₄)₂SO₄</a:t>
            </a:r>
          </a:p>
        </p:txBody>
      </p:sp>
      <p:sp>
        <p:nvSpPr>
          <p:cNvPr id="31" name="原题文字_293_32"/>
          <p:cNvSpPr txBox="1"/>
          <p:nvPr/>
        </p:nvSpPr>
        <p:spPr>
          <a:xfrm>
            <a:off x="6579914" y="1459562"/>
            <a:ext cx="3827836" cy="188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方法Ⅱ用生物质热解气（主要成分为CO、CH₄、H₂）将SO₂在高温下还原成单质硫</a:t>
            </a:r>
          </a:p>
        </p:txBody>
      </p:sp>
      <p:sp>
        <p:nvSpPr>
          <p:cNvPr id="32" name="原题文字_293_33"/>
          <p:cNvSpPr txBox="1"/>
          <p:nvPr/>
        </p:nvSpPr>
        <p:spPr>
          <a:xfrm>
            <a:off x="6568752" y="1653048"/>
            <a:ext cx="408347" cy="198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方法Ⅲ</a:t>
            </a:r>
          </a:p>
        </p:txBody>
      </p:sp>
      <p:sp>
        <p:nvSpPr>
          <p:cNvPr id="33" name="原题文字_293_34"/>
          <p:cNvSpPr txBox="1"/>
          <p:nvPr/>
        </p:nvSpPr>
        <p:spPr>
          <a:xfrm>
            <a:off x="8098033" y="1656769"/>
            <a:ext cx="1107873" cy="1934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7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用Na₂SO₃溶液吸收SO₂</a:t>
            </a:r>
          </a:p>
        </p:txBody>
      </p:sp>
      <p:sp>
        <p:nvSpPr>
          <p:cNvPr id="34" name="文字_(4)方法I中氨水吸收燃煤烟气中SO₂反应的化学"/>
          <p:cNvSpPr txBox="1"/>
          <p:nvPr/>
        </p:nvSpPr>
        <p:spPr>
          <a:xfrm>
            <a:off x="6263640" y="1963295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(4)方法I中氨水吸收燃煤烟气中SO₂反应的化学方程式为</a:t>
            </a:r>
          </a:p>
        </p:txBody>
      </p:sp>
      <p:sp>
        <p:nvSpPr>
          <p:cNvPr id="35" name="文字_(5)用方法I脱硫时，能提高SO₂去除率的措施有"/>
          <p:cNvSpPr txBox="1"/>
          <p:nvPr/>
        </p:nvSpPr>
        <p:spPr>
          <a:xfrm>
            <a:off x="6263640" y="225590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(5)用方法I脱硫时，能提高SO₂去除率的措施有</a:t>
            </a:r>
          </a:p>
        </p:txBody>
      </p:sp>
      <p:sp>
        <p:nvSpPr>
          <p:cNvPr id="36" name="文字_A. 增大氨水浓度"/>
          <p:cNvSpPr txBox="1"/>
          <p:nvPr/>
        </p:nvSpPr>
        <p:spPr>
          <a:xfrm>
            <a:off x="6263640" y="2548511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增大氨水浓度</a:t>
            </a:r>
          </a:p>
        </p:txBody>
      </p:sp>
      <p:sp>
        <p:nvSpPr>
          <p:cNvPr id="37" name="文字_B. 升高反应温度"/>
          <p:cNvSpPr txBox="1"/>
          <p:nvPr/>
        </p:nvSpPr>
        <p:spPr>
          <a:xfrm>
            <a:off x="6263640" y="2841119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升高反应温度</a:t>
            </a:r>
          </a:p>
        </p:txBody>
      </p:sp>
      <p:sp>
        <p:nvSpPr>
          <p:cNvPr id="38" name="文字_C. 使燃煤烟气与氨水充分接触"/>
          <p:cNvSpPr txBox="1"/>
          <p:nvPr/>
        </p:nvSpPr>
        <p:spPr>
          <a:xfrm>
            <a:off x="6263640" y="3133727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使燃煤烟气与氨水充分接触</a:t>
            </a:r>
          </a:p>
        </p:txBody>
      </p:sp>
      <p:sp>
        <p:nvSpPr>
          <p:cNvPr id="39" name="文字_D. 通入空气使HSO₃为SO₂"/>
          <p:cNvSpPr txBox="1"/>
          <p:nvPr/>
        </p:nvSpPr>
        <p:spPr>
          <a:xfrm>
            <a:off x="6263640" y="3426335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通入空气使HSO₃为SO₂</a:t>
            </a:r>
          </a:p>
        </p:txBody>
      </p:sp>
      <p:sp>
        <p:nvSpPr>
          <p:cNvPr id="40" name="文字_(6) 方法ⅡI中CO还原SO₂反应的化学方程式"/>
          <p:cNvSpPr txBox="1"/>
          <p:nvPr/>
        </p:nvSpPr>
        <p:spPr>
          <a:xfrm>
            <a:off x="6263640" y="3718943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 方法ⅡI中CO还原SO₂反应的化学方程式为</a:t>
            </a:r>
          </a:p>
        </p:txBody>
      </p:sp>
      <p:sp>
        <p:nvSpPr>
          <p:cNvPr id="41" name="文字_物质转换"/>
          <p:cNvSpPr txBox="1"/>
          <p:nvPr/>
        </p:nvSpPr>
        <p:spPr>
          <a:xfrm>
            <a:off x="6263640" y="4011551"/>
            <a:ext cx="5376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物质转换</a:t>
            </a:r>
          </a:p>
        </p:txBody>
      </p:sp>
      <p:sp>
        <p:nvSpPr>
          <p:cNvPr id="42" name="文字_实验题  ·  13-03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实验题  ·  13-031</a:t>
            </a:r>
          </a:p>
        </p:txBody>
      </p:sp>
      <p:sp>
        <p:nvSpPr>
          <p:cNvPr id="43" name="文字_4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变式1</a:t>
            </a:r>
          </a:p>
        </p:txBody>
      </p:sp>
      <p:sp>
        <p:nvSpPr>
          <p:cNvPr id="5" name="文字_P29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P294</a:t>
            </a:r>
          </a:p>
        </p:txBody>
      </p:sp>
      <p:sp>
        <p:nvSpPr>
          <p:cNvPr id="6" name="文字_酸性条件下，利用T·F菌可实现天然气脱硫，其原理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酸性条件下，利用T·F菌可实现天然气脱硫，其原理如图所示。下列说法中，不正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944856"/>
          </a:xfrm>
          <a:prstGeom prst="rect">
            <a:avLst/>
          </a:prstGeom>
        </p:spPr>
      </p:pic>
      <p:sp>
        <p:nvSpPr>
          <p:cNvPr id="8" name="原题文字_294_5"/>
          <p:cNvSpPr txBox="1"/>
          <p:nvPr/>
        </p:nvSpPr>
        <p:spPr>
          <a:xfrm>
            <a:off x="571832" y="1943127"/>
            <a:ext cx="6149767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在图示转化关系中，化合价发生变化的元素有硫、氧、H₂S</a:t>
            </a:r>
          </a:p>
        </p:txBody>
      </p:sp>
      <p:sp>
        <p:nvSpPr>
          <p:cNvPr id="9" name="原题文字_294_6"/>
          <p:cNvSpPr txBox="1"/>
          <p:nvPr/>
        </p:nvSpPr>
        <p:spPr>
          <a:xfrm>
            <a:off x="8121548" y="1912499"/>
            <a:ext cx="1333568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Fe₂(SO₄)₃</a:t>
            </a:r>
          </a:p>
        </p:txBody>
      </p:sp>
      <p:sp>
        <p:nvSpPr>
          <p:cNvPr id="10" name="原题文字_294_7"/>
          <p:cNvSpPr txBox="1"/>
          <p:nvPr/>
        </p:nvSpPr>
        <p:spPr>
          <a:xfrm>
            <a:off x="10525819" y="1912499"/>
            <a:ext cx="789927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9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→H₂O</a:t>
            </a:r>
          </a:p>
        </p:txBody>
      </p:sp>
      <p:sp>
        <p:nvSpPr>
          <p:cNvPr id="11" name="原题文字_294_8"/>
          <p:cNvSpPr txBox="1"/>
          <p:nvPr/>
        </p:nvSpPr>
        <p:spPr>
          <a:xfrm>
            <a:off x="870451" y="2249403"/>
            <a:ext cx="391768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铁</a:t>
            </a:r>
          </a:p>
        </p:txBody>
      </p:sp>
      <p:sp>
        <p:nvSpPr>
          <p:cNvPr id="12" name="原题文字_294_9"/>
          <p:cNvSpPr txBox="1"/>
          <p:nvPr/>
        </p:nvSpPr>
        <p:spPr>
          <a:xfrm>
            <a:off x="556518" y="2624592"/>
            <a:ext cx="3676584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7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反应过程中需要不断补充Fe₂(SO₄)₃</a:t>
            </a:r>
          </a:p>
        </p:txBody>
      </p:sp>
      <p:sp>
        <p:nvSpPr>
          <p:cNvPr id="13" name="原题文字_294_10"/>
          <p:cNvSpPr txBox="1"/>
          <p:nvPr/>
        </p:nvSpPr>
        <p:spPr>
          <a:xfrm>
            <a:off x="6651421" y="2624592"/>
            <a:ext cx="797584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过程I</a:t>
            </a:r>
          </a:p>
        </p:txBody>
      </p:sp>
      <p:sp>
        <p:nvSpPr>
          <p:cNvPr id="14" name="原题文字_294_11"/>
          <p:cNvSpPr txBox="1"/>
          <p:nvPr/>
        </p:nvSpPr>
        <p:spPr>
          <a:xfrm>
            <a:off x="9048035" y="2609278"/>
            <a:ext cx="789927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T·F菌</a:t>
            </a:r>
          </a:p>
        </p:txBody>
      </p:sp>
      <p:sp>
        <p:nvSpPr>
          <p:cNvPr id="15" name="原题文字_294_12"/>
          <p:cNvSpPr txBox="1"/>
          <p:nvPr/>
        </p:nvSpPr>
        <p:spPr>
          <a:xfrm>
            <a:off x="10028120" y="2624592"/>
            <a:ext cx="843526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过程Ⅱ</a:t>
            </a:r>
          </a:p>
        </p:txBody>
      </p:sp>
      <p:sp>
        <p:nvSpPr>
          <p:cNvPr id="16" name="原题文字_294_13"/>
          <p:cNvSpPr txBox="1"/>
          <p:nvPr/>
        </p:nvSpPr>
        <p:spPr>
          <a:xfrm>
            <a:off x="587146" y="3038066"/>
            <a:ext cx="4135998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在图示转化关系中，氧化性O₂&gt;Fe³⁺&gt; S</a:t>
            </a:r>
          </a:p>
        </p:txBody>
      </p:sp>
      <p:sp>
        <p:nvSpPr>
          <p:cNvPr id="17" name="原题文字_294_14"/>
          <p:cNvSpPr txBox="1"/>
          <p:nvPr/>
        </p:nvSpPr>
        <p:spPr>
          <a:xfrm>
            <a:off x="8366570" y="3183547"/>
            <a:ext cx="812898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FeSO₄</a:t>
            </a:r>
          </a:p>
        </p:txBody>
      </p:sp>
      <p:sp>
        <p:nvSpPr>
          <p:cNvPr id="18" name="原题文字_294_15"/>
          <p:cNvSpPr txBox="1"/>
          <p:nvPr/>
        </p:nvSpPr>
        <p:spPr>
          <a:xfrm>
            <a:off x="571832" y="3428568"/>
            <a:ext cx="5292192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7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每消耗68 g H₂S，标准状况下将有22.4 L O₂得到电子</a:t>
            </a:r>
          </a:p>
        </p:txBody>
      </p:sp>
      <p:sp>
        <p:nvSpPr>
          <p:cNvPr id="19" name="原题文字_294_16"/>
          <p:cNvSpPr txBox="1"/>
          <p:nvPr/>
        </p:nvSpPr>
        <p:spPr>
          <a:xfrm>
            <a:off x="6414057" y="3413254"/>
            <a:ext cx="460680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S←</a:t>
            </a:r>
          </a:p>
        </p:txBody>
      </p:sp>
      <p:sp>
        <p:nvSpPr>
          <p:cNvPr id="20" name="原题文字_294_17"/>
          <p:cNvSpPr txBox="1"/>
          <p:nvPr/>
        </p:nvSpPr>
        <p:spPr>
          <a:xfrm>
            <a:off x="8328285" y="3482167"/>
            <a:ext cx="835869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H₂SO₄</a:t>
            </a:r>
          </a:p>
        </p:txBody>
      </p:sp>
      <p:sp>
        <p:nvSpPr>
          <p:cNvPr id="21" name="原题文字_294_18"/>
          <p:cNvSpPr txBox="1"/>
          <p:nvPr/>
        </p:nvSpPr>
        <p:spPr>
          <a:xfrm>
            <a:off x="10648330" y="3367313"/>
            <a:ext cx="529592" cy="537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1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-O₂</a:t>
            </a:r>
          </a:p>
        </p:txBody>
      </p:sp>
      <p:sp>
        <p:nvSpPr>
          <p:cNvPr id="22" name="文字_单选题  ·  13-03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13-032</a:t>
            </a:r>
          </a:p>
        </p:txBody>
      </p:sp>
      <p:sp>
        <p:nvSpPr>
          <p:cNvPr id="23" name="文字_4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变式2</a:t>
            </a:r>
          </a:p>
        </p:txBody>
      </p:sp>
      <p:sp>
        <p:nvSpPr>
          <p:cNvPr id="5" name="文字_P29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P294</a:t>
            </a:r>
          </a:p>
        </p:txBody>
      </p:sp>
      <p:sp>
        <p:nvSpPr>
          <p:cNvPr id="6" name="文字_利用硫碘循环可以处理H₂S气体，其方法如图所示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利用硫碘循环可以处理H₂S气体，其方法如图所示。下列说法不正确的是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1676864"/>
          </a:xfrm>
          <a:prstGeom prst="rect">
            <a:avLst/>
          </a:prstGeom>
        </p:spPr>
      </p:pic>
      <p:sp>
        <p:nvSpPr>
          <p:cNvPr id="8" name="原题文字_294_23"/>
          <p:cNvSpPr txBox="1"/>
          <p:nvPr/>
        </p:nvSpPr>
        <p:spPr>
          <a:xfrm>
            <a:off x="701999" y="1565101"/>
            <a:ext cx="521935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</a:t>
            </a:r>
          </a:p>
        </p:txBody>
      </p:sp>
      <p:sp>
        <p:nvSpPr>
          <p:cNvPr id="9" name="原题文字_294_24"/>
          <p:cNvSpPr txBox="1"/>
          <p:nvPr/>
        </p:nvSpPr>
        <p:spPr>
          <a:xfrm>
            <a:off x="1873507" y="1565101"/>
            <a:ext cx="721015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H₂SO₄</a:t>
            </a:r>
          </a:p>
        </p:txBody>
      </p:sp>
      <p:sp>
        <p:nvSpPr>
          <p:cNvPr id="10" name="原题文字_294_25"/>
          <p:cNvSpPr txBox="1"/>
          <p:nvPr/>
        </p:nvSpPr>
        <p:spPr>
          <a:xfrm>
            <a:off x="3351291" y="1611043"/>
            <a:ext cx="353483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HI</a:t>
            </a:r>
          </a:p>
        </p:txBody>
      </p:sp>
      <p:sp>
        <p:nvSpPr>
          <p:cNvPr id="11" name="原题文字_294_26"/>
          <p:cNvSpPr txBox="1"/>
          <p:nvPr/>
        </p:nvSpPr>
        <p:spPr>
          <a:xfrm>
            <a:off x="870451" y="2062800"/>
            <a:ext cx="621475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过程I</a:t>
            </a:r>
          </a:p>
        </p:txBody>
      </p:sp>
      <p:sp>
        <p:nvSpPr>
          <p:cNvPr id="12" name="原题文字_294_27"/>
          <p:cNvSpPr txBox="1"/>
          <p:nvPr/>
        </p:nvSpPr>
        <p:spPr>
          <a:xfrm>
            <a:off x="2325265" y="2070457"/>
            <a:ext cx="667417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过程II</a:t>
            </a:r>
          </a:p>
        </p:txBody>
      </p:sp>
      <p:sp>
        <p:nvSpPr>
          <p:cNvPr id="13" name="原题文字_294_28"/>
          <p:cNvSpPr txBox="1"/>
          <p:nvPr/>
        </p:nvSpPr>
        <p:spPr>
          <a:xfrm>
            <a:off x="4116983" y="2055144"/>
            <a:ext cx="728672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过程ⅢⅢ</a:t>
            </a:r>
          </a:p>
        </p:txBody>
      </p:sp>
      <p:sp>
        <p:nvSpPr>
          <p:cNvPr id="14" name="原题文字_294_29"/>
          <p:cNvSpPr txBox="1"/>
          <p:nvPr/>
        </p:nvSpPr>
        <p:spPr>
          <a:xfrm>
            <a:off x="793882" y="2545186"/>
            <a:ext cx="246286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</a:t>
            </a:r>
          </a:p>
        </p:txBody>
      </p:sp>
      <p:sp>
        <p:nvSpPr>
          <p:cNvPr id="15" name="原题文字_294_30"/>
          <p:cNvSpPr txBox="1"/>
          <p:nvPr/>
        </p:nvSpPr>
        <p:spPr>
          <a:xfrm>
            <a:off x="1697398" y="2483931"/>
            <a:ext cx="1088547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1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 + H₂O</a:t>
            </a:r>
          </a:p>
        </p:txBody>
      </p:sp>
      <p:sp>
        <p:nvSpPr>
          <p:cNvPr id="16" name="原题文字_294_31"/>
          <p:cNvSpPr txBox="1"/>
          <p:nvPr/>
        </p:nvSpPr>
        <p:spPr>
          <a:xfrm>
            <a:off x="3420204" y="2491588"/>
            <a:ext cx="284571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I₂</a:t>
            </a:r>
          </a:p>
        </p:txBody>
      </p:sp>
      <p:sp>
        <p:nvSpPr>
          <p:cNvPr id="17" name="原题文字_294_32"/>
          <p:cNvSpPr txBox="1"/>
          <p:nvPr/>
        </p:nvSpPr>
        <p:spPr>
          <a:xfrm>
            <a:off x="4492171" y="2460960"/>
            <a:ext cx="368797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18" name="原题文字_294_33"/>
          <p:cNvSpPr txBox="1"/>
          <p:nvPr/>
        </p:nvSpPr>
        <p:spPr>
          <a:xfrm>
            <a:off x="571832" y="2866776"/>
            <a:ext cx="2956834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过程I中H₂SO₄被还原为SO₂</a:t>
            </a:r>
          </a:p>
        </p:txBody>
      </p:sp>
      <p:sp>
        <p:nvSpPr>
          <p:cNvPr id="19" name="文字_B. 过程I、ⅡI的反应设备不宜使用铁质材料"/>
          <p:cNvSpPr txBox="1"/>
          <p:nvPr/>
        </p:nvSpPr>
        <p:spPr>
          <a:xfrm>
            <a:off x="502920" y="326792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过程I、ⅡI的反应设备不宜使用铁质材料</a:t>
            </a:r>
          </a:p>
        </p:txBody>
      </p:sp>
      <p:sp>
        <p:nvSpPr>
          <p:cNvPr id="20" name="文字_C. 过程ⅡI的反应方程式为：SO₂ + I₂ "/>
          <p:cNvSpPr txBox="1"/>
          <p:nvPr/>
        </p:nvSpPr>
        <p:spPr>
          <a:xfrm>
            <a:off x="502920" y="370683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过程ⅡI的反应方程式为：SO₂ + I₂ + 2H₂O=H₂SO₄ + 2HI</a:t>
            </a:r>
          </a:p>
        </p:txBody>
      </p:sp>
      <p:sp>
        <p:nvSpPr>
          <p:cNvPr id="21" name="文字_D. 处理1mol H₂S气体最终需要消耗1mo"/>
          <p:cNvSpPr txBox="1"/>
          <p:nvPr/>
        </p:nvSpPr>
        <p:spPr>
          <a:xfrm>
            <a:off x="502920" y="414574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处理1mol H₂S气体最终需要消耗1mol I₂</a:t>
            </a:r>
          </a:p>
        </p:txBody>
      </p:sp>
      <p:sp>
        <p:nvSpPr>
          <p:cNvPr id="22" name="文字_单选题  ·  13-03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13-033</a:t>
            </a:r>
          </a:p>
        </p:txBody>
      </p:sp>
      <p:sp>
        <p:nvSpPr>
          <p:cNvPr id="23" name="文字_4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变式3</a:t>
            </a:r>
          </a:p>
        </p:txBody>
      </p:sp>
      <p:sp>
        <p:nvSpPr>
          <p:cNvPr id="5" name="文字_P29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P294</a:t>
            </a:r>
          </a:p>
        </p:txBody>
      </p:sp>
      <p:sp>
        <p:nvSpPr>
          <p:cNvPr id="6" name="文字_H₂S和O₂的混合气体通入FeCl₂、CuCl₂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H₂S和O₂的混合气体通入FeCl₂、CuCl₂、FeCl₃的混合溶液中反应可回收S，转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化过程如图所示。下列描述正确的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2411927"/>
          </a:xfrm>
          <a:prstGeom prst="rect">
            <a:avLst/>
          </a:prstGeom>
        </p:spPr>
      </p:pic>
      <p:sp>
        <p:nvSpPr>
          <p:cNvPr id="8" name="原题文字_294_41"/>
          <p:cNvSpPr txBox="1"/>
          <p:nvPr/>
        </p:nvSpPr>
        <p:spPr>
          <a:xfrm>
            <a:off x="541204" y="1912499"/>
            <a:ext cx="384111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是</a:t>
            </a:r>
          </a:p>
        </p:txBody>
      </p:sp>
      <p:sp>
        <p:nvSpPr>
          <p:cNvPr id="9" name="原题文字_294_42"/>
          <p:cNvSpPr txBox="1"/>
          <p:nvPr/>
        </p:nvSpPr>
        <p:spPr>
          <a:xfrm>
            <a:off x="564175" y="2241747"/>
            <a:ext cx="4978259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转化过程中参加循环反应的离子只有Fe²⁺、Fe³⁺</a:t>
            </a:r>
          </a:p>
        </p:txBody>
      </p:sp>
      <p:sp>
        <p:nvSpPr>
          <p:cNvPr id="10" name="原题文字_294_43"/>
          <p:cNvSpPr txBox="1"/>
          <p:nvPr/>
        </p:nvSpPr>
        <p:spPr>
          <a:xfrm>
            <a:off x="10518162" y="2226433"/>
            <a:ext cx="162060" cy="199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11" name="原题文字_294_44"/>
          <p:cNvSpPr txBox="1"/>
          <p:nvPr/>
        </p:nvSpPr>
        <p:spPr>
          <a:xfrm>
            <a:off x="11008205" y="2356600"/>
            <a:ext cx="345826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O₂</a:t>
            </a:r>
          </a:p>
        </p:txBody>
      </p:sp>
      <p:sp>
        <p:nvSpPr>
          <p:cNvPr id="12" name="原题文字_294_45"/>
          <p:cNvSpPr txBox="1"/>
          <p:nvPr/>
        </p:nvSpPr>
        <p:spPr>
          <a:xfrm>
            <a:off x="564175" y="2639906"/>
            <a:ext cx="5353448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1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过程Ⅲ反应的离子方程式为S²⁻ + 2Fe³⁺ = S + 2Fe²⁺</a:t>
            </a:r>
          </a:p>
        </p:txBody>
      </p:sp>
      <p:sp>
        <p:nvSpPr>
          <p:cNvPr id="13" name="原题文字_294_46"/>
          <p:cNvSpPr txBox="1"/>
          <p:nvPr/>
        </p:nvSpPr>
        <p:spPr>
          <a:xfrm>
            <a:off x="9821383" y="2578651"/>
            <a:ext cx="475994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Fe³⁺</a:t>
            </a:r>
          </a:p>
        </p:txBody>
      </p:sp>
      <p:sp>
        <p:nvSpPr>
          <p:cNvPr id="14" name="原题文字_294_47"/>
          <p:cNvSpPr txBox="1"/>
          <p:nvPr/>
        </p:nvSpPr>
        <p:spPr>
          <a:xfrm>
            <a:off x="9132261" y="2846643"/>
            <a:ext cx="453023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Cu²⁺</a:t>
            </a:r>
          </a:p>
        </p:txBody>
      </p:sp>
      <p:sp>
        <p:nvSpPr>
          <p:cNvPr id="15" name="原题文字_294_48"/>
          <p:cNvSpPr txBox="1"/>
          <p:nvPr/>
        </p:nvSpPr>
        <p:spPr>
          <a:xfrm>
            <a:off x="10663644" y="2731789"/>
            <a:ext cx="491308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Cu²⁺</a:t>
            </a:r>
          </a:p>
        </p:txBody>
      </p:sp>
      <p:sp>
        <p:nvSpPr>
          <p:cNvPr id="16" name="原题文字_294_49"/>
          <p:cNvSpPr txBox="1"/>
          <p:nvPr/>
        </p:nvSpPr>
        <p:spPr>
          <a:xfrm>
            <a:off x="587146" y="3030409"/>
            <a:ext cx="6800604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为避免混合液失效，混合气体中H₂S和O₂的物质的量之比应大于2：1</a:t>
            </a:r>
          </a:p>
        </p:txBody>
      </p:sp>
      <p:sp>
        <p:nvSpPr>
          <p:cNvPr id="17" name="原题文字_294_50"/>
          <p:cNvSpPr txBox="1"/>
          <p:nvPr/>
        </p:nvSpPr>
        <p:spPr>
          <a:xfrm>
            <a:off x="9982178" y="2992124"/>
            <a:ext cx="384111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Cl⁻</a:t>
            </a:r>
          </a:p>
        </p:txBody>
      </p:sp>
      <p:sp>
        <p:nvSpPr>
          <p:cNvPr id="18" name="原题文字_294_51"/>
          <p:cNvSpPr txBox="1"/>
          <p:nvPr/>
        </p:nvSpPr>
        <p:spPr>
          <a:xfrm>
            <a:off x="10701928" y="2930869"/>
            <a:ext cx="491308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4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Fe²⁺</a:t>
            </a:r>
          </a:p>
        </p:txBody>
      </p:sp>
      <p:sp>
        <p:nvSpPr>
          <p:cNvPr id="19" name="原题文字_294_52"/>
          <p:cNvSpPr txBox="1"/>
          <p:nvPr/>
        </p:nvSpPr>
        <p:spPr>
          <a:xfrm>
            <a:off x="571832" y="3428568"/>
            <a:ext cx="703796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随着反应的进行，最终混合溶液中FeCl₂、CuCl₂、FeCl₃的浓度会降低</a:t>
            </a:r>
          </a:p>
        </p:txBody>
      </p:sp>
      <p:sp>
        <p:nvSpPr>
          <p:cNvPr id="20" name="原题文字_294_53"/>
          <p:cNvSpPr txBox="1"/>
          <p:nvPr/>
        </p:nvSpPr>
        <p:spPr>
          <a:xfrm>
            <a:off x="8772386" y="3420911"/>
            <a:ext cx="391768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</a:t>
            </a:r>
          </a:p>
        </p:txBody>
      </p:sp>
      <p:sp>
        <p:nvSpPr>
          <p:cNvPr id="21" name="原题文字_294_54"/>
          <p:cNvSpPr txBox="1"/>
          <p:nvPr/>
        </p:nvSpPr>
        <p:spPr>
          <a:xfrm>
            <a:off x="9974521" y="3451539"/>
            <a:ext cx="437709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Fe³⁺</a:t>
            </a:r>
          </a:p>
        </p:txBody>
      </p:sp>
      <p:sp>
        <p:nvSpPr>
          <p:cNvPr id="22" name="原题文字_294_55"/>
          <p:cNvSpPr txBox="1"/>
          <p:nvPr/>
        </p:nvSpPr>
        <p:spPr>
          <a:xfrm>
            <a:off x="9361968" y="3627648"/>
            <a:ext cx="208002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II</a:t>
            </a:r>
          </a:p>
        </p:txBody>
      </p:sp>
      <p:sp>
        <p:nvSpPr>
          <p:cNvPr id="23" name="原题文字_294_56"/>
          <p:cNvSpPr txBox="1"/>
          <p:nvPr/>
        </p:nvSpPr>
        <p:spPr>
          <a:xfrm>
            <a:off x="9905609" y="3788443"/>
            <a:ext cx="437709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CuS</a:t>
            </a:r>
          </a:p>
        </p:txBody>
      </p:sp>
      <p:sp>
        <p:nvSpPr>
          <p:cNvPr id="24" name="原题文字_294_57"/>
          <p:cNvSpPr txBox="1"/>
          <p:nvPr/>
        </p:nvSpPr>
        <p:spPr>
          <a:xfrm>
            <a:off x="9361968" y="4010494"/>
            <a:ext cx="430052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H+</a:t>
            </a:r>
          </a:p>
        </p:txBody>
      </p:sp>
      <p:sp>
        <p:nvSpPr>
          <p:cNvPr id="25" name="文字_单选题  ·  13-03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13-034</a:t>
            </a:r>
          </a:p>
        </p:txBody>
      </p:sp>
      <p:sp>
        <p:nvSpPr>
          <p:cNvPr id="26" name="文字_4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变式4</a:t>
            </a:r>
          </a:p>
        </p:txBody>
      </p:sp>
      <p:sp>
        <p:nvSpPr>
          <p:cNvPr id="5" name="文字_P29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P294</a:t>
            </a:r>
          </a:p>
        </p:txBody>
      </p:sp>
      <p:sp>
        <p:nvSpPr>
          <p:cNvPr id="6" name="文字_双碱（烧碱、石灰乳）法脱除烟气中SO₂的过程如图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双碱（烧碱、石灰乳）法脱除烟气中SO₂的过程如图所示。下列说法中错误的是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17904"/>
            <a:ext cx="11064240" cy="1753433"/>
          </a:xfrm>
          <a:prstGeom prst="rect">
            <a:avLst/>
          </a:prstGeom>
        </p:spPr>
      </p:pic>
      <p:sp>
        <p:nvSpPr>
          <p:cNvPr id="8" name="原题文字_294_62"/>
          <p:cNvSpPr txBox="1"/>
          <p:nvPr/>
        </p:nvSpPr>
        <p:spPr>
          <a:xfrm>
            <a:off x="571832" y="1649327"/>
            <a:ext cx="3584701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过程I中，生成物为Na₂SO₃和H₂O</a:t>
            </a:r>
          </a:p>
        </p:txBody>
      </p:sp>
      <p:sp>
        <p:nvSpPr>
          <p:cNvPr id="9" name="原题文字_294_63"/>
          <p:cNvSpPr txBox="1"/>
          <p:nvPr/>
        </p:nvSpPr>
        <p:spPr>
          <a:xfrm>
            <a:off x="7241003" y="1549787"/>
            <a:ext cx="537249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SO₂</a:t>
            </a:r>
          </a:p>
        </p:txBody>
      </p:sp>
      <p:sp>
        <p:nvSpPr>
          <p:cNvPr id="10" name="原题文字_294_64"/>
          <p:cNvSpPr txBox="1"/>
          <p:nvPr/>
        </p:nvSpPr>
        <p:spPr>
          <a:xfrm>
            <a:off x="8519708" y="1580415"/>
            <a:ext cx="728672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NaOH</a:t>
            </a:r>
          </a:p>
        </p:txBody>
      </p:sp>
      <p:sp>
        <p:nvSpPr>
          <p:cNvPr id="11" name="原题文字_294_65"/>
          <p:cNvSpPr txBox="1"/>
          <p:nvPr/>
        </p:nvSpPr>
        <p:spPr>
          <a:xfrm>
            <a:off x="9813726" y="1580415"/>
            <a:ext cx="912438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CaSO₄</a:t>
            </a:r>
          </a:p>
        </p:txBody>
      </p:sp>
      <p:sp>
        <p:nvSpPr>
          <p:cNvPr id="12" name="原题文字_294_66"/>
          <p:cNvSpPr txBox="1"/>
          <p:nvPr/>
        </p:nvSpPr>
        <p:spPr>
          <a:xfrm>
            <a:off x="7286945" y="2246566"/>
            <a:ext cx="782270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过程I</a:t>
            </a:r>
          </a:p>
        </p:txBody>
      </p:sp>
      <p:sp>
        <p:nvSpPr>
          <p:cNvPr id="13" name="原题文字_294_67"/>
          <p:cNvSpPr txBox="1"/>
          <p:nvPr/>
        </p:nvSpPr>
        <p:spPr>
          <a:xfrm>
            <a:off x="9645274" y="2254223"/>
            <a:ext cx="782270" cy="418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过程Ⅱ</a:t>
            </a:r>
          </a:p>
        </p:txBody>
      </p:sp>
      <p:sp>
        <p:nvSpPr>
          <p:cNvPr id="14" name="原题文字_294_68"/>
          <p:cNvSpPr txBox="1"/>
          <p:nvPr/>
        </p:nvSpPr>
        <p:spPr>
          <a:xfrm>
            <a:off x="587146" y="2422675"/>
            <a:ext cx="4143655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脱除SO₂的过程中，NaOH可以循环利用</a:t>
            </a:r>
          </a:p>
        </p:txBody>
      </p:sp>
      <p:sp>
        <p:nvSpPr>
          <p:cNvPr id="15" name="原题文字_294_69"/>
          <p:cNvSpPr txBox="1"/>
          <p:nvPr/>
        </p:nvSpPr>
        <p:spPr>
          <a:xfrm>
            <a:off x="571832" y="2805521"/>
            <a:ext cx="3393278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脱除SO₂的目的是防止污染空气</a:t>
            </a:r>
          </a:p>
        </p:txBody>
      </p:sp>
      <p:sp>
        <p:nvSpPr>
          <p:cNvPr id="16" name="原题文字_294_70"/>
          <p:cNvSpPr txBox="1"/>
          <p:nvPr/>
        </p:nvSpPr>
        <p:spPr>
          <a:xfrm>
            <a:off x="8366570" y="2935689"/>
            <a:ext cx="920095" cy="4578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Na₂SO₃</a:t>
            </a:r>
          </a:p>
        </p:txBody>
      </p:sp>
      <p:sp>
        <p:nvSpPr>
          <p:cNvPr id="17" name="原题文字_294_71"/>
          <p:cNvSpPr txBox="1"/>
          <p:nvPr/>
        </p:nvSpPr>
        <p:spPr>
          <a:xfrm>
            <a:off x="9982178" y="2951002"/>
            <a:ext cx="1387166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7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Ca(OH)2、O₂</a:t>
            </a:r>
          </a:p>
        </p:txBody>
      </p:sp>
      <p:sp>
        <p:nvSpPr>
          <p:cNvPr id="18" name="文字_单选题  ·  13-03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13-035</a:t>
            </a:r>
          </a:p>
        </p:txBody>
      </p:sp>
      <p:sp>
        <p:nvSpPr>
          <p:cNvPr id="19" name="文字_5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变式5</a:t>
            </a:r>
          </a:p>
        </p:txBody>
      </p:sp>
      <p:sp>
        <p:nvSpPr>
          <p:cNvPr id="5" name="文字_P29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P295</a:t>
            </a:r>
          </a:p>
        </p:txBody>
      </p:sp>
      <p:sp>
        <p:nvSpPr>
          <p:cNvPr id="6" name="文字_Na₂S₂O₃是常见的还原剂，Na₂S₂O₃去除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Na₂S₂O₃是常见的还原剂，Na₂S₂O₃去除酸性废水中H₃AsO₃的反应机理如图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所示（图中“HS·”为自由基，带有单电子的原子或原子团叫做自由基）。</a:t>
            </a:r>
          </a:p>
        </p:txBody>
      </p:sp>
      <p:sp>
        <p:nvSpPr>
          <p:cNvPr id="7" name="文字_下列说法不正确的是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19528"/>
            <a:ext cx="11064240" cy="1875943"/>
          </a:xfrm>
          <a:prstGeom prst="rect">
            <a:avLst/>
          </a:prstGeom>
        </p:spPr>
      </p:pic>
      <p:sp>
        <p:nvSpPr>
          <p:cNvPr id="9" name="原题文字_295_6"/>
          <p:cNvSpPr txBox="1"/>
          <p:nvPr/>
        </p:nvSpPr>
        <p:spPr>
          <a:xfrm>
            <a:off x="5709621" y="2351411"/>
            <a:ext cx="1188087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9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H+/紫外线</a:t>
            </a:r>
          </a:p>
        </p:txBody>
      </p:sp>
      <p:sp>
        <p:nvSpPr>
          <p:cNvPr id="10" name="原题文字_295_7"/>
          <p:cNvSpPr txBox="1"/>
          <p:nvPr/>
        </p:nvSpPr>
        <p:spPr>
          <a:xfrm>
            <a:off x="594802" y="2435637"/>
            <a:ext cx="2535703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HS·中S的化合价为-2价</a:t>
            </a:r>
          </a:p>
        </p:txBody>
      </p:sp>
      <p:sp>
        <p:nvSpPr>
          <p:cNvPr id="11" name="原题文字_295_8"/>
          <p:cNvSpPr txBox="1"/>
          <p:nvPr/>
        </p:nvSpPr>
        <p:spPr>
          <a:xfrm>
            <a:off x="5127695" y="2496893"/>
            <a:ext cx="675073" cy="527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7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S₂O₂</a:t>
            </a:r>
          </a:p>
        </p:txBody>
      </p:sp>
      <p:sp>
        <p:nvSpPr>
          <p:cNvPr id="12" name="原题文字_295_9"/>
          <p:cNvSpPr txBox="1"/>
          <p:nvPr/>
        </p:nvSpPr>
        <p:spPr>
          <a:xfrm>
            <a:off x="571832" y="2803169"/>
            <a:ext cx="2926206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步骤ⅡI中有非极性键的形成</a:t>
            </a:r>
          </a:p>
        </p:txBody>
      </p:sp>
      <p:sp>
        <p:nvSpPr>
          <p:cNvPr id="13" name="原题文字_295_10"/>
          <p:cNvSpPr txBox="1"/>
          <p:nvPr/>
        </p:nvSpPr>
        <p:spPr>
          <a:xfrm>
            <a:off x="6207320" y="2718943"/>
            <a:ext cx="276914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14" name="原题文字_295_11"/>
          <p:cNvSpPr txBox="1"/>
          <p:nvPr/>
        </p:nvSpPr>
        <p:spPr>
          <a:xfrm>
            <a:off x="8565649" y="2780198"/>
            <a:ext cx="384111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IⅢI</a:t>
            </a:r>
          </a:p>
        </p:txBody>
      </p:sp>
      <p:sp>
        <p:nvSpPr>
          <p:cNvPr id="15" name="原题文字_295_12"/>
          <p:cNvSpPr txBox="1"/>
          <p:nvPr/>
        </p:nvSpPr>
        <p:spPr>
          <a:xfrm>
            <a:off x="587146" y="3186015"/>
            <a:ext cx="4472903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步骤反应中氧化产物与还原产物的物质的</a:t>
            </a:r>
          </a:p>
        </p:txBody>
      </p:sp>
      <p:sp>
        <p:nvSpPr>
          <p:cNvPr id="16" name="原题文字_295_13"/>
          <p:cNvSpPr txBox="1"/>
          <p:nvPr/>
        </p:nvSpPr>
        <p:spPr>
          <a:xfrm>
            <a:off x="9545734" y="3140073"/>
            <a:ext cx="1019635" cy="6370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3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H₃ASO₃</a:t>
            </a:r>
          </a:p>
        </p:txBody>
      </p:sp>
      <p:sp>
        <p:nvSpPr>
          <p:cNvPr id="17" name="原题文字_295_14"/>
          <p:cNvSpPr txBox="1"/>
          <p:nvPr/>
        </p:nvSpPr>
        <p:spPr>
          <a:xfrm>
            <a:off x="10418622" y="3323839"/>
            <a:ext cx="920095" cy="5474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9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AS₂S₃</a:t>
            </a:r>
          </a:p>
        </p:txBody>
      </p:sp>
      <p:sp>
        <p:nvSpPr>
          <p:cNvPr id="18" name="原题文字_295_15"/>
          <p:cNvSpPr txBox="1"/>
          <p:nvPr/>
        </p:nvSpPr>
        <p:spPr>
          <a:xfrm>
            <a:off x="9170546" y="3415722"/>
            <a:ext cx="537249" cy="4479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</a:t>
            </a:r>
          </a:p>
        </p:txBody>
      </p:sp>
      <p:sp>
        <p:nvSpPr>
          <p:cNvPr id="19" name="原题文字_295_16"/>
          <p:cNvSpPr txBox="1"/>
          <p:nvPr/>
        </p:nvSpPr>
        <p:spPr>
          <a:xfrm>
            <a:off x="908736" y="3499948"/>
            <a:ext cx="1371853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量之比为1：8</a:t>
            </a:r>
          </a:p>
        </p:txBody>
      </p:sp>
      <p:sp>
        <p:nvSpPr>
          <p:cNvPr id="20" name="原题文字_295_17"/>
          <p:cNvSpPr txBox="1"/>
          <p:nvPr/>
        </p:nvSpPr>
        <p:spPr>
          <a:xfrm>
            <a:off x="9874982" y="3591831"/>
            <a:ext cx="376454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ⅣV</a:t>
            </a:r>
          </a:p>
        </p:txBody>
      </p:sp>
      <p:sp>
        <p:nvSpPr>
          <p:cNvPr id="21" name="原题文字_295_18"/>
          <p:cNvSpPr txBox="1"/>
          <p:nvPr/>
        </p:nvSpPr>
        <p:spPr>
          <a:xfrm>
            <a:off x="571832" y="3890451"/>
            <a:ext cx="3002775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步骤IV除砷的化学方程式为</a:t>
            </a:r>
          </a:p>
        </p:txBody>
      </p:sp>
      <p:sp>
        <p:nvSpPr>
          <p:cNvPr id="22" name="文字_3H₂S + 2H₃AsO₃ = As₂S₃ ↓"/>
          <p:cNvSpPr txBox="1"/>
          <p:nvPr/>
        </p:nvSpPr>
        <p:spPr>
          <a:xfrm>
            <a:off x="502920" y="426862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3H₂S + 2H₃AsO₃ = As₂S₃ ↓ +6H₂O</a:t>
            </a:r>
          </a:p>
        </p:txBody>
      </p:sp>
      <p:sp>
        <p:nvSpPr>
          <p:cNvPr id="23" name="文字_简单计算"/>
          <p:cNvSpPr txBox="1"/>
          <p:nvPr/>
        </p:nvSpPr>
        <p:spPr>
          <a:xfrm>
            <a:off x="502920" y="470753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简单计算</a:t>
            </a:r>
          </a:p>
        </p:txBody>
      </p:sp>
      <p:sp>
        <p:nvSpPr>
          <p:cNvPr id="24" name="文字_单选题  ·  13-03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13-036</a:t>
            </a:r>
          </a:p>
        </p:txBody>
      </p:sp>
      <p:sp>
        <p:nvSpPr>
          <p:cNvPr id="25" name="文字_5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变式1</a:t>
            </a:r>
          </a:p>
        </p:txBody>
      </p:sp>
      <p:sp>
        <p:nvSpPr>
          <p:cNvPr id="5" name="文字_P29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P295</a:t>
            </a:r>
          </a:p>
        </p:txBody>
      </p:sp>
      <p:sp>
        <p:nvSpPr>
          <p:cNvPr id="6" name="文字_将一定量的锌与100 mL 18.5 mol·L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将一定量的锌与100 mL 18.5 mol·L-1浓硫酸充分反应后，锌完全溶解，同时生成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气体A 33.6 L（标准状况）。将反应后的溶液稀释至1 L，测得溶液的 c(H+) = 0.1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mol ·L-¹，则下列叙述中错误的是(</a:t>
            </a:r>
          </a:p>
        </p:txBody>
      </p:sp>
      <p:sp>
        <p:nvSpPr>
          <p:cNvPr id="7" name="文字_A. 气体 A 为 SO₂ 和 H₂的混合物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气体 A 为 SO₂ 和 H₂的混合物</a:t>
            </a:r>
          </a:p>
        </p:txBody>
      </p:sp>
      <p:sp>
        <p:nvSpPr>
          <p:cNvPr id="8" name="文字_B. 反应中共消耗 Zn 97.5 g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反应中共消耗 Zn 97.5 g</a:t>
            </a:r>
          </a:p>
        </p:txBody>
      </p:sp>
      <p:sp>
        <p:nvSpPr>
          <p:cNvPr id="9" name="文字_C. 气体 A 中 SO₂ 和H₂ 的体积比为4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气体 A 中 SO₂ 和H₂ 的体积比为4：1</a:t>
            </a:r>
          </a:p>
        </p:txBody>
      </p:sp>
      <p:sp>
        <p:nvSpPr>
          <p:cNvPr id="10" name="文字_D. 反应中共转移 3 mol 电子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反应中共转移 3 mol 电子</a:t>
            </a:r>
          </a:p>
        </p:txBody>
      </p:sp>
      <p:sp>
        <p:nvSpPr>
          <p:cNvPr id="11" name="文字_单选题  ·  13-03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13-037</a:t>
            </a:r>
          </a:p>
        </p:txBody>
      </p:sp>
      <p:sp>
        <p:nvSpPr>
          <p:cNvPr id="12" name="文字_5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变式2</a:t>
            </a:r>
          </a:p>
        </p:txBody>
      </p:sp>
      <p:sp>
        <p:nvSpPr>
          <p:cNvPr id="5" name="文字_P29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P295</a:t>
            </a:r>
          </a:p>
        </p:txBody>
      </p:sp>
      <p:sp>
        <p:nvSpPr>
          <p:cNvPr id="6" name="文字_将20~mL~18.4~mol·L-¹的两份硫酸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将20~mL~18.4~mol·L-¹的两份硫酸溶液分别与足量的锌、铜混合，加热条件下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充分反应，依次得到气体1、溶液1与气体2、溶液2，不考虑溶液体积变化，下列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分析正确的是</a:t>
            </a:r>
          </a:p>
        </p:txBody>
      </p:sp>
      <p:sp>
        <p:nvSpPr>
          <p:cNvPr id="7" name="文字_A. 气体1、气体2成分完全相同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气体1、气体2成分完全相同</a:t>
            </a:r>
          </a:p>
        </p:txBody>
      </p:sp>
      <p:sp>
        <p:nvSpPr>
          <p:cNvPr id="8" name="文字_B. 两溶液中盐的物质的量相等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两溶液中盐的物质的量相等</a:t>
            </a:r>
          </a:p>
        </p:txBody>
      </p:sp>
      <p:sp>
        <p:nvSpPr>
          <p:cNvPr id="9" name="文字_C. Zn与硫酸发生的反应包括：Zn + 2H+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Zn与硫酸发生的反应包括：Zn + 2H+ = Zn²⁺ + H₂ ↑</a:t>
            </a:r>
          </a:p>
        </p:txBody>
      </p:sp>
      <p:sp>
        <p:nvSpPr>
          <p:cNvPr id="10" name="文字_D. 不考虑气体溶解和液体蒸发，理论上溶液2质量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不考虑气体溶解和液体蒸发，理论上溶液2质量小于反应前硫酸溶液质量</a:t>
            </a:r>
          </a:p>
        </p:txBody>
      </p:sp>
      <p:sp>
        <p:nvSpPr>
          <p:cNvPr id="11" name="文字_单选题  ·  13-03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13-038</a:t>
            </a:r>
          </a:p>
        </p:txBody>
      </p:sp>
      <p:sp>
        <p:nvSpPr>
          <p:cNvPr id="12" name="文字_5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变式3</a:t>
            </a:r>
          </a:p>
        </p:txBody>
      </p:sp>
      <p:sp>
        <p:nvSpPr>
          <p:cNvPr id="5" name="文字_P29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P295</a:t>
            </a:r>
          </a:p>
        </p:txBody>
      </p:sp>
      <p:sp>
        <p:nvSpPr>
          <p:cNvPr id="6" name="文字_已知锌与浓硫酸反应生成SO₂，与稀硫酸反应生成H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已知锌与浓硫酸反应生成SO₂，与稀硫酸反应生成H₂。32.5g的锌与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50mL₁₈.4mol/L的浓硫酸完分反应，锌完全溶解，同时收集到标准状况下气体VL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，将反应后的溶液稀释到500mL，测得溶液中氢离子的浓度为0.08mol/L。</a:t>
            </a:r>
          </a:p>
        </p:txBody>
      </p:sp>
      <p:sp>
        <p:nvSpPr>
          <p:cNvPr id="7" name="文字_(1) 反应过程中消耗H₂SO₄的物质的量是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反应过程中消耗H₂SO₄的物质的量是</a:t>
            </a:r>
          </a:p>
        </p:txBody>
      </p:sp>
      <p:sp>
        <p:nvSpPr>
          <p:cNvPr id="8" name="文字_(2) 气体的成分是 ______ ,V=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气体的成分是 ______ ,V=</a:t>
            </a:r>
          </a:p>
        </p:txBody>
      </p:sp>
      <p:sp>
        <p:nvSpPr>
          <p:cNvPr id="9" name="文字_解答题  ·  13-03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13-039</a:t>
            </a:r>
          </a:p>
        </p:txBody>
      </p:sp>
      <p:sp>
        <p:nvSpPr>
          <p:cNvPr id="10" name="文字_5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硫酸及硫酸盐的重要性质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硫酸及硫酸盐的重要性质 · 变式4</a:t>
            </a:r>
          </a:p>
        </p:txBody>
      </p:sp>
      <p:sp>
        <p:nvSpPr>
          <p:cNvPr id="5" name="文字_P29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P295</a:t>
            </a:r>
          </a:p>
        </p:txBody>
      </p:sp>
      <p:sp>
        <p:nvSpPr>
          <p:cNvPr id="6" name="文字_已知：SO₂ + I₂ + 2H₂O=SO₄²⁻"/>
          <p:cNvSpPr txBox="1"/>
          <p:nvPr/>
        </p:nvSpPr>
        <p:spPr>
          <a:xfrm>
            <a:off x="502920" y="1078992"/>
            <a:ext cx="1106424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已知：SO₂ + I₂ + 2H₂O=SO₄²⁻+2I-+4H+。现将101.6mgI₂固体溶于水配成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400mL溶液，（为了便于观察，可以加几滴淀粉）用于吸收空气管道中的SO₂，若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管道中空气流量为40L/min，经过5min溶液恰好褪色，则空气样品中SO₂的含量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mg/L。</a:t>
            </a:r>
          </a:p>
        </p:txBody>
      </p:sp>
      <p:sp>
        <p:nvSpPr>
          <p:cNvPr id="7" name="文字_填空题  ·  13-04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13-040</a:t>
            </a:r>
          </a:p>
        </p:txBody>
      </p:sp>
      <p:sp>
        <p:nvSpPr>
          <p:cNvPr id="8" name="文字_5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第13章 硫及其化合物</dc:title>
  <dc:subject>高一化学课堂课件：知识讲解与原题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
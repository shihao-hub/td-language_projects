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P178；PDF 文件第 180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P178；PDF 文件第 180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P178；PDF 文件第 180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P179；PDF 文件第 181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例题 1 / 单选题</a:t>
            </a:r>
          </a:p>
          <a:p>
            <a:r>
              <a:t>讲义印刷页：P179</a:t>
            </a:r>
          </a:p>
          <a:p>
            <a:r>
              <a:t>PDF 文件页：181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例题 2 / 单选题</a:t>
            </a:r>
          </a:p>
          <a:p>
            <a:r>
              <a:t>讲义印刷页：P179</a:t>
            </a:r>
          </a:p>
          <a:p>
            <a:r>
              <a:t>PDF 文件页：181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例题 3 / 单选题</a:t>
            </a:r>
          </a:p>
          <a:p>
            <a:r>
              <a:t>讲义印刷页：P180</a:t>
            </a:r>
          </a:p>
          <a:p>
            <a:r>
              <a:t>PDF 文件页：182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例题 4 / 单选题</a:t>
            </a:r>
          </a:p>
          <a:p>
            <a:r>
              <a:t>讲义印刷页：P180</a:t>
            </a:r>
          </a:p>
          <a:p>
            <a:r>
              <a:t>PDF 文件页：182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例题 5 / 单选题</a:t>
            </a:r>
          </a:p>
          <a:p>
            <a:r>
              <a:t>讲义印刷页：P180</a:t>
            </a:r>
          </a:p>
          <a:p>
            <a:r>
              <a:t>PDF 文件页：182</a:t>
            </a:r>
          </a:p>
          <a:p>
            <a:r>
              <a:t>题目保留原题空白；未补充答案。文字为可编辑内容，图形保留原图线条。</a:t>
            </a:r>
          </a:p>
          <a:p>
            <a:r>
              <a:t>OCR 重点复核位置（请对照原讲义检查公式、上下标和字符）：</a:t>
            </a:r>
          </a:p>
          <a:p>
            <a:r>
              <a:t>P180：1</a:t>
            </a:r>
          </a:p>
          <a:p>
            <a:r>
              <a:t>P180：10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例题 6 / 单选题</a:t>
            </a:r>
          </a:p>
          <a:p>
            <a:r>
              <a:t>讲义印刷页：P180</a:t>
            </a:r>
          </a:p>
          <a:p>
            <a:r>
              <a:t>PDF 文件页：182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例题 7 / 单选题</a:t>
            </a:r>
          </a:p>
          <a:p>
            <a:r>
              <a:t>讲义印刷页：P181</a:t>
            </a:r>
          </a:p>
          <a:p>
            <a:r>
              <a:t>PDF 文件页：183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例题 8 / 单选题</a:t>
            </a:r>
          </a:p>
          <a:p>
            <a:r>
              <a:t>讲义印刷页：P181</a:t>
            </a:r>
          </a:p>
          <a:p>
            <a:r>
              <a:t>PDF 文件页：183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变式 1 / 单选题</a:t>
            </a:r>
          </a:p>
          <a:p>
            <a:r>
              <a:t>讲义印刷页：P181</a:t>
            </a:r>
          </a:p>
          <a:p>
            <a:r>
              <a:t>PDF 文件页：183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变式 2 / 单选题</a:t>
            </a:r>
          </a:p>
          <a:p>
            <a:r>
              <a:t>讲义印刷页：P181</a:t>
            </a:r>
          </a:p>
          <a:p>
            <a:r>
              <a:t>PDF 文件页：183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变式 3 / 单选题</a:t>
            </a:r>
          </a:p>
          <a:p>
            <a:r>
              <a:t>讲义印刷页：P182</a:t>
            </a:r>
          </a:p>
          <a:p>
            <a:r>
              <a:t>PDF 文件页：184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变式 4 / 单选题</a:t>
            </a:r>
          </a:p>
          <a:p>
            <a:r>
              <a:t>讲义印刷页：P182</a:t>
            </a:r>
          </a:p>
          <a:p>
            <a:r>
              <a:t>PDF 文件页：184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变式 5 / 单选题</a:t>
            </a:r>
          </a:p>
          <a:p>
            <a:r>
              <a:t>讲义印刷页：P182</a:t>
            </a:r>
          </a:p>
          <a:p>
            <a:r>
              <a:t>PDF 文件页：184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变式 6 / 单选题</a:t>
            </a:r>
          </a:p>
          <a:p>
            <a:r>
              <a:t>讲义印刷页：P182</a:t>
            </a:r>
          </a:p>
          <a:p>
            <a:r>
              <a:t>PDF 文件页：184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变式 7 / 单选题</a:t>
            </a:r>
          </a:p>
          <a:p>
            <a:r>
              <a:t>讲义印刷页：P182, P183</a:t>
            </a:r>
          </a:p>
          <a:p>
            <a:r>
              <a:t>PDF 文件页：184, 185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P183；PDF 文件第 185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原题定位：知识点1铁的物理和化学性质 / 变式 8 / 填空题</a:t>
            </a:r>
          </a:p>
          <a:p>
            <a:r>
              <a:t>讲义印刷页：P183</a:t>
            </a:r>
          </a:p>
          <a:p>
            <a:r>
              <a:t>PDF 文件页：185</a:t>
            </a:r>
          </a:p>
          <a:p>
            <a:r>
              <a:t>题目保留原题空白；未补充答案。文字为可编辑内容，图形保留原图线条。</a:t>
            </a:r>
          </a:p>
          <a:p>
            <a:r>
              <a:t>OCR 重点复核位置（请对照原讲义检查公式、上下标和字符）：</a:t>
            </a:r>
          </a:p>
          <a:p>
            <a:r>
              <a:t>P183：O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P184；PDF 文件第 186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P184；PDF 文件第 186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1 / 单选题</a:t>
            </a:r>
          </a:p>
          <a:p>
            <a:r>
              <a:t>讲义印刷页：P184</a:t>
            </a:r>
          </a:p>
          <a:p>
            <a:r>
              <a:t>PDF 文件页：186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2 / 单选题</a:t>
            </a:r>
          </a:p>
          <a:p>
            <a:r>
              <a:t>讲义印刷页：P185</a:t>
            </a:r>
          </a:p>
          <a:p>
            <a:r>
              <a:t>PDF 文件页：187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3 / 单选题</a:t>
            </a:r>
          </a:p>
          <a:p>
            <a:r>
              <a:t>讲义印刷页：P185</a:t>
            </a:r>
          </a:p>
          <a:p>
            <a:r>
              <a:t>PDF 文件页：187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4 / 单选题</a:t>
            </a:r>
          </a:p>
          <a:p>
            <a:r>
              <a:t>讲义印刷页：P185</a:t>
            </a:r>
          </a:p>
          <a:p>
            <a:r>
              <a:t>PDF 文件页：187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5 / 单选题</a:t>
            </a:r>
          </a:p>
          <a:p>
            <a:r>
              <a:t>讲义印刷页：P185</a:t>
            </a:r>
          </a:p>
          <a:p>
            <a:r>
              <a:t>PDF 文件页：187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6 / 单选题</a:t>
            </a:r>
          </a:p>
          <a:p>
            <a:r>
              <a:t>讲义印刷页：P186</a:t>
            </a:r>
          </a:p>
          <a:p>
            <a:r>
              <a:t>PDF 文件页：188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7 / 单选题</a:t>
            </a:r>
          </a:p>
          <a:p>
            <a:r>
              <a:t>讲义印刷页：P186</a:t>
            </a:r>
          </a:p>
          <a:p>
            <a:r>
              <a:t>PDF 文件页：188</a:t>
            </a:r>
          </a:p>
          <a:p>
            <a:r>
              <a:t>题目保留原题空白；未补充答案。文字为可编辑内容，图形保留原图线条。</a:t>
            </a:r>
          </a:p>
          <a:p>
            <a:r>
              <a:t>OCR 重点复核位置（请对照原讲义检查公式、上下标和字符）：</a:t>
            </a:r>
          </a:p>
          <a:p>
            <a:r>
              <a:t>P186：∆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8 / 单选题</a:t>
            </a:r>
          </a:p>
          <a:p>
            <a:r>
              <a:t>讲义印刷页：P186</a:t>
            </a:r>
          </a:p>
          <a:p>
            <a:r>
              <a:t>PDF 文件页：188</a:t>
            </a:r>
          </a:p>
          <a:p>
            <a:r>
              <a:t>题目保留原题空白；未补充答案。文字为可编辑内容，图形保留原图线条。</a:t>
            </a:r>
          </a:p>
          <a:p>
            <a:r>
              <a:t>OCR 重点复核位置（请对照原讲义检查公式、上下标和字符）：</a:t>
            </a:r>
          </a:p>
          <a:p>
            <a:r>
              <a:t>P186：价</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9 / 单选题</a:t>
            </a:r>
          </a:p>
          <a:p>
            <a:r>
              <a:t>讲义印刷页：P187</a:t>
            </a:r>
          </a:p>
          <a:p>
            <a:r>
              <a:t>PDF 文件页：189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10 / 单选题</a:t>
            </a:r>
          </a:p>
          <a:p>
            <a:r>
              <a:t>讲义印刷页：P187</a:t>
            </a:r>
          </a:p>
          <a:p>
            <a:r>
              <a:t>PDF 文件页：189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11 / 解答题</a:t>
            </a:r>
          </a:p>
          <a:p>
            <a:r>
              <a:t>讲义印刷页：P187</a:t>
            </a:r>
          </a:p>
          <a:p>
            <a:r>
              <a:t>PDF 文件页：189</a:t>
            </a:r>
          </a:p>
          <a:p>
            <a:r>
              <a:t>题目保留原题空白；未补充答案。文字为可编辑内容，图形保留原图线条。</a:t>
            </a:r>
          </a:p>
          <a:p>
            <a:r>
              <a:t>OCR 重点复核位置（请对照原讲义检查公式、上下标和字符）：</a:t>
            </a:r>
          </a:p>
          <a:p>
            <a:r>
              <a:t>P187：1</a:t>
            </a:r>
          </a:p>
          <a:p>
            <a:r>
              <a:t>P187：O</a:t>
            </a:r>
          </a:p>
          <a:p>
            <a:r>
              <a:t>P187：0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例题 12 / 解答题</a:t>
            </a:r>
          </a:p>
          <a:p>
            <a:r>
              <a:t>讲义印刷页：P188</a:t>
            </a:r>
          </a:p>
          <a:p>
            <a:r>
              <a:t>PDF 文件页：190</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P188：x</a:t>
            </a:r>
          </a:p>
          <a:p>
            <a:r>
              <a:t>P188：O</a:t>
            </a:r>
          </a:p>
          <a:p>
            <a:r>
              <a:t>P188：O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1 / 单选题</a:t>
            </a:r>
          </a:p>
          <a:p>
            <a:r>
              <a:t>讲义印刷页：P188</a:t>
            </a:r>
          </a:p>
          <a:p>
            <a:r>
              <a:t>PDF 文件页：190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2 / 单选题</a:t>
            </a:r>
          </a:p>
          <a:p>
            <a:r>
              <a:t>讲义印刷页：P188</a:t>
            </a:r>
          </a:p>
          <a:p>
            <a:r>
              <a:t>PDF 文件页：190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3 / 单选题</a:t>
            </a:r>
          </a:p>
          <a:p>
            <a:r>
              <a:t>讲义印刷页：P189</a:t>
            </a:r>
          </a:p>
          <a:p>
            <a:r>
              <a:t>PDF 文件页：191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4 / 单选题</a:t>
            </a:r>
          </a:p>
          <a:p>
            <a:r>
              <a:t>讲义印刷页：P189</a:t>
            </a:r>
          </a:p>
          <a:p>
            <a:r>
              <a:t>PDF 文件页：191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5 / 单选题</a:t>
            </a:r>
          </a:p>
          <a:p>
            <a:r>
              <a:t>讲义印刷页：P189</a:t>
            </a:r>
          </a:p>
          <a:p>
            <a:r>
              <a:t>PDF 文件页：191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6 / 单选题</a:t>
            </a:r>
          </a:p>
          <a:p>
            <a:r>
              <a:t>讲义印刷页：P189</a:t>
            </a:r>
          </a:p>
          <a:p>
            <a:r>
              <a:t>PDF 文件页：191</a:t>
            </a:r>
          </a:p>
          <a:p>
            <a:r>
              <a:t>题目保留原题空白；未补充答案。文字为可编辑内容，图形保留原图线条。</a:t>
            </a:r>
          </a:p>
          <a:p>
            <a:r>
              <a:t>OCR 重点复核位置（请对照原讲义检查公式、上下标和字符）：</a:t>
            </a:r>
          </a:p>
          <a:p>
            <a:r>
              <a:t>P189：→Cl₂</a:t>
            </a:r>
          </a:p>
          <a:p>
            <a:r>
              <a:t>P189：②CaCO₃→CO₂</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7 / 单选题</a:t>
            </a:r>
          </a:p>
          <a:p>
            <a:r>
              <a:t>讲义印刷页：P189</a:t>
            </a:r>
          </a:p>
          <a:p>
            <a:r>
              <a:t>PDF 文件页：191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8 / 单选题</a:t>
            </a:r>
          </a:p>
          <a:p>
            <a:r>
              <a:t>讲义印刷页：P190</a:t>
            </a:r>
          </a:p>
          <a:p>
            <a:r>
              <a:t>PDF 文件页：192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9 / 单选题</a:t>
            </a:r>
          </a:p>
          <a:p>
            <a:r>
              <a:t>讲义印刷页：P190</a:t>
            </a:r>
          </a:p>
          <a:p>
            <a:r>
              <a:t>PDF 文件页：192</a:t>
            </a:r>
          </a:p>
          <a:p>
            <a:r>
              <a:t>题目保留原题空白；未补充答案。文字为可编辑内容，图形保留原图线条。</a:t>
            </a:r>
          </a:p>
          <a:p>
            <a:r>
              <a:t>OCR 重点复核位置（请对照原讲义检查公式、上下标和字符）：</a:t>
            </a:r>
          </a:p>
          <a:p>
            <a:r>
              <a:t>P190：6</a:t>
            </a:r>
          </a:p>
          <a:p>
            <a:r>
              <a:t>P190：→回</a:t>
            </a:r>
          </a:p>
          <a:p>
            <a:r>
              <a:t>P190：⑤</a:t>
            </a:r>
          </a:p>
          <a:p>
            <a:r>
              <a:t>P190：O₂</a:t>
            </a:r>
          </a:p>
          <a:p>
            <a:r>
              <a:t>P190：→E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原题定位：知识点3铁的氢氧化物 / 变式 10 / 填空题</a:t>
            </a:r>
          </a:p>
          <a:p>
            <a:r>
              <a:t>讲义印刷页：P190</a:t>
            </a:r>
          </a:p>
          <a:p>
            <a:r>
              <a:t>PDF 文件页：192</a:t>
            </a:r>
          </a:p>
          <a:p>
            <a:r>
              <a:t>题目保留原题空白；未补充答案。文字为可编辑内容，图形保留原图线条。</a:t>
            </a:r>
          </a:p>
          <a:p>
            <a:r>
              <a:t>OCR 重点复核位置（请对照原讲义检查公式、上下标和字符）：</a:t>
            </a:r>
          </a:p>
          <a:p>
            <a:r>
              <a:t>P190：FeCl₂₂溶液</a:t>
            </a:r>
          </a:p>
          <a:p>
            <a:r>
              <a:t>P190：O</a:t>
            </a:r>
          </a:p>
          <a:p>
            <a:r>
              <a:t>P190：o</a:t>
            </a:r>
          </a:p>
          <a:p>
            <a:r>
              <a:t>P190：o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P192；PDF 文件第 194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P193；PDF 文件第 195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1 / 单选题</a:t>
            </a:r>
          </a:p>
          <a:p>
            <a:r>
              <a:t>讲义印刷页：P194</a:t>
            </a:r>
          </a:p>
          <a:p>
            <a:r>
              <a:t>PDF 文件页：196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2 / 单选题</a:t>
            </a:r>
          </a:p>
          <a:p>
            <a:r>
              <a:t>讲义印刷页：P194</a:t>
            </a:r>
          </a:p>
          <a:p>
            <a:r>
              <a:t>PDF 文件页：196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3 / 单选题</a:t>
            </a:r>
          </a:p>
          <a:p>
            <a:r>
              <a:t>讲义印刷页：P194</a:t>
            </a:r>
          </a:p>
          <a:p>
            <a:r>
              <a:t>PDF 文件页：196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4 / 单选题</a:t>
            </a:r>
          </a:p>
          <a:p>
            <a:r>
              <a:t>讲义印刷页：P194</a:t>
            </a:r>
          </a:p>
          <a:p>
            <a:r>
              <a:t>PDF 文件页：196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5 / 单选题</a:t>
            </a:r>
          </a:p>
          <a:p>
            <a:r>
              <a:t>讲义印刷页：P194</a:t>
            </a:r>
          </a:p>
          <a:p>
            <a:r>
              <a:t>PDF 文件页：196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6 / 单选题</a:t>
            </a:r>
          </a:p>
          <a:p>
            <a:r>
              <a:t>讲义印刷页：P195</a:t>
            </a:r>
          </a:p>
          <a:p>
            <a:r>
              <a:t>PDF 文件页：197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7 / 填空题</a:t>
            </a:r>
          </a:p>
          <a:p>
            <a:r>
              <a:t>讲义印刷页：P195</a:t>
            </a:r>
          </a:p>
          <a:p>
            <a:r>
              <a:t>PDF 文件页：197</a:t>
            </a:r>
          </a:p>
          <a:p>
            <a:r>
              <a:t>题目保留原题空白；未补充答案。文字为可编辑内容，图形保留原图线条。</a:t>
            </a:r>
          </a:p>
          <a:p>
            <a:r>
              <a:t>OCR 重点复核位置（请对照原讲义检查公式、上下标和字符）：</a:t>
            </a:r>
          </a:p>
          <a:p>
            <a:r>
              <a:t>P195：O</a:t>
            </a:r>
          </a:p>
          <a:p>
            <a:r>
              <a:t>P195：，Fe²⁺遇SCN -</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8 / 填空题</a:t>
            </a:r>
          </a:p>
          <a:p>
            <a:r>
              <a:t>讲义印刷页：P195</a:t>
            </a:r>
          </a:p>
          <a:p>
            <a:r>
              <a:t>PDF 文件页：197</a:t>
            </a:r>
          </a:p>
          <a:p>
            <a:r>
              <a:t>题目保留原题空白；未补充答案。文字为可编辑内容，图形保留原图线条。</a:t>
            </a:r>
          </a:p>
          <a:p>
            <a:r>
              <a:t>OCR 重点复核位置（请对照原讲义检查公式、上下标和字符）：</a:t>
            </a:r>
          </a:p>
          <a:p>
            <a:r>
              <a:t>P195：O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例题 9 / 解答题</a:t>
            </a:r>
          </a:p>
          <a:p>
            <a:r>
              <a:t>讲义印刷页：P196</a:t>
            </a:r>
          </a:p>
          <a:p>
            <a:r>
              <a:t>PDF 文件页：198</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P196：一</a:t>
            </a:r>
          </a:p>
          <a:p>
            <a:r>
              <a:t>P196：元</a:t>
            </a:r>
          </a:p>
          <a:p>
            <a:r>
              <a:t>P196：f =E</a:t>
            </a:r>
          </a:p>
          <a:p>
            <a:r>
              <a:t>P196：o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变式 1 / 单选题</a:t>
            </a:r>
          </a:p>
          <a:p>
            <a:r>
              <a:t>讲义印刷页：P196</a:t>
            </a:r>
          </a:p>
          <a:p>
            <a:r>
              <a:t>PDF 文件页：198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变式 2 / 单选题</a:t>
            </a:r>
          </a:p>
          <a:p>
            <a:r>
              <a:t>讲义印刷页：P196</a:t>
            </a:r>
          </a:p>
          <a:p>
            <a:r>
              <a:t>PDF 文件页：198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变式 3 / 单选题</a:t>
            </a:r>
          </a:p>
          <a:p>
            <a:r>
              <a:t>讲义印刷页：P197</a:t>
            </a:r>
          </a:p>
          <a:p>
            <a:r>
              <a:t>PDF 文件页：199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变式 4 / 单选题</a:t>
            </a:r>
          </a:p>
          <a:p>
            <a:r>
              <a:t>讲义印刷页：P197</a:t>
            </a:r>
          </a:p>
          <a:p>
            <a:r>
              <a:t>PDF 文件页：199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变式 5 / 单选题</a:t>
            </a:r>
          </a:p>
          <a:p>
            <a:r>
              <a:t>讲义印刷页：P197</a:t>
            </a:r>
          </a:p>
          <a:p>
            <a:r>
              <a:t>PDF 文件页：199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变式 6 / 单选题</a:t>
            </a:r>
          </a:p>
          <a:p>
            <a:r>
              <a:t>讲义印刷页：P197</a:t>
            </a:r>
          </a:p>
          <a:p>
            <a:r>
              <a:t>PDF 文件页：199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变式 7 / 填空题</a:t>
            </a:r>
          </a:p>
          <a:p>
            <a:r>
              <a:t>讲义印刷页：P198</a:t>
            </a:r>
          </a:p>
          <a:p>
            <a:r>
              <a:t>PDF 文件页：200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变式 8 / 解答题</a:t>
            </a:r>
          </a:p>
          <a:p>
            <a:r>
              <a:t>讲义印刷页：P198</a:t>
            </a:r>
          </a:p>
          <a:p>
            <a:r>
              <a:t>PDF 文件页：200</a:t>
            </a:r>
          </a:p>
          <a:p>
            <a:r>
              <a:t>题目保留原题空白；未补充答案。文字为可编辑内容，图形保留原图线条。</a:t>
            </a:r>
          </a:p>
          <a:p>
            <a:r>
              <a:t>OCR 重点复核位置（请对照原讲义检查公式、上下标和字符）：</a:t>
            </a:r>
          </a:p>
          <a:p>
            <a:r>
              <a:t>P198：0</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巩固 1 / 单选题</a:t>
            </a:r>
          </a:p>
          <a:p>
            <a:r>
              <a:t>讲义印刷页：P199</a:t>
            </a:r>
          </a:p>
          <a:p>
            <a:r>
              <a:t>PDF 文件页：201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巩固 2 / 单选题</a:t>
            </a:r>
          </a:p>
          <a:p>
            <a:r>
              <a:t>讲义印刷页：P199</a:t>
            </a:r>
          </a:p>
          <a:p>
            <a:r>
              <a:t>PDF 文件页：201</a:t>
            </a:r>
          </a:p>
          <a:p>
            <a:r>
              <a:t>题目保留原题空白；未补充答案。文字为可编辑内容，图形保留原图线条。</a:t>
            </a:r>
          </a:p>
          <a:p>
            <a:r>
              <a:t>OCR 重点复核位置（请对照原讲义检查公式、上下标和字符）：</a:t>
            </a:r>
          </a:p>
          <a:p>
            <a:r>
              <a:t>P199：b→b→d→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巩固 3 / 单选题</a:t>
            </a:r>
          </a:p>
          <a:p>
            <a:r>
              <a:t>讲义印刷页：P199</a:t>
            </a:r>
          </a:p>
          <a:p>
            <a:r>
              <a:t>PDF 文件页：201</a:t>
            </a:r>
          </a:p>
          <a:p>
            <a:r>
              <a:t>题目保留原题空白；未补充答案。文字为可编辑内容，图形保留原图线条。</a:t>
            </a:r>
          </a:p>
          <a:p>
            <a:r>
              <a:t>OCR 重点复核位置（请对照原讲义检查公式、上下标和字符）：</a:t>
            </a:r>
          </a:p>
          <a:p>
            <a:r>
              <a:t>P199：z</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巩固 4 / 单选题</a:t>
            </a:r>
          </a:p>
          <a:p>
            <a:r>
              <a:t>讲义印刷页：P200</a:t>
            </a:r>
          </a:p>
          <a:p>
            <a:r>
              <a:t>PDF 文件页：202</a:t>
            </a:r>
          </a:p>
          <a:p>
            <a:r>
              <a:t>题目保留原题空白；未补充答案。文字为可编辑内容，图形保留原图线条。</a:t>
            </a:r>
          </a:p>
          <a:p>
            <a:r>
              <a:t>OCR 重点复核位置（请对照原讲义检查公式、上下标和字符）：</a:t>
            </a:r>
          </a:p>
          <a:p>
            <a:r>
              <a:t>P200：↑</a:t>
            </a:r>
          </a:p>
          <a:p>
            <a:r>
              <a:t>P200：FeO₂</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巩固 5 / 解答题</a:t>
            </a:r>
          </a:p>
          <a:p>
            <a:r>
              <a:t>讲义印刷页：P200</a:t>
            </a:r>
          </a:p>
          <a:p>
            <a:r>
              <a:t>PDF 文件页：202</a:t>
            </a:r>
          </a:p>
          <a:p>
            <a:r>
              <a:t>题目保留原题空白；未补充答案。文字为可编辑内容，图形保留原图线条。</a:t>
            </a:r>
          </a:p>
          <a:p>
            <a:r>
              <a:t>OCR 重点复核位置（请对照原讲义检查公式、上下标和字符）：</a:t>
            </a:r>
          </a:p>
          <a:p>
            <a:r>
              <a:t>P200：0</a:t>
            </a:r>
          </a:p>
          <a:p>
            <a:r>
              <a:t>P200：→滤渣(③)</a:t>
            </a:r>
          </a:p>
          <a:p>
            <a:r>
              <a:t>P200：④</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巩固 6 / 解答题</a:t>
            </a:r>
          </a:p>
          <a:p>
            <a:r>
              <a:t>讲义印刷页：P201</a:t>
            </a:r>
          </a:p>
          <a:p>
            <a:r>
              <a:t>PDF 文件页：203</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P201：山搅拌</a:t>
            </a:r>
          </a:p>
          <a:p>
            <a:r>
              <a:t>P201：ō</a:t>
            </a:r>
          </a:p>
          <a:p>
            <a:r>
              <a:t>P201：H</a:t>
            </a:r>
          </a:p>
          <a:p>
            <a:r>
              <a:t>P201：1</a:t>
            </a:r>
          </a:p>
          <a:p>
            <a:r>
              <a:t>P201：1</a:t>
            </a:r>
          </a:p>
          <a:p>
            <a:r>
              <a:t>P201：ⅡI</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巩固 7 / 填空题</a:t>
            </a:r>
          </a:p>
          <a:p>
            <a:r>
              <a:t>讲义印刷页：P202</a:t>
            </a:r>
          </a:p>
          <a:p>
            <a:r>
              <a:t>PDF 文件页：204</a:t>
            </a:r>
          </a:p>
          <a:p>
            <a:r>
              <a:t>题目保留原题空白；未补充答案。文字为可编辑内容，图形保留原图线条。</a:t>
            </a:r>
          </a:p>
          <a:p>
            <a:r>
              <a:t>OCR 重点复核位置（请对照原讲义检查公式、上下标和字符）：</a:t>
            </a:r>
          </a:p>
          <a:p>
            <a:r>
              <a:t>P202：o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原题定位：知识点4Fe²+ / 巩固 8 / 解答题</a:t>
            </a:r>
          </a:p>
          <a:p>
            <a:r>
              <a:t>讲义印刷页：P203</a:t>
            </a:r>
          </a:p>
          <a:p>
            <a:r>
              <a:t>PDF 文件页：205</a:t>
            </a:r>
          </a:p>
          <a:p>
            <a:r>
              <a:t>题目保留原题空白；未补充答案。文字为可编辑内容，图形保留原图线条。</a:t>
            </a:r>
          </a:p>
          <a:p>
            <a:r>
              <a:t>OCR 重点复核位置（请对照原讲义检查公式、上下标和字符）：</a:t>
            </a:r>
          </a:p>
          <a:p>
            <a:r>
              <a:t>P203：D. 铁粉</a:t>
            </a:r>
          </a:p>
          <a:p>
            <a:r>
              <a:t>P203：↓</a:t>
            </a:r>
          </a:p>
          <a:p>
            <a:r>
              <a:t>P203：4</a:t>
            </a:r>
          </a:p>
          <a:p>
            <a:r>
              <a:t>P203：滤渣a-</a:t>
            </a:r>
          </a:p>
          <a:p>
            <a:r>
              <a:t>P203：O</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P204；PDF 文件第 206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1 / 单选题</a:t>
            </a:r>
          </a:p>
          <a:p>
            <a:r>
              <a:t>讲义印刷页：P204</a:t>
            </a:r>
          </a:p>
          <a:p>
            <a:r>
              <a:t>PDF 文件页：206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2 / 单选题</a:t>
            </a:r>
          </a:p>
          <a:p>
            <a:r>
              <a:t>讲义印刷页：P204</a:t>
            </a:r>
          </a:p>
          <a:p>
            <a:r>
              <a:t>PDF 文件页：206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3 / 单选题</a:t>
            </a:r>
          </a:p>
          <a:p>
            <a:r>
              <a:t>讲义印刷页：P204</a:t>
            </a:r>
          </a:p>
          <a:p>
            <a:r>
              <a:t>PDF 文件页：206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4 / 解答题</a:t>
            </a:r>
          </a:p>
          <a:p>
            <a:r>
              <a:t>讲义印刷页：P204</a:t>
            </a:r>
          </a:p>
          <a:p>
            <a:r>
              <a:t>PDF 文件页：206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1 / 单选题</a:t>
            </a:r>
          </a:p>
          <a:p>
            <a:r>
              <a:t>讲义印刷页：P205</a:t>
            </a:r>
          </a:p>
          <a:p>
            <a:r>
              <a:t>PDF 文件页：207</a:t>
            </a:r>
          </a:p>
          <a:p>
            <a:r>
              <a:t>题目保留原题空白；未补充答案。文字为可编辑内容，图形保留原图线条。</a:t>
            </a:r>
          </a:p>
          <a:p>
            <a:r>
              <a:t>OCR 重点复核位置（请对照原讲义检查公式、上下标和字符）：</a:t>
            </a:r>
          </a:p>
          <a:p>
            <a:r>
              <a:t>P205：B. 3: 2</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2 / 单选题</a:t>
            </a:r>
          </a:p>
          <a:p>
            <a:r>
              <a:t>讲义印刷页：P205</a:t>
            </a:r>
          </a:p>
          <a:p>
            <a:r>
              <a:t>PDF 文件页：207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3 / 单选题</a:t>
            </a:r>
          </a:p>
          <a:p>
            <a:r>
              <a:t>讲义印刷页：P205</a:t>
            </a:r>
          </a:p>
          <a:p>
            <a:r>
              <a:t>PDF 文件页：207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4 / 单选题</a:t>
            </a:r>
          </a:p>
          <a:p>
            <a:r>
              <a:t>讲义印刷页：P205</a:t>
            </a:r>
          </a:p>
          <a:p>
            <a:r>
              <a:t>PDF 文件页：207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5 / 单选题</a:t>
            </a:r>
          </a:p>
          <a:p>
            <a:r>
              <a:t>讲义印刷页：P205</a:t>
            </a:r>
          </a:p>
          <a:p>
            <a:r>
              <a:t>PDF 文件页：207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6 / 单选题</a:t>
            </a:r>
          </a:p>
          <a:p>
            <a:r>
              <a:t>讲义印刷页：P206</a:t>
            </a:r>
          </a:p>
          <a:p>
            <a:r>
              <a:t>PDF 文件页：208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7 / 单选题</a:t>
            </a:r>
          </a:p>
          <a:p>
            <a:r>
              <a:t>讲义印刷页：P206</a:t>
            </a:r>
          </a:p>
          <a:p>
            <a:r>
              <a:t>PDF 文件页：208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8 / 解答题</a:t>
            </a:r>
          </a:p>
          <a:p>
            <a:r>
              <a:t>讲义印刷页：P206</a:t>
            </a:r>
          </a:p>
          <a:p>
            <a:r>
              <a:t>PDF 文件页：208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9 / 解答题</a:t>
            </a:r>
          </a:p>
          <a:p>
            <a:r>
              <a:t>讲义印刷页：P206</a:t>
            </a:r>
          </a:p>
          <a:p>
            <a:r>
              <a:t>PDF 文件页：208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10 / 填空题</a:t>
            </a:r>
          </a:p>
          <a:p>
            <a:r>
              <a:t>讲义印刷页：P206</a:t>
            </a:r>
          </a:p>
          <a:p>
            <a:r>
              <a:t>PDF 文件页：208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1 / 单选题</a:t>
            </a:r>
          </a:p>
          <a:p>
            <a:r>
              <a:t>讲义印刷页：P207</a:t>
            </a:r>
          </a:p>
          <a:p>
            <a:r>
              <a:t>PDF 文件页：209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2 / 单选题</a:t>
            </a:r>
          </a:p>
          <a:p>
            <a:r>
              <a:t>讲义印刷页：P207</a:t>
            </a:r>
          </a:p>
          <a:p>
            <a:r>
              <a:t>PDF 文件页：209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3 / 单选题</a:t>
            </a:r>
          </a:p>
          <a:p>
            <a:r>
              <a:t>讲义印刷页：P207</a:t>
            </a:r>
          </a:p>
          <a:p>
            <a:r>
              <a:t>PDF 文件页：209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4 / 填空题</a:t>
            </a:r>
          </a:p>
          <a:p>
            <a:r>
              <a:t>讲义印刷页：P207</a:t>
            </a:r>
          </a:p>
          <a:p>
            <a:r>
              <a:t>PDF 文件页：209</a:t>
            </a:r>
          </a:p>
          <a:p>
            <a:r>
              <a:t>题目保留原题空白；未补充答案。文字为可编辑内容，图形保留原图线条。</a:t>
            </a:r>
          </a:p>
          <a:p>
            <a:r>
              <a:t>OCR 重点复核位置（请对照原讲义检查公式、上下标和字符）：</a:t>
            </a:r>
          </a:p>
          <a:p>
            <a:r>
              <a:t>P207：O</a:t>
            </a:r>
          </a:p>
          <a:p>
            <a:r>
              <a:t>P207：go</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5 / 单选题</a:t>
            </a:r>
          </a:p>
          <a:p>
            <a:r>
              <a:t>讲义印刷页：P208</a:t>
            </a:r>
          </a:p>
          <a:p>
            <a:r>
              <a:t>PDF 文件页：210</a:t>
            </a:r>
          </a:p>
          <a:p>
            <a:r>
              <a:t>题目保留原题空白；未补充答案。文字为可编辑内容，图形保留原图线条。</a:t>
            </a:r>
          </a:p>
          <a:p>
            <a:r>
              <a:t>OCR 重点复核位置（请对照原讲义检查公式、上下标和字符）：</a:t>
            </a:r>
          </a:p>
          <a:p>
            <a:r>
              <a:t>P208：→滤液A(不含Cu²⁺)</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6 / 填空题</a:t>
            </a:r>
          </a:p>
          <a:p>
            <a:r>
              <a:t>讲义印刷页：P208</a:t>
            </a:r>
          </a:p>
          <a:p>
            <a:r>
              <a:t>PDF 文件页：210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例题 7 / 解答题</a:t>
            </a:r>
          </a:p>
          <a:p>
            <a:r>
              <a:t>讲义印刷页：P208</a:t>
            </a:r>
          </a:p>
          <a:p>
            <a:r>
              <a:t>PDF 文件页：210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综合 1 / 单选题</a:t>
            </a:r>
          </a:p>
          <a:p>
            <a:r>
              <a:t>讲义印刷页：P208</a:t>
            </a:r>
          </a:p>
          <a:p>
            <a:r>
              <a:t>PDF 文件页：210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综合 2 / 单选题</a:t>
            </a:r>
          </a:p>
          <a:p>
            <a:r>
              <a:t>讲义印刷页：P208, P209</a:t>
            </a:r>
          </a:p>
          <a:p>
            <a:r>
              <a:t>PDF 文件页：210, 211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综合 3 / 单选题</a:t>
            </a:r>
          </a:p>
          <a:p>
            <a:r>
              <a:t>讲义印刷页：P209</a:t>
            </a:r>
          </a:p>
          <a:p>
            <a:r>
              <a:t>PDF 文件页：211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综合 4 / 单选题</a:t>
            </a:r>
          </a:p>
          <a:p>
            <a:r>
              <a:t>讲义印刷页：P209</a:t>
            </a:r>
          </a:p>
          <a:p>
            <a:r>
              <a:t>PDF 文件页：211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综合 5 / 解答题</a:t>
            </a:r>
          </a:p>
          <a:p>
            <a:r>
              <a:t>讲义印刷页：P209</a:t>
            </a:r>
          </a:p>
          <a:p>
            <a:r>
              <a:t>PDF 文件页：211</a:t>
            </a:r>
          </a:p>
          <a:p>
            <a:r>
              <a:t>题目保留原题空白；未补充答案。文字为可编辑内容，图形保留原图线条。</a:t>
            </a:r>
          </a:p>
          <a:p>
            <a:r>
              <a:t>OCR 重点复核位置（请对照原讲义检查公式、上下标和字符）：</a:t>
            </a:r>
          </a:p>
          <a:p>
            <a:r>
              <a:t>P209：go</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原题定位：知识点5铁的计算 / 综合 6 / 解答题</a:t>
            </a:r>
          </a:p>
          <a:p>
            <a:r>
              <a:t>讲义印刷页：P209</a:t>
            </a:r>
          </a:p>
          <a:p>
            <a:r>
              <a:t>PDF 文件页：211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1.png"/><Relationship Id="rId4"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4.png"/><Relationship Id="rId4" Type="http://schemas.openxmlformats.org/officeDocument/2006/relationships/notesSlide" Target="../notesSlides/notesSlide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notesSlide" Target="../notesSlides/notes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notesSlide" Target="../notesSlides/notesSlide6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notesSlide" Target="../notesSlides/notesSlide6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notesSlide" Target="../notesSlides/notesSlide6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7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4.png"/><Relationship Id="rId4"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5.png"/><Relationship Id="rId4"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6.png"/><Relationship Id="rId4"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7.png"/><Relationship Id="rId4"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铁及其化合物"/>
          <p:cNvSpPr txBox="1"/>
          <p:nvPr/>
        </p:nvSpPr>
        <p:spPr>
          <a:xfrm>
            <a:off x="713232" y="2103120"/>
            <a:ext cx="10744200" cy="1234440"/>
          </a:xfrm>
          <a:prstGeom prst="rect">
            <a:avLst/>
          </a:prstGeom>
          <a:noFill/>
        </p:spPr>
        <p:txBody>
          <a:bodyPr wrap="square" lIns="0" rIns="0" tIns="0" bIns="0">
            <a:spAutoFit/>
          </a:bodyPr>
          <a:lstStyle/>
          <a:p>
            <a:pPr>
              <a:lnSpc>
                <a:spcPct val="112000"/>
              </a:lnSpc>
              <a:spcBef>
                <a:spcPts val="0"/>
              </a:spcBef>
              <a:spcAft>
                <a:spcPts val="0"/>
              </a:spcAft>
              <a:defRPr sz="4400" b="1">
                <a:solidFill>
                  <a:srgbClr val="F1922F"/>
                </a:solidFill>
                <a:latin typeface="微软雅黑"/>
              </a:defRPr>
            </a:pPr>
            <a:r>
              <a:rPr>
                <a:ea typeface="微软雅黑"/>
              </a:rPr>
              <a:t>铁及其化合物</a:t>
            </a:r>
          </a:p>
        </p:txBody>
      </p:sp>
      <p:sp>
        <p:nvSpPr>
          <p:cNvPr id="4" name="文字_第 09 章  ·  高一化学"/>
          <p:cNvSpPr txBox="1"/>
          <p:nvPr/>
        </p:nvSpPr>
        <p:spPr>
          <a:xfrm>
            <a:off x="777240" y="1517904"/>
            <a:ext cx="10058400" cy="457200"/>
          </a:xfrm>
          <a:prstGeom prst="rect">
            <a:avLst/>
          </a:prstGeom>
          <a:noFill/>
        </p:spPr>
        <p:txBody>
          <a:bodyPr wrap="square" lIns="0" rIns="0" tIns="0" bIns="0">
            <a:spAutoFit/>
          </a:bodyPr>
          <a:lstStyle/>
          <a:p>
            <a:pPr>
              <a:lnSpc>
                <a:spcPct val="112000"/>
              </a:lnSpc>
              <a:spcBef>
                <a:spcPts val="0"/>
              </a:spcBef>
              <a:spcAft>
                <a:spcPts val="0"/>
              </a:spcAft>
              <a:defRPr sz="2400" b="0">
                <a:solidFill>
                  <a:srgbClr val="777777"/>
                </a:solidFill>
                <a:latin typeface="微软雅黑"/>
              </a:defRPr>
            </a:pPr>
            <a:r>
              <a:rPr>
                <a:ea typeface="微软雅黑"/>
              </a:rPr>
              <a:t>第 09 章  ·  高一化学</a:t>
            </a:r>
          </a:p>
        </p:txBody>
      </p:sp>
      <p:sp>
        <p:nvSpPr>
          <p:cNvPr id="5" name="文字_知识讲解  ·  例题与变式  ·  综合练习"/>
          <p:cNvSpPr txBox="1"/>
          <p:nvPr/>
        </p:nvSpPr>
        <p:spPr>
          <a:xfrm>
            <a:off x="777240" y="3474720"/>
            <a:ext cx="10607040" cy="548640"/>
          </a:xfrm>
          <a:prstGeom prst="rect">
            <a:avLst/>
          </a:prstGeom>
          <a:noFill/>
        </p:spPr>
        <p:txBody>
          <a:bodyPr wrap="square" lIns="0" rIns="0" tIns="0" bIns="0">
            <a:spAutoFit/>
          </a:bodyPr>
          <a:lstStyle/>
          <a:p>
            <a:pPr>
              <a:lnSpc>
                <a:spcPct val="112000"/>
              </a:lnSpc>
              <a:spcBef>
                <a:spcPts val="0"/>
              </a:spcBef>
              <a:spcAft>
                <a:spcPts val="0"/>
              </a:spcAft>
              <a:defRPr sz="2600" b="0">
                <a:solidFill>
                  <a:srgbClr val="333333"/>
                </a:solidFill>
                <a:latin typeface="微软雅黑"/>
              </a:defRPr>
            </a:pPr>
            <a:r>
              <a:rPr>
                <a:ea typeface="微软雅黑"/>
              </a:rPr>
              <a:t>知识讲解  ·  例题与变式  ·  综合练习</a:t>
            </a:r>
          </a:p>
        </p:txBody>
      </p:sp>
      <p:sp>
        <p:nvSpPr>
          <p:cNvPr id="6" name="文字_讲义 P178–209"/>
          <p:cNvSpPr txBox="1"/>
          <p:nvPr/>
        </p:nvSpPr>
        <p:spPr>
          <a:xfrm>
            <a:off x="804672" y="4892040"/>
            <a:ext cx="10058400" cy="457200"/>
          </a:xfrm>
          <a:prstGeom prst="rect">
            <a:avLst/>
          </a:prstGeom>
          <a:noFill/>
        </p:spPr>
        <p:txBody>
          <a:bodyPr wrap="square" lIns="0" rIns="0" tIns="0" bIns="0">
            <a:spAutoFit/>
          </a:bodyPr>
          <a:lstStyle/>
          <a:p>
            <a:pPr>
              <a:lnSpc>
                <a:spcPct val="112000"/>
              </a:lnSpc>
              <a:spcBef>
                <a:spcPts val="0"/>
              </a:spcBef>
              <a:spcAft>
                <a:spcPts val="0"/>
              </a:spcAft>
              <a:defRPr sz="2000" b="0">
                <a:solidFill>
                  <a:srgbClr val="777777"/>
                </a:solidFill>
                <a:latin typeface="微软雅黑"/>
              </a:defRPr>
            </a:pPr>
            <a:r>
              <a:rPr>
                <a:ea typeface="微软雅黑"/>
              </a:rPr>
              <a:t>讲义 P178–209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1"/>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01</a:t>
            </a:r>
          </a:p>
        </p:txBody>
      </p:sp>
      <p:sp>
        <p:nvSpPr>
          <p:cNvPr id="4" name="文字_铁的存在、物理性质与冶炼"/>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铁的存在、物理性质与冶炼</a:t>
            </a:r>
          </a:p>
        </p:txBody>
      </p:sp>
      <p:sp>
        <p:nvSpPr>
          <p:cNvPr id="5" name="文字_知识梳理 · 讲义 P178"/>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P178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铁的存在、物理性质与冶炼"/>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铁的存在、物理性质与冶炼</a:t>
            </a:r>
          </a:p>
        </p:txBody>
      </p:sp>
      <p:sp>
        <p:nvSpPr>
          <p:cNvPr id="5" name="文字_知识讲解 · P17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P178</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地壳中含量约 5%，仅次于铝；主要以化合态存在，"/>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地壳中含量约 5%，仅次于铝；主要以化合态存在，游离态的铁只在陨石中出现</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常见铁矿石：磁铁矿（Fe₃O₄）、赤铁矿（Fe₂"/>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常见铁矿石：磁铁矿（Fe₃O₄）、赤铁矿（Fe₂O₃）。</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纯铁为银白色金属，抗蚀力较强，易导电导热，有延展"/>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纯铁为银白色金属，抗蚀力较强，易导电导热，有延展性；能被磁体吸引。</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熔点 1535 ℃、沸点 2750 ℃；生铁含碳"/>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熔点 1535 ℃、沸点 2750 ℃；生铁含碳 2%～4.3%，钢含碳 0.03%～2%。</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高炉炼铁产品是生铁（铁合金），不是纯铁。"/>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高炉炼铁产品是生铁（铁合金），不是纯铁。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铁与非金属、水的反应"/>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铁与非金属、水的反应</a:t>
            </a:r>
          </a:p>
        </p:txBody>
      </p:sp>
      <p:sp>
        <p:nvSpPr>
          <p:cNvPr id="5" name="文字_知识讲解 · P17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P178</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3Fe + 2O₂ —点燃→ Fe₃O₄；常温下"/>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3Fe + 2O₂ —点燃→ Fe₃O₄；常温下干燥空气中不易被氧化。</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2Fe + 3Cl₂ —点燃→ 2FeCl₃（生"/>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2Fe + 3Cl₂ —点燃→ 2FeCl₃（生成 +3 价）；2Fe + 3Br₂ = 2FeBr₃。</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Fe + I₂ = FeI₂、Fe + S —加"/>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Fe + I₂ = FeI₂、Fe + S —加热→ FeS（生成 +2 价）：氧化性 Cl₂ &gt; Br₂ &gt; </a:t>
            </a:r>
          </a:p>
          <a:p>
            <a:pPr>
              <a:lnSpc>
                <a:spcPct val="112000"/>
              </a:lnSpc>
              <a:spcBef>
                <a:spcPts val="0"/>
              </a:spcBef>
              <a:spcAft>
                <a:spcPts val="0"/>
              </a:spcAft>
              <a:defRPr sz="2400" b="0">
                <a:solidFill>
                  <a:srgbClr val="333333"/>
                </a:solidFill>
                <a:latin typeface="微软雅黑"/>
              </a:defRPr>
            </a:pPr>
            <a:r>
              <a:rPr>
                <a:ea typeface="微软雅黑"/>
              </a:rPr>
              <a:t>I₂、S。</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3Fe + 4H₂O(g) —高温→ Fe₃O₄"/>
          <p:cNvSpPr txBox="1"/>
          <p:nvPr/>
        </p:nvSpPr>
        <p:spPr>
          <a:xfrm>
            <a:off x="722376" y="389229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3Fe + 4H₂O(g) —高温→ Fe₃O₄ + 4H₂，需用还原铁粉，用爆鸣法验证 H₂</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与变价金属的氧化剂强弱决定产物价态：强氧"/>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与变价金属的氧化剂强弱决定产物价态：强氧化剂（Cl₂）得 Fe³⁺，弱氧化剂（S、I₂）得 Fe²⁺。</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铁与酸、盐溶液的反应"/>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铁与酸、盐溶液的反应</a:t>
            </a:r>
          </a:p>
        </p:txBody>
      </p:sp>
      <p:sp>
        <p:nvSpPr>
          <p:cNvPr id="5" name="文字_知识讲解 · P17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P178</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非氧化性酸：Fe + 2H⁺ = Fe²⁺ + "/>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非氧化性酸：Fe + 2H⁺ = Fe²⁺ + H₂↑。</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常温下遇浓硫酸、浓硝酸钝化；加热时剧烈反应。"/>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常温下遇浓硫酸、浓硝酸钝化；加热时剧烈反应。</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稀硝酸过量：Fe + 4H⁺ + NO₃⁻ = "/>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稀硝酸过量：Fe + 4H⁺ + NO₃⁻ = Fe³⁺ + NO↑ + 2H₂O；</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稀硝酸不足：3Fe + 8H⁺ + 2NO₃⁻ "/>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稀硝酸不足：3Fe + 8H⁺ + 2NO₃⁻ = 3Fe²⁺ + 2NO↑ + 4H₂O。</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与盐溶液：Fe + CuSO₄ = FeSO₄ "/>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与盐溶液：Fe + CuSO₄ = FeSO₄ + Cu（湿法炼铜）。</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铁与硝酸反应不生成 H₂；先判断铁过量还"/>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铁与硝酸反应不生成 H₂；先判断铁过量还是酸过量，再决定产物是 Fe²⁺ 还是 Fe³⁺。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2"/>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02</a:t>
            </a:r>
          </a:p>
        </p:txBody>
      </p:sp>
      <p:sp>
        <p:nvSpPr>
          <p:cNvPr id="4" name="文字_高炉炼铁的原理与流程"/>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高炉炼铁的原理与流程</a:t>
            </a:r>
          </a:p>
        </p:txBody>
      </p:sp>
      <p:sp>
        <p:nvSpPr>
          <p:cNvPr id="5" name="文字_知识梳理 · 讲义 P179"/>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P179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高炉炼铁的原理与流程"/>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高炉炼铁的原理与流程</a:t>
            </a:r>
          </a:p>
        </p:txBody>
      </p:sp>
      <p:sp>
        <p:nvSpPr>
          <p:cNvPr id="5" name="文字_知识讲解 · P17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P179</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原料：铁矿石、焦炭、石灰石、空气。"/>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原料：铁矿石、焦炭、石灰石、空气。</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供热与还原剂：C + O₂ —点燃→ CO₂，C"/>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供热与还原剂：C + O₂ —点燃→ CO₂，CO₂ + C —高温→ 2CO。</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炼铁：Fe₂O₃ + 3CO —高温→ 2Fe "/>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炼铁：Fe₂O₃ + 3CO —高温→ 2Fe + 3CO₂；Fe₃O₄ + 4CO —高温→ 3Fe </a:t>
            </a:r>
          </a:p>
          <a:p>
            <a:pPr>
              <a:lnSpc>
                <a:spcPct val="112000"/>
              </a:lnSpc>
              <a:spcBef>
                <a:spcPts val="0"/>
              </a:spcBef>
              <a:spcAft>
                <a:spcPts val="0"/>
              </a:spcAft>
              <a:defRPr sz="2400" b="0">
                <a:solidFill>
                  <a:srgbClr val="333333"/>
                </a:solidFill>
                <a:latin typeface="微软雅黑"/>
              </a:defRPr>
            </a:pPr>
            <a:r>
              <a:rPr>
                <a:ea typeface="微软雅黑"/>
              </a:rPr>
              <a:t>+ 4CO₂。</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造渣：CaCO₃ —高温→ CaO + CO₂↑"/>
          <p:cNvSpPr txBox="1"/>
          <p:nvPr/>
        </p:nvSpPr>
        <p:spPr>
          <a:xfrm>
            <a:off x="722376" y="389229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造渣：CaCO₃ —高温→ CaO + CO₂↑；CaO + SiO₂ —高温→ CaSiO₃（炉渣</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将矿石粉碎是为了增大接触面积、加快反应速"/>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将矿石粉碎是为了增大接触面积、加快反应速率；石灰石的作用是造渣除杂。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例题1</a:t>
            </a:r>
          </a:p>
        </p:txBody>
      </p:sp>
      <p:sp>
        <p:nvSpPr>
          <p:cNvPr id="5" name="文字_P17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P179</a:t>
            </a:r>
          </a:p>
        </p:txBody>
      </p:sp>
      <p:sp>
        <p:nvSpPr>
          <p:cNvPr id="6" name="文字_下列关于铁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下列关于铁说法正确的是（）</a:t>
            </a:r>
          </a:p>
        </p:txBody>
      </p:sp>
      <p:sp>
        <p:nvSpPr>
          <p:cNvPr id="7" name="文字_A. 铁的化学性质比较活泼，所以铁在自然界中全部"/>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铁的化学性质比较活泼，所以铁在自然界中全部以化合态存在</a:t>
            </a:r>
          </a:p>
        </p:txBody>
      </p:sp>
      <p:sp>
        <p:nvSpPr>
          <p:cNvPr id="8" name="文字_B. 铁粉颜色为银白色"/>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铁粉颜色为银白色</a:t>
            </a:r>
          </a:p>
        </p:txBody>
      </p:sp>
      <p:sp>
        <p:nvSpPr>
          <p:cNvPr id="9" name="文字_C. 铁是地壳中含量最高的金属元素"/>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铁是地壳中含量最高的金属元素</a:t>
            </a:r>
          </a:p>
        </p:txBody>
      </p:sp>
      <p:sp>
        <p:nvSpPr>
          <p:cNvPr id="10" name="文字_D. 铁是目前人类生产和生活中应用最为广泛的一种"/>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铁是目前人类生产和生活中应用最为广泛的一种金属</a:t>
            </a:r>
          </a:p>
        </p:txBody>
      </p:sp>
      <p:sp>
        <p:nvSpPr>
          <p:cNvPr id="11" name="文字_单选题  ·  09-00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09-001</a:t>
            </a:r>
          </a:p>
        </p:txBody>
      </p:sp>
      <p:sp>
        <p:nvSpPr>
          <p:cNvPr id="12" name="文字_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例题2</a:t>
            </a:r>
          </a:p>
        </p:txBody>
      </p:sp>
      <p:sp>
        <p:nvSpPr>
          <p:cNvPr id="5" name="文字_P17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P179</a:t>
            </a:r>
          </a:p>
        </p:txBody>
      </p:sp>
      <p:sp>
        <p:nvSpPr>
          <p:cNvPr id="6" name="文字_下列关于铁及其化合物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下列关于铁及其化合物说法正确的是</a:t>
            </a:r>
          </a:p>
        </p:txBody>
      </p:sp>
      <p:sp>
        <p:nvSpPr>
          <p:cNvPr id="7" name="文字_A. 过量的Fe与Cl₂反应生成FeCl₂"/>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过量的Fe与Cl₂反应生成FeCl₂</a:t>
            </a:r>
          </a:p>
        </p:txBody>
      </p:sp>
      <p:sp>
        <p:nvSpPr>
          <p:cNvPr id="8" name="文字_B. 高温下，Fe和水蒸气反应生成Fe₂O₃和H"/>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高温下，Fe和水蒸气反应生成Fe₂O₃和H₂</a:t>
            </a:r>
          </a:p>
        </p:txBody>
      </p:sp>
      <p:sp>
        <p:nvSpPr>
          <p:cNvPr id="9" name="文字_C. 铁的氧化物有FeO、Fe₂O₃、Fe₃O₄"/>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铁的氧化物有FeO、Fe₂O₃、Fe₃O₄、它们都是黑色固体</a:t>
            </a:r>
          </a:p>
        </p:txBody>
      </p:sp>
      <p:sp>
        <p:nvSpPr>
          <p:cNvPr id="10" name="文字_D. FeO不稳定，在空气里受热，迅速被氧化为F"/>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FeO不稳定，在空气里受热，迅速被氧化为Fe₃O₄</a:t>
            </a:r>
          </a:p>
        </p:txBody>
      </p:sp>
      <p:sp>
        <p:nvSpPr>
          <p:cNvPr id="11" name="文字_单选题  ·  09-00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09-002</a:t>
            </a:r>
          </a:p>
        </p:txBody>
      </p:sp>
      <p:sp>
        <p:nvSpPr>
          <p:cNvPr id="12" name="文字_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例题3</a:t>
            </a:r>
          </a:p>
        </p:txBody>
      </p:sp>
      <p:sp>
        <p:nvSpPr>
          <p:cNvPr id="5" name="文字_P18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P180</a:t>
            </a:r>
          </a:p>
        </p:txBody>
      </p:sp>
      <p:sp>
        <p:nvSpPr>
          <p:cNvPr id="6" name="文字_下列反应没有+3价铁生成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下列反应没有+3价铁生成的是</a:t>
            </a:r>
          </a:p>
        </p:txBody>
      </p:sp>
      <p:sp>
        <p:nvSpPr>
          <p:cNvPr id="7" name="文字_A. 铁丝在氯气中燃烧"/>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铁丝在氯气中燃烧</a:t>
            </a:r>
          </a:p>
        </p:txBody>
      </p:sp>
      <p:sp>
        <p:nvSpPr>
          <p:cNvPr id="8" name="文字_B. 铁粉与水蒸气共热"/>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铁粉与水蒸气共热</a:t>
            </a:r>
          </a:p>
        </p:txBody>
      </p:sp>
      <p:sp>
        <p:nvSpPr>
          <p:cNvPr id="9" name="文字_C. 氧化铁溶于盐酸"/>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氧化铁溶于盐酸</a:t>
            </a:r>
          </a:p>
        </p:txBody>
      </p:sp>
      <p:sp>
        <p:nvSpPr>
          <p:cNvPr id="10" name="文字_D. 过量铁粉加入稀硫酸中"/>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过量铁粉加入稀硫酸中</a:t>
            </a:r>
          </a:p>
        </p:txBody>
      </p:sp>
      <p:sp>
        <p:nvSpPr>
          <p:cNvPr id="11" name="文字_单选题  ·  09-00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09-003</a:t>
            </a:r>
          </a:p>
        </p:txBody>
      </p:sp>
      <p:sp>
        <p:nvSpPr>
          <p:cNvPr id="12" name="文字_1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例题4</a:t>
            </a:r>
          </a:p>
        </p:txBody>
      </p:sp>
      <p:sp>
        <p:nvSpPr>
          <p:cNvPr id="5" name="文字_P18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P180</a:t>
            </a:r>
          </a:p>
        </p:txBody>
      </p:sp>
      <p:sp>
        <p:nvSpPr>
          <p:cNvPr id="6" name="文字_铁在一定条件下与O₂、水蒸气反应的共同产物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铁在一定条件下与O₂、水蒸气反应的共同产物是（）</a:t>
            </a:r>
          </a:p>
        </p:txBody>
      </p:sp>
      <p:sp>
        <p:nvSpPr>
          <p:cNvPr id="7" name="文字_A. FeO"/>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FeO</a:t>
            </a:r>
          </a:p>
        </p:txBody>
      </p:sp>
      <p:sp>
        <p:nvSpPr>
          <p:cNvPr id="8" name="文字_B. Fe₂O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Fe₂O₃</a:t>
            </a:r>
          </a:p>
        </p:txBody>
      </p:sp>
      <p:sp>
        <p:nvSpPr>
          <p:cNvPr id="9" name="文字_C. Fe₃O₄"/>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Fe₃O₄</a:t>
            </a:r>
          </a:p>
        </p:txBody>
      </p:sp>
      <p:sp>
        <p:nvSpPr>
          <p:cNvPr id="10" name="文字_D. Fe(OH)2"/>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Fe(OH)2</a:t>
            </a:r>
          </a:p>
        </p:txBody>
      </p:sp>
      <p:sp>
        <p:nvSpPr>
          <p:cNvPr id="11" name="文字_单选题  ·  09-00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09-004</a:t>
            </a:r>
          </a:p>
        </p:txBody>
      </p:sp>
      <p:sp>
        <p:nvSpPr>
          <p:cNvPr id="12" name="文字_1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例题5</a:t>
            </a:r>
          </a:p>
        </p:txBody>
      </p:sp>
      <p:sp>
        <p:nvSpPr>
          <p:cNvPr id="5" name="文字_P18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P180</a:t>
            </a:r>
          </a:p>
        </p:txBody>
      </p:sp>
      <p:pic>
        <p:nvPicPr>
          <p:cNvPr id="6" name="Picture 5" descr="image.png"/>
          <p:cNvPicPr>
            <a:picLocks noChangeAspect="1"/>
          </p:cNvPicPr>
          <p:nvPr/>
        </p:nvPicPr>
        <p:blipFill>
          <a:blip r:embed="rId3"/>
          <a:stretch>
            <a:fillRect/>
          </a:stretch>
        </p:blipFill>
        <p:spPr>
          <a:xfrm>
            <a:off x="502920" y="1078992"/>
            <a:ext cx="11064240" cy="4793227"/>
          </a:xfrm>
          <a:prstGeom prst="rect">
            <a:avLst/>
          </a:prstGeom>
        </p:spPr>
      </p:pic>
      <p:sp>
        <p:nvSpPr>
          <p:cNvPr id="7" name="原题文字_180_19"/>
          <p:cNvSpPr txBox="1"/>
          <p:nvPr/>
        </p:nvSpPr>
        <p:spPr>
          <a:xfrm>
            <a:off x="594802" y="1080248"/>
            <a:ext cx="6233993"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下列实验中，利用图中装置不能达到实验目的的是(夹持仪器已略)</a:t>
            </a:r>
          </a:p>
        </p:txBody>
      </p:sp>
      <p:sp>
        <p:nvSpPr>
          <p:cNvPr id="8" name="原题文字_180_20"/>
          <p:cNvSpPr txBox="1"/>
          <p:nvPr/>
        </p:nvSpPr>
        <p:spPr>
          <a:xfrm>
            <a:off x="6712676" y="1654516"/>
            <a:ext cx="253943" cy="129401"/>
          </a:xfrm>
          <a:prstGeom prst="rect">
            <a:avLst/>
          </a:prstGeom>
          <a:noFill/>
        </p:spPr>
        <p:txBody>
          <a:bodyPr wrap="none" lIns="0" rIns="0" tIns="0" bIns="0">
            <a:spAutoFit/>
          </a:bodyPr>
          <a:lstStyle/>
          <a:p>
            <a:pPr>
              <a:lnSpc>
                <a:spcPct val="112000"/>
              </a:lnSpc>
              <a:spcBef>
                <a:spcPts val="0"/>
              </a:spcBef>
              <a:spcAft>
                <a:spcPts val="0"/>
              </a:spcAft>
              <a:defRPr sz="627" b="0">
                <a:solidFill>
                  <a:srgbClr val="333333"/>
                </a:solidFill>
                <a:latin typeface="微软雅黑"/>
              </a:defRPr>
            </a:pPr>
            <a:r>
              <a:rPr>
                <a:ea typeface="微软雅黑"/>
              </a:rPr>
              <a:t>1</a:t>
            </a:r>
          </a:p>
        </p:txBody>
      </p:sp>
      <p:sp>
        <p:nvSpPr>
          <p:cNvPr id="9" name="原题文字_180_21"/>
          <p:cNvSpPr txBox="1"/>
          <p:nvPr/>
        </p:nvSpPr>
        <p:spPr>
          <a:xfrm>
            <a:off x="7378828" y="2067989"/>
            <a:ext cx="498964"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NaOH</a:t>
            </a:r>
          </a:p>
        </p:txBody>
      </p:sp>
      <p:sp>
        <p:nvSpPr>
          <p:cNvPr id="10" name="原题文字_180_22"/>
          <p:cNvSpPr txBox="1"/>
          <p:nvPr/>
        </p:nvSpPr>
        <p:spPr>
          <a:xfrm>
            <a:off x="7378828" y="2221128"/>
            <a:ext cx="430052"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溶液</a:t>
            </a:r>
          </a:p>
        </p:txBody>
      </p:sp>
      <p:sp>
        <p:nvSpPr>
          <p:cNvPr id="11" name="原题文字_180_23"/>
          <p:cNvSpPr txBox="1"/>
          <p:nvPr/>
        </p:nvSpPr>
        <p:spPr>
          <a:xfrm>
            <a:off x="5273177" y="2527404"/>
            <a:ext cx="858839"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a、干燥的有</a:t>
            </a:r>
          </a:p>
        </p:txBody>
      </p:sp>
      <p:sp>
        <p:nvSpPr>
          <p:cNvPr id="12" name="原题文字_180_24"/>
          <p:cNvSpPr txBox="1"/>
          <p:nvPr/>
        </p:nvSpPr>
        <p:spPr>
          <a:xfrm>
            <a:off x="6161379" y="2512090"/>
            <a:ext cx="920095" cy="268757"/>
          </a:xfrm>
          <a:prstGeom prst="rect">
            <a:avLst/>
          </a:prstGeom>
          <a:noFill/>
        </p:spPr>
        <p:txBody>
          <a:bodyPr wrap="none" lIns="0" rIns="0" tIns="0" bIns="0">
            <a:spAutoFit/>
          </a:bodyPr>
          <a:lstStyle/>
          <a:p>
            <a:pPr>
              <a:lnSpc>
                <a:spcPct val="112000"/>
              </a:lnSpc>
              <a:spcBef>
                <a:spcPts val="0"/>
              </a:spcBef>
              <a:spcAft>
                <a:spcPts val="0"/>
              </a:spcAft>
              <a:defRPr sz="1270" b="0">
                <a:solidFill>
                  <a:srgbClr val="333333"/>
                </a:solidFill>
                <a:latin typeface="微软雅黑"/>
              </a:defRPr>
            </a:pPr>
            <a:r>
              <a:rPr>
                <a:ea typeface="微软雅黑"/>
              </a:rPr>
              <a:t>b、湿润的有</a:t>
            </a:r>
          </a:p>
        </p:txBody>
      </p:sp>
      <p:sp>
        <p:nvSpPr>
          <p:cNvPr id="13" name="原题文字_180_25"/>
          <p:cNvSpPr txBox="1"/>
          <p:nvPr/>
        </p:nvSpPr>
        <p:spPr>
          <a:xfrm>
            <a:off x="5273177" y="2688199"/>
            <a:ext cx="1762355" cy="268757"/>
          </a:xfrm>
          <a:prstGeom prst="rect">
            <a:avLst/>
          </a:prstGeom>
          <a:noFill/>
        </p:spPr>
        <p:txBody>
          <a:bodyPr wrap="none" lIns="0" rIns="0" tIns="0" bIns="0">
            <a:spAutoFit/>
          </a:bodyPr>
          <a:lstStyle/>
          <a:p>
            <a:pPr>
              <a:lnSpc>
                <a:spcPct val="112000"/>
              </a:lnSpc>
              <a:spcBef>
                <a:spcPts val="0"/>
              </a:spcBef>
              <a:spcAft>
                <a:spcPts val="0"/>
              </a:spcAft>
              <a:defRPr sz="1222" b="0">
                <a:solidFill>
                  <a:srgbClr val="333333"/>
                </a:solidFill>
                <a:latin typeface="微软雅黑"/>
              </a:defRPr>
            </a:pPr>
            <a:r>
              <a:rPr>
                <a:ea typeface="微软雅黑"/>
              </a:rPr>
              <a:t>色布条不褪色 色布条褪色</a:t>
            </a:r>
          </a:p>
        </p:txBody>
      </p:sp>
      <p:sp>
        <p:nvSpPr>
          <p:cNvPr id="14" name="原题文字_180_26"/>
          <p:cNvSpPr txBox="1"/>
          <p:nvPr/>
        </p:nvSpPr>
        <p:spPr>
          <a:xfrm>
            <a:off x="1260954" y="2963848"/>
            <a:ext cx="243616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A.从食盐水中提取氯化钠</a:t>
            </a:r>
          </a:p>
        </p:txBody>
      </p:sp>
      <p:sp>
        <p:nvSpPr>
          <p:cNvPr id="15" name="原题文字_180_27"/>
          <p:cNvSpPr txBox="1"/>
          <p:nvPr/>
        </p:nvSpPr>
        <p:spPr>
          <a:xfrm>
            <a:off x="4591711" y="2956191"/>
            <a:ext cx="393691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B.证明氯气无漂白作用，氯水有漂白作用</a:t>
            </a:r>
          </a:p>
        </p:txBody>
      </p:sp>
      <p:sp>
        <p:nvSpPr>
          <p:cNvPr id="16" name="原题文字_180_28"/>
          <p:cNvSpPr txBox="1"/>
          <p:nvPr/>
        </p:nvSpPr>
        <p:spPr>
          <a:xfrm>
            <a:off x="2110871" y="3308409"/>
            <a:ext cx="713358"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碳酸氢钠</a:t>
            </a:r>
          </a:p>
        </p:txBody>
      </p:sp>
      <p:sp>
        <p:nvSpPr>
          <p:cNvPr id="17" name="原题文字_180_29"/>
          <p:cNvSpPr txBox="1"/>
          <p:nvPr/>
        </p:nvSpPr>
        <p:spPr>
          <a:xfrm>
            <a:off x="1490661" y="3553431"/>
            <a:ext cx="575534"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碳酸钠</a:t>
            </a:r>
          </a:p>
        </p:txBody>
      </p:sp>
      <p:sp>
        <p:nvSpPr>
          <p:cNvPr id="18" name="原题文字_180_30"/>
          <p:cNvSpPr txBox="1"/>
          <p:nvPr/>
        </p:nvSpPr>
        <p:spPr>
          <a:xfrm>
            <a:off x="2172127" y="3469205"/>
            <a:ext cx="44536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粉末</a:t>
            </a:r>
          </a:p>
        </p:txBody>
      </p:sp>
      <p:sp>
        <p:nvSpPr>
          <p:cNvPr id="19" name="原题文字_180_31"/>
          <p:cNvSpPr txBox="1"/>
          <p:nvPr/>
        </p:nvSpPr>
        <p:spPr>
          <a:xfrm>
            <a:off x="5250206" y="3492175"/>
            <a:ext cx="575534" cy="328481"/>
          </a:xfrm>
          <a:prstGeom prst="rect">
            <a:avLst/>
          </a:prstGeom>
          <a:noFill/>
        </p:spPr>
        <p:txBody>
          <a:bodyPr wrap="none" lIns="0" rIns="0" tIns="0" bIns="0">
            <a:spAutoFit/>
          </a:bodyPr>
          <a:lstStyle/>
          <a:p>
            <a:pPr>
              <a:lnSpc>
                <a:spcPct val="112000"/>
              </a:lnSpc>
              <a:spcBef>
                <a:spcPts val="0"/>
              </a:spcBef>
              <a:spcAft>
                <a:spcPts val="0"/>
              </a:spcAft>
              <a:defRPr sz="1526" b="0">
                <a:solidFill>
                  <a:srgbClr val="333333"/>
                </a:solidFill>
                <a:latin typeface="微软雅黑"/>
              </a:defRPr>
            </a:pPr>
            <a:r>
              <a:rPr>
                <a:ea typeface="微软雅黑"/>
              </a:rPr>
              <a:t>湿棉花</a:t>
            </a:r>
          </a:p>
        </p:txBody>
      </p:sp>
      <p:sp>
        <p:nvSpPr>
          <p:cNvPr id="20" name="原题文字_180_32"/>
          <p:cNvSpPr txBox="1"/>
          <p:nvPr/>
        </p:nvSpPr>
        <p:spPr>
          <a:xfrm>
            <a:off x="5954642" y="3469205"/>
            <a:ext cx="698044"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还原铁粉</a:t>
            </a:r>
          </a:p>
        </p:txBody>
      </p:sp>
      <p:sp>
        <p:nvSpPr>
          <p:cNvPr id="21" name="原题文字_180_33"/>
          <p:cNvSpPr txBox="1"/>
          <p:nvPr/>
        </p:nvSpPr>
        <p:spPr>
          <a:xfrm>
            <a:off x="1582544" y="3721883"/>
            <a:ext cx="45302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粉末</a:t>
            </a:r>
          </a:p>
        </p:txBody>
      </p:sp>
      <p:sp>
        <p:nvSpPr>
          <p:cNvPr id="22" name="原题文字_180_34"/>
          <p:cNvSpPr txBox="1"/>
          <p:nvPr/>
        </p:nvSpPr>
        <p:spPr>
          <a:xfrm>
            <a:off x="6475312" y="3767824"/>
            <a:ext cx="468337"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10</a:t>
            </a:r>
          </a:p>
        </p:txBody>
      </p:sp>
      <p:sp>
        <p:nvSpPr>
          <p:cNvPr id="23" name="原题文字_180_35"/>
          <p:cNvSpPr txBox="1"/>
          <p:nvPr/>
        </p:nvSpPr>
        <p:spPr>
          <a:xfrm>
            <a:off x="7317573" y="4541173"/>
            <a:ext cx="560220"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肥皂水</a:t>
            </a:r>
          </a:p>
        </p:txBody>
      </p:sp>
      <p:sp>
        <p:nvSpPr>
          <p:cNvPr id="24" name="原题文字_180_36"/>
          <p:cNvSpPr txBox="1"/>
          <p:nvPr/>
        </p:nvSpPr>
        <p:spPr>
          <a:xfrm>
            <a:off x="2463089" y="4939332"/>
            <a:ext cx="889467"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澄清石灰水</a:t>
            </a:r>
          </a:p>
        </p:txBody>
      </p:sp>
      <p:sp>
        <p:nvSpPr>
          <p:cNvPr id="25" name="原题文字_180_37"/>
          <p:cNvSpPr txBox="1"/>
          <p:nvPr/>
        </p:nvSpPr>
        <p:spPr>
          <a:xfrm>
            <a:off x="717313" y="5214981"/>
            <a:ext cx="350813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C.验证证碳酸钠与碳酸氢钠的稳定性</a:t>
            </a:r>
          </a:p>
        </p:txBody>
      </p:sp>
      <p:sp>
        <p:nvSpPr>
          <p:cNvPr id="26" name="原题文字_180_38"/>
          <p:cNvSpPr txBox="1"/>
          <p:nvPr/>
        </p:nvSpPr>
        <p:spPr>
          <a:xfrm>
            <a:off x="4362004" y="5214981"/>
            <a:ext cx="439633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D.点燃肥皂泡检验铁与水蒸气反应的气体产物</a:t>
            </a:r>
          </a:p>
        </p:txBody>
      </p:sp>
      <p:sp>
        <p:nvSpPr>
          <p:cNvPr id="27" name="原题文字_180_39"/>
          <p:cNvSpPr txBox="1"/>
          <p:nvPr/>
        </p:nvSpPr>
        <p:spPr>
          <a:xfrm>
            <a:off x="564175" y="5613140"/>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A</a:t>
            </a:r>
          </a:p>
        </p:txBody>
      </p:sp>
      <p:sp>
        <p:nvSpPr>
          <p:cNvPr id="28" name="原题文字_180_40"/>
          <p:cNvSpPr txBox="1"/>
          <p:nvPr/>
        </p:nvSpPr>
        <p:spPr>
          <a:xfrm>
            <a:off x="3244095" y="5620797"/>
            <a:ext cx="60616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B</a:t>
            </a:r>
          </a:p>
        </p:txBody>
      </p:sp>
      <p:sp>
        <p:nvSpPr>
          <p:cNvPr id="29" name="原题文字_180_41"/>
          <p:cNvSpPr txBox="1"/>
          <p:nvPr/>
        </p:nvSpPr>
        <p:spPr>
          <a:xfrm>
            <a:off x="5939328" y="5620797"/>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 C</a:t>
            </a:r>
          </a:p>
        </p:txBody>
      </p:sp>
      <p:sp>
        <p:nvSpPr>
          <p:cNvPr id="30" name="原题文字_180_42"/>
          <p:cNvSpPr txBox="1"/>
          <p:nvPr/>
        </p:nvSpPr>
        <p:spPr>
          <a:xfrm>
            <a:off x="8619248" y="5620797"/>
            <a:ext cx="62913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D</a:t>
            </a:r>
          </a:p>
        </p:txBody>
      </p:sp>
      <p:sp>
        <p:nvSpPr>
          <p:cNvPr id="31" name="文字_单选题  ·  09-00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09-005</a:t>
            </a:r>
          </a:p>
        </p:txBody>
      </p:sp>
      <p:sp>
        <p:nvSpPr>
          <p:cNvPr id="32" name="文字_1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例题6</a:t>
            </a:r>
          </a:p>
        </p:txBody>
      </p:sp>
      <p:sp>
        <p:nvSpPr>
          <p:cNvPr id="5" name="文字_P18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P180</a:t>
            </a:r>
          </a:p>
        </p:txBody>
      </p:sp>
      <p:sp>
        <p:nvSpPr>
          <p:cNvPr id="6" name="文字_下列化合物不能通过单质直接化合得到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下列化合物不能通过单质直接化合得到的是</a:t>
            </a:r>
          </a:p>
        </p:txBody>
      </p:sp>
      <p:sp>
        <p:nvSpPr>
          <p:cNvPr id="7" name="文字_A. FeCl₂"/>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FeCl₂</a:t>
            </a:r>
          </a:p>
        </p:txBody>
      </p:sp>
      <p:sp>
        <p:nvSpPr>
          <p:cNvPr id="8" name="文字_B. FeCl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FeCl₃</a:t>
            </a:r>
          </a:p>
        </p:txBody>
      </p:sp>
      <p:sp>
        <p:nvSpPr>
          <p:cNvPr id="9" name="文字_C. Fe₃O₄"/>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Fe₃O₄</a:t>
            </a:r>
          </a:p>
        </p:txBody>
      </p:sp>
      <p:sp>
        <p:nvSpPr>
          <p:cNvPr id="10" name="文字_D. Na₂O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Na₂O₂</a:t>
            </a:r>
          </a:p>
        </p:txBody>
      </p:sp>
      <p:sp>
        <p:nvSpPr>
          <p:cNvPr id="11" name="文字_单选题  ·  09-00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09-006</a:t>
            </a:r>
          </a:p>
        </p:txBody>
      </p:sp>
      <p:sp>
        <p:nvSpPr>
          <p:cNvPr id="12" name="文字_1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例题7</a:t>
            </a:r>
          </a:p>
        </p:txBody>
      </p:sp>
      <p:sp>
        <p:nvSpPr>
          <p:cNvPr id="5" name="文字_P18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P181</a:t>
            </a:r>
          </a:p>
        </p:txBody>
      </p:sp>
      <p:sp>
        <p:nvSpPr>
          <p:cNvPr id="6" name="文字_某同学探究铁与水蒸气的反应，进行了如下实验："/>
          <p:cNvSpPr txBox="1"/>
          <p:nvPr/>
        </p:nvSpPr>
        <p:spPr>
          <a:xfrm>
            <a:off x="502920" y="1078992"/>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某同学探究铁与水蒸气的反应，进行了如下实验：</a:t>
            </a:r>
          </a:p>
        </p:txBody>
      </p:sp>
      <p:pic>
        <p:nvPicPr>
          <p:cNvPr id="7" name="Picture 6" descr="image.png"/>
          <p:cNvPicPr>
            <a:picLocks noChangeAspect="1"/>
          </p:cNvPicPr>
          <p:nvPr/>
        </p:nvPicPr>
        <p:blipFill>
          <a:blip r:embed="rId3"/>
          <a:stretch>
            <a:fillRect/>
          </a:stretch>
        </p:blipFill>
        <p:spPr>
          <a:xfrm>
            <a:off x="502920" y="1499616"/>
            <a:ext cx="11064240" cy="2687576"/>
          </a:xfrm>
          <a:prstGeom prst="rect">
            <a:avLst/>
          </a:prstGeom>
        </p:spPr>
      </p:pic>
      <p:sp>
        <p:nvSpPr>
          <p:cNvPr id="8" name="原题文字_181_4"/>
          <p:cNvSpPr txBox="1"/>
          <p:nvPr/>
        </p:nvSpPr>
        <p:spPr>
          <a:xfrm>
            <a:off x="1766310" y="1531499"/>
            <a:ext cx="1279970"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还原铁粉</a:t>
            </a:r>
          </a:p>
        </p:txBody>
      </p:sp>
      <p:sp>
        <p:nvSpPr>
          <p:cNvPr id="9" name="原题文字_181_5"/>
          <p:cNvSpPr txBox="1"/>
          <p:nvPr/>
        </p:nvSpPr>
        <p:spPr>
          <a:xfrm>
            <a:off x="625430" y="1638696"/>
            <a:ext cx="1027292" cy="477791"/>
          </a:xfrm>
          <a:prstGeom prst="rect">
            <a:avLst/>
          </a:prstGeom>
          <a:noFill/>
        </p:spPr>
        <p:txBody>
          <a:bodyPr wrap="none" lIns="0" rIns="0" tIns="0" bIns="0">
            <a:spAutoFit/>
          </a:bodyPr>
          <a:lstStyle/>
          <a:p>
            <a:pPr>
              <a:lnSpc>
                <a:spcPct val="112000"/>
              </a:lnSpc>
              <a:spcBef>
                <a:spcPts val="0"/>
              </a:spcBef>
              <a:spcAft>
                <a:spcPts val="0"/>
              </a:spcAft>
              <a:defRPr sz="2315" b="0">
                <a:solidFill>
                  <a:srgbClr val="333333"/>
                </a:solidFill>
                <a:latin typeface="微软雅黑"/>
              </a:defRPr>
            </a:pPr>
            <a:r>
              <a:rPr>
                <a:ea typeface="微软雅黑"/>
              </a:rPr>
              <a:t>湿棉花</a:t>
            </a:r>
          </a:p>
        </p:txBody>
      </p:sp>
      <p:sp>
        <p:nvSpPr>
          <p:cNvPr id="10" name="原题文字_181_6"/>
          <p:cNvSpPr txBox="1"/>
          <p:nvPr/>
        </p:nvSpPr>
        <p:spPr>
          <a:xfrm>
            <a:off x="4270121" y="2618781"/>
            <a:ext cx="1019635" cy="477791"/>
          </a:xfrm>
          <a:prstGeom prst="rect">
            <a:avLst/>
          </a:prstGeom>
          <a:noFill/>
        </p:spPr>
        <p:txBody>
          <a:bodyPr wrap="none" lIns="0" rIns="0" tIns="0" bIns="0">
            <a:spAutoFit/>
          </a:bodyPr>
          <a:lstStyle/>
          <a:p>
            <a:pPr>
              <a:lnSpc>
                <a:spcPct val="112000"/>
              </a:lnSpc>
              <a:spcBef>
                <a:spcPts val="0"/>
              </a:spcBef>
              <a:spcAft>
                <a:spcPts val="0"/>
              </a:spcAft>
              <a:defRPr sz="2315" b="0">
                <a:solidFill>
                  <a:srgbClr val="333333"/>
                </a:solidFill>
                <a:latin typeface="微软雅黑"/>
              </a:defRPr>
            </a:pPr>
            <a:r>
              <a:rPr>
                <a:ea typeface="微软雅黑"/>
              </a:rPr>
              <a:t>肥皂液</a:t>
            </a:r>
          </a:p>
        </p:txBody>
      </p:sp>
      <p:sp>
        <p:nvSpPr>
          <p:cNvPr id="11" name="文字_下列说法中不正确的是"/>
          <p:cNvSpPr txBox="1"/>
          <p:nvPr/>
        </p:nvSpPr>
        <p:spPr>
          <a:xfrm>
            <a:off x="502920" y="4260344"/>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下列说法中不正确的是</a:t>
            </a:r>
          </a:p>
        </p:txBody>
      </p:sp>
      <p:sp>
        <p:nvSpPr>
          <p:cNvPr id="12" name="文字_A. 点燃酒精灯的顺序是先a后b"/>
          <p:cNvSpPr txBox="1"/>
          <p:nvPr/>
        </p:nvSpPr>
        <p:spPr>
          <a:xfrm>
            <a:off x="502920" y="4680968"/>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A. 点燃酒精灯的顺序是先a后b</a:t>
            </a:r>
          </a:p>
        </p:txBody>
      </p:sp>
      <p:sp>
        <p:nvSpPr>
          <p:cNvPr id="13" name="文字_B. 湿棉花的作用是提供水蒸气"/>
          <p:cNvSpPr txBox="1"/>
          <p:nvPr/>
        </p:nvSpPr>
        <p:spPr>
          <a:xfrm>
            <a:off x="502920" y="5101592"/>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B. 湿棉花的作用是提供水蒸气</a:t>
            </a:r>
          </a:p>
        </p:txBody>
      </p:sp>
      <p:sp>
        <p:nvSpPr>
          <p:cNvPr id="14" name="文字_C. 由肥皂液冒气泡证明铁与水蒸气发生了反应"/>
          <p:cNvSpPr txBox="1"/>
          <p:nvPr/>
        </p:nvSpPr>
        <p:spPr>
          <a:xfrm>
            <a:off x="502920" y="5522216"/>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C. 由肥皂液冒气泡证明铁与水蒸气发生了反应</a:t>
            </a:r>
          </a:p>
        </p:txBody>
      </p:sp>
      <p:sp>
        <p:nvSpPr>
          <p:cNvPr id="15" name="文字_D. 不能用磁铁将铁粉从反应后的固体中分离出来"/>
          <p:cNvSpPr txBox="1"/>
          <p:nvPr/>
        </p:nvSpPr>
        <p:spPr>
          <a:xfrm>
            <a:off x="502920" y="5942840"/>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D. 不能用磁铁将铁粉从反应后的固体中分离出来</a:t>
            </a:r>
          </a:p>
        </p:txBody>
      </p:sp>
      <p:sp>
        <p:nvSpPr>
          <p:cNvPr id="16" name="文字_单选题  ·  09-00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09-007</a:t>
            </a:r>
          </a:p>
        </p:txBody>
      </p:sp>
      <p:sp>
        <p:nvSpPr>
          <p:cNvPr id="17" name="文字_1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例题8</a:t>
            </a:r>
          </a:p>
        </p:txBody>
      </p:sp>
      <p:sp>
        <p:nvSpPr>
          <p:cNvPr id="5" name="文字_P18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P181</a:t>
            </a:r>
          </a:p>
        </p:txBody>
      </p:sp>
      <p:sp>
        <p:nvSpPr>
          <p:cNvPr id="6" name="文字_下列关于高炉炼铁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下列关于高炉炼铁说法正确的是（）</a:t>
            </a:r>
          </a:p>
        </p:txBody>
      </p:sp>
      <p:sp>
        <p:nvSpPr>
          <p:cNvPr id="7" name="文字_A. 高炉炼铁工业中，所需原料为：铁矿石、一氧化"/>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高炉炼铁工业中，所需原料为：铁矿石、一氧化碳、空气、石灰石</a:t>
            </a:r>
          </a:p>
        </p:txBody>
      </p:sp>
      <p:sp>
        <p:nvSpPr>
          <p:cNvPr id="8" name="文字_B. 高炉炼铁工业中，用焦炭直接还原铁的化合物得"/>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高炉炼铁工业中，用焦炭直接还原铁的化合物得到铁单质</a:t>
            </a:r>
          </a:p>
        </p:txBody>
      </p:sp>
      <p:sp>
        <p:nvSpPr>
          <p:cNvPr id="9" name="文字_C. 高炉炼铁的炉渣为CaCO₃"/>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高炉炼铁的炉渣为CaCO₃</a:t>
            </a:r>
          </a:p>
        </p:txBody>
      </p:sp>
      <p:sp>
        <p:nvSpPr>
          <p:cNvPr id="10" name="文字_D. 高炉炼铁得到的铁碳含量较高，称为生铁"/>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高炉炼铁得到的铁碳含量较高，称为生铁</a:t>
            </a:r>
          </a:p>
        </p:txBody>
      </p:sp>
      <p:sp>
        <p:nvSpPr>
          <p:cNvPr id="11" name="文字_单选题  ·  09-00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09-008</a:t>
            </a:r>
          </a:p>
        </p:txBody>
      </p:sp>
      <p:sp>
        <p:nvSpPr>
          <p:cNvPr id="12" name="文字_1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变式1</a:t>
            </a:r>
          </a:p>
        </p:txBody>
      </p:sp>
      <p:sp>
        <p:nvSpPr>
          <p:cNvPr id="5" name="文字_P18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P181</a:t>
            </a:r>
          </a:p>
        </p:txBody>
      </p:sp>
      <p:sp>
        <p:nvSpPr>
          <p:cNvPr id="6" name="文字_下列有关铁的说法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下列有关铁的说法中正确的是</a:t>
            </a:r>
          </a:p>
        </p:txBody>
      </p:sp>
      <p:sp>
        <p:nvSpPr>
          <p:cNvPr id="7" name="文字_A. 铁与硫粉反应的产物是Fe₂S₃"/>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铁与硫粉反应的产物是Fe₂S₃</a:t>
            </a:r>
          </a:p>
        </p:txBody>
      </p:sp>
      <p:sp>
        <p:nvSpPr>
          <p:cNvPr id="8" name="文字_B. 铁和稀硫酸反应的离子方程式为2Fe + 6"/>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铁和稀硫酸反应的离子方程式为2Fe + 6H+ = 2Fe³⁺ + 3H₂ ↑</a:t>
            </a:r>
          </a:p>
        </p:txBody>
      </p:sp>
      <p:sp>
        <p:nvSpPr>
          <p:cNvPr id="9" name="文字_C. 铁在纯氧中燃烧生成Fe₃O₄"/>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铁在纯氧中燃烧生成Fe₃O₄</a:t>
            </a:r>
          </a:p>
        </p:txBody>
      </p:sp>
      <p:sp>
        <p:nvSpPr>
          <p:cNvPr id="10" name="文字_D. 常温下，Fe与浓硫酸不发生化学反应"/>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常温下，Fe与浓硫酸不发生化学反应</a:t>
            </a:r>
          </a:p>
        </p:txBody>
      </p:sp>
      <p:sp>
        <p:nvSpPr>
          <p:cNvPr id="11" name="文字_单选题  ·  09-00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09-009</a:t>
            </a:r>
          </a:p>
        </p:txBody>
      </p:sp>
      <p:sp>
        <p:nvSpPr>
          <p:cNvPr id="12" name="文字_1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变式2</a:t>
            </a:r>
          </a:p>
        </p:txBody>
      </p:sp>
      <p:sp>
        <p:nvSpPr>
          <p:cNvPr id="5" name="文字_P18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P181</a:t>
            </a:r>
          </a:p>
        </p:txBody>
      </p:sp>
      <p:sp>
        <p:nvSpPr>
          <p:cNvPr id="6" name="文字_下列有关铁及其化合物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下列有关铁及其化合物的说法正确的是</a:t>
            </a:r>
          </a:p>
        </p:txBody>
      </p:sp>
      <p:sp>
        <p:nvSpPr>
          <p:cNvPr id="7" name="文字_A. 高温下铁能与水蒸气发生置换反应生成红棕色固"/>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高温下铁能与水蒸气发生置换反应生成红棕色固体和氢气</a:t>
            </a:r>
          </a:p>
        </p:txBody>
      </p:sp>
      <p:sp>
        <p:nvSpPr>
          <p:cNvPr id="8" name="文字_B. 为了防止FeCl₂溶液变质，可往溶液中加入"/>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为了防止FeCl₂溶液变质，可往溶液中加入少量的Cu粉</a:t>
            </a:r>
          </a:p>
        </p:txBody>
      </p:sp>
      <p:sp>
        <p:nvSpPr>
          <p:cNvPr id="9" name="文字_C. 在空气中铁制品比铝制品更易被锈蚀，是因为铁"/>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在空气中铁制品比铝制品更易被锈蚀，是因为铁比铝性质活泼</a:t>
            </a:r>
          </a:p>
        </p:txBody>
      </p:sp>
      <p:sp>
        <p:nvSpPr>
          <p:cNvPr id="10" name="文字_D. 在一定条件下铁与氯气反应生成FeCl₃"/>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在一定条件下铁与氯气反应生成FeCl₃</a:t>
            </a:r>
          </a:p>
        </p:txBody>
      </p:sp>
      <p:sp>
        <p:nvSpPr>
          <p:cNvPr id="11" name="文字_单选题  ·  09-01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09-010</a:t>
            </a:r>
          </a:p>
        </p:txBody>
      </p:sp>
      <p:sp>
        <p:nvSpPr>
          <p:cNvPr id="12" name="文字_1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变式3</a:t>
            </a:r>
          </a:p>
        </p:txBody>
      </p:sp>
      <p:sp>
        <p:nvSpPr>
          <p:cNvPr id="5" name="文字_P18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P182</a:t>
            </a:r>
          </a:p>
        </p:txBody>
      </p:sp>
      <p:sp>
        <p:nvSpPr>
          <p:cNvPr id="6" name="文字_下列物质中，在一定条件下能与铁反应，且铁元素化合"/>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下列物质中，在一定条件下能与铁反应，且铁元素化合价全部变为+3价的是</a:t>
            </a:r>
          </a:p>
        </p:txBody>
      </p:sp>
      <p:sp>
        <p:nvSpPr>
          <p:cNvPr id="7" name="文字_A. 氧气"/>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氧气</a:t>
            </a:r>
          </a:p>
        </p:txBody>
      </p:sp>
      <p:sp>
        <p:nvSpPr>
          <p:cNvPr id="8" name="文字_B. H₂O"/>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H₂O</a:t>
            </a:r>
          </a:p>
        </p:txBody>
      </p:sp>
      <p:sp>
        <p:nvSpPr>
          <p:cNvPr id="9" name="文字_C. 稀硫酸"/>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稀硫酸</a:t>
            </a:r>
          </a:p>
        </p:txBody>
      </p:sp>
      <p:sp>
        <p:nvSpPr>
          <p:cNvPr id="10" name="文字_D. 氯气"/>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氯气</a:t>
            </a:r>
          </a:p>
        </p:txBody>
      </p:sp>
      <p:sp>
        <p:nvSpPr>
          <p:cNvPr id="11" name="文字_单选题  ·  09-01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09-011</a:t>
            </a:r>
          </a:p>
        </p:txBody>
      </p:sp>
      <p:sp>
        <p:nvSpPr>
          <p:cNvPr id="12" name="文字_1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变式4</a:t>
            </a:r>
          </a:p>
        </p:txBody>
      </p:sp>
      <p:sp>
        <p:nvSpPr>
          <p:cNvPr id="5" name="文字_P18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P182</a:t>
            </a:r>
          </a:p>
        </p:txBody>
      </p:sp>
      <p:sp>
        <p:nvSpPr>
          <p:cNvPr id="6" name="文字_下列物质中，不能由单质直接化合生成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下列物质中，不能由单质直接化合生成的是</a:t>
            </a:r>
          </a:p>
        </p:txBody>
      </p:sp>
      <p:sp>
        <p:nvSpPr>
          <p:cNvPr id="7" name="文字_① Mg₃N₂ ② Fe₂ S₃ ③ SO₃ ④"/>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 Mg₃N₂ ② Fe₂ S₃ ③ SO₃ ④ H₂ S ⑤ FeCl₂ ⑥ CuCl₂</a:t>
            </a:r>
          </a:p>
        </p:txBody>
      </p:sp>
      <p:sp>
        <p:nvSpPr>
          <p:cNvPr id="8" name="文字_A. ②③⑤"/>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②③⑤</a:t>
            </a:r>
          </a:p>
        </p:txBody>
      </p:sp>
      <p:sp>
        <p:nvSpPr>
          <p:cNvPr id="9" name="文字_B. ②③④"/>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②③④</a:t>
            </a:r>
          </a:p>
        </p:txBody>
      </p:sp>
      <p:sp>
        <p:nvSpPr>
          <p:cNvPr id="10" name="文字_C. ②④⑤"/>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②④⑤</a:t>
            </a:r>
          </a:p>
        </p:txBody>
      </p:sp>
      <p:sp>
        <p:nvSpPr>
          <p:cNvPr id="11" name="文字_D. ①②③④⑤⑥"/>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①②③④⑤⑥</a:t>
            </a:r>
          </a:p>
        </p:txBody>
      </p:sp>
      <p:sp>
        <p:nvSpPr>
          <p:cNvPr id="12" name="文字_单选题  ·  09-01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09-012</a:t>
            </a:r>
          </a:p>
        </p:txBody>
      </p:sp>
      <p:sp>
        <p:nvSpPr>
          <p:cNvPr id="13" name="文字_1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变式5</a:t>
            </a:r>
          </a:p>
        </p:txBody>
      </p:sp>
      <p:sp>
        <p:nvSpPr>
          <p:cNvPr id="5" name="文字_P18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P182</a:t>
            </a:r>
          </a:p>
        </p:txBody>
      </p:sp>
      <p:sp>
        <p:nvSpPr>
          <p:cNvPr id="6" name="文字_下列变化不能实现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下列变化不能实现的是</a:t>
            </a:r>
          </a:p>
        </p:txBody>
      </p:sp>
      <p:sp>
        <p:nvSpPr>
          <p:cNvPr id="7" name="文字_A. Na₂O → NaOHH₂O ______"/>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Na₂O → NaOHH₂O ______ Cl₂</a:t>
            </a:r>
          </a:p>
        </p:txBody>
      </p:sp>
      <p:sp>
        <p:nvSpPr>
          <p:cNvPr id="8" name="文字_B. Fe → FeCl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 → FeCl₂</a:t>
            </a:r>
          </a:p>
        </p:txBody>
      </p:sp>
      <p:sp>
        <p:nvSpPr>
          <p:cNvPr id="9" name="文字_CO₂ ______ HCl"/>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CO₂ ______ HCl</a:t>
            </a:r>
          </a:p>
        </p:txBody>
      </p:sp>
      <p:sp>
        <p:nvSpPr>
          <p:cNvPr id="10" name="文字_C. Na₂O₂ → Na₂CO₃"/>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Na₂O₂ → Na₂CO₃</a:t>
            </a:r>
          </a:p>
        </p:txBody>
      </p:sp>
      <p:sp>
        <p:nvSpPr>
          <p:cNvPr id="11" name="文字_D. Na₂CO₃ → NaHCO₃"/>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Na₂CO₃ → NaHCO₃</a:t>
            </a:r>
          </a:p>
        </p:txBody>
      </p:sp>
      <p:sp>
        <p:nvSpPr>
          <p:cNvPr id="12" name="文字_单选题  ·  09-01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09-013</a:t>
            </a:r>
          </a:p>
        </p:txBody>
      </p:sp>
      <p:sp>
        <p:nvSpPr>
          <p:cNvPr id="13" name="文字_2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变式6</a:t>
            </a:r>
          </a:p>
        </p:txBody>
      </p:sp>
      <p:sp>
        <p:nvSpPr>
          <p:cNvPr id="5" name="文字_P18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P182</a:t>
            </a:r>
          </a:p>
        </p:txBody>
      </p:sp>
      <p:sp>
        <p:nvSpPr>
          <p:cNvPr id="6" name="文字_(铁的冶炼)有关铁的冶炼说法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(铁的冶炼)有关铁的冶炼说法不正确的是(</a:t>
            </a:r>
          </a:p>
        </p:txBody>
      </p:sp>
      <p:sp>
        <p:nvSpPr>
          <p:cNvPr id="7" name="文字_A. 把铁矿石和焦炭、石灰石一起加入高炉"/>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把铁矿石和焦炭、石灰石一起加入高炉</a:t>
            </a:r>
          </a:p>
        </p:txBody>
      </p:sp>
      <p:sp>
        <p:nvSpPr>
          <p:cNvPr id="8" name="文字_B. 石灰石的主要作用是将矿石中的二氧化硅转变成"/>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石灰石的主要作用是将矿石中的二氧化硅转变成炉渣</a:t>
            </a:r>
          </a:p>
        </p:txBody>
      </p:sp>
      <p:sp>
        <p:nvSpPr>
          <p:cNvPr id="9" name="文字_C. 生铁的含碳量为2%～4.3%，钢的含碳量为"/>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生铁的含碳量为2%～4.3%，钢的含碳量为0.03%～2%</a:t>
            </a:r>
          </a:p>
        </p:txBody>
      </p:sp>
      <p:sp>
        <p:nvSpPr>
          <p:cNvPr id="10" name="文字_D. 在反应过程中，Fe₂O₃作还原剂，被氧化"/>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在反应过程中，Fe₂O₃作还原剂，被氧化</a:t>
            </a:r>
          </a:p>
        </p:txBody>
      </p:sp>
      <p:sp>
        <p:nvSpPr>
          <p:cNvPr id="11" name="文字_单选题  ·  09-01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09-014</a:t>
            </a:r>
          </a:p>
        </p:txBody>
      </p:sp>
      <p:sp>
        <p:nvSpPr>
          <p:cNvPr id="12" name="文字_2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变式7</a:t>
            </a:r>
          </a:p>
        </p:txBody>
      </p:sp>
      <p:sp>
        <p:nvSpPr>
          <p:cNvPr id="5" name="文字_P182–18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P182–183</a:t>
            </a:r>
          </a:p>
        </p:txBody>
      </p:sp>
      <p:sp>
        <p:nvSpPr>
          <p:cNvPr id="6" name="文字_用如图所示装置进行Fe与水蒸气反应的实验，下列有"/>
          <p:cNvSpPr txBox="1"/>
          <p:nvPr/>
        </p:nvSpPr>
        <p:spPr>
          <a:xfrm>
            <a:off x="502920" y="1078992"/>
            <a:ext cx="11064240" cy="320040"/>
          </a:xfrm>
          <a:prstGeom prst="rect">
            <a:avLst/>
          </a:prstGeom>
          <a:noFill/>
        </p:spPr>
        <p:txBody>
          <a:bodyPr wrap="square" lIns="0" rIns="0" tIns="0" bIns="0">
            <a:spAutoFit/>
          </a:bodyPr>
          <a:lstStyle/>
          <a:p>
            <a:pPr>
              <a:lnSpc>
                <a:spcPct val="112000"/>
              </a:lnSpc>
              <a:spcBef>
                <a:spcPts val="0"/>
              </a:spcBef>
              <a:spcAft>
                <a:spcPts val="0"/>
              </a:spcAft>
              <a:defRPr sz="1750" b="0">
                <a:solidFill>
                  <a:srgbClr val="333333"/>
                </a:solidFill>
                <a:latin typeface="微软雅黑"/>
              </a:defRPr>
            </a:pPr>
            <a:r>
              <a:rPr>
                <a:ea typeface="微软雅黑"/>
              </a:rPr>
              <a:t>用如图所示装置进行Fe与水蒸气反应的实验，下列有关说法正确的是</a:t>
            </a:r>
          </a:p>
        </p:txBody>
      </p:sp>
      <p:pic>
        <p:nvPicPr>
          <p:cNvPr id="7" name="Picture 6" descr="image.png"/>
          <p:cNvPicPr>
            <a:picLocks noChangeAspect="1"/>
          </p:cNvPicPr>
          <p:nvPr/>
        </p:nvPicPr>
        <p:blipFill>
          <a:blip r:embed="rId3"/>
          <a:stretch>
            <a:fillRect/>
          </a:stretch>
        </p:blipFill>
        <p:spPr>
          <a:xfrm>
            <a:off x="502920" y="1399031"/>
            <a:ext cx="11064240" cy="3606406"/>
          </a:xfrm>
          <a:prstGeom prst="rect">
            <a:avLst/>
          </a:prstGeom>
        </p:spPr>
      </p:pic>
      <p:sp>
        <p:nvSpPr>
          <p:cNvPr id="8" name="原题文字_182_41"/>
          <p:cNvSpPr txBox="1"/>
          <p:nvPr/>
        </p:nvSpPr>
        <p:spPr>
          <a:xfrm>
            <a:off x="2049616" y="2250205"/>
            <a:ext cx="118043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硬质玻璃管</a:t>
            </a:r>
          </a:p>
        </p:txBody>
      </p:sp>
      <p:sp>
        <p:nvSpPr>
          <p:cNvPr id="9" name="原题文字_182_42"/>
          <p:cNvSpPr txBox="1"/>
          <p:nvPr/>
        </p:nvSpPr>
        <p:spPr>
          <a:xfrm>
            <a:off x="3749451" y="3176692"/>
            <a:ext cx="782270"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干燥管</a:t>
            </a:r>
          </a:p>
        </p:txBody>
      </p:sp>
      <p:sp>
        <p:nvSpPr>
          <p:cNvPr id="10" name="原题文字_182_43"/>
          <p:cNvSpPr txBox="1"/>
          <p:nvPr/>
        </p:nvSpPr>
        <p:spPr>
          <a:xfrm>
            <a:off x="1743339" y="3559537"/>
            <a:ext cx="552563"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酒精</a:t>
            </a:r>
          </a:p>
        </p:txBody>
      </p:sp>
      <p:sp>
        <p:nvSpPr>
          <p:cNvPr id="11" name="原题文字_182_44"/>
          <p:cNvSpPr txBox="1"/>
          <p:nvPr/>
        </p:nvSpPr>
        <p:spPr>
          <a:xfrm>
            <a:off x="1743339" y="3812215"/>
            <a:ext cx="537249"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喷灯</a:t>
            </a:r>
          </a:p>
        </p:txBody>
      </p:sp>
      <p:sp>
        <p:nvSpPr>
          <p:cNvPr id="12" name="原题文字_182_45"/>
          <p:cNvSpPr txBox="1"/>
          <p:nvPr/>
        </p:nvSpPr>
        <p:spPr>
          <a:xfrm>
            <a:off x="1260954" y="4799957"/>
            <a:ext cx="200345"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a</a:t>
            </a:r>
          </a:p>
        </p:txBody>
      </p:sp>
      <p:sp>
        <p:nvSpPr>
          <p:cNvPr id="13" name="原题文字_182_46"/>
          <p:cNvSpPr txBox="1"/>
          <p:nvPr/>
        </p:nvSpPr>
        <p:spPr>
          <a:xfrm>
            <a:off x="2669826" y="4769330"/>
            <a:ext cx="200345"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b</a:t>
            </a:r>
          </a:p>
        </p:txBody>
      </p:sp>
      <p:sp>
        <p:nvSpPr>
          <p:cNvPr id="14" name="文字_A. 实验时，先点燃酒精喷灯再点燃酒精灯"/>
          <p:cNvSpPr txBox="1"/>
          <p:nvPr/>
        </p:nvSpPr>
        <p:spPr>
          <a:xfrm>
            <a:off x="502920" y="5078590"/>
            <a:ext cx="11064240" cy="320040"/>
          </a:xfrm>
          <a:prstGeom prst="rect">
            <a:avLst/>
          </a:prstGeom>
          <a:noFill/>
        </p:spPr>
        <p:txBody>
          <a:bodyPr wrap="square" lIns="0" rIns="0" tIns="0" bIns="0">
            <a:spAutoFit/>
          </a:bodyPr>
          <a:lstStyle/>
          <a:p>
            <a:pPr>
              <a:lnSpc>
                <a:spcPct val="112000"/>
              </a:lnSpc>
              <a:spcBef>
                <a:spcPts val="0"/>
              </a:spcBef>
              <a:spcAft>
                <a:spcPts val="0"/>
              </a:spcAft>
              <a:defRPr sz="1750" b="0">
                <a:solidFill>
                  <a:srgbClr val="333333"/>
                </a:solidFill>
                <a:latin typeface="微软雅黑"/>
              </a:defRPr>
            </a:pPr>
            <a:r>
              <a:rPr>
                <a:ea typeface="微软雅黑"/>
              </a:rPr>
              <a:t>A. 实验时，先点燃酒精喷灯再点燃酒精灯</a:t>
            </a:r>
          </a:p>
        </p:txBody>
      </p:sp>
      <p:sp>
        <p:nvSpPr>
          <p:cNvPr id="15" name="文字_B. 装置b中H₂O作氧化剂，发生的化学方程式为"/>
          <p:cNvSpPr txBox="1"/>
          <p:nvPr/>
        </p:nvSpPr>
        <p:spPr>
          <a:xfrm>
            <a:off x="502920" y="5398630"/>
            <a:ext cx="11064240" cy="320040"/>
          </a:xfrm>
          <a:prstGeom prst="rect">
            <a:avLst/>
          </a:prstGeom>
          <a:noFill/>
        </p:spPr>
        <p:txBody>
          <a:bodyPr wrap="square" lIns="0" rIns="0" tIns="0" bIns="0">
            <a:spAutoFit/>
          </a:bodyPr>
          <a:lstStyle/>
          <a:p>
            <a:pPr>
              <a:lnSpc>
                <a:spcPct val="112000"/>
              </a:lnSpc>
              <a:spcBef>
                <a:spcPts val="0"/>
              </a:spcBef>
              <a:spcAft>
                <a:spcPts val="0"/>
              </a:spcAft>
              <a:defRPr sz="1750" b="0">
                <a:solidFill>
                  <a:srgbClr val="333333"/>
                </a:solidFill>
                <a:latin typeface="微软雅黑"/>
              </a:defRPr>
            </a:pPr>
            <a:r>
              <a:rPr>
                <a:ea typeface="微软雅黑"/>
              </a:rPr>
              <a:t>B. 装置b中H₂O作氧化剂，发生的化学方程式为2Fe + 3H₂O(g)高温Fe₂O₃ + 3H₂</a:t>
            </a:r>
          </a:p>
        </p:txBody>
      </p:sp>
      <p:sp>
        <p:nvSpPr>
          <p:cNvPr id="16" name="文字_C. 干燥管中加入的固体干燥剂可以是无水硫酸铜"/>
          <p:cNvSpPr txBox="1"/>
          <p:nvPr/>
        </p:nvSpPr>
        <p:spPr>
          <a:xfrm>
            <a:off x="502920" y="5718670"/>
            <a:ext cx="11064240" cy="320040"/>
          </a:xfrm>
          <a:prstGeom prst="rect">
            <a:avLst/>
          </a:prstGeom>
          <a:noFill/>
        </p:spPr>
        <p:txBody>
          <a:bodyPr wrap="square" lIns="0" rIns="0" tIns="0" bIns="0">
            <a:spAutoFit/>
          </a:bodyPr>
          <a:lstStyle/>
          <a:p>
            <a:pPr>
              <a:lnSpc>
                <a:spcPct val="112000"/>
              </a:lnSpc>
              <a:spcBef>
                <a:spcPts val="0"/>
              </a:spcBef>
              <a:spcAft>
                <a:spcPts val="0"/>
              </a:spcAft>
              <a:defRPr sz="1750" b="0">
                <a:solidFill>
                  <a:srgbClr val="333333"/>
                </a:solidFill>
                <a:latin typeface="微软雅黑"/>
              </a:defRPr>
            </a:pPr>
            <a:r>
              <a:rPr>
                <a:ea typeface="微软雅黑"/>
              </a:rPr>
              <a:t>C. 干燥管中加入的固体干燥剂可以是无水硫酸铜</a:t>
            </a:r>
          </a:p>
        </p:txBody>
      </p:sp>
      <p:sp>
        <p:nvSpPr>
          <p:cNvPr id="17" name="文字_D. 收集反应产生的气体选用装置c"/>
          <p:cNvSpPr txBox="1"/>
          <p:nvPr/>
        </p:nvSpPr>
        <p:spPr>
          <a:xfrm>
            <a:off x="502920" y="6038710"/>
            <a:ext cx="11064240" cy="320040"/>
          </a:xfrm>
          <a:prstGeom prst="rect">
            <a:avLst/>
          </a:prstGeom>
          <a:noFill/>
        </p:spPr>
        <p:txBody>
          <a:bodyPr wrap="square" lIns="0" rIns="0" tIns="0" bIns="0">
            <a:spAutoFit/>
          </a:bodyPr>
          <a:lstStyle/>
          <a:p>
            <a:pPr>
              <a:lnSpc>
                <a:spcPct val="112000"/>
              </a:lnSpc>
              <a:spcBef>
                <a:spcPts val="0"/>
              </a:spcBef>
              <a:spcAft>
                <a:spcPts val="0"/>
              </a:spcAft>
              <a:defRPr sz="1750" b="0">
                <a:solidFill>
                  <a:srgbClr val="333333"/>
                </a:solidFill>
                <a:latin typeface="微软雅黑"/>
              </a:defRPr>
            </a:pPr>
            <a:r>
              <a:rPr>
                <a:ea typeface="微软雅黑"/>
              </a:rPr>
              <a:t>D. 收集反应产生的气体选用装置c</a:t>
            </a:r>
          </a:p>
        </p:txBody>
      </p:sp>
      <p:sp>
        <p:nvSpPr>
          <p:cNvPr id="18" name="文字_单选题  ·  09-01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09-015</a:t>
            </a:r>
          </a:p>
        </p:txBody>
      </p:sp>
      <p:sp>
        <p:nvSpPr>
          <p:cNvPr id="19" name="文字_2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3"/>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03</a:t>
            </a:r>
          </a:p>
        </p:txBody>
      </p:sp>
      <p:sp>
        <p:nvSpPr>
          <p:cNvPr id="4" name="文字_铁的三种氧化物比较"/>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铁的三种氧化物比较</a:t>
            </a:r>
          </a:p>
        </p:txBody>
      </p:sp>
      <p:sp>
        <p:nvSpPr>
          <p:cNvPr id="5" name="文字_知识梳理 · 讲义 P183"/>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P183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铁的三种氧化物比较"/>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铁的三种氧化物比较</a:t>
            </a:r>
          </a:p>
        </p:txBody>
      </p:sp>
      <p:sp>
        <p:nvSpPr>
          <p:cNvPr id="5" name="文字_知识讲解 · P183"/>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P183</a:t>
            </a:r>
          </a:p>
        </p:txBody>
      </p:sp>
      <p:graphicFrame>
        <p:nvGraphicFramePr>
          <p:cNvPr id="6" name="Table 5"/>
          <p:cNvGraphicFramePr>
            <a:graphicFrameLocks noGrp="1"/>
          </p:cNvGraphicFramePr>
          <p:nvPr/>
        </p:nvGraphicFramePr>
        <p:xfrm>
          <a:off x="502920" y="1773936"/>
          <a:ext cx="11109960" cy="4225036"/>
        </p:xfrm>
        <a:graphic>
          <a:graphicData uri="http://schemas.openxmlformats.org/drawingml/2006/table">
            <a:tbl>
              <a:tblPr firstRow="1" bandRow="1">
                <a:tableStyleId>{5C22544A-7EE6-4342-B048-85BDC9FD1C3A}</a:tableStyleId>
              </a:tblPr>
              <a:tblGrid>
                <a:gridCol w="2777490"/>
                <a:gridCol w="2777490"/>
                <a:gridCol w="2777490"/>
                <a:gridCol w="2777490"/>
              </a:tblGrid>
              <a:tr h="469138">
                <a:tc>
                  <a:txBody>
                    <a:bodyPr/>
                    <a:lstStyle/>
                    <a:p>
                      <a:pPr>
                        <a:defRPr sz="1900" b="1">
                          <a:solidFill>
                            <a:srgbClr val="FFFFFF"/>
                          </a:solidFill>
                          <a:latin typeface="微软雅黑"/>
                        </a:defRPr>
                      </a:pPr>
                      <a:r>
                        <a:t>项目</a:t>
                      </a:r>
                    </a:p>
                  </a:txBody>
                  <a:tcPr marL="91440" marR="91440" marT="45720" marB="45720" anchor="ctr">
                    <a:solidFill>
                      <a:srgbClr val="F1922F"/>
                    </a:solidFill>
                  </a:tcPr>
                </a:tc>
                <a:tc>
                  <a:txBody>
                    <a:bodyPr/>
                    <a:lstStyle/>
                    <a:p>
                      <a:pPr>
                        <a:defRPr sz="1900" b="1">
                          <a:solidFill>
                            <a:srgbClr val="FFFFFF"/>
                          </a:solidFill>
                          <a:latin typeface="微软雅黑"/>
                        </a:defRPr>
                      </a:pPr>
                      <a:r>
                        <a:t>FeO</a:t>
                      </a:r>
                    </a:p>
                  </a:txBody>
                  <a:tcPr marL="91440" marR="91440" marT="45720" marB="45720" anchor="ctr">
                    <a:solidFill>
                      <a:srgbClr val="F1922F"/>
                    </a:solidFill>
                  </a:tcPr>
                </a:tc>
                <a:tc>
                  <a:txBody>
                    <a:bodyPr/>
                    <a:lstStyle/>
                    <a:p>
                      <a:pPr>
                        <a:defRPr sz="1900" b="1">
                          <a:solidFill>
                            <a:srgbClr val="FFFFFF"/>
                          </a:solidFill>
                          <a:latin typeface="微软雅黑"/>
                        </a:defRPr>
                      </a:pPr>
                      <a:r>
                        <a:t>Fe₂O₃</a:t>
                      </a:r>
                    </a:p>
                  </a:txBody>
                  <a:tcPr marL="91440" marR="91440" marT="45720" marB="45720" anchor="ctr">
                    <a:solidFill>
                      <a:srgbClr val="F1922F"/>
                    </a:solidFill>
                  </a:tcPr>
                </a:tc>
                <a:tc>
                  <a:txBody>
                    <a:bodyPr/>
                    <a:lstStyle/>
                    <a:p>
                      <a:pPr>
                        <a:defRPr sz="1900" b="1">
                          <a:solidFill>
                            <a:srgbClr val="FFFFFF"/>
                          </a:solidFill>
                          <a:latin typeface="微软雅黑"/>
                        </a:defRPr>
                      </a:pPr>
                      <a:r>
                        <a:t>Fe₃O₄</a:t>
                      </a:r>
                    </a:p>
                  </a:txBody>
                  <a:tcPr marL="91440" marR="91440" marT="45720" marB="45720" anchor="ctr">
                    <a:solidFill>
                      <a:srgbClr val="F1922F"/>
                    </a:solidFill>
                  </a:tcPr>
                </a:tc>
              </a:tr>
              <a:tr h="469138">
                <a:tc>
                  <a:txBody>
                    <a:bodyPr/>
                    <a:lstStyle/>
                    <a:p>
                      <a:pPr>
                        <a:defRPr sz="1900" b="0">
                          <a:solidFill>
                            <a:srgbClr val="333333"/>
                          </a:solidFill>
                          <a:latin typeface="微软雅黑"/>
                        </a:defRPr>
                      </a:pPr>
                      <a:r>
                        <a:t>俗称</a:t>
                      </a:r>
                    </a:p>
                  </a:txBody>
                  <a:tcPr marL="91440" marR="91440" marT="45720" marB="45720" anchor="ctr">
                    <a:solidFill>
                      <a:srgbClr val="FDF2E3"/>
                    </a:solidFill>
                  </a:tcPr>
                </a:tc>
                <a:tc>
                  <a:txBody>
                    <a:bodyPr/>
                    <a:lstStyle/>
                    <a:p>
                      <a:pPr>
                        <a:defRPr sz="1900" b="0">
                          <a:solidFill>
                            <a:srgbClr val="333333"/>
                          </a:solidFill>
                          <a:latin typeface="微软雅黑"/>
                        </a:defRPr>
                      </a:pPr>
                      <a:r>
                        <a:t>—</a:t>
                      </a:r>
                    </a:p>
                  </a:txBody>
                  <a:tcPr marL="91440" marR="91440" marT="45720" marB="45720" anchor="ctr">
                    <a:solidFill>
                      <a:srgbClr val="FDF2E3"/>
                    </a:solidFill>
                  </a:tcPr>
                </a:tc>
                <a:tc>
                  <a:txBody>
                    <a:bodyPr/>
                    <a:lstStyle/>
                    <a:p>
                      <a:pPr>
                        <a:defRPr sz="1900" b="0">
                          <a:solidFill>
                            <a:srgbClr val="333333"/>
                          </a:solidFill>
                          <a:latin typeface="微软雅黑"/>
                        </a:defRPr>
                      </a:pPr>
                      <a:r>
                        <a:t>铁红</a:t>
                      </a:r>
                    </a:p>
                  </a:txBody>
                  <a:tcPr marL="91440" marR="91440" marT="45720" marB="45720" anchor="ctr">
                    <a:solidFill>
                      <a:srgbClr val="FDF2E3"/>
                    </a:solidFill>
                  </a:tcPr>
                </a:tc>
                <a:tc>
                  <a:txBody>
                    <a:bodyPr/>
                    <a:lstStyle/>
                    <a:p>
                      <a:pPr>
                        <a:defRPr sz="1900" b="0">
                          <a:solidFill>
                            <a:srgbClr val="333333"/>
                          </a:solidFill>
                          <a:latin typeface="微软雅黑"/>
                        </a:defRPr>
                      </a:pPr>
                      <a:r>
                        <a:t>磁性氧化铁</a:t>
                      </a:r>
                    </a:p>
                  </a:txBody>
                  <a:tcPr marL="91440" marR="91440" marT="45720" marB="45720" anchor="ctr">
                    <a:solidFill>
                      <a:srgbClr val="FDF2E3"/>
                    </a:solidFill>
                  </a:tcPr>
                </a:tc>
              </a:tr>
              <a:tr h="469138">
                <a:tc>
                  <a:txBody>
                    <a:bodyPr/>
                    <a:lstStyle/>
                    <a:p>
                      <a:pPr>
                        <a:defRPr sz="1900" b="0">
                          <a:solidFill>
                            <a:srgbClr val="333333"/>
                          </a:solidFill>
                          <a:latin typeface="微软雅黑"/>
                        </a:defRPr>
                      </a:pPr>
                      <a:r>
                        <a:t>颜色状态</a:t>
                      </a:r>
                    </a:p>
                  </a:txBody>
                  <a:tcPr marL="91440" marR="91440" marT="45720" marB="45720" anchor="ctr">
                    <a:solidFill>
                      <a:srgbClr val="FFFFFF"/>
                    </a:solidFill>
                  </a:tcPr>
                </a:tc>
                <a:tc>
                  <a:txBody>
                    <a:bodyPr/>
                    <a:lstStyle/>
                    <a:p>
                      <a:pPr>
                        <a:defRPr sz="1900" b="0">
                          <a:solidFill>
                            <a:srgbClr val="333333"/>
                          </a:solidFill>
                          <a:latin typeface="微软雅黑"/>
                        </a:defRPr>
                      </a:pPr>
                      <a:r>
                        <a:t>黑色粉末</a:t>
                      </a:r>
                    </a:p>
                  </a:txBody>
                  <a:tcPr marL="91440" marR="91440" marT="45720" marB="45720" anchor="ctr">
                    <a:solidFill>
                      <a:srgbClr val="FFFFFF"/>
                    </a:solidFill>
                  </a:tcPr>
                </a:tc>
                <a:tc>
                  <a:txBody>
                    <a:bodyPr/>
                    <a:lstStyle/>
                    <a:p>
                      <a:pPr>
                        <a:defRPr sz="1900" b="0">
                          <a:solidFill>
                            <a:srgbClr val="333333"/>
                          </a:solidFill>
                          <a:latin typeface="微软雅黑"/>
                        </a:defRPr>
                      </a:pPr>
                      <a:r>
                        <a:t>红棕色粉末</a:t>
                      </a:r>
                    </a:p>
                  </a:txBody>
                  <a:tcPr marL="91440" marR="91440" marT="45720" marB="45720" anchor="ctr">
                    <a:solidFill>
                      <a:srgbClr val="FFFFFF"/>
                    </a:solidFill>
                  </a:tcPr>
                </a:tc>
                <a:tc>
                  <a:txBody>
                    <a:bodyPr/>
                    <a:lstStyle/>
                    <a:p>
                      <a:pPr>
                        <a:defRPr sz="1900" b="0">
                          <a:solidFill>
                            <a:srgbClr val="333333"/>
                          </a:solidFill>
                          <a:latin typeface="微软雅黑"/>
                        </a:defRPr>
                      </a:pPr>
                      <a:r>
                        <a:t>黑色晶体（有磁性）</a:t>
                      </a:r>
                    </a:p>
                  </a:txBody>
                  <a:tcPr marL="91440" marR="91440" marT="45720" marB="45720" anchor="ctr">
                    <a:solidFill>
                      <a:srgbClr val="FFFFFF"/>
                    </a:solidFill>
                  </a:tcPr>
                </a:tc>
              </a:tr>
              <a:tr h="469138">
                <a:tc>
                  <a:txBody>
                    <a:bodyPr/>
                    <a:lstStyle/>
                    <a:p>
                      <a:pPr>
                        <a:defRPr sz="1900" b="0">
                          <a:solidFill>
                            <a:srgbClr val="333333"/>
                          </a:solidFill>
                          <a:latin typeface="微软雅黑"/>
                        </a:defRPr>
                      </a:pPr>
                      <a:r>
                        <a:t>铁的价态</a:t>
                      </a:r>
                    </a:p>
                  </a:txBody>
                  <a:tcPr marL="91440" marR="91440" marT="45720" marB="45720" anchor="ctr">
                    <a:solidFill>
                      <a:srgbClr val="FDF2E3"/>
                    </a:solidFill>
                  </a:tcPr>
                </a:tc>
                <a:tc>
                  <a:txBody>
                    <a:bodyPr/>
                    <a:lstStyle/>
                    <a:p>
                      <a:pPr>
                        <a:defRPr sz="1900" b="0">
                          <a:solidFill>
                            <a:srgbClr val="333333"/>
                          </a:solidFill>
                          <a:latin typeface="微软雅黑"/>
                        </a:defRPr>
                      </a:pPr>
                      <a:r>
                        <a:t>+2</a:t>
                      </a:r>
                    </a:p>
                  </a:txBody>
                  <a:tcPr marL="91440" marR="91440" marT="45720" marB="45720" anchor="ctr">
                    <a:solidFill>
                      <a:srgbClr val="FDF2E3"/>
                    </a:solidFill>
                  </a:tcPr>
                </a:tc>
                <a:tc>
                  <a:txBody>
                    <a:bodyPr/>
                    <a:lstStyle/>
                    <a:p>
                      <a:pPr>
                        <a:defRPr sz="1900" b="0">
                          <a:solidFill>
                            <a:srgbClr val="333333"/>
                          </a:solidFill>
                          <a:latin typeface="微软雅黑"/>
                        </a:defRPr>
                      </a:pPr>
                      <a:r>
                        <a:t>+3</a:t>
                      </a:r>
                    </a:p>
                  </a:txBody>
                  <a:tcPr marL="91440" marR="91440" marT="45720" marB="45720" anchor="ctr">
                    <a:solidFill>
                      <a:srgbClr val="FDF2E3"/>
                    </a:solidFill>
                  </a:tcPr>
                </a:tc>
                <a:tc>
                  <a:txBody>
                    <a:bodyPr/>
                    <a:lstStyle/>
                    <a:p>
                      <a:pPr>
                        <a:defRPr sz="1900" b="0">
                          <a:solidFill>
                            <a:srgbClr val="333333"/>
                          </a:solidFill>
                          <a:latin typeface="微软雅黑"/>
                        </a:defRPr>
                      </a:pPr>
                      <a:r>
                        <a:t>+2 和 +3</a:t>
                      </a:r>
                    </a:p>
                  </a:txBody>
                  <a:tcPr marL="91440" marR="91440" marT="45720" marB="45720" anchor="ctr">
                    <a:solidFill>
                      <a:srgbClr val="FDF2E3"/>
                    </a:solidFill>
                  </a:tcPr>
                </a:tc>
              </a:tr>
              <a:tr h="782828">
                <a:tc>
                  <a:txBody>
                    <a:bodyPr/>
                    <a:lstStyle/>
                    <a:p>
                      <a:pPr>
                        <a:defRPr sz="1900" b="0">
                          <a:solidFill>
                            <a:srgbClr val="333333"/>
                          </a:solidFill>
                          <a:latin typeface="微软雅黑"/>
                        </a:defRPr>
                      </a:pPr>
                      <a:r>
                        <a:t>类别</a:t>
                      </a:r>
                    </a:p>
                  </a:txBody>
                  <a:tcPr marL="91440" marR="91440" marT="45720" marB="45720" anchor="ctr">
                    <a:solidFill>
                      <a:srgbClr val="FFFFFF"/>
                    </a:solidFill>
                  </a:tcPr>
                </a:tc>
                <a:tc>
                  <a:txBody>
                    <a:bodyPr/>
                    <a:lstStyle/>
                    <a:p>
                      <a:pPr>
                        <a:defRPr sz="1900" b="0">
                          <a:solidFill>
                            <a:srgbClr val="333333"/>
                          </a:solidFill>
                          <a:latin typeface="微软雅黑"/>
                        </a:defRPr>
                      </a:pPr>
                      <a:r>
                        <a:t>碱性氧化物</a:t>
                      </a:r>
                    </a:p>
                  </a:txBody>
                  <a:tcPr marL="91440" marR="91440" marT="45720" marB="45720" anchor="ctr">
                    <a:solidFill>
                      <a:srgbClr val="FFFFFF"/>
                    </a:solidFill>
                  </a:tcPr>
                </a:tc>
                <a:tc>
                  <a:txBody>
                    <a:bodyPr/>
                    <a:lstStyle/>
                    <a:p>
                      <a:pPr>
                        <a:defRPr sz="1900" b="0">
                          <a:solidFill>
                            <a:srgbClr val="333333"/>
                          </a:solidFill>
                          <a:latin typeface="微软雅黑"/>
                        </a:defRPr>
                      </a:pPr>
                      <a:r>
                        <a:t>碱性氧化物</a:t>
                      </a:r>
                    </a:p>
                  </a:txBody>
                  <a:tcPr marL="91440" marR="91440" marT="45720" marB="45720" anchor="ctr">
                    <a:solidFill>
                      <a:srgbClr val="FFFFFF"/>
                    </a:solidFill>
                  </a:tcPr>
                </a:tc>
                <a:tc>
                  <a:txBody>
                    <a:bodyPr/>
                    <a:lstStyle/>
                    <a:p>
                      <a:pPr>
                        <a:defRPr sz="1900" b="0">
                          <a:solidFill>
                            <a:srgbClr val="333333"/>
                          </a:solidFill>
                          <a:latin typeface="微软雅黑"/>
                        </a:defRPr>
                      </a:pPr>
                      <a:r>
                        <a:t>不是碱性氧化物（复杂氧化物）</a:t>
                      </a:r>
                    </a:p>
                  </a:txBody>
                  <a:tcPr marL="91440" marR="91440" marT="45720" marB="45720" anchor="ctr">
                    <a:solidFill>
                      <a:srgbClr val="FFFFFF"/>
                    </a:solidFill>
                  </a:tcPr>
                </a:tc>
              </a:tr>
              <a:tr h="782828">
                <a:tc>
                  <a:txBody>
                    <a:bodyPr/>
                    <a:lstStyle/>
                    <a:p>
                      <a:pPr>
                        <a:defRPr sz="1900" b="0">
                          <a:solidFill>
                            <a:srgbClr val="333333"/>
                          </a:solidFill>
                          <a:latin typeface="微软雅黑"/>
                        </a:defRPr>
                      </a:pPr>
                      <a:r>
                        <a:t>与盐酸</a:t>
                      </a:r>
                    </a:p>
                  </a:txBody>
                  <a:tcPr marL="91440" marR="91440" marT="45720" marB="45720" anchor="ctr">
                    <a:solidFill>
                      <a:srgbClr val="FDF2E3"/>
                    </a:solidFill>
                  </a:tcPr>
                </a:tc>
                <a:tc>
                  <a:txBody>
                    <a:bodyPr/>
                    <a:lstStyle/>
                    <a:p>
                      <a:pPr>
                        <a:defRPr sz="1900" b="0">
                          <a:solidFill>
                            <a:srgbClr val="333333"/>
                          </a:solidFill>
                          <a:latin typeface="微软雅黑"/>
                        </a:defRPr>
                      </a:pPr>
                      <a:r>
                        <a:t>FeO + 2H⁺ = Fe²⁺ + H₂O</a:t>
                      </a:r>
                    </a:p>
                  </a:txBody>
                  <a:tcPr marL="91440" marR="91440" marT="45720" marB="45720" anchor="ctr">
                    <a:solidFill>
                      <a:srgbClr val="FDF2E3"/>
                    </a:solidFill>
                  </a:tcPr>
                </a:tc>
                <a:tc>
                  <a:txBody>
                    <a:bodyPr/>
                    <a:lstStyle/>
                    <a:p>
                      <a:pPr>
                        <a:defRPr sz="1900" b="0">
                          <a:solidFill>
                            <a:srgbClr val="333333"/>
                          </a:solidFill>
                          <a:latin typeface="微软雅黑"/>
                        </a:defRPr>
                      </a:pPr>
                      <a:r>
                        <a:t>Fe₂O₃ + 6H⁺ = 2Fe³⁺ + 3H₂O</a:t>
                      </a:r>
                    </a:p>
                  </a:txBody>
                  <a:tcPr marL="91440" marR="91440" marT="45720" marB="45720" anchor="ctr">
                    <a:solidFill>
                      <a:srgbClr val="FDF2E3"/>
                    </a:solidFill>
                  </a:tcPr>
                </a:tc>
                <a:tc>
                  <a:txBody>
                    <a:bodyPr/>
                    <a:lstStyle/>
                    <a:p>
                      <a:pPr>
                        <a:defRPr sz="1900" b="0">
                          <a:solidFill>
                            <a:srgbClr val="333333"/>
                          </a:solidFill>
                          <a:latin typeface="微软雅黑"/>
                        </a:defRPr>
                      </a:pPr>
                      <a:r>
                        <a:t>Fe₃O₄ + 8H⁺ = 2Fe³⁺ + Fe²⁺ + 4H₂O</a:t>
                      </a:r>
                    </a:p>
                  </a:txBody>
                  <a:tcPr marL="91440" marR="91440" marT="45720" marB="45720" anchor="ctr">
                    <a:solidFill>
                      <a:srgbClr val="FDF2E3"/>
                    </a:solidFill>
                  </a:tcPr>
                </a:tc>
              </a:tr>
              <a:tr h="782828">
                <a:tc>
                  <a:txBody>
                    <a:bodyPr/>
                    <a:lstStyle/>
                    <a:p>
                      <a:pPr>
                        <a:defRPr sz="1900" b="0">
                          <a:solidFill>
                            <a:srgbClr val="333333"/>
                          </a:solidFill>
                          <a:latin typeface="微软雅黑"/>
                        </a:defRPr>
                      </a:pPr>
                      <a:r>
                        <a:t>稳定性</a:t>
                      </a:r>
                    </a:p>
                  </a:txBody>
                  <a:tcPr marL="91440" marR="91440" marT="45720" marB="45720" anchor="ctr">
                    <a:solidFill>
                      <a:srgbClr val="FFFFFF"/>
                    </a:solidFill>
                  </a:tcPr>
                </a:tc>
                <a:tc>
                  <a:txBody>
                    <a:bodyPr/>
                    <a:lstStyle/>
                    <a:p>
                      <a:pPr>
                        <a:defRPr sz="1900" b="0">
                          <a:solidFill>
                            <a:srgbClr val="333333"/>
                          </a:solidFill>
                          <a:latin typeface="微软雅黑"/>
                        </a:defRPr>
                      </a:pPr>
                      <a:r>
                        <a:t>不稳定：6FeO + O₂ —加热→ 2Fe₃O₄</a:t>
                      </a:r>
                    </a:p>
                  </a:txBody>
                  <a:tcPr marL="91440" marR="91440" marT="45720" marB="45720" anchor="ctr">
                    <a:solidFill>
                      <a:srgbClr val="FFFFFF"/>
                    </a:solidFill>
                  </a:tcPr>
                </a:tc>
                <a:tc>
                  <a:txBody>
                    <a:bodyPr/>
                    <a:lstStyle/>
                    <a:p>
                      <a:pPr>
                        <a:defRPr sz="1900" b="0">
                          <a:solidFill>
                            <a:srgbClr val="333333"/>
                          </a:solidFill>
                          <a:latin typeface="微软雅黑"/>
                        </a:defRPr>
                      </a:pPr>
                      <a:r>
                        <a:t>稳定</a:t>
                      </a:r>
                    </a:p>
                  </a:txBody>
                  <a:tcPr marL="91440" marR="91440" marT="45720" marB="45720" anchor="ctr">
                    <a:solidFill>
                      <a:srgbClr val="FFFFFF"/>
                    </a:solidFill>
                  </a:tcPr>
                </a:tc>
                <a:tc>
                  <a:txBody>
                    <a:bodyPr/>
                    <a:lstStyle/>
                    <a:p>
                      <a:pPr>
                        <a:defRPr sz="1900" b="0">
                          <a:solidFill>
                            <a:srgbClr val="333333"/>
                          </a:solidFill>
                          <a:latin typeface="微软雅黑"/>
                        </a:defRPr>
                      </a:pPr>
                      <a:r>
                        <a:t>稳定</a:t>
                      </a:r>
                    </a:p>
                  </a:txBody>
                  <a:tcPr marL="91440" marR="91440" marT="45720" marB="45720" anchor="ctr">
                    <a:solidFill>
                      <a:srgbClr val="FFFFFF"/>
                    </a:solidFill>
                  </a:tcPr>
                </a:tc>
              </a:tr>
            </a:tbl>
          </a:graphicData>
        </a:graphic>
      </p:graphicFrame>
      <p:sp>
        <p:nvSpPr>
          <p:cNvPr id="7" name="Rectangle 6"/>
          <p:cNvSpPr/>
          <p:nvPr/>
        </p:nvSpPr>
        <p:spPr>
          <a:xfrm>
            <a:off x="493776" y="613613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Fe₃O₄ 与酸反应生成两种价态的铁离子"/>
          <p:cNvSpPr txBox="1"/>
          <p:nvPr/>
        </p:nvSpPr>
        <p:spPr>
          <a:xfrm>
            <a:off x="630936" y="61955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Fe₃O₄ 与酸反应生成两种价态的铁离子；Fe₂O₃ 用作红色颜料，Fe₃O₄ 用作磁性材料。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物理和化学性质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铁的物理和化学性质 · 变式8</a:t>
            </a:r>
          </a:p>
        </p:txBody>
      </p:sp>
      <p:sp>
        <p:nvSpPr>
          <p:cNvPr id="5" name="文字_P18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P183</a:t>
            </a:r>
          </a:p>
        </p:txBody>
      </p:sp>
      <p:sp>
        <p:nvSpPr>
          <p:cNvPr id="6" name="文字_工业上炼铁、炼钢和轧制钢材的主要流程如图。"/>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工业上炼铁、炼钢和轧制钢材的主要流程如图。</a:t>
            </a:r>
          </a:p>
        </p:txBody>
      </p:sp>
      <p:pic>
        <p:nvPicPr>
          <p:cNvPr id="7" name="Picture 6" descr="image.png"/>
          <p:cNvPicPr>
            <a:picLocks noChangeAspect="1"/>
          </p:cNvPicPr>
          <p:nvPr/>
        </p:nvPicPr>
        <p:blipFill>
          <a:blip r:embed="rId3"/>
          <a:stretch>
            <a:fillRect/>
          </a:stretch>
        </p:blipFill>
        <p:spPr>
          <a:xfrm>
            <a:off x="502920" y="1517904"/>
            <a:ext cx="11064240" cy="2725861"/>
          </a:xfrm>
          <a:prstGeom prst="rect">
            <a:avLst/>
          </a:prstGeom>
        </p:spPr>
      </p:pic>
      <p:sp>
        <p:nvSpPr>
          <p:cNvPr id="8" name="原题文字_183_5"/>
          <p:cNvSpPr txBox="1"/>
          <p:nvPr/>
        </p:nvSpPr>
        <p:spPr>
          <a:xfrm>
            <a:off x="6850501" y="1549787"/>
            <a:ext cx="743986" cy="577331"/>
          </a:xfrm>
          <a:prstGeom prst="rect">
            <a:avLst/>
          </a:prstGeom>
          <a:noFill/>
        </p:spPr>
        <p:txBody>
          <a:bodyPr wrap="none" lIns="0" rIns="0" tIns="0" bIns="0">
            <a:spAutoFit/>
          </a:bodyPr>
          <a:lstStyle/>
          <a:p>
            <a:pPr>
              <a:lnSpc>
                <a:spcPct val="112000"/>
              </a:lnSpc>
              <a:spcBef>
                <a:spcPts val="0"/>
              </a:spcBef>
              <a:spcAft>
                <a:spcPts val="0"/>
              </a:spcAft>
              <a:defRPr sz="2797" b="0">
                <a:solidFill>
                  <a:srgbClr val="333333"/>
                </a:solidFill>
                <a:latin typeface="微软雅黑"/>
              </a:defRPr>
            </a:pPr>
            <a:r>
              <a:rPr>
                <a:ea typeface="微软雅黑"/>
              </a:rPr>
              <a:t>纯氧</a:t>
            </a:r>
          </a:p>
        </p:txBody>
      </p:sp>
      <p:sp>
        <p:nvSpPr>
          <p:cNvPr id="9" name="原题文字_183_6"/>
          <p:cNvSpPr txBox="1"/>
          <p:nvPr/>
        </p:nvSpPr>
        <p:spPr>
          <a:xfrm>
            <a:off x="2922504" y="1687612"/>
            <a:ext cx="2482105" cy="408113"/>
          </a:xfrm>
          <a:prstGeom prst="rect">
            <a:avLst/>
          </a:prstGeom>
          <a:noFill/>
        </p:spPr>
        <p:txBody>
          <a:bodyPr wrap="none" lIns="0" rIns="0" tIns="0" bIns="0">
            <a:spAutoFit/>
          </a:bodyPr>
          <a:lstStyle/>
          <a:p>
            <a:pPr>
              <a:lnSpc>
                <a:spcPct val="112000"/>
              </a:lnSpc>
              <a:spcBef>
                <a:spcPts val="0"/>
              </a:spcBef>
              <a:spcAft>
                <a:spcPts val="0"/>
              </a:spcAft>
              <a:defRPr sz="1974" b="0">
                <a:solidFill>
                  <a:srgbClr val="333333"/>
                </a:solidFill>
                <a:latin typeface="微软雅黑"/>
              </a:defRPr>
            </a:pPr>
            <a:r>
              <a:rPr>
                <a:ea typeface="微软雅黑"/>
              </a:rPr>
              <a:t>铁矿石、焦炭和石灰石</a:t>
            </a:r>
          </a:p>
        </p:txBody>
      </p:sp>
      <p:sp>
        <p:nvSpPr>
          <p:cNvPr id="10" name="原题文字_183_7"/>
          <p:cNvSpPr txBox="1"/>
          <p:nvPr/>
        </p:nvSpPr>
        <p:spPr>
          <a:xfrm>
            <a:off x="7095522" y="1902005"/>
            <a:ext cx="766956" cy="577331"/>
          </a:xfrm>
          <a:prstGeom prst="rect">
            <a:avLst/>
          </a:prstGeom>
          <a:noFill/>
        </p:spPr>
        <p:txBody>
          <a:bodyPr wrap="none" lIns="0" rIns="0" tIns="0" bIns="0">
            <a:spAutoFit/>
          </a:bodyPr>
          <a:lstStyle/>
          <a:p>
            <a:pPr>
              <a:lnSpc>
                <a:spcPct val="112000"/>
              </a:lnSpc>
              <a:spcBef>
                <a:spcPts val="0"/>
              </a:spcBef>
              <a:spcAft>
                <a:spcPts val="0"/>
              </a:spcAft>
              <a:defRPr sz="2797" b="0">
                <a:solidFill>
                  <a:srgbClr val="333333"/>
                </a:solidFill>
                <a:latin typeface="微软雅黑"/>
              </a:defRPr>
            </a:pPr>
            <a:r>
              <a:rPr>
                <a:ea typeface="微软雅黑"/>
              </a:rPr>
              <a:t>高温</a:t>
            </a:r>
          </a:p>
        </p:txBody>
      </p:sp>
      <p:sp>
        <p:nvSpPr>
          <p:cNvPr id="11" name="原题文字_183_8"/>
          <p:cNvSpPr txBox="1"/>
          <p:nvPr/>
        </p:nvSpPr>
        <p:spPr>
          <a:xfrm>
            <a:off x="1850536" y="2215939"/>
            <a:ext cx="1333568"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高炉气体</a:t>
            </a:r>
          </a:p>
        </p:txBody>
      </p:sp>
      <p:sp>
        <p:nvSpPr>
          <p:cNvPr id="12" name="原题文字_183_9"/>
          <p:cNvSpPr txBox="1"/>
          <p:nvPr/>
        </p:nvSpPr>
        <p:spPr>
          <a:xfrm>
            <a:off x="9009750" y="2300165"/>
            <a:ext cx="751643" cy="627101"/>
          </a:xfrm>
          <a:prstGeom prst="rect">
            <a:avLst/>
          </a:prstGeom>
          <a:noFill/>
        </p:spPr>
        <p:txBody>
          <a:bodyPr wrap="none" lIns="0" rIns="0" tIns="0" bIns="0">
            <a:spAutoFit/>
          </a:bodyPr>
          <a:lstStyle/>
          <a:p>
            <a:pPr>
              <a:lnSpc>
                <a:spcPct val="112000"/>
              </a:lnSpc>
              <a:spcBef>
                <a:spcPts val="0"/>
              </a:spcBef>
              <a:spcAft>
                <a:spcPts val="0"/>
              </a:spcAft>
              <a:defRPr sz="2960" b="0">
                <a:solidFill>
                  <a:srgbClr val="333333"/>
                </a:solidFill>
                <a:latin typeface="微软雅黑"/>
              </a:defRPr>
            </a:pPr>
            <a:r>
              <a:rPr>
                <a:ea typeface="微软雅黑"/>
              </a:rPr>
              <a:t>轧制</a:t>
            </a:r>
          </a:p>
        </p:txBody>
      </p:sp>
      <p:sp>
        <p:nvSpPr>
          <p:cNvPr id="13" name="原题文字_183_10"/>
          <p:cNvSpPr txBox="1"/>
          <p:nvPr/>
        </p:nvSpPr>
        <p:spPr>
          <a:xfrm>
            <a:off x="3611626" y="2545186"/>
            <a:ext cx="1172773" cy="557423"/>
          </a:xfrm>
          <a:prstGeom prst="rect">
            <a:avLst/>
          </a:prstGeom>
          <a:noFill/>
        </p:spPr>
        <p:txBody>
          <a:bodyPr wrap="none" lIns="0" rIns="0" tIns="0" bIns="0">
            <a:spAutoFit/>
          </a:bodyPr>
          <a:lstStyle/>
          <a:p>
            <a:pPr>
              <a:lnSpc>
                <a:spcPct val="112000"/>
              </a:lnSpc>
              <a:spcBef>
                <a:spcPts val="0"/>
              </a:spcBef>
              <a:spcAft>
                <a:spcPts val="0"/>
              </a:spcAft>
              <a:defRPr sz="2291" b="0">
                <a:solidFill>
                  <a:srgbClr val="333333"/>
                </a:solidFill>
                <a:latin typeface="微软雅黑"/>
              </a:defRPr>
            </a:pPr>
            <a:r>
              <a:rPr>
                <a:ea typeface="微软雅黑"/>
              </a:rPr>
              <a:t>炼铁高炉</a:t>
            </a:r>
          </a:p>
        </p:txBody>
      </p:sp>
      <p:sp>
        <p:nvSpPr>
          <p:cNvPr id="14" name="原题文字_183_11"/>
          <p:cNvSpPr txBox="1"/>
          <p:nvPr/>
        </p:nvSpPr>
        <p:spPr>
          <a:xfrm>
            <a:off x="5242549" y="2560500"/>
            <a:ext cx="1563275"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→生铁</a:t>
            </a:r>
          </a:p>
        </p:txBody>
      </p:sp>
      <p:sp>
        <p:nvSpPr>
          <p:cNvPr id="15" name="原题文字_183_12"/>
          <p:cNvSpPr txBox="1"/>
          <p:nvPr/>
        </p:nvSpPr>
        <p:spPr>
          <a:xfrm>
            <a:off x="6819873" y="2499245"/>
            <a:ext cx="935409" cy="587285"/>
          </a:xfrm>
          <a:prstGeom prst="rect">
            <a:avLst/>
          </a:prstGeom>
          <a:noFill/>
        </p:spPr>
        <p:txBody>
          <a:bodyPr wrap="none" lIns="0" rIns="0" tIns="0" bIns="0">
            <a:spAutoFit/>
          </a:bodyPr>
          <a:lstStyle/>
          <a:p>
            <a:pPr>
              <a:lnSpc>
                <a:spcPct val="112000"/>
              </a:lnSpc>
              <a:spcBef>
                <a:spcPts val="0"/>
              </a:spcBef>
              <a:spcAft>
                <a:spcPts val="0"/>
              </a:spcAft>
              <a:defRPr sz="2470" b="0">
                <a:solidFill>
                  <a:srgbClr val="333333"/>
                </a:solidFill>
                <a:latin typeface="微软雅黑"/>
              </a:defRPr>
            </a:pPr>
            <a:r>
              <a:rPr>
                <a:ea typeface="微软雅黑"/>
              </a:rPr>
              <a:t>炼钢炉</a:t>
            </a:r>
          </a:p>
        </p:txBody>
      </p:sp>
      <p:sp>
        <p:nvSpPr>
          <p:cNvPr id="16" name="原题文字_183_13"/>
          <p:cNvSpPr txBox="1"/>
          <p:nvPr/>
        </p:nvSpPr>
        <p:spPr>
          <a:xfrm>
            <a:off x="8190461" y="2529872"/>
            <a:ext cx="927752" cy="587285"/>
          </a:xfrm>
          <a:prstGeom prst="rect">
            <a:avLst/>
          </a:prstGeom>
          <a:noFill/>
        </p:spPr>
        <p:txBody>
          <a:bodyPr wrap="none" lIns="0" rIns="0" tIns="0" bIns="0">
            <a:spAutoFit/>
          </a:bodyPr>
          <a:lstStyle/>
          <a:p>
            <a:pPr>
              <a:lnSpc>
                <a:spcPct val="112000"/>
              </a:lnSpc>
              <a:spcBef>
                <a:spcPts val="0"/>
              </a:spcBef>
              <a:spcAft>
                <a:spcPts val="0"/>
              </a:spcAft>
              <a:defRPr sz="2450" b="0">
                <a:solidFill>
                  <a:srgbClr val="333333"/>
                </a:solidFill>
                <a:latin typeface="微软雅黑"/>
              </a:defRPr>
            </a:pPr>
            <a:r>
              <a:rPr>
                <a:ea typeface="微软雅黑"/>
              </a:rPr>
              <a:t>→钢锭</a:t>
            </a:r>
          </a:p>
        </p:txBody>
      </p:sp>
      <p:sp>
        <p:nvSpPr>
          <p:cNvPr id="17" name="原题文字_183_14"/>
          <p:cNvSpPr txBox="1"/>
          <p:nvPr/>
        </p:nvSpPr>
        <p:spPr>
          <a:xfrm>
            <a:off x="9622303" y="2545186"/>
            <a:ext cx="989007" cy="567377"/>
          </a:xfrm>
          <a:prstGeom prst="rect">
            <a:avLst/>
          </a:prstGeom>
          <a:noFill/>
        </p:spPr>
        <p:txBody>
          <a:bodyPr wrap="none" lIns="0" rIns="0" tIns="0" bIns="0">
            <a:spAutoFit/>
          </a:bodyPr>
          <a:lstStyle/>
          <a:p>
            <a:pPr>
              <a:lnSpc>
                <a:spcPct val="112000"/>
              </a:lnSpc>
              <a:spcBef>
                <a:spcPts val="0"/>
              </a:spcBef>
              <a:spcAft>
                <a:spcPts val="0"/>
              </a:spcAft>
              <a:defRPr sz="2618" b="0">
                <a:solidFill>
                  <a:srgbClr val="333333"/>
                </a:solidFill>
                <a:latin typeface="微软雅黑"/>
              </a:defRPr>
            </a:pPr>
            <a:r>
              <a:rPr>
                <a:ea typeface="微软雅黑"/>
              </a:rPr>
              <a:t>→钢板</a:t>
            </a:r>
          </a:p>
        </p:txBody>
      </p:sp>
      <p:sp>
        <p:nvSpPr>
          <p:cNvPr id="18" name="原题文字_183_15"/>
          <p:cNvSpPr txBox="1"/>
          <p:nvPr/>
        </p:nvSpPr>
        <p:spPr>
          <a:xfrm>
            <a:off x="2026645" y="2851463"/>
            <a:ext cx="958379" cy="577331"/>
          </a:xfrm>
          <a:prstGeom prst="rect">
            <a:avLst/>
          </a:prstGeom>
          <a:noFill/>
        </p:spPr>
        <p:txBody>
          <a:bodyPr wrap="none" lIns="0" rIns="0" tIns="0" bIns="0">
            <a:spAutoFit/>
          </a:bodyPr>
          <a:lstStyle/>
          <a:p>
            <a:pPr>
              <a:lnSpc>
                <a:spcPct val="112000"/>
              </a:lnSpc>
              <a:spcBef>
                <a:spcPts val="0"/>
              </a:spcBef>
              <a:spcAft>
                <a:spcPts val="0"/>
              </a:spcAft>
              <a:defRPr sz="2534" b="0">
                <a:solidFill>
                  <a:srgbClr val="333333"/>
                </a:solidFill>
                <a:latin typeface="微软雅黑"/>
              </a:defRPr>
            </a:pPr>
            <a:r>
              <a:rPr>
                <a:ea typeface="微软雅黑"/>
              </a:rPr>
              <a:t>热空气</a:t>
            </a:r>
          </a:p>
        </p:txBody>
      </p:sp>
      <p:sp>
        <p:nvSpPr>
          <p:cNvPr id="19" name="原题文字_183_16"/>
          <p:cNvSpPr txBox="1"/>
          <p:nvPr/>
        </p:nvSpPr>
        <p:spPr>
          <a:xfrm>
            <a:off x="3871961" y="3509957"/>
            <a:ext cx="705701" cy="527561"/>
          </a:xfrm>
          <a:prstGeom prst="rect">
            <a:avLst/>
          </a:prstGeom>
          <a:noFill/>
        </p:spPr>
        <p:txBody>
          <a:bodyPr wrap="none" lIns="0" rIns="0" tIns="0" bIns="0">
            <a:spAutoFit/>
          </a:bodyPr>
          <a:lstStyle/>
          <a:p>
            <a:pPr>
              <a:lnSpc>
                <a:spcPct val="112000"/>
              </a:lnSpc>
              <a:spcBef>
                <a:spcPts val="0"/>
              </a:spcBef>
              <a:spcAft>
                <a:spcPts val="0"/>
              </a:spcAft>
              <a:defRPr sz="2556" b="0">
                <a:solidFill>
                  <a:srgbClr val="333333"/>
                </a:solidFill>
                <a:latin typeface="微软雅黑"/>
              </a:defRPr>
            </a:pPr>
            <a:r>
              <a:rPr>
                <a:ea typeface="微软雅黑"/>
              </a:rPr>
              <a:t>炉渣</a:t>
            </a:r>
          </a:p>
        </p:txBody>
      </p:sp>
      <p:sp>
        <p:nvSpPr>
          <p:cNvPr id="20" name="原题文字_183_17"/>
          <p:cNvSpPr txBox="1"/>
          <p:nvPr/>
        </p:nvSpPr>
        <p:spPr>
          <a:xfrm>
            <a:off x="1015933" y="3931087"/>
            <a:ext cx="608851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①用赤铁矿（主要成分为氧化铁）进行高炉炼铁的化学方程式是</a:t>
            </a:r>
          </a:p>
        </p:txBody>
      </p:sp>
      <p:sp>
        <p:nvSpPr>
          <p:cNvPr id="21" name="文字_炼铁时将铁矿石粉碎的目的是"/>
          <p:cNvSpPr txBox="1"/>
          <p:nvPr/>
        </p:nvSpPr>
        <p:spPr>
          <a:xfrm>
            <a:off x="502920" y="431691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炼铁时将铁矿石粉碎的目的是</a:t>
            </a:r>
          </a:p>
        </p:txBody>
      </p:sp>
      <p:sp>
        <p:nvSpPr>
          <p:cNvPr id="22" name="文字_②高炉气体中有一种成分在热空气中含量最多，这种气"/>
          <p:cNvSpPr txBox="1"/>
          <p:nvPr/>
        </p:nvSpPr>
        <p:spPr>
          <a:xfrm>
            <a:off x="502920" y="475582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②高炉气体中有一种成分在热空气中含量最多，这种气体的化学式是 ______ O</a:t>
            </a:r>
          </a:p>
        </p:txBody>
      </p:sp>
      <p:sp>
        <p:nvSpPr>
          <p:cNvPr id="23" name="文字_③炼钢就是将生铁“降碳除杂”，炼钢炉中降碳反高炉"/>
          <p:cNvSpPr txBox="1"/>
          <p:nvPr/>
        </p:nvSpPr>
        <p:spPr>
          <a:xfrm>
            <a:off x="502920" y="519474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③炼钢就是将生铁“降碳除杂”，炼钢炉中降碳反高炉炼铁的化学方程式为</a:t>
            </a:r>
          </a:p>
        </p:txBody>
      </p:sp>
      <p:sp>
        <p:nvSpPr>
          <p:cNvPr id="24" name="文字_填空题  ·  09-01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09-016</a:t>
            </a:r>
          </a:p>
        </p:txBody>
      </p:sp>
      <p:sp>
        <p:nvSpPr>
          <p:cNvPr id="25" name="文字_2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4"/>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04</a:t>
            </a:r>
          </a:p>
        </p:txBody>
      </p:sp>
      <p:sp>
        <p:nvSpPr>
          <p:cNvPr id="4" name="文字_两种铁的氢氧化物比较"/>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两种铁的氢氧化物比较</a:t>
            </a:r>
          </a:p>
        </p:txBody>
      </p:sp>
      <p:sp>
        <p:nvSpPr>
          <p:cNvPr id="5" name="文字_知识梳理 · 讲义 P184"/>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P184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两种铁的氢氧化物比较"/>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两种铁的氢氧化物比较</a:t>
            </a:r>
          </a:p>
        </p:txBody>
      </p:sp>
      <p:sp>
        <p:nvSpPr>
          <p:cNvPr id="5" name="文字_知识讲解 · P18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P184</a:t>
            </a:r>
          </a:p>
        </p:txBody>
      </p:sp>
      <p:graphicFrame>
        <p:nvGraphicFramePr>
          <p:cNvPr id="6" name="Table 5"/>
          <p:cNvGraphicFramePr>
            <a:graphicFrameLocks noGrp="1"/>
          </p:cNvGraphicFramePr>
          <p:nvPr/>
        </p:nvGraphicFramePr>
        <p:xfrm>
          <a:off x="502920" y="1773936"/>
          <a:ext cx="11109960" cy="4564887"/>
        </p:xfrm>
        <a:graphic>
          <a:graphicData uri="http://schemas.openxmlformats.org/drawingml/2006/table">
            <a:tbl>
              <a:tblPr firstRow="1" bandRow="1">
                <a:tableStyleId>{5C22544A-7EE6-4342-B048-85BDC9FD1C3A}</a:tableStyleId>
              </a:tblPr>
              <a:tblGrid>
                <a:gridCol w="3703320"/>
                <a:gridCol w="3703320"/>
                <a:gridCol w="3703320"/>
              </a:tblGrid>
              <a:tr h="485648">
                <a:tc>
                  <a:txBody>
                    <a:bodyPr/>
                    <a:lstStyle/>
                    <a:p>
                      <a:pPr>
                        <a:defRPr sz="2000" b="1">
                          <a:solidFill>
                            <a:srgbClr val="FFFFFF"/>
                          </a:solidFill>
                          <a:latin typeface="微软雅黑"/>
                        </a:defRPr>
                      </a:pPr>
                      <a:r>
                        <a:t>项目</a:t>
                      </a:r>
                    </a:p>
                  </a:txBody>
                  <a:tcPr marL="91440" marR="91440" marT="45720" marB="45720" anchor="ctr">
                    <a:solidFill>
                      <a:srgbClr val="F1922F"/>
                    </a:solidFill>
                  </a:tcPr>
                </a:tc>
                <a:tc>
                  <a:txBody>
                    <a:bodyPr/>
                    <a:lstStyle/>
                    <a:p>
                      <a:pPr>
                        <a:defRPr sz="2000" b="1">
                          <a:solidFill>
                            <a:srgbClr val="FFFFFF"/>
                          </a:solidFill>
                          <a:latin typeface="微软雅黑"/>
                        </a:defRPr>
                      </a:pPr>
                      <a:r>
                        <a:t>Fe(OH)₂</a:t>
                      </a:r>
                    </a:p>
                  </a:txBody>
                  <a:tcPr marL="91440" marR="91440" marT="45720" marB="45720" anchor="ctr">
                    <a:solidFill>
                      <a:srgbClr val="F1922F"/>
                    </a:solidFill>
                  </a:tcPr>
                </a:tc>
                <a:tc>
                  <a:txBody>
                    <a:bodyPr/>
                    <a:lstStyle/>
                    <a:p>
                      <a:pPr>
                        <a:defRPr sz="2000" b="1">
                          <a:solidFill>
                            <a:srgbClr val="FFFFFF"/>
                          </a:solidFill>
                          <a:latin typeface="微软雅黑"/>
                        </a:defRPr>
                      </a:pPr>
                      <a:r>
                        <a:t>Fe(OH)₃</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颜色状态</a:t>
                      </a:r>
                    </a:p>
                  </a:txBody>
                  <a:tcPr marL="91440" marR="91440" marT="45720" marB="45720" anchor="ctr">
                    <a:solidFill>
                      <a:srgbClr val="FDF2E3"/>
                    </a:solidFill>
                  </a:tcPr>
                </a:tc>
                <a:tc>
                  <a:txBody>
                    <a:bodyPr/>
                    <a:lstStyle/>
                    <a:p>
                      <a:pPr>
                        <a:defRPr sz="2000" b="0">
                          <a:solidFill>
                            <a:srgbClr val="333333"/>
                          </a:solidFill>
                          <a:latin typeface="微软雅黑"/>
                        </a:defRPr>
                      </a:pPr>
                      <a:r>
                        <a:t>白色固体</a:t>
                      </a:r>
                    </a:p>
                  </a:txBody>
                  <a:tcPr marL="91440" marR="91440" marT="45720" marB="45720" anchor="ctr">
                    <a:solidFill>
                      <a:srgbClr val="FDF2E3"/>
                    </a:solidFill>
                  </a:tcPr>
                </a:tc>
                <a:tc>
                  <a:txBody>
                    <a:bodyPr/>
                    <a:lstStyle/>
                    <a:p>
                      <a:pPr>
                        <a:defRPr sz="2000" b="0">
                          <a:solidFill>
                            <a:srgbClr val="333333"/>
                          </a:solidFill>
                          <a:latin typeface="微软雅黑"/>
                        </a:defRPr>
                      </a:pPr>
                      <a:r>
                        <a:t>红褐色固体</a:t>
                      </a:r>
                    </a:p>
                  </a:txBody>
                  <a:tcPr marL="91440" marR="91440" marT="45720" marB="45720" anchor="ctr">
                    <a:solidFill>
                      <a:srgbClr val="FDF2E3"/>
                    </a:solidFill>
                  </a:tcPr>
                </a:tc>
              </a:tr>
              <a:tr h="815848">
                <a:tc>
                  <a:txBody>
                    <a:bodyPr/>
                    <a:lstStyle/>
                    <a:p>
                      <a:pPr>
                        <a:defRPr sz="2000" b="0">
                          <a:solidFill>
                            <a:srgbClr val="333333"/>
                          </a:solidFill>
                          <a:latin typeface="微软雅黑"/>
                        </a:defRPr>
                      </a:pPr>
                      <a:r>
                        <a:t>制备现象</a:t>
                      </a:r>
                    </a:p>
                  </a:txBody>
                  <a:tcPr marL="91440" marR="91440" marT="45720" marB="45720" anchor="ctr">
                    <a:solidFill>
                      <a:srgbClr val="FFFFFF"/>
                    </a:solidFill>
                  </a:tcPr>
                </a:tc>
                <a:tc>
                  <a:txBody>
                    <a:bodyPr/>
                    <a:lstStyle/>
                    <a:p>
                      <a:pPr>
                        <a:defRPr sz="2000" b="0">
                          <a:solidFill>
                            <a:srgbClr val="333333"/>
                          </a:solidFill>
                          <a:latin typeface="微软雅黑"/>
                        </a:defRPr>
                      </a:pPr>
                      <a:r>
                        <a:t>白色絮状沉淀 → 迅速变灰绿色 → 最终红褐色</a:t>
                      </a:r>
                    </a:p>
                  </a:txBody>
                  <a:tcPr marL="91440" marR="91440" marT="45720" marB="45720" anchor="ctr">
                    <a:solidFill>
                      <a:srgbClr val="FFFFFF"/>
                    </a:solidFill>
                  </a:tcPr>
                </a:tc>
                <a:tc>
                  <a:txBody>
                    <a:bodyPr/>
                    <a:lstStyle/>
                    <a:p>
                      <a:pPr>
                        <a:defRPr sz="2000" b="0">
                          <a:solidFill>
                            <a:srgbClr val="333333"/>
                          </a:solidFill>
                          <a:latin typeface="微软雅黑"/>
                        </a:defRPr>
                      </a:pPr>
                      <a:r>
                        <a:t>立即生成红褐色沉淀</a:t>
                      </a:r>
                    </a:p>
                  </a:txBody>
                  <a:tcPr marL="91440" marR="91440" marT="45720" marB="45720" anchor="ctr">
                    <a:solidFill>
                      <a:srgbClr val="FFFFFF"/>
                    </a:solidFill>
                  </a:tcPr>
                </a:tc>
              </a:tr>
              <a:tr h="815848">
                <a:tc>
                  <a:txBody>
                    <a:bodyPr/>
                    <a:lstStyle/>
                    <a:p>
                      <a:pPr>
                        <a:defRPr sz="2000" b="0">
                          <a:solidFill>
                            <a:srgbClr val="333333"/>
                          </a:solidFill>
                          <a:latin typeface="微软雅黑"/>
                        </a:defRPr>
                      </a:pPr>
                      <a:r>
                        <a:t>与盐酸</a:t>
                      </a:r>
                    </a:p>
                  </a:txBody>
                  <a:tcPr marL="91440" marR="91440" marT="45720" marB="45720" anchor="ctr">
                    <a:solidFill>
                      <a:srgbClr val="FDF2E3"/>
                    </a:solidFill>
                  </a:tcPr>
                </a:tc>
                <a:tc>
                  <a:txBody>
                    <a:bodyPr/>
                    <a:lstStyle/>
                    <a:p>
                      <a:pPr>
                        <a:defRPr sz="2000" b="0">
                          <a:solidFill>
                            <a:srgbClr val="333333"/>
                          </a:solidFill>
                          <a:latin typeface="微软雅黑"/>
                        </a:defRPr>
                      </a:pPr>
                      <a:r>
                        <a:t>Fe(OH)₂ + 2H⁺ = Fe²⁺ + 2H₂O</a:t>
                      </a:r>
                    </a:p>
                  </a:txBody>
                  <a:tcPr marL="91440" marR="91440" marT="45720" marB="45720" anchor="ctr">
                    <a:solidFill>
                      <a:srgbClr val="FDF2E3"/>
                    </a:solidFill>
                  </a:tcPr>
                </a:tc>
                <a:tc>
                  <a:txBody>
                    <a:bodyPr/>
                    <a:lstStyle/>
                    <a:p>
                      <a:pPr>
                        <a:defRPr sz="2000" b="0">
                          <a:solidFill>
                            <a:srgbClr val="333333"/>
                          </a:solidFill>
                          <a:latin typeface="微软雅黑"/>
                        </a:defRPr>
                      </a:pPr>
                      <a:r>
                        <a:t>Fe(OH)₃ + 3H⁺ = Fe³⁺ + 3H₂O</a:t>
                      </a:r>
                    </a:p>
                  </a:txBody>
                  <a:tcPr marL="91440" marR="91440" marT="45720" marB="45720" anchor="ctr">
                    <a:solidFill>
                      <a:srgbClr val="FDF2E3"/>
                    </a:solidFill>
                  </a:tcPr>
                </a:tc>
              </a:tr>
              <a:tr h="1146047">
                <a:tc>
                  <a:txBody>
                    <a:bodyPr/>
                    <a:lstStyle/>
                    <a:p>
                      <a:pPr>
                        <a:defRPr sz="2000" b="0">
                          <a:solidFill>
                            <a:srgbClr val="333333"/>
                          </a:solidFill>
                          <a:latin typeface="微软雅黑"/>
                        </a:defRPr>
                      </a:pPr>
                      <a:r>
                        <a:t>受热分解</a:t>
                      </a:r>
                    </a:p>
                  </a:txBody>
                  <a:tcPr marL="91440" marR="91440" marT="45720" marB="45720" anchor="ctr">
                    <a:solidFill>
                      <a:srgbClr val="FFFFFF"/>
                    </a:solidFill>
                  </a:tcPr>
                </a:tc>
                <a:tc>
                  <a:txBody>
                    <a:bodyPr/>
                    <a:lstStyle/>
                    <a:p>
                      <a:pPr>
                        <a:defRPr sz="2000" b="0">
                          <a:solidFill>
                            <a:srgbClr val="333333"/>
                          </a:solidFill>
                          <a:latin typeface="微软雅黑"/>
                        </a:defRPr>
                      </a:pPr>
                      <a:r>
                        <a:t>Fe(OH)₂ —加热→ FeO + H₂O（需隔绝空气，否则先被氧化）</a:t>
                      </a:r>
                    </a:p>
                  </a:txBody>
                  <a:tcPr marL="91440" marR="91440" marT="45720" marB="45720" anchor="ctr">
                    <a:solidFill>
                      <a:srgbClr val="FFFFFF"/>
                    </a:solidFill>
                  </a:tcPr>
                </a:tc>
                <a:tc>
                  <a:txBody>
                    <a:bodyPr/>
                    <a:lstStyle/>
                    <a:p>
                      <a:pPr>
                        <a:defRPr sz="2000" b="0">
                          <a:solidFill>
                            <a:srgbClr val="333333"/>
                          </a:solidFill>
                          <a:latin typeface="微软雅黑"/>
                        </a:defRPr>
                      </a:pPr>
                      <a:r>
                        <a:t>2Fe(OH)₃ —加热→ Fe₂O₃ + 3H₂O</a:t>
                      </a:r>
                    </a:p>
                  </a:txBody>
                  <a:tcPr marL="91440" marR="91440" marT="45720" marB="45720" anchor="ctr">
                    <a:solidFill>
                      <a:srgbClr val="FFFFFF"/>
                    </a:solidFill>
                  </a:tcPr>
                </a:tc>
              </a:tr>
              <a:tr h="815848">
                <a:tc>
                  <a:txBody>
                    <a:bodyPr/>
                    <a:lstStyle/>
                    <a:p>
                      <a:pPr>
                        <a:defRPr sz="2000" b="0">
                          <a:solidFill>
                            <a:srgbClr val="333333"/>
                          </a:solidFill>
                          <a:latin typeface="微软雅黑"/>
                        </a:defRPr>
                      </a:pPr>
                      <a:r>
                        <a:t>相互转化</a:t>
                      </a:r>
                    </a:p>
                  </a:txBody>
                  <a:tcPr marL="91440" marR="91440" marT="45720" marB="45720" anchor="ctr">
                    <a:solidFill>
                      <a:srgbClr val="FDF2E3"/>
                    </a:solidFill>
                  </a:tcPr>
                </a:tc>
                <a:tc>
                  <a:txBody>
                    <a:bodyPr/>
                    <a:lstStyle/>
                    <a:p>
                      <a:pPr>
                        <a:defRPr sz="2000" b="0">
                          <a:solidFill>
                            <a:srgbClr val="333333"/>
                          </a:solidFill>
                          <a:latin typeface="微软雅黑"/>
                        </a:defRPr>
                      </a:pPr>
                      <a:r>
                        <a:t>4Fe(OH)₂ + O₂ + 2H₂O = 4Fe(OH)₃</a:t>
                      </a:r>
                    </a:p>
                  </a:txBody>
                  <a:tcPr marL="91440" marR="91440" marT="45720" marB="45720" anchor="ctr">
                    <a:solidFill>
                      <a:srgbClr val="FDF2E3"/>
                    </a:solidFill>
                  </a:tcPr>
                </a:tc>
                <a:tc>
                  <a:txBody>
                    <a:bodyPr/>
                    <a:lstStyle/>
                    <a:p>
                      <a:pPr>
                        <a:defRPr sz="2000" b="0">
                          <a:solidFill>
                            <a:srgbClr val="333333"/>
                          </a:solidFill>
                          <a:latin typeface="微软雅黑"/>
                        </a:defRPr>
                      </a:pPr>
                      <a:r>
                        <a:t>—</a:t>
                      </a:r>
                    </a:p>
                  </a:txBody>
                  <a:tcPr marL="91440" marR="91440" marT="45720" marB="45720" anchor="ctr">
                    <a:solidFill>
                      <a:srgbClr val="FDF2E3"/>
                    </a:solidFill>
                  </a:tcPr>
                </a:tc>
              </a:tr>
            </a:tbl>
          </a:graphicData>
        </a:graphic>
      </p:graphicFrame>
      <p:sp>
        <p:nvSpPr>
          <p:cNvPr id="7" name="Rectangle 6"/>
          <p:cNvSpPr/>
          <p:nvPr/>
        </p:nvSpPr>
        <p:spPr>
          <a:xfrm>
            <a:off x="493776" y="6309360"/>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Fe(OH)₂ 极不稳定，制备时必须隔绝"/>
          <p:cNvSpPr txBox="1"/>
          <p:nvPr/>
        </p:nvSpPr>
        <p:spPr>
          <a:xfrm>
            <a:off x="630936" y="6368796"/>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Fe(OH)₂ 极不稳定，制备时必须隔绝空气。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Fe(OH)₂ 的制备要点"/>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Fe(OH)₂ 的制备要点</a:t>
            </a:r>
          </a:p>
        </p:txBody>
      </p:sp>
      <p:sp>
        <p:nvSpPr>
          <p:cNvPr id="5" name="文字_知识讲解 · P18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P184</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FeSO₄ 溶液要现配现用；配制用水先煮沸，减少"/>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FeSO₄ 溶液要现配现用；配制用水先煮沸，减少溶解氧。</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吸有 NaOH 溶液的胶头滴管应插入液面以下再挤"/>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吸有 NaOH 溶液的胶头滴管应插入液面以下再挤出。</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液面上覆盖苯或煤油隔绝空气（不能用 CCl₄，其"/>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液面上覆盖苯或煤油隔绝空气（不能用 CCl₄，其密度大于水会沉底）。</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也可先用氢气排尽装置内空气，再让含 Fe²⁺ 溶"/>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也可先用氢气排尽装置内空气，再让含 Fe²⁺ 溶液与 NaOH 溶液混合。</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现象描述要完整：白色沉淀 → 灰绿色 →"/>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现象描述要完整：白色沉淀 → 灰绿色 → 红褐色，这是检验 Fe²⁺ 的特征现象之一。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例题1</a:t>
            </a:r>
          </a:p>
        </p:txBody>
      </p:sp>
      <p:sp>
        <p:nvSpPr>
          <p:cNvPr id="5" name="文字_P18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P184</a:t>
            </a:r>
          </a:p>
        </p:txBody>
      </p:sp>
      <p:sp>
        <p:nvSpPr>
          <p:cNvPr id="6" name="文字_下列有关铁的氧化物的叙述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下列有关铁的氧化物的叙述中正确的是</a:t>
            </a:r>
          </a:p>
        </p:txBody>
      </p:sp>
      <p:sp>
        <p:nvSpPr>
          <p:cNvPr id="7" name="文字_A. FeO、Fe₂O₃、Fe₃O₄都是黑色固体"/>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FeO、Fe₂O₃、Fe₃O₄都是黑色固体</a:t>
            </a:r>
          </a:p>
        </p:txBody>
      </p:sp>
      <p:sp>
        <p:nvSpPr>
          <p:cNvPr id="8" name="文字_B. FeO、Fe₃O₄都有磁性"/>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FeO、Fe₃O₄都有磁性</a:t>
            </a:r>
          </a:p>
        </p:txBody>
      </p:sp>
      <p:sp>
        <p:nvSpPr>
          <p:cNvPr id="9" name="文字_C. FeO、Fe₂O₃都属于碱性氧化物"/>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FeO、Fe₂O₃都属于碱性氧化物</a:t>
            </a:r>
          </a:p>
        </p:txBody>
      </p:sp>
      <p:sp>
        <p:nvSpPr>
          <p:cNvPr id="10" name="文字_D. Fe₂O₃、Fe₃O₄都只有氧化性"/>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Fe₂O₃、Fe₃O₄都只有氧化性</a:t>
            </a:r>
          </a:p>
        </p:txBody>
      </p:sp>
      <p:sp>
        <p:nvSpPr>
          <p:cNvPr id="11" name="文字_单选题  ·  09-01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09-017</a:t>
            </a:r>
          </a:p>
        </p:txBody>
      </p:sp>
      <p:sp>
        <p:nvSpPr>
          <p:cNvPr id="12" name="文字_2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例题2</a:t>
            </a:r>
          </a:p>
        </p:txBody>
      </p:sp>
      <p:sp>
        <p:nvSpPr>
          <p:cNvPr id="5" name="文字_P18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P185</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A. 赤铁矿的主要成分是Fe₃O₄"/>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赤铁矿的主要成分是Fe₃O₄</a:t>
            </a:r>
          </a:p>
        </p:txBody>
      </p:sp>
      <p:sp>
        <p:nvSpPr>
          <p:cNvPr id="8" name="文字_B. Fe₂O₃为碱性氧化物，可与水反应生成Fe"/>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Fe₂O₃为碱性氧化物，可与水反应生成Fe(OH)₃</a:t>
            </a:r>
          </a:p>
        </p:txBody>
      </p:sp>
      <p:sp>
        <p:nvSpPr>
          <p:cNvPr id="9" name="文字_C. 铁锈的主要成分是Fe₂O₃"/>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铁锈的主要成分是Fe₂O₃</a:t>
            </a:r>
          </a:p>
        </p:txBody>
      </p:sp>
      <p:sp>
        <p:nvSpPr>
          <p:cNvPr id="10" name="文字_D. Fe₃O₄中铁元素有+2价和+3价，Fe₃"/>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Fe₃O₄中铁元素有+2价和+3价，Fe₃O₄是混合物</a:t>
            </a:r>
          </a:p>
        </p:txBody>
      </p:sp>
      <p:sp>
        <p:nvSpPr>
          <p:cNvPr id="11" name="文字_单选题  ·  09-01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09-018</a:t>
            </a:r>
          </a:p>
        </p:txBody>
      </p:sp>
      <p:sp>
        <p:nvSpPr>
          <p:cNvPr id="12" name="文字_3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例题3</a:t>
            </a:r>
          </a:p>
        </p:txBody>
      </p:sp>
      <p:sp>
        <p:nvSpPr>
          <p:cNvPr id="5" name="文字_P18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P185</a:t>
            </a:r>
          </a:p>
        </p:txBody>
      </p:sp>
      <p:sp>
        <p:nvSpPr>
          <p:cNvPr id="6" name="文字_下列有关铁的氢氧化物的说法错误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下列有关铁的氢氧化物的说法错误的是（）</a:t>
            </a:r>
          </a:p>
        </p:txBody>
      </p:sp>
      <p:sp>
        <p:nvSpPr>
          <p:cNvPr id="7" name="文字_A. Fe(OH)₂是一种黑色固体，不稳定，在空"/>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Fe(OH)₂是一种黑色固体，不稳定，在空气中易被氧化为红褐色固体</a:t>
            </a:r>
          </a:p>
        </p:txBody>
      </p:sp>
      <p:sp>
        <p:nvSpPr>
          <p:cNvPr id="8" name="文字_B. Fe(OH)₂具有还原性，在空气中易被氧化"/>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Fe(OH)₂具有还原性，在空气中易被氧化为Fe(OH)3</a:t>
            </a:r>
          </a:p>
        </p:txBody>
      </p:sp>
      <p:sp>
        <p:nvSpPr>
          <p:cNvPr id="9" name="文字_C. Fe(OH)2、Fe(OH)₃都具有不稳定"/>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Fe(OH)2、Fe(OH)₃都具有不稳定性，受热都能分解</a:t>
            </a:r>
          </a:p>
        </p:txBody>
      </p:sp>
      <p:sp>
        <p:nvSpPr>
          <p:cNvPr id="10" name="文字_D. Fe(OH)₃胶体透明、呈红褐色，能产生丁"/>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Fe(OH)₃胶体透明、呈红褐色，能产生丁达尔效应</a:t>
            </a:r>
          </a:p>
        </p:txBody>
      </p:sp>
      <p:sp>
        <p:nvSpPr>
          <p:cNvPr id="11" name="文字_单选题  ·  09-01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09-019</a:t>
            </a:r>
          </a:p>
        </p:txBody>
      </p:sp>
      <p:sp>
        <p:nvSpPr>
          <p:cNvPr id="12" name="文字_3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例题4</a:t>
            </a:r>
          </a:p>
        </p:txBody>
      </p:sp>
      <p:sp>
        <p:nvSpPr>
          <p:cNvPr id="5" name="文字_P18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P185</a:t>
            </a:r>
          </a:p>
        </p:txBody>
      </p:sp>
      <p:sp>
        <p:nvSpPr>
          <p:cNvPr id="6" name="文字_下列反应的离子方程式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下列反应的离子方程式正确的是</a:t>
            </a:r>
          </a:p>
        </p:txBody>
      </p:sp>
      <p:sp>
        <p:nvSpPr>
          <p:cNvPr id="7" name="文字_A. 稀硫酸与氢氧化钡溶液反应：OH⁻ + H+"/>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稀硫酸与氢氧化钡溶液反应：OH⁻ + H+ = H₂O</a:t>
            </a:r>
          </a:p>
        </p:txBody>
      </p:sp>
      <p:sp>
        <p:nvSpPr>
          <p:cNvPr id="8" name="文字_B. 铁粉与稀硝酸反应: 2Fe + 6H+ ="/>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铁粉与稀硝酸反应: 2Fe + 6H+ = 2Fe³⁺ + 3H₂ ↑</a:t>
            </a:r>
          </a:p>
        </p:txBody>
      </p:sp>
      <p:sp>
        <p:nvSpPr>
          <p:cNvPr id="9" name="文字_C. 碳酸钡与稀盐酸反应: CO₂⁻ + 2H+"/>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碳酸钡与稀盐酸反应: CO₂⁻ + 2H+ = H₂O + CO₂ ↑</a:t>
            </a:r>
          </a:p>
        </p:txBody>
      </p:sp>
      <p:sp>
        <p:nvSpPr>
          <p:cNvPr id="10" name="文字_D. 氢氧化钠溶液与硫酸铜溶液反应：Cu²⁺ +"/>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氢氧化钠溶液与硫酸铜溶液反应：Cu²⁺ + 2OH− = Cu(OH)2 ↓</a:t>
            </a:r>
          </a:p>
        </p:txBody>
      </p:sp>
      <p:sp>
        <p:nvSpPr>
          <p:cNvPr id="11" name="文字_单选题  ·  09-02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09-020</a:t>
            </a:r>
          </a:p>
        </p:txBody>
      </p:sp>
      <p:sp>
        <p:nvSpPr>
          <p:cNvPr id="12" name="文字_3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例题5</a:t>
            </a:r>
          </a:p>
        </p:txBody>
      </p:sp>
      <p:sp>
        <p:nvSpPr>
          <p:cNvPr id="5" name="文字_P18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P185</a:t>
            </a:r>
          </a:p>
        </p:txBody>
      </p:sp>
      <p:sp>
        <p:nvSpPr>
          <p:cNvPr id="6" name="文字_铁元素是人体重要的微量元素，参与人体血红蛋白的形"/>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铁元素是人体重要的微量元素，参与人体血红蛋白的形成，Fe²⁺易被人体吸收，下</a:t>
            </a:r>
          </a:p>
          <a:p>
            <a:pPr>
              <a:lnSpc>
                <a:spcPct val="112000"/>
              </a:lnSpc>
              <a:spcBef>
                <a:spcPts val="0"/>
              </a:spcBef>
              <a:spcAft>
                <a:spcPts val="0"/>
              </a:spcAft>
              <a:defRPr sz="2400" b="0">
                <a:solidFill>
                  <a:srgbClr val="333333"/>
                </a:solidFill>
                <a:latin typeface="微软雅黑"/>
              </a:defRPr>
            </a:pPr>
            <a:r>
              <a:rPr>
                <a:ea typeface="微软雅黑"/>
              </a:rPr>
              <a:t>列有关铁及其化合物的说法中正确的是</a:t>
            </a:r>
          </a:p>
        </p:txBody>
      </p:sp>
      <p:sp>
        <p:nvSpPr>
          <p:cNvPr id="7" name="文字_A. 缺铁性贫血症可以服用维生素C将难吸收的Fe"/>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缺铁性贫血症可以服用维生素C将难吸收的Fe³⁺还原为Fe²⁺，促进铁元素的吸收</a:t>
            </a:r>
          </a:p>
        </p:txBody>
      </p:sp>
      <p:sp>
        <p:nvSpPr>
          <p:cNvPr id="8" name="文字_B. 高温下红热的铁与水蒸气反应，可得到红色的氧"/>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高温下红热的铁与水蒸气反应，可得到红色的氧化铁</a:t>
            </a:r>
          </a:p>
        </p:txBody>
      </p:sp>
      <p:sp>
        <p:nvSpPr>
          <p:cNvPr id="9" name="文字_C. 将过氧化钠投入氯化亚铁溶液中，最终生成白色"/>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将过氧化钠投入氯化亚铁溶液中，最终生成白色沉淀</a:t>
            </a:r>
          </a:p>
        </p:txBody>
      </p:sp>
      <p:sp>
        <p:nvSpPr>
          <p:cNvPr id="10" name="文字_D. FeO不稳定，在空气中加热迅速被氧化成Fe"/>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FeO不稳定，在空气中加热迅速被氧化成Fe₂O₃</a:t>
            </a:r>
          </a:p>
        </p:txBody>
      </p:sp>
      <p:sp>
        <p:nvSpPr>
          <p:cNvPr id="11" name="文字_单选题  ·  09-02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09-021</a:t>
            </a:r>
          </a:p>
        </p:txBody>
      </p:sp>
      <p:sp>
        <p:nvSpPr>
          <p:cNvPr id="12" name="文字_3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例题6</a:t>
            </a:r>
          </a:p>
        </p:txBody>
      </p:sp>
      <p:sp>
        <p:nvSpPr>
          <p:cNvPr id="5" name="文字_P18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P186</a:t>
            </a:r>
          </a:p>
        </p:txBody>
      </p:sp>
      <p:sp>
        <p:nvSpPr>
          <p:cNvPr id="6" name="文字_在给定条件下，下列物质转化可以一步实现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在给定条件下，下列物质转化可以一步实现的是</a:t>
            </a:r>
          </a:p>
        </p:txBody>
      </p:sp>
      <p:pic>
        <p:nvPicPr>
          <p:cNvPr id="7" name="Picture 6" descr="image.png"/>
          <p:cNvPicPr>
            <a:picLocks noChangeAspect="1"/>
          </p:cNvPicPr>
          <p:nvPr/>
        </p:nvPicPr>
        <p:blipFill>
          <a:blip r:embed="rId3"/>
          <a:stretch>
            <a:fillRect/>
          </a:stretch>
        </p:blipFill>
        <p:spPr>
          <a:xfrm>
            <a:off x="502920" y="1517904"/>
            <a:ext cx="11064240" cy="2258789"/>
          </a:xfrm>
          <a:prstGeom prst="rect">
            <a:avLst/>
          </a:prstGeom>
        </p:spPr>
      </p:pic>
      <p:sp>
        <p:nvSpPr>
          <p:cNvPr id="8" name="原题文字_186_4"/>
          <p:cNvSpPr txBox="1"/>
          <p:nvPr/>
        </p:nvSpPr>
        <p:spPr>
          <a:xfrm>
            <a:off x="1881164" y="1557444"/>
            <a:ext cx="338169"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CO</a:t>
            </a:r>
          </a:p>
        </p:txBody>
      </p:sp>
      <p:sp>
        <p:nvSpPr>
          <p:cNvPr id="9" name="原题文字_186_5"/>
          <p:cNvSpPr txBox="1"/>
          <p:nvPr/>
        </p:nvSpPr>
        <p:spPr>
          <a:xfrm>
            <a:off x="2868906" y="1549787"/>
            <a:ext cx="43005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盐酸</a:t>
            </a:r>
          </a:p>
        </p:txBody>
      </p:sp>
      <p:sp>
        <p:nvSpPr>
          <p:cNvPr id="10" name="原题文字_186_6"/>
          <p:cNvSpPr txBox="1"/>
          <p:nvPr/>
        </p:nvSpPr>
        <p:spPr>
          <a:xfrm>
            <a:off x="556518" y="1641670"/>
            <a:ext cx="1302940" cy="418067"/>
          </a:xfrm>
          <a:prstGeom prst="rect">
            <a:avLst/>
          </a:prstGeom>
          <a:noFill/>
        </p:spPr>
        <p:txBody>
          <a:bodyPr wrap="none" lIns="0" rIns="0" tIns="0" bIns="0">
            <a:spAutoFit/>
          </a:bodyPr>
          <a:lstStyle/>
          <a:p>
            <a:pPr>
              <a:lnSpc>
                <a:spcPct val="112000"/>
              </a:lnSpc>
              <a:spcBef>
                <a:spcPts val="0"/>
              </a:spcBef>
              <a:spcAft>
                <a:spcPts val="0"/>
              </a:spcAft>
              <a:defRPr sz="1810" b="0">
                <a:solidFill>
                  <a:srgbClr val="333333"/>
                </a:solidFill>
                <a:latin typeface="微软雅黑"/>
              </a:defRPr>
            </a:pPr>
            <a:r>
              <a:rPr>
                <a:ea typeface="微软雅黑"/>
              </a:rPr>
              <a:t>A. Fe₂O₃(s)</a:t>
            </a:r>
          </a:p>
        </p:txBody>
      </p:sp>
      <p:sp>
        <p:nvSpPr>
          <p:cNvPr id="11" name="原题文字_186_7"/>
          <p:cNvSpPr txBox="1"/>
          <p:nvPr/>
        </p:nvSpPr>
        <p:spPr>
          <a:xfrm>
            <a:off x="2156813" y="1641670"/>
            <a:ext cx="759300" cy="418067"/>
          </a:xfrm>
          <a:prstGeom prst="rect">
            <a:avLst/>
          </a:prstGeom>
          <a:noFill/>
        </p:spPr>
        <p:txBody>
          <a:bodyPr wrap="none" lIns="0" rIns="0" tIns="0" bIns="0">
            <a:spAutoFit/>
          </a:bodyPr>
          <a:lstStyle/>
          <a:p>
            <a:pPr>
              <a:lnSpc>
                <a:spcPct val="112000"/>
              </a:lnSpc>
              <a:spcBef>
                <a:spcPts val="0"/>
              </a:spcBef>
              <a:spcAft>
                <a:spcPts val="0"/>
              </a:spcAft>
              <a:defRPr sz="1697" b="0">
                <a:solidFill>
                  <a:srgbClr val="333333"/>
                </a:solidFill>
                <a:latin typeface="微软雅黑"/>
              </a:defRPr>
            </a:pPr>
            <a:r>
              <a:rPr>
                <a:ea typeface="微软雅黑"/>
              </a:rPr>
              <a:t>→ Fe(s)</a:t>
            </a:r>
          </a:p>
        </p:txBody>
      </p:sp>
      <p:sp>
        <p:nvSpPr>
          <p:cNvPr id="12" name="原题文字_186_8"/>
          <p:cNvSpPr txBox="1"/>
          <p:nvPr/>
        </p:nvSpPr>
        <p:spPr>
          <a:xfrm>
            <a:off x="2868906" y="1634013"/>
            <a:ext cx="1547962" cy="388205"/>
          </a:xfrm>
          <a:prstGeom prst="rect">
            <a:avLst/>
          </a:prstGeom>
          <a:noFill/>
        </p:spPr>
        <p:txBody>
          <a:bodyPr wrap="none" lIns="0" rIns="0" tIns="0" bIns="0">
            <a:spAutoFit/>
          </a:bodyPr>
          <a:lstStyle/>
          <a:p>
            <a:pPr>
              <a:lnSpc>
                <a:spcPct val="112000"/>
              </a:lnSpc>
              <a:spcBef>
                <a:spcPts val="0"/>
              </a:spcBef>
              <a:spcAft>
                <a:spcPts val="0"/>
              </a:spcAft>
              <a:defRPr sz="1823" b="0">
                <a:solidFill>
                  <a:srgbClr val="333333"/>
                </a:solidFill>
                <a:latin typeface="微软雅黑"/>
              </a:defRPr>
            </a:pPr>
            <a:r>
              <a:rPr>
                <a:ea typeface="微软雅黑"/>
              </a:rPr>
              <a:t>盐酸FeCl₃溶液</a:t>
            </a:r>
          </a:p>
        </p:txBody>
      </p:sp>
      <p:sp>
        <p:nvSpPr>
          <p:cNvPr id="13" name="原题文字_186_9"/>
          <p:cNvSpPr txBox="1"/>
          <p:nvPr/>
        </p:nvSpPr>
        <p:spPr>
          <a:xfrm>
            <a:off x="1835222" y="1848407"/>
            <a:ext cx="437709"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高温</a:t>
            </a:r>
          </a:p>
        </p:txBody>
      </p:sp>
      <p:sp>
        <p:nvSpPr>
          <p:cNvPr id="14" name="原题文字_186_10"/>
          <p:cNvSpPr txBox="1"/>
          <p:nvPr/>
        </p:nvSpPr>
        <p:spPr>
          <a:xfrm>
            <a:off x="525890" y="2192968"/>
            <a:ext cx="1057919" cy="477791"/>
          </a:xfrm>
          <a:prstGeom prst="rect">
            <a:avLst/>
          </a:prstGeom>
          <a:noFill/>
        </p:spPr>
        <p:txBody>
          <a:bodyPr wrap="none" lIns="0" rIns="0" tIns="0" bIns="0">
            <a:spAutoFit/>
          </a:bodyPr>
          <a:lstStyle/>
          <a:p>
            <a:pPr>
              <a:lnSpc>
                <a:spcPct val="112000"/>
              </a:lnSpc>
              <a:spcBef>
                <a:spcPts val="0"/>
              </a:spcBef>
              <a:spcAft>
                <a:spcPts val="0"/>
              </a:spcAft>
              <a:defRPr sz="2136" b="0">
                <a:solidFill>
                  <a:srgbClr val="333333"/>
                </a:solidFill>
                <a:latin typeface="微软雅黑"/>
              </a:defRPr>
            </a:pPr>
            <a:r>
              <a:rPr>
                <a:ea typeface="微软雅黑"/>
              </a:rPr>
              <a:t>B. Mg(s)</a:t>
            </a:r>
          </a:p>
        </p:txBody>
      </p:sp>
      <p:sp>
        <p:nvSpPr>
          <p:cNvPr id="15" name="原题文字_186_11"/>
          <p:cNvSpPr txBox="1"/>
          <p:nvPr/>
        </p:nvSpPr>
        <p:spPr>
          <a:xfrm>
            <a:off x="1597858" y="2131713"/>
            <a:ext cx="31519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O₂</a:t>
            </a:r>
          </a:p>
        </p:txBody>
      </p:sp>
      <p:sp>
        <p:nvSpPr>
          <p:cNvPr id="16" name="原题文字_186_12"/>
          <p:cNvSpPr txBox="1"/>
          <p:nvPr/>
        </p:nvSpPr>
        <p:spPr>
          <a:xfrm>
            <a:off x="1881164" y="2215939"/>
            <a:ext cx="958379" cy="408113"/>
          </a:xfrm>
          <a:prstGeom prst="rect">
            <a:avLst/>
          </a:prstGeom>
          <a:noFill/>
        </p:spPr>
        <p:txBody>
          <a:bodyPr wrap="none" lIns="0" rIns="0" tIns="0" bIns="0">
            <a:spAutoFit/>
          </a:bodyPr>
          <a:lstStyle/>
          <a:p>
            <a:pPr>
              <a:lnSpc>
                <a:spcPct val="112000"/>
              </a:lnSpc>
              <a:spcBef>
                <a:spcPts val="0"/>
              </a:spcBef>
              <a:spcAft>
                <a:spcPts val="0"/>
              </a:spcAft>
              <a:defRPr sz="1555" b="0">
                <a:solidFill>
                  <a:srgbClr val="333333"/>
                </a:solidFill>
                <a:latin typeface="微软雅黑"/>
              </a:defRPr>
            </a:pPr>
            <a:r>
              <a:rPr>
                <a:ea typeface="微软雅黑"/>
              </a:rPr>
              <a:t>→ MgO(s)</a:t>
            </a:r>
          </a:p>
        </p:txBody>
      </p:sp>
      <p:sp>
        <p:nvSpPr>
          <p:cNvPr id="17" name="原题文字_186_13"/>
          <p:cNvSpPr txBox="1"/>
          <p:nvPr/>
        </p:nvSpPr>
        <p:spPr>
          <a:xfrm>
            <a:off x="2792337" y="2101085"/>
            <a:ext cx="606161" cy="348389"/>
          </a:xfrm>
          <a:prstGeom prst="rect">
            <a:avLst/>
          </a:prstGeom>
          <a:noFill/>
        </p:spPr>
        <p:txBody>
          <a:bodyPr wrap="none" lIns="0" rIns="0" tIns="0" bIns="0">
            <a:spAutoFit/>
          </a:bodyPr>
          <a:lstStyle/>
          <a:p>
            <a:pPr>
              <a:lnSpc>
                <a:spcPct val="112000"/>
              </a:lnSpc>
              <a:spcBef>
                <a:spcPts val="0"/>
              </a:spcBef>
              <a:spcAft>
                <a:spcPts val="0"/>
              </a:spcAft>
              <a:defRPr sz="1483" b="0">
                <a:solidFill>
                  <a:srgbClr val="333333"/>
                </a:solidFill>
                <a:latin typeface="微软雅黑"/>
              </a:defRPr>
            </a:pPr>
            <a:r>
              <a:rPr>
                <a:ea typeface="微软雅黑"/>
              </a:rPr>
              <a:t>H₂O(l)</a:t>
            </a:r>
          </a:p>
        </p:txBody>
      </p:sp>
      <p:sp>
        <p:nvSpPr>
          <p:cNvPr id="18" name="原题文字_186_14"/>
          <p:cNvSpPr txBox="1"/>
          <p:nvPr/>
        </p:nvSpPr>
        <p:spPr>
          <a:xfrm>
            <a:off x="3297693" y="2192968"/>
            <a:ext cx="1387166" cy="447929"/>
          </a:xfrm>
          <a:prstGeom prst="rect">
            <a:avLst/>
          </a:prstGeom>
          <a:noFill/>
        </p:spPr>
        <p:txBody>
          <a:bodyPr wrap="none" lIns="0" rIns="0" tIns="0" bIns="0">
            <a:spAutoFit/>
          </a:bodyPr>
          <a:lstStyle/>
          <a:p>
            <a:pPr>
              <a:lnSpc>
                <a:spcPct val="112000"/>
              </a:lnSpc>
              <a:spcBef>
                <a:spcPts val="0"/>
              </a:spcBef>
              <a:spcAft>
                <a:spcPts val="0"/>
              </a:spcAft>
              <a:defRPr sz="1596" b="0">
                <a:solidFill>
                  <a:srgbClr val="333333"/>
                </a:solidFill>
                <a:latin typeface="微软雅黑"/>
              </a:defRPr>
            </a:pPr>
            <a:r>
              <a:rPr>
                <a:ea typeface="微软雅黑"/>
              </a:rPr>
              <a:t>→ Mg(OH)2(s)</a:t>
            </a:r>
          </a:p>
        </p:txBody>
      </p:sp>
      <p:sp>
        <p:nvSpPr>
          <p:cNvPr id="19" name="原题文字_186_15"/>
          <p:cNvSpPr txBox="1"/>
          <p:nvPr/>
        </p:nvSpPr>
        <p:spPr>
          <a:xfrm>
            <a:off x="1528946" y="2399705"/>
            <a:ext cx="46068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点燃</a:t>
            </a:r>
          </a:p>
        </p:txBody>
      </p:sp>
      <p:sp>
        <p:nvSpPr>
          <p:cNvPr id="20" name="原题文字_186_16"/>
          <p:cNvSpPr txBox="1"/>
          <p:nvPr/>
        </p:nvSpPr>
        <p:spPr>
          <a:xfrm>
            <a:off x="556518" y="2767237"/>
            <a:ext cx="966036"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C. Fe(s)</a:t>
            </a:r>
          </a:p>
        </p:txBody>
      </p:sp>
      <p:sp>
        <p:nvSpPr>
          <p:cNvPr id="21" name="原题文字_186_17"/>
          <p:cNvSpPr txBox="1"/>
          <p:nvPr/>
        </p:nvSpPr>
        <p:spPr>
          <a:xfrm>
            <a:off x="1467691" y="2660040"/>
            <a:ext cx="560220" cy="368297"/>
          </a:xfrm>
          <a:prstGeom prst="rect">
            <a:avLst/>
          </a:prstGeom>
          <a:noFill/>
        </p:spPr>
        <p:txBody>
          <a:bodyPr wrap="none" lIns="0" rIns="0" tIns="0" bIns="0">
            <a:spAutoFit/>
          </a:bodyPr>
          <a:lstStyle/>
          <a:p>
            <a:pPr>
              <a:lnSpc>
                <a:spcPct val="112000"/>
              </a:lnSpc>
              <a:spcBef>
                <a:spcPts val="0"/>
              </a:spcBef>
              <a:spcAft>
                <a:spcPts val="0"/>
              </a:spcAft>
              <a:defRPr sz="1518" b="0">
                <a:solidFill>
                  <a:srgbClr val="333333"/>
                </a:solidFill>
                <a:latin typeface="微软雅黑"/>
              </a:defRPr>
            </a:pPr>
            <a:r>
              <a:rPr>
                <a:ea typeface="微软雅黑"/>
              </a:rPr>
              <a:t>Cl₂(g)</a:t>
            </a:r>
          </a:p>
        </p:txBody>
      </p:sp>
      <p:sp>
        <p:nvSpPr>
          <p:cNvPr id="22" name="原题文字_186_18"/>
          <p:cNvSpPr txBox="1"/>
          <p:nvPr/>
        </p:nvSpPr>
        <p:spPr>
          <a:xfrm>
            <a:off x="1942419" y="2751923"/>
            <a:ext cx="1027292" cy="467837"/>
          </a:xfrm>
          <a:prstGeom prst="rect">
            <a:avLst/>
          </a:prstGeom>
          <a:noFill/>
        </p:spPr>
        <p:txBody>
          <a:bodyPr wrap="none" lIns="0" rIns="0" tIns="0" bIns="0">
            <a:spAutoFit/>
          </a:bodyPr>
          <a:lstStyle/>
          <a:p>
            <a:pPr>
              <a:lnSpc>
                <a:spcPct val="112000"/>
              </a:lnSpc>
              <a:spcBef>
                <a:spcPts val="0"/>
              </a:spcBef>
              <a:spcAft>
                <a:spcPts val="0"/>
              </a:spcAft>
              <a:defRPr sz="1943" b="0">
                <a:solidFill>
                  <a:srgbClr val="333333"/>
                </a:solidFill>
                <a:latin typeface="微软雅黑"/>
              </a:defRPr>
            </a:pPr>
            <a:r>
              <a:rPr>
                <a:ea typeface="微软雅黑"/>
              </a:rPr>
              <a:t> FeCl₃(s)</a:t>
            </a:r>
          </a:p>
        </p:txBody>
      </p:sp>
      <p:sp>
        <p:nvSpPr>
          <p:cNvPr id="23" name="原题文字_186_19"/>
          <p:cNvSpPr txBox="1"/>
          <p:nvPr/>
        </p:nvSpPr>
        <p:spPr>
          <a:xfrm>
            <a:off x="2930161" y="2683010"/>
            <a:ext cx="858839" cy="308573"/>
          </a:xfrm>
          <a:prstGeom prst="rect">
            <a:avLst/>
          </a:prstGeom>
          <a:noFill/>
        </p:spPr>
        <p:txBody>
          <a:bodyPr wrap="none" lIns="0" rIns="0" tIns="0" bIns="0">
            <a:spAutoFit/>
          </a:bodyPr>
          <a:lstStyle/>
          <a:p>
            <a:pPr>
              <a:lnSpc>
                <a:spcPct val="112000"/>
              </a:lnSpc>
              <a:spcBef>
                <a:spcPts val="0"/>
              </a:spcBef>
              <a:spcAft>
                <a:spcPts val="0"/>
              </a:spcAft>
              <a:defRPr sz="1389" b="0">
                <a:solidFill>
                  <a:srgbClr val="333333"/>
                </a:solidFill>
                <a:latin typeface="微软雅黑"/>
              </a:defRPr>
            </a:pPr>
            <a:r>
              <a:rPr>
                <a:ea typeface="微软雅黑"/>
              </a:rPr>
              <a:t>NaOH溶液</a:t>
            </a:r>
          </a:p>
        </p:txBody>
      </p:sp>
      <p:sp>
        <p:nvSpPr>
          <p:cNvPr id="24" name="原题文字_186_20"/>
          <p:cNvSpPr txBox="1"/>
          <p:nvPr/>
        </p:nvSpPr>
        <p:spPr>
          <a:xfrm>
            <a:off x="3680539" y="2759580"/>
            <a:ext cx="1325911" cy="447929"/>
          </a:xfrm>
          <a:prstGeom prst="rect">
            <a:avLst/>
          </a:prstGeom>
          <a:noFill/>
        </p:spPr>
        <p:txBody>
          <a:bodyPr wrap="none" lIns="0" rIns="0" tIns="0" bIns="0">
            <a:spAutoFit/>
          </a:bodyPr>
          <a:lstStyle/>
          <a:p>
            <a:pPr>
              <a:lnSpc>
                <a:spcPct val="112000"/>
              </a:lnSpc>
              <a:spcBef>
                <a:spcPts val="0"/>
              </a:spcBef>
              <a:spcAft>
                <a:spcPts val="0"/>
              </a:spcAft>
              <a:defRPr sz="1654" b="0">
                <a:solidFill>
                  <a:srgbClr val="333333"/>
                </a:solidFill>
                <a:latin typeface="微软雅黑"/>
              </a:defRPr>
            </a:pPr>
            <a:r>
              <a:rPr>
                <a:ea typeface="微软雅黑"/>
              </a:rPr>
              <a:t>→ Fe(OH)3(s)</a:t>
            </a:r>
          </a:p>
        </p:txBody>
      </p:sp>
      <p:sp>
        <p:nvSpPr>
          <p:cNvPr id="25" name="原题文字_186_21"/>
          <p:cNvSpPr txBox="1"/>
          <p:nvPr/>
        </p:nvSpPr>
        <p:spPr>
          <a:xfrm>
            <a:off x="1521289" y="2943346"/>
            <a:ext cx="47599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点燃</a:t>
            </a:r>
          </a:p>
        </p:txBody>
      </p:sp>
      <p:sp>
        <p:nvSpPr>
          <p:cNvPr id="26" name="原题文字_186_22"/>
          <p:cNvSpPr txBox="1"/>
          <p:nvPr/>
        </p:nvSpPr>
        <p:spPr>
          <a:xfrm>
            <a:off x="1505975" y="3226651"/>
            <a:ext cx="521935" cy="348389"/>
          </a:xfrm>
          <a:prstGeom prst="rect">
            <a:avLst/>
          </a:prstGeom>
          <a:noFill/>
        </p:spPr>
        <p:txBody>
          <a:bodyPr wrap="none" lIns="0" rIns="0" tIns="0" bIns="0">
            <a:spAutoFit/>
          </a:bodyPr>
          <a:lstStyle/>
          <a:p>
            <a:pPr>
              <a:lnSpc>
                <a:spcPct val="112000"/>
              </a:lnSpc>
              <a:spcBef>
                <a:spcPts val="0"/>
              </a:spcBef>
              <a:spcAft>
                <a:spcPts val="0"/>
              </a:spcAft>
              <a:defRPr sz="1465" b="0">
                <a:solidFill>
                  <a:srgbClr val="333333"/>
                </a:solidFill>
                <a:latin typeface="微软雅黑"/>
              </a:defRPr>
            </a:pPr>
            <a:r>
              <a:rPr>
                <a:ea typeface="微软雅黑"/>
              </a:rPr>
              <a:t>O₂(g)</a:t>
            </a:r>
          </a:p>
        </p:txBody>
      </p:sp>
      <p:sp>
        <p:nvSpPr>
          <p:cNvPr id="27" name="原题文字_186_23"/>
          <p:cNvSpPr txBox="1"/>
          <p:nvPr/>
        </p:nvSpPr>
        <p:spPr>
          <a:xfrm>
            <a:off x="3014387" y="3226651"/>
            <a:ext cx="621475" cy="338435"/>
          </a:xfrm>
          <a:prstGeom prst="rect">
            <a:avLst/>
          </a:prstGeom>
          <a:noFill/>
        </p:spPr>
        <p:txBody>
          <a:bodyPr wrap="none" lIns="0" rIns="0" tIns="0" bIns="0">
            <a:spAutoFit/>
          </a:bodyPr>
          <a:lstStyle/>
          <a:p>
            <a:pPr>
              <a:lnSpc>
                <a:spcPct val="112000"/>
              </a:lnSpc>
              <a:spcBef>
                <a:spcPts val="0"/>
              </a:spcBef>
              <a:spcAft>
                <a:spcPts val="0"/>
              </a:spcAft>
              <a:defRPr sz="1424" b="0">
                <a:solidFill>
                  <a:srgbClr val="333333"/>
                </a:solidFill>
                <a:latin typeface="微软雅黑"/>
              </a:defRPr>
            </a:pPr>
            <a:r>
              <a:rPr>
                <a:ea typeface="微软雅黑"/>
              </a:rPr>
              <a:t>CO₂(g)</a:t>
            </a:r>
          </a:p>
        </p:txBody>
      </p:sp>
      <p:sp>
        <p:nvSpPr>
          <p:cNvPr id="28" name="原题文字_186_24"/>
          <p:cNvSpPr txBox="1"/>
          <p:nvPr/>
        </p:nvSpPr>
        <p:spPr>
          <a:xfrm>
            <a:off x="525890" y="3303220"/>
            <a:ext cx="1019635" cy="467837"/>
          </a:xfrm>
          <a:prstGeom prst="rect">
            <a:avLst/>
          </a:prstGeom>
          <a:noFill/>
        </p:spPr>
        <p:txBody>
          <a:bodyPr wrap="none" lIns="0" rIns="0" tIns="0" bIns="0">
            <a:spAutoFit/>
          </a:bodyPr>
          <a:lstStyle/>
          <a:p>
            <a:pPr>
              <a:lnSpc>
                <a:spcPct val="112000"/>
              </a:lnSpc>
              <a:spcBef>
                <a:spcPts val="0"/>
              </a:spcBef>
              <a:spcAft>
                <a:spcPts val="0"/>
              </a:spcAft>
              <a:defRPr sz="2110" b="0">
                <a:solidFill>
                  <a:srgbClr val="333333"/>
                </a:solidFill>
                <a:latin typeface="微软雅黑"/>
              </a:defRPr>
            </a:pPr>
            <a:r>
              <a:rPr>
                <a:ea typeface="微软雅黑"/>
              </a:rPr>
              <a:t>D. Na(s)</a:t>
            </a:r>
          </a:p>
        </p:txBody>
      </p:sp>
      <p:sp>
        <p:nvSpPr>
          <p:cNvPr id="29" name="原题文字_186_25"/>
          <p:cNvSpPr txBox="1"/>
          <p:nvPr/>
        </p:nvSpPr>
        <p:spPr>
          <a:xfrm>
            <a:off x="1927105" y="3310877"/>
            <a:ext cx="1126831" cy="457883"/>
          </a:xfrm>
          <a:prstGeom prst="rect">
            <a:avLst/>
          </a:prstGeom>
          <a:noFill/>
        </p:spPr>
        <p:txBody>
          <a:bodyPr wrap="none" lIns="0" rIns="0" tIns="0" bIns="0">
            <a:spAutoFit/>
          </a:bodyPr>
          <a:lstStyle/>
          <a:p>
            <a:pPr>
              <a:lnSpc>
                <a:spcPct val="112000"/>
              </a:lnSpc>
              <a:spcBef>
                <a:spcPts val="0"/>
              </a:spcBef>
              <a:spcAft>
                <a:spcPts val="0"/>
              </a:spcAft>
              <a:defRPr sz="1473" b="0">
                <a:solidFill>
                  <a:srgbClr val="333333"/>
                </a:solidFill>
                <a:latin typeface="微软雅黑"/>
              </a:defRPr>
            </a:pPr>
            <a:r>
              <a:rPr>
                <a:ea typeface="微软雅黑"/>
              </a:rPr>
              <a:t>→ Na₂O₂(s)</a:t>
            </a:r>
          </a:p>
        </p:txBody>
      </p:sp>
      <p:sp>
        <p:nvSpPr>
          <p:cNvPr id="30" name="原题文字_186_26"/>
          <p:cNvSpPr txBox="1"/>
          <p:nvPr/>
        </p:nvSpPr>
        <p:spPr>
          <a:xfrm>
            <a:off x="3519743" y="3303220"/>
            <a:ext cx="1287627" cy="467837"/>
          </a:xfrm>
          <a:prstGeom prst="rect">
            <a:avLst/>
          </a:prstGeom>
          <a:noFill/>
        </p:spPr>
        <p:txBody>
          <a:bodyPr wrap="none" lIns="0" rIns="0" tIns="0" bIns="0">
            <a:spAutoFit/>
          </a:bodyPr>
          <a:lstStyle/>
          <a:p>
            <a:pPr>
              <a:lnSpc>
                <a:spcPct val="112000"/>
              </a:lnSpc>
              <a:spcBef>
                <a:spcPts val="0"/>
              </a:spcBef>
              <a:spcAft>
                <a:spcPts val="0"/>
              </a:spcAft>
              <a:defRPr sz="1521" b="0">
                <a:solidFill>
                  <a:srgbClr val="333333"/>
                </a:solidFill>
                <a:latin typeface="微软雅黑"/>
              </a:defRPr>
            </a:pPr>
            <a:r>
              <a:rPr>
                <a:ea typeface="微软雅黑"/>
              </a:rPr>
              <a:t>→ Na₂CO₃(s)</a:t>
            </a:r>
          </a:p>
        </p:txBody>
      </p:sp>
      <p:sp>
        <p:nvSpPr>
          <p:cNvPr id="31" name="原题文字_186_27"/>
          <p:cNvSpPr txBox="1"/>
          <p:nvPr/>
        </p:nvSpPr>
        <p:spPr>
          <a:xfrm>
            <a:off x="1536603" y="3517614"/>
            <a:ext cx="46833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常温</a:t>
            </a:r>
          </a:p>
        </p:txBody>
      </p:sp>
      <p:sp>
        <p:nvSpPr>
          <p:cNvPr id="32" name="文字_单选题  ·  09-02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09-022</a:t>
            </a:r>
          </a:p>
        </p:txBody>
      </p:sp>
      <p:sp>
        <p:nvSpPr>
          <p:cNvPr id="33" name="文字_3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例题7</a:t>
            </a:r>
          </a:p>
        </p:txBody>
      </p:sp>
      <p:sp>
        <p:nvSpPr>
          <p:cNvPr id="5" name="文字_P18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P186</a:t>
            </a:r>
          </a:p>
        </p:txBody>
      </p:sp>
      <p:sp>
        <p:nvSpPr>
          <p:cNvPr id="6" name="文字_以太阳能为热源分解Fe₃O₄，铁氧化合物循环分解"/>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以太阳能为热源分解Fe₃O₄，铁氧化合物循环分解水制H₂的过程如图所示。下列</a:t>
            </a:r>
          </a:p>
          <a:p>
            <a:pPr>
              <a:lnSpc>
                <a:spcPct val="112000"/>
              </a:lnSpc>
              <a:spcBef>
                <a:spcPts val="0"/>
              </a:spcBef>
              <a:spcAft>
                <a:spcPts val="0"/>
              </a:spcAft>
              <a:defRPr sz="2400" b="0">
                <a:solidFill>
                  <a:srgbClr val="333333"/>
                </a:solidFill>
                <a:latin typeface="微软雅黑"/>
              </a:defRPr>
            </a:pPr>
            <a:r>
              <a:rPr>
                <a:ea typeface="微软雅黑"/>
              </a:rPr>
              <a:t>叙述错误的是</a:t>
            </a:r>
          </a:p>
        </p:txBody>
      </p:sp>
      <p:pic>
        <p:nvPicPr>
          <p:cNvPr id="7" name="Picture 6" descr="image.png"/>
          <p:cNvPicPr>
            <a:picLocks noChangeAspect="1"/>
          </p:cNvPicPr>
          <p:nvPr/>
        </p:nvPicPr>
        <p:blipFill>
          <a:blip r:embed="rId3"/>
          <a:stretch>
            <a:fillRect/>
          </a:stretch>
        </p:blipFill>
        <p:spPr>
          <a:xfrm>
            <a:off x="502920" y="1880616"/>
            <a:ext cx="11064240" cy="1807031"/>
          </a:xfrm>
          <a:prstGeom prst="rect">
            <a:avLst/>
          </a:prstGeom>
        </p:spPr>
      </p:pic>
      <p:sp>
        <p:nvSpPr>
          <p:cNvPr id="8" name="原题文字_186_32"/>
          <p:cNvSpPr txBox="1"/>
          <p:nvPr/>
        </p:nvSpPr>
        <p:spPr>
          <a:xfrm>
            <a:off x="594802" y="1966098"/>
            <a:ext cx="835869"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太阳能</a:t>
            </a:r>
          </a:p>
        </p:txBody>
      </p:sp>
      <p:sp>
        <p:nvSpPr>
          <p:cNvPr id="9" name="原题文字_186_33"/>
          <p:cNvSpPr txBox="1"/>
          <p:nvPr/>
        </p:nvSpPr>
        <p:spPr>
          <a:xfrm>
            <a:off x="3052672" y="1912499"/>
            <a:ext cx="583191" cy="428021"/>
          </a:xfrm>
          <a:prstGeom prst="rect">
            <a:avLst/>
          </a:prstGeom>
          <a:noFill/>
        </p:spPr>
        <p:txBody>
          <a:bodyPr wrap="none" lIns="0" rIns="0" tIns="0" bIns="0">
            <a:spAutoFit/>
          </a:bodyPr>
          <a:lstStyle/>
          <a:p>
            <a:pPr>
              <a:lnSpc>
                <a:spcPct val="112000"/>
              </a:lnSpc>
              <a:spcBef>
                <a:spcPts val="0"/>
              </a:spcBef>
              <a:spcAft>
                <a:spcPts val="0"/>
              </a:spcAft>
              <a:defRPr sz="1994" b="0">
                <a:solidFill>
                  <a:srgbClr val="333333"/>
                </a:solidFill>
                <a:latin typeface="微软雅黑"/>
              </a:defRPr>
            </a:pPr>
            <a:r>
              <a:rPr>
                <a:ea typeface="微软雅黑"/>
              </a:rPr>
              <a:t>H₂O</a:t>
            </a:r>
          </a:p>
        </p:txBody>
      </p:sp>
      <p:sp>
        <p:nvSpPr>
          <p:cNvPr id="10" name="原题文字_186_34"/>
          <p:cNvSpPr txBox="1"/>
          <p:nvPr/>
        </p:nvSpPr>
        <p:spPr>
          <a:xfrm>
            <a:off x="1842879" y="2103922"/>
            <a:ext cx="22331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I</a:t>
            </a:r>
          </a:p>
        </p:txBody>
      </p:sp>
      <p:sp>
        <p:nvSpPr>
          <p:cNvPr id="11" name="原题文字_186_35"/>
          <p:cNvSpPr txBox="1"/>
          <p:nvPr/>
        </p:nvSpPr>
        <p:spPr>
          <a:xfrm>
            <a:off x="2302294" y="2662877"/>
            <a:ext cx="475994"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O₂</a:t>
            </a:r>
          </a:p>
        </p:txBody>
      </p:sp>
      <p:sp>
        <p:nvSpPr>
          <p:cNvPr id="12" name="原题文字_186_36"/>
          <p:cNvSpPr txBox="1"/>
          <p:nvPr/>
        </p:nvSpPr>
        <p:spPr>
          <a:xfrm>
            <a:off x="847481" y="2938526"/>
            <a:ext cx="759300" cy="477791"/>
          </a:xfrm>
          <a:prstGeom prst="rect">
            <a:avLst/>
          </a:prstGeom>
          <a:noFill/>
        </p:spPr>
        <p:txBody>
          <a:bodyPr wrap="none" lIns="0" rIns="0" tIns="0" bIns="0">
            <a:spAutoFit/>
          </a:bodyPr>
          <a:lstStyle/>
          <a:p>
            <a:pPr>
              <a:lnSpc>
                <a:spcPct val="112000"/>
              </a:lnSpc>
              <a:spcBef>
                <a:spcPts val="0"/>
              </a:spcBef>
              <a:spcAft>
                <a:spcPts val="0"/>
              </a:spcAft>
              <a:defRPr sz="1811" b="0">
                <a:solidFill>
                  <a:srgbClr val="333333"/>
                </a:solidFill>
                <a:latin typeface="微软雅黑"/>
              </a:defRPr>
            </a:pPr>
            <a:r>
              <a:rPr>
                <a:ea typeface="微软雅黑"/>
              </a:rPr>
              <a:t>Fe₃O₄</a:t>
            </a:r>
          </a:p>
        </p:txBody>
      </p:sp>
      <p:sp>
        <p:nvSpPr>
          <p:cNvPr id="13" name="原题文字_186_37"/>
          <p:cNvSpPr txBox="1"/>
          <p:nvPr/>
        </p:nvSpPr>
        <p:spPr>
          <a:xfrm>
            <a:off x="3113927" y="2976810"/>
            <a:ext cx="55256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FeO</a:t>
            </a:r>
          </a:p>
        </p:txBody>
      </p:sp>
      <p:sp>
        <p:nvSpPr>
          <p:cNvPr id="14" name="原题文字_186_38"/>
          <p:cNvSpPr txBox="1"/>
          <p:nvPr/>
        </p:nvSpPr>
        <p:spPr>
          <a:xfrm>
            <a:off x="1904135" y="3214175"/>
            <a:ext cx="430052" cy="517607"/>
          </a:xfrm>
          <a:prstGeom prst="rect">
            <a:avLst/>
          </a:prstGeom>
          <a:noFill/>
        </p:spPr>
        <p:txBody>
          <a:bodyPr wrap="none" lIns="0" rIns="0" tIns="0" bIns="0">
            <a:spAutoFit/>
          </a:bodyPr>
          <a:lstStyle/>
          <a:p>
            <a:pPr>
              <a:lnSpc>
                <a:spcPct val="112000"/>
              </a:lnSpc>
              <a:spcBef>
                <a:spcPts val="0"/>
              </a:spcBef>
              <a:spcAft>
                <a:spcPts val="0"/>
              </a:spcAft>
              <a:defRPr sz="2246" b="0">
                <a:solidFill>
                  <a:srgbClr val="333333"/>
                </a:solidFill>
                <a:latin typeface="微软雅黑"/>
              </a:defRPr>
            </a:pPr>
            <a:r>
              <a:rPr>
                <a:ea typeface="微软雅黑"/>
              </a:rPr>
              <a:t>H₂</a:t>
            </a:r>
          </a:p>
        </p:txBody>
      </p:sp>
      <p:sp>
        <p:nvSpPr>
          <p:cNvPr id="15" name="文字_Ⅱ"/>
          <p:cNvSpPr txBox="1"/>
          <p:nvPr/>
        </p:nvSpPr>
        <p:spPr>
          <a:xfrm>
            <a:off x="502920" y="376079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Ⅱ</a:t>
            </a:r>
          </a:p>
        </p:txBody>
      </p:sp>
      <p:sp>
        <p:nvSpPr>
          <p:cNvPr id="16" name="文字_A. Fe₃O₄具有磁性，可用于制造录音磁带和电"/>
          <p:cNvSpPr txBox="1"/>
          <p:nvPr/>
        </p:nvSpPr>
        <p:spPr>
          <a:xfrm>
            <a:off x="502920" y="419971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Fe₃O₄具有磁性，可用于制造录音磁带和电讯器材</a:t>
            </a:r>
          </a:p>
        </p:txBody>
      </p:sp>
      <p:sp>
        <p:nvSpPr>
          <p:cNvPr id="17" name="文字_B. 过程I中每消耗0.5molFe₃O₄转移2"/>
          <p:cNvSpPr txBox="1"/>
          <p:nvPr/>
        </p:nvSpPr>
        <p:spPr>
          <a:xfrm>
            <a:off x="502920" y="463862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过程I中每消耗0.5molFe₃O₄转移2mol电子</a:t>
            </a:r>
          </a:p>
        </p:txBody>
      </p:sp>
      <p:pic>
        <p:nvPicPr>
          <p:cNvPr id="18" name="Picture 17" descr="image.png"/>
          <p:cNvPicPr>
            <a:picLocks noChangeAspect="1"/>
          </p:cNvPicPr>
          <p:nvPr/>
        </p:nvPicPr>
        <p:blipFill>
          <a:blip r:embed="rId4"/>
          <a:stretch>
            <a:fillRect/>
          </a:stretch>
        </p:blipFill>
        <p:spPr>
          <a:xfrm>
            <a:off x="502920" y="5077535"/>
            <a:ext cx="11064240" cy="949457"/>
          </a:xfrm>
          <a:prstGeom prst="rect">
            <a:avLst/>
          </a:prstGeom>
        </p:spPr>
      </p:pic>
      <p:sp>
        <p:nvSpPr>
          <p:cNvPr id="19" name="原题文字_186_42"/>
          <p:cNvSpPr txBox="1"/>
          <p:nvPr/>
        </p:nvSpPr>
        <p:spPr>
          <a:xfrm>
            <a:off x="556518" y="5224273"/>
            <a:ext cx="4671982" cy="428021"/>
          </a:xfrm>
          <a:prstGeom prst="rect">
            <a:avLst/>
          </a:prstGeom>
          <a:noFill/>
        </p:spPr>
        <p:txBody>
          <a:bodyPr wrap="none" lIns="0" rIns="0" tIns="0" bIns="0">
            <a:spAutoFit/>
          </a:bodyPr>
          <a:lstStyle/>
          <a:p>
            <a:pPr>
              <a:lnSpc>
                <a:spcPct val="112000"/>
              </a:lnSpc>
              <a:spcBef>
                <a:spcPts val="0"/>
              </a:spcBef>
              <a:spcAft>
                <a:spcPts val="0"/>
              </a:spcAft>
              <a:defRPr sz="1488" b="0">
                <a:solidFill>
                  <a:srgbClr val="333333"/>
                </a:solidFill>
                <a:latin typeface="微软雅黑"/>
              </a:defRPr>
            </a:pPr>
            <a:r>
              <a:rPr>
                <a:ea typeface="微软雅黑"/>
              </a:rPr>
              <a:t>C. 过程ⅡI的化学方程式为3FeO + H₂O=Fe₃O₄ + H₂↑</a:t>
            </a:r>
          </a:p>
        </p:txBody>
      </p:sp>
      <p:sp>
        <p:nvSpPr>
          <p:cNvPr id="20" name="原题文字_186_43"/>
          <p:cNvSpPr txBox="1"/>
          <p:nvPr/>
        </p:nvSpPr>
        <p:spPr>
          <a:xfrm>
            <a:off x="3994472" y="5163017"/>
            <a:ext cx="215659" cy="189125"/>
          </a:xfrm>
          <a:prstGeom prst="rect">
            <a:avLst/>
          </a:prstGeom>
          <a:noFill/>
        </p:spPr>
        <p:txBody>
          <a:bodyPr wrap="none" lIns="0" rIns="0" tIns="0" bIns="0">
            <a:spAutoFit/>
          </a:bodyPr>
          <a:lstStyle/>
          <a:p>
            <a:pPr>
              <a:lnSpc>
                <a:spcPct val="112000"/>
              </a:lnSpc>
              <a:spcBef>
                <a:spcPts val="0"/>
              </a:spcBef>
              <a:spcAft>
                <a:spcPts val="0"/>
              </a:spcAft>
              <a:defRPr sz="916" b="0">
                <a:solidFill>
                  <a:srgbClr val="333333"/>
                </a:solidFill>
                <a:latin typeface="微软雅黑"/>
              </a:defRPr>
            </a:pPr>
            <a:r>
              <a:rPr>
                <a:ea typeface="微软雅黑"/>
              </a:rPr>
              <a:t>∆</a:t>
            </a:r>
          </a:p>
        </p:txBody>
      </p:sp>
      <p:sp>
        <p:nvSpPr>
          <p:cNvPr id="21" name="原题文字_186_44"/>
          <p:cNvSpPr txBox="1"/>
          <p:nvPr/>
        </p:nvSpPr>
        <p:spPr>
          <a:xfrm>
            <a:off x="564175" y="5721972"/>
            <a:ext cx="625696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铁氧化合物循环分解水制H₂具有节约能源、产物易分离等优点</a:t>
            </a:r>
          </a:p>
        </p:txBody>
      </p:sp>
      <p:sp>
        <p:nvSpPr>
          <p:cNvPr id="22" name="文字_单选题  ·  09-02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09-023</a:t>
            </a:r>
          </a:p>
        </p:txBody>
      </p:sp>
      <p:sp>
        <p:nvSpPr>
          <p:cNvPr id="23" name="文字_3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例题8</a:t>
            </a:r>
          </a:p>
        </p:txBody>
      </p:sp>
      <p:sp>
        <p:nvSpPr>
          <p:cNvPr id="5" name="文字_P18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P186</a:t>
            </a:r>
          </a:p>
        </p:txBody>
      </p:sp>
      <p:sp>
        <p:nvSpPr>
          <p:cNvPr id="6" name="文字_铁的价类二维图如图所示。下列说法错误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铁的价类二维图如图所示。下列说法错误的是</a:t>
            </a:r>
          </a:p>
        </p:txBody>
      </p:sp>
      <p:pic>
        <p:nvPicPr>
          <p:cNvPr id="7" name="Picture 6" descr="image.png"/>
          <p:cNvPicPr>
            <a:picLocks noChangeAspect="1"/>
          </p:cNvPicPr>
          <p:nvPr/>
        </p:nvPicPr>
        <p:blipFill>
          <a:blip r:embed="rId3"/>
          <a:stretch>
            <a:fillRect/>
          </a:stretch>
        </p:blipFill>
        <p:spPr>
          <a:xfrm>
            <a:off x="502920" y="1517904"/>
            <a:ext cx="11064240" cy="2817744"/>
          </a:xfrm>
          <a:prstGeom prst="rect">
            <a:avLst/>
          </a:prstGeom>
        </p:spPr>
      </p:pic>
      <p:sp>
        <p:nvSpPr>
          <p:cNvPr id="8" name="原题文字_186_49"/>
          <p:cNvSpPr txBox="1"/>
          <p:nvPr/>
        </p:nvSpPr>
        <p:spPr>
          <a:xfrm>
            <a:off x="2049616" y="1725896"/>
            <a:ext cx="190018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Fe₂O₃→Fe³⁺</a:t>
            </a:r>
          </a:p>
        </p:txBody>
      </p:sp>
      <p:sp>
        <p:nvSpPr>
          <p:cNvPr id="9" name="原题文字_186_50"/>
          <p:cNvSpPr txBox="1"/>
          <p:nvPr/>
        </p:nvSpPr>
        <p:spPr>
          <a:xfrm>
            <a:off x="947020" y="1833093"/>
            <a:ext cx="34582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+3</a:t>
            </a:r>
          </a:p>
        </p:txBody>
      </p:sp>
      <p:sp>
        <p:nvSpPr>
          <p:cNvPr id="10" name="原题文字_186_51"/>
          <p:cNvSpPr txBox="1"/>
          <p:nvPr/>
        </p:nvSpPr>
        <p:spPr>
          <a:xfrm>
            <a:off x="625430" y="1909662"/>
            <a:ext cx="338169" cy="846088"/>
          </a:xfrm>
          <a:prstGeom prst="rect">
            <a:avLst/>
          </a:prstGeom>
          <a:noFill/>
        </p:spPr>
        <p:txBody>
          <a:bodyPr wrap="none" lIns="0" rIns="0" tIns="0" bIns="0">
            <a:spAutoFit/>
          </a:bodyPr>
          <a:lstStyle/>
          <a:p>
            <a:pPr>
              <a:lnSpc>
                <a:spcPct val="112000"/>
              </a:lnSpc>
              <a:spcBef>
                <a:spcPts val="0"/>
              </a:spcBef>
              <a:spcAft>
                <a:spcPts val="0"/>
              </a:spcAft>
              <a:defRPr sz="2705" b="0">
                <a:solidFill>
                  <a:srgbClr val="333333"/>
                </a:solidFill>
                <a:latin typeface="微软雅黑"/>
              </a:defRPr>
            </a:pPr>
            <a:r>
              <a:rPr>
                <a:ea typeface="微软雅黑"/>
              </a:rPr>
              <a:t>价</a:t>
            </a:r>
          </a:p>
        </p:txBody>
      </p:sp>
      <p:sp>
        <p:nvSpPr>
          <p:cNvPr id="11" name="原题文字_186_52"/>
          <p:cNvSpPr txBox="1"/>
          <p:nvPr/>
        </p:nvSpPr>
        <p:spPr>
          <a:xfrm>
            <a:off x="916393" y="2162340"/>
            <a:ext cx="33816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+2</a:t>
            </a:r>
          </a:p>
        </p:txBody>
      </p:sp>
      <p:sp>
        <p:nvSpPr>
          <p:cNvPr id="12" name="原题文字_186_53"/>
          <p:cNvSpPr txBox="1"/>
          <p:nvPr/>
        </p:nvSpPr>
        <p:spPr>
          <a:xfrm>
            <a:off x="2164470" y="2124056"/>
            <a:ext cx="2260055"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FeOFe₂ + Fe(OH)2</a:t>
            </a:r>
          </a:p>
        </p:txBody>
      </p:sp>
      <p:sp>
        <p:nvSpPr>
          <p:cNvPr id="13" name="原题文字_186_54"/>
          <p:cNvSpPr txBox="1"/>
          <p:nvPr/>
        </p:nvSpPr>
        <p:spPr>
          <a:xfrm>
            <a:off x="1023590" y="2920375"/>
            <a:ext cx="200345"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0</a:t>
            </a:r>
          </a:p>
        </p:txBody>
      </p:sp>
      <p:sp>
        <p:nvSpPr>
          <p:cNvPr id="14" name="原题文字_186_55"/>
          <p:cNvSpPr txBox="1"/>
          <p:nvPr/>
        </p:nvSpPr>
        <p:spPr>
          <a:xfrm>
            <a:off x="1375808" y="2859119"/>
            <a:ext cx="330512"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Fe</a:t>
            </a:r>
          </a:p>
        </p:txBody>
      </p:sp>
      <p:sp>
        <p:nvSpPr>
          <p:cNvPr id="15" name="原题文字_186_56"/>
          <p:cNvSpPr txBox="1"/>
          <p:nvPr/>
        </p:nvSpPr>
        <p:spPr>
          <a:xfrm>
            <a:off x="1398778" y="3341505"/>
            <a:ext cx="514278"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单质</a:t>
            </a:r>
          </a:p>
        </p:txBody>
      </p:sp>
      <p:sp>
        <p:nvSpPr>
          <p:cNvPr id="16" name="原题文字_186_57"/>
          <p:cNvSpPr txBox="1"/>
          <p:nvPr/>
        </p:nvSpPr>
        <p:spPr>
          <a:xfrm>
            <a:off x="2218068" y="3341505"/>
            <a:ext cx="743986"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氧化物</a:t>
            </a:r>
          </a:p>
        </p:txBody>
      </p:sp>
      <p:sp>
        <p:nvSpPr>
          <p:cNvPr id="17" name="原题文字_186_58"/>
          <p:cNvSpPr txBox="1"/>
          <p:nvPr/>
        </p:nvSpPr>
        <p:spPr>
          <a:xfrm>
            <a:off x="3826020" y="3418074"/>
            <a:ext cx="34582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碱</a:t>
            </a:r>
          </a:p>
        </p:txBody>
      </p:sp>
      <p:sp>
        <p:nvSpPr>
          <p:cNvPr id="18" name="原题文字_186_59"/>
          <p:cNvSpPr txBox="1"/>
          <p:nvPr/>
        </p:nvSpPr>
        <p:spPr>
          <a:xfrm>
            <a:off x="2616228" y="3709037"/>
            <a:ext cx="87415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物质类别</a:t>
            </a:r>
          </a:p>
        </p:txBody>
      </p:sp>
      <p:sp>
        <p:nvSpPr>
          <p:cNvPr id="19" name="原题文字_186_60"/>
          <p:cNvSpPr txBox="1"/>
          <p:nvPr/>
        </p:nvSpPr>
        <p:spPr>
          <a:xfrm>
            <a:off x="564175" y="3984686"/>
            <a:ext cx="3079344" cy="398159"/>
          </a:xfrm>
          <a:prstGeom prst="rect">
            <a:avLst/>
          </a:prstGeom>
          <a:noFill/>
        </p:spPr>
        <p:txBody>
          <a:bodyPr wrap="none" lIns="0" rIns="0" tIns="0" bIns="0">
            <a:spAutoFit/>
          </a:bodyPr>
          <a:lstStyle/>
          <a:p>
            <a:pPr>
              <a:lnSpc>
                <a:spcPct val="112000"/>
              </a:lnSpc>
              <a:spcBef>
                <a:spcPts val="0"/>
              </a:spcBef>
              <a:spcAft>
                <a:spcPts val="0"/>
              </a:spcAft>
              <a:defRPr sz="1756" b="0">
                <a:solidFill>
                  <a:srgbClr val="333333"/>
                </a:solidFill>
                <a:latin typeface="微软雅黑"/>
              </a:defRPr>
            </a:pPr>
            <a:r>
              <a:rPr>
                <a:ea typeface="微软雅黑"/>
              </a:rPr>
              <a:t>A. Fe(OH)₂→X需要加入氧化剂</a:t>
            </a:r>
          </a:p>
        </p:txBody>
      </p:sp>
      <p:sp>
        <p:nvSpPr>
          <p:cNvPr id="20" name="文字_B. Fe³⁺→X可以加入NaOH溶液"/>
          <p:cNvSpPr txBox="1"/>
          <p:nvPr/>
        </p:nvSpPr>
        <p:spPr>
          <a:xfrm>
            <a:off x="502920" y="44088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Fe³⁺→X可以加入NaOH溶液</a:t>
            </a:r>
          </a:p>
        </p:txBody>
      </p:sp>
      <p:sp>
        <p:nvSpPr>
          <p:cNvPr id="21" name="文字_C. Fe与水蒸气在高温下反应生成Fe₂O₃"/>
          <p:cNvSpPr txBox="1"/>
          <p:nvPr/>
        </p:nvSpPr>
        <p:spPr>
          <a:xfrm>
            <a:off x="502920" y="48477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Fe与水蒸气在高温下反应生成Fe₂O₃</a:t>
            </a:r>
          </a:p>
        </p:txBody>
      </p:sp>
      <p:sp>
        <p:nvSpPr>
          <p:cNvPr id="22" name="文字_D. 用酸除铁锈时，Fe₂O₃→Fe³⁺"/>
          <p:cNvSpPr txBox="1"/>
          <p:nvPr/>
        </p:nvSpPr>
        <p:spPr>
          <a:xfrm>
            <a:off x="502920" y="528662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用酸除铁锈时，Fe₂O₃→Fe³⁺</a:t>
            </a:r>
          </a:p>
        </p:txBody>
      </p:sp>
      <p:sp>
        <p:nvSpPr>
          <p:cNvPr id="23" name="文字_单选题  ·  09-02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09-024</a:t>
            </a:r>
          </a:p>
        </p:txBody>
      </p:sp>
      <p:sp>
        <p:nvSpPr>
          <p:cNvPr id="24" name="文字_3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例题9</a:t>
            </a:r>
          </a:p>
        </p:txBody>
      </p:sp>
      <p:sp>
        <p:nvSpPr>
          <p:cNvPr id="5" name="文字_P18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P187</a:t>
            </a:r>
          </a:p>
        </p:txBody>
      </p:sp>
      <p:sp>
        <p:nvSpPr>
          <p:cNvPr id="6" name="文字_从废水中回收硫酸亚铁固体和铜的流程如下："/>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从废水中回收硫酸亚铁固体和铜的流程如下：</a:t>
            </a:r>
          </a:p>
        </p:txBody>
      </p:sp>
      <p:sp>
        <p:nvSpPr>
          <p:cNvPr id="7" name="文字_下列说法正确的是（）"/>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8" name="文字_A. 金属X为Fe ______ 不纯 加入适量"/>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金属X为Fe ______ 不纯 加入适量</a:t>
            </a:r>
          </a:p>
        </p:txBody>
      </p:sp>
      <p:sp>
        <p:nvSpPr>
          <p:cNvPr id="9" name="文字_铜"/>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铜</a:t>
            </a:r>
          </a:p>
        </p:txBody>
      </p:sp>
      <p:sp>
        <p:nvSpPr>
          <p:cNvPr id="10" name="文字_含 FeSO₄ ______ 硫酸"/>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含 FeSO₄ ______ 硫酸</a:t>
            </a:r>
          </a:p>
        </p:txBody>
      </p:sp>
      <p:pic>
        <p:nvPicPr>
          <p:cNvPr id="11" name="Picture 10" descr="image.png"/>
          <p:cNvPicPr>
            <a:picLocks noChangeAspect="1"/>
          </p:cNvPicPr>
          <p:nvPr/>
        </p:nvPicPr>
        <p:blipFill>
          <a:blip r:embed="rId3"/>
          <a:stretch>
            <a:fillRect/>
          </a:stretch>
        </p:blipFill>
        <p:spPr>
          <a:xfrm>
            <a:off x="502920" y="3273552"/>
            <a:ext cx="11064240" cy="1225106"/>
          </a:xfrm>
          <a:prstGeom prst="rect">
            <a:avLst/>
          </a:prstGeom>
        </p:spPr>
      </p:pic>
      <p:sp>
        <p:nvSpPr>
          <p:cNvPr id="12" name="原题文字_187_11"/>
          <p:cNvSpPr txBox="1"/>
          <p:nvPr/>
        </p:nvSpPr>
        <p:spPr>
          <a:xfrm>
            <a:off x="564175" y="3190582"/>
            <a:ext cx="187720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溶液Y为稀盐酸</a:t>
            </a:r>
          </a:p>
        </p:txBody>
      </p:sp>
      <p:sp>
        <p:nvSpPr>
          <p:cNvPr id="13" name="原题文字_187_12"/>
          <p:cNvSpPr txBox="1"/>
          <p:nvPr/>
        </p:nvSpPr>
        <p:spPr>
          <a:xfrm>
            <a:off x="6283889" y="3175268"/>
            <a:ext cx="1011978"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加入过量</a:t>
            </a:r>
          </a:p>
        </p:txBody>
      </p:sp>
      <p:sp>
        <p:nvSpPr>
          <p:cNvPr id="14" name="原题文字_187_13"/>
          <p:cNvSpPr txBox="1"/>
          <p:nvPr/>
        </p:nvSpPr>
        <p:spPr>
          <a:xfrm>
            <a:off x="8136862" y="3205895"/>
            <a:ext cx="989007"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的溶液Y</a:t>
            </a:r>
          </a:p>
        </p:txBody>
      </p:sp>
      <p:sp>
        <p:nvSpPr>
          <p:cNvPr id="15" name="原题文字_187_14"/>
          <p:cNvSpPr txBox="1"/>
          <p:nvPr/>
        </p:nvSpPr>
        <p:spPr>
          <a:xfrm>
            <a:off x="587146" y="3573427"/>
            <a:ext cx="341624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硫酸亚铁可用作食品的抗氧化剂</a:t>
            </a:r>
          </a:p>
        </p:txBody>
      </p:sp>
      <p:sp>
        <p:nvSpPr>
          <p:cNvPr id="16" name="原题文字_187_15"/>
          <p:cNvSpPr txBox="1"/>
          <p:nvPr/>
        </p:nvSpPr>
        <p:spPr>
          <a:xfrm>
            <a:off x="5311461" y="3519829"/>
            <a:ext cx="1004321" cy="388205"/>
          </a:xfrm>
          <a:prstGeom prst="rect">
            <a:avLst/>
          </a:prstGeom>
          <a:noFill/>
        </p:spPr>
        <p:txBody>
          <a:bodyPr wrap="none" lIns="0" rIns="0" tIns="0" bIns="0">
            <a:spAutoFit/>
          </a:bodyPr>
          <a:lstStyle/>
          <a:p>
            <a:pPr>
              <a:lnSpc>
                <a:spcPct val="112000"/>
              </a:lnSpc>
              <a:spcBef>
                <a:spcPts val="0"/>
              </a:spcBef>
              <a:spcAft>
                <a:spcPts val="0"/>
              </a:spcAft>
              <a:defRPr sz="1819" b="0">
                <a:solidFill>
                  <a:srgbClr val="333333"/>
                </a:solidFill>
                <a:latin typeface="微软雅黑"/>
              </a:defRPr>
            </a:pPr>
            <a:r>
              <a:rPr>
                <a:ea typeface="微软雅黑"/>
              </a:rPr>
              <a:t>和CuSO₄</a:t>
            </a:r>
          </a:p>
        </p:txBody>
      </p:sp>
      <p:sp>
        <p:nvSpPr>
          <p:cNvPr id="17" name="原题文字_187_16"/>
          <p:cNvSpPr txBox="1"/>
          <p:nvPr/>
        </p:nvSpPr>
        <p:spPr>
          <a:xfrm>
            <a:off x="6283889" y="3627026"/>
            <a:ext cx="98135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的金属 X</a:t>
            </a:r>
          </a:p>
        </p:txBody>
      </p:sp>
      <p:sp>
        <p:nvSpPr>
          <p:cNvPr id="18" name="原题文字_187_17"/>
          <p:cNvSpPr txBox="1"/>
          <p:nvPr/>
        </p:nvSpPr>
        <p:spPr>
          <a:xfrm>
            <a:off x="7424769" y="3313092"/>
            <a:ext cx="56787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的铜</a:t>
            </a:r>
          </a:p>
        </p:txBody>
      </p:sp>
      <p:sp>
        <p:nvSpPr>
          <p:cNvPr id="19" name="原题文字_187_18"/>
          <p:cNvSpPr txBox="1"/>
          <p:nvPr/>
        </p:nvSpPr>
        <p:spPr>
          <a:xfrm>
            <a:off x="7945439" y="3450917"/>
            <a:ext cx="134888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过滤、洗涤②</a:t>
            </a:r>
          </a:p>
        </p:txBody>
      </p:sp>
      <p:sp>
        <p:nvSpPr>
          <p:cNvPr id="20" name="原题文字_187_19"/>
          <p:cNvSpPr txBox="1"/>
          <p:nvPr/>
        </p:nvSpPr>
        <p:spPr>
          <a:xfrm>
            <a:off x="9461508" y="3305435"/>
            <a:ext cx="57553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滤液</a:t>
            </a:r>
          </a:p>
        </p:txBody>
      </p:sp>
      <p:sp>
        <p:nvSpPr>
          <p:cNvPr id="21" name="原题文字_187_20"/>
          <p:cNvSpPr txBox="1"/>
          <p:nvPr/>
        </p:nvSpPr>
        <p:spPr>
          <a:xfrm>
            <a:off x="10181258" y="3382004"/>
            <a:ext cx="51427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蒸干</a:t>
            </a:r>
          </a:p>
        </p:txBody>
      </p:sp>
      <p:sp>
        <p:nvSpPr>
          <p:cNvPr id="22" name="原题文字_187_21"/>
          <p:cNvSpPr txBox="1"/>
          <p:nvPr/>
        </p:nvSpPr>
        <p:spPr>
          <a:xfrm>
            <a:off x="10640673" y="3512172"/>
            <a:ext cx="57553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亚铁</a:t>
            </a:r>
          </a:p>
        </p:txBody>
      </p:sp>
      <p:sp>
        <p:nvSpPr>
          <p:cNvPr id="23" name="原题文字_187_22"/>
          <p:cNvSpPr txBox="1"/>
          <p:nvPr/>
        </p:nvSpPr>
        <p:spPr>
          <a:xfrm>
            <a:off x="6345144" y="3879704"/>
            <a:ext cx="82821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过滤①</a:t>
            </a:r>
          </a:p>
        </p:txBody>
      </p:sp>
      <p:sp>
        <p:nvSpPr>
          <p:cNvPr id="24" name="原题文字_187_23"/>
          <p:cNvSpPr txBox="1"/>
          <p:nvPr/>
        </p:nvSpPr>
        <p:spPr>
          <a:xfrm>
            <a:off x="587146" y="3971587"/>
            <a:ext cx="3829722"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 无水硫酸铜常用于检验水或作干燥剂</a:t>
            </a:r>
          </a:p>
        </p:txBody>
      </p:sp>
      <p:sp>
        <p:nvSpPr>
          <p:cNvPr id="25" name="原题文字_187_24"/>
          <p:cNvSpPr txBox="1"/>
          <p:nvPr/>
        </p:nvSpPr>
        <p:spPr>
          <a:xfrm>
            <a:off x="5303804" y="4002214"/>
            <a:ext cx="759300"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的废水</a:t>
            </a:r>
          </a:p>
        </p:txBody>
      </p:sp>
      <p:sp>
        <p:nvSpPr>
          <p:cNvPr id="26" name="原题文字_187_25"/>
          <p:cNvSpPr txBox="1"/>
          <p:nvPr/>
        </p:nvSpPr>
        <p:spPr>
          <a:xfrm>
            <a:off x="10640673" y="3971587"/>
            <a:ext cx="57553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固体</a:t>
            </a:r>
          </a:p>
        </p:txBody>
      </p:sp>
      <p:sp>
        <p:nvSpPr>
          <p:cNvPr id="27" name="原题文字_187_26"/>
          <p:cNvSpPr txBox="1"/>
          <p:nvPr/>
        </p:nvSpPr>
        <p:spPr>
          <a:xfrm>
            <a:off x="7409455" y="4163010"/>
            <a:ext cx="590847"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滤液</a:t>
            </a:r>
          </a:p>
        </p:txBody>
      </p:sp>
      <p:sp>
        <p:nvSpPr>
          <p:cNvPr id="28" name="文字_单选题  ·  09-02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09-025</a:t>
            </a:r>
          </a:p>
        </p:txBody>
      </p:sp>
      <p:sp>
        <p:nvSpPr>
          <p:cNvPr id="29" name="文字_3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例题10</a:t>
            </a:r>
          </a:p>
        </p:txBody>
      </p:sp>
      <p:sp>
        <p:nvSpPr>
          <p:cNvPr id="5" name="文字_P18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P187</a:t>
            </a:r>
          </a:p>
        </p:txBody>
      </p:sp>
      <p:sp>
        <p:nvSpPr>
          <p:cNvPr id="6" name="文字_有关铁的化合物的说法中，错误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有关铁的化合物的说法中，错误的是()</a:t>
            </a:r>
          </a:p>
        </p:txBody>
      </p:sp>
      <p:pic>
        <p:nvPicPr>
          <p:cNvPr id="7" name="Picture 6" descr="image.png"/>
          <p:cNvPicPr>
            <a:picLocks noChangeAspect="1"/>
          </p:cNvPicPr>
          <p:nvPr/>
        </p:nvPicPr>
        <p:blipFill>
          <a:blip r:embed="rId3"/>
          <a:stretch>
            <a:fillRect/>
          </a:stretch>
        </p:blipFill>
        <p:spPr>
          <a:xfrm>
            <a:off x="502920" y="1517904"/>
            <a:ext cx="11064240" cy="1929542"/>
          </a:xfrm>
          <a:prstGeom prst="rect">
            <a:avLst/>
          </a:prstGeom>
        </p:spPr>
      </p:pic>
      <p:sp>
        <p:nvSpPr>
          <p:cNvPr id="8" name="原题文字_187_31"/>
          <p:cNvSpPr txBox="1"/>
          <p:nvPr/>
        </p:nvSpPr>
        <p:spPr>
          <a:xfrm>
            <a:off x="571832" y="1549787"/>
            <a:ext cx="4825121" cy="358343"/>
          </a:xfrm>
          <a:prstGeom prst="rect">
            <a:avLst/>
          </a:prstGeom>
          <a:noFill/>
        </p:spPr>
        <p:txBody>
          <a:bodyPr wrap="none" lIns="0" rIns="0" tIns="0" bIns="0">
            <a:spAutoFit/>
          </a:bodyPr>
          <a:lstStyle/>
          <a:p>
            <a:pPr>
              <a:lnSpc>
                <a:spcPct val="112000"/>
              </a:lnSpc>
              <a:spcBef>
                <a:spcPts val="0"/>
              </a:spcBef>
              <a:spcAft>
                <a:spcPts val="0"/>
              </a:spcAft>
              <a:defRPr sz="1723" b="0">
                <a:solidFill>
                  <a:srgbClr val="333333"/>
                </a:solidFill>
                <a:latin typeface="微软雅黑"/>
              </a:defRPr>
            </a:pPr>
            <a:r>
              <a:rPr>
                <a:ea typeface="微软雅黑"/>
              </a:rPr>
              <a:t>A. FeO不稳定，在空气中加热迅速被氧化成Fe₂O₃</a:t>
            </a:r>
          </a:p>
        </p:txBody>
      </p:sp>
      <p:sp>
        <p:nvSpPr>
          <p:cNvPr id="9" name="原题文字_187_32"/>
          <p:cNvSpPr txBox="1"/>
          <p:nvPr/>
        </p:nvSpPr>
        <p:spPr>
          <a:xfrm>
            <a:off x="1192042" y="2085771"/>
            <a:ext cx="613818"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NaOH</a:t>
            </a:r>
          </a:p>
        </p:txBody>
      </p:sp>
      <p:sp>
        <p:nvSpPr>
          <p:cNvPr id="10" name="原题文字_187_33"/>
          <p:cNvSpPr txBox="1"/>
          <p:nvPr/>
        </p:nvSpPr>
        <p:spPr>
          <a:xfrm>
            <a:off x="1237983" y="2284851"/>
            <a:ext cx="529592"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溶液</a:t>
            </a:r>
          </a:p>
        </p:txBody>
      </p:sp>
      <p:sp>
        <p:nvSpPr>
          <p:cNvPr id="11" name="原题文字_187_34"/>
          <p:cNvSpPr txBox="1"/>
          <p:nvPr/>
        </p:nvSpPr>
        <p:spPr>
          <a:xfrm>
            <a:off x="564175" y="2545186"/>
            <a:ext cx="31519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B.</a:t>
            </a:r>
          </a:p>
        </p:txBody>
      </p:sp>
      <p:sp>
        <p:nvSpPr>
          <p:cNvPr id="12" name="原题文字_187_35"/>
          <p:cNvSpPr txBox="1"/>
          <p:nvPr/>
        </p:nvSpPr>
        <p:spPr>
          <a:xfrm>
            <a:off x="1973047" y="2499245"/>
            <a:ext cx="2650557" cy="398159"/>
          </a:xfrm>
          <a:prstGeom prst="rect">
            <a:avLst/>
          </a:prstGeom>
          <a:noFill/>
        </p:spPr>
        <p:txBody>
          <a:bodyPr wrap="none" lIns="0" rIns="0" tIns="0" bIns="0">
            <a:spAutoFit/>
          </a:bodyPr>
          <a:lstStyle/>
          <a:p>
            <a:pPr>
              <a:lnSpc>
                <a:spcPct val="112000"/>
              </a:lnSpc>
              <a:spcBef>
                <a:spcPts val="0"/>
              </a:spcBef>
              <a:spcAft>
                <a:spcPts val="0"/>
              </a:spcAft>
              <a:defRPr sz="1748" b="0">
                <a:solidFill>
                  <a:srgbClr val="333333"/>
                </a:solidFill>
                <a:latin typeface="微软雅黑"/>
              </a:defRPr>
            </a:pPr>
            <a:r>
              <a:rPr>
                <a:ea typeface="微软雅黑"/>
              </a:rPr>
              <a:t>由图示操作可制取Fe(OH)₂</a:t>
            </a:r>
          </a:p>
        </p:txBody>
      </p:sp>
      <p:sp>
        <p:nvSpPr>
          <p:cNvPr id="13" name="原题文字_187_36"/>
          <p:cNvSpPr txBox="1"/>
          <p:nvPr/>
        </p:nvSpPr>
        <p:spPr>
          <a:xfrm>
            <a:off x="1245640" y="2652383"/>
            <a:ext cx="49896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煤油</a:t>
            </a:r>
          </a:p>
        </p:txBody>
      </p:sp>
      <p:sp>
        <p:nvSpPr>
          <p:cNvPr id="14" name="原题文字_187_37"/>
          <p:cNvSpPr txBox="1"/>
          <p:nvPr/>
        </p:nvSpPr>
        <p:spPr>
          <a:xfrm>
            <a:off x="1245640" y="2943346"/>
            <a:ext cx="606161" cy="328481"/>
          </a:xfrm>
          <a:prstGeom prst="rect">
            <a:avLst/>
          </a:prstGeom>
          <a:noFill/>
        </p:spPr>
        <p:txBody>
          <a:bodyPr wrap="none" lIns="0" rIns="0" tIns="0" bIns="0">
            <a:spAutoFit/>
          </a:bodyPr>
          <a:lstStyle/>
          <a:p>
            <a:pPr>
              <a:lnSpc>
                <a:spcPct val="112000"/>
              </a:lnSpc>
              <a:spcBef>
                <a:spcPts val="0"/>
              </a:spcBef>
              <a:spcAft>
                <a:spcPts val="0"/>
              </a:spcAft>
              <a:defRPr sz="1511" b="0">
                <a:solidFill>
                  <a:srgbClr val="333333"/>
                </a:solidFill>
                <a:latin typeface="微软雅黑"/>
              </a:defRPr>
            </a:pPr>
            <a:r>
              <a:rPr>
                <a:ea typeface="微软雅黑"/>
              </a:rPr>
              <a:t>FeSO₄</a:t>
            </a:r>
          </a:p>
        </p:txBody>
      </p:sp>
      <p:sp>
        <p:nvSpPr>
          <p:cNvPr id="15" name="原题文字_187_38"/>
          <p:cNvSpPr txBox="1"/>
          <p:nvPr/>
        </p:nvSpPr>
        <p:spPr>
          <a:xfrm>
            <a:off x="1291582" y="3142425"/>
            <a:ext cx="51427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溶液</a:t>
            </a:r>
          </a:p>
        </p:txBody>
      </p:sp>
      <p:sp>
        <p:nvSpPr>
          <p:cNvPr id="16" name="文字_C. Fe₃O₄、Fe(OH)3都可以由化合反应"/>
          <p:cNvSpPr txBox="1"/>
          <p:nvPr/>
        </p:nvSpPr>
        <p:spPr>
          <a:xfrm>
            <a:off x="502920" y="352059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Fe₃O₄、Fe(OH)3都可以由化合反应制得</a:t>
            </a:r>
          </a:p>
        </p:txBody>
      </p:sp>
      <p:sp>
        <p:nvSpPr>
          <p:cNvPr id="17" name="文字_D. Fe(OH)3胶体呈红褐色、透明，能发生丁"/>
          <p:cNvSpPr txBox="1"/>
          <p:nvPr/>
        </p:nvSpPr>
        <p:spPr>
          <a:xfrm>
            <a:off x="502920" y="395951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Fe(OH)3胶体呈红褐色、透明，能发生丁达尔现象</a:t>
            </a:r>
          </a:p>
        </p:txBody>
      </p:sp>
      <p:sp>
        <p:nvSpPr>
          <p:cNvPr id="18" name="文字_单选题  ·  09-02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09-026</a:t>
            </a:r>
          </a:p>
        </p:txBody>
      </p:sp>
      <p:sp>
        <p:nvSpPr>
          <p:cNvPr id="19" name="文字_3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1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例题11</a:t>
            </a:r>
          </a:p>
        </p:txBody>
      </p:sp>
      <p:sp>
        <p:nvSpPr>
          <p:cNvPr id="5" name="文字_P18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P187</a:t>
            </a:r>
          </a:p>
        </p:txBody>
      </p:sp>
      <p:sp>
        <p:nvSpPr>
          <p:cNvPr id="6" name="文字_如下图所示装置可用来制取和观察Fe(OH)₂在空"/>
          <p:cNvSpPr txBox="1"/>
          <p:nvPr/>
        </p:nvSpPr>
        <p:spPr>
          <a:xfrm>
            <a:off x="502920" y="1078992"/>
            <a:ext cx="11064240" cy="668020"/>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如下图所示装置可用来制取和观察Fe(OH)₂在空气中被氧化时颜色的变化。实验时必须使用铁屑和</a:t>
            </a:r>
          </a:p>
          <a:p>
            <a:pPr>
              <a:lnSpc>
                <a:spcPct val="112000"/>
              </a:lnSpc>
              <a:spcBef>
                <a:spcPts val="0"/>
              </a:spcBef>
              <a:spcAft>
                <a:spcPts val="0"/>
              </a:spcAft>
              <a:defRPr sz="2000" b="0">
                <a:solidFill>
                  <a:srgbClr val="333333"/>
                </a:solidFill>
                <a:latin typeface="微软雅黑"/>
              </a:defRPr>
            </a:pPr>
            <a:r>
              <a:rPr>
                <a:ea typeface="微软雅黑"/>
              </a:rPr>
              <a:t>6~mol·L-1的硫酸，其他试剂任选。</a:t>
            </a:r>
          </a:p>
        </p:txBody>
      </p:sp>
      <p:pic>
        <p:nvPicPr>
          <p:cNvPr id="7" name="Picture 6" descr="image.png"/>
          <p:cNvPicPr>
            <a:picLocks noChangeAspect="1"/>
          </p:cNvPicPr>
          <p:nvPr/>
        </p:nvPicPr>
        <p:blipFill>
          <a:blip r:embed="rId3"/>
          <a:stretch>
            <a:fillRect/>
          </a:stretch>
        </p:blipFill>
        <p:spPr>
          <a:xfrm>
            <a:off x="502920" y="1747011"/>
            <a:ext cx="11064240" cy="2235818"/>
          </a:xfrm>
          <a:prstGeom prst="rect">
            <a:avLst/>
          </a:prstGeom>
        </p:spPr>
      </p:pic>
      <p:sp>
        <p:nvSpPr>
          <p:cNvPr id="8" name="原题文字_187_46"/>
          <p:cNvSpPr txBox="1"/>
          <p:nvPr/>
        </p:nvSpPr>
        <p:spPr>
          <a:xfrm>
            <a:off x="3182839" y="2238310"/>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C</a:t>
            </a:r>
          </a:p>
        </p:txBody>
      </p:sp>
      <p:sp>
        <p:nvSpPr>
          <p:cNvPr id="9" name="原题文字_187_47"/>
          <p:cNvSpPr txBox="1"/>
          <p:nvPr/>
        </p:nvSpPr>
        <p:spPr>
          <a:xfrm>
            <a:off x="1827566" y="2559900"/>
            <a:ext cx="269257"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1</a:t>
            </a:r>
          </a:p>
        </p:txBody>
      </p:sp>
      <p:sp>
        <p:nvSpPr>
          <p:cNvPr id="10" name="原题文字_187_48"/>
          <p:cNvSpPr txBox="1"/>
          <p:nvPr/>
        </p:nvSpPr>
        <p:spPr>
          <a:xfrm>
            <a:off x="2172127" y="3203081"/>
            <a:ext cx="238629"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B</a:t>
            </a:r>
          </a:p>
        </p:txBody>
      </p:sp>
      <p:sp>
        <p:nvSpPr>
          <p:cNvPr id="11" name="原题文字_187_49"/>
          <p:cNvSpPr txBox="1"/>
          <p:nvPr/>
        </p:nvSpPr>
        <p:spPr>
          <a:xfrm>
            <a:off x="3680539" y="3172454"/>
            <a:ext cx="460680"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一水</a:t>
            </a:r>
          </a:p>
        </p:txBody>
      </p:sp>
      <p:sp>
        <p:nvSpPr>
          <p:cNvPr id="12" name="原题文字_187_50"/>
          <p:cNvSpPr txBox="1"/>
          <p:nvPr/>
        </p:nvSpPr>
        <p:spPr>
          <a:xfrm>
            <a:off x="1077188" y="3409818"/>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A</a:t>
            </a:r>
          </a:p>
        </p:txBody>
      </p:sp>
      <p:sp>
        <p:nvSpPr>
          <p:cNvPr id="13" name="原题文字_187_51"/>
          <p:cNvSpPr txBox="1"/>
          <p:nvPr/>
        </p:nvSpPr>
        <p:spPr>
          <a:xfrm>
            <a:off x="571832" y="3647182"/>
            <a:ext cx="1486706" cy="378251"/>
          </a:xfrm>
          <a:prstGeom prst="rect">
            <a:avLst/>
          </a:prstGeom>
          <a:noFill/>
        </p:spPr>
        <p:txBody>
          <a:bodyPr wrap="none" lIns="0" rIns="0" tIns="0" bIns="0">
            <a:spAutoFit/>
          </a:bodyPr>
          <a:lstStyle/>
          <a:p>
            <a:pPr>
              <a:lnSpc>
                <a:spcPct val="112000"/>
              </a:lnSpc>
              <a:spcBef>
                <a:spcPts val="0"/>
              </a:spcBef>
              <a:spcAft>
                <a:spcPts val="0"/>
              </a:spcAft>
              <a:defRPr sz="1692" b="0">
                <a:solidFill>
                  <a:srgbClr val="333333"/>
                </a:solidFill>
                <a:latin typeface="微软雅黑"/>
              </a:defRPr>
            </a:pPr>
            <a:r>
              <a:rPr>
                <a:ea typeface="微软雅黑"/>
              </a:rPr>
              <a:t>填写下列空白：</a:t>
            </a:r>
          </a:p>
        </p:txBody>
      </p:sp>
      <p:sp>
        <p:nvSpPr>
          <p:cNvPr id="14" name="文字_(1) B中盛一定量的NaOH溶液，A中应预先加"/>
          <p:cNvSpPr txBox="1"/>
          <p:nvPr/>
        </p:nvSpPr>
        <p:spPr>
          <a:xfrm>
            <a:off x="502920" y="4055982"/>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(1) B中盛一定量的NaOH溶液，A中应预先加入的试剂是 ______ ，A 中反应的离子方程式是</a:t>
            </a:r>
          </a:p>
        </p:txBody>
      </p:sp>
      <p:sp>
        <p:nvSpPr>
          <p:cNvPr id="15" name="文字_(2) 实验开始时先将止水夹E ______ ("/>
          <p:cNvSpPr txBox="1"/>
          <p:nvPr/>
        </p:nvSpPr>
        <p:spPr>
          <a:xfrm>
            <a:off x="502920" y="4421742"/>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(2) 实验开始时先将止水夹E ______ (填“打开”或“关闭”)，C中收集到气体的主要成分 ______ O</a:t>
            </a:r>
          </a:p>
        </p:txBody>
      </p:sp>
      <p:pic>
        <p:nvPicPr>
          <p:cNvPr id="16" name="Picture 15" descr="image.png"/>
          <p:cNvPicPr>
            <a:picLocks noChangeAspect="1"/>
          </p:cNvPicPr>
          <p:nvPr/>
        </p:nvPicPr>
        <p:blipFill>
          <a:blip r:embed="rId4"/>
          <a:stretch>
            <a:fillRect/>
          </a:stretch>
        </p:blipFill>
        <p:spPr>
          <a:xfrm>
            <a:off x="502920" y="4787502"/>
            <a:ext cx="11064240" cy="834603"/>
          </a:xfrm>
          <a:prstGeom prst="rect">
            <a:avLst/>
          </a:prstGeom>
        </p:spPr>
      </p:pic>
      <p:sp>
        <p:nvSpPr>
          <p:cNvPr id="17" name="原题文字_187_59"/>
          <p:cNvSpPr txBox="1"/>
          <p:nvPr/>
        </p:nvSpPr>
        <p:spPr>
          <a:xfrm>
            <a:off x="556518" y="4834700"/>
            <a:ext cx="430052"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(3)</a:t>
            </a:r>
          </a:p>
        </p:txBody>
      </p:sp>
      <p:sp>
        <p:nvSpPr>
          <p:cNvPr id="18" name="原题文字_187_60"/>
          <p:cNvSpPr txBox="1"/>
          <p:nvPr/>
        </p:nvSpPr>
        <p:spPr>
          <a:xfrm>
            <a:off x="1107816" y="4819386"/>
            <a:ext cx="3010432" cy="378251"/>
          </a:xfrm>
          <a:prstGeom prst="rect">
            <a:avLst/>
          </a:prstGeom>
          <a:noFill/>
        </p:spPr>
        <p:txBody>
          <a:bodyPr wrap="none" lIns="0" rIns="0" tIns="0" bIns="0">
            <a:spAutoFit/>
          </a:bodyPr>
          <a:lstStyle/>
          <a:p>
            <a:pPr>
              <a:lnSpc>
                <a:spcPct val="112000"/>
              </a:lnSpc>
              <a:spcBef>
                <a:spcPts val="0"/>
              </a:spcBef>
              <a:spcAft>
                <a:spcPts val="0"/>
              </a:spcAft>
              <a:defRPr sz="1715" b="0">
                <a:solidFill>
                  <a:srgbClr val="333333"/>
                </a:solidFill>
                <a:latin typeface="微软雅黑"/>
              </a:defRPr>
            </a:pPr>
            <a:r>
              <a:rPr>
                <a:ea typeface="微软雅黑"/>
              </a:rPr>
              <a:t>简述生成Fe(OH)₂的操作过程：</a:t>
            </a:r>
          </a:p>
        </p:txBody>
      </p:sp>
      <p:sp>
        <p:nvSpPr>
          <p:cNvPr id="19" name="原题文字_187_61"/>
          <p:cNvSpPr txBox="1"/>
          <p:nvPr/>
        </p:nvSpPr>
        <p:spPr>
          <a:xfrm>
            <a:off x="4806105" y="4972524"/>
            <a:ext cx="162060" cy="159263"/>
          </a:xfrm>
          <a:prstGeom prst="rect">
            <a:avLst/>
          </a:prstGeom>
          <a:noFill/>
        </p:spPr>
        <p:txBody>
          <a:bodyPr wrap="none" lIns="0" rIns="0" tIns="0" bIns="0">
            <a:spAutoFit/>
          </a:bodyPr>
          <a:lstStyle/>
          <a:p>
            <a:pPr>
              <a:lnSpc>
                <a:spcPct val="112000"/>
              </a:lnSpc>
              <a:spcBef>
                <a:spcPts val="0"/>
              </a:spcBef>
              <a:spcAft>
                <a:spcPts val="0"/>
              </a:spcAft>
              <a:defRPr sz="771" b="0">
                <a:solidFill>
                  <a:srgbClr val="333333"/>
                </a:solidFill>
                <a:latin typeface="微软雅黑"/>
              </a:defRPr>
            </a:pPr>
            <a:r>
              <a:rPr>
                <a:ea typeface="微软雅黑"/>
              </a:rPr>
              <a:t>0</a:t>
            </a:r>
          </a:p>
        </p:txBody>
      </p:sp>
      <p:sp>
        <p:nvSpPr>
          <p:cNvPr id="20" name="原题文字_187_62"/>
          <p:cNvSpPr txBox="1"/>
          <p:nvPr/>
        </p:nvSpPr>
        <p:spPr>
          <a:xfrm>
            <a:off x="564175" y="5294115"/>
            <a:ext cx="414738"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(4)</a:t>
            </a:r>
          </a:p>
        </p:txBody>
      </p:sp>
      <p:sp>
        <p:nvSpPr>
          <p:cNvPr id="21" name="原题文字_187_63"/>
          <p:cNvSpPr txBox="1"/>
          <p:nvPr/>
        </p:nvSpPr>
        <p:spPr>
          <a:xfrm>
            <a:off x="1115473" y="5286458"/>
            <a:ext cx="644072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拔去装置B中的橡皮塞，使空气进入，写出有关反应的化学方程式：</a:t>
            </a:r>
          </a:p>
        </p:txBody>
      </p:sp>
      <p:sp>
        <p:nvSpPr>
          <p:cNvPr id="22" name="文字_(5)若直接向FeSO₄溶液中加入NaOH溶液，"/>
          <p:cNvSpPr txBox="1"/>
          <p:nvPr/>
        </p:nvSpPr>
        <p:spPr>
          <a:xfrm>
            <a:off x="502920" y="5695258"/>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(5)若直接向FeSO₄溶液中加入NaOH溶液，现象：</a:t>
            </a:r>
          </a:p>
        </p:txBody>
      </p:sp>
      <p:sp>
        <p:nvSpPr>
          <p:cNvPr id="23" name="文字_解答题  ·  09-02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09-027</a:t>
            </a:r>
          </a:p>
        </p:txBody>
      </p:sp>
      <p:sp>
        <p:nvSpPr>
          <p:cNvPr id="24" name="文字_3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例题1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例题12</a:t>
            </a:r>
          </a:p>
        </p:txBody>
      </p:sp>
      <p:sp>
        <p:nvSpPr>
          <p:cNvPr id="5" name="文字_P18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P188</a:t>
            </a:r>
          </a:p>
        </p:txBody>
      </p:sp>
      <p:sp>
        <p:nvSpPr>
          <p:cNvPr id="6" name="文字_氯化铁(FeCl₃)是一种易潮解、易升华的无机化"/>
          <p:cNvSpPr txBox="1"/>
          <p:nvPr/>
        </p:nvSpPr>
        <p:spPr>
          <a:xfrm>
            <a:off x="502920" y="1078992"/>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氯化铁(FeCl₃)是一种易潮解、易升华的无机化工产品。某同学在实验室通过制备氯气，并用干燥纯净的氯气与Fe反</a:t>
            </a:r>
          </a:p>
        </p:txBody>
      </p:sp>
      <p:pic>
        <p:nvPicPr>
          <p:cNvPr id="7" name="Picture 6" descr="image.png"/>
          <p:cNvPicPr>
            <a:picLocks noChangeAspect="1"/>
          </p:cNvPicPr>
          <p:nvPr/>
        </p:nvPicPr>
        <p:blipFill>
          <a:blip r:embed="rId3"/>
          <a:stretch>
            <a:fillRect/>
          </a:stretch>
        </p:blipFill>
        <p:spPr>
          <a:xfrm>
            <a:off x="502920" y="1353312"/>
            <a:ext cx="9492155" cy="2653862"/>
          </a:xfrm>
          <a:prstGeom prst="rect">
            <a:avLst/>
          </a:prstGeom>
        </p:spPr>
      </p:pic>
      <p:sp>
        <p:nvSpPr>
          <p:cNvPr id="8" name="原题文字_188_4"/>
          <p:cNvSpPr txBox="1"/>
          <p:nvPr/>
        </p:nvSpPr>
        <p:spPr>
          <a:xfrm>
            <a:off x="581747" y="1379756"/>
            <a:ext cx="4199881" cy="290348"/>
          </a:xfrm>
          <a:prstGeom prst="rect">
            <a:avLst/>
          </a:prstGeom>
          <a:noFill/>
        </p:spPr>
        <p:txBody>
          <a:bodyPr wrap="none" lIns="0" rIns="0" tIns="0" bIns="0">
            <a:spAutoFit/>
          </a:bodyPr>
          <a:lstStyle/>
          <a:p>
            <a:pPr>
              <a:lnSpc>
                <a:spcPct val="112000"/>
              </a:lnSpc>
              <a:spcBef>
                <a:spcPts val="0"/>
              </a:spcBef>
              <a:spcAft>
                <a:spcPts val="0"/>
              </a:spcAft>
              <a:defRPr sz="1406" b="0">
                <a:solidFill>
                  <a:srgbClr val="333333"/>
                </a:solidFill>
                <a:latin typeface="微软雅黑"/>
              </a:defRPr>
            </a:pPr>
            <a:r>
              <a:rPr>
                <a:ea typeface="微软雅黑"/>
              </a:rPr>
              <a:t>应制备FeCl₃，装置如图所示(部分夹持仪器已省略):</a:t>
            </a:r>
          </a:p>
        </p:txBody>
      </p:sp>
      <p:sp>
        <p:nvSpPr>
          <p:cNvPr id="9" name="原题文字_188_5"/>
          <p:cNvSpPr txBox="1"/>
          <p:nvPr/>
        </p:nvSpPr>
        <p:spPr>
          <a:xfrm>
            <a:off x="1711609" y="2187738"/>
            <a:ext cx="481846"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浓硫酸</a:t>
            </a:r>
          </a:p>
        </p:txBody>
      </p:sp>
      <p:sp>
        <p:nvSpPr>
          <p:cNvPr id="10" name="原题文字_188_6"/>
          <p:cNvSpPr txBox="1"/>
          <p:nvPr/>
        </p:nvSpPr>
        <p:spPr>
          <a:xfrm>
            <a:off x="3853092" y="2259997"/>
            <a:ext cx="468708" cy="239110"/>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细铁丝</a:t>
            </a:r>
          </a:p>
        </p:txBody>
      </p:sp>
      <p:sp>
        <p:nvSpPr>
          <p:cNvPr id="11" name="原题文字_188_7"/>
          <p:cNvSpPr txBox="1"/>
          <p:nvPr/>
        </p:nvSpPr>
        <p:spPr>
          <a:xfrm>
            <a:off x="3754557" y="2489911"/>
            <a:ext cx="875984" cy="239110"/>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x</a:t>
            </a:r>
          </a:p>
        </p:txBody>
      </p:sp>
      <p:sp>
        <p:nvSpPr>
          <p:cNvPr id="12" name="原题文字_188_8"/>
          <p:cNvSpPr txBox="1"/>
          <p:nvPr/>
        </p:nvSpPr>
        <p:spPr>
          <a:xfrm>
            <a:off x="5015799" y="2555600"/>
            <a:ext cx="186243" cy="196412"/>
          </a:xfrm>
          <a:prstGeom prst="rect">
            <a:avLst/>
          </a:prstGeom>
          <a:noFill/>
        </p:spPr>
        <p:txBody>
          <a:bodyPr wrap="none" lIns="0" rIns="0" tIns="0" bIns="0">
            <a:spAutoFit/>
          </a:bodyPr>
          <a:lstStyle/>
          <a:p>
            <a:pPr>
              <a:lnSpc>
                <a:spcPct val="112000"/>
              </a:lnSpc>
              <a:spcBef>
                <a:spcPts val="0"/>
              </a:spcBef>
              <a:spcAft>
                <a:spcPts val="0"/>
              </a:spcAft>
              <a:defRPr sz="951" b="0">
                <a:solidFill>
                  <a:srgbClr val="333333"/>
                </a:solidFill>
                <a:latin typeface="微软雅黑"/>
              </a:defRPr>
            </a:pPr>
            <a:r>
              <a:rPr>
                <a:ea typeface="微软雅黑"/>
              </a:rPr>
              <a:t>E</a:t>
            </a:r>
          </a:p>
        </p:txBody>
      </p:sp>
      <p:sp>
        <p:nvSpPr>
          <p:cNvPr id="13" name="原题文字_188_9"/>
          <p:cNvSpPr txBox="1"/>
          <p:nvPr/>
        </p:nvSpPr>
        <p:spPr>
          <a:xfrm>
            <a:off x="4161833" y="2831497"/>
            <a:ext cx="797157" cy="239110"/>
          </a:xfrm>
          <a:prstGeom prst="rect">
            <a:avLst/>
          </a:prstGeom>
          <a:noFill/>
        </p:spPr>
        <p:txBody>
          <a:bodyPr wrap="none" lIns="0" rIns="0" tIns="0" bIns="0">
            <a:spAutoFit/>
          </a:bodyPr>
          <a:lstStyle/>
          <a:p>
            <a:pPr>
              <a:lnSpc>
                <a:spcPct val="112000"/>
              </a:lnSpc>
              <a:spcBef>
                <a:spcPts val="0"/>
              </a:spcBef>
              <a:spcAft>
                <a:spcPts val="0"/>
              </a:spcAft>
              <a:defRPr sz="1041" b="0">
                <a:solidFill>
                  <a:srgbClr val="333333"/>
                </a:solidFill>
                <a:latin typeface="微软雅黑"/>
              </a:defRPr>
            </a:pPr>
            <a:r>
              <a:rPr>
                <a:ea typeface="微软雅黑"/>
              </a:rPr>
              <a:t>素烧瓷反应管</a:t>
            </a:r>
          </a:p>
        </p:txBody>
      </p:sp>
      <p:sp>
        <p:nvSpPr>
          <p:cNvPr id="14" name="原题文字_188_10"/>
          <p:cNvSpPr txBox="1"/>
          <p:nvPr/>
        </p:nvSpPr>
        <p:spPr>
          <a:xfrm>
            <a:off x="575178" y="2910324"/>
            <a:ext cx="573812" cy="239110"/>
          </a:xfrm>
          <a:prstGeom prst="rect">
            <a:avLst/>
          </a:prstGeom>
          <a:noFill/>
        </p:spPr>
        <p:txBody>
          <a:bodyPr wrap="none" lIns="0" rIns="0" tIns="0" bIns="0">
            <a:spAutoFit/>
          </a:bodyPr>
          <a:lstStyle/>
          <a:p>
            <a:pPr>
              <a:lnSpc>
                <a:spcPct val="112000"/>
              </a:lnSpc>
              <a:spcBef>
                <a:spcPts val="0"/>
              </a:spcBef>
              <a:spcAft>
                <a:spcPts val="0"/>
              </a:spcAft>
              <a:defRPr sz="1119" b="0">
                <a:solidFill>
                  <a:srgbClr val="333333"/>
                </a:solidFill>
                <a:latin typeface="微软雅黑"/>
              </a:defRPr>
            </a:pPr>
            <a:r>
              <a:rPr>
                <a:ea typeface="微软雅黑"/>
              </a:rPr>
              <a:t>三颈烧瓶</a:t>
            </a:r>
          </a:p>
        </p:txBody>
      </p:sp>
      <p:sp>
        <p:nvSpPr>
          <p:cNvPr id="15" name="原题文字_188_11"/>
          <p:cNvSpPr txBox="1"/>
          <p:nvPr/>
        </p:nvSpPr>
        <p:spPr>
          <a:xfrm>
            <a:off x="726264" y="3205928"/>
            <a:ext cx="350467" cy="230570"/>
          </a:xfrm>
          <a:prstGeom prst="rect">
            <a:avLst/>
          </a:prstGeom>
          <a:noFill/>
        </p:spPr>
        <p:txBody>
          <a:bodyPr wrap="none" lIns="0" rIns="0" tIns="0" bIns="0">
            <a:spAutoFit/>
          </a:bodyPr>
          <a:lstStyle/>
          <a:p>
            <a:pPr>
              <a:lnSpc>
                <a:spcPct val="112000"/>
              </a:lnSpc>
              <a:spcBef>
                <a:spcPts val="0"/>
              </a:spcBef>
              <a:spcAft>
                <a:spcPts val="0"/>
              </a:spcAft>
              <a:defRPr sz="1117" b="0">
                <a:solidFill>
                  <a:srgbClr val="333333"/>
                </a:solidFill>
                <a:latin typeface="微软雅黑"/>
              </a:defRPr>
            </a:pPr>
            <a:r>
              <a:rPr>
                <a:ea typeface="微软雅黑"/>
              </a:rPr>
              <a:t>NaCl</a:t>
            </a:r>
          </a:p>
        </p:txBody>
      </p:sp>
      <p:sp>
        <p:nvSpPr>
          <p:cNvPr id="16" name="原题文字_188_12"/>
          <p:cNvSpPr txBox="1"/>
          <p:nvPr/>
        </p:nvSpPr>
        <p:spPr>
          <a:xfrm>
            <a:off x="719695" y="3357014"/>
            <a:ext cx="389881" cy="256189"/>
          </a:xfrm>
          <a:prstGeom prst="rect">
            <a:avLst/>
          </a:prstGeom>
          <a:noFill/>
        </p:spPr>
        <p:txBody>
          <a:bodyPr wrap="none" lIns="0" rIns="0" tIns="0" bIns="0">
            <a:spAutoFit/>
          </a:bodyPr>
          <a:lstStyle/>
          <a:p>
            <a:pPr>
              <a:lnSpc>
                <a:spcPct val="112000"/>
              </a:lnSpc>
              <a:spcBef>
                <a:spcPts val="0"/>
              </a:spcBef>
              <a:spcAft>
                <a:spcPts val="0"/>
              </a:spcAft>
              <a:defRPr sz="992" b="0">
                <a:solidFill>
                  <a:srgbClr val="333333"/>
                </a:solidFill>
                <a:latin typeface="微软雅黑"/>
              </a:defRPr>
            </a:pPr>
            <a:r>
              <a:rPr>
                <a:ea typeface="微软雅黑"/>
              </a:rPr>
              <a:t>MnO₂</a:t>
            </a:r>
          </a:p>
        </p:txBody>
      </p:sp>
      <p:sp>
        <p:nvSpPr>
          <p:cNvPr id="17" name="原题文字_188_13"/>
          <p:cNvSpPr txBox="1"/>
          <p:nvPr/>
        </p:nvSpPr>
        <p:spPr>
          <a:xfrm>
            <a:off x="1218937" y="3396428"/>
            <a:ext cx="580381" cy="247650"/>
          </a:xfrm>
          <a:prstGeom prst="rect">
            <a:avLst/>
          </a:prstGeom>
          <a:noFill/>
        </p:spPr>
        <p:txBody>
          <a:bodyPr wrap="none" lIns="0" rIns="0" tIns="0" bIns="0">
            <a:spAutoFit/>
          </a:bodyPr>
          <a:lstStyle/>
          <a:p>
            <a:pPr>
              <a:lnSpc>
                <a:spcPct val="112000"/>
              </a:lnSpc>
              <a:spcBef>
                <a:spcPts val="0"/>
              </a:spcBef>
              <a:spcAft>
                <a:spcPts val="0"/>
              </a:spcAft>
              <a:defRPr sz="1124" b="0">
                <a:solidFill>
                  <a:srgbClr val="333333"/>
                </a:solidFill>
                <a:latin typeface="微软雅黑"/>
              </a:defRPr>
            </a:pPr>
            <a:r>
              <a:rPr>
                <a:ea typeface="微软雅黑"/>
              </a:rPr>
              <a:t>电热装置</a:t>
            </a:r>
          </a:p>
        </p:txBody>
      </p:sp>
      <p:sp>
        <p:nvSpPr>
          <p:cNvPr id="18" name="原题文字_188_14"/>
          <p:cNvSpPr txBox="1"/>
          <p:nvPr/>
        </p:nvSpPr>
        <p:spPr>
          <a:xfrm>
            <a:off x="1409437" y="3606635"/>
            <a:ext cx="146829" cy="162253"/>
          </a:xfrm>
          <a:prstGeom prst="rect">
            <a:avLst/>
          </a:prstGeom>
          <a:noFill/>
        </p:spPr>
        <p:txBody>
          <a:bodyPr wrap="none" lIns="0" rIns="0" tIns="0" bIns="0">
            <a:spAutoFit/>
          </a:bodyPr>
          <a:lstStyle/>
          <a:p>
            <a:pPr>
              <a:lnSpc>
                <a:spcPct val="112000"/>
              </a:lnSpc>
              <a:spcBef>
                <a:spcPts val="0"/>
              </a:spcBef>
              <a:spcAft>
                <a:spcPts val="0"/>
              </a:spcAft>
              <a:defRPr sz="786" b="0">
                <a:solidFill>
                  <a:srgbClr val="333333"/>
                </a:solidFill>
                <a:latin typeface="微软雅黑"/>
              </a:defRPr>
            </a:pPr>
            <a:r>
              <a:rPr>
                <a:ea typeface="微软雅黑"/>
              </a:rPr>
              <a:t>A</a:t>
            </a:r>
          </a:p>
        </p:txBody>
      </p:sp>
      <p:sp>
        <p:nvSpPr>
          <p:cNvPr id="19" name="原题文字_188_15"/>
          <p:cNvSpPr txBox="1"/>
          <p:nvPr/>
        </p:nvSpPr>
        <p:spPr>
          <a:xfrm>
            <a:off x="2368506" y="3600066"/>
            <a:ext cx="173105" cy="187872"/>
          </a:xfrm>
          <a:prstGeom prst="rect">
            <a:avLst/>
          </a:prstGeom>
          <a:noFill/>
        </p:spPr>
        <p:txBody>
          <a:bodyPr wrap="none" lIns="0" rIns="0" tIns="0" bIns="0">
            <a:spAutoFit/>
          </a:bodyPr>
          <a:lstStyle/>
          <a:p>
            <a:pPr>
              <a:lnSpc>
                <a:spcPct val="112000"/>
              </a:lnSpc>
              <a:spcBef>
                <a:spcPts val="0"/>
              </a:spcBef>
              <a:spcAft>
                <a:spcPts val="0"/>
              </a:spcAft>
              <a:defRPr sz="910" b="0">
                <a:solidFill>
                  <a:srgbClr val="333333"/>
                </a:solidFill>
                <a:latin typeface="微软雅黑"/>
              </a:defRPr>
            </a:pPr>
            <a:r>
              <a:rPr>
                <a:ea typeface="微软雅黑"/>
              </a:rPr>
              <a:t>B</a:t>
            </a:r>
          </a:p>
        </p:txBody>
      </p:sp>
      <p:sp>
        <p:nvSpPr>
          <p:cNvPr id="20" name="原题文字_188_16"/>
          <p:cNvSpPr txBox="1"/>
          <p:nvPr/>
        </p:nvSpPr>
        <p:spPr>
          <a:xfrm>
            <a:off x="3183057" y="3593497"/>
            <a:ext cx="179674" cy="196412"/>
          </a:xfrm>
          <a:prstGeom prst="rect">
            <a:avLst/>
          </a:prstGeom>
          <a:noFill/>
        </p:spPr>
        <p:txBody>
          <a:bodyPr wrap="none" lIns="0" rIns="0" tIns="0" bIns="0">
            <a:spAutoFit/>
          </a:bodyPr>
          <a:lstStyle/>
          <a:p>
            <a:pPr>
              <a:lnSpc>
                <a:spcPct val="112000"/>
              </a:lnSpc>
              <a:spcBef>
                <a:spcPts val="0"/>
              </a:spcBef>
              <a:spcAft>
                <a:spcPts val="0"/>
              </a:spcAft>
              <a:defRPr sz="951" b="0">
                <a:solidFill>
                  <a:srgbClr val="333333"/>
                </a:solidFill>
                <a:latin typeface="微软雅黑"/>
              </a:defRPr>
            </a:pPr>
            <a:r>
              <a:rPr>
                <a:ea typeface="微软雅黑"/>
              </a:rPr>
              <a:t>C</a:t>
            </a:r>
          </a:p>
        </p:txBody>
      </p:sp>
      <p:sp>
        <p:nvSpPr>
          <p:cNvPr id="21" name="原题文字_188_17"/>
          <p:cNvSpPr txBox="1"/>
          <p:nvPr/>
        </p:nvSpPr>
        <p:spPr>
          <a:xfrm>
            <a:off x="4004178" y="3600066"/>
            <a:ext cx="179674" cy="187872"/>
          </a:xfrm>
          <a:prstGeom prst="rect">
            <a:avLst/>
          </a:prstGeom>
          <a:noFill/>
        </p:spPr>
        <p:txBody>
          <a:bodyPr wrap="none" lIns="0" rIns="0" tIns="0" bIns="0">
            <a:spAutoFit/>
          </a:bodyPr>
          <a:lstStyle/>
          <a:p>
            <a:pPr>
              <a:lnSpc>
                <a:spcPct val="112000"/>
              </a:lnSpc>
              <a:spcBef>
                <a:spcPts val="0"/>
              </a:spcBef>
              <a:spcAft>
                <a:spcPts val="0"/>
              </a:spcAft>
              <a:defRPr sz="910" b="0">
                <a:solidFill>
                  <a:srgbClr val="333333"/>
                </a:solidFill>
                <a:latin typeface="微软雅黑"/>
              </a:defRPr>
            </a:pPr>
            <a:r>
              <a:rPr>
                <a:ea typeface="微软雅黑"/>
              </a:rPr>
              <a:t>D</a:t>
            </a:r>
          </a:p>
        </p:txBody>
      </p:sp>
      <p:sp>
        <p:nvSpPr>
          <p:cNvPr id="22" name="原题文字_188_18"/>
          <p:cNvSpPr txBox="1"/>
          <p:nvPr/>
        </p:nvSpPr>
        <p:spPr>
          <a:xfrm>
            <a:off x="581747" y="3738014"/>
            <a:ext cx="1263553" cy="298887"/>
          </a:xfrm>
          <a:prstGeom prst="rect">
            <a:avLst/>
          </a:prstGeom>
          <a:noFill/>
        </p:spPr>
        <p:txBody>
          <a:bodyPr wrap="none" lIns="0" rIns="0" tIns="0" bIns="0">
            <a:spAutoFit/>
          </a:bodyPr>
          <a:lstStyle/>
          <a:p>
            <a:pPr>
              <a:lnSpc>
                <a:spcPct val="112000"/>
              </a:lnSpc>
              <a:spcBef>
                <a:spcPts val="0"/>
              </a:spcBef>
              <a:spcAft>
                <a:spcPts val="0"/>
              </a:spcAft>
              <a:defRPr sz="1448" b="0">
                <a:solidFill>
                  <a:srgbClr val="333333"/>
                </a:solidFill>
                <a:latin typeface="微软雅黑"/>
              </a:defRPr>
            </a:pPr>
            <a:r>
              <a:rPr>
                <a:ea typeface="微软雅黑"/>
              </a:rPr>
              <a:t>回答下列问题:</a:t>
            </a:r>
          </a:p>
        </p:txBody>
      </p:sp>
      <p:sp>
        <p:nvSpPr>
          <p:cNvPr id="23" name="文字_(1)仪器a的名称是"/>
          <p:cNvSpPr txBox="1"/>
          <p:nvPr/>
        </p:nvSpPr>
        <p:spPr>
          <a:xfrm>
            <a:off x="502920" y="4080326"/>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(1)仪器a的名称是</a:t>
            </a:r>
          </a:p>
        </p:txBody>
      </p:sp>
      <p:sp>
        <p:nvSpPr>
          <p:cNvPr id="24" name="文字_(2)写出三颈烧瓶中反应的化学方程式"/>
          <p:cNvSpPr txBox="1"/>
          <p:nvPr/>
        </p:nvSpPr>
        <p:spPr>
          <a:xfrm>
            <a:off x="502920" y="4354646"/>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(2)写出三颈烧瓶中反应的化学方程式</a:t>
            </a:r>
          </a:p>
        </p:txBody>
      </p:sp>
      <p:sp>
        <p:nvSpPr>
          <p:cNvPr id="25" name="文字_(3)实验开始前需要通入一段时间N₂，其目的是 "/>
          <p:cNvSpPr txBox="1"/>
          <p:nvPr/>
        </p:nvSpPr>
        <p:spPr>
          <a:xfrm>
            <a:off x="502920" y="4628966"/>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(3)实验开始前需要通入一段时间N₂，其目的是 ______ O</a:t>
            </a:r>
          </a:p>
        </p:txBody>
      </p:sp>
      <p:sp>
        <p:nvSpPr>
          <p:cNvPr id="26" name="文字_(4)装置B、C盛放的试剂依次是 ______ "/>
          <p:cNvSpPr txBox="1"/>
          <p:nvPr/>
        </p:nvSpPr>
        <p:spPr>
          <a:xfrm>
            <a:off x="502920" y="4903286"/>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(4)装置B、C盛放的试剂依次是 ______ O</a:t>
            </a:r>
          </a:p>
        </p:txBody>
      </p:sp>
      <p:sp>
        <p:nvSpPr>
          <p:cNvPr id="27" name="文字_(5)选择下面合适的试剂 ______ (填字母"/>
          <p:cNvSpPr txBox="1"/>
          <p:nvPr/>
        </p:nvSpPr>
        <p:spPr>
          <a:xfrm>
            <a:off x="502920" y="5177606"/>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(5)选择下面合适的试剂 ______ (填字母)放入装置F中。去掉装置F，会造成的后果是</a:t>
            </a:r>
          </a:p>
        </p:txBody>
      </p:sp>
      <p:sp>
        <p:nvSpPr>
          <p:cNvPr id="28" name="文字_A. 浓硫酸"/>
          <p:cNvSpPr txBox="1"/>
          <p:nvPr/>
        </p:nvSpPr>
        <p:spPr>
          <a:xfrm>
            <a:off x="502920" y="5451926"/>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A. 浓硫酸</a:t>
            </a:r>
          </a:p>
        </p:txBody>
      </p:sp>
      <p:sp>
        <p:nvSpPr>
          <p:cNvPr id="29" name="文字_B. CaCl₂"/>
          <p:cNvSpPr txBox="1"/>
          <p:nvPr/>
        </p:nvSpPr>
        <p:spPr>
          <a:xfrm>
            <a:off x="502920" y="5726246"/>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B. CaCl₂</a:t>
            </a:r>
          </a:p>
        </p:txBody>
      </p:sp>
      <p:sp>
        <p:nvSpPr>
          <p:cNvPr id="30" name="文字_C. 无水硫酸铜 D. 碱石灰"/>
          <p:cNvSpPr txBox="1"/>
          <p:nvPr/>
        </p:nvSpPr>
        <p:spPr>
          <a:xfrm>
            <a:off x="502920" y="6000566"/>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C. 无水硫酸铜 D. 碱石灰</a:t>
            </a:r>
          </a:p>
        </p:txBody>
      </p:sp>
      <p:sp>
        <p:nvSpPr>
          <p:cNvPr id="31" name="文字_解答题  ·  09-02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09-028</a:t>
            </a:r>
          </a:p>
        </p:txBody>
      </p:sp>
      <p:sp>
        <p:nvSpPr>
          <p:cNvPr id="32" name="文字_4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变式1</a:t>
            </a:r>
          </a:p>
        </p:txBody>
      </p:sp>
      <p:sp>
        <p:nvSpPr>
          <p:cNvPr id="5" name="文字_P18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P188</a:t>
            </a:r>
          </a:p>
        </p:txBody>
      </p:sp>
      <p:sp>
        <p:nvSpPr>
          <p:cNvPr id="6" name="文字_下列有关铁、铁矿石与铁的氧化物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下列有关铁、铁矿石与铁的氧化物的说法正确的是（）</a:t>
            </a:r>
          </a:p>
        </p:txBody>
      </p:sp>
      <p:sp>
        <p:nvSpPr>
          <p:cNvPr id="7" name="文字_A. FeO、Fe₃O₄、Fe₂O₃都能与稀H₂"/>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FeO、Fe₃O₄、Fe₂O₃都能与稀H₂SO₄反应生成盐和水，所以都是碱性氧化物</a:t>
            </a:r>
          </a:p>
        </p:txBody>
      </p:sp>
      <p:sp>
        <p:nvSpPr>
          <p:cNvPr id="8" name="文字_B. FeO不稳定，空气中受热易转化为Fe₃O₄"/>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FeO不稳定，空气中受热易转化为Fe₃O₄</a:t>
            </a:r>
          </a:p>
        </p:txBody>
      </p:sp>
      <p:sp>
        <p:nvSpPr>
          <p:cNvPr id="9" name="文字_C. Fe和水蒸气在高温条件下的反应产物是Fe₃"/>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Fe和水蒸气在高温条件下的反应产物是Fe₃O₄和H₂</a:t>
            </a:r>
          </a:p>
        </p:txBody>
      </p:sp>
      <p:sp>
        <p:nvSpPr>
          <p:cNvPr id="10" name="文字_D. 在自然界中，不可能有游离态的铁存在"/>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在自然界中，不可能有游离态的铁存在</a:t>
            </a:r>
          </a:p>
        </p:txBody>
      </p:sp>
      <p:sp>
        <p:nvSpPr>
          <p:cNvPr id="11" name="文字_单选题  ·  09-02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09-029</a:t>
            </a:r>
          </a:p>
        </p:txBody>
      </p:sp>
      <p:sp>
        <p:nvSpPr>
          <p:cNvPr id="12" name="文字_4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变式2</a:t>
            </a:r>
          </a:p>
        </p:txBody>
      </p:sp>
      <p:sp>
        <p:nvSpPr>
          <p:cNvPr id="5" name="文字_P18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P188</a:t>
            </a:r>
          </a:p>
        </p:txBody>
      </p:sp>
      <p:sp>
        <p:nvSpPr>
          <p:cNvPr id="6" name="文字_在中学化学中经常提到的铁的氧化物有FeO、Fe₂"/>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在中学化学中经常提到的铁的氧化物有FeO、Fe₂O₃和Fe₃O₄，在一定条件下它</a:t>
            </a:r>
          </a:p>
          <a:p>
            <a:pPr>
              <a:lnSpc>
                <a:spcPct val="112000"/>
              </a:lnSpc>
              <a:spcBef>
                <a:spcPts val="0"/>
              </a:spcBef>
              <a:spcAft>
                <a:spcPts val="0"/>
              </a:spcAft>
              <a:defRPr sz="2400" b="0">
                <a:solidFill>
                  <a:srgbClr val="333333"/>
                </a:solidFill>
                <a:latin typeface="微软雅黑"/>
              </a:defRPr>
            </a:pPr>
            <a:r>
              <a:rPr>
                <a:ea typeface="微软雅黑"/>
              </a:rPr>
              <a:t>们之间可以相互转化，如：在超过1400C的温度下加热Fe₂O₃时，Fe₂O₃会部分</a:t>
            </a:r>
          </a:p>
          <a:p>
            <a:pPr>
              <a:lnSpc>
                <a:spcPct val="112000"/>
              </a:lnSpc>
              <a:spcBef>
                <a:spcPts val="0"/>
              </a:spcBef>
              <a:spcAft>
                <a:spcPts val="0"/>
              </a:spcAft>
              <a:defRPr sz="2400" b="0">
                <a:solidFill>
                  <a:srgbClr val="333333"/>
                </a:solidFill>
                <a:latin typeface="微软雅黑"/>
              </a:defRPr>
            </a:pPr>
            <a:r>
              <a:rPr>
                <a:ea typeface="微软雅黑"/>
              </a:rPr>
              <a:t>失去氧，生成Fe₃O₄。下列有关说法错误的是</a:t>
            </a:r>
          </a:p>
        </p:txBody>
      </p:sp>
      <p:sp>
        <p:nvSpPr>
          <p:cNvPr id="7" name="文字_A. 热稳定性： Fe₃O₄&gt;Fe₂O₃"/>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热稳定性： Fe₃O₄&gt;Fe₂O₃</a:t>
            </a:r>
          </a:p>
        </p:txBody>
      </p:sp>
      <p:sp>
        <p:nvSpPr>
          <p:cNvPr id="8" name="文字_B. Fe₂O₃俗称铁红，可作油漆的红色颜料"/>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Fe₂O₃俗称铁红，可作油漆的红色颜料</a:t>
            </a:r>
          </a:p>
        </p:txBody>
      </p:sp>
      <p:sp>
        <p:nvSpPr>
          <p:cNvPr id="9" name="文字_C. Fe₃O₄为黑色固体，其中+2价铁与+3价"/>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Fe₃O₄为黑色固体，其中+2价铁与+3价铁的物质的量之比为1：2</a:t>
            </a:r>
          </a:p>
        </p:txBody>
      </p:sp>
      <p:sp>
        <p:nvSpPr>
          <p:cNvPr id="10" name="文字_D. 由FeO、Fe₂O₃和Fe₃O₄组成的混合"/>
          <p:cNvSpPr txBox="1"/>
          <p:nvPr/>
        </p:nvSpPr>
        <p:spPr>
          <a:xfrm>
            <a:off x="502920" y="356006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由FeO、Fe₂O₃和Fe₃O₄组成的混合物中，铁元素与氧元素的质量比可能为7</a:t>
            </a:r>
          </a:p>
          <a:p>
            <a:pPr>
              <a:lnSpc>
                <a:spcPct val="112000"/>
              </a:lnSpc>
              <a:spcBef>
                <a:spcPts val="0"/>
              </a:spcBef>
              <a:spcAft>
                <a:spcPts val="0"/>
              </a:spcAft>
              <a:defRPr sz="2400" b="0">
                <a:solidFill>
                  <a:srgbClr val="333333"/>
                </a:solidFill>
                <a:latin typeface="微软雅黑"/>
              </a:defRPr>
            </a:pPr>
            <a:r>
              <a:rPr>
                <a:ea typeface="微软雅黑"/>
              </a:rPr>
              <a:t>：3</a:t>
            </a:r>
          </a:p>
        </p:txBody>
      </p:sp>
      <p:sp>
        <p:nvSpPr>
          <p:cNvPr id="11" name="文字_单选题  ·  09-03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09-030</a:t>
            </a:r>
          </a:p>
        </p:txBody>
      </p:sp>
      <p:sp>
        <p:nvSpPr>
          <p:cNvPr id="12" name="文字_4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变式3</a:t>
            </a:r>
          </a:p>
        </p:txBody>
      </p:sp>
      <p:sp>
        <p:nvSpPr>
          <p:cNvPr id="5" name="文字_P18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P189</a:t>
            </a:r>
          </a:p>
        </p:txBody>
      </p:sp>
      <p:sp>
        <p:nvSpPr>
          <p:cNvPr id="6" name="文字_下列各项物质间的转化不能通过反应一步完成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下列各项物质间的转化不能通过反应一步完成的是</a:t>
            </a:r>
          </a:p>
        </p:txBody>
      </p:sp>
      <p:sp>
        <p:nvSpPr>
          <p:cNvPr id="7" name="文字_A. Fe → Fe₃O₄"/>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 → Fe₃O₄</a:t>
            </a:r>
          </a:p>
        </p:txBody>
      </p:sp>
      <p:sp>
        <p:nvSpPr>
          <p:cNvPr id="8" name="文字_B. Fe → FeCl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 → FeCl₃</a:t>
            </a:r>
          </a:p>
        </p:txBody>
      </p:sp>
      <p:sp>
        <p:nvSpPr>
          <p:cNvPr id="9" name="文字_C. Fe → FeCl₂"/>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 → FeCl₂</a:t>
            </a:r>
          </a:p>
        </p:txBody>
      </p:sp>
      <p:sp>
        <p:nvSpPr>
          <p:cNvPr id="10" name="文字_D. Fe → Fe(OH)3"/>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 → Fe(OH)3</a:t>
            </a:r>
          </a:p>
        </p:txBody>
      </p:sp>
      <p:sp>
        <p:nvSpPr>
          <p:cNvPr id="11" name="文字_单选题  ·  09-03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09-031</a:t>
            </a:r>
          </a:p>
        </p:txBody>
      </p:sp>
      <p:sp>
        <p:nvSpPr>
          <p:cNvPr id="12" name="文字_4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变式4</a:t>
            </a:r>
          </a:p>
        </p:txBody>
      </p:sp>
      <p:sp>
        <p:nvSpPr>
          <p:cNvPr id="5" name="文字_P18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P189</a:t>
            </a:r>
          </a:p>
        </p:txBody>
      </p:sp>
      <p:sp>
        <p:nvSpPr>
          <p:cNvPr id="6" name="文字_价类二维图是学习元素及其化合物知识的重要模型。铁"/>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价类二维图是学习元素及其化合物知识的重要模型。铁元素的价类二维图如图，下</a:t>
            </a:r>
          </a:p>
          <a:p>
            <a:pPr>
              <a:lnSpc>
                <a:spcPct val="112000"/>
              </a:lnSpc>
              <a:spcBef>
                <a:spcPts val="0"/>
              </a:spcBef>
              <a:spcAft>
                <a:spcPts val="0"/>
              </a:spcAft>
              <a:defRPr sz="2400" b="0">
                <a:solidFill>
                  <a:srgbClr val="333333"/>
                </a:solidFill>
                <a:latin typeface="微软雅黑"/>
              </a:defRPr>
            </a:pPr>
            <a:r>
              <a:rPr>
                <a:ea typeface="微软雅黑"/>
              </a:rPr>
              <a:t>列有关说法不正确的是</a:t>
            </a:r>
          </a:p>
        </p:txBody>
      </p:sp>
      <p:pic>
        <p:nvPicPr>
          <p:cNvPr id="7" name="Picture 6" descr="image.png"/>
          <p:cNvPicPr>
            <a:picLocks noChangeAspect="1"/>
          </p:cNvPicPr>
          <p:nvPr/>
        </p:nvPicPr>
        <p:blipFill>
          <a:blip r:embed="rId3"/>
          <a:stretch>
            <a:fillRect/>
          </a:stretch>
        </p:blipFill>
        <p:spPr>
          <a:xfrm>
            <a:off x="502920" y="1880616"/>
            <a:ext cx="11064240" cy="2595693"/>
          </a:xfrm>
          <a:prstGeom prst="rect">
            <a:avLst/>
          </a:prstGeom>
        </p:spPr>
      </p:pic>
      <p:sp>
        <p:nvSpPr>
          <p:cNvPr id="8" name="原题文字_189_12"/>
          <p:cNvSpPr txBox="1"/>
          <p:nvPr/>
        </p:nvSpPr>
        <p:spPr>
          <a:xfrm>
            <a:off x="579489" y="1912499"/>
            <a:ext cx="391768" cy="1065076"/>
          </a:xfrm>
          <a:prstGeom prst="rect">
            <a:avLst/>
          </a:prstGeom>
          <a:noFill/>
        </p:spPr>
        <p:txBody>
          <a:bodyPr wrap="none" lIns="0" rIns="0" tIns="0" bIns="0">
            <a:spAutoFit/>
          </a:bodyPr>
          <a:lstStyle/>
          <a:p>
            <a:pPr>
              <a:lnSpc>
                <a:spcPct val="112000"/>
              </a:lnSpc>
              <a:spcBef>
                <a:spcPts val="0"/>
              </a:spcBef>
              <a:spcAft>
                <a:spcPts val="0"/>
              </a:spcAft>
              <a:defRPr sz="3406" b="0">
                <a:solidFill>
                  <a:srgbClr val="333333"/>
                </a:solidFill>
                <a:latin typeface="微软雅黑"/>
              </a:defRPr>
            </a:pPr>
            <a:r>
              <a:rPr>
                <a:ea typeface="微软雅黑"/>
              </a:rPr>
              <a:t>化合价</a:t>
            </a:r>
          </a:p>
        </p:txBody>
      </p:sp>
      <p:sp>
        <p:nvSpPr>
          <p:cNvPr id="9" name="原题文字_189_13"/>
          <p:cNvSpPr txBox="1"/>
          <p:nvPr/>
        </p:nvSpPr>
        <p:spPr>
          <a:xfrm>
            <a:off x="870451" y="2157520"/>
            <a:ext cx="399425"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+6</a:t>
            </a:r>
          </a:p>
        </p:txBody>
      </p:sp>
      <p:sp>
        <p:nvSpPr>
          <p:cNvPr id="10" name="原题文字_189_14"/>
          <p:cNvSpPr txBox="1"/>
          <p:nvPr/>
        </p:nvSpPr>
        <p:spPr>
          <a:xfrm>
            <a:off x="870451" y="2907898"/>
            <a:ext cx="38411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+3</a:t>
            </a:r>
          </a:p>
        </p:txBody>
      </p:sp>
      <p:sp>
        <p:nvSpPr>
          <p:cNvPr id="11" name="原题文字_189_15"/>
          <p:cNvSpPr txBox="1"/>
          <p:nvPr/>
        </p:nvSpPr>
        <p:spPr>
          <a:xfrm>
            <a:off x="862794" y="3183547"/>
            <a:ext cx="391768"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+2</a:t>
            </a:r>
          </a:p>
        </p:txBody>
      </p:sp>
      <p:sp>
        <p:nvSpPr>
          <p:cNvPr id="12" name="原题文字_189_16"/>
          <p:cNvSpPr txBox="1"/>
          <p:nvPr/>
        </p:nvSpPr>
        <p:spPr>
          <a:xfrm>
            <a:off x="1008276" y="3665932"/>
            <a:ext cx="246286"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0</a:t>
            </a:r>
          </a:p>
        </p:txBody>
      </p:sp>
      <p:sp>
        <p:nvSpPr>
          <p:cNvPr id="13" name="原题文字_189_17"/>
          <p:cNvSpPr txBox="1"/>
          <p:nvPr/>
        </p:nvSpPr>
        <p:spPr>
          <a:xfrm>
            <a:off x="1322209" y="3819071"/>
            <a:ext cx="1900180"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单质氧化物盐</a:t>
            </a:r>
          </a:p>
        </p:txBody>
      </p:sp>
      <p:sp>
        <p:nvSpPr>
          <p:cNvPr id="14" name="原题文字_189_18"/>
          <p:cNvSpPr txBox="1"/>
          <p:nvPr/>
        </p:nvSpPr>
        <p:spPr>
          <a:xfrm>
            <a:off x="3527400" y="3865012"/>
            <a:ext cx="40708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碱</a:t>
            </a:r>
          </a:p>
        </p:txBody>
      </p:sp>
      <p:sp>
        <p:nvSpPr>
          <p:cNvPr id="15" name="原题文字_189_19"/>
          <p:cNvSpPr txBox="1"/>
          <p:nvPr/>
        </p:nvSpPr>
        <p:spPr>
          <a:xfrm>
            <a:off x="3902589" y="3849698"/>
            <a:ext cx="705701"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类别</a:t>
            </a:r>
          </a:p>
        </p:txBody>
      </p:sp>
      <p:sp>
        <p:nvSpPr>
          <p:cNvPr id="16" name="原题文字_189_20"/>
          <p:cNvSpPr txBox="1"/>
          <p:nvPr/>
        </p:nvSpPr>
        <p:spPr>
          <a:xfrm>
            <a:off x="594802" y="4186603"/>
            <a:ext cx="265055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 a能导电，能被磁体吸引</a:t>
            </a:r>
          </a:p>
        </p:txBody>
      </p:sp>
      <p:sp>
        <p:nvSpPr>
          <p:cNvPr id="17" name="文字_B. 物质c可以用于制备油漆的成分"/>
          <p:cNvSpPr txBox="1"/>
          <p:nvPr/>
        </p:nvSpPr>
        <p:spPr>
          <a:xfrm>
            <a:off x="502920" y="454946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物质c可以用于制备油漆的成分</a:t>
            </a:r>
          </a:p>
        </p:txBody>
      </p:sp>
      <p:sp>
        <p:nvSpPr>
          <p:cNvPr id="18" name="文字_C. e转化为f需加入氧化剂"/>
          <p:cNvSpPr txBox="1"/>
          <p:nvPr/>
        </p:nvSpPr>
        <p:spPr>
          <a:xfrm>
            <a:off x="502920" y="498837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e转化为f需加入氧化剂</a:t>
            </a:r>
          </a:p>
        </p:txBody>
      </p:sp>
      <p:sp>
        <p:nvSpPr>
          <p:cNvPr id="19" name="文字_D. 制备b可以用g在空气中加热分解"/>
          <p:cNvSpPr txBox="1"/>
          <p:nvPr/>
        </p:nvSpPr>
        <p:spPr>
          <a:xfrm>
            <a:off x="502920" y="542728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制备b可以用g在空气中加热分解</a:t>
            </a:r>
          </a:p>
        </p:txBody>
      </p:sp>
      <p:sp>
        <p:nvSpPr>
          <p:cNvPr id="20" name="文字_单选题  ·  09-03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09-032</a:t>
            </a:r>
          </a:p>
        </p:txBody>
      </p:sp>
      <p:sp>
        <p:nvSpPr>
          <p:cNvPr id="21" name="文字_4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变式5</a:t>
            </a:r>
          </a:p>
        </p:txBody>
      </p:sp>
      <p:sp>
        <p:nvSpPr>
          <p:cNvPr id="5" name="文字_P18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P189</a:t>
            </a:r>
          </a:p>
        </p:txBody>
      </p:sp>
      <p:sp>
        <p:nvSpPr>
          <p:cNvPr id="6" name="文字_将铁屑溶于过量的稀盐酸后加入过量的NaOH溶液，"/>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将铁屑溶于过量的稀盐酸后加入过量的NaOH溶液，有白色沉淀生成，过滤，在空</a:t>
            </a:r>
          </a:p>
          <a:p>
            <a:pPr>
              <a:lnSpc>
                <a:spcPct val="112000"/>
              </a:lnSpc>
              <a:spcBef>
                <a:spcPts val="0"/>
              </a:spcBef>
              <a:spcAft>
                <a:spcPts val="0"/>
              </a:spcAft>
              <a:defRPr sz="2400" b="0">
                <a:solidFill>
                  <a:srgbClr val="333333"/>
                </a:solidFill>
                <a:latin typeface="微软雅黑"/>
              </a:defRPr>
            </a:pPr>
            <a:r>
              <a:rPr>
                <a:ea typeface="微软雅黑"/>
              </a:rPr>
              <a:t>气中加热至沉淀质量不再发生变化为止，得到红棕色残渣。上述沉淀和残渣分别是</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7" name="文字_A. Fe(OH)₃; Fe₂O₃"/>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Fe(OH)₃; Fe₂O₃</a:t>
            </a:r>
          </a:p>
        </p:txBody>
      </p:sp>
      <p:sp>
        <p:nvSpPr>
          <p:cNvPr id="8" name="文字_B. Fe(OH)₂; Fe₂O₃"/>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Fe(OH)₂; Fe₂O₃</a:t>
            </a:r>
          </a:p>
        </p:txBody>
      </p:sp>
      <p:sp>
        <p:nvSpPr>
          <p:cNvPr id="9" name="文字_C. Fe(OH)₂; Fe₃O₄"/>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Fe(OH)₂; Fe₃O₄</a:t>
            </a:r>
          </a:p>
        </p:txBody>
      </p:sp>
      <p:sp>
        <p:nvSpPr>
          <p:cNvPr id="10" name="文字_D. Fe(OH)₃; Fe₃O₄"/>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Fe(OH)₃; Fe₃O₄</a:t>
            </a:r>
          </a:p>
        </p:txBody>
      </p:sp>
      <p:sp>
        <p:nvSpPr>
          <p:cNvPr id="11" name="文字_单选题  ·  09-03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09-033</a:t>
            </a:r>
          </a:p>
        </p:txBody>
      </p:sp>
      <p:sp>
        <p:nvSpPr>
          <p:cNvPr id="12" name="文字_4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变式6</a:t>
            </a:r>
          </a:p>
        </p:txBody>
      </p:sp>
      <p:sp>
        <p:nvSpPr>
          <p:cNvPr id="5" name="文字_P18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P189</a:t>
            </a:r>
          </a:p>
        </p:txBody>
      </p:sp>
      <p:sp>
        <p:nvSpPr>
          <p:cNvPr id="6" name="文字_在给定条件下，下列选项所示的物质间转化均能实现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在给定条件下，下列选项所示的物质间转化均能实现的是</a:t>
            </a:r>
          </a:p>
        </p:txBody>
      </p:sp>
      <p:sp>
        <p:nvSpPr>
          <p:cNvPr id="7" name="文字_MnO₂ 石灰乳"/>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MnO₂ 石灰乳</a:t>
            </a:r>
          </a:p>
        </p:txBody>
      </p:sp>
      <p:sp>
        <p:nvSpPr>
          <p:cNvPr id="8" name="文字_A. 稀盐酸 →Cl₂ →漂白粉"/>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稀盐酸 →Cl₂ →漂白粉</a:t>
            </a:r>
          </a:p>
        </p:txBody>
      </p:sp>
      <p:sp>
        <p:nvSpPr>
          <p:cNvPr id="9" name="文字_B. Na₂Na₂O₂CO₂"/>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Na₂Na₂O₂CO₂</a:t>
            </a:r>
          </a:p>
        </p:txBody>
      </p:sp>
      <p:sp>
        <p:nvSpPr>
          <p:cNvPr id="10" name="文字_Na₂CO₃"/>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Na₂CO₃</a:t>
            </a:r>
          </a:p>
        </p:txBody>
      </p:sp>
      <p:sp>
        <p:nvSpPr>
          <p:cNvPr id="11" name="文字_CO₂ ______ HCl"/>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CO₂ ______ HCl</a:t>
            </a:r>
          </a:p>
        </p:txBody>
      </p:sp>
      <p:sp>
        <p:nvSpPr>
          <p:cNvPr id="12" name="文字_C. CaCl₂ ②CaCO₃→CO₂"/>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CaCl₂ ②CaCO₃→CO₂</a:t>
            </a:r>
          </a:p>
        </p:txBody>
      </p:sp>
      <p:sp>
        <p:nvSpPr>
          <p:cNvPr id="13" name="文字_D. Fe₂FeCl₂ (s)Cl₂ _____"/>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Fe₂FeCl₂ (s)Cl₂ ______ NaOH</a:t>
            </a:r>
          </a:p>
        </p:txBody>
      </p:sp>
      <p:sp>
        <p:nvSpPr>
          <p:cNvPr id="14" name="文字_→Fe(OH)2"/>
          <p:cNvSpPr txBox="1"/>
          <p:nvPr/>
        </p:nvSpPr>
        <p:spPr>
          <a:xfrm>
            <a:off x="502920" y="45902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→Fe(OH)2</a:t>
            </a:r>
          </a:p>
        </p:txBody>
      </p:sp>
      <p:sp>
        <p:nvSpPr>
          <p:cNvPr id="15" name="文字_单选题  ·  09-03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09-034</a:t>
            </a:r>
          </a:p>
        </p:txBody>
      </p:sp>
      <p:sp>
        <p:nvSpPr>
          <p:cNvPr id="16" name="文字_4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变式7</a:t>
            </a:r>
          </a:p>
        </p:txBody>
      </p:sp>
      <p:sp>
        <p:nvSpPr>
          <p:cNvPr id="5" name="文字_P18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P189</a:t>
            </a:r>
          </a:p>
        </p:txBody>
      </p:sp>
      <p:sp>
        <p:nvSpPr>
          <p:cNvPr id="6" name="文字_将Na₂O₂投入FeCl₃溶液中，可观察到的实验"/>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将Na₂O₂投入FeCl₃溶液中，可观察到的实验现象是</a:t>
            </a:r>
          </a:p>
        </p:txBody>
      </p:sp>
      <p:sp>
        <p:nvSpPr>
          <p:cNvPr id="7" name="文字_A. 有白色沉淀生成"/>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有白色沉淀生成</a:t>
            </a:r>
          </a:p>
        </p:txBody>
      </p:sp>
      <p:sp>
        <p:nvSpPr>
          <p:cNvPr id="8" name="文字_B. 有红棕色沉淀生成"/>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有红棕色沉淀生成</a:t>
            </a:r>
          </a:p>
        </p:txBody>
      </p:sp>
      <p:sp>
        <p:nvSpPr>
          <p:cNvPr id="9" name="文字_C. 没有沉淀生成"/>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没有沉淀生成</a:t>
            </a:r>
          </a:p>
        </p:txBody>
      </p:sp>
      <p:sp>
        <p:nvSpPr>
          <p:cNvPr id="10" name="文字_D. 既有红褐色沉淀生成又有无色气体产生"/>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既有红褐色沉淀生成又有无色气体产生</a:t>
            </a:r>
          </a:p>
        </p:txBody>
      </p:sp>
      <p:sp>
        <p:nvSpPr>
          <p:cNvPr id="11" name="文字_单选题  ·  09-03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09-035</a:t>
            </a:r>
          </a:p>
        </p:txBody>
      </p:sp>
      <p:sp>
        <p:nvSpPr>
          <p:cNvPr id="12" name="文字_4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变式8</a:t>
            </a:r>
          </a:p>
        </p:txBody>
      </p:sp>
      <p:sp>
        <p:nvSpPr>
          <p:cNvPr id="5" name="文字_P19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P190</a:t>
            </a:r>
          </a:p>
        </p:txBody>
      </p:sp>
      <p:sp>
        <p:nvSpPr>
          <p:cNvPr id="6" name="文字_某小组利用如图装置较长时间观察到了白色Fe(OH"/>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某小组利用如图装置较长时间观察到了白色Fe(OH)₂沉淀。下列说法不正确的是</a:t>
            </a:r>
          </a:p>
        </p:txBody>
      </p:sp>
      <p:pic>
        <p:nvPicPr>
          <p:cNvPr id="7" name="Picture 6" descr="image.png"/>
          <p:cNvPicPr>
            <a:picLocks noChangeAspect="1"/>
          </p:cNvPicPr>
          <p:nvPr/>
        </p:nvPicPr>
        <p:blipFill>
          <a:blip r:embed="rId3"/>
          <a:stretch>
            <a:fillRect/>
          </a:stretch>
        </p:blipFill>
        <p:spPr>
          <a:xfrm>
            <a:off x="502920" y="1517904"/>
            <a:ext cx="11064240" cy="2396613"/>
          </a:xfrm>
          <a:prstGeom prst="rect">
            <a:avLst/>
          </a:prstGeom>
        </p:spPr>
      </p:pic>
      <p:sp>
        <p:nvSpPr>
          <p:cNvPr id="8" name="原题文字_190_4"/>
          <p:cNvSpPr txBox="1"/>
          <p:nvPr/>
        </p:nvSpPr>
        <p:spPr>
          <a:xfrm>
            <a:off x="587146" y="1618699"/>
            <a:ext cx="386035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连接好装置后，需检查装置的气密性</a:t>
            </a:r>
          </a:p>
        </p:txBody>
      </p:sp>
      <p:sp>
        <p:nvSpPr>
          <p:cNvPr id="9" name="原题文字_190_5"/>
          <p:cNvSpPr txBox="1"/>
          <p:nvPr/>
        </p:nvSpPr>
        <p:spPr>
          <a:xfrm>
            <a:off x="9928580" y="1549787"/>
            <a:ext cx="76695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NaOH</a:t>
            </a:r>
          </a:p>
        </p:txBody>
      </p:sp>
      <p:sp>
        <p:nvSpPr>
          <p:cNvPr id="10" name="原题文字_190_6"/>
          <p:cNvSpPr txBox="1"/>
          <p:nvPr/>
        </p:nvSpPr>
        <p:spPr>
          <a:xfrm>
            <a:off x="10012806" y="1802465"/>
            <a:ext cx="644446"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溶液</a:t>
            </a:r>
          </a:p>
        </p:txBody>
      </p:sp>
      <p:sp>
        <p:nvSpPr>
          <p:cNvPr id="11" name="原题文字_190_7"/>
          <p:cNvSpPr txBox="1"/>
          <p:nvPr/>
        </p:nvSpPr>
        <p:spPr>
          <a:xfrm>
            <a:off x="571832" y="1993888"/>
            <a:ext cx="471026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小烧杯中水的作用是液封，防止空气进入试管</a:t>
            </a:r>
          </a:p>
        </p:txBody>
      </p:sp>
      <p:sp>
        <p:nvSpPr>
          <p:cNvPr id="12" name="原题文字_190_8"/>
          <p:cNvSpPr txBox="1"/>
          <p:nvPr/>
        </p:nvSpPr>
        <p:spPr>
          <a:xfrm>
            <a:off x="8473766" y="1986231"/>
            <a:ext cx="897124" cy="437975"/>
          </a:xfrm>
          <a:prstGeom prst="rect">
            <a:avLst/>
          </a:prstGeom>
          <a:noFill/>
        </p:spPr>
        <p:txBody>
          <a:bodyPr wrap="none" lIns="0" rIns="0" tIns="0" bIns="0">
            <a:spAutoFit/>
          </a:bodyPr>
          <a:lstStyle/>
          <a:p>
            <a:pPr>
              <a:lnSpc>
                <a:spcPct val="112000"/>
              </a:lnSpc>
              <a:spcBef>
                <a:spcPts val="0"/>
              </a:spcBef>
              <a:spcAft>
                <a:spcPts val="0"/>
              </a:spcAft>
              <a:defRPr sz="1766" b="0">
                <a:solidFill>
                  <a:srgbClr val="333333"/>
                </a:solidFill>
                <a:latin typeface="微软雅黑"/>
              </a:defRPr>
            </a:pPr>
            <a:r>
              <a:rPr>
                <a:ea typeface="微软雅黑"/>
              </a:rPr>
              <a:t>稀硫酸、</a:t>
            </a:r>
          </a:p>
        </p:txBody>
      </p:sp>
      <p:sp>
        <p:nvSpPr>
          <p:cNvPr id="13" name="原题文字_190_9"/>
          <p:cNvSpPr txBox="1"/>
          <p:nvPr/>
        </p:nvSpPr>
        <p:spPr>
          <a:xfrm>
            <a:off x="587146" y="2361420"/>
            <a:ext cx="495528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铁粉的主要作用是将可能生成的Fe³⁺还原为Fe²⁺</a:t>
            </a:r>
          </a:p>
        </p:txBody>
      </p:sp>
      <p:sp>
        <p:nvSpPr>
          <p:cNvPr id="14" name="原题文字_190_10"/>
          <p:cNvSpPr txBox="1"/>
          <p:nvPr/>
        </p:nvSpPr>
        <p:spPr>
          <a:xfrm>
            <a:off x="571832" y="2767237"/>
            <a:ext cx="570566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实现较长时间观察到白色Fe(OH)₂沉淀要做到排除O₂干扰</a:t>
            </a:r>
          </a:p>
        </p:txBody>
      </p:sp>
      <p:sp>
        <p:nvSpPr>
          <p:cNvPr id="15" name="原题文字_190_11"/>
          <p:cNvSpPr txBox="1"/>
          <p:nvPr/>
        </p:nvSpPr>
        <p:spPr>
          <a:xfrm>
            <a:off x="8810671" y="3188367"/>
            <a:ext cx="759300" cy="408113"/>
          </a:xfrm>
          <a:prstGeom prst="rect">
            <a:avLst/>
          </a:prstGeom>
          <a:noFill/>
        </p:spPr>
        <p:txBody>
          <a:bodyPr wrap="none" lIns="0" rIns="0" tIns="0" bIns="0">
            <a:spAutoFit/>
          </a:bodyPr>
          <a:lstStyle/>
          <a:p>
            <a:pPr>
              <a:lnSpc>
                <a:spcPct val="112000"/>
              </a:lnSpc>
              <a:spcBef>
                <a:spcPts val="0"/>
              </a:spcBef>
              <a:spcAft>
                <a:spcPts val="0"/>
              </a:spcAft>
              <a:defRPr sz="1868" b="0">
                <a:solidFill>
                  <a:srgbClr val="333333"/>
                </a:solidFill>
                <a:latin typeface="微软雅黑"/>
              </a:defRPr>
            </a:pPr>
            <a:r>
              <a:rPr>
                <a:ea typeface="微软雅黑"/>
              </a:rPr>
              <a:t>FeSO₄</a:t>
            </a:r>
          </a:p>
        </p:txBody>
      </p:sp>
      <p:sp>
        <p:nvSpPr>
          <p:cNvPr id="16" name="原题文字_190_12"/>
          <p:cNvSpPr txBox="1"/>
          <p:nvPr/>
        </p:nvSpPr>
        <p:spPr>
          <a:xfrm>
            <a:off x="11023519" y="3211337"/>
            <a:ext cx="34582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水</a:t>
            </a:r>
          </a:p>
        </p:txBody>
      </p:sp>
      <p:sp>
        <p:nvSpPr>
          <p:cNvPr id="17" name="原题文字_190_13"/>
          <p:cNvSpPr txBox="1"/>
          <p:nvPr/>
        </p:nvSpPr>
        <p:spPr>
          <a:xfrm>
            <a:off x="8979123" y="3586526"/>
            <a:ext cx="613818"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铁粉</a:t>
            </a:r>
          </a:p>
        </p:txBody>
      </p:sp>
      <p:sp>
        <p:nvSpPr>
          <p:cNvPr id="18" name="文字_单选题  ·  09-03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09-036</a:t>
            </a:r>
          </a:p>
        </p:txBody>
      </p:sp>
      <p:sp>
        <p:nvSpPr>
          <p:cNvPr id="19" name="文字_4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变式9</a:t>
            </a:r>
          </a:p>
        </p:txBody>
      </p:sp>
      <p:sp>
        <p:nvSpPr>
          <p:cNvPr id="5" name="文字_P19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P190</a:t>
            </a:r>
          </a:p>
        </p:txBody>
      </p:sp>
      <p:sp>
        <p:nvSpPr>
          <p:cNvPr id="6" name="文字_已知A为常见的金属单质，根据下图所示的关系："/>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已知A为常见的金属单质，根据下图所示的关系：</a:t>
            </a:r>
          </a:p>
        </p:txBody>
      </p:sp>
      <p:pic>
        <p:nvPicPr>
          <p:cNvPr id="7" name="Picture 6" descr="image.png"/>
          <p:cNvPicPr>
            <a:picLocks noChangeAspect="1"/>
          </p:cNvPicPr>
          <p:nvPr/>
        </p:nvPicPr>
        <p:blipFill>
          <a:blip r:embed="rId3"/>
          <a:stretch>
            <a:fillRect/>
          </a:stretch>
        </p:blipFill>
        <p:spPr>
          <a:xfrm>
            <a:off x="502920" y="1517904"/>
            <a:ext cx="11064240" cy="2519124"/>
          </a:xfrm>
          <a:prstGeom prst="rect">
            <a:avLst/>
          </a:prstGeom>
        </p:spPr>
      </p:pic>
      <p:sp>
        <p:nvSpPr>
          <p:cNvPr id="8" name="原题文字_190_18"/>
          <p:cNvSpPr txBox="1"/>
          <p:nvPr/>
        </p:nvSpPr>
        <p:spPr>
          <a:xfrm>
            <a:off x="2034302" y="1549787"/>
            <a:ext cx="33051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①</a:t>
            </a:r>
          </a:p>
        </p:txBody>
      </p:sp>
      <p:sp>
        <p:nvSpPr>
          <p:cNvPr id="9" name="原题文字_190_19"/>
          <p:cNvSpPr txBox="1"/>
          <p:nvPr/>
        </p:nvSpPr>
        <p:spPr>
          <a:xfrm>
            <a:off x="4101669" y="1656984"/>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6</a:t>
            </a:r>
          </a:p>
        </p:txBody>
      </p:sp>
      <p:sp>
        <p:nvSpPr>
          <p:cNvPr id="10" name="原题文字_190_20"/>
          <p:cNvSpPr txBox="1"/>
          <p:nvPr/>
        </p:nvSpPr>
        <p:spPr>
          <a:xfrm>
            <a:off x="4767820" y="1733553"/>
            <a:ext cx="529592"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→回</a:t>
            </a:r>
          </a:p>
        </p:txBody>
      </p:sp>
      <p:sp>
        <p:nvSpPr>
          <p:cNvPr id="11" name="原题文字_190_21"/>
          <p:cNvSpPr txBox="1"/>
          <p:nvPr/>
        </p:nvSpPr>
        <p:spPr>
          <a:xfrm>
            <a:off x="2149156" y="2261880"/>
            <a:ext cx="50662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HCl</a:t>
            </a:r>
          </a:p>
        </p:txBody>
      </p:sp>
      <p:sp>
        <p:nvSpPr>
          <p:cNvPr id="12" name="原题文字_190_22"/>
          <p:cNvSpPr txBox="1"/>
          <p:nvPr/>
        </p:nvSpPr>
        <p:spPr>
          <a:xfrm>
            <a:off x="679029" y="2422675"/>
            <a:ext cx="253943"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A</a:t>
            </a:r>
          </a:p>
        </p:txBody>
      </p:sp>
      <p:sp>
        <p:nvSpPr>
          <p:cNvPr id="13" name="原题文字_190_23"/>
          <p:cNvSpPr txBox="1"/>
          <p:nvPr/>
        </p:nvSpPr>
        <p:spPr>
          <a:xfrm>
            <a:off x="1406435" y="2384391"/>
            <a:ext cx="338169"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B</a:t>
            </a:r>
          </a:p>
        </p:txBody>
      </p:sp>
      <p:sp>
        <p:nvSpPr>
          <p:cNvPr id="14" name="原题文字_190_24"/>
          <p:cNvSpPr txBox="1"/>
          <p:nvPr/>
        </p:nvSpPr>
        <p:spPr>
          <a:xfrm>
            <a:off x="1107816" y="2644726"/>
            <a:ext cx="99666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黑色晶体</a:t>
            </a:r>
          </a:p>
        </p:txBody>
      </p:sp>
      <p:sp>
        <p:nvSpPr>
          <p:cNvPr id="15" name="原题文字_190_25"/>
          <p:cNvSpPr txBox="1"/>
          <p:nvPr/>
        </p:nvSpPr>
        <p:spPr>
          <a:xfrm>
            <a:off x="2302294" y="2614098"/>
            <a:ext cx="29988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③</a:t>
            </a:r>
          </a:p>
        </p:txBody>
      </p:sp>
      <p:sp>
        <p:nvSpPr>
          <p:cNvPr id="16" name="原题文字_190_26"/>
          <p:cNvSpPr txBox="1"/>
          <p:nvPr/>
        </p:nvSpPr>
        <p:spPr>
          <a:xfrm>
            <a:off x="3182839" y="2552843"/>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④</a:t>
            </a:r>
          </a:p>
        </p:txBody>
      </p:sp>
      <p:sp>
        <p:nvSpPr>
          <p:cNvPr id="17" name="原题文字_190_27"/>
          <p:cNvSpPr txBox="1"/>
          <p:nvPr/>
        </p:nvSpPr>
        <p:spPr>
          <a:xfrm>
            <a:off x="3603969" y="2514558"/>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⑤</a:t>
            </a:r>
          </a:p>
        </p:txBody>
      </p:sp>
      <p:sp>
        <p:nvSpPr>
          <p:cNvPr id="18" name="原题文字_190_28"/>
          <p:cNvSpPr txBox="1"/>
          <p:nvPr/>
        </p:nvSpPr>
        <p:spPr>
          <a:xfrm>
            <a:off x="4775477" y="2545186"/>
            <a:ext cx="29988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⑧</a:t>
            </a:r>
          </a:p>
        </p:txBody>
      </p:sp>
      <p:sp>
        <p:nvSpPr>
          <p:cNvPr id="19" name="原题文字_190_29"/>
          <p:cNvSpPr txBox="1"/>
          <p:nvPr/>
        </p:nvSpPr>
        <p:spPr>
          <a:xfrm>
            <a:off x="5127695" y="2529872"/>
            <a:ext cx="36114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O₂</a:t>
            </a:r>
          </a:p>
        </p:txBody>
      </p:sp>
      <p:sp>
        <p:nvSpPr>
          <p:cNvPr id="20" name="原题文字_190_30"/>
          <p:cNvSpPr txBox="1"/>
          <p:nvPr/>
        </p:nvSpPr>
        <p:spPr>
          <a:xfrm>
            <a:off x="4224179" y="3065856"/>
            <a:ext cx="238629"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7</a:t>
            </a:r>
          </a:p>
        </p:txBody>
      </p:sp>
      <p:sp>
        <p:nvSpPr>
          <p:cNvPr id="21" name="原题文字_190_31"/>
          <p:cNvSpPr txBox="1"/>
          <p:nvPr/>
        </p:nvSpPr>
        <p:spPr>
          <a:xfrm>
            <a:off x="3351291" y="3188367"/>
            <a:ext cx="307542"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D</a:t>
            </a:r>
          </a:p>
        </p:txBody>
      </p:sp>
      <p:sp>
        <p:nvSpPr>
          <p:cNvPr id="22" name="原题文字_190_32"/>
          <p:cNvSpPr txBox="1"/>
          <p:nvPr/>
        </p:nvSpPr>
        <p:spPr>
          <a:xfrm>
            <a:off x="4790791" y="3150082"/>
            <a:ext cx="49130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→E</a:t>
            </a:r>
          </a:p>
        </p:txBody>
      </p:sp>
      <p:sp>
        <p:nvSpPr>
          <p:cNvPr id="23" name="原题文字_190_33"/>
          <p:cNvSpPr txBox="1"/>
          <p:nvPr/>
        </p:nvSpPr>
        <p:spPr>
          <a:xfrm>
            <a:off x="1950076" y="3349162"/>
            <a:ext cx="33051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②</a:t>
            </a:r>
          </a:p>
        </p:txBody>
      </p:sp>
      <p:sp>
        <p:nvSpPr>
          <p:cNvPr id="24" name="原题文字_190_34"/>
          <p:cNvSpPr txBox="1"/>
          <p:nvPr/>
        </p:nvSpPr>
        <p:spPr>
          <a:xfrm>
            <a:off x="4522799" y="3410417"/>
            <a:ext cx="118043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红褐色固体</a:t>
            </a:r>
          </a:p>
        </p:txBody>
      </p:sp>
      <p:sp>
        <p:nvSpPr>
          <p:cNvPr id="25" name="原题文字_190_35"/>
          <p:cNvSpPr txBox="1"/>
          <p:nvPr/>
        </p:nvSpPr>
        <p:spPr>
          <a:xfrm>
            <a:off x="602459" y="3732008"/>
            <a:ext cx="178532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下列说法正确的是</a:t>
            </a:r>
          </a:p>
        </p:txBody>
      </p:sp>
      <p:sp>
        <p:nvSpPr>
          <p:cNvPr id="26" name="文字_A. A为Fe，B为FeO"/>
          <p:cNvSpPr txBox="1"/>
          <p:nvPr/>
        </p:nvSpPr>
        <p:spPr>
          <a:xfrm>
            <a:off x="502920" y="411018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A为Fe，B为FeO</a:t>
            </a:r>
          </a:p>
        </p:txBody>
      </p:sp>
      <p:sp>
        <p:nvSpPr>
          <p:cNvPr id="27" name="文字_B. C→D溶液的颜色变化：由浅绿色到黄色"/>
          <p:cNvSpPr txBox="1"/>
          <p:nvPr/>
        </p:nvSpPr>
        <p:spPr>
          <a:xfrm>
            <a:off x="502920" y="45490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C→D溶液的颜色变化：由浅绿色到黄色</a:t>
            </a:r>
          </a:p>
        </p:txBody>
      </p:sp>
      <p:sp>
        <p:nvSpPr>
          <p:cNvPr id="28" name="文字_C. ④的离子方程式：Fe + Fe³⁺=2Fe"/>
          <p:cNvSpPr txBox="1"/>
          <p:nvPr/>
        </p:nvSpPr>
        <p:spPr>
          <a:xfrm>
            <a:off x="502920" y="49880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④的离子方程式：Fe + Fe³⁺=2Fe²⁺</a:t>
            </a:r>
          </a:p>
        </p:txBody>
      </p:sp>
      <p:sp>
        <p:nvSpPr>
          <p:cNvPr id="29" name="文字_D. ⑤的离子方程式：4Fe(OH)₂ + O₂"/>
          <p:cNvSpPr txBox="1"/>
          <p:nvPr/>
        </p:nvSpPr>
        <p:spPr>
          <a:xfrm>
            <a:off x="502920" y="54269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⑤的离子方程式：4Fe(OH)₂ + O₂ + 2H₂O=4Fe(OH)3</a:t>
            </a:r>
          </a:p>
        </p:txBody>
      </p:sp>
      <p:sp>
        <p:nvSpPr>
          <p:cNvPr id="30" name="文字_单选题  ·  09-03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09-037</a:t>
            </a:r>
          </a:p>
        </p:txBody>
      </p:sp>
      <p:sp>
        <p:nvSpPr>
          <p:cNvPr id="31" name="文字_4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氢氧化物 · 变式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铁的氢氧化物 · 变式10</a:t>
            </a:r>
          </a:p>
        </p:txBody>
      </p:sp>
      <p:sp>
        <p:nvSpPr>
          <p:cNvPr id="5" name="文字_P19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P190</a:t>
            </a:r>
          </a:p>
        </p:txBody>
      </p:sp>
      <p:sp>
        <p:nvSpPr>
          <p:cNvPr id="6" name="文字_某学习小组为认识铁及其化合物的性质、分散系的性质"/>
          <p:cNvSpPr txBox="1"/>
          <p:nvPr/>
        </p:nvSpPr>
        <p:spPr>
          <a:xfrm>
            <a:off x="502920" y="1078992"/>
            <a:ext cx="11064240" cy="651319"/>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某学习小组为认识铁及其化合物的性质、分散系的性质做了如下一组综合实验，根据实验流程回答相</a:t>
            </a:r>
          </a:p>
          <a:p>
            <a:pPr>
              <a:lnSpc>
                <a:spcPct val="112000"/>
              </a:lnSpc>
              <a:spcBef>
                <a:spcPts val="0"/>
              </a:spcBef>
              <a:spcAft>
                <a:spcPts val="0"/>
              </a:spcAft>
              <a:defRPr sz="1950" b="0">
                <a:solidFill>
                  <a:srgbClr val="333333"/>
                </a:solidFill>
                <a:latin typeface="微软雅黑"/>
              </a:defRPr>
            </a:pPr>
            <a:r>
              <a:rPr>
                <a:ea typeface="微软雅黑"/>
              </a:rPr>
              <a:t>关问题：</a:t>
            </a:r>
          </a:p>
        </p:txBody>
      </p:sp>
      <p:pic>
        <p:nvPicPr>
          <p:cNvPr id="7" name="Picture 6" descr="image.png"/>
          <p:cNvPicPr>
            <a:picLocks noChangeAspect="1"/>
          </p:cNvPicPr>
          <p:nvPr/>
        </p:nvPicPr>
        <p:blipFill>
          <a:blip r:embed="rId3"/>
          <a:stretch>
            <a:fillRect/>
          </a:stretch>
        </p:blipFill>
        <p:spPr>
          <a:xfrm>
            <a:off x="502920" y="1730311"/>
            <a:ext cx="11064240" cy="2519124"/>
          </a:xfrm>
          <a:prstGeom prst="rect">
            <a:avLst/>
          </a:prstGeom>
        </p:spPr>
      </p:pic>
      <p:sp>
        <p:nvSpPr>
          <p:cNvPr id="8" name="原题文字_190_44"/>
          <p:cNvSpPr txBox="1"/>
          <p:nvPr/>
        </p:nvSpPr>
        <p:spPr>
          <a:xfrm>
            <a:off x="3090956" y="1762195"/>
            <a:ext cx="56787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铁粉</a:t>
            </a:r>
          </a:p>
        </p:txBody>
      </p:sp>
      <p:sp>
        <p:nvSpPr>
          <p:cNvPr id="9" name="原题文字_190_45"/>
          <p:cNvSpPr txBox="1"/>
          <p:nvPr/>
        </p:nvSpPr>
        <p:spPr>
          <a:xfrm>
            <a:off x="3749451" y="1907676"/>
            <a:ext cx="1103861" cy="437975"/>
          </a:xfrm>
          <a:prstGeom prst="rect">
            <a:avLst/>
          </a:prstGeom>
          <a:noFill/>
        </p:spPr>
        <p:txBody>
          <a:bodyPr wrap="none" lIns="0" rIns="0" tIns="0" bIns="0">
            <a:spAutoFit/>
          </a:bodyPr>
          <a:lstStyle/>
          <a:p>
            <a:pPr>
              <a:lnSpc>
                <a:spcPct val="112000"/>
              </a:lnSpc>
              <a:spcBef>
                <a:spcPts val="0"/>
              </a:spcBef>
              <a:spcAft>
                <a:spcPts val="0"/>
              </a:spcAft>
              <a:defRPr sz="1611" b="0">
                <a:solidFill>
                  <a:srgbClr val="333333"/>
                </a:solidFill>
                <a:latin typeface="微软雅黑"/>
              </a:defRPr>
            </a:pPr>
            <a:r>
              <a:rPr>
                <a:ea typeface="微软雅黑"/>
              </a:rPr>
              <a:t>FeCl₂₂溶液</a:t>
            </a:r>
          </a:p>
        </p:txBody>
      </p:sp>
      <p:sp>
        <p:nvSpPr>
          <p:cNvPr id="10" name="原题文字_190_46"/>
          <p:cNvSpPr txBox="1"/>
          <p:nvPr/>
        </p:nvSpPr>
        <p:spPr>
          <a:xfrm>
            <a:off x="4331376" y="2313493"/>
            <a:ext cx="1555619" cy="378251"/>
          </a:xfrm>
          <a:prstGeom prst="rect">
            <a:avLst/>
          </a:prstGeom>
          <a:noFill/>
        </p:spPr>
        <p:txBody>
          <a:bodyPr wrap="none" lIns="0" rIns="0" tIns="0" bIns="0">
            <a:spAutoFit/>
          </a:bodyPr>
          <a:lstStyle/>
          <a:p>
            <a:pPr>
              <a:lnSpc>
                <a:spcPct val="112000"/>
              </a:lnSpc>
              <a:spcBef>
                <a:spcPts val="0"/>
              </a:spcBef>
              <a:spcAft>
                <a:spcPts val="0"/>
              </a:spcAft>
              <a:defRPr sz="1785" b="0">
                <a:solidFill>
                  <a:srgbClr val="333333"/>
                </a:solidFill>
                <a:latin typeface="微软雅黑"/>
              </a:defRPr>
            </a:pPr>
            <a:r>
              <a:rPr>
                <a:ea typeface="微软雅黑"/>
              </a:rPr>
              <a:t>滴加NaOH溶液</a:t>
            </a:r>
          </a:p>
        </p:txBody>
      </p:sp>
      <p:sp>
        <p:nvSpPr>
          <p:cNvPr id="11" name="原题文字_190_47"/>
          <p:cNvSpPr txBox="1"/>
          <p:nvPr/>
        </p:nvSpPr>
        <p:spPr>
          <a:xfrm>
            <a:off x="1429406" y="2596798"/>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①</a:t>
            </a:r>
          </a:p>
        </p:txBody>
      </p:sp>
      <p:sp>
        <p:nvSpPr>
          <p:cNvPr id="12" name="原题文字_190_48"/>
          <p:cNvSpPr txBox="1"/>
          <p:nvPr/>
        </p:nvSpPr>
        <p:spPr>
          <a:xfrm>
            <a:off x="3228781" y="2589141"/>
            <a:ext cx="28457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②</a:t>
            </a:r>
          </a:p>
        </p:txBody>
      </p:sp>
      <p:sp>
        <p:nvSpPr>
          <p:cNvPr id="13" name="原题文字_190_49"/>
          <p:cNvSpPr txBox="1"/>
          <p:nvPr/>
        </p:nvSpPr>
        <p:spPr>
          <a:xfrm>
            <a:off x="648401" y="2726966"/>
            <a:ext cx="721015" cy="457883"/>
          </a:xfrm>
          <a:prstGeom prst="rect">
            <a:avLst/>
          </a:prstGeom>
          <a:noFill/>
        </p:spPr>
        <p:txBody>
          <a:bodyPr wrap="none" lIns="0" rIns="0" tIns="0" bIns="0">
            <a:spAutoFit/>
          </a:bodyPr>
          <a:lstStyle/>
          <a:p>
            <a:pPr>
              <a:lnSpc>
                <a:spcPct val="112000"/>
              </a:lnSpc>
              <a:spcBef>
                <a:spcPts val="0"/>
              </a:spcBef>
              <a:spcAft>
                <a:spcPts val="0"/>
              </a:spcAft>
              <a:defRPr sz="1703" b="0">
                <a:solidFill>
                  <a:srgbClr val="333333"/>
                </a:solidFill>
                <a:latin typeface="微软雅黑"/>
              </a:defRPr>
            </a:pPr>
            <a:r>
              <a:rPr>
                <a:ea typeface="微软雅黑"/>
              </a:rPr>
              <a:t>Fe₂O₃</a:t>
            </a:r>
          </a:p>
        </p:txBody>
      </p:sp>
      <p:sp>
        <p:nvSpPr>
          <p:cNvPr id="14" name="原题文字_190_50"/>
          <p:cNvSpPr txBox="1"/>
          <p:nvPr/>
        </p:nvSpPr>
        <p:spPr>
          <a:xfrm>
            <a:off x="1766310" y="2734623"/>
            <a:ext cx="1096204" cy="398159"/>
          </a:xfrm>
          <a:prstGeom prst="rect">
            <a:avLst/>
          </a:prstGeom>
          <a:noFill/>
        </p:spPr>
        <p:txBody>
          <a:bodyPr wrap="none" lIns="0" rIns="0" tIns="0" bIns="0">
            <a:spAutoFit/>
          </a:bodyPr>
          <a:lstStyle/>
          <a:p>
            <a:pPr>
              <a:lnSpc>
                <a:spcPct val="112000"/>
              </a:lnSpc>
              <a:spcBef>
                <a:spcPts val="0"/>
              </a:spcBef>
              <a:spcAft>
                <a:spcPts val="0"/>
              </a:spcAft>
              <a:defRPr sz="1834" b="0">
                <a:solidFill>
                  <a:srgbClr val="333333"/>
                </a:solidFill>
                <a:latin typeface="微软雅黑"/>
              </a:defRPr>
            </a:pPr>
            <a:r>
              <a:rPr>
                <a:ea typeface="微软雅黑"/>
              </a:rPr>
              <a:t>FeCl₃溶液</a:t>
            </a:r>
          </a:p>
        </p:txBody>
      </p:sp>
      <p:sp>
        <p:nvSpPr>
          <p:cNvPr id="15" name="原题文字_190_51"/>
          <p:cNvSpPr txBox="1"/>
          <p:nvPr/>
        </p:nvSpPr>
        <p:spPr>
          <a:xfrm>
            <a:off x="3634597" y="2742280"/>
            <a:ext cx="1325911" cy="388205"/>
          </a:xfrm>
          <a:prstGeom prst="rect">
            <a:avLst/>
          </a:prstGeom>
          <a:noFill/>
        </p:spPr>
        <p:txBody>
          <a:bodyPr wrap="none" lIns="0" rIns="0" tIns="0" bIns="0">
            <a:spAutoFit/>
          </a:bodyPr>
          <a:lstStyle/>
          <a:p>
            <a:pPr>
              <a:lnSpc>
                <a:spcPct val="112000"/>
              </a:lnSpc>
              <a:spcBef>
                <a:spcPts val="0"/>
              </a:spcBef>
              <a:spcAft>
                <a:spcPts val="0"/>
              </a:spcAft>
              <a:defRPr sz="1741" b="0">
                <a:solidFill>
                  <a:srgbClr val="333333"/>
                </a:solidFill>
                <a:latin typeface="微软雅黑"/>
              </a:defRPr>
            </a:pPr>
            <a:r>
              <a:rPr>
                <a:ea typeface="微软雅黑"/>
              </a:rPr>
              <a:t>Fe(OH)₃浊液</a:t>
            </a:r>
          </a:p>
        </p:txBody>
      </p:sp>
      <p:sp>
        <p:nvSpPr>
          <p:cNvPr id="16" name="原题文字_190_52"/>
          <p:cNvSpPr txBox="1"/>
          <p:nvPr/>
        </p:nvSpPr>
        <p:spPr>
          <a:xfrm>
            <a:off x="3060329" y="3362490"/>
            <a:ext cx="621475"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沸水</a:t>
            </a:r>
          </a:p>
        </p:txBody>
      </p:sp>
      <p:sp>
        <p:nvSpPr>
          <p:cNvPr id="17" name="原题文字_190_53"/>
          <p:cNvSpPr txBox="1"/>
          <p:nvPr/>
        </p:nvSpPr>
        <p:spPr>
          <a:xfrm>
            <a:off x="4162924" y="3584540"/>
            <a:ext cx="29222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③</a:t>
            </a:r>
          </a:p>
        </p:txBody>
      </p:sp>
      <p:sp>
        <p:nvSpPr>
          <p:cNvPr id="18" name="原题文字_190_54"/>
          <p:cNvSpPr txBox="1"/>
          <p:nvPr/>
        </p:nvSpPr>
        <p:spPr>
          <a:xfrm>
            <a:off x="587146" y="3929101"/>
            <a:ext cx="3745496" cy="358343"/>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(1)请写出Fe₂O₃与①反应的离子方程式:</a:t>
            </a:r>
          </a:p>
        </p:txBody>
      </p:sp>
      <p:sp>
        <p:nvSpPr>
          <p:cNvPr id="19" name="原题文字_190_55"/>
          <p:cNvSpPr txBox="1"/>
          <p:nvPr/>
        </p:nvSpPr>
        <p:spPr>
          <a:xfrm>
            <a:off x="5051126" y="4082240"/>
            <a:ext cx="131433" cy="129401"/>
          </a:xfrm>
          <a:prstGeom prst="rect">
            <a:avLst/>
          </a:prstGeom>
          <a:noFill/>
        </p:spPr>
        <p:txBody>
          <a:bodyPr wrap="none" lIns="0" rIns="0" tIns="0" bIns="0">
            <a:spAutoFit/>
          </a:bodyPr>
          <a:lstStyle/>
          <a:p>
            <a:pPr>
              <a:lnSpc>
                <a:spcPct val="112000"/>
              </a:lnSpc>
              <a:spcBef>
                <a:spcPts val="0"/>
              </a:spcBef>
              <a:spcAft>
                <a:spcPts val="0"/>
              </a:spcAft>
              <a:defRPr sz="627" b="0">
                <a:solidFill>
                  <a:srgbClr val="333333"/>
                </a:solidFill>
                <a:latin typeface="微软雅黑"/>
              </a:defRPr>
            </a:pPr>
            <a:r>
              <a:rPr>
                <a:ea typeface="微软雅黑"/>
              </a:rPr>
              <a:t>O</a:t>
            </a:r>
          </a:p>
        </p:txBody>
      </p:sp>
      <p:sp>
        <p:nvSpPr>
          <p:cNvPr id="20" name="文字_(2)物质②为 ______ o"/>
          <p:cNvSpPr txBox="1"/>
          <p:nvPr/>
        </p:nvSpPr>
        <p:spPr>
          <a:xfrm>
            <a:off x="502920" y="4322588"/>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(2)物质②为 ______ o</a:t>
            </a:r>
          </a:p>
        </p:txBody>
      </p:sp>
      <p:sp>
        <p:nvSpPr>
          <p:cNvPr id="21" name="文字_(3)请写出FeCl₃溶液与铁粉反应的化学方程式"/>
          <p:cNvSpPr txBox="1"/>
          <p:nvPr/>
        </p:nvSpPr>
        <p:spPr>
          <a:xfrm>
            <a:off x="502920" y="4679204"/>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(3)请写出FeCl₃溶液与铁粉反应的化学方程式: ______ o</a:t>
            </a:r>
          </a:p>
        </p:txBody>
      </p:sp>
      <p:sp>
        <p:nvSpPr>
          <p:cNvPr id="22" name="文字_(4)向FeCl₂溶液中滴加NaOH溶液最终生成"/>
          <p:cNvSpPr txBox="1"/>
          <p:nvPr/>
        </p:nvSpPr>
        <p:spPr>
          <a:xfrm>
            <a:off x="502920" y="5035820"/>
            <a:ext cx="11064240" cy="651319"/>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(4)向FeCl₂溶液中滴加NaOH溶液最终生成Fe(OH)₃浊液，该过程的现象为 ______ ，此过程中发生的</a:t>
            </a:r>
          </a:p>
          <a:p>
            <a:pPr>
              <a:lnSpc>
                <a:spcPct val="112000"/>
              </a:lnSpc>
              <a:spcBef>
                <a:spcPts val="0"/>
              </a:spcBef>
              <a:spcAft>
                <a:spcPts val="0"/>
              </a:spcAft>
              <a:defRPr sz="1950" b="0">
                <a:solidFill>
                  <a:srgbClr val="333333"/>
                </a:solidFill>
                <a:latin typeface="微软雅黑"/>
              </a:defRPr>
            </a:pPr>
            <a:r>
              <a:rPr>
                <a:ea typeface="微软雅黑"/>
              </a:rPr>
              <a:t>氧化还原反应为(用化学方程式表达)。</a:t>
            </a:r>
          </a:p>
        </p:txBody>
      </p:sp>
      <p:sp>
        <p:nvSpPr>
          <p:cNvPr id="23" name="文字_(5)将FeCl₃饱和溶液滴入沸水中，并继续煮沸"/>
          <p:cNvSpPr txBox="1"/>
          <p:nvPr/>
        </p:nvSpPr>
        <p:spPr>
          <a:xfrm>
            <a:off x="502920" y="5687139"/>
            <a:ext cx="11064240" cy="651319"/>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(5)将FeCl₃饱和溶液滴入沸水中，并继续煮沸至红褐色，制得胶体，它与FeCl₃溶液、Fe(OH)₃浊液</a:t>
            </a:r>
          </a:p>
          <a:p>
            <a:pPr>
              <a:lnSpc>
                <a:spcPct val="112000"/>
              </a:lnSpc>
              <a:spcBef>
                <a:spcPts val="0"/>
              </a:spcBef>
              <a:spcAft>
                <a:spcPts val="0"/>
              </a:spcAft>
              <a:defRPr sz="1950" b="0">
                <a:solidFill>
                  <a:srgbClr val="333333"/>
                </a:solidFill>
                <a:latin typeface="微软雅黑"/>
              </a:defRPr>
            </a:pPr>
            <a:r>
              <a:rPr>
                <a:ea typeface="微软雅黑"/>
              </a:rPr>
              <a:t>的本质区别是</a:t>
            </a:r>
          </a:p>
        </p:txBody>
      </p:sp>
      <p:sp>
        <p:nvSpPr>
          <p:cNvPr id="24" name="文字_填空题  ·  09-03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09-038</a:t>
            </a:r>
          </a:p>
        </p:txBody>
      </p:sp>
      <p:sp>
        <p:nvSpPr>
          <p:cNvPr id="25" name="文字_5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5"/>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05</a:t>
            </a:r>
          </a:p>
        </p:txBody>
      </p:sp>
      <p:sp>
        <p:nvSpPr>
          <p:cNvPr id="4" name="文字_Fe²⁺ 与 Fe³⁺ 的性质与检验"/>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Fe²⁺ 与 Fe³⁺ 的性质与检验</a:t>
            </a:r>
          </a:p>
        </p:txBody>
      </p:sp>
      <p:sp>
        <p:nvSpPr>
          <p:cNvPr id="5" name="文字_知识梳理 · 讲义 P192"/>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P192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Fe²⁺ 与 Fe³⁺ 的性质与检验"/>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Fe²⁺ 与 Fe³⁺ 的性质与检验</a:t>
            </a:r>
          </a:p>
        </p:txBody>
      </p:sp>
      <p:sp>
        <p:nvSpPr>
          <p:cNvPr id="5" name="文字_知识讲解 · P19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P192</a:t>
            </a:r>
          </a:p>
        </p:txBody>
      </p:sp>
      <p:graphicFrame>
        <p:nvGraphicFramePr>
          <p:cNvPr id="6" name="Table 5"/>
          <p:cNvGraphicFramePr>
            <a:graphicFrameLocks noGrp="1"/>
          </p:cNvGraphicFramePr>
          <p:nvPr/>
        </p:nvGraphicFramePr>
        <p:xfrm>
          <a:off x="502920" y="1773936"/>
          <a:ext cx="11109960" cy="4390136"/>
        </p:xfrm>
        <a:graphic>
          <a:graphicData uri="http://schemas.openxmlformats.org/drawingml/2006/table">
            <a:tbl>
              <a:tblPr firstRow="1" bandRow="1">
                <a:tableStyleId>{5C22544A-7EE6-4342-B048-85BDC9FD1C3A}</a:tableStyleId>
              </a:tblPr>
              <a:tblGrid>
                <a:gridCol w="3703320"/>
                <a:gridCol w="3703320"/>
                <a:gridCol w="3703320"/>
              </a:tblGrid>
              <a:tr h="485648">
                <a:tc>
                  <a:txBody>
                    <a:bodyPr/>
                    <a:lstStyle/>
                    <a:p>
                      <a:pPr>
                        <a:defRPr sz="2000" b="1">
                          <a:solidFill>
                            <a:srgbClr val="FFFFFF"/>
                          </a:solidFill>
                          <a:latin typeface="微软雅黑"/>
                        </a:defRPr>
                      </a:pPr>
                      <a:r>
                        <a:t>项目</a:t>
                      </a:r>
                    </a:p>
                  </a:txBody>
                  <a:tcPr marL="91440" marR="91440" marT="45720" marB="45720" anchor="ctr">
                    <a:solidFill>
                      <a:srgbClr val="F1922F"/>
                    </a:solidFill>
                  </a:tcPr>
                </a:tc>
                <a:tc>
                  <a:txBody>
                    <a:bodyPr/>
                    <a:lstStyle/>
                    <a:p>
                      <a:pPr>
                        <a:defRPr sz="2000" b="1">
                          <a:solidFill>
                            <a:srgbClr val="FFFFFF"/>
                          </a:solidFill>
                          <a:latin typeface="微软雅黑"/>
                        </a:defRPr>
                      </a:pPr>
                      <a:r>
                        <a:t>Fe²⁺（亚铁盐）</a:t>
                      </a:r>
                    </a:p>
                  </a:txBody>
                  <a:tcPr marL="91440" marR="91440" marT="45720" marB="45720" anchor="ctr">
                    <a:solidFill>
                      <a:srgbClr val="F1922F"/>
                    </a:solidFill>
                  </a:tcPr>
                </a:tc>
                <a:tc>
                  <a:txBody>
                    <a:bodyPr/>
                    <a:lstStyle/>
                    <a:p>
                      <a:pPr>
                        <a:defRPr sz="2000" b="1">
                          <a:solidFill>
                            <a:srgbClr val="FFFFFF"/>
                          </a:solidFill>
                          <a:latin typeface="微软雅黑"/>
                        </a:defRPr>
                      </a:pPr>
                      <a:r>
                        <a:t>Fe³⁺（铁盐）</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颜色</a:t>
                      </a:r>
                    </a:p>
                  </a:txBody>
                  <a:tcPr marL="91440" marR="91440" marT="45720" marB="45720" anchor="ctr">
                    <a:solidFill>
                      <a:srgbClr val="FDF2E3"/>
                    </a:solidFill>
                  </a:tcPr>
                </a:tc>
                <a:tc>
                  <a:txBody>
                    <a:bodyPr/>
                    <a:lstStyle/>
                    <a:p>
                      <a:pPr>
                        <a:defRPr sz="2000" b="0">
                          <a:solidFill>
                            <a:srgbClr val="333333"/>
                          </a:solidFill>
                          <a:latin typeface="微软雅黑"/>
                        </a:defRPr>
                      </a:pPr>
                      <a:r>
                        <a:t>浅绿色</a:t>
                      </a:r>
                    </a:p>
                  </a:txBody>
                  <a:tcPr marL="91440" marR="91440" marT="45720" marB="45720" anchor="ctr">
                    <a:solidFill>
                      <a:srgbClr val="FDF2E3"/>
                    </a:solidFill>
                  </a:tcPr>
                </a:tc>
                <a:tc>
                  <a:txBody>
                    <a:bodyPr/>
                    <a:lstStyle/>
                    <a:p>
                      <a:pPr>
                        <a:defRPr sz="2000" b="0">
                          <a:solidFill>
                            <a:srgbClr val="333333"/>
                          </a:solidFill>
                          <a:latin typeface="微软雅黑"/>
                        </a:defRPr>
                      </a:pPr>
                      <a:r>
                        <a:t>黄色</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与碱</a:t>
                      </a:r>
                    </a:p>
                  </a:txBody>
                  <a:tcPr marL="91440" marR="91440" marT="45720" marB="45720" anchor="ctr">
                    <a:solidFill>
                      <a:srgbClr val="FFFFFF"/>
                    </a:solidFill>
                  </a:tcPr>
                </a:tc>
                <a:tc>
                  <a:txBody>
                    <a:bodyPr/>
                    <a:lstStyle/>
                    <a:p>
                      <a:pPr>
                        <a:defRPr sz="2000" b="0">
                          <a:solidFill>
                            <a:srgbClr val="333333"/>
                          </a:solidFill>
                          <a:latin typeface="微软雅黑"/>
                        </a:defRPr>
                      </a:pPr>
                      <a:r>
                        <a:t>Fe²⁺ + 2OH⁻ = Fe(OH)₂↓</a:t>
                      </a:r>
                    </a:p>
                  </a:txBody>
                  <a:tcPr marL="91440" marR="91440" marT="45720" marB="45720" anchor="ctr">
                    <a:solidFill>
                      <a:srgbClr val="FFFFFF"/>
                    </a:solidFill>
                  </a:tcPr>
                </a:tc>
                <a:tc>
                  <a:txBody>
                    <a:bodyPr/>
                    <a:lstStyle/>
                    <a:p>
                      <a:pPr>
                        <a:defRPr sz="2000" b="0">
                          <a:solidFill>
                            <a:srgbClr val="333333"/>
                          </a:solidFill>
                          <a:latin typeface="微软雅黑"/>
                        </a:defRPr>
                      </a:pPr>
                      <a:r>
                        <a:t>Fe³⁺ + 3OH⁻ = Fe(OH)₃↓</a:t>
                      </a:r>
                    </a:p>
                  </a:txBody>
                  <a:tcPr marL="91440" marR="91440" marT="45720" marB="45720" anchor="ctr">
                    <a:solidFill>
                      <a:srgbClr val="FFFFFF"/>
                    </a:solidFill>
                  </a:tcPr>
                </a:tc>
              </a:tr>
              <a:tr h="815848">
                <a:tc>
                  <a:txBody>
                    <a:bodyPr/>
                    <a:lstStyle/>
                    <a:p>
                      <a:pPr>
                        <a:defRPr sz="2000" b="0">
                          <a:solidFill>
                            <a:srgbClr val="333333"/>
                          </a:solidFill>
                          <a:latin typeface="微软雅黑"/>
                        </a:defRPr>
                      </a:pPr>
                      <a:r>
                        <a:t>氧化性</a:t>
                      </a:r>
                    </a:p>
                  </a:txBody>
                  <a:tcPr marL="91440" marR="91440" marT="45720" marB="45720" anchor="ctr">
                    <a:solidFill>
                      <a:srgbClr val="FDF2E3"/>
                    </a:solidFill>
                  </a:tcPr>
                </a:tc>
                <a:tc>
                  <a:txBody>
                    <a:bodyPr/>
                    <a:lstStyle/>
                    <a:p>
                      <a:pPr>
                        <a:defRPr sz="2000" b="0">
                          <a:solidFill>
                            <a:srgbClr val="333333"/>
                          </a:solidFill>
                          <a:latin typeface="微软雅黑"/>
                        </a:defRPr>
                      </a:pPr>
                      <a:r>
                        <a:t>较弱：Fe²⁺ + Zn = Zn²⁺ + Fe</a:t>
                      </a:r>
                    </a:p>
                  </a:txBody>
                  <a:tcPr marL="91440" marR="91440" marT="45720" marB="45720" anchor="ctr">
                    <a:solidFill>
                      <a:srgbClr val="FDF2E3"/>
                    </a:solidFill>
                  </a:tcPr>
                </a:tc>
                <a:tc>
                  <a:txBody>
                    <a:bodyPr/>
                    <a:lstStyle/>
                    <a:p>
                      <a:pPr>
                        <a:defRPr sz="2000" b="0">
                          <a:solidFill>
                            <a:srgbClr val="333333"/>
                          </a:solidFill>
                          <a:latin typeface="微软雅黑"/>
                        </a:defRPr>
                      </a:pPr>
                      <a:r>
                        <a:t>较强：2Fe³⁺ + Fe = 3Fe²⁺</a:t>
                      </a:r>
                    </a:p>
                  </a:txBody>
                  <a:tcPr marL="91440" marR="91440" marT="45720" marB="45720" anchor="ctr">
                    <a:solidFill>
                      <a:srgbClr val="FDF2E3"/>
                    </a:solidFill>
                  </a:tcPr>
                </a:tc>
              </a:tr>
              <a:tr h="815848">
                <a:tc>
                  <a:txBody>
                    <a:bodyPr/>
                    <a:lstStyle/>
                    <a:p>
                      <a:pPr>
                        <a:defRPr sz="2000" b="0">
                          <a:solidFill>
                            <a:srgbClr val="333333"/>
                          </a:solidFill>
                          <a:latin typeface="微软雅黑"/>
                        </a:defRPr>
                      </a:pPr>
                      <a:r>
                        <a:t>还原性</a:t>
                      </a:r>
                    </a:p>
                  </a:txBody>
                  <a:tcPr marL="91440" marR="91440" marT="45720" marB="45720" anchor="ctr">
                    <a:solidFill>
                      <a:srgbClr val="FFFFFF"/>
                    </a:solidFill>
                  </a:tcPr>
                </a:tc>
                <a:tc>
                  <a:txBody>
                    <a:bodyPr/>
                    <a:lstStyle/>
                    <a:p>
                      <a:pPr>
                        <a:defRPr sz="2000" b="0">
                          <a:solidFill>
                            <a:srgbClr val="333333"/>
                          </a:solidFill>
                          <a:latin typeface="微软雅黑"/>
                        </a:defRPr>
                      </a:pPr>
                      <a:r>
                        <a:t>较强：2Fe²⁺ + Cl₂ = 2Fe³⁺ + 2Cl⁻</a:t>
                      </a:r>
                    </a:p>
                  </a:txBody>
                  <a:tcPr marL="91440" marR="91440" marT="45720" marB="45720" anchor="ctr">
                    <a:solidFill>
                      <a:srgbClr val="FFFFFF"/>
                    </a:solidFill>
                  </a:tcPr>
                </a:tc>
                <a:tc>
                  <a:txBody>
                    <a:bodyPr/>
                    <a:lstStyle/>
                    <a:p>
                      <a:pPr>
                        <a:defRPr sz="2000" b="0">
                          <a:solidFill>
                            <a:srgbClr val="333333"/>
                          </a:solidFill>
                          <a:latin typeface="微软雅黑"/>
                        </a:defRPr>
                      </a:pPr>
                      <a:r>
                        <a:t>—</a:t>
                      </a:r>
                    </a:p>
                  </a:txBody>
                  <a:tcPr marL="91440" marR="91440" marT="45720" marB="45720" anchor="ctr">
                    <a:solidFill>
                      <a:srgbClr val="FFFFFF"/>
                    </a:solidFill>
                  </a:tcPr>
                </a:tc>
              </a:tr>
              <a:tr h="815848">
                <a:tc>
                  <a:txBody>
                    <a:bodyPr/>
                    <a:lstStyle/>
                    <a:p>
                      <a:pPr>
                        <a:defRPr sz="2000" b="0">
                          <a:solidFill>
                            <a:srgbClr val="333333"/>
                          </a:solidFill>
                          <a:latin typeface="微软雅黑"/>
                        </a:defRPr>
                      </a:pPr>
                      <a:r>
                        <a:t>KSCN 法</a:t>
                      </a:r>
                    </a:p>
                  </a:txBody>
                  <a:tcPr marL="91440" marR="91440" marT="45720" marB="45720" anchor="ctr">
                    <a:solidFill>
                      <a:srgbClr val="FDF2E3"/>
                    </a:solidFill>
                  </a:tcPr>
                </a:tc>
                <a:tc>
                  <a:txBody>
                    <a:bodyPr/>
                    <a:lstStyle/>
                    <a:p>
                      <a:pPr>
                        <a:defRPr sz="2000" b="0">
                          <a:solidFill>
                            <a:srgbClr val="333333"/>
                          </a:solidFill>
                          <a:latin typeface="微软雅黑"/>
                        </a:defRPr>
                      </a:pPr>
                      <a:r>
                        <a:t>无明显现象，再加氯水变红</a:t>
                      </a:r>
                    </a:p>
                  </a:txBody>
                  <a:tcPr marL="91440" marR="91440" marT="45720" marB="45720" anchor="ctr">
                    <a:solidFill>
                      <a:srgbClr val="FDF2E3"/>
                    </a:solidFill>
                  </a:tcPr>
                </a:tc>
                <a:tc>
                  <a:txBody>
                    <a:bodyPr/>
                    <a:lstStyle/>
                    <a:p>
                      <a:pPr>
                        <a:defRPr sz="2000" b="0">
                          <a:solidFill>
                            <a:srgbClr val="333333"/>
                          </a:solidFill>
                          <a:latin typeface="微软雅黑"/>
                        </a:defRPr>
                      </a:pPr>
                      <a:r>
                        <a:t>溶液变红：Fe³⁺ + 3SCN⁻ = Fe(SCN)₃</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加碱法</a:t>
                      </a:r>
                    </a:p>
                  </a:txBody>
                  <a:tcPr marL="91440" marR="91440" marT="45720" marB="45720" anchor="ctr">
                    <a:solidFill>
                      <a:srgbClr val="FFFFFF"/>
                    </a:solidFill>
                  </a:tcPr>
                </a:tc>
                <a:tc>
                  <a:txBody>
                    <a:bodyPr/>
                    <a:lstStyle/>
                    <a:p>
                      <a:pPr>
                        <a:defRPr sz="2000" b="0">
                          <a:solidFill>
                            <a:srgbClr val="333333"/>
                          </a:solidFill>
                          <a:latin typeface="微软雅黑"/>
                        </a:defRPr>
                      </a:pPr>
                      <a:r>
                        <a:t>白色 → 灰绿色 → 红褐色</a:t>
                      </a:r>
                    </a:p>
                  </a:txBody>
                  <a:tcPr marL="91440" marR="91440" marT="45720" marB="45720" anchor="ctr">
                    <a:solidFill>
                      <a:srgbClr val="FFFFFF"/>
                    </a:solidFill>
                  </a:tcPr>
                </a:tc>
                <a:tc>
                  <a:txBody>
                    <a:bodyPr/>
                    <a:lstStyle/>
                    <a:p>
                      <a:pPr>
                        <a:defRPr sz="2000" b="0">
                          <a:solidFill>
                            <a:srgbClr val="333333"/>
                          </a:solidFill>
                          <a:latin typeface="微软雅黑"/>
                        </a:defRPr>
                      </a:pPr>
                      <a:r>
                        <a:t>直接红褐色</a:t>
                      </a:r>
                    </a:p>
                  </a:txBody>
                  <a:tcPr marL="91440" marR="91440" marT="45720" marB="45720" anchor="ctr">
                    <a:solidFill>
                      <a:srgbClr val="FFFFFF"/>
                    </a:solidFill>
                  </a:tcPr>
                </a:tc>
              </a:tr>
            </a:tbl>
          </a:graphicData>
        </a:graphic>
      </p:graphicFrame>
      <p:sp>
        <p:nvSpPr>
          <p:cNvPr id="7" name="Rectangle 6"/>
          <p:cNvSpPr/>
          <p:nvPr/>
        </p:nvSpPr>
        <p:spPr>
          <a:xfrm>
            <a:off x="493776" y="630123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Fe²⁺ 既有氧化性又有还原性，以还原性"/>
          <p:cNvSpPr txBox="1"/>
          <p:nvPr/>
        </p:nvSpPr>
        <p:spPr>
          <a:xfrm>
            <a:off x="630936" y="63606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Fe²⁺ 既有氧化性又有还原性，以还原性为主；Fe³⁺ 以氧化性为主。</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6"/>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06</a:t>
            </a:r>
          </a:p>
        </p:txBody>
      </p:sp>
      <p:sp>
        <p:nvSpPr>
          <p:cNvPr id="4" name="文字_铁三角：三种价态的转化"/>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铁三角：三种价态的转化</a:t>
            </a:r>
          </a:p>
        </p:txBody>
      </p:sp>
      <p:sp>
        <p:nvSpPr>
          <p:cNvPr id="5" name="文字_知识梳理 · 讲义 P193"/>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P193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铁三角：三种价态的转化"/>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铁三角：三种价态的转化</a:t>
            </a:r>
          </a:p>
        </p:txBody>
      </p:sp>
      <p:sp>
        <p:nvSpPr>
          <p:cNvPr id="5" name="文字_知识讲解 · P193"/>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P193</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Fe → Fe²⁺：遇弱氧化剂（S、Cu²⁺、H"/>
          <p:cNvSpPr txBox="1"/>
          <p:nvPr/>
        </p:nvSpPr>
        <p:spPr>
          <a:xfrm>
            <a:off x="722376" y="1773936"/>
            <a:ext cx="10908792" cy="432307"/>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Fe → Fe²⁺：遇弱氧化剂（S、Cu²⁺、H⁺、Fe³⁺），如 Fe + 2Fe³⁺ = 3Fe²⁺。</a:t>
            </a:r>
          </a:p>
        </p:txBody>
      </p:sp>
      <p:sp>
        <p:nvSpPr>
          <p:cNvPr id="8" name="Rectangle 7"/>
          <p:cNvSpPr/>
          <p:nvPr/>
        </p:nvSpPr>
        <p:spPr>
          <a:xfrm>
            <a:off x="512064" y="240741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Fe → Fe³⁺：遇强氧化剂（Cl₂、Br₂、"/>
          <p:cNvSpPr txBox="1"/>
          <p:nvPr/>
        </p:nvSpPr>
        <p:spPr>
          <a:xfrm>
            <a:off x="722376" y="2325116"/>
            <a:ext cx="10908792" cy="77317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Fe → Fe³⁺：遇强氧化剂（Cl₂、Br₂、HNO₃、浓 H₂SO₄），如 2Fe + 3Cl₂ = </a:t>
            </a:r>
          </a:p>
          <a:p>
            <a:pPr>
              <a:lnSpc>
                <a:spcPct val="112000"/>
              </a:lnSpc>
              <a:spcBef>
                <a:spcPts val="0"/>
              </a:spcBef>
              <a:spcAft>
                <a:spcPts val="0"/>
              </a:spcAft>
              <a:defRPr sz="2200" b="0">
                <a:solidFill>
                  <a:srgbClr val="333333"/>
                </a:solidFill>
                <a:latin typeface="微软雅黑"/>
              </a:defRPr>
            </a:pPr>
            <a:r>
              <a:rPr>
                <a:ea typeface="微软雅黑"/>
              </a:rPr>
              <a:t>2FeCl₃。</a:t>
            </a:r>
          </a:p>
        </p:txBody>
      </p:sp>
      <p:sp>
        <p:nvSpPr>
          <p:cNvPr id="10" name="Rectangle 9"/>
          <p:cNvSpPr/>
          <p:nvPr/>
        </p:nvSpPr>
        <p:spPr>
          <a:xfrm>
            <a:off x="512064" y="32994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Fe²⁺ → Fe³⁺：加氧化剂（Cl₂、O₂、"/>
          <p:cNvSpPr txBox="1"/>
          <p:nvPr/>
        </p:nvSpPr>
        <p:spPr>
          <a:xfrm>
            <a:off x="722376" y="3217164"/>
            <a:ext cx="10908792" cy="77317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Fe²⁺ → Fe³⁺：加氧化剂（Cl₂、O₂、HNO₃、KMnO₄），如 2Fe²⁺ + Cl₂ = 2Fe³⁺</a:t>
            </a:r>
          </a:p>
          <a:p>
            <a:pPr>
              <a:lnSpc>
                <a:spcPct val="112000"/>
              </a:lnSpc>
              <a:spcBef>
                <a:spcPts val="0"/>
              </a:spcBef>
              <a:spcAft>
                <a:spcPts val="0"/>
              </a:spcAft>
              <a:defRPr sz="2200" b="0">
                <a:solidFill>
                  <a:srgbClr val="333333"/>
                </a:solidFill>
                <a:latin typeface="微软雅黑"/>
              </a:defRPr>
            </a:pPr>
            <a:r>
              <a:rPr>
                <a:ea typeface="微软雅黑"/>
              </a:rPr>
              <a:t> + 2Cl⁻。</a:t>
            </a:r>
          </a:p>
        </p:txBody>
      </p:sp>
      <p:sp>
        <p:nvSpPr>
          <p:cNvPr id="12" name="Rectangle 11"/>
          <p:cNvSpPr/>
          <p:nvPr/>
        </p:nvSpPr>
        <p:spPr>
          <a:xfrm>
            <a:off x="512064" y="419150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Fe²⁺ → Fe：加还原剂（Zn、Al、C、C"/>
          <p:cNvSpPr txBox="1"/>
          <p:nvPr/>
        </p:nvSpPr>
        <p:spPr>
          <a:xfrm>
            <a:off x="722376" y="4109212"/>
            <a:ext cx="10908792" cy="432307"/>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Fe²⁺ → Fe：加还原剂（Zn、Al、C、CO），如 Fe²⁺ + Zn = Zn²⁺ + Fe。</a:t>
            </a:r>
          </a:p>
        </p:txBody>
      </p:sp>
      <p:sp>
        <p:nvSpPr>
          <p:cNvPr id="14" name="Rectangle 13"/>
          <p:cNvSpPr/>
          <p:nvPr/>
        </p:nvSpPr>
        <p:spPr>
          <a:xfrm>
            <a:off x="512064" y="474268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Fe³⁺ → Fe²⁺：加还原剂（Fe、Cu、K"/>
          <p:cNvSpPr txBox="1"/>
          <p:nvPr/>
        </p:nvSpPr>
        <p:spPr>
          <a:xfrm>
            <a:off x="722376" y="4660392"/>
            <a:ext cx="10908792" cy="432307"/>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Fe³⁺ → Fe²⁺：加还原剂（Fe、Cu、KI、SO₂），如 2Fe³⁺ + Cu = 2Fe²⁺ + Cu²⁺。</a:t>
            </a:r>
          </a:p>
        </p:txBody>
      </p:sp>
      <p:sp>
        <p:nvSpPr>
          <p:cNvPr id="16" name="Rectangle 15"/>
          <p:cNvSpPr/>
          <p:nvPr/>
        </p:nvSpPr>
        <p:spPr>
          <a:xfrm>
            <a:off x="512064" y="52938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Fe³⁺ → Fe：加 C、CO 或活泼金属，高"/>
          <p:cNvSpPr txBox="1"/>
          <p:nvPr/>
        </p:nvSpPr>
        <p:spPr>
          <a:xfrm>
            <a:off x="722376" y="5211572"/>
            <a:ext cx="10908792" cy="432307"/>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Fe³⁺ → Fe：加 C、CO 或活泼金属，高温，如 Fe₂O₃ + 3CO = 2Fe + 3CO₂。</a:t>
            </a:r>
          </a:p>
        </p:txBody>
      </p:sp>
      <p:sp>
        <p:nvSpPr>
          <p:cNvPr id="18" name="Rectangle 17"/>
          <p:cNvSpPr/>
          <p:nvPr/>
        </p:nvSpPr>
        <p:spPr>
          <a:xfrm>
            <a:off x="493776" y="574243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文字_提示  Fe³⁺ 腐蚀铜：2FeCl₃ + Cu"/>
          <p:cNvSpPr txBox="1"/>
          <p:nvPr/>
        </p:nvSpPr>
        <p:spPr>
          <a:xfrm>
            <a:off x="630936" y="58018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Fe³⁺ 腐蚀铜：2FeCl₃ + Cu = 2FeCl₂ + CuCl₂，用于覆铜板刻蚀。</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例题1</a:t>
            </a:r>
          </a:p>
        </p:txBody>
      </p:sp>
      <p:sp>
        <p:nvSpPr>
          <p:cNvPr id="5" name="文字_P19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P194</a:t>
            </a:r>
          </a:p>
        </p:txBody>
      </p:sp>
      <p:sp>
        <p:nvSpPr>
          <p:cNvPr id="6" name="文字_要证明某久置的FeSO₄溶液中是否还含有Fe²⁺"/>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要证明某久置的FeSO₄溶液中是否还含有Fe²⁺，以下最适合的试剂是</a:t>
            </a:r>
          </a:p>
        </p:txBody>
      </p:sp>
      <p:sp>
        <p:nvSpPr>
          <p:cNvPr id="7" name="文字_A. KSCN溶液"/>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KSCN溶液</a:t>
            </a:r>
          </a:p>
        </p:txBody>
      </p:sp>
      <p:sp>
        <p:nvSpPr>
          <p:cNvPr id="8" name="文字_B. BaCl₂溶液"/>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BaCl₂溶液</a:t>
            </a:r>
          </a:p>
        </p:txBody>
      </p:sp>
      <p:sp>
        <p:nvSpPr>
          <p:cNvPr id="9" name="文字_C. 酸性KMnO₄溶液"/>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酸性KMnO₄溶液</a:t>
            </a:r>
          </a:p>
        </p:txBody>
      </p:sp>
      <p:sp>
        <p:nvSpPr>
          <p:cNvPr id="10" name="文字_D. KI溶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KI溶液</a:t>
            </a:r>
          </a:p>
        </p:txBody>
      </p:sp>
      <p:sp>
        <p:nvSpPr>
          <p:cNvPr id="11" name="文字_单选题  ·  09-03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09-039</a:t>
            </a:r>
          </a:p>
        </p:txBody>
      </p:sp>
      <p:sp>
        <p:nvSpPr>
          <p:cNvPr id="12" name="文字_5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例题2</a:t>
            </a:r>
          </a:p>
        </p:txBody>
      </p:sp>
      <p:sp>
        <p:nvSpPr>
          <p:cNvPr id="5" name="文字_P19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P194</a:t>
            </a:r>
          </a:p>
        </p:txBody>
      </p:sp>
      <p:sp>
        <p:nvSpPr>
          <p:cNvPr id="6" name="文字_下列溶液中，能使铁粉溶解，但不会产生沉淀和气体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下列溶液中，能使铁粉溶解，但不会产生沉淀和气体的是</a:t>
            </a:r>
          </a:p>
        </p:txBody>
      </p:sp>
      <p:sp>
        <p:nvSpPr>
          <p:cNvPr id="7" name="文字_A. 稀H₂SO₄"/>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稀H₂SO₄</a:t>
            </a:r>
          </a:p>
        </p:txBody>
      </p:sp>
      <p:sp>
        <p:nvSpPr>
          <p:cNvPr id="8" name="文字_B. CuSO₄溶液"/>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CuSO₄溶液</a:t>
            </a:r>
          </a:p>
        </p:txBody>
      </p:sp>
      <p:sp>
        <p:nvSpPr>
          <p:cNvPr id="9" name="文字_C. Fe₂(SO₄)₃"/>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Fe₂(SO₄)₃</a:t>
            </a:r>
          </a:p>
        </p:txBody>
      </p:sp>
      <p:sp>
        <p:nvSpPr>
          <p:cNvPr id="10" name="文字_D. FeCl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FeCl₂</a:t>
            </a:r>
          </a:p>
        </p:txBody>
      </p:sp>
      <p:sp>
        <p:nvSpPr>
          <p:cNvPr id="11" name="文字_单选题  ·  09-04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09-040</a:t>
            </a:r>
          </a:p>
        </p:txBody>
      </p:sp>
      <p:sp>
        <p:nvSpPr>
          <p:cNvPr id="12" name="文字_5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例题3</a:t>
            </a:r>
          </a:p>
        </p:txBody>
      </p:sp>
      <p:sp>
        <p:nvSpPr>
          <p:cNvPr id="5" name="文字_P19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P194</a:t>
            </a:r>
          </a:p>
        </p:txBody>
      </p:sp>
      <p:sp>
        <p:nvSpPr>
          <p:cNvPr id="6" name="文字_下列关于亚铁盐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下列关于亚铁盐说法正确的是</a:t>
            </a:r>
          </a:p>
        </p:txBody>
      </p:sp>
      <p:sp>
        <p:nvSpPr>
          <p:cNvPr id="7" name="文字_A. 向FeSO₄溶液中通入氯气Cl₂ + Fe"/>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向FeSO₄溶液中通入氯气Cl₂ + Fe²⁺ = 2Cl− + Fe³⁺</a:t>
            </a:r>
          </a:p>
        </p:txBody>
      </p:sp>
      <p:sp>
        <p:nvSpPr>
          <p:cNvPr id="8" name="文字_B. 向FeSO₄溶液中加入淀粉KI溶液，溶液变"/>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向FeSO₄溶液中加入淀粉KI溶液，溶液变蓝</a:t>
            </a:r>
          </a:p>
        </p:txBody>
      </p:sp>
      <p:sp>
        <p:nvSpPr>
          <p:cNvPr id="9" name="文字_C. FeSO₄溶液配制时加入少量铁粉以防止Fe"/>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FeSO₄溶液配制时加入少量铁粉以防止Fe²⁺被氧化</a:t>
            </a:r>
          </a:p>
        </p:txBody>
      </p:sp>
      <p:sp>
        <p:nvSpPr>
          <p:cNvPr id="10" name="文字_D. 用酸性KMnO₄溶液检验FeCl₃溶液中是"/>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用酸性KMnO₄溶液检验FeCl₃溶液中是否含有FeCl₂</a:t>
            </a:r>
          </a:p>
        </p:txBody>
      </p:sp>
      <p:sp>
        <p:nvSpPr>
          <p:cNvPr id="11" name="文字_单选题  ·  09-04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09-041</a:t>
            </a:r>
          </a:p>
        </p:txBody>
      </p:sp>
      <p:sp>
        <p:nvSpPr>
          <p:cNvPr id="12" name="文字_5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例题4</a:t>
            </a:r>
          </a:p>
        </p:txBody>
      </p:sp>
      <p:sp>
        <p:nvSpPr>
          <p:cNvPr id="5" name="文字_P19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P194</a:t>
            </a:r>
          </a:p>
        </p:txBody>
      </p:sp>
      <p:sp>
        <p:nvSpPr>
          <p:cNvPr id="6" name="文字_电子工业常用30%的FeCl₃溶液腐蚀绝缘板上的"/>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电子工业常用30%的FeCl₃溶液腐蚀绝缘板上的铜箔，制作印刷电路板。下列说法</a:t>
            </a:r>
          </a:p>
          <a:p>
            <a:pPr>
              <a:lnSpc>
                <a:spcPct val="112000"/>
              </a:lnSpc>
              <a:spcBef>
                <a:spcPts val="0"/>
              </a:spcBef>
              <a:spcAft>
                <a:spcPts val="0"/>
              </a:spcAft>
              <a:defRPr sz="2400" b="0">
                <a:solidFill>
                  <a:srgbClr val="333333"/>
                </a:solidFill>
                <a:latin typeface="微软雅黑"/>
              </a:defRPr>
            </a:pPr>
            <a:r>
              <a:rPr>
                <a:ea typeface="微软雅黑"/>
              </a:rPr>
              <a:t>正确的是</a:t>
            </a:r>
          </a:p>
        </p:txBody>
      </p:sp>
      <p:sp>
        <p:nvSpPr>
          <p:cNvPr id="7" name="文字_A. 该反应为置换反应"/>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该反应为置换反应</a:t>
            </a:r>
          </a:p>
        </p:txBody>
      </p:sp>
      <p:sp>
        <p:nvSpPr>
          <p:cNvPr id="8" name="文字_B. 用KSCN溶液可检验废液中的Fe²⁺"/>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用KSCN溶液可检验废液中的Fe²⁺</a:t>
            </a:r>
          </a:p>
        </p:txBody>
      </p:sp>
      <p:sp>
        <p:nvSpPr>
          <p:cNvPr id="9" name="文字_C. 可用置换法回收废液中的铜"/>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可用置换法回收废液中的铜</a:t>
            </a:r>
          </a:p>
        </p:txBody>
      </p:sp>
      <p:sp>
        <p:nvSpPr>
          <p:cNvPr id="10" name="文字_D. Fe³⁺能溶解Cu说明Cu比Fe金属性强"/>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Fe³⁺能溶解Cu说明Cu比Fe金属性强</a:t>
            </a:r>
          </a:p>
        </p:txBody>
      </p:sp>
      <p:sp>
        <p:nvSpPr>
          <p:cNvPr id="11" name="文字_单选题  ·  09-04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09-042</a:t>
            </a:r>
          </a:p>
        </p:txBody>
      </p:sp>
      <p:sp>
        <p:nvSpPr>
          <p:cNvPr id="12" name="文字_5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例题5</a:t>
            </a:r>
          </a:p>
        </p:txBody>
      </p:sp>
      <p:sp>
        <p:nvSpPr>
          <p:cNvPr id="5" name="文字_P19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P194</a:t>
            </a:r>
          </a:p>
        </p:txBody>
      </p:sp>
      <p:sp>
        <p:nvSpPr>
          <p:cNvPr id="6" name="文字_把一定量的Fe和Cu的混和粉末投入到FeCl₃溶"/>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把一定量的Fe和Cu的混和粉末投入到FeCl₃溶液中，充分反应后，下列情况不可能</a:t>
            </a:r>
          </a:p>
          <a:p>
            <a:pPr>
              <a:lnSpc>
                <a:spcPct val="112000"/>
              </a:lnSpc>
              <a:spcBef>
                <a:spcPts val="0"/>
              </a:spcBef>
              <a:spcAft>
                <a:spcPts val="0"/>
              </a:spcAft>
              <a:defRPr sz="2400" b="0">
                <a:solidFill>
                  <a:srgbClr val="333333"/>
                </a:solidFill>
                <a:latin typeface="微软雅黑"/>
              </a:defRPr>
            </a:pPr>
            <a:r>
              <a:rPr>
                <a:ea typeface="微软雅黑"/>
              </a:rPr>
              <a:t>的是</a:t>
            </a:r>
          </a:p>
        </p:txBody>
      </p:sp>
      <p:sp>
        <p:nvSpPr>
          <p:cNvPr id="7" name="文字_A. Fe 和 Cu都剩"/>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 和 Cu都剩</a:t>
            </a:r>
          </a:p>
        </p:txBody>
      </p:sp>
      <p:sp>
        <p:nvSpPr>
          <p:cNvPr id="8" name="文字_B. Fe 和 Cu 都不剩"/>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 和 Cu 都不剩</a:t>
            </a:r>
          </a:p>
        </p:txBody>
      </p:sp>
      <p:sp>
        <p:nvSpPr>
          <p:cNvPr id="9" name="文字_C. Fe剩余，Cu无剩余"/>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Fe剩余，Cu无剩余</a:t>
            </a:r>
          </a:p>
        </p:txBody>
      </p:sp>
      <p:sp>
        <p:nvSpPr>
          <p:cNvPr id="10" name="文字_D. Cu剩余，Fe无剩余"/>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Cu剩余，Fe无剩余</a:t>
            </a:r>
          </a:p>
        </p:txBody>
      </p:sp>
      <p:sp>
        <p:nvSpPr>
          <p:cNvPr id="11" name="文字_单选题  ·  09-04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09-043</a:t>
            </a:r>
          </a:p>
        </p:txBody>
      </p:sp>
      <p:sp>
        <p:nvSpPr>
          <p:cNvPr id="12" name="文字_5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例题6</a:t>
            </a:r>
          </a:p>
        </p:txBody>
      </p:sp>
      <p:sp>
        <p:nvSpPr>
          <p:cNvPr id="5" name="文字_P19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P195</a:t>
            </a:r>
          </a:p>
        </p:txBody>
      </p:sp>
      <p:sp>
        <p:nvSpPr>
          <p:cNvPr id="6" name="文字_向FeCl₃、CuCl₂的混合溶液中加入铁粉，充"/>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向FeCl₃、CuCl₂的混合溶液中加入铁粉，充分反应后仍有固体存在。下列判断不</a:t>
            </a:r>
          </a:p>
          <a:p>
            <a:pPr>
              <a:lnSpc>
                <a:spcPct val="112000"/>
              </a:lnSpc>
              <a:spcBef>
                <a:spcPts val="0"/>
              </a:spcBef>
              <a:spcAft>
                <a:spcPts val="0"/>
              </a:spcAft>
              <a:defRPr sz="2400" b="0">
                <a:solidFill>
                  <a:srgbClr val="333333"/>
                </a:solidFill>
                <a:latin typeface="微软雅黑"/>
              </a:defRPr>
            </a:pPr>
            <a:r>
              <a:rPr>
                <a:ea typeface="微软雅黑"/>
              </a:rPr>
              <a:t>正确的是</a:t>
            </a:r>
          </a:p>
        </p:txBody>
      </p:sp>
      <p:sp>
        <p:nvSpPr>
          <p:cNvPr id="7" name="文字_A. 加入KSCN溶液可能变红色"/>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加入KSCN溶液可能变红色</a:t>
            </a:r>
          </a:p>
        </p:txBody>
      </p:sp>
      <p:sp>
        <p:nvSpPr>
          <p:cNvPr id="8" name="文字_B. 溶液中一定含Fe²⁺"/>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溶液中一定含Fe²⁺</a:t>
            </a:r>
          </a:p>
        </p:txBody>
      </p:sp>
      <p:sp>
        <p:nvSpPr>
          <p:cNvPr id="9" name="文字_C. 溶液中可能含有Cu²⁺"/>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溶液中可能含有Cu²⁺</a:t>
            </a:r>
          </a:p>
        </p:txBody>
      </p:sp>
      <p:sp>
        <p:nvSpPr>
          <p:cNvPr id="10" name="文字_D. 剩余固体中一定含Cu"/>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剩余固体中一定含Cu</a:t>
            </a:r>
          </a:p>
        </p:txBody>
      </p:sp>
      <p:sp>
        <p:nvSpPr>
          <p:cNvPr id="11" name="文字_单选题  ·  09-04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09-044</a:t>
            </a:r>
          </a:p>
        </p:txBody>
      </p:sp>
      <p:sp>
        <p:nvSpPr>
          <p:cNvPr id="12" name="文字_6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例题7</a:t>
            </a:r>
          </a:p>
        </p:txBody>
      </p:sp>
      <p:sp>
        <p:nvSpPr>
          <p:cNvPr id="5" name="文字_P19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P195</a:t>
            </a:r>
          </a:p>
        </p:txBody>
      </p:sp>
      <p:sp>
        <p:nvSpPr>
          <p:cNvPr id="6" name="文字_探究实验(根据以下操作填空)："/>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探究实验(根据以下操作填空)：</a:t>
            </a:r>
          </a:p>
        </p:txBody>
      </p:sp>
      <p:sp>
        <p:nvSpPr>
          <p:cNvPr id="7" name="文字_实验步骤：I在两支试管中分别加入10mLFeCl"/>
          <p:cNvSpPr txBox="1"/>
          <p:nvPr/>
        </p:nvSpPr>
        <p:spPr>
          <a:xfrm>
            <a:off x="502920" y="1517904"/>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实验步骤：I在两支试管中分别加入10mLFeCl₂和10mL FeCl₃溶液，然后各滴入几</a:t>
            </a:r>
          </a:p>
          <a:p>
            <a:pPr>
              <a:lnSpc>
                <a:spcPct val="112000"/>
              </a:lnSpc>
              <a:spcBef>
                <a:spcPts val="0"/>
              </a:spcBef>
              <a:spcAft>
                <a:spcPts val="0"/>
              </a:spcAft>
              <a:defRPr sz="2400" b="0">
                <a:solidFill>
                  <a:srgbClr val="333333"/>
                </a:solidFill>
                <a:latin typeface="微软雅黑"/>
              </a:defRPr>
            </a:pPr>
            <a:r>
              <a:rPr>
                <a:ea typeface="微软雅黑"/>
              </a:rPr>
              <a:t>滴KSCN溶液，观察现象．Ⅱ在盛有FeCl₂和KSCN溶液的试管里再滴加几滴新配制</a:t>
            </a:r>
          </a:p>
          <a:p>
            <a:pPr>
              <a:lnSpc>
                <a:spcPct val="112000"/>
              </a:lnSpc>
              <a:spcBef>
                <a:spcPts val="0"/>
              </a:spcBef>
              <a:spcAft>
                <a:spcPts val="0"/>
              </a:spcAft>
              <a:defRPr sz="2400" b="0">
                <a:solidFill>
                  <a:srgbClr val="333333"/>
                </a:solidFill>
                <a:latin typeface="微软雅黑"/>
              </a:defRPr>
            </a:pPr>
            <a:r>
              <a:rPr>
                <a:ea typeface="微软雅黑"/>
              </a:rPr>
              <a:t>的氯水，观察现象．在试管里加入5mLFeCl₃溶液，加入几滴稀盐酸和适量还原铁</a:t>
            </a:r>
          </a:p>
          <a:p>
            <a:pPr>
              <a:lnSpc>
                <a:spcPct val="112000"/>
              </a:lnSpc>
              <a:spcBef>
                <a:spcPts val="0"/>
              </a:spcBef>
              <a:spcAft>
                <a:spcPts val="0"/>
              </a:spcAft>
              <a:defRPr sz="2400" b="0">
                <a:solidFill>
                  <a:srgbClr val="333333"/>
                </a:solidFill>
                <a:latin typeface="微软雅黑"/>
              </a:defRPr>
            </a:pPr>
            <a:r>
              <a:rPr>
                <a:ea typeface="微软雅黑"/>
              </a:rPr>
              <a:t>粉，振荡一会，观察现象。</a:t>
            </a:r>
          </a:p>
        </p:txBody>
      </p:sp>
      <p:sp>
        <p:nvSpPr>
          <p:cNvPr id="8" name="文字_实验现象：I中盛FeCl₃溶液的试管里溶液 __"/>
          <p:cNvSpPr txBox="1"/>
          <p:nvPr/>
        </p:nvSpPr>
        <p:spPr>
          <a:xfrm>
            <a:off x="502920" y="30449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实验现象：I中盛FeCl₃溶液的试管里溶液 ______ ；盛FeCl₂溶液的试管里溶液 ____</a:t>
            </a:r>
          </a:p>
          <a:p>
            <a:pPr>
              <a:lnSpc>
                <a:spcPct val="112000"/>
              </a:lnSpc>
              <a:spcBef>
                <a:spcPts val="0"/>
              </a:spcBef>
              <a:spcAft>
                <a:spcPts val="0"/>
              </a:spcAft>
              <a:defRPr sz="2400" b="0">
                <a:solidFill>
                  <a:srgbClr val="333333"/>
                </a:solidFill>
                <a:latin typeface="微软雅黑"/>
              </a:defRPr>
            </a:pPr>
            <a:r>
              <a:rPr>
                <a:ea typeface="微软雅黑"/>
              </a:rPr>
              <a:t>__ ；Ⅱ中溶液Ⅲ中加入HCl和铁粉后，溶液 ______ ，滴加KSCN溶液 ______ O</a:t>
            </a:r>
          </a:p>
        </p:txBody>
      </p:sp>
      <p:sp>
        <p:nvSpPr>
          <p:cNvPr id="9" name="文字_实验结论：在溶液中Fe³⁺遇SCN⁻ _____"/>
          <p:cNvSpPr txBox="1"/>
          <p:nvPr/>
        </p:nvSpPr>
        <p:spPr>
          <a:xfrm>
            <a:off x="502920" y="38465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实验结论：在溶液中Fe³⁺遇SCN⁻ ______ ，Fe²⁺遇SCN - ______ 。在实验室中，</a:t>
            </a:r>
          </a:p>
          <a:p>
            <a:pPr>
              <a:lnSpc>
                <a:spcPct val="112000"/>
              </a:lnSpc>
              <a:spcBef>
                <a:spcPts val="0"/>
              </a:spcBef>
              <a:spcAft>
                <a:spcPts val="0"/>
              </a:spcAft>
              <a:defRPr sz="2400" b="0">
                <a:solidFill>
                  <a:srgbClr val="333333"/>
                </a:solidFill>
                <a:latin typeface="微软雅黑"/>
              </a:defRPr>
            </a:pPr>
            <a:r>
              <a:rPr>
                <a:ea typeface="微软雅黑"/>
              </a:rPr>
              <a:t>可用 ______ 检验Fe³⁺的存在。</a:t>
            </a:r>
          </a:p>
        </p:txBody>
      </p:sp>
      <p:sp>
        <p:nvSpPr>
          <p:cNvPr id="10" name="文字_填空题  ·  09-04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09-045</a:t>
            </a:r>
          </a:p>
        </p:txBody>
      </p:sp>
      <p:sp>
        <p:nvSpPr>
          <p:cNvPr id="11" name="文字_6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例题8</a:t>
            </a:r>
          </a:p>
        </p:txBody>
      </p:sp>
      <p:sp>
        <p:nvSpPr>
          <p:cNvPr id="5" name="文字_P19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P195</a:t>
            </a:r>
          </a:p>
        </p:txBody>
      </p:sp>
      <p:sp>
        <p:nvSpPr>
          <p:cNvPr id="6" name="文字_工业上向炽热铁屑中通入氯化氢气体生产无水氯化亚铁"/>
          <p:cNvSpPr txBox="1"/>
          <p:nvPr/>
        </p:nvSpPr>
        <p:spPr>
          <a:xfrm>
            <a:off x="502920" y="1078992"/>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工业上向炽热铁屑中通入氯化氢气体生产无水氯化亚铁，现用如图所示的装置模拟进行实验，</a:t>
            </a:r>
          </a:p>
        </p:txBody>
      </p:sp>
      <p:pic>
        <p:nvPicPr>
          <p:cNvPr id="7" name="Picture 6" descr="image.png"/>
          <p:cNvPicPr>
            <a:picLocks noChangeAspect="1"/>
          </p:cNvPicPr>
          <p:nvPr/>
        </p:nvPicPr>
        <p:blipFill>
          <a:blip r:embed="rId3"/>
          <a:stretch>
            <a:fillRect/>
          </a:stretch>
        </p:blipFill>
        <p:spPr>
          <a:xfrm>
            <a:off x="502920" y="1463039"/>
            <a:ext cx="11064240" cy="3101049"/>
          </a:xfrm>
          <a:prstGeom prst="rect">
            <a:avLst/>
          </a:prstGeom>
        </p:spPr>
      </p:pic>
      <p:sp>
        <p:nvSpPr>
          <p:cNvPr id="8" name="原题文字_195_30"/>
          <p:cNvSpPr txBox="1"/>
          <p:nvPr/>
        </p:nvSpPr>
        <p:spPr>
          <a:xfrm>
            <a:off x="1023590" y="1494923"/>
            <a:ext cx="144842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回答下列问题：</a:t>
            </a:r>
          </a:p>
        </p:txBody>
      </p:sp>
      <p:sp>
        <p:nvSpPr>
          <p:cNvPr id="9" name="原题文字_195_31"/>
          <p:cNvSpPr txBox="1"/>
          <p:nvPr/>
        </p:nvSpPr>
        <p:spPr>
          <a:xfrm>
            <a:off x="6391086" y="2896138"/>
            <a:ext cx="120340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铁屑玻璃丝</a:t>
            </a:r>
          </a:p>
        </p:txBody>
      </p:sp>
      <p:sp>
        <p:nvSpPr>
          <p:cNvPr id="10" name="原题文字_195_32"/>
          <p:cNvSpPr txBox="1"/>
          <p:nvPr/>
        </p:nvSpPr>
        <p:spPr>
          <a:xfrm>
            <a:off x="4538113" y="4320324"/>
            <a:ext cx="200345"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A</a:t>
            </a:r>
          </a:p>
        </p:txBody>
      </p:sp>
      <p:sp>
        <p:nvSpPr>
          <p:cNvPr id="11" name="原题文字_195_33"/>
          <p:cNvSpPr txBox="1"/>
          <p:nvPr/>
        </p:nvSpPr>
        <p:spPr>
          <a:xfrm>
            <a:off x="5388030" y="4320324"/>
            <a:ext cx="24628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B</a:t>
            </a:r>
          </a:p>
        </p:txBody>
      </p:sp>
      <p:sp>
        <p:nvSpPr>
          <p:cNvPr id="12" name="原题文字_195_34"/>
          <p:cNvSpPr txBox="1"/>
          <p:nvPr/>
        </p:nvSpPr>
        <p:spPr>
          <a:xfrm>
            <a:off x="6659078" y="4320324"/>
            <a:ext cx="24628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C</a:t>
            </a:r>
          </a:p>
        </p:txBody>
      </p:sp>
      <p:sp>
        <p:nvSpPr>
          <p:cNvPr id="13" name="原题文字_195_35"/>
          <p:cNvSpPr txBox="1"/>
          <p:nvPr/>
        </p:nvSpPr>
        <p:spPr>
          <a:xfrm>
            <a:off x="8274687" y="4343295"/>
            <a:ext cx="223316" cy="199079"/>
          </a:xfrm>
          <a:prstGeom prst="rect">
            <a:avLst/>
          </a:prstGeom>
          <a:noFill/>
        </p:spPr>
        <p:txBody>
          <a:bodyPr wrap="none" lIns="0" rIns="0" tIns="0" bIns="0">
            <a:spAutoFit/>
          </a:bodyPr>
          <a:lstStyle/>
          <a:p>
            <a:pPr>
              <a:lnSpc>
                <a:spcPct val="112000"/>
              </a:lnSpc>
              <a:spcBef>
                <a:spcPts val="0"/>
              </a:spcBef>
              <a:spcAft>
                <a:spcPts val="0"/>
              </a:spcAft>
              <a:defRPr sz="964" b="0">
                <a:solidFill>
                  <a:srgbClr val="333333"/>
                </a:solidFill>
                <a:latin typeface="微软雅黑"/>
              </a:defRPr>
            </a:pPr>
            <a:r>
              <a:rPr>
                <a:ea typeface="微软雅黑"/>
              </a:rPr>
              <a:t>D</a:t>
            </a:r>
          </a:p>
        </p:txBody>
      </p:sp>
      <p:sp>
        <p:nvSpPr>
          <p:cNvPr id="14" name="文字_(1）制取无水氯化亚铁的实验中，装置A用来制取"/>
          <p:cNvSpPr txBox="1"/>
          <p:nvPr/>
        </p:nvSpPr>
        <p:spPr>
          <a:xfrm>
            <a:off x="502920" y="4637241"/>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(1）制取无水氯化亚铁的实验中，装置A用来制取</a:t>
            </a:r>
          </a:p>
        </p:txBody>
      </p:sp>
      <p:sp>
        <p:nvSpPr>
          <p:cNvPr id="15" name="文字_(2) 若用D装置进行尾气处理，存在的问题是"/>
          <p:cNvSpPr txBox="1"/>
          <p:nvPr/>
        </p:nvSpPr>
        <p:spPr>
          <a:xfrm>
            <a:off x="502920" y="5021289"/>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(2) 若用D装置进行尾气处理，存在的问题是</a:t>
            </a:r>
          </a:p>
        </p:txBody>
      </p:sp>
      <p:sp>
        <p:nvSpPr>
          <p:cNvPr id="16" name="文字_(3）若操作不当，制得的FeCl₂中会含有少量F"/>
          <p:cNvSpPr txBox="1"/>
          <p:nvPr/>
        </p:nvSpPr>
        <p:spPr>
          <a:xfrm>
            <a:off x="502920" y="5405337"/>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(3）若操作不当，制得的FeCl₂中会含有少量FeCl₃，请设计实验方案检验产品中的FeCl₃:</a:t>
            </a:r>
          </a:p>
        </p:txBody>
      </p:sp>
      <p:sp>
        <p:nvSpPr>
          <p:cNvPr id="17" name="文字_(4) 欲制得纯净的FeCl₂，在实验操作过程中"/>
          <p:cNvSpPr txBox="1"/>
          <p:nvPr/>
        </p:nvSpPr>
        <p:spPr>
          <a:xfrm>
            <a:off x="502920" y="5789385"/>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(4) 欲制得纯净的FeCl₂，在实验操作过程中应 ______ O</a:t>
            </a:r>
          </a:p>
        </p:txBody>
      </p:sp>
      <p:sp>
        <p:nvSpPr>
          <p:cNvPr id="18" name="文字_填空题  ·  09-04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09-046</a:t>
            </a:r>
          </a:p>
        </p:txBody>
      </p:sp>
      <p:sp>
        <p:nvSpPr>
          <p:cNvPr id="19" name="文字_6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例题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例题9</a:t>
            </a:r>
          </a:p>
        </p:txBody>
      </p:sp>
      <p:sp>
        <p:nvSpPr>
          <p:cNvPr id="5" name="文字_P19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P196</a:t>
            </a:r>
          </a:p>
        </p:txBody>
      </p:sp>
      <p:sp>
        <p:nvSpPr>
          <p:cNvPr id="6" name="文字_某实验小组对氯气与铁的反应及产物做了如下探究实验"/>
          <p:cNvSpPr txBox="1"/>
          <p:nvPr/>
        </p:nvSpPr>
        <p:spPr>
          <a:xfrm>
            <a:off x="502920" y="1078992"/>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某实验小组对氯气与铁的反应及产物做了如下探究实验。已知FeCl₃易升华，易溶于水并且有强烈的吸水性，能吸收空气里的水分而潮解。</a:t>
            </a:r>
          </a:p>
        </p:txBody>
      </p:sp>
      <p:pic>
        <p:nvPicPr>
          <p:cNvPr id="7" name="Picture 6" descr="image.png"/>
          <p:cNvPicPr>
            <a:picLocks noChangeAspect="1"/>
          </p:cNvPicPr>
          <p:nvPr/>
        </p:nvPicPr>
        <p:blipFill>
          <a:blip r:embed="rId3"/>
          <a:stretch>
            <a:fillRect/>
          </a:stretch>
        </p:blipFill>
        <p:spPr>
          <a:xfrm>
            <a:off x="502920" y="1335024"/>
            <a:ext cx="8859344" cy="1869965"/>
          </a:xfrm>
          <a:prstGeom prst="rect">
            <a:avLst/>
          </a:prstGeom>
        </p:spPr>
      </p:pic>
      <p:sp>
        <p:nvSpPr>
          <p:cNvPr id="8" name="原题文字_196_5"/>
          <p:cNvSpPr txBox="1"/>
          <p:nvPr/>
        </p:nvSpPr>
        <p:spPr>
          <a:xfrm>
            <a:off x="1097630" y="1432850"/>
            <a:ext cx="508560" cy="255051"/>
          </a:xfrm>
          <a:prstGeom prst="rect">
            <a:avLst/>
          </a:prstGeom>
          <a:noFill/>
        </p:spPr>
        <p:txBody>
          <a:bodyPr wrap="none" lIns="0" rIns="0" tIns="0" bIns="0">
            <a:spAutoFit/>
          </a:bodyPr>
          <a:lstStyle/>
          <a:p>
            <a:pPr>
              <a:lnSpc>
                <a:spcPct val="112000"/>
              </a:lnSpc>
              <a:spcBef>
                <a:spcPts val="0"/>
              </a:spcBef>
              <a:spcAft>
                <a:spcPts val="0"/>
              </a:spcAft>
              <a:defRPr sz="1235" b="0">
                <a:solidFill>
                  <a:srgbClr val="333333"/>
                </a:solidFill>
                <a:latin typeface="微软雅黑"/>
              </a:defRPr>
            </a:pPr>
            <a:r>
              <a:rPr>
                <a:ea typeface="微软雅黑"/>
              </a:rPr>
              <a:t>浓HCl</a:t>
            </a:r>
          </a:p>
        </p:txBody>
      </p:sp>
      <p:sp>
        <p:nvSpPr>
          <p:cNvPr id="9" name="原题文字_196_6"/>
          <p:cNvSpPr txBox="1"/>
          <p:nvPr/>
        </p:nvSpPr>
        <p:spPr>
          <a:xfrm>
            <a:off x="2274788" y="1622912"/>
            <a:ext cx="833505" cy="247080"/>
          </a:xfrm>
          <a:prstGeom prst="rect">
            <a:avLst/>
          </a:prstGeom>
          <a:noFill/>
        </p:spPr>
        <p:txBody>
          <a:bodyPr wrap="none" lIns="0" rIns="0" tIns="0" bIns="0">
            <a:spAutoFit/>
          </a:bodyPr>
          <a:lstStyle/>
          <a:p>
            <a:pPr>
              <a:lnSpc>
                <a:spcPct val="112000"/>
              </a:lnSpc>
              <a:spcBef>
                <a:spcPts val="0"/>
              </a:spcBef>
              <a:spcAft>
                <a:spcPts val="0"/>
              </a:spcAft>
              <a:defRPr sz="1197" b="0">
                <a:solidFill>
                  <a:srgbClr val="333333"/>
                </a:solidFill>
                <a:latin typeface="微软雅黑"/>
              </a:defRPr>
            </a:pPr>
            <a:r>
              <a:rPr>
                <a:ea typeface="微软雅黑"/>
              </a:rPr>
              <a:t>硬质玻璃管</a:t>
            </a:r>
          </a:p>
        </p:txBody>
      </p:sp>
      <p:sp>
        <p:nvSpPr>
          <p:cNvPr id="10" name="原题文字_196_7"/>
          <p:cNvSpPr txBox="1"/>
          <p:nvPr/>
        </p:nvSpPr>
        <p:spPr>
          <a:xfrm>
            <a:off x="2041809" y="1843630"/>
            <a:ext cx="441119" cy="302873"/>
          </a:xfrm>
          <a:prstGeom prst="rect">
            <a:avLst/>
          </a:prstGeom>
          <a:noFill/>
        </p:spPr>
        <p:txBody>
          <a:bodyPr wrap="none" lIns="0" rIns="0" tIns="0" bIns="0">
            <a:spAutoFit/>
          </a:bodyPr>
          <a:lstStyle/>
          <a:p>
            <a:pPr>
              <a:lnSpc>
                <a:spcPct val="112000"/>
              </a:lnSpc>
              <a:spcBef>
                <a:spcPts val="0"/>
              </a:spcBef>
              <a:spcAft>
                <a:spcPts val="0"/>
              </a:spcAft>
              <a:defRPr sz="1467" b="0">
                <a:solidFill>
                  <a:srgbClr val="333333"/>
                </a:solidFill>
                <a:latin typeface="微软雅黑"/>
              </a:defRPr>
            </a:pPr>
            <a:r>
              <a:rPr>
                <a:ea typeface="微软雅黑"/>
              </a:rPr>
              <a:t>Fe粉</a:t>
            </a:r>
          </a:p>
        </p:txBody>
      </p:sp>
      <p:sp>
        <p:nvSpPr>
          <p:cNvPr id="11" name="原题文字_196_8"/>
          <p:cNvSpPr txBox="1"/>
          <p:nvPr/>
        </p:nvSpPr>
        <p:spPr>
          <a:xfrm>
            <a:off x="3525520" y="2162443"/>
            <a:ext cx="269450" cy="239110"/>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一</a:t>
            </a:r>
          </a:p>
        </p:txBody>
      </p:sp>
      <p:sp>
        <p:nvSpPr>
          <p:cNvPr id="12" name="原题文字_196_9"/>
          <p:cNvSpPr txBox="1"/>
          <p:nvPr/>
        </p:nvSpPr>
        <p:spPr>
          <a:xfrm>
            <a:off x="5248340" y="2162443"/>
            <a:ext cx="269450" cy="239110"/>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元</a:t>
            </a:r>
          </a:p>
        </p:txBody>
      </p:sp>
      <p:sp>
        <p:nvSpPr>
          <p:cNvPr id="13" name="原题文字_196_10"/>
          <p:cNvSpPr txBox="1"/>
          <p:nvPr/>
        </p:nvSpPr>
        <p:spPr>
          <a:xfrm>
            <a:off x="1195726" y="2327981"/>
            <a:ext cx="502429" cy="278962"/>
          </a:xfrm>
          <a:prstGeom prst="rect">
            <a:avLst/>
          </a:prstGeom>
          <a:noFill/>
        </p:spPr>
        <p:txBody>
          <a:bodyPr wrap="none" lIns="0" rIns="0" tIns="0" bIns="0">
            <a:spAutoFit/>
          </a:bodyPr>
          <a:lstStyle/>
          <a:p>
            <a:pPr>
              <a:lnSpc>
                <a:spcPct val="112000"/>
              </a:lnSpc>
              <a:spcBef>
                <a:spcPts val="0"/>
              </a:spcBef>
              <a:spcAft>
                <a:spcPts val="0"/>
              </a:spcAft>
              <a:defRPr sz="1093" b="0">
                <a:solidFill>
                  <a:srgbClr val="333333"/>
                </a:solidFill>
                <a:latin typeface="微软雅黑"/>
              </a:defRPr>
            </a:pPr>
            <a:r>
              <a:rPr>
                <a:ea typeface="微软雅黑"/>
              </a:rPr>
              <a:t>-MnO₂</a:t>
            </a:r>
          </a:p>
        </p:txBody>
      </p:sp>
      <p:sp>
        <p:nvSpPr>
          <p:cNvPr id="14" name="原题文字_196_11"/>
          <p:cNvSpPr txBox="1"/>
          <p:nvPr/>
        </p:nvSpPr>
        <p:spPr>
          <a:xfrm>
            <a:off x="2998251" y="2395423"/>
            <a:ext cx="416595"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冷水</a:t>
            </a:r>
          </a:p>
        </p:txBody>
      </p:sp>
      <p:sp>
        <p:nvSpPr>
          <p:cNvPr id="15" name="原题文字_196_12"/>
          <p:cNvSpPr txBox="1"/>
          <p:nvPr/>
        </p:nvSpPr>
        <p:spPr>
          <a:xfrm>
            <a:off x="3991478" y="2530305"/>
            <a:ext cx="404332" cy="199258"/>
          </a:xfrm>
          <a:prstGeom prst="rect">
            <a:avLst/>
          </a:prstGeom>
          <a:noFill/>
        </p:spPr>
        <p:txBody>
          <a:bodyPr wrap="none" lIns="0" rIns="0" tIns="0" bIns="0">
            <a:spAutoFit/>
          </a:bodyPr>
          <a:lstStyle/>
          <a:p>
            <a:pPr>
              <a:lnSpc>
                <a:spcPct val="112000"/>
              </a:lnSpc>
              <a:spcBef>
                <a:spcPts val="0"/>
              </a:spcBef>
              <a:spcAft>
                <a:spcPts val="0"/>
              </a:spcAft>
              <a:defRPr sz="965" b="0">
                <a:solidFill>
                  <a:srgbClr val="333333"/>
                </a:solidFill>
                <a:latin typeface="微软雅黑"/>
              </a:defRPr>
            </a:pPr>
            <a:r>
              <a:rPr>
                <a:ea typeface="微软雅黑"/>
              </a:rPr>
              <a:t>f =E</a:t>
            </a:r>
          </a:p>
        </p:txBody>
      </p:sp>
      <p:sp>
        <p:nvSpPr>
          <p:cNvPr id="16" name="原题文字_196_13"/>
          <p:cNvSpPr txBox="1"/>
          <p:nvPr/>
        </p:nvSpPr>
        <p:spPr>
          <a:xfrm>
            <a:off x="2587471" y="2775547"/>
            <a:ext cx="557608" cy="270991"/>
          </a:xfrm>
          <a:prstGeom prst="rect">
            <a:avLst/>
          </a:prstGeom>
          <a:noFill/>
        </p:spPr>
        <p:txBody>
          <a:bodyPr wrap="none" lIns="0" rIns="0" tIns="0" bIns="0">
            <a:spAutoFit/>
          </a:bodyPr>
          <a:lstStyle/>
          <a:p>
            <a:pPr>
              <a:lnSpc>
                <a:spcPct val="112000"/>
              </a:lnSpc>
              <a:spcBef>
                <a:spcPts val="0"/>
              </a:spcBef>
              <a:spcAft>
                <a:spcPts val="0"/>
              </a:spcAft>
              <a:defRPr sz="1313" b="0">
                <a:solidFill>
                  <a:srgbClr val="333333"/>
                </a:solidFill>
                <a:latin typeface="微软雅黑"/>
              </a:defRPr>
            </a:pPr>
            <a:r>
              <a:rPr>
                <a:ea typeface="微软雅黑"/>
              </a:rPr>
              <a:t>收集器</a:t>
            </a:r>
          </a:p>
        </p:txBody>
      </p:sp>
      <p:sp>
        <p:nvSpPr>
          <p:cNvPr id="17" name="原题文字_196_14"/>
          <p:cNvSpPr txBox="1"/>
          <p:nvPr/>
        </p:nvSpPr>
        <p:spPr>
          <a:xfrm>
            <a:off x="3378375" y="2800071"/>
            <a:ext cx="563739"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浓硫酸</a:t>
            </a:r>
          </a:p>
        </p:txBody>
      </p:sp>
      <p:sp>
        <p:nvSpPr>
          <p:cNvPr id="18" name="原题文字_196_15"/>
          <p:cNvSpPr txBox="1"/>
          <p:nvPr/>
        </p:nvSpPr>
        <p:spPr>
          <a:xfrm>
            <a:off x="4212195" y="2775547"/>
            <a:ext cx="557608" cy="270991"/>
          </a:xfrm>
          <a:prstGeom prst="rect">
            <a:avLst/>
          </a:prstGeom>
          <a:noFill/>
        </p:spPr>
        <p:txBody>
          <a:bodyPr wrap="none" lIns="0" rIns="0" tIns="0" bIns="0">
            <a:spAutoFit/>
          </a:bodyPr>
          <a:lstStyle/>
          <a:p>
            <a:pPr>
              <a:lnSpc>
                <a:spcPct val="112000"/>
              </a:lnSpc>
              <a:spcBef>
                <a:spcPts val="0"/>
              </a:spcBef>
              <a:spcAft>
                <a:spcPts val="0"/>
              </a:spcAft>
              <a:defRPr sz="1313" b="0">
                <a:solidFill>
                  <a:srgbClr val="333333"/>
                </a:solidFill>
                <a:latin typeface="微软雅黑"/>
              </a:defRPr>
            </a:pPr>
            <a:r>
              <a:rPr>
                <a:ea typeface="微软雅黑"/>
              </a:rPr>
              <a:t>碱石灰</a:t>
            </a:r>
          </a:p>
        </p:txBody>
      </p:sp>
      <p:sp>
        <p:nvSpPr>
          <p:cNvPr id="19" name="原题文字_196_16"/>
          <p:cNvSpPr txBox="1"/>
          <p:nvPr/>
        </p:nvSpPr>
        <p:spPr>
          <a:xfrm>
            <a:off x="5015361" y="2775547"/>
            <a:ext cx="839636" cy="278962"/>
          </a:xfrm>
          <a:prstGeom prst="rect">
            <a:avLst/>
          </a:prstGeom>
          <a:noFill/>
        </p:spPr>
        <p:txBody>
          <a:bodyPr wrap="none" lIns="0" rIns="0" tIns="0" bIns="0">
            <a:spAutoFit/>
          </a:bodyPr>
          <a:lstStyle/>
          <a:p>
            <a:pPr>
              <a:lnSpc>
                <a:spcPct val="112000"/>
              </a:lnSpc>
              <a:spcBef>
                <a:spcPts val="0"/>
              </a:spcBef>
              <a:spcAft>
                <a:spcPts val="0"/>
              </a:spcAft>
              <a:defRPr sz="1309" b="0">
                <a:solidFill>
                  <a:srgbClr val="333333"/>
                </a:solidFill>
                <a:latin typeface="微软雅黑"/>
              </a:defRPr>
            </a:pPr>
            <a:r>
              <a:rPr>
                <a:ea typeface="微软雅黑"/>
              </a:rPr>
              <a:t>饱和食盐水</a:t>
            </a:r>
          </a:p>
        </p:txBody>
      </p:sp>
      <p:sp>
        <p:nvSpPr>
          <p:cNvPr id="20" name="原题文字_196_17"/>
          <p:cNvSpPr txBox="1"/>
          <p:nvPr/>
        </p:nvSpPr>
        <p:spPr>
          <a:xfrm>
            <a:off x="950485" y="2971740"/>
            <a:ext cx="226532" cy="255051"/>
          </a:xfrm>
          <a:prstGeom prst="rect">
            <a:avLst/>
          </a:prstGeom>
          <a:noFill/>
        </p:spPr>
        <p:txBody>
          <a:bodyPr wrap="none" lIns="0" rIns="0" tIns="0" bIns="0">
            <a:spAutoFit/>
          </a:bodyPr>
          <a:lstStyle/>
          <a:p>
            <a:pPr>
              <a:lnSpc>
                <a:spcPct val="112000"/>
              </a:lnSpc>
              <a:spcBef>
                <a:spcPts val="0"/>
              </a:spcBef>
              <a:spcAft>
                <a:spcPts val="0"/>
              </a:spcAft>
              <a:defRPr sz="1235" b="0">
                <a:solidFill>
                  <a:srgbClr val="333333"/>
                </a:solidFill>
                <a:latin typeface="微软雅黑"/>
              </a:defRPr>
            </a:pPr>
            <a:r>
              <a:rPr>
                <a:ea typeface="微软雅黑"/>
              </a:rPr>
              <a:t>A</a:t>
            </a:r>
          </a:p>
        </p:txBody>
      </p:sp>
      <p:sp>
        <p:nvSpPr>
          <p:cNvPr id="21" name="原题文字_196_18"/>
          <p:cNvSpPr txBox="1"/>
          <p:nvPr/>
        </p:nvSpPr>
        <p:spPr>
          <a:xfrm>
            <a:off x="2391278" y="2990133"/>
            <a:ext cx="208139" cy="223169"/>
          </a:xfrm>
          <a:prstGeom prst="rect">
            <a:avLst/>
          </a:prstGeom>
          <a:noFill/>
        </p:spPr>
        <p:txBody>
          <a:bodyPr wrap="none" lIns="0" rIns="0" tIns="0" bIns="0">
            <a:spAutoFit/>
          </a:bodyPr>
          <a:lstStyle/>
          <a:p>
            <a:pPr>
              <a:lnSpc>
                <a:spcPct val="112000"/>
              </a:lnSpc>
              <a:spcBef>
                <a:spcPts val="0"/>
              </a:spcBef>
              <a:spcAft>
                <a:spcPts val="0"/>
              </a:spcAft>
              <a:defRPr sz="1081" b="0">
                <a:solidFill>
                  <a:srgbClr val="333333"/>
                </a:solidFill>
                <a:latin typeface="微软雅黑"/>
              </a:defRPr>
            </a:pPr>
            <a:r>
              <a:rPr>
                <a:ea typeface="微软雅黑"/>
              </a:rPr>
              <a:t>B</a:t>
            </a:r>
          </a:p>
        </p:txBody>
      </p:sp>
      <p:sp>
        <p:nvSpPr>
          <p:cNvPr id="22" name="原题文字_196_19"/>
          <p:cNvSpPr txBox="1"/>
          <p:nvPr/>
        </p:nvSpPr>
        <p:spPr>
          <a:xfrm>
            <a:off x="3568437" y="2996264"/>
            <a:ext cx="208139" cy="215199"/>
          </a:xfrm>
          <a:prstGeom prst="rect">
            <a:avLst/>
          </a:prstGeom>
          <a:noFill/>
        </p:spPr>
        <p:txBody>
          <a:bodyPr wrap="none" lIns="0" rIns="0" tIns="0" bIns="0">
            <a:spAutoFit/>
          </a:bodyPr>
          <a:lstStyle/>
          <a:p>
            <a:pPr>
              <a:lnSpc>
                <a:spcPct val="112000"/>
              </a:lnSpc>
              <a:spcBef>
                <a:spcPts val="0"/>
              </a:spcBef>
              <a:spcAft>
                <a:spcPts val="0"/>
              </a:spcAft>
              <a:defRPr sz="1042" b="0">
                <a:solidFill>
                  <a:srgbClr val="333333"/>
                </a:solidFill>
                <a:latin typeface="微软雅黑"/>
              </a:defRPr>
            </a:pPr>
            <a:r>
              <a:rPr>
                <a:ea typeface="微软雅黑"/>
              </a:rPr>
              <a:t>C</a:t>
            </a:r>
          </a:p>
        </p:txBody>
      </p:sp>
      <p:sp>
        <p:nvSpPr>
          <p:cNvPr id="23" name="原题文字_196_20"/>
          <p:cNvSpPr txBox="1"/>
          <p:nvPr/>
        </p:nvSpPr>
        <p:spPr>
          <a:xfrm>
            <a:off x="4365471" y="2990133"/>
            <a:ext cx="220401" cy="207228"/>
          </a:xfrm>
          <a:prstGeom prst="rect">
            <a:avLst/>
          </a:prstGeom>
          <a:noFill/>
        </p:spPr>
        <p:txBody>
          <a:bodyPr wrap="none" lIns="0" rIns="0" tIns="0" bIns="0">
            <a:spAutoFit/>
          </a:bodyPr>
          <a:lstStyle/>
          <a:p>
            <a:pPr>
              <a:lnSpc>
                <a:spcPct val="112000"/>
              </a:lnSpc>
              <a:spcBef>
                <a:spcPts val="0"/>
              </a:spcBef>
              <a:spcAft>
                <a:spcPts val="0"/>
              </a:spcAft>
              <a:defRPr sz="1004" b="0">
                <a:solidFill>
                  <a:srgbClr val="333333"/>
                </a:solidFill>
                <a:latin typeface="微软雅黑"/>
              </a:defRPr>
            </a:pPr>
            <a:r>
              <a:rPr>
                <a:ea typeface="微软雅黑"/>
              </a:rPr>
              <a:t>D</a:t>
            </a:r>
          </a:p>
        </p:txBody>
      </p:sp>
      <p:sp>
        <p:nvSpPr>
          <p:cNvPr id="24" name="原题文字_196_21"/>
          <p:cNvSpPr txBox="1"/>
          <p:nvPr/>
        </p:nvSpPr>
        <p:spPr>
          <a:xfrm>
            <a:off x="5278995" y="2984002"/>
            <a:ext cx="208139" cy="231140"/>
          </a:xfrm>
          <a:prstGeom prst="rect">
            <a:avLst/>
          </a:prstGeom>
          <a:noFill/>
        </p:spPr>
        <p:txBody>
          <a:bodyPr wrap="none" lIns="0" rIns="0" tIns="0" bIns="0">
            <a:spAutoFit/>
          </a:bodyPr>
          <a:lstStyle/>
          <a:p>
            <a:pPr>
              <a:lnSpc>
                <a:spcPct val="112000"/>
              </a:lnSpc>
              <a:spcBef>
                <a:spcPts val="0"/>
              </a:spcBef>
              <a:spcAft>
                <a:spcPts val="0"/>
              </a:spcAft>
              <a:defRPr sz="1120" b="0">
                <a:solidFill>
                  <a:srgbClr val="333333"/>
                </a:solidFill>
                <a:latin typeface="微软雅黑"/>
              </a:defRPr>
            </a:pPr>
            <a:r>
              <a:rPr>
                <a:ea typeface="微软雅黑"/>
              </a:rPr>
              <a:t>E</a:t>
            </a:r>
          </a:p>
        </p:txBody>
      </p:sp>
      <p:sp>
        <p:nvSpPr>
          <p:cNvPr id="25" name="文字_(1) 制备氯气的化学反应方程式为"/>
          <p:cNvSpPr txBox="1"/>
          <p:nvPr/>
        </p:nvSpPr>
        <p:spPr>
          <a:xfrm>
            <a:off x="502920" y="3278141"/>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(1) 制备氯气的化学反应方程式为</a:t>
            </a:r>
          </a:p>
        </p:txBody>
      </p:sp>
      <p:sp>
        <p:nvSpPr>
          <p:cNvPr id="26" name="文字_(2) 装置接口的连接顺序为："/>
          <p:cNvSpPr txBox="1"/>
          <p:nvPr/>
        </p:nvSpPr>
        <p:spPr>
          <a:xfrm>
            <a:off x="502920" y="3534173"/>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(2) 装置接口的连接顺序为：</a:t>
            </a:r>
          </a:p>
        </p:txBody>
      </p:sp>
      <p:sp>
        <p:nvSpPr>
          <p:cNvPr id="27" name="文字_a→ ______ →b→c→f"/>
          <p:cNvSpPr txBox="1"/>
          <p:nvPr/>
        </p:nvSpPr>
        <p:spPr>
          <a:xfrm>
            <a:off x="502920" y="3790205"/>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a→ ______ →b→c→f</a:t>
            </a:r>
          </a:p>
        </p:txBody>
      </p:sp>
      <p:sp>
        <p:nvSpPr>
          <p:cNvPr id="28" name="文字_(3)D中碱石灰的作用是 ______ (答出两"/>
          <p:cNvSpPr txBox="1"/>
          <p:nvPr/>
        </p:nvSpPr>
        <p:spPr>
          <a:xfrm>
            <a:off x="502920" y="4046237"/>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(3)D中碱石灰的作用是 ______ (答出两点)。</a:t>
            </a:r>
          </a:p>
        </p:txBody>
      </p:sp>
      <p:sp>
        <p:nvSpPr>
          <p:cNvPr id="29" name="文字_(4)反应冷却后将硬质玻璃管及收集器中的物质一并"/>
          <p:cNvSpPr txBox="1"/>
          <p:nvPr/>
        </p:nvSpPr>
        <p:spPr>
          <a:xfrm>
            <a:off x="502920" y="4302269"/>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(4)反应冷却后将硬质玻璃管及收集器中的物质一并快速转移至锥形瓶中，进行如下实验。</a:t>
            </a:r>
          </a:p>
        </p:txBody>
      </p:sp>
      <p:pic>
        <p:nvPicPr>
          <p:cNvPr id="30" name="Picture 29" descr="image.png"/>
          <p:cNvPicPr>
            <a:picLocks noChangeAspect="1"/>
          </p:cNvPicPr>
          <p:nvPr/>
        </p:nvPicPr>
        <p:blipFill>
          <a:blip r:embed="rId4"/>
          <a:stretch>
            <a:fillRect/>
          </a:stretch>
        </p:blipFill>
        <p:spPr>
          <a:xfrm>
            <a:off x="502920" y="4558301"/>
            <a:ext cx="8859344" cy="735724"/>
          </a:xfrm>
          <a:prstGeom prst="rect">
            <a:avLst/>
          </a:prstGeom>
        </p:spPr>
      </p:pic>
      <p:sp>
        <p:nvSpPr>
          <p:cNvPr id="31" name="原题文字_196_33"/>
          <p:cNvSpPr txBox="1"/>
          <p:nvPr/>
        </p:nvSpPr>
        <p:spPr>
          <a:xfrm>
            <a:off x="1588113" y="4594817"/>
            <a:ext cx="545346"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过量稀</a:t>
            </a:r>
          </a:p>
        </p:txBody>
      </p:sp>
      <p:sp>
        <p:nvSpPr>
          <p:cNvPr id="32" name="原题文字_196_34"/>
          <p:cNvSpPr txBox="1"/>
          <p:nvPr/>
        </p:nvSpPr>
        <p:spPr>
          <a:xfrm>
            <a:off x="3789154" y="4582555"/>
            <a:ext cx="410464" cy="278962"/>
          </a:xfrm>
          <a:prstGeom prst="rect">
            <a:avLst/>
          </a:prstGeom>
          <a:noFill/>
        </p:spPr>
        <p:txBody>
          <a:bodyPr wrap="none" lIns="0" rIns="0" tIns="0" bIns="0">
            <a:spAutoFit/>
          </a:bodyPr>
          <a:lstStyle/>
          <a:p>
            <a:pPr>
              <a:lnSpc>
                <a:spcPct val="112000"/>
              </a:lnSpc>
              <a:spcBef>
                <a:spcPts val="0"/>
              </a:spcBef>
              <a:spcAft>
                <a:spcPts val="0"/>
              </a:spcAft>
              <a:defRPr sz="1351" b="0">
                <a:solidFill>
                  <a:srgbClr val="333333"/>
                </a:solidFill>
                <a:latin typeface="微软雅黑"/>
              </a:defRPr>
            </a:pPr>
            <a:r>
              <a:rPr>
                <a:ea typeface="微软雅黑"/>
              </a:rPr>
              <a:t>过量</a:t>
            </a:r>
          </a:p>
        </p:txBody>
      </p:sp>
      <p:sp>
        <p:nvSpPr>
          <p:cNvPr id="33" name="原题文字_196_35"/>
          <p:cNvSpPr txBox="1"/>
          <p:nvPr/>
        </p:nvSpPr>
        <p:spPr>
          <a:xfrm>
            <a:off x="4862085" y="4582555"/>
            <a:ext cx="551477" cy="294902"/>
          </a:xfrm>
          <a:prstGeom prst="rect">
            <a:avLst/>
          </a:prstGeom>
          <a:noFill/>
        </p:spPr>
        <p:txBody>
          <a:bodyPr wrap="none" lIns="0" rIns="0" tIns="0" bIns="0">
            <a:spAutoFit/>
          </a:bodyPr>
          <a:lstStyle/>
          <a:p>
            <a:pPr>
              <a:lnSpc>
                <a:spcPct val="112000"/>
              </a:lnSpc>
              <a:spcBef>
                <a:spcPts val="0"/>
              </a:spcBef>
              <a:spcAft>
                <a:spcPts val="0"/>
              </a:spcAft>
              <a:defRPr sz="1428" b="0">
                <a:solidFill>
                  <a:srgbClr val="333333"/>
                </a:solidFill>
                <a:latin typeface="微软雅黑"/>
              </a:defRPr>
            </a:pPr>
            <a:r>
              <a:rPr>
                <a:ea typeface="微软雅黑"/>
              </a:rPr>
              <a:t>静置一</a:t>
            </a:r>
          </a:p>
        </p:txBody>
      </p:sp>
      <p:sp>
        <p:nvSpPr>
          <p:cNvPr id="34" name="原题文字_196_36"/>
          <p:cNvSpPr txBox="1"/>
          <p:nvPr/>
        </p:nvSpPr>
        <p:spPr>
          <a:xfrm>
            <a:off x="1060844" y="4766486"/>
            <a:ext cx="557608" cy="294902"/>
          </a:xfrm>
          <a:prstGeom prst="rect">
            <a:avLst/>
          </a:prstGeom>
          <a:noFill/>
        </p:spPr>
        <p:txBody>
          <a:bodyPr wrap="none" lIns="0" rIns="0" tIns="0" bIns="0">
            <a:spAutoFit/>
          </a:bodyPr>
          <a:lstStyle/>
          <a:p>
            <a:pPr>
              <a:lnSpc>
                <a:spcPct val="112000"/>
              </a:lnSpc>
              <a:spcBef>
                <a:spcPts val="0"/>
              </a:spcBef>
              <a:spcAft>
                <a:spcPts val="0"/>
              </a:spcAft>
              <a:defRPr sz="1428" b="0">
                <a:solidFill>
                  <a:srgbClr val="333333"/>
                </a:solidFill>
                <a:latin typeface="微软雅黑"/>
              </a:defRPr>
            </a:pPr>
            <a:r>
              <a:rPr>
                <a:ea typeface="微软雅黑"/>
              </a:rPr>
              <a:t>固体混</a:t>
            </a:r>
          </a:p>
        </p:txBody>
      </p:sp>
      <p:sp>
        <p:nvSpPr>
          <p:cNvPr id="35" name="原题文字_196_37"/>
          <p:cNvSpPr txBox="1"/>
          <p:nvPr/>
        </p:nvSpPr>
        <p:spPr>
          <a:xfrm>
            <a:off x="1661685" y="4778748"/>
            <a:ext cx="422726" cy="270991"/>
          </a:xfrm>
          <a:prstGeom prst="rect">
            <a:avLst/>
          </a:prstGeom>
          <a:noFill/>
        </p:spPr>
        <p:txBody>
          <a:bodyPr wrap="none" lIns="0" rIns="0" tIns="0" bIns="0">
            <a:spAutoFit/>
          </a:bodyPr>
          <a:lstStyle/>
          <a:p>
            <a:pPr>
              <a:lnSpc>
                <a:spcPct val="112000"/>
              </a:lnSpc>
              <a:spcBef>
                <a:spcPts val="0"/>
              </a:spcBef>
              <a:spcAft>
                <a:spcPts val="0"/>
              </a:spcAft>
              <a:defRPr sz="1313" b="0">
                <a:solidFill>
                  <a:srgbClr val="333333"/>
                </a:solidFill>
                <a:latin typeface="微软雅黑"/>
              </a:defRPr>
            </a:pPr>
            <a:r>
              <a:rPr>
                <a:ea typeface="微软雅黑"/>
              </a:rPr>
              <a:t>盐酸</a:t>
            </a:r>
          </a:p>
        </p:txBody>
      </p:sp>
      <p:sp>
        <p:nvSpPr>
          <p:cNvPr id="36" name="原题文字_196_38"/>
          <p:cNvSpPr txBox="1"/>
          <p:nvPr/>
        </p:nvSpPr>
        <p:spPr>
          <a:xfrm>
            <a:off x="2133775" y="4778748"/>
            <a:ext cx="551477"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淡黄色</a:t>
            </a:r>
          </a:p>
        </p:txBody>
      </p:sp>
      <p:sp>
        <p:nvSpPr>
          <p:cNvPr id="37" name="原题文字_196_39"/>
          <p:cNvSpPr txBox="1"/>
          <p:nvPr/>
        </p:nvSpPr>
        <p:spPr>
          <a:xfrm>
            <a:off x="2630388" y="4778748"/>
            <a:ext cx="533084"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试剂X</a:t>
            </a:r>
          </a:p>
        </p:txBody>
      </p:sp>
      <p:sp>
        <p:nvSpPr>
          <p:cNvPr id="38" name="原题文字_196_40"/>
          <p:cNvSpPr txBox="1"/>
          <p:nvPr/>
        </p:nvSpPr>
        <p:spPr>
          <a:xfrm>
            <a:off x="3127002" y="4778748"/>
            <a:ext cx="1238153" cy="270991"/>
          </a:xfrm>
          <a:prstGeom prst="rect">
            <a:avLst/>
          </a:prstGeom>
          <a:noFill/>
        </p:spPr>
        <p:txBody>
          <a:bodyPr wrap="none" lIns="0" rIns="0" tIns="0" bIns="0">
            <a:spAutoFit/>
          </a:bodyPr>
          <a:lstStyle/>
          <a:p>
            <a:pPr>
              <a:lnSpc>
                <a:spcPct val="112000"/>
              </a:lnSpc>
              <a:spcBef>
                <a:spcPts val="0"/>
              </a:spcBef>
              <a:spcAft>
                <a:spcPts val="0"/>
              </a:spcAft>
              <a:defRPr sz="1313" b="0">
                <a:solidFill>
                  <a:srgbClr val="333333"/>
                </a:solidFill>
                <a:latin typeface="微软雅黑"/>
              </a:defRPr>
            </a:pPr>
            <a:r>
              <a:rPr>
                <a:ea typeface="微软雅黑"/>
              </a:rPr>
              <a:t>淡红H₂O₂溶液</a:t>
            </a:r>
          </a:p>
        </p:txBody>
      </p:sp>
      <p:sp>
        <p:nvSpPr>
          <p:cNvPr id="39" name="原题文字_196_41"/>
          <p:cNvSpPr txBox="1"/>
          <p:nvPr/>
        </p:nvSpPr>
        <p:spPr>
          <a:xfrm>
            <a:off x="4291899" y="4778748"/>
            <a:ext cx="569870"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深红</a:t>
            </a:r>
          </a:p>
        </p:txBody>
      </p:sp>
      <p:sp>
        <p:nvSpPr>
          <p:cNvPr id="40" name="原题文字_196_42"/>
          <p:cNvSpPr txBox="1"/>
          <p:nvPr/>
        </p:nvSpPr>
        <p:spPr>
          <a:xfrm>
            <a:off x="4868216" y="4778748"/>
            <a:ext cx="545346"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段时间</a:t>
            </a:r>
          </a:p>
        </p:txBody>
      </p:sp>
      <p:sp>
        <p:nvSpPr>
          <p:cNvPr id="41" name="原题文字_196_43"/>
          <p:cNvSpPr txBox="1"/>
          <p:nvPr/>
        </p:nvSpPr>
        <p:spPr>
          <a:xfrm>
            <a:off x="5524237" y="4778748"/>
            <a:ext cx="416595"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红色</a:t>
            </a:r>
          </a:p>
        </p:txBody>
      </p:sp>
      <p:sp>
        <p:nvSpPr>
          <p:cNvPr id="42" name="原题文字_196_44"/>
          <p:cNvSpPr txBox="1"/>
          <p:nvPr/>
        </p:nvSpPr>
        <p:spPr>
          <a:xfrm>
            <a:off x="1122154" y="4944286"/>
            <a:ext cx="434988" cy="318813"/>
          </a:xfrm>
          <a:prstGeom prst="rect">
            <a:avLst/>
          </a:prstGeom>
          <a:noFill/>
        </p:spPr>
        <p:txBody>
          <a:bodyPr wrap="none" lIns="0" rIns="0" tIns="0" bIns="0">
            <a:spAutoFit/>
          </a:bodyPr>
          <a:lstStyle/>
          <a:p>
            <a:pPr>
              <a:lnSpc>
                <a:spcPct val="112000"/>
              </a:lnSpc>
              <a:spcBef>
                <a:spcPts val="0"/>
              </a:spcBef>
              <a:spcAft>
                <a:spcPts val="0"/>
              </a:spcAft>
              <a:defRPr sz="1544" b="0">
                <a:solidFill>
                  <a:srgbClr val="333333"/>
                </a:solidFill>
                <a:latin typeface="微软雅黑"/>
              </a:defRPr>
            </a:pPr>
            <a:r>
              <a:rPr>
                <a:ea typeface="微软雅黑"/>
              </a:rPr>
              <a:t>合物</a:t>
            </a:r>
          </a:p>
        </p:txBody>
      </p:sp>
      <p:sp>
        <p:nvSpPr>
          <p:cNvPr id="43" name="原题文字_196_45"/>
          <p:cNvSpPr txBox="1"/>
          <p:nvPr/>
        </p:nvSpPr>
        <p:spPr>
          <a:xfrm>
            <a:off x="2195085" y="4962680"/>
            <a:ext cx="416595" cy="278962"/>
          </a:xfrm>
          <a:prstGeom prst="rect">
            <a:avLst/>
          </a:prstGeom>
          <a:noFill/>
        </p:spPr>
        <p:txBody>
          <a:bodyPr wrap="none" lIns="0" rIns="0" tIns="0" bIns="0">
            <a:spAutoFit/>
          </a:bodyPr>
          <a:lstStyle/>
          <a:p>
            <a:pPr>
              <a:lnSpc>
                <a:spcPct val="112000"/>
              </a:lnSpc>
              <a:spcBef>
                <a:spcPts val="0"/>
              </a:spcBef>
              <a:spcAft>
                <a:spcPts val="0"/>
              </a:spcAft>
              <a:defRPr sz="1351" b="0">
                <a:solidFill>
                  <a:srgbClr val="333333"/>
                </a:solidFill>
                <a:latin typeface="微软雅黑"/>
              </a:defRPr>
            </a:pPr>
            <a:r>
              <a:rPr>
                <a:ea typeface="微软雅黑"/>
              </a:rPr>
              <a:t>溶液</a:t>
            </a:r>
          </a:p>
        </p:txBody>
      </p:sp>
      <p:sp>
        <p:nvSpPr>
          <p:cNvPr id="44" name="原题文字_196_46"/>
          <p:cNvSpPr txBox="1"/>
          <p:nvPr/>
        </p:nvSpPr>
        <p:spPr>
          <a:xfrm>
            <a:off x="3145395" y="4956548"/>
            <a:ext cx="545346" cy="286932"/>
          </a:xfrm>
          <a:prstGeom prst="rect">
            <a:avLst/>
          </a:prstGeom>
          <a:noFill/>
        </p:spPr>
        <p:txBody>
          <a:bodyPr wrap="none" lIns="0" rIns="0" tIns="0" bIns="0">
            <a:spAutoFit/>
          </a:bodyPr>
          <a:lstStyle/>
          <a:p>
            <a:pPr>
              <a:lnSpc>
                <a:spcPct val="112000"/>
              </a:lnSpc>
              <a:spcBef>
                <a:spcPts val="0"/>
              </a:spcBef>
              <a:spcAft>
                <a:spcPts val="0"/>
              </a:spcAft>
              <a:defRPr sz="1390" b="0">
                <a:solidFill>
                  <a:srgbClr val="333333"/>
                </a:solidFill>
                <a:latin typeface="微软雅黑"/>
              </a:defRPr>
            </a:pPr>
            <a:r>
              <a:rPr>
                <a:ea typeface="微软雅黑"/>
              </a:rPr>
              <a:t>色溶液</a:t>
            </a:r>
          </a:p>
        </p:txBody>
      </p:sp>
      <p:sp>
        <p:nvSpPr>
          <p:cNvPr id="45" name="原题文字_196_47"/>
          <p:cNvSpPr txBox="1"/>
          <p:nvPr/>
        </p:nvSpPr>
        <p:spPr>
          <a:xfrm>
            <a:off x="4310292" y="4962680"/>
            <a:ext cx="539215"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色溶液</a:t>
            </a:r>
          </a:p>
        </p:txBody>
      </p:sp>
      <p:sp>
        <p:nvSpPr>
          <p:cNvPr id="46" name="原题文字_196_48"/>
          <p:cNvSpPr txBox="1"/>
          <p:nvPr/>
        </p:nvSpPr>
        <p:spPr>
          <a:xfrm>
            <a:off x="5524237" y="4956548"/>
            <a:ext cx="416595" cy="278962"/>
          </a:xfrm>
          <a:prstGeom prst="rect">
            <a:avLst/>
          </a:prstGeom>
          <a:noFill/>
        </p:spPr>
        <p:txBody>
          <a:bodyPr wrap="none" lIns="0" rIns="0" tIns="0" bIns="0">
            <a:spAutoFit/>
          </a:bodyPr>
          <a:lstStyle/>
          <a:p>
            <a:pPr>
              <a:lnSpc>
                <a:spcPct val="112000"/>
              </a:lnSpc>
              <a:spcBef>
                <a:spcPts val="0"/>
              </a:spcBef>
              <a:spcAft>
                <a:spcPts val="0"/>
              </a:spcAft>
              <a:defRPr sz="1351" b="0">
                <a:solidFill>
                  <a:srgbClr val="333333"/>
                </a:solidFill>
                <a:latin typeface="微软雅黑"/>
              </a:defRPr>
            </a:pPr>
            <a:r>
              <a:rPr>
                <a:ea typeface="微软雅黑"/>
              </a:rPr>
              <a:t>褪去</a:t>
            </a:r>
          </a:p>
        </p:txBody>
      </p:sp>
      <p:sp>
        <p:nvSpPr>
          <p:cNvPr id="47" name="文字_①试剂X为 ______ (填化学名称)。"/>
          <p:cNvSpPr txBox="1"/>
          <p:nvPr/>
        </p:nvSpPr>
        <p:spPr>
          <a:xfrm>
            <a:off x="502920" y="5367177"/>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①试剂X为 ______ (填化学名称)。</a:t>
            </a:r>
          </a:p>
        </p:txBody>
      </p:sp>
      <p:sp>
        <p:nvSpPr>
          <p:cNvPr id="48" name="文字_②淡红色溶液中加入过量H₂O₂后溶液红色加深的原"/>
          <p:cNvSpPr txBox="1"/>
          <p:nvPr/>
        </p:nvSpPr>
        <p:spPr>
          <a:xfrm>
            <a:off x="502920" y="5623209"/>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②淡红色溶液中加入过量H₂O₂后溶液红色加深的原因用离子方程式表示 ______ o</a:t>
            </a:r>
          </a:p>
        </p:txBody>
      </p:sp>
      <p:sp>
        <p:nvSpPr>
          <p:cNvPr id="49" name="文字_③取褪色后的溶液滴加试剂X，溶液出现红色，说明褪"/>
          <p:cNvSpPr txBox="1"/>
          <p:nvPr/>
        </p:nvSpPr>
        <p:spPr>
          <a:xfrm>
            <a:off x="502920" y="5879241"/>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③取褪色后的溶液滴加试剂X，溶液出现红色，说明褪色后的溶液中无 ______ (填离子符号)。</a:t>
            </a:r>
          </a:p>
        </p:txBody>
      </p:sp>
      <p:sp>
        <p:nvSpPr>
          <p:cNvPr id="50" name="文字_解答题  ·  09-04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09-047</a:t>
            </a:r>
          </a:p>
        </p:txBody>
      </p:sp>
      <p:sp>
        <p:nvSpPr>
          <p:cNvPr id="51" name="文字_6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变式1</a:t>
            </a:r>
          </a:p>
        </p:txBody>
      </p:sp>
      <p:sp>
        <p:nvSpPr>
          <p:cNvPr id="5" name="文字_P19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P196</a:t>
            </a:r>
          </a:p>
        </p:txBody>
      </p:sp>
      <p:sp>
        <p:nvSpPr>
          <p:cNvPr id="6" name="文字_为了检验某FeCl₂溶液是否变质，可选择的最佳试"/>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为了检验某FeCl₂溶液是否变质，可选择的最佳试剂是</a:t>
            </a:r>
          </a:p>
        </p:txBody>
      </p:sp>
      <p:sp>
        <p:nvSpPr>
          <p:cNvPr id="7" name="文字_A. 紫色石蕊试液"/>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紫色石蕊试液</a:t>
            </a:r>
          </a:p>
        </p:txBody>
      </p:sp>
      <p:sp>
        <p:nvSpPr>
          <p:cNvPr id="8" name="文字_B. 新制氯水"/>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新制氯水</a:t>
            </a:r>
          </a:p>
        </p:txBody>
      </p:sp>
      <p:sp>
        <p:nvSpPr>
          <p:cNvPr id="9" name="文字_C. 饱和NaCl溶液"/>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饱和NaCl溶液</a:t>
            </a:r>
          </a:p>
        </p:txBody>
      </p:sp>
      <p:sp>
        <p:nvSpPr>
          <p:cNvPr id="10" name="文字_D. KSCN溶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KSCN溶液</a:t>
            </a:r>
          </a:p>
        </p:txBody>
      </p:sp>
      <p:sp>
        <p:nvSpPr>
          <p:cNvPr id="11" name="文字_单选题  ·  09-04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09-048</a:t>
            </a:r>
          </a:p>
        </p:txBody>
      </p:sp>
      <p:sp>
        <p:nvSpPr>
          <p:cNvPr id="12" name="文字_6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变式2</a:t>
            </a:r>
          </a:p>
        </p:txBody>
      </p:sp>
      <p:sp>
        <p:nvSpPr>
          <p:cNvPr id="5" name="文字_P19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P196</a:t>
            </a:r>
          </a:p>
        </p:txBody>
      </p:sp>
      <p:sp>
        <p:nvSpPr>
          <p:cNvPr id="6" name="文字_要证明某溶液中不含Fe³⁺而可能含有Fe²⁺进行"/>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要证明某溶液中不含Fe³⁺而可能含有Fe²⁺进行如下实验操作时，最佳顺序为</a:t>
            </a:r>
          </a:p>
        </p:txBody>
      </p:sp>
      <p:sp>
        <p:nvSpPr>
          <p:cNvPr id="7" name="文字_①加入足量氯水②加入足量酸性KMnO₄溶液③加入"/>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①加入足量氯水②加入足量酸性KMnO₄溶液③加入少量NH₄SCN溶液</a:t>
            </a:r>
          </a:p>
        </p:txBody>
      </p:sp>
      <p:sp>
        <p:nvSpPr>
          <p:cNvPr id="8" name="文字_A. ①③"/>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①③</a:t>
            </a:r>
          </a:p>
        </p:txBody>
      </p:sp>
      <p:sp>
        <p:nvSpPr>
          <p:cNvPr id="9" name="文字_B. ③②"/>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③②</a:t>
            </a:r>
          </a:p>
        </p:txBody>
      </p:sp>
      <p:sp>
        <p:nvSpPr>
          <p:cNvPr id="10" name="文字_C. ③①"/>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③①</a:t>
            </a:r>
          </a:p>
        </p:txBody>
      </p:sp>
      <p:sp>
        <p:nvSpPr>
          <p:cNvPr id="11" name="文字_D. ①②③"/>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①②③</a:t>
            </a:r>
          </a:p>
        </p:txBody>
      </p:sp>
      <p:sp>
        <p:nvSpPr>
          <p:cNvPr id="12" name="文字_单选题  ·  09-04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09-049</a:t>
            </a:r>
          </a:p>
        </p:txBody>
      </p:sp>
      <p:sp>
        <p:nvSpPr>
          <p:cNvPr id="13" name="文字_6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变式3</a:t>
            </a:r>
          </a:p>
        </p:txBody>
      </p:sp>
      <p:sp>
        <p:nvSpPr>
          <p:cNvPr id="5" name="文字_P19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P197</a:t>
            </a:r>
          </a:p>
        </p:txBody>
      </p:sp>
      <p:sp>
        <p:nvSpPr>
          <p:cNvPr id="6" name="文字_验证Fe³⁺与Fe²⁺能够相互转化。"/>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验证Fe³⁺与Fe²⁺能够相互转化。</a:t>
            </a:r>
          </a:p>
        </p:txBody>
      </p:sp>
      <p:pic>
        <p:nvPicPr>
          <p:cNvPr id="7" name="Picture 6" descr="image.png"/>
          <p:cNvPicPr>
            <a:picLocks noChangeAspect="1"/>
          </p:cNvPicPr>
          <p:nvPr/>
        </p:nvPicPr>
        <p:blipFill>
          <a:blip r:embed="rId3"/>
          <a:stretch>
            <a:fillRect/>
          </a:stretch>
        </p:blipFill>
        <p:spPr>
          <a:xfrm>
            <a:off x="502920" y="1517904"/>
            <a:ext cx="11064240" cy="2917284"/>
          </a:xfrm>
          <a:prstGeom prst="rect">
            <a:avLst/>
          </a:prstGeom>
        </p:spPr>
      </p:pic>
      <p:sp>
        <p:nvSpPr>
          <p:cNvPr id="8" name="原题文字_197_4"/>
          <p:cNvSpPr txBox="1"/>
          <p:nvPr/>
        </p:nvSpPr>
        <p:spPr>
          <a:xfrm>
            <a:off x="633087" y="1779495"/>
            <a:ext cx="161687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按下列顺序实验</a:t>
            </a:r>
          </a:p>
        </p:txBody>
      </p:sp>
      <p:sp>
        <p:nvSpPr>
          <p:cNvPr id="9" name="原题文字_197_5"/>
          <p:cNvSpPr txBox="1"/>
          <p:nvPr/>
        </p:nvSpPr>
        <p:spPr>
          <a:xfrm>
            <a:off x="3519743" y="1764181"/>
            <a:ext cx="99666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对应现象</a:t>
            </a:r>
          </a:p>
        </p:txBody>
      </p:sp>
      <p:sp>
        <p:nvSpPr>
          <p:cNvPr id="10" name="原题文字_197_6"/>
          <p:cNvSpPr txBox="1"/>
          <p:nvPr/>
        </p:nvSpPr>
        <p:spPr>
          <a:xfrm>
            <a:off x="671372" y="2292508"/>
            <a:ext cx="2696499"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①向FeCl₃溶液中加入过量铁</a:t>
            </a:r>
          </a:p>
        </p:txBody>
      </p:sp>
      <p:sp>
        <p:nvSpPr>
          <p:cNvPr id="11" name="原题文字_197_7"/>
          <p:cNvSpPr txBox="1"/>
          <p:nvPr/>
        </p:nvSpPr>
        <p:spPr>
          <a:xfrm>
            <a:off x="3550371" y="2468617"/>
            <a:ext cx="248976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i. 溶液由黄色变成浅绿色</a:t>
            </a:r>
          </a:p>
        </p:txBody>
      </p:sp>
      <p:sp>
        <p:nvSpPr>
          <p:cNvPr id="12" name="原题文字_197_8"/>
          <p:cNvSpPr txBox="1"/>
          <p:nvPr/>
        </p:nvSpPr>
        <p:spPr>
          <a:xfrm>
            <a:off x="602459" y="2621755"/>
            <a:ext cx="368797"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粉</a:t>
            </a:r>
          </a:p>
        </p:txBody>
      </p:sp>
      <p:sp>
        <p:nvSpPr>
          <p:cNvPr id="13" name="原题文字_197_9"/>
          <p:cNvSpPr txBox="1"/>
          <p:nvPr/>
        </p:nvSpPr>
        <p:spPr>
          <a:xfrm>
            <a:off x="663715" y="3096484"/>
            <a:ext cx="173172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②滴加KSCN溶液</a:t>
            </a:r>
          </a:p>
        </p:txBody>
      </p:sp>
      <p:sp>
        <p:nvSpPr>
          <p:cNvPr id="14" name="原题文字_197_10"/>
          <p:cNvSpPr txBox="1"/>
          <p:nvPr/>
        </p:nvSpPr>
        <p:spPr>
          <a:xfrm>
            <a:off x="3527400" y="3104141"/>
            <a:ext cx="194612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ii. 溶液无明显变化</a:t>
            </a:r>
          </a:p>
        </p:txBody>
      </p:sp>
      <p:sp>
        <p:nvSpPr>
          <p:cNvPr id="15" name="原题文字_197_11"/>
          <p:cNvSpPr txBox="1"/>
          <p:nvPr/>
        </p:nvSpPr>
        <p:spPr>
          <a:xfrm>
            <a:off x="663715" y="3640125"/>
            <a:ext cx="180064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③再滴加几滴氯水</a:t>
            </a:r>
          </a:p>
        </p:txBody>
      </p:sp>
      <p:sp>
        <p:nvSpPr>
          <p:cNvPr id="16" name="原题文字_197_12"/>
          <p:cNvSpPr txBox="1"/>
          <p:nvPr/>
        </p:nvSpPr>
        <p:spPr>
          <a:xfrm>
            <a:off x="3519743" y="3632468"/>
            <a:ext cx="138716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iii. 溶液变红</a:t>
            </a:r>
          </a:p>
        </p:txBody>
      </p:sp>
      <p:sp>
        <p:nvSpPr>
          <p:cNvPr id="17" name="原题文字_197_13"/>
          <p:cNvSpPr txBox="1"/>
          <p:nvPr/>
        </p:nvSpPr>
        <p:spPr>
          <a:xfrm>
            <a:off x="610116" y="4153138"/>
            <a:ext cx="199206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下列分析不合理的是</a:t>
            </a:r>
          </a:p>
        </p:txBody>
      </p:sp>
      <p:sp>
        <p:nvSpPr>
          <p:cNvPr id="18" name="文字_A. 解释现象i的反应：2Fe³⁺+Fe=3Fe"/>
          <p:cNvSpPr txBox="1"/>
          <p:nvPr/>
        </p:nvSpPr>
        <p:spPr>
          <a:xfrm>
            <a:off x="502920" y="45083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解释现象i的反应：2Fe³⁺+Fe=3Fe²⁺</a:t>
            </a:r>
          </a:p>
        </p:txBody>
      </p:sp>
      <p:sp>
        <p:nvSpPr>
          <p:cNvPr id="19" name="文字_B. 实验②与③可以调换顺序"/>
          <p:cNvSpPr txBox="1"/>
          <p:nvPr/>
        </p:nvSpPr>
        <p:spPr>
          <a:xfrm>
            <a:off x="502920" y="49472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实验②与③可以调换顺序</a:t>
            </a:r>
          </a:p>
        </p:txBody>
      </p:sp>
      <p:sp>
        <p:nvSpPr>
          <p:cNvPr id="20" name="文字_C. 溶液变红涉及的反应： Cl₂ + 2Fe²"/>
          <p:cNvSpPr txBox="1"/>
          <p:nvPr/>
        </p:nvSpPr>
        <p:spPr>
          <a:xfrm>
            <a:off x="502920" y="53861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溶液变红涉及的反应： Cl₂ + 2Fe²⁺=2Cl + 2Fe³⁺</a:t>
            </a:r>
          </a:p>
        </p:txBody>
      </p:sp>
      <p:sp>
        <p:nvSpPr>
          <p:cNvPr id="21" name="文字_D. 氧化性: Cl₂&gt;Fe³⁺&gt;Fe²⁺"/>
          <p:cNvSpPr txBox="1"/>
          <p:nvPr/>
        </p:nvSpPr>
        <p:spPr>
          <a:xfrm>
            <a:off x="502920" y="58250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氧化性: Cl₂&gt;Fe³⁺&gt;Fe²⁺</a:t>
            </a:r>
          </a:p>
        </p:txBody>
      </p:sp>
      <p:sp>
        <p:nvSpPr>
          <p:cNvPr id="22" name="文字_单选题  ·  09-05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09-050</a:t>
            </a:r>
          </a:p>
        </p:txBody>
      </p:sp>
      <p:sp>
        <p:nvSpPr>
          <p:cNvPr id="23" name="文字_6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变式4</a:t>
            </a:r>
          </a:p>
        </p:txBody>
      </p:sp>
      <p:sp>
        <p:nvSpPr>
          <p:cNvPr id="5" name="文字_P19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P197</a:t>
            </a:r>
          </a:p>
        </p:txBody>
      </p:sp>
      <p:sp>
        <p:nvSpPr>
          <p:cNvPr id="6" name="文字_将 0.56g铁粉加入 25mL 1mol●L-"/>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 0.56g铁粉加入 25mL 1mol●L-¹的氯化铁溶液中，充分反应。下列说法正确的</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A. 在该反应中，铁粉为氧化剂，FeCl₃为还原"/>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在该反应中，铁粉为氧化剂，FeCl₃为还原剂</a:t>
            </a:r>
          </a:p>
        </p:txBody>
      </p:sp>
      <p:sp>
        <p:nvSpPr>
          <p:cNvPr id="8" name="文字_B. 反应结束铁粉有剩余，溶液呈浅绿色"/>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反应结束铁粉有剩余，溶液呈浅绿色</a:t>
            </a:r>
          </a:p>
        </p:txBody>
      </p:sp>
      <p:sp>
        <p:nvSpPr>
          <p:cNvPr id="9" name="文字_C. 溶液中 Fe²⁺ 与 Fe³⁺ 物质的量之"/>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溶液中 Fe²⁺ 与 Fe³⁺ 物质的量之比为 6 :1</a:t>
            </a:r>
          </a:p>
        </p:txBody>
      </p:sp>
      <p:sp>
        <p:nvSpPr>
          <p:cNvPr id="10" name="文字_D. 氧化产物与还原产物的物质的量之比为1:1"/>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氧化产物与还原产物的物质的量之比为1:1</a:t>
            </a:r>
          </a:p>
        </p:txBody>
      </p:sp>
      <p:sp>
        <p:nvSpPr>
          <p:cNvPr id="11" name="文字_单选题  ·  09-05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09-051</a:t>
            </a:r>
          </a:p>
        </p:txBody>
      </p:sp>
      <p:sp>
        <p:nvSpPr>
          <p:cNvPr id="12" name="文字_6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变式5</a:t>
            </a:r>
          </a:p>
        </p:txBody>
      </p:sp>
      <p:sp>
        <p:nvSpPr>
          <p:cNvPr id="5" name="文字_P19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P197</a:t>
            </a:r>
          </a:p>
        </p:txBody>
      </p:sp>
      <p:sp>
        <p:nvSpPr>
          <p:cNvPr id="6" name="文字_制印刷电路板铜常用氯化铁溶液作为“腐蚀液”。向盛"/>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制印刷电路板铜常用氯化铁溶液作为“腐蚀液”。向盛有FeCl₃溶液的烧杯中同时</a:t>
            </a:r>
          </a:p>
          <a:p>
            <a:pPr>
              <a:lnSpc>
                <a:spcPct val="112000"/>
              </a:lnSpc>
              <a:spcBef>
                <a:spcPts val="0"/>
              </a:spcBef>
              <a:spcAft>
                <a:spcPts val="0"/>
              </a:spcAft>
              <a:defRPr sz="2400" b="0">
                <a:solidFill>
                  <a:srgbClr val="333333"/>
                </a:solidFill>
                <a:latin typeface="微软雅黑"/>
              </a:defRPr>
            </a:pPr>
            <a:r>
              <a:rPr>
                <a:ea typeface="微软雅黑"/>
              </a:rPr>
              <a:t>加入铁粉和铜粉，反应结束后，下列判断一定错误的是（）</a:t>
            </a:r>
          </a:p>
        </p:txBody>
      </p:sp>
      <p:sp>
        <p:nvSpPr>
          <p:cNvPr id="7" name="文字_A. 烧杯中有铜、无铁"/>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烧杯中有铜、无铁</a:t>
            </a:r>
          </a:p>
        </p:txBody>
      </p:sp>
      <p:sp>
        <p:nvSpPr>
          <p:cNvPr id="8" name="文字_B. 烧杯中铁、铜都无"/>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烧杯中铁、铜都无</a:t>
            </a:r>
          </a:p>
        </p:txBody>
      </p:sp>
      <p:sp>
        <p:nvSpPr>
          <p:cNvPr id="9" name="文字_C. 烧杯中铁、铜都有"/>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烧杯中铁、铜都有</a:t>
            </a:r>
          </a:p>
        </p:txBody>
      </p:sp>
      <p:sp>
        <p:nvSpPr>
          <p:cNvPr id="10" name="文字_D. 烧杯中有铁、无铜"/>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烧杯中有铁、无铜</a:t>
            </a:r>
          </a:p>
        </p:txBody>
      </p:sp>
      <p:sp>
        <p:nvSpPr>
          <p:cNvPr id="11" name="文字_单选题  ·  09-05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09-052</a:t>
            </a:r>
          </a:p>
        </p:txBody>
      </p:sp>
      <p:sp>
        <p:nvSpPr>
          <p:cNvPr id="12" name="文字_6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变式6</a:t>
            </a:r>
          </a:p>
        </p:txBody>
      </p:sp>
      <p:sp>
        <p:nvSpPr>
          <p:cNvPr id="5" name="文字_P19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P197</a:t>
            </a:r>
          </a:p>
        </p:txBody>
      </p:sp>
      <p:sp>
        <p:nvSpPr>
          <p:cNvPr id="6" name="文字_下列铁及其化合物的性质的实验现象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下列铁及其化合物的性质的实验现象正确的是(</a:t>
            </a:r>
          </a:p>
        </p:txBody>
      </p:sp>
      <p:sp>
        <p:nvSpPr>
          <p:cNvPr id="7" name="文字_A. 向2 mL CuSO₄溶液中加入过量铁粉，"/>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向2 mL CuSO₄溶液中加入过量铁粉，溶液颜色由浅绿色变为蓝色，并有红色固</a:t>
            </a:r>
          </a:p>
          <a:p>
            <a:pPr>
              <a:lnSpc>
                <a:spcPct val="112000"/>
              </a:lnSpc>
              <a:spcBef>
                <a:spcPts val="0"/>
              </a:spcBef>
              <a:spcAft>
                <a:spcPts val="0"/>
              </a:spcAft>
              <a:defRPr sz="2400" b="0">
                <a:solidFill>
                  <a:srgbClr val="333333"/>
                </a:solidFill>
                <a:latin typeface="微软雅黑"/>
              </a:defRPr>
            </a:pPr>
            <a:r>
              <a:rPr>
                <a:ea typeface="微软雅黑"/>
              </a:rPr>
              <a:t>体生成</a:t>
            </a:r>
          </a:p>
        </p:txBody>
      </p:sp>
      <p:sp>
        <p:nvSpPr>
          <p:cNvPr id="8" name="文字_B. 向3mL水中滴加几滴FeCl₃溶液，再滴加"/>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向3mL水中滴加几滴FeCl₃溶液，再滴加3滴KI溶液，然后向溶液中滴加2滴淀粉</a:t>
            </a:r>
          </a:p>
          <a:p>
            <a:pPr>
              <a:lnSpc>
                <a:spcPct val="112000"/>
              </a:lnSpc>
              <a:spcBef>
                <a:spcPts val="0"/>
              </a:spcBef>
              <a:spcAft>
                <a:spcPts val="0"/>
              </a:spcAft>
              <a:defRPr sz="2400" b="0">
                <a:solidFill>
                  <a:srgbClr val="333333"/>
                </a:solidFill>
                <a:latin typeface="微软雅黑"/>
              </a:defRPr>
            </a:pPr>
            <a:r>
              <a:rPr>
                <a:ea typeface="微软雅黑"/>
              </a:rPr>
              <a:t>溶液，溶液变蓝</a:t>
            </a:r>
          </a:p>
        </p:txBody>
      </p:sp>
      <p:sp>
        <p:nvSpPr>
          <p:cNvPr id="9" name="文字_C. 验证FeCl₂溶液中是否有FeCl₃，向其"/>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验证FeCl₂溶液中是否有FeCl₃，向其溶液中先滴加几滴氯水，然后再滴加几滴</a:t>
            </a:r>
          </a:p>
          <a:p>
            <a:pPr>
              <a:lnSpc>
                <a:spcPct val="112000"/>
              </a:lnSpc>
              <a:spcBef>
                <a:spcPts val="0"/>
              </a:spcBef>
              <a:spcAft>
                <a:spcPts val="0"/>
              </a:spcAft>
              <a:defRPr sz="2400" b="0">
                <a:solidFill>
                  <a:srgbClr val="333333"/>
                </a:solidFill>
                <a:latin typeface="微软雅黑"/>
              </a:defRPr>
            </a:pPr>
            <a:r>
              <a:rPr>
                <a:ea typeface="微软雅黑"/>
              </a:rPr>
              <a:t>KSCN溶液，溶液变红，说明有 FeCl₃ 存在</a:t>
            </a:r>
          </a:p>
        </p:txBody>
      </p:sp>
      <p:sp>
        <p:nvSpPr>
          <p:cNvPr id="10" name="文字_D. 向沸腾的 FeCl₃ 饱和溶液中滴加 Na"/>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向沸腾的 FeCl₃ 饱和溶液中滴加 NaOH 溶液可得 Fe(OH)3 胶体</a:t>
            </a:r>
          </a:p>
        </p:txBody>
      </p:sp>
      <p:sp>
        <p:nvSpPr>
          <p:cNvPr id="11" name="文字_单选题  ·  09-05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09-053</a:t>
            </a:r>
          </a:p>
        </p:txBody>
      </p:sp>
      <p:sp>
        <p:nvSpPr>
          <p:cNvPr id="12" name="文字_6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变式7</a:t>
            </a:r>
          </a:p>
        </p:txBody>
      </p:sp>
      <p:sp>
        <p:nvSpPr>
          <p:cNvPr id="5" name="文字_P19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P198</a:t>
            </a:r>
          </a:p>
        </p:txBody>
      </p:sp>
      <p:sp>
        <p:nvSpPr>
          <p:cNvPr id="6" name="文字_某化学兴趣小组利用FeCl₂溶液与Cl₂反应制取"/>
          <p:cNvSpPr txBox="1"/>
          <p:nvPr/>
        </p:nvSpPr>
        <p:spPr>
          <a:xfrm>
            <a:off x="502920" y="1078992"/>
            <a:ext cx="11064240" cy="551116"/>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某化学兴趣小组利用FeCl₂溶液与Cl₂反应制取FeCl₃溶液，他们按如图装置进行实验，即可制得FeCl₃溶液，请回答下</a:t>
            </a:r>
          </a:p>
          <a:p>
            <a:pPr>
              <a:lnSpc>
                <a:spcPct val="112000"/>
              </a:lnSpc>
              <a:spcBef>
                <a:spcPts val="0"/>
              </a:spcBef>
              <a:spcAft>
                <a:spcPts val="0"/>
              </a:spcAft>
              <a:defRPr sz="1650" b="0">
                <a:solidFill>
                  <a:srgbClr val="333333"/>
                </a:solidFill>
                <a:latin typeface="微软雅黑"/>
              </a:defRPr>
            </a:pPr>
            <a:r>
              <a:rPr>
                <a:ea typeface="微软雅黑"/>
              </a:rPr>
              <a:t>列问题:</a:t>
            </a:r>
          </a:p>
        </p:txBody>
      </p:sp>
      <p:pic>
        <p:nvPicPr>
          <p:cNvPr id="7" name="Picture 6" descr="image.png"/>
          <p:cNvPicPr>
            <a:picLocks noChangeAspect="1"/>
          </p:cNvPicPr>
          <p:nvPr/>
        </p:nvPicPr>
        <p:blipFill>
          <a:blip r:embed="rId3"/>
          <a:stretch>
            <a:fillRect/>
          </a:stretch>
        </p:blipFill>
        <p:spPr>
          <a:xfrm>
            <a:off x="502920" y="1630108"/>
            <a:ext cx="10441370" cy="3410606"/>
          </a:xfrm>
          <a:prstGeom prst="rect">
            <a:avLst/>
          </a:prstGeom>
        </p:spPr>
      </p:pic>
      <p:sp>
        <p:nvSpPr>
          <p:cNvPr id="8" name="原题文字_198_5"/>
          <p:cNvSpPr txBox="1"/>
          <p:nvPr/>
        </p:nvSpPr>
        <p:spPr>
          <a:xfrm>
            <a:off x="4744501" y="4557407"/>
            <a:ext cx="278865" cy="272414"/>
          </a:xfrm>
          <a:prstGeom prst="rect">
            <a:avLst/>
          </a:prstGeom>
          <a:noFill/>
        </p:spPr>
        <p:txBody>
          <a:bodyPr wrap="none" lIns="0" rIns="0" tIns="0" bIns="0">
            <a:spAutoFit/>
          </a:bodyPr>
          <a:lstStyle/>
          <a:p>
            <a:pPr>
              <a:lnSpc>
                <a:spcPct val="112000"/>
              </a:lnSpc>
              <a:spcBef>
                <a:spcPts val="0"/>
              </a:spcBef>
              <a:spcAft>
                <a:spcPts val="0"/>
              </a:spcAft>
              <a:defRPr sz="1319" b="0">
                <a:solidFill>
                  <a:srgbClr val="333333"/>
                </a:solidFill>
                <a:latin typeface="微软雅黑"/>
              </a:defRPr>
            </a:pPr>
            <a:r>
              <a:rPr>
                <a:ea typeface="微软雅黑"/>
              </a:rPr>
              <a:t>A</a:t>
            </a:r>
          </a:p>
        </p:txBody>
      </p:sp>
      <p:sp>
        <p:nvSpPr>
          <p:cNvPr id="9" name="原题文字_198_6"/>
          <p:cNvSpPr txBox="1"/>
          <p:nvPr/>
        </p:nvSpPr>
        <p:spPr>
          <a:xfrm>
            <a:off x="6233028" y="4542955"/>
            <a:ext cx="257188" cy="291202"/>
          </a:xfrm>
          <a:prstGeom prst="rect">
            <a:avLst/>
          </a:prstGeom>
          <a:noFill/>
        </p:spPr>
        <p:txBody>
          <a:bodyPr wrap="none" lIns="0" rIns="0" tIns="0" bIns="0">
            <a:spAutoFit/>
          </a:bodyPr>
          <a:lstStyle/>
          <a:p>
            <a:pPr>
              <a:lnSpc>
                <a:spcPct val="112000"/>
              </a:lnSpc>
              <a:spcBef>
                <a:spcPts val="0"/>
              </a:spcBef>
              <a:spcAft>
                <a:spcPts val="0"/>
              </a:spcAft>
              <a:defRPr sz="1411" b="0">
                <a:solidFill>
                  <a:srgbClr val="333333"/>
                </a:solidFill>
                <a:latin typeface="微软雅黑"/>
              </a:defRPr>
            </a:pPr>
            <a:r>
              <a:rPr>
                <a:ea typeface="微软雅黑"/>
              </a:rPr>
              <a:t>B</a:t>
            </a:r>
          </a:p>
        </p:txBody>
      </p:sp>
      <p:sp>
        <p:nvSpPr>
          <p:cNvPr id="10" name="原题文字_198_7"/>
          <p:cNvSpPr txBox="1"/>
          <p:nvPr/>
        </p:nvSpPr>
        <p:spPr>
          <a:xfrm>
            <a:off x="7114583" y="4535730"/>
            <a:ext cx="271639" cy="281808"/>
          </a:xfrm>
          <a:prstGeom prst="rect">
            <a:avLst/>
          </a:prstGeom>
          <a:noFill/>
        </p:spPr>
        <p:txBody>
          <a:bodyPr wrap="none" lIns="0" rIns="0" tIns="0" bIns="0">
            <a:spAutoFit/>
          </a:bodyPr>
          <a:lstStyle/>
          <a:p>
            <a:pPr>
              <a:lnSpc>
                <a:spcPct val="112000"/>
              </a:lnSpc>
              <a:spcBef>
                <a:spcPts val="0"/>
              </a:spcBef>
              <a:spcAft>
                <a:spcPts val="0"/>
              </a:spcAft>
              <a:defRPr sz="1365" b="0">
                <a:solidFill>
                  <a:srgbClr val="333333"/>
                </a:solidFill>
                <a:latin typeface="微软雅黑"/>
              </a:defRPr>
            </a:pPr>
            <a:r>
              <a:rPr>
                <a:ea typeface="微软雅黑"/>
              </a:rPr>
              <a:t>C</a:t>
            </a:r>
          </a:p>
        </p:txBody>
      </p:sp>
      <p:sp>
        <p:nvSpPr>
          <p:cNvPr id="11" name="原题文字_198_8"/>
          <p:cNvSpPr txBox="1"/>
          <p:nvPr/>
        </p:nvSpPr>
        <p:spPr>
          <a:xfrm>
            <a:off x="1109892" y="4759731"/>
            <a:ext cx="3920700" cy="309989"/>
          </a:xfrm>
          <a:prstGeom prst="rect">
            <a:avLst/>
          </a:prstGeom>
          <a:noFill/>
        </p:spPr>
        <p:txBody>
          <a:bodyPr wrap="none" lIns="0" rIns="0" tIns="0" bIns="0">
            <a:spAutoFit/>
          </a:bodyPr>
          <a:lstStyle/>
          <a:p>
            <a:pPr>
              <a:lnSpc>
                <a:spcPct val="112000"/>
              </a:lnSpc>
              <a:spcBef>
                <a:spcPts val="0"/>
              </a:spcBef>
              <a:spcAft>
                <a:spcPts val="0"/>
              </a:spcAft>
              <a:defRPr sz="1502" b="0">
                <a:solidFill>
                  <a:srgbClr val="333333"/>
                </a:solidFill>
                <a:latin typeface="微软雅黑"/>
              </a:defRPr>
            </a:pPr>
            <a:r>
              <a:rPr>
                <a:ea typeface="微软雅黑"/>
              </a:rPr>
              <a:t>(1）A是制取Cl₂的装置，分液漏斗中装的是</a:t>
            </a:r>
          </a:p>
        </p:txBody>
      </p:sp>
      <p:sp>
        <p:nvSpPr>
          <p:cNvPr id="12" name="原题文字_198_9"/>
          <p:cNvSpPr txBox="1"/>
          <p:nvPr/>
        </p:nvSpPr>
        <p:spPr>
          <a:xfrm>
            <a:off x="6370319" y="4752505"/>
            <a:ext cx="1355519"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(填试剂名称).</a:t>
            </a:r>
          </a:p>
        </p:txBody>
      </p:sp>
      <p:sp>
        <p:nvSpPr>
          <p:cNvPr id="13" name="文字_(2) B中发生反应的化学方程式是"/>
          <p:cNvSpPr txBox="1"/>
          <p:nvPr/>
        </p:nvSpPr>
        <p:spPr>
          <a:xfrm>
            <a:off x="502920" y="5113867"/>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(2) B中发生反应的化学方程式是</a:t>
            </a:r>
          </a:p>
        </p:txBody>
      </p:sp>
      <p:sp>
        <p:nvSpPr>
          <p:cNvPr id="14" name="文字_(3）如何检验B已有FeCl₃生成（简要写出实验"/>
          <p:cNvSpPr txBox="1"/>
          <p:nvPr/>
        </p:nvSpPr>
        <p:spPr>
          <a:xfrm>
            <a:off x="502920" y="5415619"/>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(3）如何检验B已有FeCl₃生成（简要写出实验步骤和实验现象）</a:t>
            </a:r>
          </a:p>
        </p:txBody>
      </p:sp>
      <p:sp>
        <p:nvSpPr>
          <p:cNvPr id="15" name="文字_(4）C是尾气处理装置，烧杯中应该盛放的是NaO"/>
          <p:cNvSpPr txBox="1"/>
          <p:nvPr/>
        </p:nvSpPr>
        <p:spPr>
          <a:xfrm>
            <a:off x="502920" y="5717371"/>
            <a:ext cx="11064240" cy="551116"/>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(4）C是尾气处理装置，烧杯中应该盛放的是NaOH溶液溶液，作用是吸收多余的Cl₂，防止污染空气，发生反应的离子</a:t>
            </a:r>
          </a:p>
          <a:p>
            <a:pPr>
              <a:lnSpc>
                <a:spcPct val="112000"/>
              </a:lnSpc>
              <a:spcBef>
                <a:spcPts val="0"/>
              </a:spcBef>
              <a:spcAft>
                <a:spcPts val="0"/>
              </a:spcAft>
              <a:defRPr sz="1650" b="0">
                <a:solidFill>
                  <a:srgbClr val="333333"/>
                </a:solidFill>
                <a:latin typeface="微软雅黑"/>
              </a:defRPr>
            </a:pPr>
            <a:r>
              <a:rPr>
                <a:ea typeface="微软雅黑"/>
              </a:rPr>
              <a:t>方程式是</a:t>
            </a:r>
          </a:p>
        </p:txBody>
      </p:sp>
      <p:sp>
        <p:nvSpPr>
          <p:cNvPr id="16" name="文字_填空题  ·  09-05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09-054</a:t>
            </a:r>
          </a:p>
        </p:txBody>
      </p:sp>
      <p:sp>
        <p:nvSpPr>
          <p:cNvPr id="17" name="文字_7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变式8</a:t>
            </a:r>
          </a:p>
        </p:txBody>
      </p:sp>
      <p:sp>
        <p:nvSpPr>
          <p:cNvPr id="5" name="文字_P19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P198</a:t>
            </a:r>
          </a:p>
        </p:txBody>
      </p:sp>
      <p:sp>
        <p:nvSpPr>
          <p:cNvPr id="6" name="文字_回答下列关于铁元素及其化合物的知识:"/>
          <p:cNvSpPr txBox="1"/>
          <p:nvPr/>
        </p:nvSpPr>
        <p:spPr>
          <a:xfrm>
            <a:off x="502920" y="1078992"/>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回答下列关于铁元素及其化合物的知识:</a:t>
            </a:r>
          </a:p>
        </p:txBody>
      </p:sp>
      <p:sp>
        <p:nvSpPr>
          <p:cNvPr id="7" name="文字_(1）向一支装有FeCl₃溶液的试管中滴加NaO"/>
          <p:cNvSpPr txBox="1"/>
          <p:nvPr/>
        </p:nvSpPr>
        <p:spPr>
          <a:xfrm>
            <a:off x="502920" y="1426464"/>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(1）向一支装有FeCl₃溶液的试管中滴加NaOH溶液，现象为 ______ ，其中含铁元素的产物的化学式是</a:t>
            </a:r>
          </a:p>
        </p:txBody>
      </p:sp>
      <p:sp>
        <p:nvSpPr>
          <p:cNvPr id="8" name="文字_0"/>
          <p:cNvSpPr txBox="1"/>
          <p:nvPr/>
        </p:nvSpPr>
        <p:spPr>
          <a:xfrm>
            <a:off x="502920" y="1773936"/>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0</a:t>
            </a:r>
          </a:p>
        </p:txBody>
      </p:sp>
      <p:sp>
        <p:nvSpPr>
          <p:cNvPr id="9" name="文字_(2）为了检验某未知溶液是否含有Fe²⁺离子，两"/>
          <p:cNvSpPr txBox="1"/>
          <p:nvPr/>
        </p:nvSpPr>
        <p:spPr>
          <a:xfrm>
            <a:off x="502920" y="2121408"/>
            <a:ext cx="11064240" cy="921765"/>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(2）为了检验某未知溶液是否含有Fe²⁺离子，两位同学分别设计了以下实验方案加以证明． 方案一：向</a:t>
            </a:r>
          </a:p>
          <a:p>
            <a:pPr>
              <a:lnSpc>
                <a:spcPct val="112000"/>
              </a:lnSpc>
              <a:spcBef>
                <a:spcPts val="0"/>
              </a:spcBef>
              <a:spcAft>
                <a:spcPts val="0"/>
              </a:spcAft>
              <a:defRPr sz="1900" b="0">
                <a:solidFill>
                  <a:srgbClr val="333333"/>
                </a:solidFill>
                <a:latin typeface="微软雅黑"/>
              </a:defRPr>
            </a:pPr>
            <a:r>
              <a:rPr>
                <a:ea typeface="微软雅黑"/>
              </a:rPr>
              <a:t>一支装有该未知溶液的试管中先通入氯气，再滴加KSCN溶液，溶液呈现红色，证明该未知溶液含有</a:t>
            </a:r>
          </a:p>
          <a:p>
            <a:pPr>
              <a:lnSpc>
                <a:spcPct val="112000"/>
              </a:lnSpc>
              <a:spcBef>
                <a:spcPts val="0"/>
              </a:spcBef>
              <a:spcAft>
                <a:spcPts val="0"/>
              </a:spcAft>
              <a:defRPr sz="1900" b="0">
                <a:solidFill>
                  <a:srgbClr val="333333"/>
                </a:solidFill>
                <a:latin typeface="微软雅黑"/>
              </a:defRPr>
            </a:pPr>
            <a:r>
              <a:rPr>
                <a:ea typeface="微软雅黑"/>
              </a:rPr>
              <a:t>Fe²⁺离子；</a:t>
            </a:r>
          </a:p>
        </p:txBody>
      </p:sp>
      <p:sp>
        <p:nvSpPr>
          <p:cNvPr id="10" name="文字_方案二：向另一支装有该未知溶液的试管中先滴加KS"/>
          <p:cNvSpPr txBox="1"/>
          <p:nvPr/>
        </p:nvSpPr>
        <p:spPr>
          <a:xfrm>
            <a:off x="502920" y="3043174"/>
            <a:ext cx="11064240" cy="634619"/>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方案二：向另一支装有该未知溶液的试管中先滴加KSCN溶液，无现象，再通入氯气，溶液变为红色，证</a:t>
            </a:r>
          </a:p>
          <a:p>
            <a:pPr>
              <a:lnSpc>
                <a:spcPct val="112000"/>
              </a:lnSpc>
              <a:spcBef>
                <a:spcPts val="0"/>
              </a:spcBef>
              <a:spcAft>
                <a:spcPts val="0"/>
              </a:spcAft>
              <a:defRPr sz="1900" b="0">
                <a:solidFill>
                  <a:srgbClr val="333333"/>
                </a:solidFill>
                <a:latin typeface="微软雅黑"/>
              </a:defRPr>
            </a:pPr>
            <a:r>
              <a:rPr>
                <a:ea typeface="微软雅黑"/>
              </a:rPr>
              <a:t>明该未知溶液含有Fe²⁺离子；</a:t>
            </a:r>
          </a:p>
        </p:txBody>
      </p:sp>
      <p:sp>
        <p:nvSpPr>
          <p:cNvPr id="11" name="文字_则请回答:"/>
          <p:cNvSpPr txBox="1"/>
          <p:nvPr/>
        </p:nvSpPr>
        <p:spPr>
          <a:xfrm>
            <a:off x="502920" y="3677792"/>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则请回答:</a:t>
            </a:r>
          </a:p>
        </p:txBody>
      </p:sp>
      <p:sp>
        <p:nvSpPr>
          <p:cNvPr id="12" name="文字_你认为哪个方案较为合理"/>
          <p:cNvSpPr txBox="1"/>
          <p:nvPr/>
        </p:nvSpPr>
        <p:spPr>
          <a:xfrm>
            <a:off x="502920" y="4025264"/>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你认为哪个方案较为合理</a:t>
            </a:r>
          </a:p>
        </p:txBody>
      </p:sp>
      <p:sp>
        <p:nvSpPr>
          <p:cNvPr id="13" name="文字_写出Fe²⁺与氯气反应的离子方程式"/>
          <p:cNvSpPr txBox="1"/>
          <p:nvPr/>
        </p:nvSpPr>
        <p:spPr>
          <a:xfrm>
            <a:off x="502920" y="4372736"/>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写出Fe²⁺与氯气反应的离子方程式</a:t>
            </a:r>
          </a:p>
        </p:txBody>
      </p:sp>
      <p:sp>
        <p:nvSpPr>
          <p:cNvPr id="14" name="文字_实验室在保存含有Fe²⁺离子的溶液时，为了防止F"/>
          <p:cNvSpPr txBox="1"/>
          <p:nvPr/>
        </p:nvSpPr>
        <p:spPr>
          <a:xfrm>
            <a:off x="502920" y="4720208"/>
            <a:ext cx="11064240" cy="634619"/>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实验室在保存含有Fe²⁺离子的溶液时，为了防止Fe²⁺离子变质，经常向其中加入铁粉，其原因是（用离</a:t>
            </a:r>
          </a:p>
          <a:p>
            <a:pPr>
              <a:lnSpc>
                <a:spcPct val="112000"/>
              </a:lnSpc>
              <a:spcBef>
                <a:spcPts val="0"/>
              </a:spcBef>
              <a:spcAft>
                <a:spcPts val="0"/>
              </a:spcAft>
              <a:defRPr sz="1900" b="0">
                <a:solidFill>
                  <a:srgbClr val="333333"/>
                </a:solidFill>
                <a:latin typeface="微软雅黑"/>
              </a:defRPr>
            </a:pPr>
            <a:r>
              <a:rPr>
                <a:ea typeface="微软雅黑"/>
              </a:rPr>
              <a:t>子方程式表示</a:t>
            </a:r>
          </a:p>
        </p:txBody>
      </p:sp>
      <p:sp>
        <p:nvSpPr>
          <p:cNvPr id="15" name="文字_(3） 鲜榨苹果汁是人们喜爱的饮料． 由于此饮料"/>
          <p:cNvSpPr txBox="1"/>
          <p:nvPr/>
        </p:nvSpPr>
        <p:spPr>
          <a:xfrm>
            <a:off x="502920" y="5354827"/>
            <a:ext cx="11064240" cy="921765"/>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(3） 鲜榨苹果汁是人们喜爱的饮料． 由于此饮料中含有Fe²⁺，鲜榨的苹果汁在空气中会由淡绿色的</a:t>
            </a:r>
          </a:p>
          <a:p>
            <a:pPr>
              <a:lnSpc>
                <a:spcPct val="112000"/>
              </a:lnSpc>
              <a:spcBef>
                <a:spcPts val="0"/>
              </a:spcBef>
              <a:spcAft>
                <a:spcPts val="0"/>
              </a:spcAft>
              <a:defRPr sz="1900" b="0">
                <a:solidFill>
                  <a:srgbClr val="333333"/>
                </a:solidFill>
                <a:latin typeface="微软雅黑"/>
              </a:defRPr>
            </a:pPr>
            <a:r>
              <a:rPr>
                <a:ea typeface="微软雅黑"/>
              </a:rPr>
              <a:t>Fe²⁺变为棕黄色的Fe³⁺，则这个变色的过程中Fe²⁺被 ______ ；若在榨汁的时候加入适量的维生素C，可</a:t>
            </a:r>
          </a:p>
          <a:p>
            <a:pPr>
              <a:lnSpc>
                <a:spcPct val="112000"/>
              </a:lnSpc>
              <a:spcBef>
                <a:spcPts val="0"/>
              </a:spcBef>
              <a:spcAft>
                <a:spcPts val="0"/>
              </a:spcAft>
              <a:defRPr sz="1900" b="0">
                <a:solidFill>
                  <a:srgbClr val="333333"/>
                </a:solidFill>
                <a:latin typeface="微软雅黑"/>
              </a:defRPr>
            </a:pPr>
            <a:r>
              <a:rPr>
                <a:ea typeface="微软雅黑"/>
              </a:rPr>
              <a:t>有效防止这种现象的发生． 这说明维生素C具有</a:t>
            </a:r>
          </a:p>
        </p:txBody>
      </p:sp>
      <p:sp>
        <p:nvSpPr>
          <p:cNvPr id="16" name="文字_解答题  ·  09-05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09-055</a:t>
            </a:r>
          </a:p>
        </p:txBody>
      </p:sp>
      <p:sp>
        <p:nvSpPr>
          <p:cNvPr id="17" name="文字_7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巩固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巩固1</a:t>
            </a:r>
          </a:p>
        </p:txBody>
      </p:sp>
      <p:sp>
        <p:nvSpPr>
          <p:cNvPr id="5" name="文字_P1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P199</a:t>
            </a:r>
          </a:p>
        </p:txBody>
      </p:sp>
      <p:sp>
        <p:nvSpPr>
          <p:cNvPr id="6" name="文字_铁及其化合物有若广泛应用。下列铁及其化合物的性质"/>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铁及其化合物有若广泛应用。下列铁及其化合物的性质与用途具有对应关系的是</a:t>
            </a:r>
          </a:p>
        </p:txBody>
      </p:sp>
      <p:sp>
        <p:nvSpPr>
          <p:cNvPr id="7" name="文字_A. Fe具有导电性，可用作食品抗氧化剂"/>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Fe具有导电性，可用作食品抗氧化剂</a:t>
            </a:r>
          </a:p>
        </p:txBody>
      </p:sp>
      <p:sp>
        <p:nvSpPr>
          <p:cNvPr id="8" name="文字_B. Fe₂O₃呈红棕色，可用作颜料"/>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Fe₂O₃呈红棕色，可用作颜料</a:t>
            </a:r>
          </a:p>
        </p:txBody>
      </p:sp>
      <p:sp>
        <p:nvSpPr>
          <p:cNvPr id="9" name="文字_C. FeSO₄具有还原性，可用作补铁剂"/>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FeSO₄具有还原性，可用作补铁剂</a:t>
            </a:r>
          </a:p>
        </p:txBody>
      </p:sp>
      <p:sp>
        <p:nvSpPr>
          <p:cNvPr id="10" name="文字_D. FeCl₃溶液具有酸性，可用作印刷电路板蚀"/>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FeCl₃溶液具有酸性，可用作印刷电路板蚀刻剂</a:t>
            </a:r>
          </a:p>
        </p:txBody>
      </p:sp>
      <p:sp>
        <p:nvSpPr>
          <p:cNvPr id="11" name="文字_单选题  ·  09-05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09-056</a:t>
            </a:r>
          </a:p>
        </p:txBody>
      </p:sp>
      <p:sp>
        <p:nvSpPr>
          <p:cNvPr id="12" name="文字_7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巩固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巩固2</a:t>
            </a:r>
          </a:p>
        </p:txBody>
      </p:sp>
      <p:sp>
        <p:nvSpPr>
          <p:cNvPr id="5" name="文字_P1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P199</a:t>
            </a:r>
          </a:p>
        </p:txBody>
      </p:sp>
      <p:pic>
        <p:nvPicPr>
          <p:cNvPr id="6" name="Picture 5" descr="image.png"/>
          <p:cNvPicPr>
            <a:picLocks noChangeAspect="1"/>
          </p:cNvPicPr>
          <p:nvPr/>
        </p:nvPicPr>
        <p:blipFill>
          <a:blip r:embed="rId3"/>
          <a:stretch>
            <a:fillRect/>
          </a:stretch>
        </p:blipFill>
        <p:spPr>
          <a:xfrm>
            <a:off x="502920" y="1078992"/>
            <a:ext cx="11064240" cy="2771802"/>
          </a:xfrm>
          <a:prstGeom prst="rect">
            <a:avLst/>
          </a:prstGeom>
        </p:spPr>
      </p:pic>
      <p:sp>
        <p:nvSpPr>
          <p:cNvPr id="7" name="原题文字_199_12"/>
          <p:cNvSpPr txBox="1"/>
          <p:nvPr/>
        </p:nvSpPr>
        <p:spPr>
          <a:xfrm>
            <a:off x="587146" y="1087905"/>
            <a:ext cx="673934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部分含铁物质的分类与相应化合价关系如图所示。下列推断不合理的是</a:t>
            </a:r>
          </a:p>
        </p:txBody>
      </p:sp>
      <p:sp>
        <p:nvSpPr>
          <p:cNvPr id="8" name="原题文字_199_13"/>
          <p:cNvSpPr txBox="1"/>
          <p:nvPr/>
        </p:nvSpPr>
        <p:spPr>
          <a:xfrm>
            <a:off x="571832" y="1455436"/>
            <a:ext cx="325545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A. a可与e反应生 B. b既可被氧</a:t>
            </a:r>
          </a:p>
        </p:txBody>
      </p:sp>
      <p:sp>
        <p:nvSpPr>
          <p:cNvPr id="9" name="原题文字_199_14"/>
          <p:cNvSpPr txBox="1"/>
          <p:nvPr/>
        </p:nvSpPr>
        <p:spPr>
          <a:xfrm>
            <a:off x="4254807" y="1455436"/>
            <a:ext cx="293386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 可将e加入浓碱 D. 可存在</a:t>
            </a:r>
          </a:p>
        </p:txBody>
      </p:sp>
      <p:sp>
        <p:nvSpPr>
          <p:cNvPr id="10" name="原题文字_199_15"/>
          <p:cNvSpPr txBox="1"/>
          <p:nvPr/>
        </p:nvSpPr>
        <p:spPr>
          <a:xfrm>
            <a:off x="8144519" y="1486064"/>
            <a:ext cx="368797"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碱</a:t>
            </a:r>
          </a:p>
        </p:txBody>
      </p:sp>
      <p:sp>
        <p:nvSpPr>
          <p:cNvPr id="11" name="原题文字_199_16"/>
          <p:cNvSpPr txBox="1"/>
          <p:nvPr/>
        </p:nvSpPr>
        <p:spPr>
          <a:xfrm>
            <a:off x="10502849" y="1501378"/>
            <a:ext cx="26925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a:t>
            </a:r>
          </a:p>
        </p:txBody>
      </p:sp>
      <p:sp>
        <p:nvSpPr>
          <p:cNvPr id="12" name="原题文字_199_17"/>
          <p:cNvSpPr txBox="1"/>
          <p:nvPr/>
        </p:nvSpPr>
        <p:spPr>
          <a:xfrm>
            <a:off x="6345144" y="1677487"/>
            <a:ext cx="1524991" cy="686825"/>
          </a:xfrm>
          <a:prstGeom prst="rect">
            <a:avLst/>
          </a:prstGeom>
          <a:noFill/>
        </p:spPr>
        <p:txBody>
          <a:bodyPr wrap="none" lIns="0" rIns="0" tIns="0" bIns="0">
            <a:spAutoFit/>
          </a:bodyPr>
          <a:lstStyle/>
          <a:p>
            <a:pPr>
              <a:lnSpc>
                <a:spcPct val="112000"/>
              </a:lnSpc>
              <a:spcBef>
                <a:spcPts val="0"/>
              </a:spcBef>
              <a:spcAft>
                <a:spcPts val="0"/>
              </a:spcAft>
              <a:defRPr sz="2452" b="0">
                <a:solidFill>
                  <a:srgbClr val="333333"/>
                </a:solidFill>
                <a:latin typeface="微软雅黑"/>
              </a:defRPr>
            </a:pPr>
            <a:r>
              <a:rPr>
                <a:ea typeface="微软雅黑"/>
              </a:rPr>
              <a:t>b→b→d→</a:t>
            </a:r>
          </a:p>
        </p:txBody>
      </p:sp>
      <p:sp>
        <p:nvSpPr>
          <p:cNvPr id="13" name="原题文字_199_18"/>
          <p:cNvSpPr txBox="1"/>
          <p:nvPr/>
        </p:nvSpPr>
        <p:spPr>
          <a:xfrm>
            <a:off x="878108" y="1754056"/>
            <a:ext cx="491308"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成b</a:t>
            </a:r>
          </a:p>
        </p:txBody>
      </p:sp>
      <p:sp>
        <p:nvSpPr>
          <p:cNvPr id="14" name="原题文字_199_19"/>
          <p:cNvSpPr txBox="1"/>
          <p:nvPr/>
        </p:nvSpPr>
        <p:spPr>
          <a:xfrm>
            <a:off x="2731081" y="1761713"/>
            <a:ext cx="1417794" cy="398159"/>
          </a:xfrm>
          <a:prstGeom prst="rect">
            <a:avLst/>
          </a:prstGeom>
          <a:noFill/>
        </p:spPr>
        <p:txBody>
          <a:bodyPr wrap="none" lIns="0" rIns="0" tIns="0" bIns="0">
            <a:spAutoFit/>
          </a:bodyPr>
          <a:lstStyle/>
          <a:p>
            <a:pPr>
              <a:lnSpc>
                <a:spcPct val="112000"/>
              </a:lnSpc>
              <a:spcBef>
                <a:spcPts val="0"/>
              </a:spcBef>
              <a:spcAft>
                <a:spcPts val="0"/>
              </a:spcAft>
              <a:defRPr sz="1877" b="0">
                <a:solidFill>
                  <a:srgbClr val="333333"/>
                </a:solidFill>
                <a:latin typeface="微软雅黑"/>
              </a:defRPr>
            </a:pPr>
            <a:r>
              <a:rPr>
                <a:ea typeface="微软雅黑"/>
              </a:rPr>
              <a:t>化，也可被还</a:t>
            </a:r>
          </a:p>
        </p:txBody>
      </p:sp>
      <p:sp>
        <p:nvSpPr>
          <p:cNvPr id="15" name="原题文字_199_20"/>
          <p:cNvSpPr txBox="1"/>
          <p:nvPr/>
        </p:nvSpPr>
        <p:spPr>
          <a:xfrm>
            <a:off x="4591711" y="1769370"/>
            <a:ext cx="1295283"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液中制得d的</a:t>
            </a:r>
          </a:p>
        </p:txBody>
      </p:sp>
      <p:sp>
        <p:nvSpPr>
          <p:cNvPr id="16" name="原题文字_199_21"/>
          <p:cNvSpPr txBox="1"/>
          <p:nvPr/>
        </p:nvSpPr>
        <p:spPr>
          <a:xfrm>
            <a:off x="2715768" y="2075646"/>
            <a:ext cx="36879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原</a:t>
            </a:r>
          </a:p>
        </p:txBody>
      </p:sp>
      <p:sp>
        <p:nvSpPr>
          <p:cNvPr id="17" name="原题文字_199_22"/>
          <p:cNvSpPr txBox="1"/>
          <p:nvPr/>
        </p:nvSpPr>
        <p:spPr>
          <a:xfrm>
            <a:off x="4553427" y="2067989"/>
            <a:ext cx="606161"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胶体</a:t>
            </a:r>
          </a:p>
        </p:txBody>
      </p:sp>
      <p:sp>
        <p:nvSpPr>
          <p:cNvPr id="18" name="原题文字_199_23"/>
          <p:cNvSpPr txBox="1"/>
          <p:nvPr/>
        </p:nvSpPr>
        <p:spPr>
          <a:xfrm>
            <a:off x="6437027" y="2182843"/>
            <a:ext cx="139482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的循环转化关</a:t>
            </a:r>
          </a:p>
        </p:txBody>
      </p:sp>
      <p:sp>
        <p:nvSpPr>
          <p:cNvPr id="19" name="原题文字_199_24"/>
          <p:cNvSpPr txBox="1"/>
          <p:nvPr/>
        </p:nvSpPr>
        <p:spPr>
          <a:xfrm>
            <a:off x="8152176" y="2045019"/>
            <a:ext cx="353483"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盐</a:t>
            </a:r>
          </a:p>
        </p:txBody>
      </p:sp>
      <p:sp>
        <p:nvSpPr>
          <p:cNvPr id="20" name="原题文字_199_25"/>
          <p:cNvSpPr txBox="1"/>
          <p:nvPr/>
        </p:nvSpPr>
        <p:spPr>
          <a:xfrm>
            <a:off x="9959208" y="2090960"/>
            <a:ext cx="230973"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b</a:t>
            </a:r>
          </a:p>
        </p:txBody>
      </p:sp>
      <p:sp>
        <p:nvSpPr>
          <p:cNvPr id="21" name="原题文字_199_26"/>
          <p:cNvSpPr txBox="1"/>
          <p:nvPr/>
        </p:nvSpPr>
        <p:spPr>
          <a:xfrm>
            <a:off x="10525819" y="2144559"/>
            <a:ext cx="208002" cy="199079"/>
          </a:xfrm>
          <a:prstGeom prst="rect">
            <a:avLst/>
          </a:prstGeom>
          <a:noFill/>
        </p:spPr>
        <p:txBody>
          <a:bodyPr wrap="none" lIns="0" rIns="0" tIns="0" bIns="0">
            <a:spAutoFit/>
          </a:bodyPr>
          <a:lstStyle/>
          <a:p>
            <a:pPr>
              <a:lnSpc>
                <a:spcPct val="112000"/>
              </a:lnSpc>
              <a:spcBef>
                <a:spcPts val="0"/>
              </a:spcBef>
              <a:spcAft>
                <a:spcPts val="0"/>
              </a:spcAft>
              <a:defRPr sz="964" b="0">
                <a:solidFill>
                  <a:srgbClr val="333333"/>
                </a:solidFill>
                <a:latin typeface="微软雅黑"/>
              </a:defRPr>
            </a:pPr>
            <a:r>
              <a:rPr>
                <a:ea typeface="微软雅黑"/>
              </a:rPr>
              <a:t>e</a:t>
            </a:r>
          </a:p>
        </p:txBody>
      </p:sp>
      <p:sp>
        <p:nvSpPr>
          <p:cNvPr id="22" name="原题文字_199_27"/>
          <p:cNvSpPr txBox="1"/>
          <p:nvPr/>
        </p:nvSpPr>
        <p:spPr>
          <a:xfrm>
            <a:off x="6414057" y="2489120"/>
            <a:ext cx="361140"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系</a:t>
            </a:r>
          </a:p>
        </p:txBody>
      </p:sp>
      <p:sp>
        <p:nvSpPr>
          <p:cNvPr id="23" name="原题文字_199_28"/>
          <p:cNvSpPr txBox="1"/>
          <p:nvPr/>
        </p:nvSpPr>
        <p:spPr>
          <a:xfrm>
            <a:off x="7945439" y="2657572"/>
            <a:ext cx="667417"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单质</a:t>
            </a:r>
          </a:p>
        </p:txBody>
      </p:sp>
      <p:sp>
        <p:nvSpPr>
          <p:cNvPr id="24" name="原题文字_199_29"/>
          <p:cNvSpPr txBox="1"/>
          <p:nvPr/>
        </p:nvSpPr>
        <p:spPr>
          <a:xfrm>
            <a:off x="8772386" y="2734141"/>
            <a:ext cx="200345"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a</a:t>
            </a:r>
          </a:p>
        </p:txBody>
      </p:sp>
      <p:sp>
        <p:nvSpPr>
          <p:cNvPr id="25" name="原题文字_199_30"/>
          <p:cNvSpPr txBox="1"/>
          <p:nvPr/>
        </p:nvSpPr>
        <p:spPr>
          <a:xfrm>
            <a:off x="8764729" y="3331380"/>
            <a:ext cx="23862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0</a:t>
            </a:r>
          </a:p>
        </p:txBody>
      </p:sp>
      <p:sp>
        <p:nvSpPr>
          <p:cNvPr id="26" name="原题文字_199_31"/>
          <p:cNvSpPr txBox="1"/>
          <p:nvPr/>
        </p:nvSpPr>
        <p:spPr>
          <a:xfrm>
            <a:off x="9293056" y="3323723"/>
            <a:ext cx="37645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+1</a:t>
            </a:r>
          </a:p>
        </p:txBody>
      </p:sp>
      <p:sp>
        <p:nvSpPr>
          <p:cNvPr id="27" name="原题文字_199_32"/>
          <p:cNvSpPr txBox="1"/>
          <p:nvPr/>
        </p:nvSpPr>
        <p:spPr>
          <a:xfrm>
            <a:off x="9852011" y="3300753"/>
            <a:ext cx="42239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+2</a:t>
            </a:r>
          </a:p>
        </p:txBody>
      </p:sp>
      <p:sp>
        <p:nvSpPr>
          <p:cNvPr id="28" name="原题文字_199_33"/>
          <p:cNvSpPr txBox="1"/>
          <p:nvPr/>
        </p:nvSpPr>
        <p:spPr>
          <a:xfrm>
            <a:off x="10433936" y="3316066"/>
            <a:ext cx="39942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+3</a:t>
            </a:r>
          </a:p>
        </p:txBody>
      </p:sp>
      <p:sp>
        <p:nvSpPr>
          <p:cNvPr id="29" name="原题文字_199_34"/>
          <p:cNvSpPr txBox="1"/>
          <p:nvPr/>
        </p:nvSpPr>
        <p:spPr>
          <a:xfrm>
            <a:off x="10548790" y="3530460"/>
            <a:ext cx="835869"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化合价</a:t>
            </a:r>
          </a:p>
        </p:txBody>
      </p:sp>
      <p:sp>
        <p:nvSpPr>
          <p:cNvPr id="30" name="文字_单选题  ·  09-05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09-057</a:t>
            </a:r>
          </a:p>
        </p:txBody>
      </p:sp>
      <p:sp>
        <p:nvSpPr>
          <p:cNvPr id="31" name="文字_7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巩固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巩固3</a:t>
            </a:r>
          </a:p>
        </p:txBody>
      </p:sp>
      <p:sp>
        <p:nvSpPr>
          <p:cNvPr id="5" name="文字_P1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P199</a:t>
            </a:r>
          </a:p>
        </p:txBody>
      </p:sp>
      <p:sp>
        <p:nvSpPr>
          <p:cNvPr id="6" name="文字_下表所列各组物质中，物质之间按如图所示箭头方向无"/>
          <p:cNvSpPr txBox="1"/>
          <p:nvPr/>
        </p:nvSpPr>
        <p:spPr>
          <a:xfrm>
            <a:off x="502920" y="1078992"/>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下表所列各组物质中，物质之间按如图所示箭头方向无法通过一步反应实现转化的是</a:t>
            </a:r>
          </a:p>
        </p:txBody>
      </p:sp>
      <p:pic>
        <p:nvPicPr>
          <p:cNvPr id="7" name="Picture 6" descr="image.png"/>
          <p:cNvPicPr>
            <a:picLocks noChangeAspect="1"/>
          </p:cNvPicPr>
          <p:nvPr/>
        </p:nvPicPr>
        <p:blipFill>
          <a:blip r:embed="rId3"/>
          <a:stretch>
            <a:fillRect/>
          </a:stretch>
        </p:blipFill>
        <p:spPr>
          <a:xfrm>
            <a:off x="502920" y="1389888"/>
            <a:ext cx="10757775" cy="3938313"/>
          </a:xfrm>
          <a:prstGeom prst="rect">
            <a:avLst/>
          </a:prstGeom>
        </p:spPr>
      </p:pic>
      <p:sp>
        <p:nvSpPr>
          <p:cNvPr id="8" name="原题文字_199_39"/>
          <p:cNvSpPr txBox="1"/>
          <p:nvPr/>
        </p:nvSpPr>
        <p:spPr>
          <a:xfrm>
            <a:off x="1284626" y="1420711"/>
            <a:ext cx="389881" cy="435522"/>
          </a:xfrm>
          <a:prstGeom prst="rect">
            <a:avLst/>
          </a:prstGeom>
          <a:noFill/>
        </p:spPr>
        <p:txBody>
          <a:bodyPr wrap="none" lIns="0" rIns="0" tIns="0" bIns="0">
            <a:spAutoFit/>
          </a:bodyPr>
          <a:lstStyle/>
          <a:p>
            <a:pPr>
              <a:lnSpc>
                <a:spcPct val="112000"/>
              </a:lnSpc>
              <a:spcBef>
                <a:spcPts val="0"/>
              </a:spcBef>
              <a:spcAft>
                <a:spcPts val="0"/>
              </a:spcAft>
              <a:defRPr sz="2110" b="0">
                <a:solidFill>
                  <a:srgbClr val="333333"/>
                </a:solidFill>
                <a:latin typeface="微软雅黑"/>
              </a:defRPr>
            </a:pPr>
            <a:r>
              <a:rPr>
                <a:ea typeface="微软雅黑"/>
              </a:rPr>
              <a:t>X</a:t>
            </a:r>
          </a:p>
        </p:txBody>
      </p:sp>
      <p:sp>
        <p:nvSpPr>
          <p:cNvPr id="9" name="原题文字_199_40"/>
          <p:cNvSpPr txBox="1"/>
          <p:nvPr/>
        </p:nvSpPr>
        <p:spPr>
          <a:xfrm>
            <a:off x="689040" y="2403428"/>
            <a:ext cx="680229" cy="445200"/>
          </a:xfrm>
          <a:prstGeom prst="rect">
            <a:avLst/>
          </a:prstGeom>
          <a:noFill/>
        </p:spPr>
        <p:txBody>
          <a:bodyPr wrap="none" lIns="0" rIns="0" tIns="0" bIns="0">
            <a:spAutoFit/>
          </a:bodyPr>
          <a:lstStyle/>
          <a:p>
            <a:pPr>
              <a:lnSpc>
                <a:spcPct val="112000"/>
              </a:lnSpc>
              <a:spcBef>
                <a:spcPts val="0"/>
              </a:spcBef>
              <a:spcAft>
                <a:spcPts val="0"/>
              </a:spcAft>
              <a:defRPr sz="2157" b="0">
                <a:solidFill>
                  <a:srgbClr val="333333"/>
                </a:solidFill>
                <a:latin typeface="微软雅黑"/>
              </a:defRPr>
            </a:pPr>
            <a:r>
              <a:rPr>
                <a:ea typeface="微软雅黑"/>
              </a:rPr>
              <a:t>Y</a:t>
            </a:r>
          </a:p>
        </p:txBody>
      </p:sp>
      <p:sp>
        <p:nvSpPr>
          <p:cNvPr id="10" name="原题文字_199_41"/>
          <p:cNvSpPr txBox="1"/>
          <p:nvPr/>
        </p:nvSpPr>
        <p:spPr>
          <a:xfrm>
            <a:off x="1187844" y="2418318"/>
            <a:ext cx="1097139" cy="464557"/>
          </a:xfrm>
          <a:prstGeom prst="rect">
            <a:avLst/>
          </a:prstGeom>
          <a:noFill/>
        </p:spPr>
        <p:txBody>
          <a:bodyPr wrap="none" lIns="0" rIns="0" tIns="0" bIns="0">
            <a:spAutoFit/>
          </a:bodyPr>
          <a:lstStyle/>
          <a:p>
            <a:pPr>
              <a:lnSpc>
                <a:spcPct val="112000"/>
              </a:lnSpc>
              <a:spcBef>
                <a:spcPts val="0"/>
              </a:spcBef>
              <a:spcAft>
                <a:spcPts val="0"/>
              </a:spcAft>
              <a:defRPr sz="2251" b="0">
                <a:solidFill>
                  <a:srgbClr val="333333"/>
                </a:solidFill>
                <a:latin typeface="微软雅黑"/>
              </a:defRPr>
            </a:pPr>
            <a:r>
              <a:rPr>
                <a:ea typeface="微软雅黑"/>
              </a:rPr>
              <a:t>z</a:t>
            </a:r>
          </a:p>
        </p:txBody>
      </p:sp>
      <p:sp>
        <p:nvSpPr>
          <p:cNvPr id="11" name="原题文字_199_42"/>
          <p:cNvSpPr txBox="1"/>
          <p:nvPr/>
        </p:nvSpPr>
        <p:spPr>
          <a:xfrm>
            <a:off x="607147" y="2991569"/>
            <a:ext cx="576001" cy="377452"/>
          </a:xfrm>
          <a:prstGeom prst="rect">
            <a:avLst/>
          </a:prstGeom>
          <a:noFill/>
        </p:spPr>
        <p:txBody>
          <a:bodyPr wrap="none" lIns="0" rIns="0" tIns="0" bIns="0">
            <a:spAutoFit/>
          </a:bodyPr>
          <a:lstStyle/>
          <a:p>
            <a:pPr>
              <a:lnSpc>
                <a:spcPct val="112000"/>
              </a:lnSpc>
              <a:spcBef>
                <a:spcPts val="0"/>
              </a:spcBef>
              <a:spcAft>
                <a:spcPts val="0"/>
              </a:spcAft>
              <a:defRPr sz="1828" b="0">
                <a:solidFill>
                  <a:srgbClr val="333333"/>
                </a:solidFill>
                <a:latin typeface="微软雅黑"/>
              </a:defRPr>
            </a:pPr>
            <a:r>
              <a:rPr>
                <a:ea typeface="微软雅黑"/>
              </a:rPr>
              <a:t>选项</a:t>
            </a:r>
          </a:p>
        </p:txBody>
      </p:sp>
      <p:sp>
        <p:nvSpPr>
          <p:cNvPr id="12" name="原题文字_199_43"/>
          <p:cNvSpPr txBox="1"/>
          <p:nvPr/>
        </p:nvSpPr>
        <p:spPr>
          <a:xfrm>
            <a:off x="1634533" y="3021349"/>
            <a:ext cx="315432" cy="348417"/>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X</a:t>
            </a:r>
          </a:p>
        </p:txBody>
      </p:sp>
      <p:sp>
        <p:nvSpPr>
          <p:cNvPr id="13" name="原题文字_199_44"/>
          <p:cNvSpPr txBox="1"/>
          <p:nvPr/>
        </p:nvSpPr>
        <p:spPr>
          <a:xfrm>
            <a:off x="2647030" y="3021349"/>
            <a:ext cx="270764" cy="329061"/>
          </a:xfrm>
          <a:prstGeom prst="rect">
            <a:avLst/>
          </a:prstGeom>
          <a:noFill/>
        </p:spPr>
        <p:txBody>
          <a:bodyPr wrap="none" lIns="0" rIns="0" tIns="0" bIns="0">
            <a:spAutoFit/>
          </a:bodyPr>
          <a:lstStyle/>
          <a:p>
            <a:pPr>
              <a:lnSpc>
                <a:spcPct val="112000"/>
              </a:lnSpc>
              <a:spcBef>
                <a:spcPts val="0"/>
              </a:spcBef>
              <a:spcAft>
                <a:spcPts val="0"/>
              </a:spcAft>
              <a:defRPr sz="1594" b="0">
                <a:solidFill>
                  <a:srgbClr val="333333"/>
                </a:solidFill>
                <a:latin typeface="微软雅黑"/>
              </a:defRPr>
            </a:pPr>
            <a:r>
              <a:rPr>
                <a:ea typeface="微软雅黑"/>
              </a:rPr>
              <a:t>Y</a:t>
            </a:r>
          </a:p>
        </p:txBody>
      </p:sp>
      <p:sp>
        <p:nvSpPr>
          <p:cNvPr id="14" name="原题文字_199_45"/>
          <p:cNvSpPr txBox="1"/>
          <p:nvPr/>
        </p:nvSpPr>
        <p:spPr>
          <a:xfrm>
            <a:off x="4545461" y="3021349"/>
            <a:ext cx="278208" cy="338739"/>
          </a:xfrm>
          <a:prstGeom prst="rect">
            <a:avLst/>
          </a:prstGeom>
          <a:noFill/>
        </p:spPr>
        <p:txBody>
          <a:bodyPr wrap="none" lIns="0" rIns="0" tIns="0" bIns="0">
            <a:spAutoFit/>
          </a:bodyPr>
          <a:lstStyle/>
          <a:p>
            <a:pPr>
              <a:lnSpc>
                <a:spcPct val="112000"/>
              </a:lnSpc>
              <a:spcBef>
                <a:spcPts val="0"/>
              </a:spcBef>
              <a:spcAft>
                <a:spcPts val="0"/>
              </a:spcAft>
              <a:defRPr sz="1641" b="0">
                <a:solidFill>
                  <a:srgbClr val="333333"/>
                </a:solidFill>
                <a:latin typeface="微软雅黑"/>
              </a:defRPr>
            </a:pPr>
            <a:r>
              <a:rPr>
                <a:ea typeface="微软雅黑"/>
              </a:rPr>
              <a:t>Z</a:t>
            </a:r>
          </a:p>
        </p:txBody>
      </p:sp>
      <p:sp>
        <p:nvSpPr>
          <p:cNvPr id="15" name="原题文字_199_46"/>
          <p:cNvSpPr txBox="1"/>
          <p:nvPr/>
        </p:nvSpPr>
        <p:spPr>
          <a:xfrm>
            <a:off x="622037" y="3430814"/>
            <a:ext cx="278208"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A</a:t>
            </a:r>
          </a:p>
        </p:txBody>
      </p:sp>
      <p:sp>
        <p:nvSpPr>
          <p:cNvPr id="16" name="原题文字_199_47"/>
          <p:cNvSpPr txBox="1"/>
          <p:nvPr/>
        </p:nvSpPr>
        <p:spPr>
          <a:xfrm>
            <a:off x="1656868" y="3430814"/>
            <a:ext cx="508998" cy="329061"/>
          </a:xfrm>
          <a:prstGeom prst="rect">
            <a:avLst/>
          </a:prstGeom>
          <a:noFill/>
        </p:spPr>
        <p:txBody>
          <a:bodyPr wrap="none" lIns="0" rIns="0" tIns="0" bIns="0">
            <a:spAutoFit/>
          </a:bodyPr>
          <a:lstStyle/>
          <a:p>
            <a:pPr>
              <a:lnSpc>
                <a:spcPct val="112000"/>
              </a:lnSpc>
              <a:spcBef>
                <a:spcPts val="0"/>
              </a:spcBef>
              <a:spcAft>
                <a:spcPts val="0"/>
              </a:spcAft>
              <a:defRPr sz="1594" b="0">
                <a:solidFill>
                  <a:srgbClr val="333333"/>
                </a:solidFill>
                <a:latin typeface="微软雅黑"/>
              </a:defRPr>
            </a:pPr>
            <a:r>
              <a:rPr>
                <a:ea typeface="微软雅黑"/>
              </a:rPr>
              <a:t>CaO</a:t>
            </a:r>
          </a:p>
        </p:txBody>
      </p:sp>
      <p:sp>
        <p:nvSpPr>
          <p:cNvPr id="17" name="原题文字_199_48"/>
          <p:cNvSpPr txBox="1"/>
          <p:nvPr/>
        </p:nvSpPr>
        <p:spPr>
          <a:xfrm>
            <a:off x="2654475" y="3401035"/>
            <a:ext cx="940798" cy="425844"/>
          </a:xfrm>
          <a:prstGeom prst="rect">
            <a:avLst/>
          </a:prstGeom>
          <a:noFill/>
        </p:spPr>
        <p:txBody>
          <a:bodyPr wrap="none" lIns="0" rIns="0" tIns="0" bIns="0">
            <a:spAutoFit/>
          </a:bodyPr>
          <a:lstStyle/>
          <a:p>
            <a:pPr>
              <a:lnSpc>
                <a:spcPct val="112000"/>
              </a:lnSpc>
              <a:spcBef>
                <a:spcPts val="0"/>
              </a:spcBef>
              <a:spcAft>
                <a:spcPts val="0"/>
              </a:spcAft>
              <a:defRPr sz="1760" b="0">
                <a:solidFill>
                  <a:srgbClr val="333333"/>
                </a:solidFill>
                <a:latin typeface="微软雅黑"/>
              </a:defRPr>
            </a:pPr>
            <a:r>
              <a:rPr>
                <a:ea typeface="微软雅黑"/>
              </a:rPr>
              <a:t>Ca(OH)₂</a:t>
            </a:r>
          </a:p>
        </p:txBody>
      </p:sp>
      <p:sp>
        <p:nvSpPr>
          <p:cNvPr id="18" name="原题文字_199_49"/>
          <p:cNvSpPr txBox="1"/>
          <p:nvPr/>
        </p:nvSpPr>
        <p:spPr>
          <a:xfrm>
            <a:off x="4567795" y="3415925"/>
            <a:ext cx="769567" cy="358096"/>
          </a:xfrm>
          <a:prstGeom prst="rect">
            <a:avLst/>
          </a:prstGeom>
          <a:noFill/>
        </p:spPr>
        <p:txBody>
          <a:bodyPr wrap="none" lIns="0" rIns="0" tIns="0" bIns="0">
            <a:spAutoFit/>
          </a:bodyPr>
          <a:lstStyle/>
          <a:p>
            <a:pPr>
              <a:lnSpc>
                <a:spcPct val="112000"/>
              </a:lnSpc>
              <a:spcBef>
                <a:spcPts val="0"/>
              </a:spcBef>
              <a:spcAft>
                <a:spcPts val="0"/>
              </a:spcAft>
              <a:defRPr sz="1735" b="0">
                <a:solidFill>
                  <a:srgbClr val="333333"/>
                </a:solidFill>
                <a:latin typeface="微软雅黑"/>
              </a:defRPr>
            </a:pPr>
            <a:r>
              <a:rPr>
                <a:ea typeface="微软雅黑"/>
              </a:rPr>
              <a:t>CaCO₃</a:t>
            </a:r>
          </a:p>
        </p:txBody>
      </p:sp>
      <p:sp>
        <p:nvSpPr>
          <p:cNvPr id="19" name="原题文字_199_50"/>
          <p:cNvSpPr txBox="1"/>
          <p:nvPr/>
        </p:nvSpPr>
        <p:spPr>
          <a:xfrm>
            <a:off x="614592" y="3825390"/>
            <a:ext cx="263319" cy="300026"/>
          </a:xfrm>
          <a:prstGeom prst="rect">
            <a:avLst/>
          </a:prstGeom>
          <a:noFill/>
        </p:spPr>
        <p:txBody>
          <a:bodyPr wrap="none" lIns="0" rIns="0" tIns="0" bIns="0">
            <a:spAutoFit/>
          </a:bodyPr>
          <a:lstStyle/>
          <a:p>
            <a:pPr>
              <a:lnSpc>
                <a:spcPct val="112000"/>
              </a:lnSpc>
              <a:spcBef>
                <a:spcPts val="0"/>
              </a:spcBef>
              <a:spcAft>
                <a:spcPts val="0"/>
              </a:spcAft>
              <a:defRPr sz="1453" b="0">
                <a:solidFill>
                  <a:srgbClr val="333333"/>
                </a:solidFill>
                <a:latin typeface="微软雅黑"/>
              </a:defRPr>
            </a:pPr>
            <a:r>
              <a:rPr>
                <a:ea typeface="微软雅黑"/>
              </a:rPr>
              <a:t>B</a:t>
            </a:r>
          </a:p>
        </p:txBody>
      </p:sp>
      <p:sp>
        <p:nvSpPr>
          <p:cNvPr id="20" name="原题文字_199_51"/>
          <p:cNvSpPr txBox="1"/>
          <p:nvPr/>
        </p:nvSpPr>
        <p:spPr>
          <a:xfrm>
            <a:off x="1634533" y="3803056"/>
            <a:ext cx="360101" cy="338739"/>
          </a:xfrm>
          <a:prstGeom prst="rect">
            <a:avLst/>
          </a:prstGeom>
          <a:noFill/>
        </p:spPr>
        <p:txBody>
          <a:bodyPr wrap="none" lIns="0" rIns="0" tIns="0" bIns="0">
            <a:spAutoFit/>
          </a:bodyPr>
          <a:lstStyle/>
          <a:p>
            <a:pPr>
              <a:lnSpc>
                <a:spcPct val="112000"/>
              </a:lnSpc>
              <a:spcBef>
                <a:spcPts val="0"/>
              </a:spcBef>
              <a:spcAft>
                <a:spcPts val="0"/>
              </a:spcAft>
              <a:defRPr sz="1641" b="0">
                <a:solidFill>
                  <a:srgbClr val="333333"/>
                </a:solidFill>
                <a:latin typeface="微软雅黑"/>
              </a:defRPr>
            </a:pPr>
            <a:r>
              <a:rPr>
                <a:ea typeface="微软雅黑"/>
              </a:rPr>
              <a:t>Fe</a:t>
            </a:r>
          </a:p>
        </p:txBody>
      </p:sp>
      <p:sp>
        <p:nvSpPr>
          <p:cNvPr id="21" name="原题文字_199_52"/>
          <p:cNvSpPr txBox="1"/>
          <p:nvPr/>
        </p:nvSpPr>
        <p:spPr>
          <a:xfrm>
            <a:off x="2624695" y="3788166"/>
            <a:ext cx="665339" cy="396809"/>
          </a:xfrm>
          <a:prstGeom prst="rect">
            <a:avLst/>
          </a:prstGeom>
          <a:noFill/>
        </p:spPr>
        <p:txBody>
          <a:bodyPr wrap="none" lIns="0" rIns="0" tIns="0" bIns="0">
            <a:spAutoFit/>
          </a:bodyPr>
          <a:lstStyle/>
          <a:p>
            <a:pPr>
              <a:lnSpc>
                <a:spcPct val="112000"/>
              </a:lnSpc>
              <a:spcBef>
                <a:spcPts val="0"/>
              </a:spcBef>
              <a:spcAft>
                <a:spcPts val="0"/>
              </a:spcAft>
              <a:defRPr sz="1910" b="0">
                <a:solidFill>
                  <a:srgbClr val="333333"/>
                </a:solidFill>
                <a:latin typeface="微软雅黑"/>
              </a:defRPr>
            </a:pPr>
            <a:r>
              <a:rPr>
                <a:ea typeface="微软雅黑"/>
              </a:rPr>
              <a:t>FeCl₃</a:t>
            </a:r>
          </a:p>
        </p:txBody>
      </p:sp>
      <p:sp>
        <p:nvSpPr>
          <p:cNvPr id="22" name="原题文字_199_53"/>
          <p:cNvSpPr txBox="1"/>
          <p:nvPr/>
        </p:nvSpPr>
        <p:spPr>
          <a:xfrm>
            <a:off x="4538016" y="3788166"/>
            <a:ext cx="672784" cy="396809"/>
          </a:xfrm>
          <a:prstGeom prst="rect">
            <a:avLst/>
          </a:prstGeom>
          <a:noFill/>
        </p:spPr>
        <p:txBody>
          <a:bodyPr wrap="none" lIns="0" rIns="0" tIns="0" bIns="0">
            <a:spAutoFit/>
          </a:bodyPr>
          <a:lstStyle/>
          <a:p>
            <a:pPr>
              <a:lnSpc>
                <a:spcPct val="112000"/>
              </a:lnSpc>
              <a:spcBef>
                <a:spcPts val="0"/>
              </a:spcBef>
              <a:spcAft>
                <a:spcPts val="0"/>
              </a:spcAft>
              <a:defRPr sz="1922" b="0">
                <a:solidFill>
                  <a:srgbClr val="333333"/>
                </a:solidFill>
                <a:latin typeface="微软雅黑"/>
              </a:defRPr>
            </a:pPr>
            <a:r>
              <a:rPr>
                <a:ea typeface="微软雅黑"/>
              </a:rPr>
              <a:t>FeCl₂</a:t>
            </a:r>
          </a:p>
        </p:txBody>
      </p:sp>
      <p:sp>
        <p:nvSpPr>
          <p:cNvPr id="23" name="原题文字_199_54"/>
          <p:cNvSpPr txBox="1"/>
          <p:nvPr/>
        </p:nvSpPr>
        <p:spPr>
          <a:xfrm>
            <a:off x="614592" y="4219966"/>
            <a:ext cx="263319"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C</a:t>
            </a:r>
          </a:p>
        </p:txBody>
      </p:sp>
      <p:sp>
        <p:nvSpPr>
          <p:cNvPr id="24" name="原题文字_199_55"/>
          <p:cNvSpPr txBox="1"/>
          <p:nvPr/>
        </p:nvSpPr>
        <p:spPr>
          <a:xfrm>
            <a:off x="1656868" y="4205076"/>
            <a:ext cx="531332" cy="377452"/>
          </a:xfrm>
          <a:prstGeom prst="rect">
            <a:avLst/>
          </a:prstGeom>
          <a:noFill/>
        </p:spPr>
        <p:txBody>
          <a:bodyPr wrap="none" lIns="0" rIns="0" tIns="0" bIns="0">
            <a:spAutoFit/>
          </a:bodyPr>
          <a:lstStyle/>
          <a:p>
            <a:pPr>
              <a:lnSpc>
                <a:spcPct val="112000"/>
              </a:lnSpc>
              <a:spcBef>
                <a:spcPts val="0"/>
              </a:spcBef>
              <a:spcAft>
                <a:spcPts val="0"/>
              </a:spcAft>
              <a:defRPr sz="1828" b="0">
                <a:solidFill>
                  <a:srgbClr val="333333"/>
                </a:solidFill>
                <a:latin typeface="微软雅黑"/>
              </a:defRPr>
            </a:pPr>
            <a:r>
              <a:rPr>
                <a:ea typeface="微软雅黑"/>
              </a:rPr>
              <a:t>CO₂</a:t>
            </a:r>
          </a:p>
        </p:txBody>
      </p:sp>
      <p:sp>
        <p:nvSpPr>
          <p:cNvPr id="25" name="原题文字_199_56"/>
          <p:cNvSpPr txBox="1"/>
          <p:nvPr/>
        </p:nvSpPr>
        <p:spPr>
          <a:xfrm>
            <a:off x="2617251" y="4182742"/>
            <a:ext cx="903574" cy="416165"/>
          </a:xfrm>
          <a:prstGeom prst="rect">
            <a:avLst/>
          </a:prstGeom>
          <a:noFill/>
        </p:spPr>
        <p:txBody>
          <a:bodyPr wrap="none" lIns="0" rIns="0" tIns="0" bIns="0">
            <a:spAutoFit/>
          </a:bodyPr>
          <a:lstStyle/>
          <a:p>
            <a:pPr>
              <a:lnSpc>
                <a:spcPct val="112000"/>
              </a:lnSpc>
              <a:spcBef>
                <a:spcPts val="0"/>
              </a:spcBef>
              <a:spcAft>
                <a:spcPts val="0"/>
              </a:spcAft>
              <a:defRPr sz="1661" b="0">
                <a:solidFill>
                  <a:srgbClr val="333333"/>
                </a:solidFill>
                <a:latin typeface="微软雅黑"/>
              </a:defRPr>
            </a:pPr>
            <a:r>
              <a:rPr>
                <a:ea typeface="微软雅黑"/>
              </a:rPr>
              <a:t>Na₂CO₃</a:t>
            </a:r>
          </a:p>
        </p:txBody>
      </p:sp>
      <p:sp>
        <p:nvSpPr>
          <p:cNvPr id="26" name="原题文字_199_57"/>
          <p:cNvSpPr txBox="1"/>
          <p:nvPr/>
        </p:nvSpPr>
        <p:spPr>
          <a:xfrm>
            <a:off x="4530571" y="4190187"/>
            <a:ext cx="978022" cy="406487"/>
          </a:xfrm>
          <a:prstGeom prst="rect">
            <a:avLst/>
          </a:prstGeom>
          <a:noFill/>
        </p:spPr>
        <p:txBody>
          <a:bodyPr wrap="none" lIns="0" rIns="0" tIns="0" bIns="0">
            <a:spAutoFit/>
          </a:bodyPr>
          <a:lstStyle/>
          <a:p>
            <a:pPr>
              <a:lnSpc>
                <a:spcPct val="112000"/>
              </a:lnSpc>
              <a:spcBef>
                <a:spcPts val="0"/>
              </a:spcBef>
              <a:spcAft>
                <a:spcPts val="0"/>
              </a:spcAft>
              <a:defRPr sz="1778" b="0">
                <a:solidFill>
                  <a:srgbClr val="333333"/>
                </a:solidFill>
                <a:latin typeface="微软雅黑"/>
              </a:defRPr>
            </a:pPr>
            <a:r>
              <a:rPr>
                <a:ea typeface="微软雅黑"/>
              </a:rPr>
              <a:t>NaHCO₃</a:t>
            </a:r>
          </a:p>
        </p:txBody>
      </p:sp>
      <p:sp>
        <p:nvSpPr>
          <p:cNvPr id="27" name="原题文字_199_58"/>
          <p:cNvSpPr txBox="1"/>
          <p:nvPr/>
        </p:nvSpPr>
        <p:spPr>
          <a:xfrm>
            <a:off x="607147" y="4629432"/>
            <a:ext cx="270764"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D</a:t>
            </a:r>
          </a:p>
        </p:txBody>
      </p:sp>
      <p:sp>
        <p:nvSpPr>
          <p:cNvPr id="28" name="原题文字_199_59"/>
          <p:cNvSpPr txBox="1"/>
          <p:nvPr/>
        </p:nvSpPr>
        <p:spPr>
          <a:xfrm>
            <a:off x="1634533" y="4592207"/>
            <a:ext cx="553667" cy="406487"/>
          </a:xfrm>
          <a:prstGeom prst="rect">
            <a:avLst/>
          </a:prstGeom>
          <a:noFill/>
        </p:spPr>
        <p:txBody>
          <a:bodyPr wrap="none" lIns="0" rIns="0" tIns="0" bIns="0">
            <a:spAutoFit/>
          </a:bodyPr>
          <a:lstStyle/>
          <a:p>
            <a:pPr>
              <a:lnSpc>
                <a:spcPct val="112000"/>
              </a:lnSpc>
              <a:spcBef>
                <a:spcPts val="0"/>
              </a:spcBef>
              <a:spcAft>
                <a:spcPts val="0"/>
              </a:spcAft>
              <a:defRPr sz="1969" b="0">
                <a:solidFill>
                  <a:srgbClr val="333333"/>
                </a:solidFill>
                <a:latin typeface="微软雅黑"/>
              </a:defRPr>
            </a:pPr>
            <a:r>
              <a:rPr>
                <a:ea typeface="微软雅黑"/>
              </a:rPr>
              <a:t>CuO</a:t>
            </a:r>
          </a:p>
        </p:txBody>
      </p:sp>
      <p:sp>
        <p:nvSpPr>
          <p:cNvPr id="29" name="原题文字_199_60"/>
          <p:cNvSpPr txBox="1"/>
          <p:nvPr/>
        </p:nvSpPr>
        <p:spPr>
          <a:xfrm>
            <a:off x="2647030" y="4599652"/>
            <a:ext cx="695119" cy="396809"/>
          </a:xfrm>
          <a:prstGeom prst="rect">
            <a:avLst/>
          </a:prstGeom>
          <a:noFill/>
        </p:spPr>
        <p:txBody>
          <a:bodyPr wrap="none" lIns="0" rIns="0" tIns="0" bIns="0">
            <a:spAutoFit/>
          </a:bodyPr>
          <a:lstStyle/>
          <a:p>
            <a:pPr>
              <a:lnSpc>
                <a:spcPct val="112000"/>
              </a:lnSpc>
              <a:spcBef>
                <a:spcPts val="0"/>
              </a:spcBef>
              <a:spcAft>
                <a:spcPts val="0"/>
              </a:spcAft>
              <a:defRPr sz="1888" b="0">
                <a:solidFill>
                  <a:srgbClr val="333333"/>
                </a:solidFill>
                <a:latin typeface="微软雅黑"/>
              </a:defRPr>
            </a:pPr>
            <a:r>
              <a:rPr>
                <a:ea typeface="微软雅黑"/>
              </a:rPr>
              <a:t>CuCl₂</a:t>
            </a:r>
          </a:p>
        </p:txBody>
      </p:sp>
      <p:sp>
        <p:nvSpPr>
          <p:cNvPr id="30" name="原题文字_199_61"/>
          <p:cNvSpPr txBox="1"/>
          <p:nvPr/>
        </p:nvSpPr>
        <p:spPr>
          <a:xfrm>
            <a:off x="4552906" y="4599652"/>
            <a:ext cx="978022" cy="425844"/>
          </a:xfrm>
          <a:prstGeom prst="rect">
            <a:avLst/>
          </a:prstGeom>
          <a:noFill/>
        </p:spPr>
        <p:txBody>
          <a:bodyPr wrap="none" lIns="0" rIns="0" tIns="0" bIns="0">
            <a:spAutoFit/>
          </a:bodyPr>
          <a:lstStyle/>
          <a:p>
            <a:pPr>
              <a:lnSpc>
                <a:spcPct val="112000"/>
              </a:lnSpc>
              <a:spcBef>
                <a:spcPts val="0"/>
              </a:spcBef>
              <a:spcAft>
                <a:spcPts val="0"/>
              </a:spcAft>
              <a:defRPr sz="1809" b="0">
                <a:solidFill>
                  <a:srgbClr val="333333"/>
                </a:solidFill>
                <a:latin typeface="微软雅黑"/>
              </a:defRPr>
            </a:pPr>
            <a:r>
              <a:rPr>
                <a:ea typeface="微软雅黑"/>
              </a:rPr>
              <a:t>Cu(OH)₂</a:t>
            </a:r>
          </a:p>
        </p:txBody>
      </p:sp>
      <p:sp>
        <p:nvSpPr>
          <p:cNvPr id="31" name="原题文字_199_62"/>
          <p:cNvSpPr txBox="1"/>
          <p:nvPr/>
        </p:nvSpPr>
        <p:spPr>
          <a:xfrm>
            <a:off x="562478" y="5046342"/>
            <a:ext cx="598336"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A. A</a:t>
            </a:r>
          </a:p>
        </p:txBody>
      </p:sp>
      <p:sp>
        <p:nvSpPr>
          <p:cNvPr id="32" name="文字_B. B"/>
          <p:cNvSpPr txBox="1"/>
          <p:nvPr/>
        </p:nvSpPr>
        <p:spPr>
          <a:xfrm>
            <a:off x="502920" y="5401353"/>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B. B</a:t>
            </a:r>
          </a:p>
        </p:txBody>
      </p:sp>
      <p:sp>
        <p:nvSpPr>
          <p:cNvPr id="33" name="文字_C. C"/>
          <p:cNvSpPr txBox="1"/>
          <p:nvPr/>
        </p:nvSpPr>
        <p:spPr>
          <a:xfrm>
            <a:off x="502920" y="5712249"/>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C. C</a:t>
            </a:r>
          </a:p>
        </p:txBody>
      </p:sp>
      <p:sp>
        <p:nvSpPr>
          <p:cNvPr id="34" name="文字_D. D"/>
          <p:cNvSpPr txBox="1"/>
          <p:nvPr/>
        </p:nvSpPr>
        <p:spPr>
          <a:xfrm>
            <a:off x="502920" y="6023145"/>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D. D</a:t>
            </a:r>
          </a:p>
        </p:txBody>
      </p:sp>
      <p:sp>
        <p:nvSpPr>
          <p:cNvPr id="35" name="文字_单选题  ·  09-05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09-058</a:t>
            </a:r>
          </a:p>
        </p:txBody>
      </p:sp>
      <p:sp>
        <p:nvSpPr>
          <p:cNvPr id="36" name="文字_7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巩固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巩固4</a:t>
            </a:r>
          </a:p>
        </p:txBody>
      </p:sp>
      <p:sp>
        <p:nvSpPr>
          <p:cNvPr id="5" name="文字_P20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P200</a:t>
            </a:r>
          </a:p>
        </p:txBody>
      </p:sp>
      <p:sp>
        <p:nvSpPr>
          <p:cNvPr id="6" name="文字_下图为铁元素的价类二维图，其中的箭头表示部分物质"/>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下图为铁元素的价类二维图，其中的箭头表示部分物质间的转化关系，下列说法正</a:t>
            </a:r>
          </a:p>
          <a:p>
            <a:pPr>
              <a:lnSpc>
                <a:spcPct val="112000"/>
              </a:lnSpc>
              <a:spcBef>
                <a:spcPts val="0"/>
              </a:spcBef>
              <a:spcAft>
                <a:spcPts val="0"/>
              </a:spcAft>
              <a:defRPr sz="2400" b="0">
                <a:solidFill>
                  <a:srgbClr val="333333"/>
                </a:solidFill>
                <a:latin typeface="微软雅黑"/>
              </a:defRPr>
            </a:pPr>
            <a:r>
              <a:rPr>
                <a:ea typeface="微软雅黑"/>
              </a:rPr>
              <a:t>确的是</a:t>
            </a:r>
          </a:p>
        </p:txBody>
      </p:sp>
      <p:sp>
        <p:nvSpPr>
          <p:cNvPr id="7" name="文字_A. 铁与高温水蒸气的反应可实现上述转化① __"/>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铁与高温水蒸气的反应可实现上述转化① ______ 化合价</a:t>
            </a:r>
          </a:p>
        </p:txBody>
      </p:sp>
      <p:sp>
        <p:nvSpPr>
          <p:cNvPr id="8" name="文字_↑"/>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t>
            </a:r>
          </a:p>
        </p:txBody>
      </p:sp>
      <p:pic>
        <p:nvPicPr>
          <p:cNvPr id="9" name="Picture 8" descr="image.png"/>
          <p:cNvPicPr>
            <a:picLocks noChangeAspect="1"/>
          </p:cNvPicPr>
          <p:nvPr/>
        </p:nvPicPr>
        <p:blipFill>
          <a:blip r:embed="rId3"/>
          <a:stretch>
            <a:fillRect/>
          </a:stretch>
        </p:blipFill>
        <p:spPr>
          <a:xfrm>
            <a:off x="502920" y="2758440"/>
            <a:ext cx="11064240" cy="2090337"/>
          </a:xfrm>
          <a:prstGeom prst="rect">
            <a:avLst/>
          </a:prstGeom>
        </p:spPr>
      </p:pic>
      <p:sp>
        <p:nvSpPr>
          <p:cNvPr id="10" name="原题文字_200_7"/>
          <p:cNvSpPr txBox="1"/>
          <p:nvPr/>
        </p:nvSpPr>
        <p:spPr>
          <a:xfrm>
            <a:off x="571832" y="2820951"/>
            <a:ext cx="467963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B. FeO不稳定，在空气中受热，迅速发生转化②</a:t>
            </a:r>
          </a:p>
        </p:txBody>
      </p:sp>
      <p:sp>
        <p:nvSpPr>
          <p:cNvPr id="11" name="原题文字_200_8"/>
          <p:cNvSpPr txBox="1"/>
          <p:nvPr/>
        </p:nvSpPr>
        <p:spPr>
          <a:xfrm>
            <a:off x="7646820" y="2843922"/>
            <a:ext cx="42239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+6F</a:t>
            </a:r>
          </a:p>
        </p:txBody>
      </p:sp>
      <p:sp>
        <p:nvSpPr>
          <p:cNvPr id="12" name="原题文字_200_9"/>
          <p:cNvSpPr txBox="1"/>
          <p:nvPr/>
        </p:nvSpPr>
        <p:spPr>
          <a:xfrm>
            <a:off x="9867325" y="2790323"/>
            <a:ext cx="613818" cy="388205"/>
          </a:xfrm>
          <a:prstGeom prst="rect">
            <a:avLst/>
          </a:prstGeom>
          <a:noFill/>
        </p:spPr>
        <p:txBody>
          <a:bodyPr wrap="none" lIns="0" rIns="0" tIns="0" bIns="0">
            <a:spAutoFit/>
          </a:bodyPr>
          <a:lstStyle/>
          <a:p>
            <a:pPr>
              <a:lnSpc>
                <a:spcPct val="112000"/>
              </a:lnSpc>
              <a:spcBef>
                <a:spcPts val="0"/>
              </a:spcBef>
              <a:spcAft>
                <a:spcPts val="0"/>
              </a:spcAft>
              <a:defRPr sz="1846" b="0">
                <a:solidFill>
                  <a:srgbClr val="333333"/>
                </a:solidFill>
                <a:latin typeface="微软雅黑"/>
              </a:defRPr>
            </a:pPr>
            <a:r>
              <a:rPr>
                <a:ea typeface="微软雅黑"/>
              </a:rPr>
              <a:t>FeO₂</a:t>
            </a:r>
          </a:p>
        </p:txBody>
      </p:sp>
      <p:sp>
        <p:nvSpPr>
          <p:cNvPr id="13" name="原题文字_200_10"/>
          <p:cNvSpPr txBox="1"/>
          <p:nvPr/>
        </p:nvSpPr>
        <p:spPr>
          <a:xfrm>
            <a:off x="564175" y="3188483"/>
            <a:ext cx="4779179" cy="388205"/>
          </a:xfrm>
          <a:prstGeom prst="rect">
            <a:avLst/>
          </a:prstGeom>
          <a:noFill/>
        </p:spPr>
        <p:txBody>
          <a:bodyPr wrap="none" lIns="0" rIns="0" tIns="0" bIns="0">
            <a:spAutoFit/>
          </a:bodyPr>
          <a:lstStyle/>
          <a:p>
            <a:pPr>
              <a:lnSpc>
                <a:spcPct val="112000"/>
              </a:lnSpc>
              <a:spcBef>
                <a:spcPts val="0"/>
              </a:spcBef>
              <a:spcAft>
                <a:spcPts val="0"/>
              </a:spcAft>
              <a:defRPr sz="1733" b="0">
                <a:solidFill>
                  <a:srgbClr val="333333"/>
                </a:solidFill>
                <a:latin typeface="微软雅黑"/>
              </a:defRPr>
            </a:pPr>
            <a:r>
              <a:rPr>
                <a:ea typeface="微软雅黑"/>
              </a:rPr>
              <a:t>C. Fe(OH)₂中加稀HNO₃(强氧化剂)可实现转化⑦</a:t>
            </a:r>
          </a:p>
        </p:txBody>
      </p:sp>
      <p:sp>
        <p:nvSpPr>
          <p:cNvPr id="14" name="原题文字_200_11"/>
          <p:cNvSpPr txBox="1"/>
          <p:nvPr/>
        </p:nvSpPr>
        <p:spPr>
          <a:xfrm>
            <a:off x="7631506" y="3418190"/>
            <a:ext cx="37645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+3</a:t>
            </a:r>
          </a:p>
        </p:txBody>
      </p:sp>
      <p:sp>
        <p:nvSpPr>
          <p:cNvPr id="15" name="原题文字_200_12"/>
          <p:cNvSpPr txBox="1"/>
          <p:nvPr/>
        </p:nvSpPr>
        <p:spPr>
          <a:xfrm>
            <a:off x="556518" y="3571328"/>
            <a:ext cx="6119139" cy="398159"/>
          </a:xfrm>
          <a:prstGeom prst="rect">
            <a:avLst/>
          </a:prstGeom>
          <a:noFill/>
        </p:spPr>
        <p:txBody>
          <a:bodyPr wrap="none" lIns="0" rIns="0" tIns="0" bIns="0">
            <a:spAutoFit/>
          </a:bodyPr>
          <a:lstStyle/>
          <a:p>
            <a:pPr>
              <a:lnSpc>
                <a:spcPct val="112000"/>
              </a:lnSpc>
              <a:spcBef>
                <a:spcPts val="0"/>
              </a:spcBef>
              <a:spcAft>
                <a:spcPts val="0"/>
              </a:spcAft>
              <a:defRPr sz="1712" b="0">
                <a:solidFill>
                  <a:srgbClr val="333333"/>
                </a:solidFill>
                <a:latin typeface="微软雅黑"/>
              </a:defRPr>
            </a:pPr>
            <a:r>
              <a:rPr>
                <a:ea typeface="微软雅黑"/>
              </a:rPr>
              <a:t>D. 加热Fe(OH)3发生转化⑥，但Fe₂O₃加水不能转化为Fe(OH)3</a:t>
            </a:r>
          </a:p>
        </p:txBody>
      </p:sp>
      <p:sp>
        <p:nvSpPr>
          <p:cNvPr id="16" name="原题文字_200_13"/>
          <p:cNvSpPr txBox="1"/>
          <p:nvPr/>
        </p:nvSpPr>
        <p:spPr>
          <a:xfrm>
            <a:off x="7646820" y="3846977"/>
            <a:ext cx="35348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+2</a:t>
            </a:r>
          </a:p>
        </p:txBody>
      </p:sp>
      <p:sp>
        <p:nvSpPr>
          <p:cNvPr id="17" name="原题文字_200_14"/>
          <p:cNvSpPr txBox="1"/>
          <p:nvPr/>
        </p:nvSpPr>
        <p:spPr>
          <a:xfrm>
            <a:off x="8129205" y="3778065"/>
            <a:ext cx="29222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①</a:t>
            </a:r>
          </a:p>
        </p:txBody>
      </p:sp>
      <p:sp>
        <p:nvSpPr>
          <p:cNvPr id="18" name="原题文字_200_15"/>
          <p:cNvSpPr txBox="1"/>
          <p:nvPr/>
        </p:nvSpPr>
        <p:spPr>
          <a:xfrm>
            <a:off x="8573306" y="3923546"/>
            <a:ext cx="468337"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FeO</a:t>
            </a:r>
          </a:p>
        </p:txBody>
      </p:sp>
      <p:sp>
        <p:nvSpPr>
          <p:cNvPr id="19" name="原题文字_200_16"/>
          <p:cNvSpPr txBox="1"/>
          <p:nvPr/>
        </p:nvSpPr>
        <p:spPr>
          <a:xfrm>
            <a:off x="9093976" y="3846977"/>
            <a:ext cx="1425451" cy="477791"/>
          </a:xfrm>
          <a:prstGeom prst="rect">
            <a:avLst/>
          </a:prstGeom>
          <a:noFill/>
        </p:spPr>
        <p:txBody>
          <a:bodyPr wrap="none" lIns="0" rIns="0" tIns="0" bIns="0">
            <a:spAutoFit/>
          </a:bodyPr>
          <a:lstStyle/>
          <a:p>
            <a:pPr>
              <a:lnSpc>
                <a:spcPct val="112000"/>
              </a:lnSpc>
              <a:spcBef>
                <a:spcPts val="0"/>
              </a:spcBef>
              <a:spcAft>
                <a:spcPts val="0"/>
              </a:spcAft>
              <a:defRPr sz="1574" b="0">
                <a:solidFill>
                  <a:srgbClr val="333333"/>
                </a:solidFill>
                <a:latin typeface="微软雅黑"/>
              </a:defRPr>
            </a:pPr>
            <a:r>
              <a:rPr>
                <a:ea typeface="微软雅黑"/>
              </a:rPr>
              <a:t>Fe(OH)₂ZFe₂⁺</a:t>
            </a:r>
          </a:p>
        </p:txBody>
      </p:sp>
      <p:sp>
        <p:nvSpPr>
          <p:cNvPr id="20" name="原题文字_200_17"/>
          <p:cNvSpPr txBox="1"/>
          <p:nvPr/>
        </p:nvSpPr>
        <p:spPr>
          <a:xfrm>
            <a:off x="9844354" y="4114969"/>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④</a:t>
            </a:r>
          </a:p>
        </p:txBody>
      </p:sp>
      <p:sp>
        <p:nvSpPr>
          <p:cNvPr id="21" name="原题文字_200_18"/>
          <p:cNvSpPr txBox="1"/>
          <p:nvPr/>
        </p:nvSpPr>
        <p:spPr>
          <a:xfrm>
            <a:off x="8037322" y="4260451"/>
            <a:ext cx="35348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Fe</a:t>
            </a:r>
          </a:p>
        </p:txBody>
      </p:sp>
      <p:sp>
        <p:nvSpPr>
          <p:cNvPr id="22" name="原题文字_200_19"/>
          <p:cNvSpPr txBox="1"/>
          <p:nvPr/>
        </p:nvSpPr>
        <p:spPr>
          <a:xfrm>
            <a:off x="7754017" y="4390618"/>
            <a:ext cx="23097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0</a:t>
            </a:r>
          </a:p>
        </p:txBody>
      </p:sp>
      <p:sp>
        <p:nvSpPr>
          <p:cNvPr id="23" name="原题文字_200_20"/>
          <p:cNvSpPr txBox="1"/>
          <p:nvPr/>
        </p:nvSpPr>
        <p:spPr>
          <a:xfrm>
            <a:off x="10319083" y="4413589"/>
            <a:ext cx="1050262" cy="348389"/>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→物质类别</a:t>
            </a:r>
          </a:p>
        </p:txBody>
      </p:sp>
      <p:sp>
        <p:nvSpPr>
          <p:cNvPr id="24" name="原题文字_200_21"/>
          <p:cNvSpPr txBox="1"/>
          <p:nvPr/>
        </p:nvSpPr>
        <p:spPr>
          <a:xfrm>
            <a:off x="7999038" y="4566727"/>
            <a:ext cx="236725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单质 氧化物氢氧化物盐</a:t>
            </a:r>
          </a:p>
        </p:txBody>
      </p:sp>
      <p:sp>
        <p:nvSpPr>
          <p:cNvPr id="25" name="文字_单选题  ·  09-05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09-059</a:t>
            </a:r>
          </a:p>
        </p:txBody>
      </p:sp>
      <p:sp>
        <p:nvSpPr>
          <p:cNvPr id="26" name="文字_7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巩固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巩固5</a:t>
            </a:r>
          </a:p>
        </p:txBody>
      </p:sp>
      <p:sp>
        <p:nvSpPr>
          <p:cNvPr id="5" name="文字_P20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P200</a:t>
            </a:r>
          </a:p>
        </p:txBody>
      </p:sp>
      <p:sp>
        <p:nvSpPr>
          <p:cNvPr id="6" name="文字_电子工业常用30%的FeCl₃溶液腐蚀敷在绝缘板"/>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电子工业常用30%的FeCl₃溶液腐蚀敷在绝缘板上的铜箔，制造印刷电路板.</a:t>
            </a:r>
          </a:p>
        </p:txBody>
      </p:sp>
      <p:sp>
        <p:nvSpPr>
          <p:cNvPr id="7" name="文字_(1) 检验溶液中Fe³⁺存在的试剂是 ____"/>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检验溶液中Fe³⁺存在的试剂是 ______ ，证明Fe³⁺存在的现象是</a:t>
            </a:r>
          </a:p>
        </p:txBody>
      </p:sp>
      <p:pic>
        <p:nvPicPr>
          <p:cNvPr id="8" name="Picture 7" descr="image.png"/>
          <p:cNvPicPr>
            <a:picLocks noChangeAspect="1"/>
          </p:cNvPicPr>
          <p:nvPr/>
        </p:nvPicPr>
        <p:blipFill>
          <a:blip r:embed="rId3"/>
          <a:stretch>
            <a:fillRect/>
          </a:stretch>
        </p:blipFill>
        <p:spPr>
          <a:xfrm>
            <a:off x="502920" y="1956816"/>
            <a:ext cx="11064240" cy="2350672"/>
          </a:xfrm>
          <a:prstGeom prst="rect">
            <a:avLst/>
          </a:prstGeom>
        </p:spPr>
      </p:pic>
      <p:sp>
        <p:nvSpPr>
          <p:cNvPr id="9" name="原题文字_200_28"/>
          <p:cNvSpPr txBox="1"/>
          <p:nvPr/>
        </p:nvSpPr>
        <p:spPr>
          <a:xfrm>
            <a:off x="1000619" y="1988699"/>
            <a:ext cx="487106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(2) 写出FeCl₃溶液与金属铜发生反应的离子方程式</a:t>
            </a:r>
          </a:p>
        </p:txBody>
      </p:sp>
      <p:sp>
        <p:nvSpPr>
          <p:cNvPr id="10" name="原题文字_200_29"/>
          <p:cNvSpPr txBox="1"/>
          <p:nvPr/>
        </p:nvSpPr>
        <p:spPr>
          <a:xfrm>
            <a:off x="6513597" y="2126524"/>
            <a:ext cx="146746" cy="169217"/>
          </a:xfrm>
          <a:prstGeom prst="rect">
            <a:avLst/>
          </a:prstGeom>
          <a:noFill/>
        </p:spPr>
        <p:txBody>
          <a:bodyPr wrap="none" lIns="0" rIns="0" tIns="0" bIns="0">
            <a:spAutoFit/>
          </a:bodyPr>
          <a:lstStyle/>
          <a:p>
            <a:pPr>
              <a:lnSpc>
                <a:spcPct val="112000"/>
              </a:lnSpc>
              <a:spcBef>
                <a:spcPts val="0"/>
              </a:spcBef>
              <a:spcAft>
                <a:spcPts val="0"/>
              </a:spcAft>
              <a:defRPr sz="819" b="0">
                <a:solidFill>
                  <a:srgbClr val="333333"/>
                </a:solidFill>
                <a:latin typeface="微软雅黑"/>
              </a:defRPr>
            </a:pPr>
            <a:r>
              <a:rPr>
                <a:ea typeface="微软雅黑"/>
              </a:rPr>
              <a:t>0</a:t>
            </a:r>
          </a:p>
        </p:txBody>
      </p:sp>
      <p:sp>
        <p:nvSpPr>
          <p:cNvPr id="11" name="原题文字_200_30"/>
          <p:cNvSpPr txBox="1"/>
          <p:nvPr/>
        </p:nvSpPr>
        <p:spPr>
          <a:xfrm>
            <a:off x="1000619" y="2371545"/>
            <a:ext cx="880671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(3）某工程师为了从使用过的腐蚀废液中回收铜，并重新获得FeCl₃溶液，准备采用如图步骤：</a:t>
            </a:r>
          </a:p>
        </p:txBody>
      </p:sp>
      <p:sp>
        <p:nvSpPr>
          <p:cNvPr id="12" name="原题文字_200_31"/>
          <p:cNvSpPr txBox="1"/>
          <p:nvPr/>
        </p:nvSpPr>
        <p:spPr>
          <a:xfrm>
            <a:off x="3772422" y="2677821"/>
            <a:ext cx="145607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滤液(含有②)</a:t>
            </a:r>
          </a:p>
        </p:txBody>
      </p:sp>
      <p:sp>
        <p:nvSpPr>
          <p:cNvPr id="13" name="原题文字_200_32"/>
          <p:cNvSpPr txBox="1"/>
          <p:nvPr/>
        </p:nvSpPr>
        <p:spPr>
          <a:xfrm>
            <a:off x="7815272" y="2677821"/>
            <a:ext cx="124934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合并通入(⑤)</a:t>
            </a:r>
          </a:p>
        </p:txBody>
      </p:sp>
      <p:sp>
        <p:nvSpPr>
          <p:cNvPr id="14" name="原题文字_200_33"/>
          <p:cNvSpPr txBox="1"/>
          <p:nvPr/>
        </p:nvSpPr>
        <p:spPr>
          <a:xfrm>
            <a:off x="9262429" y="2815646"/>
            <a:ext cx="1042605" cy="388205"/>
          </a:xfrm>
          <a:prstGeom prst="rect">
            <a:avLst/>
          </a:prstGeom>
          <a:noFill/>
        </p:spPr>
        <p:txBody>
          <a:bodyPr wrap="none" lIns="0" rIns="0" tIns="0" bIns="0">
            <a:spAutoFit/>
          </a:bodyPr>
          <a:lstStyle/>
          <a:p>
            <a:pPr>
              <a:lnSpc>
                <a:spcPct val="112000"/>
              </a:lnSpc>
              <a:spcBef>
                <a:spcPts val="0"/>
              </a:spcBef>
              <a:spcAft>
                <a:spcPts val="0"/>
              </a:spcAft>
              <a:defRPr sz="1739" b="0">
                <a:solidFill>
                  <a:srgbClr val="333333"/>
                </a:solidFill>
                <a:latin typeface="微软雅黑"/>
              </a:defRPr>
            </a:pPr>
            <a:r>
              <a:rPr>
                <a:ea typeface="微软雅黑"/>
              </a:rPr>
              <a:t>FeCl₃溶液</a:t>
            </a:r>
          </a:p>
        </p:txBody>
      </p:sp>
      <p:sp>
        <p:nvSpPr>
          <p:cNvPr id="15" name="原题文字_200_34"/>
          <p:cNvSpPr txBox="1"/>
          <p:nvPr/>
        </p:nvSpPr>
        <p:spPr>
          <a:xfrm>
            <a:off x="2547315" y="2961127"/>
            <a:ext cx="950722" cy="408113"/>
          </a:xfrm>
          <a:prstGeom prst="rect">
            <a:avLst/>
          </a:prstGeom>
          <a:noFill/>
        </p:spPr>
        <p:txBody>
          <a:bodyPr wrap="none" lIns="0" rIns="0" tIns="0" bIns="0">
            <a:spAutoFit/>
          </a:bodyPr>
          <a:lstStyle/>
          <a:p>
            <a:pPr>
              <a:lnSpc>
                <a:spcPct val="112000"/>
              </a:lnSpc>
              <a:spcBef>
                <a:spcPts val="0"/>
              </a:spcBef>
              <a:spcAft>
                <a:spcPts val="0"/>
              </a:spcAft>
              <a:defRPr sz="1879" b="0">
                <a:solidFill>
                  <a:srgbClr val="333333"/>
                </a:solidFill>
                <a:latin typeface="微软雅黑"/>
              </a:defRPr>
            </a:pPr>
            <a:r>
              <a:rPr>
                <a:ea typeface="微软雅黑"/>
              </a:rPr>
              <a:t>加过量①</a:t>
            </a:r>
          </a:p>
        </p:txBody>
      </p:sp>
      <p:sp>
        <p:nvSpPr>
          <p:cNvPr id="16" name="原题文字_200_35"/>
          <p:cNvSpPr txBox="1"/>
          <p:nvPr/>
        </p:nvSpPr>
        <p:spPr>
          <a:xfrm>
            <a:off x="6084809" y="2999412"/>
            <a:ext cx="1517334" cy="378251"/>
          </a:xfrm>
          <a:prstGeom prst="rect">
            <a:avLst/>
          </a:prstGeom>
          <a:noFill/>
        </p:spPr>
        <p:txBody>
          <a:bodyPr wrap="none" lIns="0" rIns="0" tIns="0" bIns="0">
            <a:spAutoFit/>
          </a:bodyPr>
          <a:lstStyle/>
          <a:p>
            <a:pPr>
              <a:lnSpc>
                <a:spcPct val="112000"/>
              </a:lnSpc>
              <a:spcBef>
                <a:spcPts val="0"/>
              </a:spcBef>
              <a:spcAft>
                <a:spcPts val="0"/>
              </a:spcAft>
              <a:defRPr sz="1813" b="0">
                <a:solidFill>
                  <a:srgbClr val="333333"/>
                </a:solidFill>
                <a:latin typeface="微软雅黑"/>
              </a:defRPr>
            </a:pPr>
            <a:r>
              <a:rPr>
                <a:ea typeface="微软雅黑"/>
              </a:rPr>
              <a:t>→滤液(含有②)</a:t>
            </a:r>
          </a:p>
        </p:txBody>
      </p:sp>
      <p:sp>
        <p:nvSpPr>
          <p:cNvPr id="17" name="原题文字_200_36"/>
          <p:cNvSpPr txBox="1"/>
          <p:nvPr/>
        </p:nvSpPr>
        <p:spPr>
          <a:xfrm>
            <a:off x="1988361" y="3106609"/>
            <a:ext cx="56787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废液</a:t>
            </a:r>
          </a:p>
        </p:txBody>
      </p:sp>
      <p:sp>
        <p:nvSpPr>
          <p:cNvPr id="18" name="原题文字_200_37"/>
          <p:cNvSpPr txBox="1"/>
          <p:nvPr/>
        </p:nvSpPr>
        <p:spPr>
          <a:xfrm>
            <a:off x="2723424" y="3244433"/>
            <a:ext cx="59850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过滤</a:t>
            </a:r>
          </a:p>
        </p:txBody>
      </p:sp>
      <p:sp>
        <p:nvSpPr>
          <p:cNvPr id="19" name="原题文字_200_38"/>
          <p:cNvSpPr txBox="1"/>
          <p:nvPr/>
        </p:nvSpPr>
        <p:spPr>
          <a:xfrm>
            <a:off x="4852046" y="3252090"/>
            <a:ext cx="950722" cy="408113"/>
          </a:xfrm>
          <a:prstGeom prst="rect">
            <a:avLst/>
          </a:prstGeom>
          <a:noFill/>
        </p:spPr>
        <p:txBody>
          <a:bodyPr wrap="none" lIns="0" rIns="0" tIns="0" bIns="0">
            <a:spAutoFit/>
          </a:bodyPr>
          <a:lstStyle/>
          <a:p>
            <a:pPr>
              <a:lnSpc>
                <a:spcPct val="112000"/>
              </a:lnSpc>
              <a:spcBef>
                <a:spcPts val="0"/>
              </a:spcBef>
              <a:spcAft>
                <a:spcPts val="0"/>
              </a:spcAft>
              <a:defRPr sz="1879" b="0">
                <a:solidFill>
                  <a:srgbClr val="333333"/>
                </a:solidFill>
                <a:latin typeface="微软雅黑"/>
              </a:defRPr>
            </a:pPr>
            <a:r>
              <a:rPr>
                <a:ea typeface="微软雅黑"/>
              </a:rPr>
              <a:t>加过量④</a:t>
            </a:r>
          </a:p>
        </p:txBody>
      </p:sp>
      <p:sp>
        <p:nvSpPr>
          <p:cNvPr id="20" name="原题文字_200_39"/>
          <p:cNvSpPr txBox="1"/>
          <p:nvPr/>
        </p:nvSpPr>
        <p:spPr>
          <a:xfrm>
            <a:off x="3749451" y="3397571"/>
            <a:ext cx="119574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→滤渣(③)</a:t>
            </a:r>
          </a:p>
        </p:txBody>
      </p:sp>
      <p:sp>
        <p:nvSpPr>
          <p:cNvPr id="21" name="原题文字_200_40"/>
          <p:cNvSpPr txBox="1"/>
          <p:nvPr/>
        </p:nvSpPr>
        <p:spPr>
          <a:xfrm>
            <a:off x="5035812" y="3550710"/>
            <a:ext cx="57553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过滤</a:t>
            </a:r>
          </a:p>
        </p:txBody>
      </p:sp>
      <p:sp>
        <p:nvSpPr>
          <p:cNvPr id="22" name="原题文字_200_41"/>
          <p:cNvSpPr txBox="1"/>
          <p:nvPr/>
        </p:nvSpPr>
        <p:spPr>
          <a:xfrm>
            <a:off x="6054182" y="3726819"/>
            <a:ext cx="943065" cy="388205"/>
          </a:xfrm>
          <a:prstGeom prst="rect">
            <a:avLst/>
          </a:prstGeom>
          <a:noFill/>
        </p:spPr>
        <p:txBody>
          <a:bodyPr wrap="none" lIns="0" rIns="0" tIns="0" bIns="0">
            <a:spAutoFit/>
          </a:bodyPr>
          <a:lstStyle/>
          <a:p>
            <a:pPr>
              <a:lnSpc>
                <a:spcPct val="112000"/>
              </a:lnSpc>
              <a:spcBef>
                <a:spcPts val="0"/>
              </a:spcBef>
              <a:spcAft>
                <a:spcPts val="0"/>
              </a:spcAft>
              <a:defRPr sz="1869" b="0">
                <a:solidFill>
                  <a:srgbClr val="333333"/>
                </a:solidFill>
                <a:latin typeface="微软雅黑"/>
              </a:defRPr>
            </a:pPr>
            <a:r>
              <a:rPr>
                <a:ea typeface="微软雅黑"/>
              </a:rPr>
              <a:t>→金属铜</a:t>
            </a:r>
          </a:p>
        </p:txBody>
      </p:sp>
      <p:sp>
        <p:nvSpPr>
          <p:cNvPr id="23" name="原题文字_200_42"/>
          <p:cNvSpPr txBox="1"/>
          <p:nvPr/>
        </p:nvSpPr>
        <p:spPr>
          <a:xfrm>
            <a:off x="1008276" y="4010124"/>
            <a:ext cx="525390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请写出上述实验中加入或生成的有关物质的化学式:</a:t>
            </a:r>
          </a:p>
        </p:txBody>
      </p:sp>
      <p:sp>
        <p:nvSpPr>
          <p:cNvPr id="24" name="文字_① ______ ② ______ ④"/>
          <p:cNvSpPr txBox="1"/>
          <p:nvPr/>
        </p:nvSpPr>
        <p:spPr>
          <a:xfrm>
            <a:off x="502920" y="4380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 ______ ② ______ ④</a:t>
            </a:r>
          </a:p>
        </p:txBody>
      </p:sp>
      <p:sp>
        <p:nvSpPr>
          <p:cNvPr id="25" name="文字_B. 含有②的滤液与⑤反应的化学方程式为"/>
          <p:cNvSpPr txBox="1"/>
          <p:nvPr/>
        </p:nvSpPr>
        <p:spPr>
          <a:xfrm>
            <a:off x="502920" y="4819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含有②的滤液与⑤反应的化学方程式为</a:t>
            </a:r>
          </a:p>
        </p:txBody>
      </p:sp>
      <p:sp>
        <p:nvSpPr>
          <p:cNvPr id="26" name="文字_解答题  ·  09-06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09-060</a:t>
            </a:r>
          </a:p>
        </p:txBody>
      </p:sp>
      <p:sp>
        <p:nvSpPr>
          <p:cNvPr id="27" name="文字_7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巩固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巩固6</a:t>
            </a:r>
          </a:p>
        </p:txBody>
      </p:sp>
      <p:sp>
        <p:nvSpPr>
          <p:cNvPr id="5" name="文字_P2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P201</a:t>
            </a:r>
          </a:p>
        </p:txBody>
      </p:sp>
      <p:sp>
        <p:nvSpPr>
          <p:cNvPr id="6" name="文字_实验小组制备高铁酸钾(K₂FeO₄)并探究其性质"/>
          <p:cNvSpPr txBox="1"/>
          <p:nvPr/>
        </p:nvSpPr>
        <p:spPr>
          <a:xfrm>
            <a:off x="502920" y="1078992"/>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实验小组制备高铁酸钾(K₂FeO₄)并探究其性质。</a:t>
            </a:r>
          </a:p>
        </p:txBody>
      </p:sp>
      <p:sp>
        <p:nvSpPr>
          <p:cNvPr id="7" name="文字_资料：K₂FeO₄为紫色固体，微溶于KOH溶液；"/>
          <p:cNvSpPr txBox="1"/>
          <p:nvPr/>
        </p:nvSpPr>
        <p:spPr>
          <a:xfrm>
            <a:off x="502920" y="1298448"/>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资料：K₂FeO₄为紫色固体，微溶于KOH溶液；具有强氧化性，在酸性或中性溶液中快速产生O₂，在碱性溶液中较稳定。</a:t>
            </a:r>
          </a:p>
        </p:txBody>
      </p:sp>
      <p:sp>
        <p:nvSpPr>
          <p:cNvPr id="8" name="文字_I.制备K₂FeO₄(夹持装置略)"/>
          <p:cNvSpPr txBox="1"/>
          <p:nvPr/>
        </p:nvSpPr>
        <p:spPr>
          <a:xfrm>
            <a:off x="502920" y="1517904"/>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I.制备K₂FeO₄(夹持装置略)</a:t>
            </a:r>
          </a:p>
        </p:txBody>
      </p:sp>
      <p:pic>
        <p:nvPicPr>
          <p:cNvPr id="9" name="Picture 8" descr="image.png"/>
          <p:cNvPicPr>
            <a:picLocks noChangeAspect="1"/>
          </p:cNvPicPr>
          <p:nvPr/>
        </p:nvPicPr>
        <p:blipFill>
          <a:blip r:embed="rId3"/>
          <a:stretch>
            <a:fillRect/>
          </a:stretch>
        </p:blipFill>
        <p:spPr>
          <a:xfrm>
            <a:off x="502920" y="1737360"/>
            <a:ext cx="7593724" cy="1681655"/>
          </a:xfrm>
          <a:prstGeom prst="rect">
            <a:avLst/>
          </a:prstGeom>
        </p:spPr>
      </p:pic>
      <p:sp>
        <p:nvSpPr>
          <p:cNvPr id="10" name="原题文字_201_7"/>
          <p:cNvSpPr txBox="1"/>
          <p:nvPr/>
        </p:nvSpPr>
        <p:spPr>
          <a:xfrm>
            <a:off x="3309182" y="1757235"/>
            <a:ext cx="764312" cy="444062"/>
          </a:xfrm>
          <a:prstGeom prst="rect">
            <a:avLst/>
          </a:prstGeom>
          <a:noFill/>
        </p:spPr>
        <p:txBody>
          <a:bodyPr wrap="none" lIns="0" rIns="0" tIns="0" bIns="0">
            <a:spAutoFit/>
          </a:bodyPr>
          <a:lstStyle/>
          <a:p>
            <a:pPr>
              <a:lnSpc>
                <a:spcPct val="112000"/>
              </a:lnSpc>
              <a:spcBef>
                <a:spcPts val="0"/>
              </a:spcBef>
              <a:spcAft>
                <a:spcPts val="0"/>
              </a:spcAft>
              <a:defRPr sz="1983" b="0">
                <a:solidFill>
                  <a:srgbClr val="333333"/>
                </a:solidFill>
                <a:latin typeface="微软雅黑"/>
              </a:defRPr>
            </a:pPr>
            <a:r>
              <a:rPr>
                <a:ea typeface="微软雅黑"/>
              </a:rPr>
              <a:t>山搅拌</a:t>
            </a:r>
          </a:p>
        </p:txBody>
      </p:sp>
      <p:sp>
        <p:nvSpPr>
          <p:cNvPr id="11" name="原题文字_201_8"/>
          <p:cNvSpPr txBox="1"/>
          <p:nvPr/>
        </p:nvSpPr>
        <p:spPr>
          <a:xfrm>
            <a:off x="1806202" y="1836062"/>
            <a:ext cx="1069112" cy="1858228"/>
          </a:xfrm>
          <a:prstGeom prst="rect">
            <a:avLst/>
          </a:prstGeom>
          <a:noFill/>
        </p:spPr>
        <p:txBody>
          <a:bodyPr wrap="none" lIns="0" rIns="0" tIns="0" bIns="0">
            <a:spAutoFit/>
          </a:bodyPr>
          <a:lstStyle/>
          <a:p>
            <a:pPr>
              <a:lnSpc>
                <a:spcPct val="112000"/>
              </a:lnSpc>
              <a:spcBef>
                <a:spcPts val="0"/>
              </a:spcBef>
              <a:spcAft>
                <a:spcPts val="0"/>
              </a:spcAft>
              <a:defRPr sz="9004" b="0">
                <a:solidFill>
                  <a:srgbClr val="333333"/>
                </a:solidFill>
                <a:latin typeface="微软雅黑"/>
              </a:defRPr>
            </a:pPr>
            <a:r>
              <a:rPr>
                <a:ea typeface="微软雅黑"/>
              </a:rPr>
              <a:t>ō</a:t>
            </a:r>
          </a:p>
        </p:txBody>
      </p:sp>
      <p:sp>
        <p:nvSpPr>
          <p:cNvPr id="12" name="原题文字_201_9"/>
          <p:cNvSpPr txBox="1"/>
          <p:nvPr/>
        </p:nvSpPr>
        <p:spPr>
          <a:xfrm>
            <a:off x="597513" y="2004228"/>
            <a:ext cx="648698" cy="307427"/>
          </a:xfrm>
          <a:prstGeom prst="rect">
            <a:avLst/>
          </a:prstGeom>
          <a:noFill/>
        </p:spPr>
        <p:txBody>
          <a:bodyPr wrap="none" lIns="0" rIns="0" tIns="0" bIns="0">
            <a:spAutoFit/>
          </a:bodyPr>
          <a:lstStyle/>
          <a:p>
            <a:pPr>
              <a:lnSpc>
                <a:spcPct val="112000"/>
              </a:lnSpc>
              <a:spcBef>
                <a:spcPts val="0"/>
              </a:spcBef>
              <a:spcAft>
                <a:spcPts val="0"/>
              </a:spcAft>
              <a:defRPr sz="1489" b="0">
                <a:solidFill>
                  <a:srgbClr val="333333"/>
                </a:solidFill>
                <a:latin typeface="微软雅黑"/>
              </a:defRPr>
            </a:pPr>
            <a:r>
              <a:rPr>
                <a:ea typeface="微软雅黑"/>
              </a:rPr>
              <a:t>浓盐酸</a:t>
            </a:r>
          </a:p>
        </p:txBody>
      </p:sp>
      <p:sp>
        <p:nvSpPr>
          <p:cNvPr id="13" name="原题文字_201_10"/>
          <p:cNvSpPr txBox="1"/>
          <p:nvPr/>
        </p:nvSpPr>
        <p:spPr>
          <a:xfrm>
            <a:off x="4423278" y="2245966"/>
            <a:ext cx="270326" cy="150297"/>
          </a:xfrm>
          <a:prstGeom prst="rect">
            <a:avLst/>
          </a:prstGeom>
          <a:noFill/>
        </p:spPr>
        <p:txBody>
          <a:bodyPr wrap="none" lIns="0" rIns="0" tIns="0" bIns="0">
            <a:spAutoFit/>
          </a:bodyPr>
          <a:lstStyle/>
          <a:p>
            <a:pPr>
              <a:lnSpc>
                <a:spcPct val="112000"/>
              </a:lnSpc>
              <a:spcBef>
                <a:spcPts val="0"/>
              </a:spcBef>
              <a:spcAft>
                <a:spcPts val="0"/>
              </a:spcAft>
              <a:defRPr sz="728" b="0">
                <a:solidFill>
                  <a:srgbClr val="333333"/>
                </a:solidFill>
                <a:latin typeface="微软雅黑"/>
              </a:defRPr>
            </a:pPr>
            <a:r>
              <a:rPr>
                <a:ea typeface="微软雅黑"/>
              </a:rPr>
              <a:t>H</a:t>
            </a:r>
          </a:p>
        </p:txBody>
      </p:sp>
      <p:sp>
        <p:nvSpPr>
          <p:cNvPr id="14" name="原题文字_201_11"/>
          <p:cNvSpPr txBox="1"/>
          <p:nvPr/>
        </p:nvSpPr>
        <p:spPr>
          <a:xfrm>
            <a:off x="3393264" y="2319538"/>
            <a:ext cx="233539" cy="157129"/>
          </a:xfrm>
          <a:prstGeom prst="rect">
            <a:avLst/>
          </a:prstGeom>
          <a:noFill/>
        </p:spPr>
        <p:txBody>
          <a:bodyPr wrap="none" lIns="0" rIns="0" tIns="0" bIns="0">
            <a:spAutoFit/>
          </a:bodyPr>
          <a:lstStyle/>
          <a:p>
            <a:pPr>
              <a:lnSpc>
                <a:spcPct val="112000"/>
              </a:lnSpc>
              <a:spcBef>
                <a:spcPts val="0"/>
              </a:spcBef>
              <a:spcAft>
                <a:spcPts val="0"/>
              </a:spcAft>
              <a:defRPr sz="761" b="0">
                <a:solidFill>
                  <a:srgbClr val="333333"/>
                </a:solidFill>
                <a:latin typeface="微软雅黑"/>
              </a:defRPr>
            </a:pPr>
            <a:r>
              <a:rPr>
                <a:ea typeface="微软雅黑"/>
              </a:rPr>
              <a:t>1</a:t>
            </a:r>
          </a:p>
        </p:txBody>
      </p:sp>
      <p:sp>
        <p:nvSpPr>
          <p:cNvPr id="15" name="原题文字_201_12"/>
          <p:cNvSpPr txBox="1"/>
          <p:nvPr/>
        </p:nvSpPr>
        <p:spPr>
          <a:xfrm>
            <a:off x="3083209" y="2393110"/>
            <a:ext cx="275581" cy="280100"/>
          </a:xfrm>
          <a:prstGeom prst="rect">
            <a:avLst/>
          </a:prstGeom>
          <a:noFill/>
        </p:spPr>
        <p:txBody>
          <a:bodyPr wrap="none" lIns="0" rIns="0" tIns="0" bIns="0">
            <a:spAutoFit/>
          </a:bodyPr>
          <a:lstStyle/>
          <a:p>
            <a:pPr>
              <a:lnSpc>
                <a:spcPct val="112000"/>
              </a:lnSpc>
              <a:spcBef>
                <a:spcPts val="0"/>
              </a:spcBef>
              <a:spcAft>
                <a:spcPts val="0"/>
              </a:spcAft>
              <a:defRPr sz="1357" b="0">
                <a:solidFill>
                  <a:srgbClr val="333333"/>
                </a:solidFill>
                <a:latin typeface="微软雅黑"/>
              </a:defRPr>
            </a:pPr>
            <a:r>
              <a:rPr>
                <a:ea typeface="微软雅黑"/>
              </a:rPr>
              <a:t>1</a:t>
            </a:r>
          </a:p>
        </p:txBody>
      </p:sp>
      <p:sp>
        <p:nvSpPr>
          <p:cNvPr id="16" name="原题文字_201_13"/>
          <p:cNvSpPr txBox="1"/>
          <p:nvPr/>
        </p:nvSpPr>
        <p:spPr>
          <a:xfrm>
            <a:off x="3803168" y="2624338"/>
            <a:ext cx="1179470" cy="280100"/>
          </a:xfrm>
          <a:prstGeom prst="rect">
            <a:avLst/>
          </a:prstGeom>
          <a:noFill/>
        </p:spPr>
        <p:txBody>
          <a:bodyPr wrap="none" lIns="0" rIns="0" tIns="0" bIns="0">
            <a:spAutoFit/>
          </a:bodyPr>
          <a:lstStyle/>
          <a:p>
            <a:pPr>
              <a:lnSpc>
                <a:spcPct val="112000"/>
              </a:lnSpc>
              <a:spcBef>
                <a:spcPts val="0"/>
              </a:spcBef>
              <a:spcAft>
                <a:spcPts val="0"/>
              </a:spcAft>
              <a:defRPr sz="1357" b="0">
                <a:solidFill>
                  <a:srgbClr val="333333"/>
                </a:solidFill>
                <a:latin typeface="微软雅黑"/>
              </a:defRPr>
            </a:pPr>
            <a:r>
              <a:rPr>
                <a:ea typeface="微软雅黑"/>
              </a:rPr>
              <a:t>过量KOH溶液</a:t>
            </a:r>
          </a:p>
        </p:txBody>
      </p:sp>
      <p:sp>
        <p:nvSpPr>
          <p:cNvPr id="17" name="原题文字_201_14"/>
          <p:cNvSpPr txBox="1"/>
          <p:nvPr/>
        </p:nvSpPr>
        <p:spPr>
          <a:xfrm>
            <a:off x="539706" y="2724186"/>
            <a:ext cx="685484" cy="321091"/>
          </a:xfrm>
          <a:prstGeom prst="rect">
            <a:avLst/>
          </a:prstGeom>
          <a:noFill/>
        </p:spPr>
        <p:txBody>
          <a:bodyPr wrap="none" lIns="0" rIns="0" tIns="0" bIns="0">
            <a:spAutoFit/>
          </a:bodyPr>
          <a:lstStyle/>
          <a:p>
            <a:pPr>
              <a:lnSpc>
                <a:spcPct val="112000"/>
              </a:lnSpc>
              <a:spcBef>
                <a:spcPts val="0"/>
              </a:spcBef>
              <a:spcAft>
                <a:spcPts val="0"/>
              </a:spcAft>
              <a:defRPr sz="1428" b="0">
                <a:solidFill>
                  <a:srgbClr val="333333"/>
                </a:solidFill>
                <a:latin typeface="微软雅黑"/>
              </a:defRPr>
            </a:pPr>
            <a:r>
              <a:rPr>
                <a:ea typeface="微软雅黑"/>
              </a:rPr>
              <a:t>KMnO₄</a:t>
            </a:r>
          </a:p>
        </p:txBody>
      </p:sp>
      <p:sp>
        <p:nvSpPr>
          <p:cNvPr id="18" name="原题文字_201_15"/>
          <p:cNvSpPr txBox="1"/>
          <p:nvPr/>
        </p:nvSpPr>
        <p:spPr>
          <a:xfrm>
            <a:off x="5442782" y="2776738"/>
            <a:ext cx="937732" cy="273268"/>
          </a:xfrm>
          <a:prstGeom prst="rect">
            <a:avLst/>
          </a:prstGeom>
          <a:noFill/>
        </p:spPr>
        <p:txBody>
          <a:bodyPr wrap="none" lIns="0" rIns="0" tIns="0" bIns="0">
            <a:spAutoFit/>
          </a:bodyPr>
          <a:lstStyle/>
          <a:p>
            <a:pPr>
              <a:lnSpc>
                <a:spcPct val="112000"/>
              </a:lnSpc>
              <a:spcBef>
                <a:spcPts val="0"/>
              </a:spcBef>
              <a:spcAft>
                <a:spcPts val="0"/>
              </a:spcAft>
              <a:defRPr sz="1324" b="0">
                <a:solidFill>
                  <a:srgbClr val="333333"/>
                </a:solidFill>
                <a:latin typeface="微软雅黑"/>
              </a:defRPr>
            </a:pPr>
            <a:r>
              <a:rPr>
                <a:ea typeface="微软雅黑"/>
              </a:rPr>
              <a:t>NaOH溶液</a:t>
            </a:r>
          </a:p>
        </p:txBody>
      </p:sp>
      <p:sp>
        <p:nvSpPr>
          <p:cNvPr id="19" name="原题文字_201_16"/>
          <p:cNvSpPr txBox="1"/>
          <p:nvPr/>
        </p:nvSpPr>
        <p:spPr>
          <a:xfrm>
            <a:off x="3750616" y="2976435"/>
            <a:ext cx="743291" cy="341586"/>
          </a:xfrm>
          <a:prstGeom prst="rect">
            <a:avLst/>
          </a:prstGeom>
          <a:noFill/>
        </p:spPr>
        <p:txBody>
          <a:bodyPr wrap="none" lIns="0" rIns="0" tIns="0" bIns="0">
            <a:spAutoFit/>
          </a:bodyPr>
          <a:lstStyle/>
          <a:p>
            <a:pPr>
              <a:lnSpc>
                <a:spcPct val="112000"/>
              </a:lnSpc>
              <a:spcBef>
                <a:spcPts val="0"/>
              </a:spcBef>
              <a:spcAft>
                <a:spcPts val="0"/>
              </a:spcAft>
              <a:defRPr sz="1460" b="0">
                <a:solidFill>
                  <a:srgbClr val="333333"/>
                </a:solidFill>
                <a:latin typeface="微软雅黑"/>
              </a:defRPr>
            </a:pPr>
            <a:r>
              <a:rPr>
                <a:ea typeface="微软雅黑"/>
              </a:rPr>
              <a:t>Fe(OH)3</a:t>
            </a:r>
          </a:p>
        </p:txBody>
      </p:sp>
      <p:sp>
        <p:nvSpPr>
          <p:cNvPr id="20" name="原题文字_201_17"/>
          <p:cNvSpPr txBox="1"/>
          <p:nvPr/>
        </p:nvSpPr>
        <p:spPr>
          <a:xfrm>
            <a:off x="1317471" y="3186641"/>
            <a:ext cx="233539" cy="259605"/>
          </a:xfrm>
          <a:prstGeom prst="rect">
            <a:avLst/>
          </a:prstGeom>
          <a:noFill/>
        </p:spPr>
        <p:txBody>
          <a:bodyPr wrap="none" lIns="0" rIns="0" tIns="0" bIns="0">
            <a:spAutoFit/>
          </a:bodyPr>
          <a:lstStyle/>
          <a:p>
            <a:pPr>
              <a:lnSpc>
                <a:spcPct val="112000"/>
              </a:lnSpc>
              <a:spcBef>
                <a:spcPts val="0"/>
              </a:spcBef>
              <a:spcAft>
                <a:spcPts val="0"/>
              </a:spcAft>
              <a:defRPr sz="1257" b="0">
                <a:solidFill>
                  <a:srgbClr val="333333"/>
                </a:solidFill>
                <a:latin typeface="微软雅黑"/>
              </a:defRPr>
            </a:pPr>
            <a:r>
              <a:rPr>
                <a:ea typeface="微软雅黑"/>
              </a:rPr>
              <a:t>A</a:t>
            </a:r>
          </a:p>
        </p:txBody>
      </p:sp>
      <p:sp>
        <p:nvSpPr>
          <p:cNvPr id="21" name="原题文字_201_18"/>
          <p:cNvSpPr txBox="1"/>
          <p:nvPr/>
        </p:nvSpPr>
        <p:spPr>
          <a:xfrm>
            <a:off x="2216106" y="3202407"/>
            <a:ext cx="212519" cy="218615"/>
          </a:xfrm>
          <a:prstGeom prst="rect">
            <a:avLst/>
          </a:prstGeom>
          <a:noFill/>
        </p:spPr>
        <p:txBody>
          <a:bodyPr wrap="none" lIns="0" rIns="0" tIns="0" bIns="0">
            <a:spAutoFit/>
          </a:bodyPr>
          <a:lstStyle/>
          <a:p>
            <a:pPr>
              <a:lnSpc>
                <a:spcPct val="112000"/>
              </a:lnSpc>
              <a:spcBef>
                <a:spcPts val="0"/>
              </a:spcBef>
              <a:spcAft>
                <a:spcPts val="0"/>
              </a:spcAft>
              <a:defRPr sz="1059" b="0">
                <a:solidFill>
                  <a:srgbClr val="333333"/>
                </a:solidFill>
                <a:latin typeface="微软雅黑"/>
              </a:defRPr>
            </a:pPr>
            <a:r>
              <a:rPr>
                <a:ea typeface="微软雅黑"/>
              </a:rPr>
              <a:t>B</a:t>
            </a:r>
          </a:p>
        </p:txBody>
      </p:sp>
      <p:sp>
        <p:nvSpPr>
          <p:cNvPr id="22" name="原题文字_201_19"/>
          <p:cNvSpPr txBox="1"/>
          <p:nvPr/>
        </p:nvSpPr>
        <p:spPr>
          <a:xfrm>
            <a:off x="3545664" y="3197152"/>
            <a:ext cx="212519" cy="225446"/>
          </a:xfrm>
          <a:prstGeom prst="rect">
            <a:avLst/>
          </a:prstGeom>
          <a:noFill/>
        </p:spPr>
        <p:txBody>
          <a:bodyPr wrap="none" lIns="0" rIns="0" tIns="0" bIns="0">
            <a:spAutoFit/>
          </a:bodyPr>
          <a:lstStyle/>
          <a:p>
            <a:pPr>
              <a:lnSpc>
                <a:spcPct val="112000"/>
              </a:lnSpc>
              <a:spcBef>
                <a:spcPts val="0"/>
              </a:spcBef>
              <a:spcAft>
                <a:spcPts val="0"/>
              </a:spcAft>
              <a:defRPr sz="1092" b="0">
                <a:solidFill>
                  <a:srgbClr val="333333"/>
                </a:solidFill>
                <a:latin typeface="微软雅黑"/>
              </a:defRPr>
            </a:pPr>
            <a:r>
              <a:rPr>
                <a:ea typeface="微软雅黑"/>
              </a:rPr>
              <a:t>C</a:t>
            </a:r>
          </a:p>
        </p:txBody>
      </p:sp>
      <p:sp>
        <p:nvSpPr>
          <p:cNvPr id="23" name="原题文字_201_20"/>
          <p:cNvSpPr txBox="1"/>
          <p:nvPr/>
        </p:nvSpPr>
        <p:spPr>
          <a:xfrm>
            <a:off x="5090685" y="3202407"/>
            <a:ext cx="223029" cy="218615"/>
          </a:xfrm>
          <a:prstGeom prst="rect">
            <a:avLst/>
          </a:prstGeom>
          <a:noFill/>
        </p:spPr>
        <p:txBody>
          <a:bodyPr wrap="none" lIns="0" rIns="0" tIns="0" bIns="0">
            <a:spAutoFit/>
          </a:bodyPr>
          <a:lstStyle/>
          <a:p>
            <a:pPr>
              <a:lnSpc>
                <a:spcPct val="112000"/>
              </a:lnSpc>
              <a:spcBef>
                <a:spcPts val="0"/>
              </a:spcBef>
              <a:spcAft>
                <a:spcPts val="0"/>
              </a:spcAft>
              <a:defRPr sz="1059" b="0">
                <a:solidFill>
                  <a:srgbClr val="333333"/>
                </a:solidFill>
                <a:latin typeface="微软雅黑"/>
              </a:defRPr>
            </a:pPr>
            <a:r>
              <a:rPr>
                <a:ea typeface="微软雅黑"/>
              </a:rPr>
              <a:t>D</a:t>
            </a:r>
          </a:p>
        </p:txBody>
      </p:sp>
      <p:sp>
        <p:nvSpPr>
          <p:cNvPr id="24" name="文字_II.探究K₂FeO₄的性质"/>
          <p:cNvSpPr txBox="1"/>
          <p:nvPr/>
        </p:nvSpPr>
        <p:spPr>
          <a:xfrm>
            <a:off x="502920" y="3492167"/>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II.探究K₂FeO₄的性质</a:t>
            </a:r>
          </a:p>
        </p:txBody>
      </p:sp>
      <p:sp>
        <p:nvSpPr>
          <p:cNvPr id="25" name="文字_(1) A为氯气发生装置。A中反应的离子方程式是"/>
          <p:cNvSpPr txBox="1"/>
          <p:nvPr/>
        </p:nvSpPr>
        <p:spPr>
          <a:xfrm>
            <a:off x="502920" y="3711623"/>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(1) A为氯气发生装置。A中反应的离子方程式是</a:t>
            </a:r>
          </a:p>
        </p:txBody>
      </p:sp>
      <p:sp>
        <p:nvSpPr>
          <p:cNvPr id="26" name="文字_(2)B装置盛有饱和NaCl溶液，C中得到紫色固"/>
          <p:cNvSpPr txBox="1"/>
          <p:nvPr/>
        </p:nvSpPr>
        <p:spPr>
          <a:xfrm>
            <a:off x="502920" y="3931079"/>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(2)B装置盛有饱和NaCl溶液，C中得到紫色固体和溶液。C中制备高铁酸钾的化学反应方程式为</a:t>
            </a:r>
          </a:p>
        </p:txBody>
      </p:sp>
      <p:sp>
        <p:nvSpPr>
          <p:cNvPr id="27" name="文字_(3)取C中紫色溶液，加入稀硫酸，产生黄绿色气体"/>
          <p:cNvSpPr txBox="1"/>
          <p:nvPr/>
        </p:nvSpPr>
        <p:spPr>
          <a:xfrm>
            <a:off x="502920" y="4150535"/>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(3)取C中紫色溶液，加入稀硫酸，产生黄绿色气体，得溶液a，经检验气体中含有Cl₂。</a:t>
            </a:r>
          </a:p>
        </p:txBody>
      </p:sp>
      <p:pic>
        <p:nvPicPr>
          <p:cNvPr id="28" name="Picture 27" descr="image.png"/>
          <p:cNvPicPr>
            <a:picLocks noChangeAspect="1"/>
          </p:cNvPicPr>
          <p:nvPr/>
        </p:nvPicPr>
        <p:blipFill>
          <a:blip r:embed="rId4"/>
          <a:stretch>
            <a:fillRect/>
          </a:stretch>
        </p:blipFill>
        <p:spPr>
          <a:xfrm>
            <a:off x="502920" y="4369991"/>
            <a:ext cx="7593724" cy="1382110"/>
          </a:xfrm>
          <a:prstGeom prst="rect">
            <a:avLst/>
          </a:prstGeom>
        </p:spPr>
      </p:pic>
      <p:sp>
        <p:nvSpPr>
          <p:cNvPr id="29" name="原题文字_201_27"/>
          <p:cNvSpPr txBox="1"/>
          <p:nvPr/>
        </p:nvSpPr>
        <p:spPr>
          <a:xfrm>
            <a:off x="928588" y="4389866"/>
            <a:ext cx="3765015" cy="239110"/>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为证明是否K₂FeO₄氧化了Cl⁻而产生Cl₂，设计以下方案:</a:t>
            </a:r>
          </a:p>
        </p:txBody>
      </p:sp>
      <p:sp>
        <p:nvSpPr>
          <p:cNvPr id="30" name="原题文字_201_28"/>
          <p:cNvSpPr txBox="1"/>
          <p:nvPr/>
        </p:nvSpPr>
        <p:spPr>
          <a:xfrm>
            <a:off x="965375" y="4668390"/>
            <a:ext cx="2855870" cy="239110"/>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方案I取少量a，经过检验溶液中含有Fe³⁺。</a:t>
            </a:r>
          </a:p>
        </p:txBody>
      </p:sp>
      <p:sp>
        <p:nvSpPr>
          <p:cNvPr id="31" name="原题文字_201_29"/>
          <p:cNvSpPr txBox="1"/>
          <p:nvPr/>
        </p:nvSpPr>
        <p:spPr>
          <a:xfrm>
            <a:off x="944354" y="4952169"/>
            <a:ext cx="454257" cy="259605"/>
          </a:xfrm>
          <a:prstGeom prst="rect">
            <a:avLst/>
          </a:prstGeom>
          <a:noFill/>
        </p:spPr>
        <p:txBody>
          <a:bodyPr wrap="none" lIns="0" rIns="0" tIns="0" bIns="0">
            <a:spAutoFit/>
          </a:bodyPr>
          <a:lstStyle/>
          <a:p>
            <a:pPr>
              <a:lnSpc>
                <a:spcPct val="112000"/>
              </a:lnSpc>
              <a:spcBef>
                <a:spcPts val="0"/>
              </a:spcBef>
              <a:spcAft>
                <a:spcPts val="0"/>
              </a:spcAft>
              <a:defRPr sz="1257" b="0">
                <a:solidFill>
                  <a:srgbClr val="333333"/>
                </a:solidFill>
                <a:latin typeface="微软雅黑"/>
              </a:defRPr>
            </a:pPr>
            <a:r>
              <a:rPr>
                <a:ea typeface="微软雅黑"/>
              </a:rPr>
              <a:t>方案</a:t>
            </a:r>
          </a:p>
        </p:txBody>
      </p:sp>
      <p:sp>
        <p:nvSpPr>
          <p:cNvPr id="32" name="原题文字_201_30"/>
          <p:cNvSpPr txBox="1"/>
          <p:nvPr/>
        </p:nvSpPr>
        <p:spPr>
          <a:xfrm>
            <a:off x="1327982" y="4952169"/>
            <a:ext cx="6513470"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用KOH溶液充分洗涤C中所得固体，再用KOH溶液将K₂FeO₄溶出，得到紫色溶液b。取少量b，滴加</a:t>
            </a:r>
          </a:p>
        </p:txBody>
      </p:sp>
      <p:sp>
        <p:nvSpPr>
          <p:cNvPr id="33" name="原题文字_201_31"/>
          <p:cNvSpPr txBox="1"/>
          <p:nvPr/>
        </p:nvSpPr>
        <p:spPr>
          <a:xfrm>
            <a:off x="949609" y="5225438"/>
            <a:ext cx="207264" cy="211783"/>
          </a:xfrm>
          <a:prstGeom prst="rect">
            <a:avLst/>
          </a:prstGeom>
          <a:noFill/>
        </p:spPr>
        <p:txBody>
          <a:bodyPr wrap="none" lIns="0" rIns="0" tIns="0" bIns="0">
            <a:spAutoFit/>
          </a:bodyPr>
          <a:lstStyle/>
          <a:p>
            <a:pPr>
              <a:lnSpc>
                <a:spcPct val="112000"/>
              </a:lnSpc>
              <a:spcBef>
                <a:spcPts val="0"/>
              </a:spcBef>
              <a:spcAft>
                <a:spcPts val="0"/>
              </a:spcAft>
              <a:defRPr sz="1026" b="0">
                <a:solidFill>
                  <a:srgbClr val="333333"/>
                </a:solidFill>
                <a:latin typeface="微软雅黑"/>
              </a:defRPr>
            </a:pPr>
            <a:r>
              <a:rPr>
                <a:ea typeface="微软雅黑"/>
              </a:rPr>
              <a:t>ⅡI</a:t>
            </a:r>
          </a:p>
        </p:txBody>
      </p:sp>
      <p:sp>
        <p:nvSpPr>
          <p:cNvPr id="34" name="原题文字_201_32"/>
          <p:cNvSpPr txBox="1"/>
          <p:nvPr/>
        </p:nvSpPr>
        <p:spPr>
          <a:xfrm>
            <a:off x="1343747" y="5209673"/>
            <a:ext cx="1242532" cy="239110"/>
          </a:xfrm>
          <a:prstGeom prst="rect">
            <a:avLst/>
          </a:prstGeom>
          <a:noFill/>
        </p:spPr>
        <p:txBody>
          <a:bodyPr wrap="none" lIns="0" rIns="0" tIns="0" bIns="0">
            <a:spAutoFit/>
          </a:bodyPr>
          <a:lstStyle/>
          <a:p>
            <a:pPr>
              <a:lnSpc>
                <a:spcPct val="112000"/>
              </a:lnSpc>
              <a:spcBef>
                <a:spcPts val="0"/>
              </a:spcBef>
              <a:spcAft>
                <a:spcPts val="0"/>
              </a:spcAft>
              <a:defRPr sz="1136" b="0">
                <a:solidFill>
                  <a:srgbClr val="333333"/>
                </a:solidFill>
                <a:latin typeface="微软雅黑"/>
              </a:defRPr>
            </a:pPr>
            <a:r>
              <a:rPr>
                <a:ea typeface="微软雅黑"/>
              </a:rPr>
              <a:t>盐酸，有Cl₂产生。</a:t>
            </a:r>
          </a:p>
        </p:txBody>
      </p:sp>
      <p:sp>
        <p:nvSpPr>
          <p:cNvPr id="35" name="原题文字_201_33"/>
          <p:cNvSpPr txBox="1"/>
          <p:nvPr/>
        </p:nvSpPr>
        <p:spPr>
          <a:xfrm>
            <a:off x="928588" y="5498707"/>
            <a:ext cx="6124588"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由方案I可知a中含有Fe³⁺离子，但该离子的产生不能判断一定是K₂FeO₄将Cl⁻氧化，还可能由</a:t>
            </a:r>
          </a:p>
        </p:txBody>
      </p:sp>
      <p:sp>
        <p:nvSpPr>
          <p:cNvPr id="36" name="原题文字_201_34"/>
          <p:cNvSpPr txBox="1"/>
          <p:nvPr/>
        </p:nvSpPr>
        <p:spPr>
          <a:xfrm>
            <a:off x="7392451" y="5477686"/>
            <a:ext cx="480532" cy="314259"/>
          </a:xfrm>
          <a:prstGeom prst="rect">
            <a:avLst/>
          </a:prstGeom>
          <a:noFill/>
        </p:spPr>
        <p:txBody>
          <a:bodyPr wrap="none" lIns="0" rIns="0" tIns="0" bIns="0">
            <a:spAutoFit/>
          </a:bodyPr>
          <a:lstStyle/>
          <a:p>
            <a:pPr>
              <a:lnSpc>
                <a:spcPct val="112000"/>
              </a:lnSpc>
              <a:spcBef>
                <a:spcPts val="0"/>
              </a:spcBef>
              <a:spcAft>
                <a:spcPts val="0"/>
              </a:spcAft>
              <a:defRPr sz="1256" b="0">
                <a:solidFill>
                  <a:srgbClr val="333333"/>
                </a:solidFill>
                <a:latin typeface="微软雅黑"/>
              </a:defRPr>
            </a:pPr>
            <a:r>
              <a:rPr>
                <a:ea typeface="微软雅黑"/>
              </a:rPr>
              <a:t>产生，</a:t>
            </a:r>
          </a:p>
        </p:txBody>
      </p:sp>
      <p:sp>
        <p:nvSpPr>
          <p:cNvPr id="37" name="文字_(用离子方程式表示)。"/>
          <p:cNvSpPr txBox="1"/>
          <p:nvPr/>
        </p:nvSpPr>
        <p:spPr>
          <a:xfrm>
            <a:off x="502920" y="5825253"/>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(用离子方程式表示)。</a:t>
            </a:r>
          </a:p>
        </p:txBody>
      </p:sp>
      <p:sp>
        <p:nvSpPr>
          <p:cNvPr id="38" name="文字_(4) 根据K₂FeO₄的制备实验得出：氧化性C"/>
          <p:cNvSpPr txBox="1"/>
          <p:nvPr/>
        </p:nvSpPr>
        <p:spPr>
          <a:xfrm>
            <a:off x="502920" y="6044709"/>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(4) 根据K₂FeO₄的制备实验得出：氧化性Cl₂ ______ FeO₂⁻(填“&gt;”或“&lt;”)，而方案ⅡI实验表明，Cl₂和FeO₂⁻的氧化性强弱关系相反，原因可能是</a:t>
            </a:r>
          </a:p>
        </p:txBody>
      </p:sp>
      <p:sp>
        <p:nvSpPr>
          <p:cNvPr id="39" name="文字_解答题  ·  09-06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09-061</a:t>
            </a:r>
          </a:p>
        </p:txBody>
      </p:sp>
      <p:sp>
        <p:nvSpPr>
          <p:cNvPr id="40" name="文字_7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巩固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巩固7</a:t>
            </a:r>
          </a:p>
        </p:txBody>
      </p:sp>
      <p:sp>
        <p:nvSpPr>
          <p:cNvPr id="5" name="文字_P20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P202</a:t>
            </a:r>
          </a:p>
        </p:txBody>
      </p:sp>
      <p:sp>
        <p:nvSpPr>
          <p:cNvPr id="6" name="文字_某化学课外小组在制备Fe(OH)₂实验过程中观察"/>
          <p:cNvSpPr txBox="1"/>
          <p:nvPr/>
        </p:nvSpPr>
        <p:spPr>
          <a:xfrm>
            <a:off x="502920" y="1078992"/>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某化学课外小组在制备Fe(OH)₂实验过程中观察到生成的白</a:t>
            </a:r>
          </a:p>
          <a:p>
            <a:pPr>
              <a:lnSpc>
                <a:spcPct val="112000"/>
              </a:lnSpc>
              <a:spcBef>
                <a:spcPts val="0"/>
              </a:spcBef>
              <a:spcAft>
                <a:spcPts val="0"/>
              </a:spcAft>
              <a:defRPr sz="1600" b="0">
                <a:solidFill>
                  <a:srgbClr val="333333"/>
                </a:solidFill>
                <a:latin typeface="微软雅黑"/>
              </a:defRPr>
            </a:pPr>
            <a:r>
              <a:rPr>
                <a:ea typeface="微软雅黑"/>
              </a:rPr>
              <a:t>色沉淀迅速变为灰绿色，一段时间后变为红褐色。该小组同</a:t>
            </a:r>
          </a:p>
          <a:p>
            <a:pPr>
              <a:lnSpc>
                <a:spcPct val="112000"/>
              </a:lnSpc>
              <a:spcBef>
                <a:spcPts val="0"/>
              </a:spcBef>
              <a:spcAft>
                <a:spcPts val="0"/>
              </a:spcAft>
              <a:defRPr sz="1600" b="0">
                <a:solidFill>
                  <a:srgbClr val="333333"/>
                </a:solidFill>
                <a:latin typeface="微软雅黑"/>
              </a:defRPr>
            </a:pPr>
            <a:r>
              <a:rPr>
                <a:ea typeface="微软雅黑"/>
              </a:rPr>
              <a:t>学对产生灰绿色沉淀的原因，进行了实验探究。</a:t>
            </a:r>
          </a:p>
        </p:txBody>
      </p:sp>
      <p:pic>
        <p:nvPicPr>
          <p:cNvPr id="7" name="Picture 6" descr="image.png"/>
          <p:cNvPicPr>
            <a:picLocks noChangeAspect="1"/>
          </p:cNvPicPr>
          <p:nvPr/>
        </p:nvPicPr>
        <p:blipFill>
          <a:blip r:embed="rId3"/>
          <a:stretch>
            <a:fillRect/>
          </a:stretch>
        </p:blipFill>
        <p:spPr>
          <a:xfrm>
            <a:off x="502920" y="1855216"/>
            <a:ext cx="5376672" cy="1689279"/>
          </a:xfrm>
          <a:prstGeom prst="rect">
            <a:avLst/>
          </a:prstGeom>
        </p:spPr>
      </p:pic>
      <p:sp>
        <p:nvSpPr>
          <p:cNvPr id="8" name="原题文字_202_5"/>
          <p:cNvSpPr txBox="1"/>
          <p:nvPr/>
        </p:nvSpPr>
        <p:spPr>
          <a:xfrm>
            <a:off x="528966" y="1867419"/>
            <a:ext cx="3909695"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I. 甲同学猜测灰绿色沉淀是Fe(OH)₂和Fe(OH)₃的混合物，设计并完成实验1和实验2。</a:t>
            </a:r>
          </a:p>
        </p:txBody>
      </p:sp>
      <p:sp>
        <p:nvSpPr>
          <p:cNvPr id="9" name="原题文字_202_6"/>
          <p:cNvSpPr txBox="1"/>
          <p:nvPr/>
        </p:nvSpPr>
        <p:spPr>
          <a:xfrm>
            <a:off x="867566" y="2064626"/>
            <a:ext cx="326488" cy="207997"/>
          </a:xfrm>
          <a:prstGeom prst="rect">
            <a:avLst/>
          </a:prstGeom>
          <a:noFill/>
        </p:spPr>
        <p:txBody>
          <a:bodyPr wrap="none" lIns="0" rIns="0" tIns="0" bIns="0">
            <a:spAutoFit/>
          </a:bodyPr>
          <a:lstStyle/>
          <a:p>
            <a:pPr>
              <a:lnSpc>
                <a:spcPct val="112000"/>
              </a:lnSpc>
              <a:spcBef>
                <a:spcPts val="0"/>
              </a:spcBef>
              <a:spcAft>
                <a:spcPts val="0"/>
              </a:spcAft>
              <a:defRPr sz="1007" b="0">
                <a:solidFill>
                  <a:srgbClr val="333333"/>
                </a:solidFill>
                <a:latin typeface="微软雅黑"/>
              </a:defRPr>
            </a:pPr>
            <a:r>
              <a:rPr>
                <a:ea typeface="微软雅黑"/>
              </a:rPr>
              <a:t>编号</a:t>
            </a:r>
          </a:p>
        </p:txBody>
      </p:sp>
      <p:sp>
        <p:nvSpPr>
          <p:cNvPr id="10" name="原题文字_202_7"/>
          <p:cNvSpPr txBox="1"/>
          <p:nvPr/>
        </p:nvSpPr>
        <p:spPr>
          <a:xfrm>
            <a:off x="2047085" y="2068347"/>
            <a:ext cx="508811"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实验操作</a:t>
            </a:r>
          </a:p>
        </p:txBody>
      </p:sp>
      <p:sp>
        <p:nvSpPr>
          <p:cNvPr id="11" name="原题文字_202_8"/>
          <p:cNvSpPr txBox="1"/>
          <p:nvPr/>
        </p:nvSpPr>
        <p:spPr>
          <a:xfrm>
            <a:off x="3710318" y="2068347"/>
            <a:ext cx="512532"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实验现象</a:t>
            </a:r>
          </a:p>
        </p:txBody>
      </p:sp>
      <p:sp>
        <p:nvSpPr>
          <p:cNvPr id="12" name="原题文字_202_9"/>
          <p:cNvSpPr txBox="1"/>
          <p:nvPr/>
        </p:nvSpPr>
        <p:spPr>
          <a:xfrm>
            <a:off x="1440581" y="2280437"/>
            <a:ext cx="1606471"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向2mL 0.1mol·L-¹FeSO₄溶液中滴</a:t>
            </a:r>
          </a:p>
        </p:txBody>
      </p:sp>
      <p:sp>
        <p:nvSpPr>
          <p:cNvPr id="13" name="原题文字_202_10"/>
          <p:cNvSpPr txBox="1"/>
          <p:nvPr/>
        </p:nvSpPr>
        <p:spPr>
          <a:xfrm>
            <a:off x="3111257" y="2284158"/>
            <a:ext cx="1628796"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液面上方出现白色沉淀，一段时间</a:t>
            </a:r>
          </a:p>
        </p:txBody>
      </p:sp>
      <p:sp>
        <p:nvSpPr>
          <p:cNvPr id="14" name="原题文字_202_11"/>
          <p:cNvSpPr txBox="1"/>
          <p:nvPr/>
        </p:nvSpPr>
        <p:spPr>
          <a:xfrm>
            <a:off x="848961" y="2444156"/>
            <a:ext cx="356255" cy="183811"/>
          </a:xfrm>
          <a:prstGeom prst="rect">
            <a:avLst/>
          </a:prstGeom>
          <a:noFill/>
        </p:spPr>
        <p:txBody>
          <a:bodyPr wrap="none" lIns="0" rIns="0" tIns="0" bIns="0">
            <a:spAutoFit/>
          </a:bodyPr>
          <a:lstStyle/>
          <a:p>
            <a:pPr>
              <a:lnSpc>
                <a:spcPct val="112000"/>
              </a:lnSpc>
              <a:spcBef>
                <a:spcPts val="0"/>
              </a:spcBef>
              <a:spcAft>
                <a:spcPts val="0"/>
              </a:spcAft>
              <a:defRPr sz="890" b="0">
                <a:solidFill>
                  <a:srgbClr val="333333"/>
                </a:solidFill>
                <a:latin typeface="微软雅黑"/>
              </a:defRPr>
            </a:pPr>
            <a:r>
              <a:rPr>
                <a:ea typeface="微软雅黑"/>
              </a:rPr>
              <a:t>实验1</a:t>
            </a:r>
          </a:p>
        </p:txBody>
      </p:sp>
      <p:sp>
        <p:nvSpPr>
          <p:cNvPr id="15" name="原题文字_202_12"/>
          <p:cNvSpPr txBox="1"/>
          <p:nvPr/>
        </p:nvSpPr>
        <p:spPr>
          <a:xfrm>
            <a:off x="1436860" y="2447876"/>
            <a:ext cx="1625075"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0.1mol·L -1NaOH溶液(两溶液中均</a:t>
            </a:r>
          </a:p>
        </p:txBody>
      </p:sp>
      <p:sp>
        <p:nvSpPr>
          <p:cNvPr id="16" name="原题文字_202_13"/>
          <p:cNvSpPr txBox="1"/>
          <p:nvPr/>
        </p:nvSpPr>
        <p:spPr>
          <a:xfrm>
            <a:off x="3111257" y="2451597"/>
            <a:ext cx="1628796"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后变为灰绿色，长时间后变为红褐</a:t>
            </a:r>
          </a:p>
        </p:txBody>
      </p:sp>
      <p:sp>
        <p:nvSpPr>
          <p:cNvPr id="17" name="原题文字_202_14"/>
          <p:cNvSpPr txBox="1"/>
          <p:nvPr/>
        </p:nvSpPr>
        <p:spPr>
          <a:xfrm>
            <a:off x="1451744" y="2637641"/>
            <a:ext cx="992525"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先加几滴维生C溶液)</a:t>
            </a:r>
          </a:p>
        </p:txBody>
      </p:sp>
      <p:sp>
        <p:nvSpPr>
          <p:cNvPr id="18" name="原题文字_202_15"/>
          <p:cNvSpPr txBox="1"/>
          <p:nvPr/>
        </p:nvSpPr>
        <p:spPr>
          <a:xfrm>
            <a:off x="3103815" y="2615316"/>
            <a:ext cx="196257" cy="198322"/>
          </a:xfrm>
          <a:prstGeom prst="rect">
            <a:avLst/>
          </a:prstGeom>
          <a:noFill/>
        </p:spPr>
        <p:txBody>
          <a:bodyPr wrap="none" lIns="0" rIns="0" tIns="0" bIns="0">
            <a:spAutoFit/>
          </a:bodyPr>
          <a:lstStyle/>
          <a:p>
            <a:pPr>
              <a:lnSpc>
                <a:spcPct val="112000"/>
              </a:lnSpc>
              <a:spcBef>
                <a:spcPts val="0"/>
              </a:spcBef>
              <a:spcAft>
                <a:spcPts val="0"/>
              </a:spcAft>
              <a:defRPr sz="960" b="0">
                <a:solidFill>
                  <a:srgbClr val="333333"/>
                </a:solidFill>
                <a:latin typeface="微软雅黑"/>
              </a:defRPr>
            </a:pPr>
            <a:r>
              <a:rPr>
                <a:ea typeface="微软雅黑"/>
              </a:rPr>
              <a:t>色</a:t>
            </a:r>
          </a:p>
        </p:txBody>
      </p:sp>
      <p:sp>
        <p:nvSpPr>
          <p:cNvPr id="19" name="原题文字_202_16"/>
          <p:cNvSpPr txBox="1"/>
          <p:nvPr/>
        </p:nvSpPr>
        <p:spPr>
          <a:xfrm>
            <a:off x="1440581" y="2834848"/>
            <a:ext cx="1688330"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取实验1中少量灰绿色沉淀，洗净后</a:t>
            </a:r>
          </a:p>
        </p:txBody>
      </p:sp>
      <p:sp>
        <p:nvSpPr>
          <p:cNvPr id="20" name="原题文字_202_17"/>
          <p:cNvSpPr txBox="1"/>
          <p:nvPr/>
        </p:nvSpPr>
        <p:spPr>
          <a:xfrm>
            <a:off x="3122419" y="2920428"/>
            <a:ext cx="1625075"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①中出现蓝色沉淀，②中溶液未变</a:t>
            </a:r>
          </a:p>
        </p:txBody>
      </p:sp>
      <p:sp>
        <p:nvSpPr>
          <p:cNvPr id="21" name="原题文字_202_18"/>
          <p:cNvSpPr txBox="1"/>
          <p:nvPr/>
        </p:nvSpPr>
        <p:spPr>
          <a:xfrm>
            <a:off x="848961" y="3002288"/>
            <a:ext cx="363697" cy="183811"/>
          </a:xfrm>
          <a:prstGeom prst="rect">
            <a:avLst/>
          </a:prstGeom>
          <a:noFill/>
        </p:spPr>
        <p:txBody>
          <a:bodyPr wrap="none" lIns="0" rIns="0" tIns="0" bIns="0">
            <a:spAutoFit/>
          </a:bodyPr>
          <a:lstStyle/>
          <a:p>
            <a:pPr>
              <a:lnSpc>
                <a:spcPct val="112000"/>
              </a:lnSpc>
              <a:spcBef>
                <a:spcPts val="0"/>
              </a:spcBef>
              <a:spcAft>
                <a:spcPts val="0"/>
              </a:spcAft>
              <a:defRPr sz="890" b="0">
                <a:solidFill>
                  <a:srgbClr val="333333"/>
                </a:solidFill>
                <a:latin typeface="微软雅黑"/>
              </a:defRPr>
            </a:pPr>
            <a:r>
              <a:rPr>
                <a:ea typeface="微软雅黑"/>
              </a:rPr>
              <a:t>实验2</a:t>
            </a:r>
          </a:p>
        </p:txBody>
      </p:sp>
      <p:sp>
        <p:nvSpPr>
          <p:cNvPr id="22" name="原题文字_202_19"/>
          <p:cNvSpPr txBox="1"/>
          <p:nvPr/>
        </p:nvSpPr>
        <p:spPr>
          <a:xfrm>
            <a:off x="1440581" y="3009729"/>
            <a:ext cx="1639958"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加盐酸溶解，分成两份。①中加入</a:t>
            </a:r>
          </a:p>
        </p:txBody>
      </p:sp>
      <p:sp>
        <p:nvSpPr>
          <p:cNvPr id="23" name="原题文字_202_20"/>
          <p:cNvSpPr txBox="1"/>
          <p:nvPr/>
        </p:nvSpPr>
        <p:spPr>
          <a:xfrm>
            <a:off x="3092652" y="3084147"/>
            <a:ext cx="412068" cy="193485"/>
          </a:xfrm>
          <a:prstGeom prst="rect">
            <a:avLst/>
          </a:prstGeom>
          <a:noFill/>
        </p:spPr>
        <p:txBody>
          <a:bodyPr wrap="none" lIns="0" rIns="0" tIns="0" bIns="0">
            <a:spAutoFit/>
          </a:bodyPr>
          <a:lstStyle/>
          <a:p>
            <a:pPr>
              <a:lnSpc>
                <a:spcPct val="112000"/>
              </a:lnSpc>
              <a:spcBef>
                <a:spcPts val="0"/>
              </a:spcBef>
              <a:spcAft>
                <a:spcPts val="0"/>
              </a:spcAft>
              <a:defRPr sz="937" b="0">
                <a:solidFill>
                  <a:srgbClr val="333333"/>
                </a:solidFill>
                <a:latin typeface="微软雅黑"/>
              </a:defRPr>
            </a:pPr>
            <a:r>
              <a:rPr>
                <a:ea typeface="微软雅黑"/>
              </a:rPr>
              <a:t>成红色</a:t>
            </a:r>
          </a:p>
        </p:txBody>
      </p:sp>
      <p:sp>
        <p:nvSpPr>
          <p:cNvPr id="24" name="原题文字_202_21"/>
          <p:cNvSpPr txBox="1"/>
          <p:nvPr/>
        </p:nvSpPr>
        <p:spPr>
          <a:xfrm>
            <a:off x="1440581" y="3192052"/>
            <a:ext cx="1111593"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试剂a，②中加入试剂b</a:t>
            </a:r>
          </a:p>
        </p:txBody>
      </p:sp>
      <p:sp>
        <p:nvSpPr>
          <p:cNvPr id="25" name="原题文字_202_22"/>
          <p:cNvSpPr txBox="1"/>
          <p:nvPr/>
        </p:nvSpPr>
        <p:spPr>
          <a:xfrm>
            <a:off x="543849" y="3385538"/>
            <a:ext cx="1963675"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(1)实验中产生红褐色沉淀的化学方程式为</a:t>
            </a:r>
          </a:p>
        </p:txBody>
      </p:sp>
      <p:sp>
        <p:nvSpPr>
          <p:cNvPr id="26" name="文字_(2)实验1中加入维生素C溶液是利用该物质的 _"/>
          <p:cNvSpPr txBox="1"/>
          <p:nvPr/>
        </p:nvSpPr>
        <p:spPr>
          <a:xfrm>
            <a:off x="502920" y="3617647"/>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(2)实验1中加入维生素C溶液是利用该物质的 ______ 性。</a:t>
            </a:r>
          </a:p>
        </p:txBody>
      </p:sp>
      <p:sp>
        <p:nvSpPr>
          <p:cNvPr id="27" name="文字_(3实验2中试剂b为 ______ 溶液。实验2"/>
          <p:cNvSpPr txBox="1"/>
          <p:nvPr/>
        </p:nvSpPr>
        <p:spPr>
          <a:xfrm>
            <a:off x="502920" y="3910255"/>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(3实验2中试剂b为 ______ 溶液。实验2的现象说明甲同学的</a:t>
            </a:r>
          </a:p>
          <a:p>
            <a:pPr>
              <a:lnSpc>
                <a:spcPct val="112000"/>
              </a:lnSpc>
              <a:spcBef>
                <a:spcPts val="0"/>
              </a:spcBef>
              <a:spcAft>
                <a:spcPts val="0"/>
              </a:spcAft>
              <a:defRPr sz="1600" b="0">
                <a:solidFill>
                  <a:srgbClr val="333333"/>
                </a:solidFill>
                <a:latin typeface="微软雅黑"/>
              </a:defRPr>
            </a:pPr>
            <a:r>
              <a:rPr>
                <a:ea typeface="微软雅黑"/>
              </a:rPr>
              <a:t>猜测 ______ 。(填“正确”或“不正确”)</a:t>
            </a:r>
          </a:p>
        </p:txBody>
      </p:sp>
      <p:sp>
        <p:nvSpPr>
          <p:cNvPr id="28" name="文字_Ⅱ. 乙同学查阅资料得知，Fe(OH)₂沉淀具有"/>
          <p:cNvSpPr txBox="1"/>
          <p:nvPr/>
        </p:nvSpPr>
        <p:spPr>
          <a:xfrm>
            <a:off x="502920" y="4444671"/>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Ⅱ. 乙同学查阅资料得知，Fe(OH)₂沉淀具有较强的吸附性</a:t>
            </a:r>
          </a:p>
          <a:p>
            <a:pPr>
              <a:lnSpc>
                <a:spcPct val="112000"/>
              </a:lnSpc>
              <a:spcBef>
                <a:spcPts val="0"/>
              </a:spcBef>
              <a:spcAft>
                <a:spcPts val="0"/>
              </a:spcAft>
              <a:defRPr sz="1600" b="0">
                <a:solidFill>
                  <a:srgbClr val="333333"/>
                </a:solidFill>
                <a:latin typeface="微软雅黑"/>
              </a:defRPr>
            </a:pPr>
            <a:r>
              <a:rPr>
                <a:ea typeface="微软雅黑"/>
              </a:rPr>
              <a:t>，猜测灰绿色可能是Fe(OH)₂吸附Fe²⁺引起的，设计并完</a:t>
            </a:r>
          </a:p>
        </p:txBody>
      </p:sp>
      <p:pic>
        <p:nvPicPr>
          <p:cNvPr id="29" name="Picture 28" descr="image.png"/>
          <p:cNvPicPr>
            <a:picLocks noChangeAspect="1"/>
          </p:cNvPicPr>
          <p:nvPr/>
        </p:nvPicPr>
        <p:blipFill>
          <a:blip r:embed="rId4"/>
          <a:stretch>
            <a:fillRect/>
          </a:stretch>
        </p:blipFill>
        <p:spPr>
          <a:xfrm>
            <a:off x="6263640" y="1078992"/>
            <a:ext cx="5376672" cy="2065088"/>
          </a:xfrm>
          <a:prstGeom prst="rect">
            <a:avLst/>
          </a:prstGeom>
        </p:spPr>
      </p:pic>
      <p:sp>
        <p:nvSpPr>
          <p:cNvPr id="30" name="原题文字_202_29"/>
          <p:cNvSpPr txBox="1"/>
          <p:nvPr/>
        </p:nvSpPr>
        <p:spPr>
          <a:xfrm>
            <a:off x="6304569" y="1091195"/>
            <a:ext cx="940433" cy="169300"/>
          </a:xfrm>
          <a:prstGeom prst="rect">
            <a:avLst/>
          </a:prstGeom>
          <a:noFill/>
        </p:spPr>
        <p:txBody>
          <a:bodyPr wrap="none" lIns="0" rIns="0" tIns="0" bIns="0">
            <a:spAutoFit/>
          </a:bodyPr>
          <a:lstStyle/>
          <a:p>
            <a:pPr>
              <a:lnSpc>
                <a:spcPct val="112000"/>
              </a:lnSpc>
              <a:spcBef>
                <a:spcPts val="0"/>
              </a:spcBef>
              <a:spcAft>
                <a:spcPts val="0"/>
              </a:spcAft>
              <a:defRPr sz="818" b="0">
                <a:solidFill>
                  <a:srgbClr val="333333"/>
                </a:solidFill>
                <a:latin typeface="微软雅黑"/>
              </a:defRPr>
            </a:pPr>
            <a:r>
              <a:rPr>
                <a:ea typeface="微软雅黑"/>
              </a:rPr>
              <a:t>成了实验3 - 实验5。</a:t>
            </a:r>
          </a:p>
        </p:txBody>
      </p:sp>
      <p:sp>
        <p:nvSpPr>
          <p:cNvPr id="31" name="原题文字_202_30"/>
          <p:cNvSpPr txBox="1"/>
          <p:nvPr/>
        </p:nvSpPr>
        <p:spPr>
          <a:xfrm>
            <a:off x="6620844" y="1284681"/>
            <a:ext cx="322767" cy="207997"/>
          </a:xfrm>
          <a:prstGeom prst="rect">
            <a:avLst/>
          </a:prstGeom>
          <a:noFill/>
        </p:spPr>
        <p:txBody>
          <a:bodyPr wrap="none" lIns="0" rIns="0" tIns="0" bIns="0">
            <a:spAutoFit/>
          </a:bodyPr>
          <a:lstStyle/>
          <a:p>
            <a:pPr>
              <a:lnSpc>
                <a:spcPct val="112000"/>
              </a:lnSpc>
              <a:spcBef>
                <a:spcPts val="0"/>
              </a:spcBef>
              <a:spcAft>
                <a:spcPts val="0"/>
              </a:spcAft>
              <a:defRPr sz="1007" b="0">
                <a:solidFill>
                  <a:srgbClr val="333333"/>
                </a:solidFill>
                <a:latin typeface="微软雅黑"/>
              </a:defRPr>
            </a:pPr>
            <a:r>
              <a:rPr>
                <a:ea typeface="微软雅黑"/>
              </a:rPr>
              <a:t>编号</a:t>
            </a:r>
          </a:p>
        </p:txBody>
      </p:sp>
      <p:sp>
        <p:nvSpPr>
          <p:cNvPr id="32" name="原题文字_202_31"/>
          <p:cNvSpPr txBox="1"/>
          <p:nvPr/>
        </p:nvSpPr>
        <p:spPr>
          <a:xfrm>
            <a:off x="7774317" y="1292123"/>
            <a:ext cx="519974"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实验操作</a:t>
            </a:r>
          </a:p>
        </p:txBody>
      </p:sp>
      <p:sp>
        <p:nvSpPr>
          <p:cNvPr id="33" name="原题文字_202_32"/>
          <p:cNvSpPr txBox="1"/>
          <p:nvPr/>
        </p:nvSpPr>
        <p:spPr>
          <a:xfrm>
            <a:off x="9407783" y="1292123"/>
            <a:ext cx="516253"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实验现象</a:t>
            </a:r>
          </a:p>
        </p:txBody>
      </p:sp>
      <p:sp>
        <p:nvSpPr>
          <p:cNvPr id="34" name="原题文字_202_33"/>
          <p:cNvSpPr txBox="1"/>
          <p:nvPr/>
        </p:nvSpPr>
        <p:spPr>
          <a:xfrm>
            <a:off x="7193860" y="1500492"/>
            <a:ext cx="3299471"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向10mL 4mol·L-1NaOH溶液中逐滴液面上方产生白色沉淀(带有较多灰</a:t>
            </a:r>
          </a:p>
        </p:txBody>
      </p:sp>
      <p:sp>
        <p:nvSpPr>
          <p:cNvPr id="35" name="原题文字_202_34"/>
          <p:cNvSpPr txBox="1"/>
          <p:nvPr/>
        </p:nvSpPr>
        <p:spPr>
          <a:xfrm>
            <a:off x="6602240" y="1664211"/>
            <a:ext cx="363697" cy="203160"/>
          </a:xfrm>
          <a:prstGeom prst="rect">
            <a:avLst/>
          </a:prstGeom>
          <a:noFill/>
        </p:spPr>
        <p:txBody>
          <a:bodyPr wrap="none" lIns="0" rIns="0" tIns="0" bIns="0">
            <a:spAutoFit/>
          </a:bodyPr>
          <a:lstStyle/>
          <a:p>
            <a:pPr>
              <a:lnSpc>
                <a:spcPct val="112000"/>
              </a:lnSpc>
              <a:spcBef>
                <a:spcPts val="0"/>
              </a:spcBef>
              <a:spcAft>
                <a:spcPts val="0"/>
              </a:spcAft>
              <a:defRPr sz="984" b="0">
                <a:solidFill>
                  <a:srgbClr val="333333"/>
                </a:solidFill>
                <a:latin typeface="微软雅黑"/>
              </a:defRPr>
            </a:pPr>
            <a:r>
              <a:rPr>
                <a:ea typeface="微软雅黑"/>
              </a:rPr>
              <a:t>实验3</a:t>
            </a:r>
          </a:p>
        </p:txBody>
      </p:sp>
      <p:sp>
        <p:nvSpPr>
          <p:cNvPr id="36" name="原题文字_202_35"/>
          <p:cNvSpPr txBox="1"/>
          <p:nvPr/>
        </p:nvSpPr>
        <p:spPr>
          <a:xfrm>
            <a:off x="7190139" y="1682815"/>
            <a:ext cx="1643679"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加入0.1mol·L-1FeSO₄溶液(两溶液</a:t>
            </a:r>
          </a:p>
        </p:txBody>
      </p:sp>
      <p:sp>
        <p:nvSpPr>
          <p:cNvPr id="37" name="原题文字_202_36"/>
          <p:cNvSpPr txBox="1"/>
          <p:nvPr/>
        </p:nvSpPr>
        <p:spPr>
          <a:xfrm>
            <a:off x="8805001" y="1682815"/>
            <a:ext cx="1688330"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绿色)。沉淀下沉后，部分灰绿色沉</a:t>
            </a:r>
          </a:p>
        </p:txBody>
      </p:sp>
      <p:sp>
        <p:nvSpPr>
          <p:cNvPr id="38" name="原题文字_202_37"/>
          <p:cNvSpPr txBox="1"/>
          <p:nvPr/>
        </p:nvSpPr>
        <p:spPr>
          <a:xfrm>
            <a:off x="7186418" y="1853976"/>
            <a:ext cx="1316242"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中均先加几滴维生素C溶液)</a:t>
            </a:r>
          </a:p>
        </p:txBody>
      </p:sp>
      <p:sp>
        <p:nvSpPr>
          <p:cNvPr id="39" name="原题文字_202_38"/>
          <p:cNvSpPr txBox="1"/>
          <p:nvPr/>
        </p:nvSpPr>
        <p:spPr>
          <a:xfrm>
            <a:off x="8816163" y="1850255"/>
            <a:ext cx="609275"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淀变为白色</a:t>
            </a:r>
          </a:p>
        </p:txBody>
      </p:sp>
      <p:sp>
        <p:nvSpPr>
          <p:cNvPr id="40" name="原题文字_202_39"/>
          <p:cNvSpPr txBox="1"/>
          <p:nvPr/>
        </p:nvSpPr>
        <p:spPr>
          <a:xfrm>
            <a:off x="7190139" y="2047461"/>
            <a:ext cx="1673446" cy="174137"/>
          </a:xfrm>
          <a:prstGeom prst="rect">
            <a:avLst/>
          </a:prstGeom>
          <a:noFill/>
        </p:spPr>
        <p:txBody>
          <a:bodyPr wrap="none" lIns="0" rIns="0" tIns="0" bIns="0">
            <a:spAutoFit/>
          </a:bodyPr>
          <a:lstStyle/>
          <a:p>
            <a:pPr>
              <a:lnSpc>
                <a:spcPct val="112000"/>
              </a:lnSpc>
              <a:spcBef>
                <a:spcPts val="0"/>
              </a:spcBef>
              <a:spcAft>
                <a:spcPts val="0"/>
              </a:spcAft>
              <a:defRPr sz="834" b="0">
                <a:solidFill>
                  <a:srgbClr val="333333"/>
                </a:solidFill>
                <a:latin typeface="微软雅黑"/>
              </a:defRPr>
            </a:pPr>
            <a:r>
              <a:rPr>
                <a:ea typeface="微软雅黑"/>
              </a:rPr>
              <a:t>向10mL 8mol·L - 1NaOH溶液中逐滴</a:t>
            </a:r>
          </a:p>
        </p:txBody>
      </p:sp>
      <p:sp>
        <p:nvSpPr>
          <p:cNvPr id="41" name="原题文字_202_40"/>
          <p:cNvSpPr txBox="1"/>
          <p:nvPr/>
        </p:nvSpPr>
        <p:spPr>
          <a:xfrm>
            <a:off x="8823605" y="2140483"/>
            <a:ext cx="1461356"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液面上方产生白色沉淀(无灰绿</a:t>
            </a:r>
          </a:p>
        </p:txBody>
      </p:sp>
      <p:sp>
        <p:nvSpPr>
          <p:cNvPr id="42" name="原题文字_202_41"/>
          <p:cNvSpPr txBox="1"/>
          <p:nvPr/>
        </p:nvSpPr>
        <p:spPr>
          <a:xfrm>
            <a:off x="6602240" y="2214901"/>
            <a:ext cx="367417" cy="203160"/>
          </a:xfrm>
          <a:prstGeom prst="rect">
            <a:avLst/>
          </a:prstGeom>
          <a:noFill/>
        </p:spPr>
        <p:txBody>
          <a:bodyPr wrap="none" lIns="0" rIns="0" tIns="0" bIns="0">
            <a:spAutoFit/>
          </a:bodyPr>
          <a:lstStyle/>
          <a:p>
            <a:pPr>
              <a:lnSpc>
                <a:spcPct val="112000"/>
              </a:lnSpc>
              <a:spcBef>
                <a:spcPts val="0"/>
              </a:spcBef>
              <a:spcAft>
                <a:spcPts val="0"/>
              </a:spcAft>
              <a:defRPr sz="984" b="0">
                <a:solidFill>
                  <a:srgbClr val="333333"/>
                </a:solidFill>
                <a:latin typeface="微软雅黑"/>
              </a:defRPr>
            </a:pPr>
            <a:r>
              <a:rPr>
                <a:ea typeface="微软雅黑"/>
              </a:rPr>
              <a:t>实验4</a:t>
            </a:r>
          </a:p>
        </p:txBody>
      </p:sp>
      <p:sp>
        <p:nvSpPr>
          <p:cNvPr id="43" name="原题文字_202_42"/>
          <p:cNvSpPr txBox="1"/>
          <p:nvPr/>
        </p:nvSpPr>
        <p:spPr>
          <a:xfrm>
            <a:off x="7190139" y="2233505"/>
            <a:ext cx="1680888"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加入0.mol·L-1FeSO₄溶液(两溶液中</a:t>
            </a:r>
          </a:p>
        </p:txBody>
      </p:sp>
      <p:sp>
        <p:nvSpPr>
          <p:cNvPr id="44" name="原题文字_202_43"/>
          <p:cNvSpPr txBox="1"/>
          <p:nvPr/>
        </p:nvSpPr>
        <p:spPr>
          <a:xfrm>
            <a:off x="8831047" y="2322806"/>
            <a:ext cx="1349730"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色)。沉淀下沉后，仍为白色</a:t>
            </a:r>
          </a:p>
        </p:txBody>
      </p:sp>
      <p:sp>
        <p:nvSpPr>
          <p:cNvPr id="45" name="原题文字_202_44"/>
          <p:cNvSpPr txBox="1"/>
          <p:nvPr/>
        </p:nvSpPr>
        <p:spPr>
          <a:xfrm>
            <a:off x="7193860" y="2412108"/>
            <a:ext cx="1200895"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均先加几滴维生素C溶液)</a:t>
            </a:r>
          </a:p>
        </p:txBody>
      </p:sp>
      <p:sp>
        <p:nvSpPr>
          <p:cNvPr id="46" name="原题文字_202_45"/>
          <p:cNvSpPr txBox="1"/>
          <p:nvPr/>
        </p:nvSpPr>
        <p:spPr>
          <a:xfrm>
            <a:off x="7190139" y="2609314"/>
            <a:ext cx="1684609"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取实验4中白色沉淀，洗净后放在潮</a:t>
            </a:r>
          </a:p>
        </p:txBody>
      </p:sp>
      <p:sp>
        <p:nvSpPr>
          <p:cNvPr id="47" name="原题文字_202_46"/>
          <p:cNvSpPr txBox="1"/>
          <p:nvPr/>
        </p:nvSpPr>
        <p:spPr>
          <a:xfrm>
            <a:off x="6602240" y="2683732"/>
            <a:ext cx="367417" cy="203160"/>
          </a:xfrm>
          <a:prstGeom prst="rect">
            <a:avLst/>
          </a:prstGeom>
          <a:noFill/>
        </p:spPr>
        <p:txBody>
          <a:bodyPr wrap="none" lIns="0" rIns="0" tIns="0" bIns="0">
            <a:spAutoFit/>
          </a:bodyPr>
          <a:lstStyle/>
          <a:p>
            <a:pPr>
              <a:lnSpc>
                <a:spcPct val="112000"/>
              </a:lnSpc>
              <a:spcBef>
                <a:spcPts val="0"/>
              </a:spcBef>
              <a:spcAft>
                <a:spcPts val="0"/>
              </a:spcAft>
              <a:defRPr sz="984" b="0">
                <a:solidFill>
                  <a:srgbClr val="333333"/>
                </a:solidFill>
                <a:latin typeface="微软雅黑"/>
              </a:defRPr>
            </a:pPr>
            <a:r>
              <a:rPr>
                <a:ea typeface="微软雅黑"/>
              </a:rPr>
              <a:t>实验5</a:t>
            </a:r>
          </a:p>
        </p:txBody>
      </p:sp>
      <p:sp>
        <p:nvSpPr>
          <p:cNvPr id="48" name="原题文字_202_47"/>
          <p:cNvSpPr txBox="1"/>
          <p:nvPr/>
        </p:nvSpPr>
        <p:spPr>
          <a:xfrm>
            <a:off x="7182697" y="2776754"/>
            <a:ext cx="605554" cy="193485"/>
          </a:xfrm>
          <a:prstGeom prst="rect">
            <a:avLst/>
          </a:prstGeom>
          <a:noFill/>
        </p:spPr>
        <p:txBody>
          <a:bodyPr wrap="none" lIns="0" rIns="0" tIns="0" bIns="0">
            <a:spAutoFit/>
          </a:bodyPr>
          <a:lstStyle/>
          <a:p>
            <a:pPr>
              <a:lnSpc>
                <a:spcPct val="112000"/>
              </a:lnSpc>
              <a:spcBef>
                <a:spcPts val="0"/>
              </a:spcBef>
              <a:spcAft>
                <a:spcPts val="0"/>
              </a:spcAft>
              <a:defRPr sz="937" b="0">
                <a:solidFill>
                  <a:srgbClr val="333333"/>
                </a:solidFill>
                <a:latin typeface="微软雅黑"/>
              </a:defRPr>
            </a:pPr>
            <a:r>
              <a:rPr>
                <a:ea typeface="微软雅黑"/>
              </a:rPr>
              <a:t>湿的空气中</a:t>
            </a:r>
          </a:p>
        </p:txBody>
      </p:sp>
      <p:sp>
        <p:nvSpPr>
          <p:cNvPr id="49" name="原题文字_202_48"/>
          <p:cNvSpPr txBox="1"/>
          <p:nvPr/>
        </p:nvSpPr>
        <p:spPr>
          <a:xfrm>
            <a:off x="6308290" y="2985123"/>
            <a:ext cx="2532970"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(4)依据乙同学的猜测，实验4中沉淀无灰绿色的原因为</a:t>
            </a:r>
          </a:p>
        </p:txBody>
      </p:sp>
      <p:sp>
        <p:nvSpPr>
          <p:cNvPr id="50" name="原题文字_202_49"/>
          <p:cNvSpPr txBox="1"/>
          <p:nvPr/>
        </p:nvSpPr>
        <p:spPr>
          <a:xfrm>
            <a:off x="9154763" y="3059541"/>
            <a:ext cx="106956"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o</a:t>
            </a:r>
          </a:p>
        </p:txBody>
      </p:sp>
      <p:sp>
        <p:nvSpPr>
          <p:cNvPr id="51" name="文字_(5)该小组同学依据实验5的实验现象，间接证明了"/>
          <p:cNvSpPr txBox="1"/>
          <p:nvPr/>
        </p:nvSpPr>
        <p:spPr>
          <a:xfrm>
            <a:off x="6263640" y="3217232"/>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(5)该小组同学依据实验5的实验现象，间接证明了乙同学猜</a:t>
            </a:r>
          </a:p>
          <a:p>
            <a:pPr>
              <a:lnSpc>
                <a:spcPct val="112000"/>
              </a:lnSpc>
              <a:spcBef>
                <a:spcPts val="0"/>
              </a:spcBef>
              <a:spcAft>
                <a:spcPts val="0"/>
              </a:spcAft>
              <a:defRPr sz="1600" b="0">
                <a:solidFill>
                  <a:srgbClr val="333333"/>
                </a:solidFill>
                <a:latin typeface="微软雅黑"/>
              </a:defRPr>
            </a:pPr>
            <a:r>
              <a:rPr>
                <a:ea typeface="微软雅黑"/>
              </a:rPr>
              <a:t>测的正确性，则实验5的实验现象可能为</a:t>
            </a:r>
          </a:p>
        </p:txBody>
      </p:sp>
      <p:sp>
        <p:nvSpPr>
          <p:cNvPr id="52" name="文字_Ⅲ. 该小组同学发现当溶液中存在Fe³⁺或溶解较"/>
          <p:cNvSpPr txBox="1"/>
          <p:nvPr/>
        </p:nvSpPr>
        <p:spPr>
          <a:xfrm>
            <a:off x="6263640" y="3751648"/>
            <a:ext cx="5376672" cy="150164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Ⅲ. 该小组同学发现当溶液中存在Fe³⁺或溶解较多O₂时，白</a:t>
            </a:r>
          </a:p>
          <a:p>
            <a:pPr>
              <a:lnSpc>
                <a:spcPct val="112000"/>
              </a:lnSpc>
              <a:spcBef>
                <a:spcPts val="0"/>
              </a:spcBef>
              <a:spcAft>
                <a:spcPts val="0"/>
              </a:spcAft>
              <a:defRPr sz="1600" b="0">
                <a:solidFill>
                  <a:srgbClr val="333333"/>
                </a:solidFill>
                <a:latin typeface="微软雅黑"/>
              </a:defRPr>
            </a:pPr>
            <a:r>
              <a:rPr>
                <a:ea typeface="微软雅黑"/>
              </a:rPr>
              <a:t>色沉淀更容易变成灰绿色。经过再次查阅资料得知当沉淀形</a:t>
            </a:r>
          </a:p>
          <a:p>
            <a:pPr>
              <a:lnSpc>
                <a:spcPct val="112000"/>
              </a:lnSpc>
              <a:spcBef>
                <a:spcPts val="0"/>
              </a:spcBef>
              <a:spcAft>
                <a:spcPts val="0"/>
              </a:spcAft>
              <a:defRPr sz="1600" b="0">
                <a:solidFill>
                  <a:srgbClr val="333333"/>
                </a:solidFill>
                <a:latin typeface="微软雅黑"/>
              </a:defRPr>
            </a:pPr>
            <a:r>
              <a:rPr>
                <a:ea typeface="微软雅黑"/>
              </a:rPr>
              <a:t>成时，若得到的沉淀单一，则沉淀结构均匀，也紧密：若有</a:t>
            </a:r>
          </a:p>
          <a:p>
            <a:pPr>
              <a:lnSpc>
                <a:spcPct val="112000"/>
              </a:lnSpc>
              <a:spcBef>
                <a:spcPts val="0"/>
              </a:spcBef>
              <a:spcAft>
                <a:spcPts val="0"/>
              </a:spcAft>
              <a:defRPr sz="1600" b="0">
                <a:solidFill>
                  <a:srgbClr val="333333"/>
                </a:solidFill>
                <a:latin typeface="微软雅黑"/>
              </a:defRPr>
            </a:pPr>
            <a:r>
              <a:rPr>
                <a:ea typeface="微软雅黑"/>
              </a:rPr>
              <a:t>杂质固体存在时，得到的沉淀便不够紧密，与溶液的接触面</a:t>
            </a:r>
          </a:p>
          <a:p>
            <a:pPr>
              <a:lnSpc>
                <a:spcPct val="112000"/>
              </a:lnSpc>
              <a:spcBef>
                <a:spcPts val="0"/>
              </a:spcBef>
              <a:spcAft>
                <a:spcPts val="0"/>
              </a:spcAft>
              <a:defRPr sz="1600" b="0">
                <a:solidFill>
                  <a:srgbClr val="333333"/>
                </a:solidFill>
                <a:latin typeface="微软雅黑"/>
              </a:defRPr>
            </a:pPr>
            <a:r>
              <a:rPr>
                <a:ea typeface="微软雅黑"/>
              </a:rPr>
              <a:t>积会更大。因此，当Fe(OH)₂沉淀中混有Fe(OH)₃时，沉淀</a:t>
            </a:r>
          </a:p>
          <a:p>
            <a:pPr>
              <a:lnSpc>
                <a:spcPct val="112000"/>
              </a:lnSpc>
              <a:spcBef>
                <a:spcPts val="0"/>
              </a:spcBef>
              <a:spcAft>
                <a:spcPts val="0"/>
              </a:spcAft>
              <a:defRPr sz="1600" b="0">
                <a:solidFill>
                  <a:srgbClr val="333333"/>
                </a:solidFill>
                <a:latin typeface="微软雅黑"/>
              </a:defRPr>
            </a:pPr>
            <a:r>
              <a:rPr>
                <a:ea typeface="微软雅黑"/>
              </a:rPr>
              <a:t>不够紧密，与溶液接触面积更大，更容易吸附Fe²⁺。</a:t>
            </a:r>
          </a:p>
        </p:txBody>
      </p:sp>
      <p:sp>
        <p:nvSpPr>
          <p:cNvPr id="53" name="文字_(6)根据上述实验该小组同学得出结论：制备Fe("/>
          <p:cNvSpPr txBox="1"/>
          <p:nvPr/>
        </p:nvSpPr>
        <p:spPr>
          <a:xfrm>
            <a:off x="6263640" y="5253296"/>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(6)根据上述实验该小组同学得出结论：制备Fe(OH)₂时能较</a:t>
            </a:r>
          </a:p>
          <a:p>
            <a:pPr>
              <a:lnSpc>
                <a:spcPct val="112000"/>
              </a:lnSpc>
              <a:spcBef>
                <a:spcPts val="0"/>
              </a:spcBef>
              <a:spcAft>
                <a:spcPts val="0"/>
              </a:spcAft>
              <a:defRPr sz="1600" b="0">
                <a:solidFill>
                  <a:srgbClr val="333333"/>
                </a:solidFill>
                <a:latin typeface="微软雅黑"/>
              </a:defRPr>
            </a:pPr>
            <a:r>
              <a:rPr>
                <a:ea typeface="微软雅黑"/>
              </a:rPr>
              <a:t>长时间观察到白色沉淀的适宜的条件和操作为，并除去溶液</a:t>
            </a:r>
          </a:p>
          <a:p>
            <a:pPr>
              <a:lnSpc>
                <a:spcPct val="112000"/>
              </a:lnSpc>
              <a:spcBef>
                <a:spcPts val="0"/>
              </a:spcBef>
              <a:spcAft>
                <a:spcPts val="0"/>
              </a:spcAft>
              <a:defRPr sz="1600" b="0">
                <a:solidFill>
                  <a:srgbClr val="333333"/>
                </a:solidFill>
                <a:latin typeface="微软雅黑"/>
              </a:defRPr>
            </a:pPr>
            <a:r>
              <a:rPr>
                <a:ea typeface="微软雅黑"/>
              </a:rPr>
              <a:t>中的Fe³⁺和溶解O₂。</a:t>
            </a:r>
          </a:p>
        </p:txBody>
      </p:sp>
      <p:sp>
        <p:nvSpPr>
          <p:cNvPr id="54" name="文字_填空题  ·  09-06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09-062</a:t>
            </a:r>
          </a:p>
        </p:txBody>
      </p:sp>
      <p:sp>
        <p:nvSpPr>
          <p:cNvPr id="55" name="文字_7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Fe²+ · 巩固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Fe²+ · 巩固8</a:t>
            </a:r>
          </a:p>
        </p:txBody>
      </p:sp>
      <p:sp>
        <p:nvSpPr>
          <p:cNvPr id="5" name="文字_P20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P203</a:t>
            </a:r>
          </a:p>
        </p:txBody>
      </p:sp>
      <p:sp>
        <p:nvSpPr>
          <p:cNvPr id="6" name="文字_铁是人类较早使用的金属之一，FeSO₄和FeCl"/>
          <p:cNvSpPr txBox="1"/>
          <p:nvPr/>
        </p:nvSpPr>
        <p:spPr>
          <a:xfrm>
            <a:off x="502920" y="1078992"/>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铁是人类较早使用的金属之一，FeSO₄和FeCl₃是重要的化</a:t>
            </a:r>
          </a:p>
          <a:p>
            <a:pPr>
              <a:lnSpc>
                <a:spcPct val="112000"/>
              </a:lnSpc>
              <a:spcBef>
                <a:spcPts val="0"/>
              </a:spcBef>
              <a:spcAft>
                <a:spcPts val="0"/>
              </a:spcAft>
              <a:defRPr sz="1600" b="0">
                <a:solidFill>
                  <a:srgbClr val="333333"/>
                </a:solidFill>
                <a:latin typeface="微软雅黑"/>
              </a:defRPr>
            </a:pPr>
            <a:r>
              <a:rPr>
                <a:ea typeface="微软雅黑"/>
              </a:rPr>
              <a:t>工原料。</a:t>
            </a:r>
          </a:p>
        </p:txBody>
      </p:sp>
      <p:sp>
        <p:nvSpPr>
          <p:cNvPr id="7" name="文字_(I)硫酸亚铁晶体(FeSO₄·7H₂O)在医药"/>
          <p:cNvSpPr txBox="1"/>
          <p:nvPr/>
        </p:nvSpPr>
        <p:spPr>
          <a:xfrm>
            <a:off x="502920" y="1613408"/>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(I)硫酸亚铁晶体(FeSO₄·7H₂O)在医药上可作补血剂。</a:t>
            </a:r>
          </a:p>
        </p:txBody>
      </p:sp>
      <p:sp>
        <p:nvSpPr>
          <p:cNvPr id="8" name="文字_(1)为防止FeSO₄溶液变质，应在溶液中加入少"/>
          <p:cNvSpPr txBox="1"/>
          <p:nvPr/>
        </p:nvSpPr>
        <p:spPr>
          <a:xfrm>
            <a:off x="502920" y="1906016"/>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(1)为防止FeSO₄溶液变质，应在溶液中加入少量 ______ (填</a:t>
            </a:r>
          </a:p>
          <a:p>
            <a:pPr>
              <a:lnSpc>
                <a:spcPct val="112000"/>
              </a:lnSpc>
              <a:spcBef>
                <a:spcPts val="0"/>
              </a:spcBef>
              <a:spcAft>
                <a:spcPts val="0"/>
              </a:spcAft>
              <a:defRPr sz="1600" b="0">
                <a:solidFill>
                  <a:srgbClr val="333333"/>
                </a:solidFill>
                <a:latin typeface="微软雅黑"/>
              </a:defRPr>
            </a:pPr>
            <a:r>
              <a:rPr>
                <a:ea typeface="微软雅黑"/>
              </a:rPr>
              <a:t>标号，下同)；向FeSO₄溶液加入 ______ 可验证该溶液是否</a:t>
            </a:r>
          </a:p>
          <a:p>
            <a:pPr>
              <a:lnSpc>
                <a:spcPct val="112000"/>
              </a:lnSpc>
              <a:spcBef>
                <a:spcPts val="0"/>
              </a:spcBef>
              <a:spcAft>
                <a:spcPts val="0"/>
              </a:spcAft>
              <a:defRPr sz="1600" b="0">
                <a:solidFill>
                  <a:srgbClr val="333333"/>
                </a:solidFill>
                <a:latin typeface="微软雅黑"/>
              </a:defRPr>
            </a:pPr>
            <a:r>
              <a:rPr>
                <a:ea typeface="微软雅黑"/>
              </a:rPr>
              <a:t>变质。</a:t>
            </a:r>
          </a:p>
        </p:txBody>
      </p:sp>
      <p:sp>
        <p:nvSpPr>
          <p:cNvPr id="9" name="文字_A.铜片"/>
          <p:cNvSpPr txBox="1"/>
          <p:nvPr/>
        </p:nvSpPr>
        <p:spPr>
          <a:xfrm>
            <a:off x="502920" y="2682240"/>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A.铜片</a:t>
            </a:r>
          </a:p>
        </p:txBody>
      </p:sp>
      <p:sp>
        <p:nvSpPr>
          <p:cNvPr id="10" name="文字_B.KSCN溶液"/>
          <p:cNvSpPr txBox="1"/>
          <p:nvPr/>
        </p:nvSpPr>
        <p:spPr>
          <a:xfrm>
            <a:off x="502920" y="2974847"/>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B.KSCN溶液</a:t>
            </a:r>
          </a:p>
        </p:txBody>
      </p:sp>
      <p:sp>
        <p:nvSpPr>
          <p:cNvPr id="11" name="文字_C.氯气"/>
          <p:cNvSpPr txBox="1"/>
          <p:nvPr/>
        </p:nvSpPr>
        <p:spPr>
          <a:xfrm>
            <a:off x="502920" y="3267455"/>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C.氯气</a:t>
            </a:r>
          </a:p>
        </p:txBody>
      </p:sp>
      <p:sp>
        <p:nvSpPr>
          <p:cNvPr id="12" name="文字_D. 铁粉"/>
          <p:cNvSpPr txBox="1"/>
          <p:nvPr/>
        </p:nvSpPr>
        <p:spPr>
          <a:xfrm>
            <a:off x="502920" y="3560063"/>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D. 铁粉</a:t>
            </a:r>
          </a:p>
        </p:txBody>
      </p:sp>
      <p:sp>
        <p:nvSpPr>
          <p:cNvPr id="13" name="文字_(2)该补血剂与维生素C同时服用，有利于Fe²⁺"/>
          <p:cNvSpPr txBox="1"/>
          <p:nvPr/>
        </p:nvSpPr>
        <p:spPr>
          <a:xfrm>
            <a:off x="502920" y="3852671"/>
            <a:ext cx="5376672" cy="1259839"/>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(2)该补血剂与维生素C同时服用，有利于Fe²⁺的吸收。某同</a:t>
            </a:r>
          </a:p>
          <a:p>
            <a:pPr>
              <a:lnSpc>
                <a:spcPct val="112000"/>
              </a:lnSpc>
              <a:spcBef>
                <a:spcPts val="0"/>
              </a:spcBef>
              <a:spcAft>
                <a:spcPts val="0"/>
              </a:spcAft>
              <a:defRPr sz="1600" b="0">
                <a:solidFill>
                  <a:srgbClr val="333333"/>
                </a:solidFill>
                <a:latin typeface="微软雅黑"/>
              </a:defRPr>
            </a:pPr>
            <a:r>
              <a:rPr>
                <a:ea typeface="微软雅黑"/>
              </a:rPr>
              <a:t>学设计如下实验探究维生素C的作用：取少量Fe₂(SO₄)₃溶</a:t>
            </a:r>
          </a:p>
          <a:p>
            <a:pPr>
              <a:lnSpc>
                <a:spcPct val="112000"/>
              </a:lnSpc>
              <a:spcBef>
                <a:spcPts val="0"/>
              </a:spcBef>
              <a:spcAft>
                <a:spcPts val="0"/>
              </a:spcAft>
              <a:defRPr sz="1600" b="0">
                <a:solidFill>
                  <a:srgbClr val="333333"/>
                </a:solidFill>
                <a:latin typeface="微软雅黑"/>
              </a:defRPr>
            </a:pPr>
            <a:r>
              <a:rPr>
                <a:ea typeface="微软雅黑"/>
              </a:rPr>
              <a:t>液于试管中，加入维生素C片2片，振荡溶解，再滴加铁氰化</a:t>
            </a:r>
          </a:p>
          <a:p>
            <a:pPr>
              <a:lnSpc>
                <a:spcPct val="112000"/>
              </a:lnSpc>
              <a:spcBef>
                <a:spcPts val="0"/>
              </a:spcBef>
              <a:spcAft>
                <a:spcPts val="0"/>
              </a:spcAft>
              <a:defRPr sz="1600" b="0">
                <a:solidFill>
                  <a:srgbClr val="333333"/>
                </a:solidFill>
                <a:latin typeface="微软雅黑"/>
              </a:defRPr>
            </a:pPr>
            <a:r>
              <a:rPr>
                <a:ea typeface="微软雅黑"/>
              </a:rPr>
              <a:t>钾溶液，溶液出现蓝色沉淀，由此得出结论是 ______ 。(已</a:t>
            </a:r>
          </a:p>
          <a:p>
            <a:pPr>
              <a:lnSpc>
                <a:spcPct val="112000"/>
              </a:lnSpc>
              <a:spcBef>
                <a:spcPts val="0"/>
              </a:spcBef>
              <a:spcAft>
                <a:spcPts val="0"/>
              </a:spcAft>
              <a:defRPr sz="1600" b="0">
                <a:solidFill>
                  <a:srgbClr val="333333"/>
                </a:solidFill>
                <a:latin typeface="微软雅黑"/>
              </a:defRPr>
            </a:pPr>
            <a:r>
              <a:rPr>
                <a:ea typeface="微软雅黑"/>
              </a:rPr>
              <a:t>知：Fe²⁺遇铁氰化钾溶液产生蓝色沉淀)</a:t>
            </a:r>
          </a:p>
        </p:txBody>
      </p:sp>
      <p:sp>
        <p:nvSpPr>
          <p:cNvPr id="14" name="文字_(II)氯化铁溶液可用于腐蚀印刷电路板上的铜，某"/>
          <p:cNvSpPr txBox="1"/>
          <p:nvPr/>
        </p:nvSpPr>
        <p:spPr>
          <a:xfrm>
            <a:off x="502920" y="5112511"/>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(II)氯化铁溶液可用于腐蚀印刷电路板上的铜，某腐蚀后的废</a:t>
            </a:r>
          </a:p>
          <a:p>
            <a:pPr>
              <a:lnSpc>
                <a:spcPct val="112000"/>
              </a:lnSpc>
              <a:spcBef>
                <a:spcPts val="0"/>
              </a:spcBef>
              <a:spcAft>
                <a:spcPts val="0"/>
              </a:spcAft>
              <a:defRPr sz="1600" b="0">
                <a:solidFill>
                  <a:srgbClr val="333333"/>
                </a:solidFill>
                <a:latin typeface="微软雅黑"/>
              </a:defRPr>
            </a:pPr>
            <a:r>
              <a:rPr>
                <a:ea typeface="微软雅黑"/>
              </a:rPr>
              <a:t>液中含有FeCl₃、FeCl₂和CuCl₂，且c(Fe³⁺)=c(Fe²⁺)。</a:t>
            </a:r>
          </a:p>
        </p:txBody>
      </p:sp>
      <p:sp>
        <p:nvSpPr>
          <p:cNvPr id="15" name="文字_(3) 从废液中可回收铜，并获得FeCl₃溶液，"/>
          <p:cNvSpPr txBox="1"/>
          <p:nvPr/>
        </p:nvSpPr>
        <p:spPr>
          <a:xfrm>
            <a:off x="502920" y="5646927"/>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 从废液中可回收铜，并获得FeCl₃溶液，设计如下方案:</a:t>
            </a:r>
          </a:p>
        </p:txBody>
      </p:sp>
      <p:pic>
        <p:nvPicPr>
          <p:cNvPr id="16" name="Picture 15" descr="image.png"/>
          <p:cNvPicPr>
            <a:picLocks noChangeAspect="1"/>
          </p:cNvPicPr>
          <p:nvPr/>
        </p:nvPicPr>
        <p:blipFill>
          <a:blip r:embed="rId3"/>
          <a:stretch>
            <a:fillRect/>
          </a:stretch>
        </p:blipFill>
        <p:spPr>
          <a:xfrm>
            <a:off x="6263640" y="1078992"/>
            <a:ext cx="5376672" cy="911615"/>
          </a:xfrm>
          <a:prstGeom prst="rect">
            <a:avLst/>
          </a:prstGeom>
        </p:spPr>
      </p:pic>
      <p:sp>
        <p:nvSpPr>
          <p:cNvPr id="17" name="原题文字_203_22"/>
          <p:cNvSpPr txBox="1"/>
          <p:nvPr/>
        </p:nvSpPr>
        <p:spPr>
          <a:xfrm>
            <a:off x="7365020" y="1091195"/>
            <a:ext cx="553461"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过量铁粉</a:t>
            </a:r>
          </a:p>
        </p:txBody>
      </p:sp>
      <p:sp>
        <p:nvSpPr>
          <p:cNvPr id="18" name="原题文字_203_23"/>
          <p:cNvSpPr txBox="1"/>
          <p:nvPr/>
        </p:nvSpPr>
        <p:spPr>
          <a:xfrm>
            <a:off x="8998487" y="1139567"/>
            <a:ext cx="419510" cy="198322"/>
          </a:xfrm>
          <a:prstGeom prst="rect">
            <a:avLst/>
          </a:prstGeom>
          <a:noFill/>
        </p:spPr>
        <p:txBody>
          <a:bodyPr wrap="none" lIns="0" rIns="0" tIns="0" bIns="0">
            <a:spAutoFit/>
          </a:bodyPr>
          <a:lstStyle/>
          <a:p>
            <a:pPr>
              <a:lnSpc>
                <a:spcPct val="112000"/>
              </a:lnSpc>
              <a:spcBef>
                <a:spcPts val="0"/>
              </a:spcBef>
              <a:spcAft>
                <a:spcPts val="0"/>
              </a:spcAft>
              <a:defRPr sz="960" b="0">
                <a:solidFill>
                  <a:srgbClr val="333333"/>
                </a:solidFill>
                <a:latin typeface="微软雅黑"/>
              </a:defRPr>
            </a:pPr>
            <a:r>
              <a:rPr>
                <a:ea typeface="微软雅黑"/>
              </a:rPr>
              <a:t>物质X</a:t>
            </a:r>
          </a:p>
        </p:txBody>
      </p:sp>
      <p:sp>
        <p:nvSpPr>
          <p:cNvPr id="19" name="原题文字_203_24"/>
          <p:cNvSpPr txBox="1"/>
          <p:nvPr/>
        </p:nvSpPr>
        <p:spPr>
          <a:xfrm>
            <a:off x="9136159" y="1284681"/>
            <a:ext cx="144165"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a:t>
            </a:r>
          </a:p>
        </p:txBody>
      </p:sp>
      <p:sp>
        <p:nvSpPr>
          <p:cNvPr id="20" name="原题文字_203_25"/>
          <p:cNvSpPr txBox="1"/>
          <p:nvPr/>
        </p:nvSpPr>
        <p:spPr>
          <a:xfrm>
            <a:off x="6591077" y="1440958"/>
            <a:ext cx="918108" cy="203160"/>
          </a:xfrm>
          <a:prstGeom prst="rect">
            <a:avLst/>
          </a:prstGeom>
          <a:noFill/>
        </p:spPr>
        <p:txBody>
          <a:bodyPr wrap="none" lIns="0" rIns="0" tIns="0" bIns="0">
            <a:spAutoFit/>
          </a:bodyPr>
          <a:lstStyle/>
          <a:p>
            <a:pPr>
              <a:lnSpc>
                <a:spcPct val="112000"/>
              </a:lnSpc>
              <a:spcBef>
                <a:spcPts val="0"/>
              </a:spcBef>
              <a:spcAft>
                <a:spcPts val="0"/>
              </a:spcAft>
              <a:defRPr sz="984" b="0">
                <a:solidFill>
                  <a:srgbClr val="333333"/>
                </a:solidFill>
                <a:latin typeface="微软雅黑"/>
              </a:defRPr>
            </a:pPr>
            <a:r>
              <a:rPr>
                <a:ea typeface="微软雅黑"/>
              </a:rPr>
              <a:t>腐蚀废液</a:t>
            </a:r>
          </a:p>
        </p:txBody>
      </p:sp>
      <p:sp>
        <p:nvSpPr>
          <p:cNvPr id="21" name="原题文字_203_26"/>
          <p:cNvSpPr txBox="1"/>
          <p:nvPr/>
        </p:nvSpPr>
        <p:spPr>
          <a:xfrm>
            <a:off x="7498972" y="1455841"/>
            <a:ext cx="393464" cy="193485"/>
          </a:xfrm>
          <a:prstGeom prst="rect">
            <a:avLst/>
          </a:prstGeom>
          <a:noFill/>
        </p:spPr>
        <p:txBody>
          <a:bodyPr wrap="none" lIns="0" rIns="0" tIns="0" bIns="0">
            <a:spAutoFit/>
          </a:bodyPr>
          <a:lstStyle/>
          <a:p>
            <a:pPr>
              <a:lnSpc>
                <a:spcPct val="112000"/>
              </a:lnSpc>
              <a:spcBef>
                <a:spcPts val="0"/>
              </a:spcBef>
              <a:spcAft>
                <a:spcPts val="0"/>
              </a:spcAft>
              <a:defRPr sz="937" b="0">
                <a:solidFill>
                  <a:srgbClr val="333333"/>
                </a:solidFill>
                <a:latin typeface="微软雅黑"/>
              </a:defRPr>
            </a:pPr>
            <a:r>
              <a:rPr>
                <a:ea typeface="微软雅黑"/>
              </a:rPr>
              <a:t>反应1</a:t>
            </a:r>
          </a:p>
        </p:txBody>
      </p:sp>
      <p:sp>
        <p:nvSpPr>
          <p:cNvPr id="22" name="原题文字_203_27"/>
          <p:cNvSpPr txBox="1"/>
          <p:nvPr/>
        </p:nvSpPr>
        <p:spPr>
          <a:xfrm>
            <a:off x="8217102" y="1440958"/>
            <a:ext cx="404626" cy="203160"/>
          </a:xfrm>
          <a:prstGeom prst="rect">
            <a:avLst/>
          </a:prstGeom>
          <a:noFill/>
        </p:spPr>
        <p:txBody>
          <a:bodyPr wrap="none" lIns="0" rIns="0" tIns="0" bIns="0">
            <a:spAutoFit/>
          </a:bodyPr>
          <a:lstStyle/>
          <a:p>
            <a:pPr>
              <a:lnSpc>
                <a:spcPct val="112000"/>
              </a:lnSpc>
              <a:spcBef>
                <a:spcPts val="0"/>
              </a:spcBef>
              <a:spcAft>
                <a:spcPts val="0"/>
              </a:spcAft>
              <a:defRPr sz="984" b="0">
                <a:solidFill>
                  <a:srgbClr val="333333"/>
                </a:solidFill>
                <a:latin typeface="微软雅黑"/>
              </a:defRPr>
            </a:pPr>
            <a:r>
              <a:rPr>
                <a:ea typeface="微软雅黑"/>
              </a:rPr>
              <a:t>操作1</a:t>
            </a:r>
          </a:p>
        </p:txBody>
      </p:sp>
      <p:sp>
        <p:nvSpPr>
          <p:cNvPr id="23" name="原题文字_203_28"/>
          <p:cNvSpPr txBox="1"/>
          <p:nvPr/>
        </p:nvSpPr>
        <p:spPr>
          <a:xfrm>
            <a:off x="8979882" y="1459562"/>
            <a:ext cx="389743"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反应2</a:t>
            </a:r>
          </a:p>
        </p:txBody>
      </p:sp>
      <p:sp>
        <p:nvSpPr>
          <p:cNvPr id="24" name="原题文字_203_29"/>
          <p:cNvSpPr txBox="1"/>
          <p:nvPr/>
        </p:nvSpPr>
        <p:spPr>
          <a:xfrm>
            <a:off x="9430109" y="1444679"/>
            <a:ext cx="892062"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FeCl₃溶液</a:t>
            </a:r>
          </a:p>
        </p:txBody>
      </p:sp>
      <p:sp>
        <p:nvSpPr>
          <p:cNvPr id="25" name="原题文字_203_30"/>
          <p:cNvSpPr txBox="1"/>
          <p:nvPr/>
        </p:nvSpPr>
        <p:spPr>
          <a:xfrm>
            <a:off x="9158484" y="1653048"/>
            <a:ext cx="118118" cy="111254"/>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4</a:t>
            </a:r>
          </a:p>
        </p:txBody>
      </p:sp>
      <p:sp>
        <p:nvSpPr>
          <p:cNvPr id="26" name="原题文字_203_31"/>
          <p:cNvSpPr txBox="1"/>
          <p:nvPr/>
        </p:nvSpPr>
        <p:spPr>
          <a:xfrm>
            <a:off x="8243148" y="1827929"/>
            <a:ext cx="449277"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滤渣a-</a:t>
            </a:r>
          </a:p>
        </p:txBody>
      </p:sp>
      <p:sp>
        <p:nvSpPr>
          <p:cNvPr id="27" name="原题文字_203_32"/>
          <p:cNvSpPr txBox="1"/>
          <p:nvPr/>
        </p:nvSpPr>
        <p:spPr>
          <a:xfrm>
            <a:off x="9471038" y="1816767"/>
            <a:ext cx="237187"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Cu</a:t>
            </a:r>
          </a:p>
        </p:txBody>
      </p:sp>
      <p:sp>
        <p:nvSpPr>
          <p:cNvPr id="28" name="文字_①滤渣a为"/>
          <p:cNvSpPr txBox="1"/>
          <p:nvPr/>
        </p:nvSpPr>
        <p:spPr>
          <a:xfrm>
            <a:off x="6263640" y="2063759"/>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①滤渣a为</a:t>
            </a:r>
          </a:p>
        </p:txBody>
      </p:sp>
      <p:sp>
        <p:nvSpPr>
          <p:cNvPr id="29" name="文字_②物质X为 ______ O"/>
          <p:cNvSpPr txBox="1"/>
          <p:nvPr/>
        </p:nvSpPr>
        <p:spPr>
          <a:xfrm>
            <a:off x="6263640" y="2356367"/>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②物质X为 ______ O</a:t>
            </a:r>
          </a:p>
        </p:txBody>
      </p:sp>
      <p:sp>
        <p:nvSpPr>
          <p:cNvPr id="30" name="文字_A.HCl"/>
          <p:cNvSpPr txBox="1"/>
          <p:nvPr/>
        </p:nvSpPr>
        <p:spPr>
          <a:xfrm>
            <a:off x="6263640" y="2648975"/>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A.HCl</a:t>
            </a:r>
          </a:p>
        </p:txBody>
      </p:sp>
      <p:sp>
        <p:nvSpPr>
          <p:cNvPr id="31" name="文字_B.酸性KMnO₄溶液 C.Cl₂"/>
          <p:cNvSpPr txBox="1"/>
          <p:nvPr/>
        </p:nvSpPr>
        <p:spPr>
          <a:xfrm>
            <a:off x="6263640" y="2941583"/>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B.酸性KMnO₄溶液 C.Cl₂</a:t>
            </a:r>
          </a:p>
        </p:txBody>
      </p:sp>
      <p:sp>
        <p:nvSpPr>
          <p:cNvPr id="32" name="文字_(4) 取该废液20mL并加入mg铁粉，充分反应"/>
          <p:cNvSpPr txBox="1"/>
          <p:nvPr/>
        </p:nvSpPr>
        <p:spPr>
          <a:xfrm>
            <a:off x="6263640" y="3234191"/>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(4) 取该废液20mL并加入mg铁粉，充分反应。</a:t>
            </a:r>
          </a:p>
        </p:txBody>
      </p:sp>
      <p:sp>
        <p:nvSpPr>
          <p:cNvPr id="33" name="文字_①对反应后的溶液分析错误的是"/>
          <p:cNvSpPr txBox="1"/>
          <p:nvPr/>
        </p:nvSpPr>
        <p:spPr>
          <a:xfrm>
            <a:off x="6263640" y="3526799"/>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①对反应后的溶液分析错误的是</a:t>
            </a:r>
          </a:p>
        </p:txBody>
      </p:sp>
      <p:sp>
        <p:nvSpPr>
          <p:cNvPr id="34" name="文字_A.溶液中一定含有Fe²⁺"/>
          <p:cNvSpPr txBox="1"/>
          <p:nvPr/>
        </p:nvSpPr>
        <p:spPr>
          <a:xfrm>
            <a:off x="6263640" y="3819407"/>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A.溶液中一定含有Fe²⁺</a:t>
            </a:r>
          </a:p>
        </p:txBody>
      </p:sp>
      <p:sp>
        <p:nvSpPr>
          <p:cNvPr id="35" name="文字_B.若有固体剩余，则固体中一定含有铁"/>
          <p:cNvSpPr txBox="1"/>
          <p:nvPr/>
        </p:nvSpPr>
        <p:spPr>
          <a:xfrm>
            <a:off x="6263640" y="4112015"/>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B.若有固体剩余，则固体中一定含有铁</a:t>
            </a:r>
          </a:p>
        </p:txBody>
      </p:sp>
      <p:sp>
        <p:nvSpPr>
          <p:cNvPr id="36" name="文字_C.若溶液中有Cu²⁺，则可能有固体析出"/>
          <p:cNvSpPr txBox="1"/>
          <p:nvPr/>
        </p:nvSpPr>
        <p:spPr>
          <a:xfrm>
            <a:off x="6263640" y="4404623"/>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C.若溶液中有Cu²⁺，则可能有固体析出</a:t>
            </a:r>
          </a:p>
        </p:txBody>
      </p:sp>
      <p:sp>
        <p:nvSpPr>
          <p:cNvPr id="37" name="文字_D.溶液若有Fe³⁺剩余，则一定没有固体析出"/>
          <p:cNvSpPr txBox="1"/>
          <p:nvPr/>
        </p:nvSpPr>
        <p:spPr>
          <a:xfrm>
            <a:off x="6263640" y="4697231"/>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D.溶液若有Fe³⁺剩余，则一定没有固体析出</a:t>
            </a:r>
          </a:p>
        </p:txBody>
      </p:sp>
      <p:sp>
        <p:nvSpPr>
          <p:cNvPr id="38" name="文字_②若m=2.72，则充分反应后得到20mL₃.0"/>
          <p:cNvSpPr txBox="1"/>
          <p:nvPr/>
        </p:nvSpPr>
        <p:spPr>
          <a:xfrm>
            <a:off x="6263640" y="4989839"/>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②若m=2.72，则充分反应后得到20mL₃.0mol/L氯化亚铁</a:t>
            </a:r>
          </a:p>
          <a:p>
            <a:pPr>
              <a:lnSpc>
                <a:spcPct val="112000"/>
              </a:lnSpc>
              <a:spcBef>
                <a:spcPts val="0"/>
              </a:spcBef>
              <a:spcAft>
                <a:spcPts val="0"/>
              </a:spcAft>
              <a:defRPr sz="1600" b="0">
                <a:solidFill>
                  <a:srgbClr val="333333"/>
                </a:solidFill>
                <a:latin typeface="微软雅黑"/>
              </a:defRPr>
            </a:pPr>
            <a:r>
              <a:rPr>
                <a:ea typeface="微软雅黑"/>
              </a:rPr>
              <a:t>溶液和2.24g固体混合物。则原废液中Fe³⁺的物质的量浓度</a:t>
            </a:r>
          </a:p>
          <a:p>
            <a:pPr>
              <a:lnSpc>
                <a:spcPct val="112000"/>
              </a:lnSpc>
              <a:spcBef>
                <a:spcPts val="0"/>
              </a:spcBef>
              <a:spcAft>
                <a:spcPts val="0"/>
              </a:spcAft>
              <a:defRPr sz="1600" b="0">
                <a:solidFill>
                  <a:srgbClr val="333333"/>
                </a:solidFill>
                <a:latin typeface="微软雅黑"/>
              </a:defRPr>
            </a:pPr>
            <a:r>
              <a:rPr>
                <a:ea typeface="微软雅黑"/>
              </a:rPr>
              <a:t>为</a:t>
            </a:r>
          </a:p>
        </p:txBody>
      </p:sp>
      <p:sp>
        <p:nvSpPr>
          <p:cNvPr id="39" name="文字_解答题  ·  09-06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09-063</a:t>
            </a:r>
          </a:p>
        </p:txBody>
      </p:sp>
      <p:sp>
        <p:nvSpPr>
          <p:cNvPr id="40" name="文字_7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7"/>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07</a:t>
            </a:r>
          </a:p>
        </p:txBody>
      </p:sp>
      <p:sp>
        <p:nvSpPr>
          <p:cNvPr id="4" name="文字_铁的计算要点"/>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铁的计算要点</a:t>
            </a:r>
          </a:p>
        </p:txBody>
      </p:sp>
      <p:sp>
        <p:nvSpPr>
          <p:cNvPr id="5" name="文字_知识梳理 · 讲义 P204"/>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铁的计算要点"/>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铁的计算要点</a:t>
            </a:r>
          </a:p>
        </p:txBody>
      </p:sp>
      <p:sp>
        <p:nvSpPr>
          <p:cNvPr id="5" name="文字_知识讲解 · P20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P204</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与稀硝酸：硝酸不足生成 Fe²⁺，硝酸过量生成 "/>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与稀硝酸：硝酸不足生成 Fe²⁺，硝酸过量生成 Fe³⁺；也可混合生成 Fe²⁺ 与 </a:t>
            </a:r>
          </a:p>
          <a:p>
            <a:pPr>
              <a:lnSpc>
                <a:spcPct val="112000"/>
              </a:lnSpc>
              <a:spcBef>
                <a:spcPts val="0"/>
              </a:spcBef>
              <a:spcAft>
                <a:spcPts val="0"/>
              </a:spcAft>
              <a:defRPr sz="2400" b="0">
                <a:solidFill>
                  <a:srgbClr val="333333"/>
                </a:solidFill>
                <a:latin typeface="微软雅黑"/>
              </a:defRPr>
            </a:pPr>
            <a:r>
              <a:rPr>
                <a:ea typeface="微软雅黑"/>
              </a:rPr>
              <a:t>Fe³⁺ 共存。</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用极限法讨论：n(Fe)/n(HNO₃) ≤ 1"/>
          <p:cNvSpPr txBox="1"/>
          <p:nvPr/>
        </p:nvSpPr>
        <p:spPr>
          <a:xfrm>
            <a:off x="722376" y="2727960"/>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用极限法讨论：n(Fe)/n(HNO₃) ≤ 1/4 完全生成 Fe³⁺；≥ 3/8 完全生成 Fe²⁺</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0" name="Rectangle 9"/>
          <p:cNvSpPr/>
          <p:nvPr/>
        </p:nvSpPr>
        <p:spPr>
          <a:xfrm>
            <a:off x="512064" y="376428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与 CuCl₂、FeCl₃ 混合溶液加铁：先 F"/>
          <p:cNvSpPr txBox="1"/>
          <p:nvPr/>
        </p:nvSpPr>
        <p:spPr>
          <a:xfrm>
            <a:off x="722376" y="368198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 CuCl₂、FeCl₃ 混合溶液加铁：先 Fe³⁺ 后 Cu²⁺；固体成分与滤液成分对应</a:t>
            </a:r>
          </a:p>
          <a:p>
            <a:pPr>
              <a:lnSpc>
                <a:spcPct val="112000"/>
              </a:lnSpc>
              <a:spcBef>
                <a:spcPts val="0"/>
              </a:spcBef>
              <a:spcAft>
                <a:spcPts val="0"/>
              </a:spcAft>
              <a:defRPr sz="2400" b="0">
                <a:solidFill>
                  <a:srgbClr val="333333"/>
                </a:solidFill>
                <a:latin typeface="微软雅黑"/>
              </a:defRPr>
            </a:pPr>
            <a:r>
              <a:rPr>
                <a:ea typeface="微软雅黑"/>
              </a:rPr>
              <a:t>判断。</a:t>
            </a:r>
          </a:p>
        </p:txBody>
      </p:sp>
      <p:sp>
        <p:nvSpPr>
          <p:cNvPr id="12" name="Rectangle 11"/>
          <p:cNvSpPr/>
          <p:nvPr/>
        </p:nvSpPr>
        <p:spPr>
          <a:xfrm>
            <a:off x="512064" y="471830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氧化还原计算优先用电子守恒：失电子总数 = 得电"/>
          <p:cNvSpPr txBox="1"/>
          <p:nvPr/>
        </p:nvSpPr>
        <p:spPr>
          <a:xfrm>
            <a:off x="722376" y="463600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氧化还原计算优先用电子守恒：失电子总数 = 得电子总数。</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铁与硝酸反应后若铁有剩余，溶液中一定只有"/>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铁与硝酸反应后若铁有剩余，溶液中一定只有 Fe²⁺。</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例题1</a:t>
            </a:r>
          </a:p>
        </p:txBody>
      </p:sp>
      <p:sp>
        <p:nvSpPr>
          <p:cNvPr id="5" name="文字_P20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P204</a:t>
            </a:r>
          </a:p>
        </p:txBody>
      </p:sp>
      <p:sp>
        <p:nvSpPr>
          <p:cNvPr id="6" name="文字_在浓度均为3mol/L的盐酸和硫酸各100mL溶"/>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在浓度均为3mol/L的盐酸和硫酸各100mL溶液中，分别加入等质量的铁粉，充分</a:t>
            </a:r>
          </a:p>
          <a:p>
            <a:pPr>
              <a:lnSpc>
                <a:spcPct val="112000"/>
              </a:lnSpc>
              <a:spcBef>
                <a:spcPts val="0"/>
              </a:spcBef>
              <a:spcAft>
                <a:spcPts val="0"/>
              </a:spcAft>
              <a:defRPr sz="2400" b="0">
                <a:solidFill>
                  <a:srgbClr val="333333"/>
                </a:solidFill>
                <a:latin typeface="微软雅黑"/>
              </a:defRPr>
            </a:pPr>
            <a:r>
              <a:rPr>
                <a:ea typeface="微软雅黑"/>
              </a:rPr>
              <a:t>反应后生成气体质量之比为3：4。则加入铁粉的质量是</a:t>
            </a:r>
          </a:p>
        </p:txBody>
      </p:sp>
      <p:sp>
        <p:nvSpPr>
          <p:cNvPr id="7" name="文字_A. 1.8 g"/>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1.8 g</a:t>
            </a:r>
          </a:p>
        </p:txBody>
      </p:sp>
      <p:sp>
        <p:nvSpPr>
          <p:cNvPr id="8" name="文字_B. 11.2 g"/>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11.2 g</a:t>
            </a:r>
          </a:p>
        </p:txBody>
      </p:sp>
      <p:sp>
        <p:nvSpPr>
          <p:cNvPr id="9" name="文字_C. 5.6 g"/>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5.6 g</a:t>
            </a:r>
          </a:p>
        </p:txBody>
      </p:sp>
      <p:sp>
        <p:nvSpPr>
          <p:cNvPr id="10" name="文字_D. 8.4 g"/>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8.4 g</a:t>
            </a:r>
          </a:p>
        </p:txBody>
      </p:sp>
      <p:sp>
        <p:nvSpPr>
          <p:cNvPr id="11" name="文字_单选题  ·  09-06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09-064</a:t>
            </a:r>
          </a:p>
        </p:txBody>
      </p:sp>
      <p:sp>
        <p:nvSpPr>
          <p:cNvPr id="12" name="文字_8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例题2</a:t>
            </a:r>
          </a:p>
        </p:txBody>
      </p:sp>
      <p:sp>
        <p:nvSpPr>
          <p:cNvPr id="5" name="文字_P20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P204</a:t>
            </a:r>
          </a:p>
        </p:txBody>
      </p:sp>
      <p:sp>
        <p:nvSpPr>
          <p:cNvPr id="6" name="文字_向200mL₀.1mo/L的FeCl₂溶液中加入"/>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向200mL₀.1mo/L的FeCl₂溶液中加入适量的NaOH溶液，使Fe²⁺恰好完全沉淀，</a:t>
            </a:r>
          </a:p>
          <a:p>
            <a:pPr>
              <a:lnSpc>
                <a:spcPct val="112000"/>
              </a:lnSpc>
              <a:spcBef>
                <a:spcPts val="0"/>
              </a:spcBef>
              <a:spcAft>
                <a:spcPts val="0"/>
              </a:spcAft>
              <a:defRPr sz="2400" b="0">
                <a:solidFill>
                  <a:srgbClr val="333333"/>
                </a:solidFill>
                <a:latin typeface="微软雅黑"/>
              </a:defRPr>
            </a:pPr>
            <a:r>
              <a:rPr>
                <a:ea typeface="微软雅黑"/>
              </a:rPr>
              <a:t>过滤，小心加热沉淀，直到水分蒸干，再充分灼烧后得到固体的质量为（）</a:t>
            </a:r>
          </a:p>
        </p:txBody>
      </p:sp>
      <p:sp>
        <p:nvSpPr>
          <p:cNvPr id="7" name="文字_A. 1.44g"/>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1.44g</a:t>
            </a:r>
          </a:p>
        </p:txBody>
      </p:sp>
      <p:sp>
        <p:nvSpPr>
          <p:cNvPr id="8" name="文字_B. 1.6g"/>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1.6g</a:t>
            </a:r>
          </a:p>
        </p:txBody>
      </p:sp>
      <p:sp>
        <p:nvSpPr>
          <p:cNvPr id="9" name="文字_C. 1.8g"/>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1.8g</a:t>
            </a:r>
          </a:p>
        </p:txBody>
      </p:sp>
      <p:sp>
        <p:nvSpPr>
          <p:cNvPr id="10" name="文字_D. 2.14g"/>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2.14g</a:t>
            </a:r>
          </a:p>
        </p:txBody>
      </p:sp>
      <p:sp>
        <p:nvSpPr>
          <p:cNvPr id="11" name="文字_单选题  ·  09-06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09-065</a:t>
            </a:r>
          </a:p>
        </p:txBody>
      </p:sp>
      <p:sp>
        <p:nvSpPr>
          <p:cNvPr id="12" name="文字_8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例题3</a:t>
            </a:r>
          </a:p>
        </p:txBody>
      </p:sp>
      <p:sp>
        <p:nvSpPr>
          <p:cNvPr id="5" name="文字_P20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P204</a:t>
            </a:r>
          </a:p>
        </p:txBody>
      </p:sp>
      <p:sp>
        <p:nvSpPr>
          <p:cNvPr id="6" name="文字_测定某铁的氧化物(xFeO·yFe₂O₃)组成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测定某铁的氧化物(xFeO·yFe₂O₃)组成的实验如下：</a:t>
            </a:r>
          </a:p>
        </p:txBody>
      </p:sp>
      <p:sp>
        <p:nvSpPr>
          <p:cNvPr id="7" name="文字_步骤I：取3.04g该氧化物加足量盐酸溶解得到溶"/>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步骤I：取3.04g该氧化物加足量盐酸溶解得到溶液A</a:t>
            </a:r>
          </a:p>
        </p:txBody>
      </p:sp>
      <p:sp>
        <p:nvSpPr>
          <p:cNvPr id="8" name="文字_步骤II：向溶液A中通入标准状况下224mlCl"/>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步骤II：向溶液A中通入标准状况下224mlCl₂使之恰好完全反应得到溶液B</a:t>
            </a:r>
          </a:p>
        </p:txBody>
      </p:sp>
      <p:sp>
        <p:nvSpPr>
          <p:cNvPr id="9" name="文字_下列选项不正确的是"/>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下列选项不正确的是</a:t>
            </a:r>
          </a:p>
        </p:txBody>
      </p:sp>
      <p:sp>
        <p:nvSpPr>
          <p:cNvPr id="10" name="文字_A. 溶液A中c (Fe²⁺): c (Fe³⁺"/>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溶液A中c (Fe²⁺): c (Fe³⁺) = 1: 1</a:t>
            </a:r>
          </a:p>
        </p:txBody>
      </p:sp>
      <p:sp>
        <p:nvSpPr>
          <p:cNvPr id="11" name="文字_B. 溶液B中溶质的主要成分为FeCl₃"/>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溶液B中溶质的主要成分为FeCl₃</a:t>
            </a:r>
          </a:p>
        </p:txBody>
      </p:sp>
      <p:sp>
        <p:nvSpPr>
          <p:cNvPr id="12" name="文字_C. 该铁的氧化物中氧元素的质量分数约为26.3"/>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该铁的氧化物中氧元素的质量分数约为26.3%</a:t>
            </a:r>
          </a:p>
        </p:txBody>
      </p:sp>
      <p:sp>
        <p:nvSpPr>
          <p:cNvPr id="13" name="文字_D. 根据步骤I、II可以判断该氧化物组成为Fe"/>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根据步骤I、II可以判断该氧化物组成为FeO·Fe₂O₃</a:t>
            </a:r>
          </a:p>
        </p:txBody>
      </p:sp>
      <p:sp>
        <p:nvSpPr>
          <p:cNvPr id="14" name="文字_单选题  ·  09-06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09-066</a:t>
            </a:r>
          </a:p>
        </p:txBody>
      </p:sp>
      <p:sp>
        <p:nvSpPr>
          <p:cNvPr id="15" name="文字_8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例题4</a:t>
            </a:r>
          </a:p>
        </p:txBody>
      </p:sp>
      <p:sp>
        <p:nvSpPr>
          <p:cNvPr id="5" name="文字_P20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P204</a:t>
            </a:r>
          </a:p>
        </p:txBody>
      </p:sp>
      <p:sp>
        <p:nvSpPr>
          <p:cNvPr id="6" name="文字_实验室有一瓶部分被氧化的硫酸亚铁，为测定其被氧化"/>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实验室有一瓶部分被氧化的硫酸亚铁，为测定其被氧化程度，取10.0g样品溶于水</a:t>
            </a:r>
          </a:p>
          <a:p>
            <a:pPr>
              <a:lnSpc>
                <a:spcPct val="112000"/>
              </a:lnSpc>
              <a:spcBef>
                <a:spcPts val="0"/>
              </a:spcBef>
              <a:spcAft>
                <a:spcPts val="0"/>
              </a:spcAft>
              <a:defRPr sz="2400" b="0">
                <a:solidFill>
                  <a:srgbClr val="333333"/>
                </a:solidFill>
                <a:latin typeface="微软雅黑"/>
              </a:defRPr>
            </a:pPr>
            <a:r>
              <a:rPr>
                <a:ea typeface="微软雅黑"/>
              </a:rPr>
              <a:t>配成100mL溶液。取两份溶液各</a:t>
            </a:r>
          </a:p>
        </p:txBody>
      </p:sp>
      <p:sp>
        <p:nvSpPr>
          <p:cNvPr id="7" name="文字_10.0mL，第一份加入14.0mL₀.500m"/>
          <p:cNvSpPr txBox="1"/>
          <p:nvPr/>
        </p:nvSpPr>
        <p:spPr>
          <a:xfrm>
            <a:off x="502920" y="18806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10.0mL，第一份加入14.0mL₀.500mol·L-1BaCl₂溶液恰好完全反应；第二份恰好</a:t>
            </a:r>
          </a:p>
          <a:p>
            <a:pPr>
              <a:lnSpc>
                <a:spcPct val="112000"/>
              </a:lnSpc>
              <a:spcBef>
                <a:spcPts val="0"/>
              </a:spcBef>
              <a:spcAft>
                <a:spcPts val="0"/>
              </a:spcAft>
              <a:defRPr sz="2400" b="0">
                <a:solidFill>
                  <a:srgbClr val="333333"/>
                </a:solidFill>
                <a:latin typeface="微软雅黑"/>
              </a:defRPr>
            </a:pPr>
            <a:r>
              <a:rPr>
                <a:ea typeface="微软雅黑"/>
              </a:rPr>
              <a:t>与8.0mL₀.100mol·L-1的酸性KMnO₄溶液完全反应。</a:t>
            </a:r>
          </a:p>
        </p:txBody>
      </p:sp>
      <p:sp>
        <p:nvSpPr>
          <p:cNvPr id="8" name="文字_(1)100mL溶液中SO₂⁻的物质的量浓度是 "/>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(1)100mL溶液中SO₂⁻的物质的量浓度是 ______ mol·L-1。</a:t>
            </a:r>
          </a:p>
        </p:txBody>
      </p:sp>
      <p:sp>
        <p:nvSpPr>
          <p:cNvPr id="9" name="文字_(2)该样品中硫酸亚铁的质量分数是"/>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(2)该样品中硫酸亚铁的质量分数是</a:t>
            </a:r>
          </a:p>
        </p:txBody>
      </p:sp>
      <p:sp>
        <p:nvSpPr>
          <p:cNvPr id="10" name="文字_解答题  ·  09-06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09-067</a:t>
            </a:r>
          </a:p>
        </p:txBody>
      </p:sp>
      <p:sp>
        <p:nvSpPr>
          <p:cNvPr id="11" name="文字_8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例题1</a:t>
            </a:r>
          </a:p>
        </p:txBody>
      </p:sp>
      <p:sp>
        <p:nvSpPr>
          <p:cNvPr id="5" name="文字_P2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P205</a:t>
            </a:r>
          </a:p>
        </p:txBody>
      </p:sp>
      <p:sp>
        <p:nvSpPr>
          <p:cNvPr id="6" name="文字_将适量铁粉放入三氯化铁溶液中，完全反应后，溶液中"/>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将适量铁粉放入三氯化铁溶液中，完全反应后，溶液中的Fe³⁺和Fe²⁺浓度相等。</a:t>
            </a:r>
          </a:p>
          <a:p>
            <a:pPr>
              <a:lnSpc>
                <a:spcPct val="112000"/>
              </a:lnSpc>
              <a:spcBef>
                <a:spcPts val="0"/>
              </a:spcBef>
              <a:spcAft>
                <a:spcPts val="0"/>
              </a:spcAft>
              <a:defRPr sz="2400" b="0">
                <a:solidFill>
                  <a:srgbClr val="333333"/>
                </a:solidFill>
                <a:latin typeface="微软雅黑"/>
              </a:defRPr>
            </a:pPr>
            <a:r>
              <a:rPr>
                <a:ea typeface="微软雅黑"/>
              </a:rPr>
              <a:t>则已反应的Fe³⁺和未反应的Fe³⁺的物质的量之比是</a:t>
            </a:r>
          </a:p>
        </p:txBody>
      </p:sp>
      <p:sp>
        <p:nvSpPr>
          <p:cNvPr id="7" name="文字_A. 2 :3"/>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 :3</a:t>
            </a:r>
          </a:p>
        </p:txBody>
      </p:sp>
      <p:sp>
        <p:nvSpPr>
          <p:cNvPr id="8" name="文字_B. 3: 2"/>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3: 2</a:t>
            </a:r>
          </a:p>
        </p:txBody>
      </p:sp>
      <p:sp>
        <p:nvSpPr>
          <p:cNvPr id="9" name="文字_C. 1 : 2"/>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 : 2</a:t>
            </a:r>
          </a:p>
        </p:txBody>
      </p:sp>
      <p:sp>
        <p:nvSpPr>
          <p:cNvPr id="10" name="文字_D. 1 : 1"/>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 : 1</a:t>
            </a:r>
          </a:p>
        </p:txBody>
      </p:sp>
      <p:sp>
        <p:nvSpPr>
          <p:cNvPr id="11" name="文字_单选题  ·  09-06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09-068</a:t>
            </a:r>
          </a:p>
        </p:txBody>
      </p:sp>
      <p:sp>
        <p:nvSpPr>
          <p:cNvPr id="12" name="文字_8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例题2</a:t>
            </a:r>
          </a:p>
        </p:txBody>
      </p:sp>
      <p:sp>
        <p:nvSpPr>
          <p:cNvPr id="5" name="文字_P2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P205</a:t>
            </a:r>
          </a:p>
        </p:txBody>
      </p:sp>
      <p:sp>
        <p:nvSpPr>
          <p:cNvPr id="6" name="文字_将Cu片放入一定量的 FeCl₃溶液中，反应一定"/>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将Cu片放入一定量的 FeCl₃溶液中，反应一定时间后取出 Cu片，溶液中的 </a:t>
            </a:r>
          </a:p>
          <a:p>
            <a:pPr>
              <a:lnSpc>
                <a:spcPct val="112000"/>
              </a:lnSpc>
              <a:spcBef>
                <a:spcPts val="0"/>
              </a:spcBef>
              <a:spcAft>
                <a:spcPts val="0"/>
              </a:spcAft>
              <a:defRPr sz="2400" b="0">
                <a:solidFill>
                  <a:srgbClr val="333333"/>
                </a:solidFill>
                <a:latin typeface="微软雅黑"/>
              </a:defRPr>
            </a:pPr>
            <a:r>
              <a:rPr>
                <a:ea typeface="微软雅黑"/>
              </a:rPr>
              <a:t>c(Fe³⁺):c(Fe²⁺)=2:3，则 Cu²⁺与 Fe³⁺的物质的量之比为（）</a:t>
            </a:r>
          </a:p>
        </p:txBody>
      </p:sp>
      <p:sp>
        <p:nvSpPr>
          <p:cNvPr id="7" name="文字_A. 3:4"/>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3:4</a:t>
            </a:r>
          </a:p>
        </p:txBody>
      </p:sp>
      <p:sp>
        <p:nvSpPr>
          <p:cNvPr id="8" name="文字_B. 4:3"/>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4:3</a:t>
            </a:r>
          </a:p>
        </p:txBody>
      </p:sp>
      <p:sp>
        <p:nvSpPr>
          <p:cNvPr id="9" name="文字_C. 1:2"/>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1:2</a:t>
            </a:r>
          </a:p>
        </p:txBody>
      </p:sp>
      <p:sp>
        <p:nvSpPr>
          <p:cNvPr id="10" name="文字_D. 5:3"/>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5:3</a:t>
            </a:r>
          </a:p>
        </p:txBody>
      </p:sp>
      <p:sp>
        <p:nvSpPr>
          <p:cNvPr id="11" name="文字_单选题  ·  09-06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09-069</a:t>
            </a:r>
          </a:p>
        </p:txBody>
      </p:sp>
      <p:sp>
        <p:nvSpPr>
          <p:cNvPr id="12" name="文字_8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例题3</a:t>
            </a:r>
          </a:p>
        </p:txBody>
      </p:sp>
      <p:sp>
        <p:nvSpPr>
          <p:cNvPr id="5" name="文字_P2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P205</a:t>
            </a:r>
          </a:p>
        </p:txBody>
      </p:sp>
      <p:sp>
        <p:nvSpPr>
          <p:cNvPr id="6" name="文字_用FeCl₃溶液腐蚀印刷电路板上的铜，所得的溶液"/>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用FeCl₃溶液腐蚀印刷电路板上的铜，所得的溶液中加入铁粉。对加入铁粉充分反</a:t>
            </a:r>
          </a:p>
          <a:p>
            <a:pPr>
              <a:lnSpc>
                <a:spcPct val="112000"/>
              </a:lnSpc>
              <a:spcBef>
                <a:spcPts val="0"/>
              </a:spcBef>
              <a:spcAft>
                <a:spcPts val="0"/>
              </a:spcAft>
              <a:defRPr sz="2400" b="0">
                <a:solidFill>
                  <a:srgbClr val="333333"/>
                </a:solidFill>
                <a:latin typeface="微软雅黑"/>
              </a:defRPr>
            </a:pPr>
            <a:r>
              <a:rPr>
                <a:ea typeface="微软雅黑"/>
              </a:rPr>
              <a:t>应后的溶液分析合理的是</a:t>
            </a:r>
          </a:p>
        </p:txBody>
      </p:sp>
      <p:sp>
        <p:nvSpPr>
          <p:cNvPr id="7" name="文字_A. 若无固体剩余，则溶液中一定有Fe³⁺"/>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若无固体剩余，则溶液中一定有Fe³⁺</a:t>
            </a:r>
          </a:p>
        </p:txBody>
      </p:sp>
      <p:sp>
        <p:nvSpPr>
          <p:cNvPr id="8" name="文字_B. 若有固体存在，则溶液中一定有Fe²⁺"/>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若有固体存在，则溶液中一定有Fe²⁺</a:t>
            </a:r>
          </a:p>
        </p:txBody>
      </p:sp>
      <p:sp>
        <p:nvSpPr>
          <p:cNvPr id="9" name="文字_C. 若溶液中有Cu²⁺，则一定没有固体析出"/>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若溶液中有Cu²⁺，则一定没有固体析出</a:t>
            </a:r>
          </a:p>
        </p:txBody>
      </p:sp>
      <p:sp>
        <p:nvSpPr>
          <p:cNvPr id="10" name="文字_D. 若溶液中有Fe²⁺，则一定有Cu析出"/>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若溶液中有Fe²⁺，则一定有Cu析出</a:t>
            </a:r>
          </a:p>
        </p:txBody>
      </p:sp>
      <p:sp>
        <p:nvSpPr>
          <p:cNvPr id="11" name="文字_单选题  ·  09-07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09-070</a:t>
            </a:r>
          </a:p>
        </p:txBody>
      </p:sp>
      <p:sp>
        <p:nvSpPr>
          <p:cNvPr id="12" name="文字_8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例题4</a:t>
            </a:r>
          </a:p>
        </p:txBody>
      </p:sp>
      <p:sp>
        <p:nvSpPr>
          <p:cNvPr id="5" name="文字_P2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P205</a:t>
            </a:r>
          </a:p>
        </p:txBody>
      </p:sp>
      <p:sp>
        <p:nvSpPr>
          <p:cNvPr id="6" name="文字_ag铁粉与含有H₂SO₄的CuSO₄溶液完全反应"/>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ag铁粉与含有H₂SO₄的CuSO₄溶液完全反应后，得到ag铜，则参与反应的</a:t>
            </a:r>
          </a:p>
          <a:p>
            <a:pPr>
              <a:lnSpc>
                <a:spcPct val="112000"/>
              </a:lnSpc>
              <a:spcBef>
                <a:spcPts val="0"/>
              </a:spcBef>
              <a:spcAft>
                <a:spcPts val="0"/>
              </a:spcAft>
              <a:defRPr sz="2400" b="0">
                <a:solidFill>
                  <a:srgbClr val="333333"/>
                </a:solidFill>
                <a:latin typeface="微软雅黑"/>
              </a:defRPr>
            </a:pPr>
            <a:r>
              <a:rPr>
                <a:ea typeface="微软雅黑"/>
              </a:rPr>
              <a:t>H₂SO₄与CuSO₄的物质的量之比为</a:t>
            </a:r>
          </a:p>
        </p:txBody>
      </p:sp>
      <p:sp>
        <p:nvSpPr>
          <p:cNvPr id="7" name="文字_A. 1:7"/>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1:7</a:t>
            </a:r>
          </a:p>
        </p:txBody>
      </p:sp>
      <p:sp>
        <p:nvSpPr>
          <p:cNvPr id="8" name="文字_B. 7:1"/>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7:1</a:t>
            </a:r>
          </a:p>
        </p:txBody>
      </p:sp>
      <p:sp>
        <p:nvSpPr>
          <p:cNvPr id="9" name="文字_C. 7:8"/>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7:8</a:t>
            </a:r>
          </a:p>
        </p:txBody>
      </p:sp>
      <p:sp>
        <p:nvSpPr>
          <p:cNvPr id="10" name="文字_D. 8:7"/>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8:7</a:t>
            </a:r>
          </a:p>
        </p:txBody>
      </p:sp>
      <p:sp>
        <p:nvSpPr>
          <p:cNvPr id="11" name="文字_单选题  ·  09-07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09-071</a:t>
            </a:r>
          </a:p>
        </p:txBody>
      </p:sp>
      <p:sp>
        <p:nvSpPr>
          <p:cNvPr id="12" name="文字_8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例题5</a:t>
            </a:r>
          </a:p>
        </p:txBody>
      </p:sp>
      <p:sp>
        <p:nvSpPr>
          <p:cNvPr id="5" name="文字_P2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P205</a:t>
            </a:r>
          </a:p>
        </p:txBody>
      </p:sp>
      <p:sp>
        <p:nvSpPr>
          <p:cNvPr id="6" name="文字_现在浓度均为1mol·L-1的FeCl₃、CuC"/>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现在浓度均为1mol·L-1的FeCl₃、CuCl₂、FeCl₂的混合溶液100mL，向该溶液中</a:t>
            </a:r>
          </a:p>
          <a:p>
            <a:pPr>
              <a:lnSpc>
                <a:spcPct val="112000"/>
              </a:lnSpc>
              <a:spcBef>
                <a:spcPts val="0"/>
              </a:spcBef>
              <a:spcAft>
                <a:spcPts val="0"/>
              </a:spcAft>
              <a:defRPr sz="2400" b="0">
                <a:solidFill>
                  <a:srgbClr val="333333"/>
                </a:solidFill>
                <a:latin typeface="微软雅黑"/>
              </a:defRPr>
            </a:pPr>
            <a:r>
              <a:rPr>
                <a:ea typeface="微软雅黑"/>
              </a:rPr>
              <a:t>加入5.6g铁粉，待反应完毕.下列有关叙述不正确的是（）</a:t>
            </a:r>
          </a:p>
        </p:txBody>
      </p:sp>
      <p:sp>
        <p:nvSpPr>
          <p:cNvPr id="7" name="文字_A. 反应后的溶液中含有Fe²⁺、Cu²⁺，不含"/>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反应后的溶液中含有Fe²⁺、Cu²⁺，不含Fe³⁺</a:t>
            </a:r>
          </a:p>
        </p:txBody>
      </p:sp>
      <p:sp>
        <p:nvSpPr>
          <p:cNvPr id="8" name="文字_B. 反应后的溶液中含有Fe₂ + 0.2mol"/>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反应后的溶液中含有Fe₂ + 0.2mol、Cu₂ + 0.1mol</a:t>
            </a:r>
          </a:p>
        </p:txBody>
      </p:sp>
      <p:sp>
        <p:nvSpPr>
          <p:cNvPr id="9" name="文字_C. 反应后的溶液中Fe²⁺增至0.3mol"/>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反应后的溶液中Fe²⁺增至0.3mol</a:t>
            </a:r>
          </a:p>
        </p:txBody>
      </p:sp>
      <p:sp>
        <p:nvSpPr>
          <p:cNvPr id="10" name="文字_D. 反应后容器中残留有Cu 0.05mol"/>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反应后容器中残留有Cu 0.05mol</a:t>
            </a:r>
          </a:p>
        </p:txBody>
      </p:sp>
      <p:sp>
        <p:nvSpPr>
          <p:cNvPr id="11" name="文字_单选题  ·  09-07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09-072</a:t>
            </a:r>
          </a:p>
        </p:txBody>
      </p:sp>
      <p:sp>
        <p:nvSpPr>
          <p:cNvPr id="12" name="文字_9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例题6</a:t>
            </a:r>
          </a:p>
        </p:txBody>
      </p:sp>
      <p:sp>
        <p:nvSpPr>
          <p:cNvPr id="5" name="文字_P2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P206</a:t>
            </a:r>
          </a:p>
        </p:txBody>
      </p:sp>
      <p:sp>
        <p:nvSpPr>
          <p:cNvPr id="6" name="文字_将20gFe、Cu混合物加入200mL₂.5mo"/>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将20gFe、Cu混合物加入200mL₂.5mol/L的FeCl₃溶液中，充分反应后，剩余固</a:t>
            </a:r>
          </a:p>
          <a:p>
            <a:pPr>
              <a:lnSpc>
                <a:spcPct val="112000"/>
              </a:lnSpc>
              <a:spcBef>
                <a:spcPts val="0"/>
              </a:spcBef>
              <a:spcAft>
                <a:spcPts val="0"/>
              </a:spcAft>
              <a:defRPr sz="2400" b="0">
                <a:solidFill>
                  <a:srgbClr val="333333"/>
                </a:solidFill>
                <a:latin typeface="微软雅黑"/>
              </a:defRPr>
            </a:pPr>
            <a:r>
              <a:rPr>
                <a:ea typeface="微软雅黑"/>
              </a:rPr>
              <a:t>体5.2g。下列说法不正确的是</a:t>
            </a:r>
          </a:p>
        </p:txBody>
      </p:sp>
      <p:sp>
        <p:nvSpPr>
          <p:cNvPr id="7" name="文字_A. 剩余固体只有Cu"/>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剩余固体只有Cu</a:t>
            </a:r>
          </a:p>
        </p:txBody>
      </p:sp>
      <p:sp>
        <p:nvSpPr>
          <p:cNvPr id="8" name="文字_B. 原固体混合物中Fe的质量是8.4g"/>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原固体混合物中Fe的质量是8.4g</a:t>
            </a:r>
          </a:p>
        </p:txBody>
      </p:sp>
      <p:sp>
        <p:nvSpPr>
          <p:cNvPr id="9" name="文字_C. 反应后的溶液n (Fe²⁺):n (Cu²"/>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反应后的溶液n (Fe²⁺):n (Cu²⁺)=6.5:1</a:t>
            </a:r>
          </a:p>
        </p:txBody>
      </p:sp>
      <p:sp>
        <p:nvSpPr>
          <p:cNvPr id="10" name="文字_D. 发生反应的金属Cu的物质的量为0.15mo"/>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发生反应的金属Cu的物质的量为0.15mol</a:t>
            </a:r>
          </a:p>
        </p:txBody>
      </p:sp>
      <p:sp>
        <p:nvSpPr>
          <p:cNvPr id="11" name="文字_单选题  ·  09-07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09-073</a:t>
            </a:r>
          </a:p>
        </p:txBody>
      </p:sp>
      <p:sp>
        <p:nvSpPr>
          <p:cNvPr id="12" name="文字_9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例题7</a:t>
            </a:r>
          </a:p>
        </p:txBody>
      </p:sp>
      <p:sp>
        <p:nvSpPr>
          <p:cNvPr id="5" name="文字_P2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P206</a:t>
            </a:r>
          </a:p>
        </p:txBody>
      </p:sp>
      <p:sp>
        <p:nvSpPr>
          <p:cNvPr id="6" name="文字_向200mLFe₂(SO₄)₃和CuSO₄的混合"/>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向200mLFe₂(SO₄)₃和CuSO₄的混合溶液中逐渐加入铁粉，充分反应后溶液中固</a:t>
            </a:r>
          </a:p>
          <a:p>
            <a:pPr>
              <a:lnSpc>
                <a:spcPct val="112000"/>
              </a:lnSpc>
              <a:spcBef>
                <a:spcPts val="0"/>
              </a:spcBef>
              <a:spcAft>
                <a:spcPts val="0"/>
              </a:spcAft>
              <a:defRPr sz="2400" b="0">
                <a:solidFill>
                  <a:srgbClr val="333333"/>
                </a:solidFill>
                <a:latin typeface="微软雅黑"/>
              </a:defRPr>
            </a:pPr>
            <a:r>
              <a:rPr>
                <a:ea typeface="微软雅黑"/>
              </a:rPr>
              <a:t>体剩余物的质量与加入铁粉的质量如图所示。忽略溶液体积的变化，下列说法正确</a:t>
            </a:r>
          </a:p>
          <a:p>
            <a:pPr>
              <a:lnSpc>
                <a:spcPct val="112000"/>
              </a:lnSpc>
              <a:spcBef>
                <a:spcPts val="0"/>
              </a:spcBef>
              <a:spcAft>
                <a:spcPts val="0"/>
              </a:spcAft>
              <a:defRPr sz="2400" b="0">
                <a:solidFill>
                  <a:srgbClr val="333333"/>
                </a:solidFill>
                <a:latin typeface="微软雅黑"/>
              </a:defRPr>
            </a:pPr>
            <a:r>
              <a:rPr>
                <a:ea typeface="微软雅黑"/>
              </a:rPr>
              <a:t>的是</a:t>
            </a:r>
          </a:p>
        </p:txBody>
      </p:sp>
      <p:pic>
        <p:nvPicPr>
          <p:cNvPr id="7" name="Picture 6" descr="image.png"/>
          <p:cNvPicPr>
            <a:picLocks noChangeAspect="1"/>
          </p:cNvPicPr>
          <p:nvPr/>
        </p:nvPicPr>
        <p:blipFill>
          <a:blip r:embed="rId3"/>
          <a:stretch>
            <a:fillRect/>
          </a:stretch>
        </p:blipFill>
        <p:spPr>
          <a:xfrm>
            <a:off x="502920" y="2243328"/>
            <a:ext cx="11064240" cy="2649292"/>
          </a:xfrm>
          <a:prstGeom prst="rect">
            <a:avLst/>
          </a:prstGeom>
        </p:spPr>
      </p:pic>
      <p:sp>
        <p:nvSpPr>
          <p:cNvPr id="8" name="原题文字_206_13"/>
          <p:cNvSpPr txBox="1"/>
          <p:nvPr/>
        </p:nvSpPr>
        <p:spPr>
          <a:xfrm>
            <a:off x="571832" y="2290525"/>
            <a:ext cx="3929262" cy="378251"/>
          </a:xfrm>
          <a:prstGeom prst="rect">
            <a:avLst/>
          </a:prstGeom>
          <a:noFill/>
        </p:spPr>
        <p:txBody>
          <a:bodyPr wrap="none" lIns="0" rIns="0" tIns="0" bIns="0">
            <a:spAutoFit/>
          </a:bodyPr>
          <a:lstStyle/>
          <a:p>
            <a:pPr>
              <a:lnSpc>
                <a:spcPct val="112000"/>
              </a:lnSpc>
              <a:spcBef>
                <a:spcPts val="0"/>
              </a:spcBef>
              <a:spcAft>
                <a:spcPts val="0"/>
              </a:spcAft>
              <a:defRPr sz="1714" b="0">
                <a:solidFill>
                  <a:srgbClr val="333333"/>
                </a:solidFill>
                <a:latin typeface="微软雅黑"/>
              </a:defRPr>
            </a:pPr>
            <a:r>
              <a:rPr>
                <a:ea typeface="微软雅黑"/>
              </a:rPr>
              <a:t>A. a点时溶液中的阳离子仅为Cu²⁺和Fe²⁺</a:t>
            </a:r>
          </a:p>
        </p:txBody>
      </p:sp>
      <p:sp>
        <p:nvSpPr>
          <p:cNvPr id="9" name="原题文字_206_14"/>
          <p:cNvSpPr txBox="1"/>
          <p:nvPr/>
        </p:nvSpPr>
        <p:spPr>
          <a:xfrm>
            <a:off x="7876527" y="2336467"/>
            <a:ext cx="1502020" cy="418067"/>
          </a:xfrm>
          <a:prstGeom prst="rect">
            <a:avLst/>
          </a:prstGeom>
          <a:noFill/>
        </p:spPr>
        <p:txBody>
          <a:bodyPr wrap="none" lIns="0" rIns="0" tIns="0" bIns="0">
            <a:spAutoFit/>
          </a:bodyPr>
          <a:lstStyle/>
          <a:p>
            <a:pPr>
              <a:lnSpc>
                <a:spcPct val="112000"/>
              </a:lnSpc>
              <a:spcBef>
                <a:spcPts val="0"/>
              </a:spcBef>
              <a:spcAft>
                <a:spcPts val="0"/>
              </a:spcAft>
              <a:defRPr sz="1682" b="0">
                <a:solidFill>
                  <a:srgbClr val="333333"/>
                </a:solidFill>
                <a:latin typeface="微软雅黑"/>
              </a:defRPr>
            </a:pPr>
            <a:r>
              <a:rPr>
                <a:ea typeface="微软雅黑"/>
              </a:rPr>
              <a:t>剩余物的质量/g</a:t>
            </a:r>
          </a:p>
        </p:txBody>
      </p:sp>
      <p:sp>
        <p:nvSpPr>
          <p:cNvPr id="10" name="原题文字_206_15"/>
          <p:cNvSpPr txBox="1"/>
          <p:nvPr/>
        </p:nvSpPr>
        <p:spPr>
          <a:xfrm>
            <a:off x="564175" y="2650400"/>
            <a:ext cx="4871062" cy="418067"/>
          </a:xfrm>
          <a:prstGeom prst="rect">
            <a:avLst/>
          </a:prstGeom>
          <a:noFill/>
        </p:spPr>
        <p:txBody>
          <a:bodyPr wrap="none" lIns="0" rIns="0" tIns="0" bIns="0">
            <a:spAutoFit/>
          </a:bodyPr>
          <a:lstStyle/>
          <a:p>
            <a:pPr>
              <a:lnSpc>
                <a:spcPct val="112000"/>
              </a:lnSpc>
              <a:spcBef>
                <a:spcPts val="0"/>
              </a:spcBef>
              <a:spcAft>
                <a:spcPts val="0"/>
              </a:spcAft>
              <a:defRPr sz="1551" b="0">
                <a:solidFill>
                  <a:srgbClr val="333333"/>
                </a:solidFill>
                <a:latin typeface="微软雅黑"/>
              </a:defRPr>
            </a:pPr>
            <a:r>
              <a:rPr>
                <a:ea typeface="微软雅黑"/>
              </a:rPr>
              <a:t>B. b点时溶液中发生的反应为2Fe + 3Cu²⁺=Cu + 2Fe³⁺</a:t>
            </a:r>
          </a:p>
        </p:txBody>
      </p:sp>
      <p:sp>
        <p:nvSpPr>
          <p:cNvPr id="11" name="原题文字_206_16"/>
          <p:cNvSpPr txBox="1"/>
          <p:nvPr/>
        </p:nvSpPr>
        <p:spPr>
          <a:xfrm>
            <a:off x="7309916" y="2795881"/>
            <a:ext cx="49130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1.84</a:t>
            </a:r>
          </a:p>
        </p:txBody>
      </p:sp>
      <p:sp>
        <p:nvSpPr>
          <p:cNvPr id="12" name="原题文字_206_17"/>
          <p:cNvSpPr txBox="1"/>
          <p:nvPr/>
        </p:nvSpPr>
        <p:spPr>
          <a:xfrm>
            <a:off x="571832" y="3063873"/>
            <a:ext cx="4671982" cy="358343"/>
          </a:xfrm>
          <a:prstGeom prst="rect">
            <a:avLst/>
          </a:prstGeom>
          <a:noFill/>
        </p:spPr>
        <p:txBody>
          <a:bodyPr wrap="none" lIns="0" rIns="0" tIns="0" bIns="0">
            <a:spAutoFit/>
          </a:bodyPr>
          <a:lstStyle/>
          <a:p>
            <a:pPr>
              <a:lnSpc>
                <a:spcPct val="112000"/>
              </a:lnSpc>
              <a:spcBef>
                <a:spcPts val="0"/>
              </a:spcBef>
              <a:spcAft>
                <a:spcPts val="0"/>
              </a:spcAft>
              <a:defRPr sz="1725" b="0">
                <a:solidFill>
                  <a:srgbClr val="333333"/>
                </a:solidFill>
                <a:latin typeface="微软雅黑"/>
              </a:defRPr>
            </a:pPr>
            <a:r>
              <a:rPr>
                <a:ea typeface="微软雅黑"/>
              </a:rPr>
              <a:t>C. c点时溶液中溶质的物质的量浓度为0.2mol·L-1</a:t>
            </a:r>
          </a:p>
        </p:txBody>
      </p:sp>
      <p:sp>
        <p:nvSpPr>
          <p:cNvPr id="13" name="原题文字_206_18"/>
          <p:cNvSpPr txBox="1"/>
          <p:nvPr/>
        </p:nvSpPr>
        <p:spPr>
          <a:xfrm>
            <a:off x="7348200" y="3316552"/>
            <a:ext cx="506621"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1.28</a:t>
            </a:r>
          </a:p>
        </p:txBody>
      </p:sp>
      <p:sp>
        <p:nvSpPr>
          <p:cNvPr id="14" name="原题文字_206_19"/>
          <p:cNvSpPr txBox="1"/>
          <p:nvPr/>
        </p:nvSpPr>
        <p:spPr>
          <a:xfrm>
            <a:off x="571832" y="3469690"/>
            <a:ext cx="556784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原溶液中Fe₂(SO₄)₃和CuSO₄的物质的量浓度之比为1：2</a:t>
            </a:r>
          </a:p>
        </p:txBody>
      </p:sp>
      <p:sp>
        <p:nvSpPr>
          <p:cNvPr id="15" name="原题文字_206_20"/>
          <p:cNvSpPr txBox="1"/>
          <p:nvPr/>
        </p:nvSpPr>
        <p:spPr>
          <a:xfrm>
            <a:off x="8688160" y="3699397"/>
            <a:ext cx="192688"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b</a:t>
            </a:r>
          </a:p>
        </p:txBody>
      </p:sp>
      <p:sp>
        <p:nvSpPr>
          <p:cNvPr id="16" name="原题文字_206_21"/>
          <p:cNvSpPr txBox="1"/>
          <p:nvPr/>
        </p:nvSpPr>
        <p:spPr>
          <a:xfrm>
            <a:off x="7968410" y="4365549"/>
            <a:ext cx="192688"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a</a:t>
            </a:r>
          </a:p>
        </p:txBody>
      </p:sp>
      <p:sp>
        <p:nvSpPr>
          <p:cNvPr id="17" name="原题文字_206_22"/>
          <p:cNvSpPr txBox="1"/>
          <p:nvPr/>
        </p:nvSpPr>
        <p:spPr>
          <a:xfrm>
            <a:off x="7646820" y="4595256"/>
            <a:ext cx="200345"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0</a:t>
            </a:r>
          </a:p>
        </p:txBody>
      </p:sp>
      <p:sp>
        <p:nvSpPr>
          <p:cNvPr id="18" name="原题文字_206_23"/>
          <p:cNvSpPr txBox="1"/>
          <p:nvPr/>
        </p:nvSpPr>
        <p:spPr>
          <a:xfrm>
            <a:off x="8067950" y="4556971"/>
            <a:ext cx="50662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0.56</a:t>
            </a:r>
          </a:p>
        </p:txBody>
      </p:sp>
      <p:sp>
        <p:nvSpPr>
          <p:cNvPr id="19" name="原题文字_206_24"/>
          <p:cNvSpPr txBox="1"/>
          <p:nvPr/>
        </p:nvSpPr>
        <p:spPr>
          <a:xfrm>
            <a:off x="9009750" y="4572285"/>
            <a:ext cx="49130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1.68</a:t>
            </a:r>
          </a:p>
        </p:txBody>
      </p:sp>
      <p:sp>
        <p:nvSpPr>
          <p:cNvPr id="20" name="原题文字_206_25"/>
          <p:cNvSpPr txBox="1"/>
          <p:nvPr/>
        </p:nvSpPr>
        <p:spPr>
          <a:xfrm>
            <a:off x="9637617" y="4534001"/>
            <a:ext cx="1685786" cy="457883"/>
          </a:xfrm>
          <a:prstGeom prst="rect">
            <a:avLst/>
          </a:prstGeom>
          <a:noFill/>
        </p:spPr>
        <p:txBody>
          <a:bodyPr wrap="none" lIns="0" rIns="0" tIns="0" bIns="0">
            <a:spAutoFit/>
          </a:bodyPr>
          <a:lstStyle/>
          <a:p>
            <a:pPr>
              <a:lnSpc>
                <a:spcPct val="112000"/>
              </a:lnSpc>
              <a:spcBef>
                <a:spcPts val="0"/>
              </a:spcBef>
              <a:spcAft>
                <a:spcPts val="0"/>
              </a:spcAft>
              <a:defRPr sz="1802" b="0">
                <a:solidFill>
                  <a:srgbClr val="333333"/>
                </a:solidFill>
                <a:latin typeface="微软雅黑"/>
              </a:defRPr>
            </a:pPr>
            <a:r>
              <a:rPr>
                <a:ea typeface="微软雅黑"/>
              </a:rPr>
              <a:t>2.24 铁粉质量/g</a:t>
            </a:r>
          </a:p>
        </p:txBody>
      </p:sp>
      <p:sp>
        <p:nvSpPr>
          <p:cNvPr id="21" name="文字_单选题  ·  09-07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09-074</a:t>
            </a:r>
          </a:p>
        </p:txBody>
      </p:sp>
      <p:sp>
        <p:nvSpPr>
          <p:cNvPr id="22" name="文字_9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例题8</a:t>
            </a:r>
          </a:p>
        </p:txBody>
      </p:sp>
      <p:sp>
        <p:nvSpPr>
          <p:cNvPr id="5" name="文字_P2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P206</a:t>
            </a:r>
          </a:p>
        </p:txBody>
      </p:sp>
      <p:sp>
        <p:nvSpPr>
          <p:cNvPr id="6" name="文字_将6 g的铁粉加入200 mLFe₂(SO₄)₃"/>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将6 g的铁粉加入200 mLFe₂(SO₄)₃和CuSO₄的混合溶液，充分反应得到200 </a:t>
            </a:r>
          </a:p>
          <a:p>
            <a:pPr>
              <a:lnSpc>
                <a:spcPct val="112000"/>
              </a:lnSpc>
              <a:spcBef>
                <a:spcPts val="0"/>
              </a:spcBef>
              <a:spcAft>
                <a:spcPts val="0"/>
              </a:spcAft>
              <a:defRPr sz="2400" b="0">
                <a:solidFill>
                  <a:srgbClr val="333333"/>
                </a:solidFill>
                <a:latin typeface="微软雅黑"/>
              </a:defRPr>
            </a:pPr>
            <a:r>
              <a:rPr>
                <a:ea typeface="微软雅黑"/>
              </a:rPr>
              <a:t>mL₀.5mol /LFeSO₄溶液和5.2 g固体沉淀物。试计算</a:t>
            </a:r>
          </a:p>
        </p:txBody>
      </p:sp>
      <p:sp>
        <p:nvSpPr>
          <p:cNvPr id="7" name="文字_(1)反应后生成铜的质量；"/>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(1)反应后生成铜的质量；</a:t>
            </a:r>
          </a:p>
        </p:txBody>
      </p:sp>
      <p:sp>
        <p:nvSpPr>
          <p:cNvPr id="8" name="文字_(2)原Fe₂(SO₄)₃溶液的物质的量浓度。"/>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(2)原Fe₂(SO₄)₃溶液的物质的量浓度。</a:t>
            </a:r>
          </a:p>
        </p:txBody>
      </p:sp>
      <p:sp>
        <p:nvSpPr>
          <p:cNvPr id="9" name="文字_解答题  ·  09-07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09-075</a:t>
            </a:r>
          </a:p>
        </p:txBody>
      </p:sp>
      <p:sp>
        <p:nvSpPr>
          <p:cNvPr id="10" name="文字_9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例题9</a:t>
            </a:r>
          </a:p>
        </p:txBody>
      </p:sp>
      <p:sp>
        <p:nvSpPr>
          <p:cNvPr id="5" name="文字_P2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P206</a:t>
            </a:r>
          </a:p>
        </p:txBody>
      </p:sp>
      <p:sp>
        <p:nvSpPr>
          <p:cNvPr id="6" name="文字_把100mL 1.0mol/L CuSO₄溶液和"/>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把100mL 1.0mol/L CuSO₄溶液和100mL 1.0mol/L Fe₂(SO₄)₃溶液混合(假设混</a:t>
            </a:r>
          </a:p>
          <a:p>
            <a:pPr>
              <a:lnSpc>
                <a:spcPct val="112000"/>
              </a:lnSpc>
              <a:spcBef>
                <a:spcPts val="0"/>
              </a:spcBef>
              <a:spcAft>
                <a:spcPts val="0"/>
              </a:spcAft>
              <a:defRPr sz="2400" b="0">
                <a:solidFill>
                  <a:srgbClr val="333333"/>
                </a:solidFill>
                <a:latin typeface="微软雅黑"/>
              </a:defRPr>
            </a:pPr>
            <a:r>
              <a:rPr>
                <a:ea typeface="微软雅黑"/>
              </a:rPr>
              <a:t>合溶液体积等于混合前两种溶液的体积之和)，再向其中加入足量铁粉，经过足够</a:t>
            </a:r>
          </a:p>
          <a:p>
            <a:pPr>
              <a:lnSpc>
                <a:spcPct val="112000"/>
              </a:lnSpc>
              <a:spcBef>
                <a:spcPts val="0"/>
              </a:spcBef>
              <a:spcAft>
                <a:spcPts val="0"/>
              </a:spcAft>
              <a:defRPr sz="2400" b="0">
                <a:solidFill>
                  <a:srgbClr val="333333"/>
                </a:solidFill>
                <a:latin typeface="微软雅黑"/>
              </a:defRPr>
            </a:pPr>
            <a:r>
              <a:rPr>
                <a:ea typeface="微软雅黑"/>
              </a:rPr>
              <a:t>长的时间后，铁粉有剩余。</a:t>
            </a:r>
          </a:p>
        </p:txBody>
      </p:sp>
      <p:sp>
        <p:nvSpPr>
          <p:cNvPr id="7" name="文字_(1) 混合溶液中SO₂⁻的物质的量为 ____"/>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混合溶液中SO₂⁻的物质的量为 ______ molo</a:t>
            </a:r>
          </a:p>
        </p:txBody>
      </p:sp>
      <p:sp>
        <p:nvSpPr>
          <p:cNvPr id="8" name="文字_(2)参加反应的铁的质量为 ______ go"/>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(2)参加反应的铁的质量为 ______ go</a:t>
            </a:r>
          </a:p>
        </p:txBody>
      </p:sp>
      <p:sp>
        <p:nvSpPr>
          <p:cNvPr id="9" name="文字_(3)充分反应后；溶液中Fe²⁺的物质的量浓度为"/>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(3)充分反应后；溶液中Fe²⁺的物质的量浓度为 ______ mol/L。</a:t>
            </a:r>
          </a:p>
        </p:txBody>
      </p:sp>
      <p:sp>
        <p:nvSpPr>
          <p:cNvPr id="10" name="文字_解答题  ·  09-07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09-076</a:t>
            </a:r>
          </a:p>
        </p:txBody>
      </p:sp>
      <p:sp>
        <p:nvSpPr>
          <p:cNvPr id="11" name="文字_9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例题10</a:t>
            </a:r>
          </a:p>
        </p:txBody>
      </p:sp>
      <p:sp>
        <p:nvSpPr>
          <p:cNvPr id="5" name="文字_P2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P206</a:t>
            </a:r>
          </a:p>
        </p:txBody>
      </p:sp>
      <p:sp>
        <p:nvSpPr>
          <p:cNvPr id="6" name="文字_FeCl₃溶液常用来处理回收废电路板中的铜。现将"/>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FeCl₃溶液常用来处理回收废电路板中的铜。现将废电路板浸入200mLFeCl₃溶液</a:t>
            </a:r>
          </a:p>
          <a:p>
            <a:pPr>
              <a:lnSpc>
                <a:spcPct val="112000"/>
              </a:lnSpc>
              <a:spcBef>
                <a:spcPts val="0"/>
              </a:spcBef>
              <a:spcAft>
                <a:spcPts val="0"/>
              </a:spcAft>
              <a:defRPr sz="2400" b="0">
                <a:solidFill>
                  <a:srgbClr val="333333"/>
                </a:solidFill>
                <a:latin typeface="微软雅黑"/>
              </a:defRPr>
            </a:pPr>
            <a:r>
              <a:rPr>
                <a:ea typeface="微软雅黑"/>
              </a:rPr>
              <a:t>使铜全部溶解(其他物质不参与反应，溶液体积变化忽略不计)，电路板质量减少</a:t>
            </a:r>
          </a:p>
          <a:p>
            <a:pPr>
              <a:lnSpc>
                <a:spcPct val="112000"/>
              </a:lnSpc>
              <a:spcBef>
                <a:spcPts val="0"/>
              </a:spcBef>
              <a:spcAft>
                <a:spcPts val="0"/>
              </a:spcAft>
              <a:defRPr sz="2400" b="0">
                <a:solidFill>
                  <a:srgbClr val="333333"/>
                </a:solidFill>
                <a:latin typeface="微软雅黑"/>
              </a:defRPr>
            </a:pPr>
            <a:r>
              <a:rPr>
                <a:ea typeface="微软雅黑"/>
              </a:rPr>
              <a:t>3.2g，向浸泡液中加足量Fe粉充分反应，过滤洗涤干燥后，测得剩余固体质量比加</a:t>
            </a:r>
          </a:p>
          <a:p>
            <a:pPr>
              <a:lnSpc>
                <a:spcPct val="112000"/>
              </a:lnSpc>
              <a:spcBef>
                <a:spcPts val="0"/>
              </a:spcBef>
              <a:spcAft>
                <a:spcPts val="0"/>
              </a:spcAft>
              <a:defRPr sz="2400" b="0">
                <a:solidFill>
                  <a:srgbClr val="333333"/>
                </a:solidFill>
                <a:latin typeface="微软雅黑"/>
              </a:defRPr>
            </a:pPr>
            <a:r>
              <a:rPr>
                <a:ea typeface="微软雅黑"/>
              </a:rPr>
              <a:t>入的Fe粉质量减少了2.4g。请计算：</a:t>
            </a:r>
          </a:p>
        </p:txBody>
      </p:sp>
      <p:sp>
        <p:nvSpPr>
          <p:cNvPr id="7" name="文字_(1)浸泡液中的Cu²⁺的物质的量为 _____"/>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(1)浸泡液中的Cu²⁺的物质的量为 ______ molo</a:t>
            </a:r>
          </a:p>
        </p:txBody>
      </p:sp>
      <p:sp>
        <p:nvSpPr>
          <p:cNvPr id="8" name="文字_(2)原溶液中c(Fe³⁺)= ______ m"/>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(2)原溶液中c(Fe³⁺)= ______ mol/L。</a:t>
            </a:r>
          </a:p>
        </p:txBody>
      </p:sp>
      <p:sp>
        <p:nvSpPr>
          <p:cNvPr id="9" name="文字_填空题  ·  09-07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09-077</a:t>
            </a:r>
          </a:p>
        </p:txBody>
      </p:sp>
      <p:sp>
        <p:nvSpPr>
          <p:cNvPr id="10" name="文字_9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例题1</a:t>
            </a:r>
          </a:p>
        </p:txBody>
      </p:sp>
      <p:sp>
        <p:nvSpPr>
          <p:cNvPr id="5" name="文字_P20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P207</a:t>
            </a:r>
          </a:p>
        </p:txBody>
      </p:sp>
      <p:sp>
        <p:nvSpPr>
          <p:cNvPr id="6" name="文字_将ag铁和氧化铁的混合物加入足量的盐酸中，充分反"/>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将ag铁和氧化铁的混合物加入足量的盐酸中，充分反应后，滴加KSCN溶液，溶液</a:t>
            </a:r>
          </a:p>
          <a:p>
            <a:pPr>
              <a:lnSpc>
                <a:spcPct val="112000"/>
              </a:lnSpc>
              <a:spcBef>
                <a:spcPts val="0"/>
              </a:spcBef>
              <a:spcAft>
                <a:spcPts val="0"/>
              </a:spcAft>
              <a:defRPr sz="2400" b="0">
                <a:solidFill>
                  <a:srgbClr val="333333"/>
                </a:solidFill>
                <a:latin typeface="微软雅黑"/>
              </a:defRPr>
            </a:pPr>
            <a:r>
              <a:rPr>
                <a:ea typeface="微软雅黑"/>
              </a:rPr>
              <a:t>仍为无色。测得参加反应的HCl为0.1mol，放出标准状况下的气体0.448L。则下列</a:t>
            </a:r>
          </a:p>
          <a:p>
            <a:pPr>
              <a:lnSpc>
                <a:spcPct val="112000"/>
              </a:lnSpc>
              <a:spcBef>
                <a:spcPts val="0"/>
              </a:spcBef>
              <a:spcAft>
                <a:spcPts val="0"/>
              </a:spcAft>
              <a:defRPr sz="2400" b="0">
                <a:solidFill>
                  <a:srgbClr val="333333"/>
                </a:solidFill>
                <a:latin typeface="微软雅黑"/>
              </a:defRPr>
            </a:pPr>
            <a:r>
              <a:rPr>
                <a:ea typeface="微软雅黑"/>
              </a:rPr>
              <a:t>判断中正确的是</a:t>
            </a:r>
          </a:p>
        </p:txBody>
      </p:sp>
      <p:sp>
        <p:nvSpPr>
          <p:cNvPr id="7" name="文字_A. 无法计算原混合物的质量"/>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无法计算原混合物的质量</a:t>
            </a:r>
          </a:p>
        </p:txBody>
      </p:sp>
      <p:sp>
        <p:nvSpPr>
          <p:cNvPr id="8" name="文字_B. 原混合物中n(Fe₂O₃)：n(Fe)=1"/>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原混合物中n(Fe₂O₃)：n(Fe)=1：3</a:t>
            </a:r>
          </a:p>
        </p:txBody>
      </p:sp>
      <p:sp>
        <p:nvSpPr>
          <p:cNvPr id="9" name="文字_C. 向溶液中通入0.01molCl₂，可以将F"/>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向溶液中通入0.01molCl₂，可以将Fe²⁺完全转化为Fe³⁺</a:t>
            </a:r>
          </a:p>
        </p:txBody>
      </p:sp>
      <p:sp>
        <p:nvSpPr>
          <p:cNvPr id="10" name="文字_D. 收集产生的气体刚好能与0.448L的Cl₂"/>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收集产生的气体刚好能与0.448L的Cl₂完全反应</a:t>
            </a:r>
          </a:p>
        </p:txBody>
      </p:sp>
      <p:sp>
        <p:nvSpPr>
          <p:cNvPr id="11" name="文字_单选题  ·  09-07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09-078</a:t>
            </a:r>
          </a:p>
        </p:txBody>
      </p:sp>
      <p:sp>
        <p:nvSpPr>
          <p:cNvPr id="12" name="文字_9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例题2</a:t>
            </a:r>
          </a:p>
        </p:txBody>
      </p:sp>
      <p:sp>
        <p:nvSpPr>
          <p:cNvPr id="5" name="文字_P20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P207</a:t>
            </a:r>
          </a:p>
        </p:txBody>
      </p:sp>
      <p:sp>
        <p:nvSpPr>
          <p:cNvPr id="6" name="文字_将17.6克Fe₂O₃和Cu的混合物溶解于足量的"/>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将17.6克Fe₂O₃和Cu的混合物溶解于足量的稀盐酸中，再加铁粉9.8克，待铁粉溶</a:t>
            </a:r>
          </a:p>
          <a:p>
            <a:pPr>
              <a:lnSpc>
                <a:spcPct val="112000"/>
              </a:lnSpc>
              <a:spcBef>
                <a:spcPts val="0"/>
              </a:spcBef>
              <a:spcAft>
                <a:spcPts val="0"/>
              </a:spcAft>
              <a:defRPr sz="2400" b="0">
                <a:solidFill>
                  <a:srgbClr val="333333"/>
                </a:solidFill>
                <a:latin typeface="微软雅黑"/>
              </a:defRPr>
            </a:pPr>
            <a:r>
              <a:rPr>
                <a:ea typeface="微软雅黑"/>
              </a:rPr>
              <a:t>解后，溶液中无Fe³⁺，此过程共产生2.24升H₂(标况)，则下列判断正确的是</a:t>
            </a:r>
          </a:p>
        </p:txBody>
      </p:sp>
      <p:sp>
        <p:nvSpPr>
          <p:cNvPr id="7" name="文字_A. 混合物中Cu全部被氧化为Cu²⁺以后，Cu"/>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混合物中Cu全部被氧化为Cu²⁺以后，Cu²⁺又全部被还原</a:t>
            </a:r>
          </a:p>
        </p:txBody>
      </p:sp>
      <p:sp>
        <p:nvSpPr>
          <p:cNvPr id="8" name="文字_B. 混合物中Cu全部被氧化为Cu²⁺以后，Cu"/>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混合物中Cu全部被氧化为Cu²⁺以后，Cu²⁺又部分被还原</a:t>
            </a:r>
          </a:p>
        </p:txBody>
      </p:sp>
      <p:sp>
        <p:nvSpPr>
          <p:cNvPr id="9" name="文字_C. 混合物中Cu部分被氧化为Cu²⁺以后，Cu"/>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混合物中Cu部分被氧化为Cu²⁺以后，Cu²⁺又全部被还原</a:t>
            </a:r>
          </a:p>
        </p:txBody>
      </p:sp>
      <p:sp>
        <p:nvSpPr>
          <p:cNvPr id="10" name="文字_D. 混合物中Cu部分被氧化为Cu²⁺以后，Cu"/>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混合物中Cu部分被氧化为Cu²⁺以后，Cu²⁺又部分被还原</a:t>
            </a:r>
          </a:p>
        </p:txBody>
      </p:sp>
      <p:sp>
        <p:nvSpPr>
          <p:cNvPr id="11" name="文字_单选题  ·  09-07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09-079</a:t>
            </a:r>
          </a:p>
        </p:txBody>
      </p:sp>
      <p:sp>
        <p:nvSpPr>
          <p:cNvPr id="12" name="文字_9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例题3</a:t>
            </a:r>
          </a:p>
        </p:txBody>
      </p:sp>
      <p:sp>
        <p:nvSpPr>
          <p:cNvPr id="5" name="文字_P20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P207</a:t>
            </a:r>
          </a:p>
        </p:txBody>
      </p:sp>
      <p:sp>
        <p:nvSpPr>
          <p:cNvPr id="6" name="文字_向59.2gFe₂O₃和FeO的混合物中加入某浓"/>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向59.2gFe₂O₃和FeO的混合物中加入某浓度的稀硝酸1.0L，固体物质完全反应，</a:t>
            </a:r>
          </a:p>
          <a:p>
            <a:pPr>
              <a:lnSpc>
                <a:spcPct val="112000"/>
              </a:lnSpc>
              <a:spcBef>
                <a:spcPts val="0"/>
              </a:spcBef>
              <a:spcAft>
                <a:spcPts val="0"/>
              </a:spcAft>
              <a:defRPr sz="2400" b="0">
                <a:solidFill>
                  <a:srgbClr val="333333"/>
                </a:solidFill>
                <a:latin typeface="微软雅黑"/>
              </a:defRPr>
            </a:pPr>
            <a:r>
              <a:rPr>
                <a:ea typeface="微软雅黑"/>
              </a:rPr>
              <a:t>生成NO和Fe(NO₃)₃。在所得溶液中加入1.0mol/L的NaOH溶液2.8L，此时溶液</a:t>
            </a:r>
          </a:p>
          <a:p>
            <a:pPr>
              <a:lnSpc>
                <a:spcPct val="112000"/>
              </a:lnSpc>
              <a:spcBef>
                <a:spcPts val="0"/>
              </a:spcBef>
              <a:spcAft>
                <a:spcPts val="0"/>
              </a:spcAft>
              <a:defRPr sz="2400" b="0">
                <a:solidFill>
                  <a:srgbClr val="333333"/>
                </a:solidFill>
                <a:latin typeface="微软雅黑"/>
              </a:defRPr>
            </a:pPr>
            <a:r>
              <a:rPr>
                <a:ea typeface="微软雅黑"/>
              </a:rPr>
              <a:t>呈中性，金属离子已完全沉淀，沉淀质量为85.6g。下列有关说法错误的是</a:t>
            </a:r>
          </a:p>
        </p:txBody>
      </p:sp>
      <p:sp>
        <p:nvSpPr>
          <p:cNvPr id="7" name="文字_A. Fe₂O₃与FeO的物质的量之比为1：6"/>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Fe₂O₃与FeO的物质的量之比为1：6</a:t>
            </a:r>
          </a:p>
        </p:txBody>
      </p:sp>
      <p:sp>
        <p:nvSpPr>
          <p:cNvPr id="8" name="文字_B. 硝酸的物质的量浓度为3.0 mol/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硝酸的物质的量浓度为3.0 mol/L</a:t>
            </a:r>
          </a:p>
        </p:txBody>
      </p:sp>
      <p:sp>
        <p:nvSpPr>
          <p:cNvPr id="9" name="文字_C. 产生的NO在标准状况下的体积为4.48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产生的NO在标准状况下的体积为4.48L</a:t>
            </a:r>
          </a:p>
        </p:txBody>
      </p:sp>
      <p:sp>
        <p:nvSpPr>
          <p:cNvPr id="10" name="文字_D. Fe₂O₃，FeO与硝酸反应后剩余HNO₃"/>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Fe₂O₃，FeO与硝酸反应后剩余HNO₃为0.2 mol</a:t>
            </a:r>
          </a:p>
        </p:txBody>
      </p:sp>
      <p:sp>
        <p:nvSpPr>
          <p:cNvPr id="11" name="文字_单选题  ·  09-08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09-080</a:t>
            </a:r>
          </a:p>
        </p:txBody>
      </p:sp>
      <p:sp>
        <p:nvSpPr>
          <p:cNvPr id="12" name="文字_9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例题4</a:t>
            </a:r>
          </a:p>
        </p:txBody>
      </p:sp>
      <p:sp>
        <p:nvSpPr>
          <p:cNvPr id="5" name="文字_P20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P207</a:t>
            </a:r>
          </a:p>
        </p:txBody>
      </p:sp>
      <p:sp>
        <p:nvSpPr>
          <p:cNvPr id="6" name="文字_将1.44gCu与Fe₂O₃，混合物加入20.0"/>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将1.44gCu与Fe₂O₃，混合物加入20.0mL₂.00 mol·L-1的稀硫酸中，充分反应后</a:t>
            </a:r>
          </a:p>
          <a:p>
            <a:pPr>
              <a:lnSpc>
                <a:spcPct val="112000"/>
              </a:lnSpc>
              <a:spcBef>
                <a:spcPts val="0"/>
              </a:spcBef>
              <a:spcAft>
                <a:spcPts val="0"/>
              </a:spcAft>
              <a:defRPr sz="2400" b="0">
                <a:solidFill>
                  <a:srgbClr val="333333"/>
                </a:solidFill>
                <a:latin typeface="微软雅黑"/>
              </a:defRPr>
            </a:pPr>
            <a:r>
              <a:rPr>
                <a:ea typeface="微软雅黑"/>
              </a:rPr>
              <a:t>剩余固体的质量为0.320g，继续往溶液中加入一定质量的铁粉，溶液质量增加了</a:t>
            </a:r>
          </a:p>
          <a:p>
            <a:pPr>
              <a:lnSpc>
                <a:spcPct val="112000"/>
              </a:lnSpc>
              <a:spcBef>
                <a:spcPts val="0"/>
              </a:spcBef>
              <a:spcAft>
                <a:spcPts val="0"/>
              </a:spcAft>
              <a:defRPr sz="2400" b="0">
                <a:solidFill>
                  <a:srgbClr val="333333"/>
                </a:solidFill>
                <a:latin typeface="微软雅黑"/>
              </a:defRPr>
            </a:pPr>
            <a:r>
              <a:rPr>
                <a:ea typeface="微软雅黑"/>
              </a:rPr>
              <a:t>0.770g。请计算：</a:t>
            </a:r>
          </a:p>
        </p:txBody>
      </p:sp>
      <p:sp>
        <p:nvSpPr>
          <p:cNvPr id="7" name="文字_(1)混合物中Cu与Fe₂O₃物质的量之比为 _"/>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(1)混合物中Cu与Fe₂O₃物质的量之比为 ______ O</a:t>
            </a:r>
          </a:p>
        </p:txBody>
      </p:sp>
      <p:sp>
        <p:nvSpPr>
          <p:cNvPr id="8" name="文字_(2)继续加入铁粉的质量为 ______ go"/>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(2)继续加入铁粉的质量为 ______ go</a:t>
            </a:r>
          </a:p>
        </p:txBody>
      </p:sp>
      <p:sp>
        <p:nvSpPr>
          <p:cNvPr id="9" name="文字_填空题  ·  09-08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09-081</a:t>
            </a:r>
          </a:p>
        </p:txBody>
      </p:sp>
      <p:sp>
        <p:nvSpPr>
          <p:cNvPr id="10" name="文字_9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例题5</a:t>
            </a:r>
          </a:p>
        </p:txBody>
      </p:sp>
      <p:sp>
        <p:nvSpPr>
          <p:cNvPr id="5" name="文字_P2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P208</a:t>
            </a:r>
          </a:p>
        </p:txBody>
      </p:sp>
      <p:sp>
        <p:nvSpPr>
          <p:cNvPr id="6" name="文字_部分被氧化的Fe-Cu合金样品（氧化产物为Fe₂"/>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部分被氧化的Fe-Cu合金样品（氧化产物为Fe₂O₃、CuO）共5.92g，经如图处理</a:t>
            </a:r>
          </a:p>
          <a:p>
            <a:pPr>
              <a:lnSpc>
                <a:spcPct val="112000"/>
              </a:lnSpc>
              <a:spcBef>
                <a:spcPts val="0"/>
              </a:spcBef>
              <a:spcAft>
                <a:spcPts val="0"/>
              </a:spcAft>
              <a:defRPr sz="2400" b="0">
                <a:solidFill>
                  <a:srgbClr val="333333"/>
                </a:solidFill>
                <a:latin typeface="微软雅黑"/>
              </a:defRPr>
            </a:pPr>
            <a:r>
              <a:rPr>
                <a:ea typeface="微软雅黑"/>
              </a:rPr>
              <a:t>：</a:t>
            </a:r>
          </a:p>
        </p:txBody>
      </p:sp>
      <p:pic>
        <p:nvPicPr>
          <p:cNvPr id="7" name="Picture 6" descr="image.png"/>
          <p:cNvPicPr>
            <a:picLocks noChangeAspect="1"/>
          </p:cNvPicPr>
          <p:nvPr/>
        </p:nvPicPr>
        <p:blipFill>
          <a:blip r:embed="rId3"/>
          <a:stretch>
            <a:fillRect/>
          </a:stretch>
        </p:blipFill>
        <p:spPr>
          <a:xfrm>
            <a:off x="502920" y="1880616"/>
            <a:ext cx="11064240" cy="1416528"/>
          </a:xfrm>
          <a:prstGeom prst="rect">
            <a:avLst/>
          </a:prstGeom>
        </p:spPr>
      </p:pic>
      <p:sp>
        <p:nvSpPr>
          <p:cNvPr id="8" name="原题文字_208_4"/>
          <p:cNvSpPr txBox="1"/>
          <p:nvPr/>
        </p:nvSpPr>
        <p:spPr>
          <a:xfrm>
            <a:off x="5005185" y="1912499"/>
            <a:ext cx="2160515" cy="368297"/>
          </a:xfrm>
          <a:prstGeom prst="rect">
            <a:avLst/>
          </a:prstGeom>
          <a:noFill/>
        </p:spPr>
        <p:txBody>
          <a:bodyPr wrap="none" lIns="0" rIns="0" tIns="0" bIns="0">
            <a:spAutoFit/>
          </a:bodyPr>
          <a:lstStyle/>
          <a:p>
            <a:pPr>
              <a:lnSpc>
                <a:spcPct val="112000"/>
              </a:lnSpc>
              <a:spcBef>
                <a:spcPts val="0"/>
              </a:spcBef>
              <a:spcAft>
                <a:spcPts val="0"/>
              </a:spcAft>
              <a:defRPr sz="1703" b="0">
                <a:solidFill>
                  <a:srgbClr val="333333"/>
                </a:solidFill>
                <a:latin typeface="微软雅黑"/>
              </a:defRPr>
            </a:pPr>
            <a:r>
              <a:rPr>
                <a:ea typeface="微软雅黑"/>
              </a:rPr>
              <a:t>→标准状况下VmL气体</a:t>
            </a:r>
          </a:p>
        </p:txBody>
      </p:sp>
      <p:sp>
        <p:nvSpPr>
          <p:cNvPr id="9" name="原题文字_208_5"/>
          <p:cNvSpPr txBox="1"/>
          <p:nvPr/>
        </p:nvSpPr>
        <p:spPr>
          <a:xfrm>
            <a:off x="2562629" y="2287688"/>
            <a:ext cx="567877"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样品</a:t>
            </a:r>
          </a:p>
        </p:txBody>
      </p:sp>
      <p:sp>
        <p:nvSpPr>
          <p:cNvPr id="10" name="原题文字_208_6"/>
          <p:cNvSpPr txBox="1"/>
          <p:nvPr/>
        </p:nvSpPr>
        <p:spPr>
          <a:xfrm>
            <a:off x="3381919" y="2249403"/>
            <a:ext cx="1065576" cy="358343"/>
          </a:xfrm>
          <a:prstGeom prst="rect">
            <a:avLst/>
          </a:prstGeom>
          <a:noFill/>
        </p:spPr>
        <p:txBody>
          <a:bodyPr wrap="none" lIns="0" rIns="0" tIns="0" bIns="0">
            <a:spAutoFit/>
          </a:bodyPr>
          <a:lstStyle/>
          <a:p>
            <a:pPr>
              <a:lnSpc>
                <a:spcPct val="112000"/>
              </a:lnSpc>
              <a:spcBef>
                <a:spcPts val="0"/>
              </a:spcBef>
              <a:spcAft>
                <a:spcPts val="0"/>
              </a:spcAft>
              <a:defRPr sz="1699" b="0">
                <a:solidFill>
                  <a:srgbClr val="333333"/>
                </a:solidFill>
                <a:latin typeface="微软雅黑"/>
              </a:defRPr>
            </a:pPr>
            <a:r>
              <a:rPr>
                <a:ea typeface="微软雅黑"/>
              </a:rPr>
              <a:t>足量稀硫酸</a:t>
            </a:r>
          </a:p>
        </p:txBody>
      </p:sp>
      <p:sp>
        <p:nvSpPr>
          <p:cNvPr id="11" name="原题文字_208_7"/>
          <p:cNvSpPr txBox="1"/>
          <p:nvPr/>
        </p:nvSpPr>
        <p:spPr>
          <a:xfrm>
            <a:off x="4959243" y="2364257"/>
            <a:ext cx="1142145" cy="437975"/>
          </a:xfrm>
          <a:prstGeom prst="rect">
            <a:avLst/>
          </a:prstGeom>
          <a:noFill/>
        </p:spPr>
        <p:txBody>
          <a:bodyPr wrap="none" lIns="0" rIns="0" tIns="0" bIns="0">
            <a:spAutoFit/>
          </a:bodyPr>
          <a:lstStyle/>
          <a:p>
            <a:pPr>
              <a:lnSpc>
                <a:spcPct val="112000"/>
              </a:lnSpc>
              <a:spcBef>
                <a:spcPts val="0"/>
              </a:spcBef>
              <a:spcAft>
                <a:spcPts val="0"/>
              </a:spcAft>
              <a:defRPr sz="1777" b="0">
                <a:solidFill>
                  <a:srgbClr val="333333"/>
                </a:solidFill>
                <a:latin typeface="微软雅黑"/>
              </a:defRPr>
            </a:pPr>
            <a:r>
              <a:rPr>
                <a:ea typeface="微软雅黑"/>
              </a:rPr>
              <a:t>→滤渣3.2g</a:t>
            </a:r>
          </a:p>
        </p:txBody>
      </p:sp>
      <p:sp>
        <p:nvSpPr>
          <p:cNvPr id="12" name="原题文字_208_8"/>
          <p:cNvSpPr txBox="1"/>
          <p:nvPr/>
        </p:nvSpPr>
        <p:spPr>
          <a:xfrm>
            <a:off x="4989871" y="2793044"/>
            <a:ext cx="1846581" cy="428021"/>
          </a:xfrm>
          <a:prstGeom prst="rect">
            <a:avLst/>
          </a:prstGeom>
          <a:noFill/>
        </p:spPr>
        <p:txBody>
          <a:bodyPr wrap="none" lIns="0" rIns="0" tIns="0" bIns="0">
            <a:spAutoFit/>
          </a:bodyPr>
          <a:lstStyle/>
          <a:p>
            <a:pPr>
              <a:lnSpc>
                <a:spcPct val="112000"/>
              </a:lnSpc>
              <a:spcBef>
                <a:spcPts val="0"/>
              </a:spcBef>
              <a:spcAft>
                <a:spcPts val="0"/>
              </a:spcAft>
              <a:defRPr sz="1671" b="0">
                <a:solidFill>
                  <a:srgbClr val="333333"/>
                </a:solidFill>
                <a:latin typeface="微软雅黑"/>
              </a:defRPr>
            </a:pPr>
            <a:r>
              <a:rPr>
                <a:ea typeface="微软雅黑"/>
              </a:rPr>
              <a:t>→滤液A(不含Cu²⁺)</a:t>
            </a:r>
          </a:p>
        </p:txBody>
      </p:sp>
      <p:sp>
        <p:nvSpPr>
          <p:cNvPr id="13" name="原题文字_208_9"/>
          <p:cNvSpPr txBox="1"/>
          <p:nvPr/>
        </p:nvSpPr>
        <p:spPr>
          <a:xfrm>
            <a:off x="6819873" y="2670534"/>
            <a:ext cx="1050262" cy="358343"/>
          </a:xfrm>
          <a:prstGeom prst="rect">
            <a:avLst/>
          </a:prstGeom>
          <a:noFill/>
        </p:spPr>
        <p:txBody>
          <a:bodyPr wrap="none" lIns="0" rIns="0" tIns="0" bIns="0">
            <a:spAutoFit/>
          </a:bodyPr>
          <a:lstStyle/>
          <a:p>
            <a:pPr>
              <a:lnSpc>
                <a:spcPct val="112000"/>
              </a:lnSpc>
              <a:spcBef>
                <a:spcPts val="0"/>
              </a:spcBef>
              <a:spcAft>
                <a:spcPts val="0"/>
              </a:spcAft>
              <a:defRPr sz="1684" b="0">
                <a:solidFill>
                  <a:srgbClr val="333333"/>
                </a:solidFill>
                <a:latin typeface="微软雅黑"/>
              </a:defRPr>
            </a:pPr>
            <a:r>
              <a:rPr>
                <a:ea typeface="微软雅黑"/>
              </a:rPr>
              <a:t>足量NaOH</a:t>
            </a:r>
          </a:p>
        </p:txBody>
      </p:sp>
      <p:sp>
        <p:nvSpPr>
          <p:cNvPr id="14" name="原题文字_208_10"/>
          <p:cNvSpPr txBox="1"/>
          <p:nvPr/>
        </p:nvSpPr>
        <p:spPr>
          <a:xfrm>
            <a:off x="7891841" y="2708818"/>
            <a:ext cx="598504"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滤渣</a:t>
            </a:r>
          </a:p>
        </p:txBody>
      </p:sp>
      <p:sp>
        <p:nvSpPr>
          <p:cNvPr id="15" name="原题文字_208_11"/>
          <p:cNvSpPr txBox="1"/>
          <p:nvPr/>
        </p:nvSpPr>
        <p:spPr>
          <a:xfrm>
            <a:off x="8328285" y="2639906"/>
            <a:ext cx="567877"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充分</a:t>
            </a:r>
          </a:p>
        </p:txBody>
      </p:sp>
      <p:sp>
        <p:nvSpPr>
          <p:cNvPr id="16" name="原题文字_208_12"/>
          <p:cNvSpPr txBox="1"/>
          <p:nvPr/>
        </p:nvSpPr>
        <p:spPr>
          <a:xfrm>
            <a:off x="8787700" y="2793044"/>
            <a:ext cx="1080890" cy="437975"/>
          </a:xfrm>
          <a:prstGeom prst="rect">
            <a:avLst/>
          </a:prstGeom>
          <a:noFill/>
        </p:spPr>
        <p:txBody>
          <a:bodyPr wrap="none" lIns="0" rIns="0" tIns="0" bIns="0">
            <a:spAutoFit/>
          </a:bodyPr>
          <a:lstStyle/>
          <a:p>
            <a:pPr>
              <a:lnSpc>
                <a:spcPct val="112000"/>
              </a:lnSpc>
              <a:spcBef>
                <a:spcPts val="0"/>
              </a:spcBef>
              <a:spcAft>
                <a:spcPts val="0"/>
              </a:spcAft>
              <a:defRPr sz="2094" b="0">
                <a:solidFill>
                  <a:srgbClr val="333333"/>
                </a:solidFill>
                <a:latin typeface="微软雅黑"/>
              </a:defRPr>
            </a:pPr>
            <a:r>
              <a:rPr>
                <a:ea typeface="微软雅黑"/>
              </a:rPr>
              <a:t>固体3.2g</a:t>
            </a:r>
          </a:p>
        </p:txBody>
      </p:sp>
      <p:sp>
        <p:nvSpPr>
          <p:cNvPr id="17" name="原题文字_208_13"/>
          <p:cNvSpPr txBox="1"/>
          <p:nvPr/>
        </p:nvSpPr>
        <p:spPr>
          <a:xfrm>
            <a:off x="6804559" y="2984467"/>
            <a:ext cx="107323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溶液，过滤</a:t>
            </a:r>
          </a:p>
        </p:txBody>
      </p:sp>
      <p:sp>
        <p:nvSpPr>
          <p:cNvPr id="18" name="原题文字_208_14"/>
          <p:cNvSpPr txBox="1"/>
          <p:nvPr/>
        </p:nvSpPr>
        <p:spPr>
          <a:xfrm>
            <a:off x="8343599" y="2946183"/>
            <a:ext cx="552563"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灼烧</a:t>
            </a:r>
          </a:p>
        </p:txBody>
      </p:sp>
      <p:sp>
        <p:nvSpPr>
          <p:cNvPr id="19" name="文字_下列说法正确的是（）"/>
          <p:cNvSpPr txBox="1"/>
          <p:nvPr/>
        </p:nvSpPr>
        <p:spPr>
          <a:xfrm>
            <a:off x="502920" y="337029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20" name="文字_A. 滤液A中的阳离子为Fe²⁺、Fe³⁺、H+"/>
          <p:cNvSpPr txBox="1"/>
          <p:nvPr/>
        </p:nvSpPr>
        <p:spPr>
          <a:xfrm>
            <a:off x="502920" y="380920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滤液A中的阳离子为Fe²⁺、Fe³⁺、H+</a:t>
            </a:r>
          </a:p>
        </p:txBody>
      </p:sp>
      <p:sp>
        <p:nvSpPr>
          <p:cNvPr id="21" name="文字_B. 该样品中Cu、O元素的质量比为10:1"/>
          <p:cNvSpPr txBox="1"/>
          <p:nvPr/>
        </p:nvSpPr>
        <p:spPr>
          <a:xfrm>
            <a:off x="502920" y="424812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该样品中Cu、O元素的质量比为10:1</a:t>
            </a:r>
          </a:p>
        </p:txBody>
      </p:sp>
      <p:sp>
        <p:nvSpPr>
          <p:cNvPr id="22" name="文字_C. V=448"/>
          <p:cNvSpPr txBox="1"/>
          <p:nvPr/>
        </p:nvSpPr>
        <p:spPr>
          <a:xfrm>
            <a:off x="502920" y="468703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V=448</a:t>
            </a:r>
          </a:p>
        </p:txBody>
      </p:sp>
      <p:sp>
        <p:nvSpPr>
          <p:cNvPr id="23" name="文字_D. 溶解样品时消耗H₂SO₄的物质的量为0.0"/>
          <p:cNvSpPr txBox="1"/>
          <p:nvPr/>
        </p:nvSpPr>
        <p:spPr>
          <a:xfrm>
            <a:off x="502920" y="512594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溶解样品时消耗H₂SO₄的物质的量为0.04mol</a:t>
            </a:r>
          </a:p>
        </p:txBody>
      </p:sp>
      <p:sp>
        <p:nvSpPr>
          <p:cNvPr id="24" name="文字_单选题  ·  09-08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09-082</a:t>
            </a:r>
          </a:p>
        </p:txBody>
      </p:sp>
      <p:sp>
        <p:nvSpPr>
          <p:cNvPr id="25" name="文字_10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例题6</a:t>
            </a:r>
          </a:p>
        </p:txBody>
      </p:sp>
      <p:sp>
        <p:nvSpPr>
          <p:cNvPr id="5" name="文字_P2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P208</a:t>
            </a:r>
          </a:p>
        </p:txBody>
      </p:sp>
      <p:sp>
        <p:nvSpPr>
          <p:cNvPr id="6" name="文字_以铁粉和氧化铁粉的混合物样品14.88g，加入1"/>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以铁粉和氧化铁粉的混合物样品14.88g，加入125ml稀硫酸充分反应，当固体粉末</a:t>
            </a:r>
          </a:p>
          <a:p>
            <a:pPr>
              <a:lnSpc>
                <a:spcPct val="112000"/>
              </a:lnSpc>
              <a:spcBef>
                <a:spcPts val="0"/>
              </a:spcBef>
              <a:spcAft>
                <a:spcPts val="0"/>
              </a:spcAft>
              <a:defRPr sz="2400" b="0">
                <a:solidFill>
                  <a:srgbClr val="333333"/>
                </a:solidFill>
                <a:latin typeface="微软雅黑"/>
              </a:defRPr>
            </a:pPr>
            <a:r>
              <a:rPr>
                <a:ea typeface="微软雅黑"/>
              </a:rPr>
              <a:t>完全溶解时，收集到气体3.36L(标准状况下)；当向溶液中滴加KSCN溶液时，溶液</a:t>
            </a:r>
          </a:p>
          <a:p>
            <a:pPr>
              <a:lnSpc>
                <a:spcPct val="112000"/>
              </a:lnSpc>
              <a:spcBef>
                <a:spcPts val="0"/>
              </a:spcBef>
              <a:spcAft>
                <a:spcPts val="0"/>
              </a:spcAft>
              <a:defRPr sz="2400" b="0">
                <a:solidFill>
                  <a:srgbClr val="333333"/>
                </a:solidFill>
                <a:latin typeface="微软雅黑"/>
              </a:defRPr>
            </a:pPr>
            <a:r>
              <a:rPr>
                <a:ea typeface="微软雅黑"/>
              </a:rPr>
              <a:t>不显红色。再用5mol/L的NaOH溶液中和过量的硫酸，并继续加碱液至150ml时</a:t>
            </a:r>
          </a:p>
          <a:p>
            <a:pPr>
              <a:lnSpc>
                <a:spcPct val="112000"/>
              </a:lnSpc>
              <a:spcBef>
                <a:spcPts val="0"/>
              </a:spcBef>
              <a:spcAft>
                <a:spcPts val="0"/>
              </a:spcAft>
              <a:defRPr sz="2400" b="0">
                <a:solidFill>
                  <a:srgbClr val="333333"/>
                </a:solidFill>
                <a:latin typeface="微软雅黑"/>
              </a:defRPr>
            </a:pPr>
            <a:r>
              <a:rPr>
                <a:ea typeface="微软雅黑"/>
              </a:rPr>
              <a:t>，恰好将溶液中的金属阳离子全部沉淀。求：</a:t>
            </a:r>
          </a:p>
        </p:txBody>
      </p:sp>
      <p:sp>
        <p:nvSpPr>
          <p:cNvPr id="7" name="文字_(1) 原样品中的氧化铁的百分含量"/>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原样品中的氧化铁的百分含量</a:t>
            </a:r>
          </a:p>
        </p:txBody>
      </p:sp>
      <p:sp>
        <p:nvSpPr>
          <p:cNvPr id="8" name="文字_(2)上述稀硫酸的物质的量的浓度"/>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(2)上述稀硫酸的物质的量的浓度</a:t>
            </a:r>
          </a:p>
        </p:txBody>
      </p:sp>
      <p:sp>
        <p:nvSpPr>
          <p:cNvPr id="9" name="文字_填空题  ·  09-08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09-083</a:t>
            </a:r>
          </a:p>
        </p:txBody>
      </p:sp>
      <p:sp>
        <p:nvSpPr>
          <p:cNvPr id="10" name="文字_10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例题7</a:t>
            </a:r>
          </a:p>
        </p:txBody>
      </p:sp>
      <p:sp>
        <p:nvSpPr>
          <p:cNvPr id="5" name="文字_P2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P208</a:t>
            </a:r>
          </a:p>
        </p:txBody>
      </p:sp>
      <p:sp>
        <p:nvSpPr>
          <p:cNvPr id="6" name="文字_称取4.00g氧化铜和氧化铁固体混合物，加入50"/>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称取4.00g氧化铜和氧化铁固体混合物，加入50.0mL₂.00mol·L-1的硫酸充分溶解</a:t>
            </a:r>
          </a:p>
          <a:p>
            <a:pPr>
              <a:lnSpc>
                <a:spcPct val="112000"/>
              </a:lnSpc>
              <a:spcBef>
                <a:spcPts val="0"/>
              </a:spcBef>
              <a:spcAft>
                <a:spcPts val="0"/>
              </a:spcAft>
              <a:defRPr sz="2400" b="0">
                <a:solidFill>
                  <a:srgbClr val="333333"/>
                </a:solidFill>
                <a:latin typeface="微软雅黑"/>
              </a:defRPr>
            </a:pPr>
            <a:r>
              <a:rPr>
                <a:ea typeface="微软雅黑"/>
              </a:rPr>
              <a:t>，往所得溶液中加入5.60g铁粉，充分反应后，得固体的质量为3.04g。请计算：</a:t>
            </a:r>
          </a:p>
        </p:txBody>
      </p:sp>
      <p:sp>
        <p:nvSpPr>
          <p:cNvPr id="7" name="文字_(1）加入铁粉充分反应后，溶液中溶质的物质的量"/>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(1）加入铁粉充分反应后，溶液中溶质的物质的量</a:t>
            </a:r>
          </a:p>
        </p:txBody>
      </p:sp>
      <p:sp>
        <p:nvSpPr>
          <p:cNvPr id="8" name="文字_(2) 固体混合物中氧化铜的质量"/>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固体混合物中氧化铜的质量</a:t>
            </a:r>
          </a:p>
        </p:txBody>
      </p:sp>
      <p:sp>
        <p:nvSpPr>
          <p:cNvPr id="9" name="文字_解答题  ·  09-08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09-084</a:t>
            </a:r>
          </a:p>
        </p:txBody>
      </p:sp>
      <p:sp>
        <p:nvSpPr>
          <p:cNvPr id="10" name="文字_10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综合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综合1</a:t>
            </a:r>
          </a:p>
        </p:txBody>
      </p:sp>
      <p:sp>
        <p:nvSpPr>
          <p:cNvPr id="5" name="文字_P2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P208</a:t>
            </a:r>
          </a:p>
        </p:txBody>
      </p:sp>
      <p:sp>
        <p:nvSpPr>
          <p:cNvPr id="6" name="文字_将0.1mol·L-1CuSO₄溶液和0.1mo"/>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将0.1mol·L-1CuSO₄溶液和0.1mol·L-1Fe₂(SO₄)₃溶液等体积混合（忽略体积变</a:t>
            </a:r>
          </a:p>
          <a:p>
            <a:pPr>
              <a:lnSpc>
                <a:spcPct val="112000"/>
              </a:lnSpc>
              <a:spcBef>
                <a:spcPts val="0"/>
              </a:spcBef>
              <a:spcAft>
                <a:spcPts val="0"/>
              </a:spcAft>
              <a:defRPr sz="2400" b="0">
                <a:solidFill>
                  <a:srgbClr val="333333"/>
                </a:solidFill>
                <a:latin typeface="微软雅黑"/>
              </a:defRPr>
            </a:pPr>
            <a:r>
              <a:rPr>
                <a:ea typeface="微软雅黑"/>
              </a:rPr>
              <a:t>化），再向其中加入足量铁粉，经过足够长时间后，铁粉仍有剩余，则此时Fe²⁺的</a:t>
            </a:r>
          </a:p>
          <a:p>
            <a:pPr>
              <a:lnSpc>
                <a:spcPct val="112000"/>
              </a:lnSpc>
              <a:spcBef>
                <a:spcPts val="0"/>
              </a:spcBef>
              <a:spcAft>
                <a:spcPts val="0"/>
              </a:spcAft>
              <a:defRPr sz="2400" b="0">
                <a:solidFill>
                  <a:srgbClr val="333333"/>
                </a:solidFill>
                <a:latin typeface="微软雅黑"/>
              </a:defRPr>
            </a:pPr>
            <a:r>
              <a:rPr>
                <a:ea typeface="微软雅黑"/>
              </a:rPr>
              <a:t>物质的量浓度为（）</a:t>
            </a:r>
          </a:p>
        </p:txBody>
      </p:sp>
      <p:sp>
        <p:nvSpPr>
          <p:cNvPr id="7" name="文字_A. 0.1 mol·L-1"/>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0.1 mol·L-1</a:t>
            </a:r>
          </a:p>
        </p:txBody>
      </p:sp>
      <p:sp>
        <p:nvSpPr>
          <p:cNvPr id="8" name="文字_B. 0.2 mol·L-1"/>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0.2 mol·L-1</a:t>
            </a:r>
          </a:p>
        </p:txBody>
      </p:sp>
      <p:sp>
        <p:nvSpPr>
          <p:cNvPr id="9" name="文字_C. 0.3 mol·L-1"/>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0.3 mol·L-1</a:t>
            </a:r>
          </a:p>
        </p:txBody>
      </p:sp>
      <p:sp>
        <p:nvSpPr>
          <p:cNvPr id="10" name="文字_D. 0.4 mol·L-1"/>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0.4 mol·L-1</a:t>
            </a:r>
          </a:p>
        </p:txBody>
      </p:sp>
      <p:sp>
        <p:nvSpPr>
          <p:cNvPr id="11" name="文字_单选题  ·  09-08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09-085</a:t>
            </a:r>
          </a:p>
        </p:txBody>
      </p:sp>
      <p:sp>
        <p:nvSpPr>
          <p:cNvPr id="12" name="文字_10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综合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综合2</a:t>
            </a:r>
          </a:p>
        </p:txBody>
      </p:sp>
      <p:sp>
        <p:nvSpPr>
          <p:cNvPr id="5" name="文字_P208–2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P208–209</a:t>
            </a:r>
          </a:p>
        </p:txBody>
      </p:sp>
      <p:sp>
        <p:nvSpPr>
          <p:cNvPr id="6" name="文字_在100mL₅.0mol/L的FeCl₃溶液中加"/>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在100mL₅.0mol/L的FeCl₃溶液中加入16.0g铜和铁的混合物，充分反应后剩余固</a:t>
            </a:r>
          </a:p>
          <a:p>
            <a:pPr>
              <a:lnSpc>
                <a:spcPct val="112000"/>
              </a:lnSpc>
              <a:spcBef>
                <a:spcPts val="0"/>
              </a:spcBef>
              <a:spcAft>
                <a:spcPts val="0"/>
              </a:spcAft>
              <a:defRPr sz="2400" b="0">
                <a:solidFill>
                  <a:srgbClr val="333333"/>
                </a:solidFill>
                <a:latin typeface="微软雅黑"/>
              </a:defRPr>
            </a:pPr>
            <a:r>
              <a:rPr>
                <a:ea typeface="微软雅黑"/>
              </a:rPr>
              <a:t>体1.2g(反应前后体积变化忽略不计，不考虑空气等影响)。下列有关说法不正确的</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A. FeCl₃溶液中的Fe³⁺已全部反应"/>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FeCl₃溶液中的Fe³⁺已全部反应</a:t>
            </a:r>
          </a:p>
        </p:txBody>
      </p:sp>
      <p:sp>
        <p:nvSpPr>
          <p:cNvPr id="8" name="文字_B. 还原剂失去电子的物质的量为0.5mo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还原剂失去电子的物质的量为0.5mol</a:t>
            </a:r>
          </a:p>
        </p:txBody>
      </p:sp>
      <p:sp>
        <p:nvSpPr>
          <p:cNvPr id="9" name="文字_C. 原混合物中含有铜7.6g"/>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原混合物中含有铜7.6g</a:t>
            </a:r>
          </a:p>
        </p:txBody>
      </p:sp>
      <p:sp>
        <p:nvSpPr>
          <p:cNvPr id="10" name="文字_D. 根据氯元素守恒，可求得反应后溶液中Fe²⁺"/>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根据氯元素守恒，可求得反应后溶液中Fe²⁺的浓度是7.5mol/L</a:t>
            </a:r>
          </a:p>
        </p:txBody>
      </p:sp>
      <p:sp>
        <p:nvSpPr>
          <p:cNvPr id="11" name="文字_单选题  ·  09-08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09-086</a:t>
            </a:r>
          </a:p>
        </p:txBody>
      </p:sp>
      <p:sp>
        <p:nvSpPr>
          <p:cNvPr id="12" name="文字_10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综合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综合3</a:t>
            </a:r>
          </a:p>
        </p:txBody>
      </p:sp>
      <p:sp>
        <p:nvSpPr>
          <p:cNvPr id="5" name="文字_P2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P209</a:t>
            </a:r>
          </a:p>
        </p:txBody>
      </p:sp>
      <p:sp>
        <p:nvSpPr>
          <p:cNvPr id="6" name="文字_向一定量的Fe、Fe₂O₃和CuO混合物投入10"/>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向一定量的Fe、Fe₂O₃和CuO混合物投入100mL₀.9mol/L的硫酸溶液中，充分反</a:t>
            </a:r>
          </a:p>
          <a:p>
            <a:pPr>
              <a:lnSpc>
                <a:spcPct val="112000"/>
              </a:lnSpc>
              <a:spcBef>
                <a:spcPts val="0"/>
              </a:spcBef>
              <a:spcAft>
                <a:spcPts val="0"/>
              </a:spcAft>
              <a:defRPr sz="2400" b="0">
                <a:solidFill>
                  <a:srgbClr val="333333"/>
                </a:solidFill>
                <a:latin typeface="微软雅黑"/>
              </a:defRPr>
            </a:pPr>
            <a:r>
              <a:rPr>
                <a:ea typeface="微软雅黑"/>
              </a:rPr>
              <a:t>应后生成448mL标准状况下的气体，得不溶物0.03mol。向滤液中加入2mol/L的</a:t>
            </a:r>
          </a:p>
          <a:p>
            <a:pPr>
              <a:lnSpc>
                <a:spcPct val="112000"/>
              </a:lnSpc>
              <a:spcBef>
                <a:spcPts val="0"/>
              </a:spcBef>
              <a:spcAft>
                <a:spcPts val="0"/>
              </a:spcAft>
              <a:defRPr sz="2400" b="0">
                <a:solidFill>
                  <a:srgbClr val="333333"/>
                </a:solidFill>
                <a:latin typeface="微软雅黑"/>
              </a:defRPr>
            </a:pPr>
            <a:r>
              <a:rPr>
                <a:ea typeface="微软雅黑"/>
              </a:rPr>
              <a:t>NaOH溶液，加至10mL时开始出现沉淀。忽略溶液的体积变化，下列说法不正确</a:t>
            </a:r>
          </a:p>
          <a:p>
            <a:pPr>
              <a:lnSpc>
                <a:spcPct val="112000"/>
              </a:lnSpc>
              <a:spcBef>
                <a:spcPts val="0"/>
              </a:spcBef>
              <a:spcAft>
                <a:spcPts val="0"/>
              </a:spcAft>
              <a:defRPr sz="2400" b="0">
                <a:solidFill>
                  <a:srgbClr val="333333"/>
                </a:solidFill>
                <a:latin typeface="微软雅黑"/>
              </a:defRPr>
            </a:pPr>
            <a:r>
              <a:rPr>
                <a:ea typeface="微软雅黑"/>
              </a:rPr>
              <a:t>的</a:t>
            </a:r>
          </a:p>
        </p:txBody>
      </p:sp>
      <p:sp>
        <p:nvSpPr>
          <p:cNvPr id="7" name="文字_A. 0.03mol不溶物全为Cu"/>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0.03mol不溶物全为Cu</a:t>
            </a:r>
          </a:p>
        </p:txBody>
      </p:sp>
      <p:sp>
        <p:nvSpPr>
          <p:cNvPr id="8" name="文字_B. 混合物中氧原子的物质的量为0.05mol"/>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混合物中氧原子的物质的量为0.05mol</a:t>
            </a:r>
          </a:p>
        </p:txBody>
      </p:sp>
      <p:sp>
        <p:nvSpPr>
          <p:cNvPr id="9" name="文字_C. 滤液中的阳离子只有两种"/>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滤液中的阳离子只有两种</a:t>
            </a:r>
          </a:p>
        </p:txBody>
      </p:sp>
      <p:sp>
        <p:nvSpPr>
          <p:cNvPr id="10" name="文字_D. 滤液中的Fe²⁺的物质的量浓度为0.8mo"/>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滤液中的Fe²⁺的物质的量浓度为0.8mol/L</a:t>
            </a:r>
          </a:p>
        </p:txBody>
      </p:sp>
      <p:sp>
        <p:nvSpPr>
          <p:cNvPr id="11" name="文字_单选题  ·  09-08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09-087</a:t>
            </a:r>
          </a:p>
        </p:txBody>
      </p:sp>
      <p:sp>
        <p:nvSpPr>
          <p:cNvPr id="12" name="文字_10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综合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综合4</a:t>
            </a:r>
          </a:p>
        </p:txBody>
      </p:sp>
      <p:sp>
        <p:nvSpPr>
          <p:cNvPr id="5" name="文字_P2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P209</a:t>
            </a:r>
          </a:p>
        </p:txBody>
      </p:sp>
      <p:sp>
        <p:nvSpPr>
          <p:cNvPr id="6" name="文字_往xg铁铜的混合粉末中加入一定体积某浓度的2.0"/>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往xg铁铜的混合粉末中加入一定体积某浓度的2.00mol·L-1FeCl₃溶液，充分反应</a:t>
            </a:r>
          </a:p>
          <a:p>
            <a:pPr>
              <a:lnSpc>
                <a:spcPct val="112000"/>
              </a:lnSpc>
              <a:spcBef>
                <a:spcPts val="0"/>
              </a:spcBef>
              <a:spcAft>
                <a:spcPts val="0"/>
              </a:spcAft>
              <a:defRPr sz="2400" b="0">
                <a:solidFill>
                  <a:srgbClr val="333333"/>
                </a:solidFill>
                <a:latin typeface="微软雅黑"/>
              </a:defRPr>
            </a:pPr>
            <a:r>
              <a:rPr>
                <a:ea typeface="微软雅黑"/>
              </a:rPr>
              <a:t>后剩余固体的质量与加入FeCl₃溶液</a:t>
            </a:r>
          </a:p>
        </p:txBody>
      </p:sp>
      <p:pic>
        <p:nvPicPr>
          <p:cNvPr id="7" name="Picture 6" descr="image.png"/>
          <p:cNvPicPr>
            <a:picLocks noChangeAspect="1"/>
          </p:cNvPicPr>
          <p:nvPr/>
        </p:nvPicPr>
        <p:blipFill>
          <a:blip r:embed="rId3"/>
          <a:stretch>
            <a:fillRect/>
          </a:stretch>
        </p:blipFill>
        <p:spPr>
          <a:xfrm>
            <a:off x="502920" y="1880616"/>
            <a:ext cx="11064240" cy="1569667"/>
          </a:xfrm>
          <a:prstGeom prst="rect">
            <a:avLst/>
          </a:prstGeom>
        </p:spPr>
      </p:pic>
      <p:sp>
        <p:nvSpPr>
          <p:cNvPr id="8" name="原题文字_209_15"/>
          <p:cNvSpPr txBox="1"/>
          <p:nvPr/>
        </p:nvSpPr>
        <p:spPr>
          <a:xfrm>
            <a:off x="602459" y="1912499"/>
            <a:ext cx="208394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的体积存在如下关系：</a:t>
            </a:r>
          </a:p>
        </p:txBody>
      </p:sp>
      <p:sp>
        <p:nvSpPr>
          <p:cNvPr id="9" name="原题文字_209_16"/>
          <p:cNvSpPr txBox="1"/>
          <p:nvPr/>
        </p:nvSpPr>
        <p:spPr>
          <a:xfrm>
            <a:off x="625430" y="2295345"/>
            <a:ext cx="2505076" cy="388205"/>
          </a:xfrm>
          <a:prstGeom prst="rect">
            <a:avLst/>
          </a:prstGeom>
          <a:noFill/>
        </p:spPr>
        <p:txBody>
          <a:bodyPr wrap="none" lIns="0" rIns="0" tIns="0" bIns="0">
            <a:spAutoFit/>
          </a:bodyPr>
          <a:lstStyle/>
          <a:p>
            <a:pPr>
              <a:lnSpc>
                <a:spcPct val="112000"/>
              </a:lnSpc>
              <a:spcBef>
                <a:spcPts val="0"/>
              </a:spcBef>
              <a:spcAft>
                <a:spcPts val="0"/>
              </a:spcAft>
              <a:defRPr sz="1635" b="0">
                <a:solidFill>
                  <a:srgbClr val="333333"/>
                </a:solidFill>
                <a:latin typeface="微软雅黑"/>
              </a:defRPr>
            </a:pPr>
            <a:r>
              <a:rPr>
                <a:ea typeface="微软雅黑"/>
              </a:rPr>
              <a:t>加入FeCl₃溶液体积（mL）</a:t>
            </a:r>
          </a:p>
        </p:txBody>
      </p:sp>
      <p:sp>
        <p:nvSpPr>
          <p:cNvPr id="10" name="原题文字_209_17"/>
          <p:cNvSpPr txBox="1"/>
          <p:nvPr/>
        </p:nvSpPr>
        <p:spPr>
          <a:xfrm>
            <a:off x="3159868" y="2295345"/>
            <a:ext cx="950722"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100200</a:t>
            </a:r>
          </a:p>
        </p:txBody>
      </p:sp>
      <p:sp>
        <p:nvSpPr>
          <p:cNvPr id="11" name="原题文字_209_18"/>
          <p:cNvSpPr txBox="1"/>
          <p:nvPr/>
        </p:nvSpPr>
        <p:spPr>
          <a:xfrm>
            <a:off x="4002129" y="2325973"/>
            <a:ext cx="50662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300</a:t>
            </a:r>
          </a:p>
        </p:txBody>
      </p:sp>
      <p:sp>
        <p:nvSpPr>
          <p:cNvPr id="12" name="原题文字_209_19"/>
          <p:cNvSpPr txBox="1"/>
          <p:nvPr/>
        </p:nvSpPr>
        <p:spPr>
          <a:xfrm>
            <a:off x="4423259" y="2318316"/>
            <a:ext cx="47599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400</a:t>
            </a:r>
          </a:p>
        </p:txBody>
      </p:sp>
      <p:sp>
        <p:nvSpPr>
          <p:cNvPr id="13" name="原题文字_209_20"/>
          <p:cNvSpPr txBox="1"/>
          <p:nvPr/>
        </p:nvSpPr>
        <p:spPr>
          <a:xfrm>
            <a:off x="617773" y="2693504"/>
            <a:ext cx="1823611" cy="408113"/>
          </a:xfrm>
          <a:prstGeom prst="rect">
            <a:avLst/>
          </a:prstGeom>
          <a:noFill/>
        </p:spPr>
        <p:txBody>
          <a:bodyPr wrap="none" lIns="0" rIns="0" tIns="0" bIns="0">
            <a:spAutoFit/>
          </a:bodyPr>
          <a:lstStyle/>
          <a:p>
            <a:pPr>
              <a:lnSpc>
                <a:spcPct val="112000"/>
              </a:lnSpc>
              <a:spcBef>
                <a:spcPts val="0"/>
              </a:spcBef>
              <a:spcAft>
                <a:spcPts val="0"/>
              </a:spcAft>
              <a:defRPr sz="1676" b="0">
                <a:solidFill>
                  <a:srgbClr val="333333"/>
                </a:solidFill>
                <a:latin typeface="微软雅黑"/>
              </a:defRPr>
            </a:pPr>
            <a:r>
              <a:rPr>
                <a:ea typeface="微软雅黑"/>
              </a:rPr>
              <a:t>剩余固体质量（g）</a:t>
            </a:r>
          </a:p>
        </p:txBody>
      </p:sp>
      <p:sp>
        <p:nvSpPr>
          <p:cNvPr id="14" name="原题文字_209_21"/>
          <p:cNvSpPr txBox="1"/>
          <p:nvPr/>
        </p:nvSpPr>
        <p:spPr>
          <a:xfrm>
            <a:off x="3175182" y="2716475"/>
            <a:ext cx="1509677" cy="378251"/>
          </a:xfrm>
          <a:prstGeom prst="rect">
            <a:avLst/>
          </a:prstGeom>
          <a:noFill/>
        </p:spPr>
        <p:txBody>
          <a:bodyPr wrap="none" lIns="0" rIns="0" tIns="0" bIns="0">
            <a:spAutoFit/>
          </a:bodyPr>
          <a:lstStyle/>
          <a:p>
            <a:pPr>
              <a:lnSpc>
                <a:spcPct val="112000"/>
              </a:lnSpc>
              <a:spcBef>
                <a:spcPts val="0"/>
              </a:spcBef>
              <a:spcAft>
                <a:spcPts val="0"/>
              </a:spcAft>
              <a:defRPr sz="1827" b="0">
                <a:solidFill>
                  <a:srgbClr val="333333"/>
                </a:solidFill>
                <a:latin typeface="微软雅黑"/>
              </a:defRPr>
            </a:pPr>
            <a:r>
              <a:rPr>
                <a:ea typeface="微软雅黑"/>
              </a:rPr>
              <a:t>14.89.203.200</a:t>
            </a:r>
          </a:p>
        </p:txBody>
      </p:sp>
      <p:sp>
        <p:nvSpPr>
          <p:cNvPr id="15" name="原题文字_209_22"/>
          <p:cNvSpPr txBox="1"/>
          <p:nvPr/>
        </p:nvSpPr>
        <p:spPr>
          <a:xfrm>
            <a:off x="610116" y="3168233"/>
            <a:ext cx="198440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下列说法不正确的是</a:t>
            </a:r>
          </a:p>
        </p:txBody>
      </p:sp>
      <p:sp>
        <p:nvSpPr>
          <p:cNvPr id="16" name="文字_A. x=20.6"/>
          <p:cNvSpPr txBox="1"/>
          <p:nvPr/>
        </p:nvSpPr>
        <p:spPr>
          <a:xfrm>
            <a:off x="502920" y="352343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x=20.6</a:t>
            </a:r>
          </a:p>
        </p:txBody>
      </p:sp>
      <p:sp>
        <p:nvSpPr>
          <p:cNvPr id="17" name="文字_B. 加入FeCl₃溶液300mL充分反应后，剩"/>
          <p:cNvSpPr txBox="1"/>
          <p:nvPr/>
        </p:nvSpPr>
        <p:spPr>
          <a:xfrm>
            <a:off x="502920" y="396234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加入FeCl₃溶液300mL充分反应后，剩余固体只有Cu</a:t>
            </a:r>
          </a:p>
        </p:txBody>
      </p:sp>
      <p:sp>
        <p:nvSpPr>
          <p:cNvPr id="18" name="文字_C. 混合粉末中Fe和Cu质量之比为35：16"/>
          <p:cNvSpPr txBox="1"/>
          <p:nvPr/>
        </p:nvSpPr>
        <p:spPr>
          <a:xfrm>
            <a:off x="502920" y="440125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混合粉末中Fe和Cu质量之比为35：16</a:t>
            </a:r>
          </a:p>
        </p:txBody>
      </p:sp>
      <p:sp>
        <p:nvSpPr>
          <p:cNvPr id="19" name="文字_D. 加入FeCl₃溶液400mL充分反应后的溶"/>
          <p:cNvSpPr txBox="1"/>
          <p:nvPr/>
        </p:nvSpPr>
        <p:spPr>
          <a:xfrm>
            <a:off x="502920" y="484017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加入FeCl₃溶液400mL充分反应后的溶液，还能溶解铁粉8.40g</a:t>
            </a:r>
          </a:p>
        </p:txBody>
      </p:sp>
      <p:sp>
        <p:nvSpPr>
          <p:cNvPr id="20" name="文字_单选题  ·  09-08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09-088</a:t>
            </a:r>
          </a:p>
        </p:txBody>
      </p:sp>
      <p:sp>
        <p:nvSpPr>
          <p:cNvPr id="21" name="文字_10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综合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综合5</a:t>
            </a:r>
          </a:p>
        </p:txBody>
      </p:sp>
      <p:sp>
        <p:nvSpPr>
          <p:cNvPr id="5" name="文字_P2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P209</a:t>
            </a:r>
          </a:p>
        </p:txBody>
      </p:sp>
      <p:sp>
        <p:nvSpPr>
          <p:cNvPr id="6" name="文字_现有CuO和Fe₂O₃组成的混合物，用100mL"/>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现有CuO和Fe₂O₃组成的混合物，用100mL一定浓度的稀硫酸将其完全溶解。向</a:t>
            </a:r>
          </a:p>
          <a:p>
            <a:pPr>
              <a:lnSpc>
                <a:spcPct val="112000"/>
              </a:lnSpc>
              <a:spcBef>
                <a:spcPts val="0"/>
              </a:spcBef>
              <a:spcAft>
                <a:spcPts val="0"/>
              </a:spcAft>
              <a:defRPr sz="2400" b="0">
                <a:solidFill>
                  <a:srgbClr val="333333"/>
                </a:solidFill>
                <a:latin typeface="微软雅黑"/>
              </a:defRPr>
            </a:pPr>
            <a:r>
              <a:rPr>
                <a:ea typeface="微软雅黑"/>
              </a:rPr>
              <a:t>反应后的溶液中加入4.48g铁粉，恰好完全反应，得到112mL（标准状况下）气体</a:t>
            </a:r>
          </a:p>
          <a:p>
            <a:pPr>
              <a:lnSpc>
                <a:spcPct val="112000"/>
              </a:lnSpc>
              <a:spcBef>
                <a:spcPts val="0"/>
              </a:spcBef>
              <a:spcAft>
                <a:spcPts val="0"/>
              </a:spcAft>
              <a:defRPr sz="2400" b="0">
                <a:solidFill>
                  <a:srgbClr val="333333"/>
                </a:solidFill>
                <a:latin typeface="微软雅黑"/>
              </a:defRPr>
            </a:pPr>
            <a:r>
              <a:rPr>
                <a:ea typeface="微软雅黑"/>
              </a:rPr>
              <a:t>，过滤得到红色固体4.48g。</a:t>
            </a:r>
          </a:p>
        </p:txBody>
      </p:sp>
      <p:sp>
        <p:nvSpPr>
          <p:cNvPr id="7" name="文字_(1) 反应中放出气体的质量为 ______ g"/>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反应中放出气体的质量为 ______ go</a:t>
            </a:r>
          </a:p>
        </p:txBody>
      </p:sp>
      <p:sp>
        <p:nvSpPr>
          <p:cNvPr id="8" name="文字_(2) 固体混合物中CuO的物质的量为 ____"/>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固体混合物中CuO的物质的量为 ______ mol。</a:t>
            </a:r>
          </a:p>
        </p:txBody>
      </p:sp>
      <p:sp>
        <p:nvSpPr>
          <p:cNvPr id="9" name="文字_(3) 所用稀硫酸的物质的量浓度为 ______"/>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所用稀硫酸的物质的量浓度为 ______ mol·L-1</a:t>
            </a:r>
          </a:p>
        </p:txBody>
      </p:sp>
      <p:sp>
        <p:nvSpPr>
          <p:cNvPr id="10" name="文字_解答题  ·  09-08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09-089</a:t>
            </a:r>
          </a:p>
        </p:txBody>
      </p:sp>
      <p:sp>
        <p:nvSpPr>
          <p:cNvPr id="11" name="文字_10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铁的计算 · 综合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铁的计算 · 综合6</a:t>
            </a:r>
          </a:p>
        </p:txBody>
      </p:sp>
      <p:sp>
        <p:nvSpPr>
          <p:cNvPr id="5" name="文字_P2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P209</a:t>
            </a:r>
          </a:p>
        </p:txBody>
      </p:sp>
      <p:sp>
        <p:nvSpPr>
          <p:cNvPr id="6" name="文字_将 6 g 的铁粉加入 200 m L Fe₂("/>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 6 g 的铁粉加入 200 m L Fe₂(SO₄)₃ 和 CuSO₄ 的混合溶液，充分反应得到 </a:t>
            </a:r>
          </a:p>
          <a:p>
            <a:pPr>
              <a:lnSpc>
                <a:spcPct val="112000"/>
              </a:lnSpc>
              <a:spcBef>
                <a:spcPts val="0"/>
              </a:spcBef>
              <a:spcAft>
                <a:spcPts val="0"/>
              </a:spcAft>
              <a:defRPr sz="2400" b="0">
                <a:solidFill>
                  <a:srgbClr val="333333"/>
                </a:solidFill>
                <a:latin typeface="微软雅黑"/>
              </a:defRPr>
            </a:pPr>
            <a:r>
              <a:rPr>
                <a:ea typeface="微软雅黑"/>
              </a:rPr>
              <a:t>200 mL 0.5 mol ·L−1 FeSO₄ 溶液和</a:t>
            </a:r>
          </a:p>
        </p:txBody>
      </p:sp>
      <p:sp>
        <p:nvSpPr>
          <p:cNvPr id="7" name="文字_5.2 g固体沉淀物。试计算："/>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5.2 g固体沉淀物。试计算：</a:t>
            </a:r>
          </a:p>
        </p:txBody>
      </p:sp>
      <p:sp>
        <p:nvSpPr>
          <p:cNvPr id="8" name="文字_(1) 反应后生成铜的质量；"/>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反应后生成铜的质量；</a:t>
            </a:r>
          </a:p>
        </p:txBody>
      </p:sp>
      <p:sp>
        <p:nvSpPr>
          <p:cNvPr id="9" name="文字_(2) 原 Fe₂(SO₄)₃ 溶液的物质的量浓"/>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原 Fe₂(SO₄)₃ 溶液的物质的量浓度。</a:t>
            </a:r>
          </a:p>
        </p:txBody>
      </p:sp>
      <p:sp>
        <p:nvSpPr>
          <p:cNvPr id="10" name="文字_解答题  ·  09-09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09-090</a:t>
            </a:r>
          </a:p>
        </p:txBody>
      </p:sp>
      <p:sp>
        <p:nvSpPr>
          <p:cNvPr id="11" name="文字_10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铁及其化合物</dc:title>
  <dc:subject>高一化学课堂课件：知识讲解与原题</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zh-CN</dc:language>
</cp:coreProperties>
</file>
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P222；PDF 文件第 224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P223；PDF 文件第 225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P223；PDF 文件第 225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例题 1 / 单选题</a:t>
            </a:r>
          </a:p>
          <a:p>
            <a:r>
              <a:t>讲义印刷页：P224</a:t>
            </a:r>
          </a:p>
          <a:p>
            <a:r>
              <a:t>PDF 文件页：226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例题 2 / 单选题</a:t>
            </a:r>
          </a:p>
          <a:p>
            <a:r>
              <a:t>讲义印刷页：P224</a:t>
            </a:r>
          </a:p>
          <a:p>
            <a:r>
              <a:t>PDF 文件页：226</a:t>
            </a:r>
          </a:p>
          <a:p>
            <a:r>
              <a:t>题目保留原题空白；未补充答案。文字为可编辑内容，图形保留原图线条。</a:t>
            </a:r>
          </a:p>
          <a:p>
            <a:r>
              <a:t>OCR 重点复核位置（请对照原讲义检查公式、上下标和字符）：</a:t>
            </a:r>
          </a:p>
          <a:p>
            <a:r>
              <a:t>P224：A. kR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例题 3 / 单选题</a:t>
            </a:r>
          </a:p>
          <a:p>
            <a:r>
              <a:t>讲义印刷页：P224</a:t>
            </a:r>
          </a:p>
          <a:p>
            <a:r>
              <a:t>PDF 文件页：226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例题 4 / 单选题</a:t>
            </a:r>
          </a:p>
          <a:p>
            <a:r>
              <a:t>讲义印刷页：P224</a:t>
            </a:r>
          </a:p>
          <a:p>
            <a:r>
              <a:t>PDF 文件页：226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例题 5 / 单选题</a:t>
            </a:r>
          </a:p>
          <a:p>
            <a:r>
              <a:t>讲义印刷页：P225</a:t>
            </a:r>
          </a:p>
          <a:p>
            <a:r>
              <a:t>PDF 文件页：227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例题 6 / 单选题</a:t>
            </a:r>
          </a:p>
          <a:p>
            <a:r>
              <a:t>讲义印刷页：P225</a:t>
            </a:r>
          </a:p>
          <a:p>
            <a:r>
              <a:t>PDF 文件页：227</a:t>
            </a:r>
          </a:p>
          <a:p>
            <a:r>
              <a:t>题目保留原题空白；未补充答案。文字为可编辑内容，图形保留原图线条。</a:t>
            </a:r>
          </a:p>
          <a:p>
            <a:r>
              <a:t>OCR 重点复核位置（请对照原讲义检查公式、上下标和字符）：</a:t>
            </a:r>
          </a:p>
          <a:p>
            <a:r>
              <a:t>P225：235U + 1n →1</a:t>
            </a:r>
          </a:p>
          <a:p>
            <a:r>
              <a:t>P225：235U与234U为同位素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例题 7 / 单选题</a:t>
            </a:r>
          </a:p>
          <a:p>
            <a:r>
              <a:t>讲义印刷页：P225</a:t>
            </a:r>
          </a:p>
          <a:p>
            <a:r>
              <a:t>PDF 文件页：227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变式 1 / 单选题</a:t>
            </a:r>
          </a:p>
          <a:p>
            <a:r>
              <a:t>讲义印刷页：P225</a:t>
            </a:r>
          </a:p>
          <a:p>
            <a:r>
              <a:t>PDF 文件页：227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变式 2 / 单选题</a:t>
            </a:r>
          </a:p>
          <a:p>
            <a:r>
              <a:t>讲义印刷页：P226</a:t>
            </a:r>
          </a:p>
          <a:p>
            <a:r>
              <a:t>PDF 文件页：228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变式 3 / 单选题</a:t>
            </a:r>
          </a:p>
          <a:p>
            <a:r>
              <a:t>讲义印刷页：P226</a:t>
            </a:r>
          </a:p>
          <a:p>
            <a:r>
              <a:t>PDF 文件页：228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变式 4 / 解答题</a:t>
            </a:r>
          </a:p>
          <a:p>
            <a:r>
              <a:t>讲义印刷页：P226</a:t>
            </a:r>
          </a:p>
          <a:p>
            <a:r>
              <a:t>PDF 文件页：228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变式 5 / 单选题</a:t>
            </a:r>
          </a:p>
          <a:p>
            <a:r>
              <a:t>讲义印刷页：P226</a:t>
            </a:r>
          </a:p>
          <a:p>
            <a:r>
              <a:t>PDF 文件页：228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原题定位：知识点1原子结构与核素 / 变式 6 / 单选题</a:t>
            </a:r>
          </a:p>
          <a:p>
            <a:r>
              <a:t>讲义印刷页：P226</a:t>
            </a:r>
          </a:p>
          <a:p>
            <a:r>
              <a:t>PDF 文件页：228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P227；PDF 文件第 229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P228；PDF 文件第 230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P228；PDF 文件第 230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例题 1 / 单选题</a:t>
            </a:r>
          </a:p>
          <a:p>
            <a:r>
              <a:t>讲义印刷页：P230</a:t>
            </a:r>
          </a:p>
          <a:p>
            <a:r>
              <a:t>PDF 文件页：232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例题 2 / 单选题</a:t>
            </a:r>
          </a:p>
          <a:p>
            <a:r>
              <a:t>讲义印刷页：P230</a:t>
            </a:r>
          </a:p>
          <a:p>
            <a:r>
              <a:t>PDF 文件页：232</a:t>
            </a:r>
          </a:p>
          <a:p>
            <a:r>
              <a:t>题目保留原题空白；未补充答案。文字为可编辑内容，图形保留原图线条。</a:t>
            </a:r>
          </a:p>
          <a:p>
            <a:r>
              <a:t>OCR 重点复核位置（请对照原讲义检查公式、上下标和字符）：</a:t>
            </a:r>
          </a:p>
          <a:p>
            <a:r>
              <a:t>P230：(238U衰变为206Pb,</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例题 3 / 单选题</a:t>
            </a:r>
          </a:p>
          <a:p>
            <a:r>
              <a:t>讲义印刷页：P230</a:t>
            </a:r>
          </a:p>
          <a:p>
            <a:r>
              <a:t>PDF 文件页：232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例题 4 / 单选题</a:t>
            </a:r>
          </a:p>
          <a:p>
            <a:r>
              <a:t>讲义印刷页：P230</a:t>
            </a:r>
          </a:p>
          <a:p>
            <a:r>
              <a:t>PDF 文件页：232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例题 5 / 单选题</a:t>
            </a:r>
          </a:p>
          <a:p>
            <a:r>
              <a:t>讲义印刷页：P231</a:t>
            </a:r>
          </a:p>
          <a:p>
            <a:r>
              <a:t>PDF 文件页：233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例题 6 / 单选题</a:t>
            </a:r>
          </a:p>
          <a:p>
            <a:r>
              <a:t>讲义印刷页：P231</a:t>
            </a:r>
          </a:p>
          <a:p>
            <a:r>
              <a:t>PDF 文件页：233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例题 7 / 单选题</a:t>
            </a:r>
          </a:p>
          <a:p>
            <a:r>
              <a:t>讲义印刷页：P231</a:t>
            </a:r>
          </a:p>
          <a:p>
            <a:r>
              <a:t>PDF 文件页：233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例题 8 / 单选题</a:t>
            </a:r>
          </a:p>
          <a:p>
            <a:r>
              <a:t>讲义印刷页：P231</a:t>
            </a:r>
          </a:p>
          <a:p>
            <a:r>
              <a:t>PDF 文件页：233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例题 9 / 单选题</a:t>
            </a:r>
          </a:p>
          <a:p>
            <a:r>
              <a:t>讲义印刷页：P232</a:t>
            </a:r>
          </a:p>
          <a:p>
            <a:r>
              <a:t>PDF 文件页：234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例题 10 / 推断题</a:t>
            </a:r>
          </a:p>
          <a:p>
            <a:r>
              <a:t>讲义印刷页：P232</a:t>
            </a:r>
          </a:p>
          <a:p>
            <a:r>
              <a:t>PDF 文件页：234</a:t>
            </a:r>
          </a:p>
          <a:p>
            <a:r>
              <a:t>题目保留原题空白；未补充答案。文字为可编辑内容，图形保留原图线条。</a:t>
            </a:r>
          </a:p>
          <a:p>
            <a:r>
              <a:t>OCR 重点复核位置（请对照原讲义检查公式、上下标和字符）：</a:t>
            </a:r>
          </a:p>
          <a:p>
            <a:r>
              <a:t>P232：⑤</a:t>
            </a:r>
          </a:p>
          <a:p>
            <a:r>
              <a:t>P232：o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变式 1 / 单选题</a:t>
            </a:r>
          </a:p>
          <a:p>
            <a:r>
              <a:t>讲义印刷页：P232</a:t>
            </a:r>
          </a:p>
          <a:p>
            <a:r>
              <a:t>PDF 文件页：234</a:t>
            </a:r>
          </a:p>
          <a:p>
            <a:r>
              <a:t>题目保留原题空白；未补充答案。文字为可编辑内容，图形保留原图线条。</a:t>
            </a:r>
          </a:p>
          <a:p>
            <a:r>
              <a:t>OCR 重点复核位置（请对照原讲义检查公式、上下标和字符）：</a:t>
            </a:r>
          </a:p>
          <a:p>
            <a:r>
              <a:t>P232：2 814 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变式 2 / 单选题</a:t>
            </a:r>
          </a:p>
          <a:p>
            <a:r>
              <a:t>讲义印刷页：P232</a:t>
            </a:r>
          </a:p>
          <a:p>
            <a:r>
              <a:t>PDF 文件页：234</a:t>
            </a:r>
          </a:p>
          <a:p>
            <a:r>
              <a:t>题目保留原题空白；未补充答案。文字为可编辑内容，图形保留原图线条。</a:t>
            </a:r>
          </a:p>
          <a:p>
            <a:r>
              <a:t>OCR 重点复核位置（请对照原讲义检查公式、上下标和字符）：</a:t>
            </a:r>
          </a:p>
          <a:p>
            <a:r>
              <a:t>P232：25U中的中子数为1434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变式 3 / 单选题</a:t>
            </a:r>
          </a:p>
          <a:p>
            <a:r>
              <a:t>讲义印刷页：P233</a:t>
            </a:r>
          </a:p>
          <a:p>
            <a:r>
              <a:t>PDF 文件页：235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变式 4 / 单选题</a:t>
            </a:r>
          </a:p>
          <a:p>
            <a:r>
              <a:t>讲义印刷页：P233</a:t>
            </a:r>
          </a:p>
          <a:p>
            <a:r>
              <a:t>PDF 文件页：235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变式 5 / 单选题</a:t>
            </a:r>
          </a:p>
          <a:p>
            <a:r>
              <a:t>讲义印刷页：P233</a:t>
            </a:r>
          </a:p>
          <a:p>
            <a:r>
              <a:t>PDF 文件页：235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变式 6 / 单选题</a:t>
            </a:r>
          </a:p>
          <a:p>
            <a:r>
              <a:t>讲义印刷页：P233</a:t>
            </a:r>
          </a:p>
          <a:p>
            <a:r>
              <a:t>PDF 文件页：235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变式 7 / 单选题</a:t>
            </a:r>
          </a:p>
          <a:p>
            <a:r>
              <a:t>讲义印刷页：P234</a:t>
            </a:r>
          </a:p>
          <a:p>
            <a:r>
              <a:t>PDF 文件页：236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原题定位：知识点2原子核外电子排布知识、元素周期表的编排原则 / 变式 8 / 填空题</a:t>
            </a:r>
          </a:p>
          <a:p>
            <a:r>
              <a:t>讲义印刷页：P234</a:t>
            </a:r>
          </a:p>
          <a:p>
            <a:r>
              <a:t>PDF 文件页：236</a:t>
            </a:r>
          </a:p>
          <a:p>
            <a:r>
              <a:t>题目保留原题空白；未补充答案。文字为可编辑内容，图形保留原图线条。</a:t>
            </a:r>
          </a:p>
          <a:p>
            <a:r>
              <a:t>OCR 重点复核位置（请对照原讲义检查公式、上下标和字符）：</a:t>
            </a:r>
          </a:p>
          <a:p>
            <a:r>
              <a:t>P234：[cd]</a:t>
            </a:r>
          </a:p>
          <a:p>
            <a:r>
              <a:t>P234：[e]</a:t>
            </a:r>
          </a:p>
          <a:p>
            <a:r>
              <a:t>P234：_g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P235；PDF 文件第 237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P235；PDF 文件第 237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原题定位：知识点1元素性质的周期性变化规律 / 例题 1 / 单选题</a:t>
            </a:r>
          </a:p>
          <a:p>
            <a:r>
              <a:t>讲义印刷页：P235</a:t>
            </a:r>
          </a:p>
          <a:p>
            <a:r>
              <a:t>PDF 文件页：237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P236；PDF 文件第 238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原题定位：知识点1元素性质的周期性变化规律 / 例题 2 / 单选题</a:t>
            </a:r>
          </a:p>
          <a:p>
            <a:r>
              <a:t>讲义印刷页：P236</a:t>
            </a:r>
          </a:p>
          <a:p>
            <a:r>
              <a:t>PDF 文件页：238</a:t>
            </a:r>
          </a:p>
          <a:p>
            <a:r>
              <a:t>题目保留原题空白；未补充答案。文字为可编辑内容，图形保留原图线条。</a:t>
            </a:r>
          </a:p>
          <a:p>
            <a:r>
              <a:t>OCR 重点复核位置（请对照原讲义检查公式、上下标和字符）：</a:t>
            </a:r>
          </a:p>
          <a:p>
            <a:r>
              <a:t>P236：0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原题定位：知识点1元素性质的周期性变化规律 / 例题 3 / 单选题</a:t>
            </a:r>
          </a:p>
          <a:p>
            <a:r>
              <a:t>讲义印刷页：P236</a:t>
            </a:r>
          </a:p>
          <a:p>
            <a:r>
              <a:t>PDF 文件页：238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原题定位：知识点2碱金属元素性质的递变规律 / 例题 1 / 单选题</a:t>
            </a:r>
          </a:p>
          <a:p>
            <a:r>
              <a:t>讲义印刷页：P237</a:t>
            </a:r>
          </a:p>
          <a:p>
            <a:r>
              <a:t>PDF 文件页：239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原题定位：知识点2碱金属元素性质的递变规律 / 例题 2 / 单选题</a:t>
            </a:r>
          </a:p>
          <a:p>
            <a:r>
              <a:t>讲义印刷页：P237</a:t>
            </a:r>
          </a:p>
          <a:p>
            <a:r>
              <a:t>PDF 文件页：239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原题定位：知识点2碱金属元素性质的递变规律 / 例题 3 / 单选题</a:t>
            </a:r>
          </a:p>
          <a:p>
            <a:r>
              <a:t>讲义印刷页：P237</a:t>
            </a:r>
          </a:p>
          <a:p>
            <a:r>
              <a:t>PDF 文件页：239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P238；PDF 文件第 240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原题定位：知识点2碱金属元素性质的递变规律 / 例题 4 / 单选题</a:t>
            </a:r>
          </a:p>
          <a:p>
            <a:r>
              <a:t>讲义印刷页：P238</a:t>
            </a:r>
          </a:p>
          <a:p>
            <a:r>
              <a:t>PDF 文件页：240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原题定位：知识点3卤族元素的性质的递变规律 / 例题 1 / 单选题</a:t>
            </a:r>
          </a:p>
          <a:p>
            <a:r>
              <a:t>讲义印刷页：P239</a:t>
            </a:r>
          </a:p>
          <a:p>
            <a:r>
              <a:t>PDF 文件页：241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原题定位：知识点3卤族元素的性质的递变规律 / 例题 2 / 单选题</a:t>
            </a:r>
          </a:p>
          <a:p>
            <a:r>
              <a:t>讲义印刷页：P239</a:t>
            </a:r>
          </a:p>
          <a:p>
            <a:r>
              <a:t>PDF 文件页：241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原题定位：知识点3卤族元素的性质的递变规律 / 例题 3 / 单选题</a:t>
            </a:r>
          </a:p>
          <a:p>
            <a:r>
              <a:t>讲义印刷页：P239</a:t>
            </a:r>
          </a:p>
          <a:p>
            <a:r>
              <a:t>PDF 文件页：241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原题定位：知识点3卤族元素的性质的递变规律 / 例题 4 / 单选题</a:t>
            </a:r>
          </a:p>
          <a:p>
            <a:r>
              <a:t>讲义印刷页：P239</a:t>
            </a:r>
          </a:p>
          <a:p>
            <a:r>
              <a:t>PDF 文件页：241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原题定位：知识点3卤族元素的性质的递变规律 / 例题 5 / 单选题</a:t>
            </a:r>
          </a:p>
          <a:p>
            <a:r>
              <a:t>讲义印刷页：P240</a:t>
            </a:r>
          </a:p>
          <a:p>
            <a:r>
              <a:t>PDF 文件页：242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原题定位：知识点3卤族元素的性质的递变规律 / 例题 6 / 单选题</a:t>
            </a:r>
          </a:p>
          <a:p>
            <a:r>
              <a:t>讲义印刷页：P240</a:t>
            </a:r>
          </a:p>
          <a:p>
            <a:r>
              <a:t>PDF 文件页：242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原题定位：知识点3卤族元素的性质的递变规律 / 例题 7 / 单选题</a:t>
            </a:r>
          </a:p>
          <a:p>
            <a:r>
              <a:t>讲义印刷页：P240</a:t>
            </a:r>
          </a:p>
          <a:p>
            <a:r>
              <a:t>PDF 文件页：242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P241；PDF 文件第 243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 / 单选题</a:t>
            </a:r>
          </a:p>
          <a:p>
            <a:r>
              <a:t>讲义印刷页：P242</a:t>
            </a:r>
          </a:p>
          <a:p>
            <a:r>
              <a:t>PDF 文件页：244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2 / 单选题</a:t>
            </a:r>
          </a:p>
          <a:p>
            <a:r>
              <a:t>讲义印刷页：P242</a:t>
            </a:r>
          </a:p>
          <a:p>
            <a:r>
              <a:t>PDF 文件页：244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3 / 单选题</a:t>
            </a:r>
          </a:p>
          <a:p>
            <a:r>
              <a:t>讲义印刷页：P243</a:t>
            </a:r>
          </a:p>
          <a:p>
            <a:r>
              <a:t>PDF 文件页：245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4 / 单选题</a:t>
            </a:r>
          </a:p>
          <a:p>
            <a:r>
              <a:t>讲义印刷页：P243</a:t>
            </a:r>
          </a:p>
          <a:p>
            <a:r>
              <a:t>PDF 文件页：245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5 / 单选题</a:t>
            </a:r>
          </a:p>
          <a:p>
            <a:r>
              <a:t>讲义印刷页：P243</a:t>
            </a:r>
          </a:p>
          <a:p>
            <a:r>
              <a:t>PDF 文件页：245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6 / 单选题</a:t>
            </a:r>
          </a:p>
          <a:p>
            <a:r>
              <a:t>讲义印刷页：P243</a:t>
            </a:r>
          </a:p>
          <a:p>
            <a:r>
              <a:t>PDF 文件页：245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7 / 单选题</a:t>
            </a:r>
          </a:p>
          <a:p>
            <a:r>
              <a:t>讲义印刷页：P244</a:t>
            </a:r>
          </a:p>
          <a:p>
            <a:r>
              <a:t>PDF 文件页：246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8 / 单选题</a:t>
            </a:r>
          </a:p>
          <a:p>
            <a:r>
              <a:t>讲义印刷页：P244</a:t>
            </a:r>
          </a:p>
          <a:p>
            <a:r>
              <a:t>PDF 文件页：246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9 / 单选题</a:t>
            </a:r>
          </a:p>
          <a:p>
            <a:r>
              <a:t>讲义印刷页：P244</a:t>
            </a:r>
          </a:p>
          <a:p>
            <a:r>
              <a:t>PDF 文件页：246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10 / 单选题</a:t>
            </a:r>
          </a:p>
          <a:p>
            <a:r>
              <a:t>讲义印刷页：P244</a:t>
            </a:r>
          </a:p>
          <a:p>
            <a:r>
              <a:t>PDF 文件页：246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11 / 单选题</a:t>
            </a:r>
          </a:p>
          <a:p>
            <a:r>
              <a:t>讲义印刷页：P245</a:t>
            </a:r>
          </a:p>
          <a:p>
            <a:r>
              <a:t>PDF 文件页：247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12 / 单选题</a:t>
            </a:r>
          </a:p>
          <a:p>
            <a:r>
              <a:t>讲义印刷页：P245</a:t>
            </a:r>
          </a:p>
          <a:p>
            <a:r>
              <a:t>PDF 文件页：247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13 / 单选题</a:t>
            </a:r>
          </a:p>
          <a:p>
            <a:r>
              <a:t>讲义印刷页：P245</a:t>
            </a:r>
          </a:p>
          <a:p>
            <a:r>
              <a:t>PDF 文件页：247</a:t>
            </a:r>
          </a:p>
          <a:p>
            <a:r>
              <a:t>题目保留原题空白；未补充答案。文字为可编辑内容，图形保留原图线条。</a:t>
            </a:r>
          </a:p>
          <a:p>
            <a:r>
              <a:t>OCR 重点复核位置（请对照原讲义检查公式、上下标和字符）：</a:t>
            </a:r>
          </a:p>
          <a:p>
            <a:r>
              <a:t>P245：S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14 / 单选题</a:t>
            </a:r>
          </a:p>
          <a:p>
            <a:r>
              <a:t>讲义印刷页：P245</a:t>
            </a:r>
          </a:p>
          <a:p>
            <a:r>
              <a:t>PDF 文件页：247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15 / 单选题</a:t>
            </a:r>
          </a:p>
          <a:p>
            <a:r>
              <a:t>讲义印刷页：P246</a:t>
            </a:r>
          </a:p>
          <a:p>
            <a:r>
              <a:t>PDF 文件页：248</a:t>
            </a:r>
          </a:p>
          <a:p>
            <a:r>
              <a:t>题目保留原题空白；未补充答案。文字为可编辑内容，图形保留原图线条。</a:t>
            </a:r>
          </a:p>
          <a:p>
            <a:r>
              <a:t>OCR 重点复核位置（请对照原讲义检查公式、上下标和字符）：</a:t>
            </a:r>
          </a:p>
          <a:p>
            <a:r>
              <a:t>P246：X</a:t>
            </a:r>
          </a:p>
          <a:p>
            <a:r>
              <a:t>P246：ⅡI</a:t>
            </a:r>
          </a:p>
          <a:p>
            <a:r>
              <a:t>P246：1</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16 / 单选题</a:t>
            </a:r>
          </a:p>
          <a:p>
            <a:r>
              <a:t>讲义印刷页：P246</a:t>
            </a:r>
          </a:p>
          <a:p>
            <a:r>
              <a:t>PDF 文件页：248</a:t>
            </a:r>
          </a:p>
          <a:p>
            <a:r>
              <a:t>题目保留原题空白；未补充答案。文字为可编辑内容，图形保留原图线条。</a:t>
            </a:r>
          </a:p>
          <a:p>
            <a:r>
              <a:t>OCR 重点复核位置（请对照原讲义检查公式、上下标和字符）：</a:t>
            </a:r>
          </a:p>
          <a:p>
            <a:r>
              <a:t>P246：M³⁺</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17 / 单选题</a:t>
            </a:r>
          </a:p>
          <a:p>
            <a:r>
              <a:t>讲义印刷页：P246</a:t>
            </a:r>
          </a:p>
          <a:p>
            <a:r>
              <a:t>PDF 文件页：248</a:t>
            </a:r>
          </a:p>
          <a:p>
            <a:r>
              <a:t>题目保留原题空白；未补充答案。文字为可编辑内容，图形保留原图线条。</a:t>
            </a:r>
          </a:p>
          <a:p>
            <a:r>
              <a:t>OCR 重点复核位置（请对照原讲义检查公式、上下标和字符）：</a:t>
            </a:r>
          </a:p>
          <a:p>
            <a:r>
              <a:t>P246：X Z</a:t>
            </a:r>
          </a:p>
          <a:p>
            <a:r>
              <a:t>P246：1 1</a:t>
            </a:r>
          </a:p>
          <a:p>
            <a:r>
              <a:t>P246：1</a:t>
            </a:r>
          </a:p>
          <a:p>
            <a:r>
              <a:t>P246：X</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18 / 单选题</a:t>
            </a:r>
          </a:p>
          <a:p>
            <a:r>
              <a:t>讲义印刷页：P247</a:t>
            </a:r>
          </a:p>
          <a:p>
            <a:r>
              <a:t>PDF 文件页：249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19 / 推断题</a:t>
            </a:r>
          </a:p>
          <a:p>
            <a:r>
              <a:t>讲义印刷页：P247</a:t>
            </a:r>
          </a:p>
          <a:p>
            <a:r>
              <a:t>PDF 文件页：249</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P247：c</a:t>
            </a:r>
          </a:p>
          <a:p>
            <a:r>
              <a:t>P247：O</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例题 20 / 填空题</a:t>
            </a:r>
          </a:p>
          <a:p>
            <a:r>
              <a:t>讲义印刷页：P248</a:t>
            </a:r>
          </a:p>
          <a:p>
            <a:r>
              <a:t>PDF 文件页：250</a:t>
            </a:r>
          </a:p>
          <a:p>
            <a:r>
              <a:t>题目保留原题空白；未补充答案。文字为可编辑内容，图形保留原图线条。</a:t>
            </a:r>
          </a:p>
          <a:p>
            <a:r>
              <a:t>OCR 重点复核位置（请对照原讲义检查公式、上下标和字符）：</a:t>
            </a:r>
          </a:p>
          <a:p>
            <a:r>
              <a:t>P248：o</a:t>
            </a:r>
          </a:p>
          <a:p>
            <a:r>
              <a:t>P248：o</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1 / 单选题</a:t>
            </a:r>
          </a:p>
          <a:p>
            <a:r>
              <a:t>讲义印刷页：P248</a:t>
            </a:r>
          </a:p>
          <a:p>
            <a:r>
              <a:t>PDF 文件页：250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2 / 单选题</a:t>
            </a:r>
          </a:p>
          <a:p>
            <a:r>
              <a:t>讲义印刷页：P248</a:t>
            </a:r>
          </a:p>
          <a:p>
            <a:r>
              <a:t>PDF 文件页：250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3 / 单选题</a:t>
            </a:r>
          </a:p>
          <a:p>
            <a:r>
              <a:t>讲义印刷页：P249</a:t>
            </a:r>
          </a:p>
          <a:p>
            <a:r>
              <a:t>PDF 文件页：251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4 / 单选题</a:t>
            </a:r>
          </a:p>
          <a:p>
            <a:r>
              <a:t>讲义印刷页：P249</a:t>
            </a:r>
          </a:p>
          <a:p>
            <a:r>
              <a:t>PDF 文件页：251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5 / 单选题</a:t>
            </a:r>
          </a:p>
          <a:p>
            <a:r>
              <a:t>讲义印刷页：P249</a:t>
            </a:r>
          </a:p>
          <a:p>
            <a:r>
              <a:t>PDF 文件页：251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6 / 单选题</a:t>
            </a:r>
          </a:p>
          <a:p>
            <a:r>
              <a:t>讲义印刷页：P250</a:t>
            </a:r>
          </a:p>
          <a:p>
            <a:r>
              <a:t>PDF 文件页：252</a:t>
            </a:r>
          </a:p>
          <a:p>
            <a:r>
              <a:t>题目保留原题空白；未补充答案。文字为可编辑内容，图形保留原图线条。</a:t>
            </a:r>
          </a:p>
          <a:p>
            <a:r>
              <a:t>OCR 重点复核位置（请对照原讲义检查公式、上下标和字符）：</a:t>
            </a:r>
          </a:p>
          <a:p>
            <a:r>
              <a:t>P250：X</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7 / 单选题</a:t>
            </a:r>
          </a:p>
          <a:p>
            <a:r>
              <a:t>讲义印刷页：P250</a:t>
            </a:r>
          </a:p>
          <a:p>
            <a:r>
              <a:t>PDF 文件页：252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8 / 单选题</a:t>
            </a:r>
          </a:p>
          <a:p>
            <a:r>
              <a:t>讲义印刷页：P250</a:t>
            </a:r>
          </a:p>
          <a:p>
            <a:r>
              <a:t>PDF 文件页：252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9 / 单选题</a:t>
            </a:r>
          </a:p>
          <a:p>
            <a:r>
              <a:t>讲义印刷页：P251</a:t>
            </a:r>
          </a:p>
          <a:p>
            <a:r>
              <a:t>PDF 文件页：253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10 / 单选题</a:t>
            </a:r>
          </a:p>
          <a:p>
            <a:r>
              <a:t>讲义印刷页：P251</a:t>
            </a:r>
          </a:p>
          <a:p>
            <a:r>
              <a:t>PDF 文件页：253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11 / 单选题</a:t>
            </a:r>
          </a:p>
          <a:p>
            <a:r>
              <a:t>讲义印刷页：P251</a:t>
            </a:r>
          </a:p>
          <a:p>
            <a:r>
              <a:t>PDF 文件页：253</a:t>
            </a:r>
          </a:p>
          <a:p>
            <a:r>
              <a:t>题目保留原题空白；未补充答案。文字为可编辑内容，图形保留原图线条。</a:t>
            </a:r>
          </a:p>
          <a:p>
            <a:r>
              <a:t>OCR 重点复核位置（请对照原讲义检查公式、上下标和字符）：</a:t>
            </a:r>
          </a:p>
          <a:p>
            <a:r>
              <a:t>P251：xー</a:t>
            </a:r>
          </a:p>
          <a:p>
            <a:r>
              <a:t>P251：X=Y—x—W—W—z-W—z—R</a:t>
            </a:r>
          </a:p>
          <a:p>
            <a:r>
              <a:t>P251：IZーR</a:t>
            </a:r>
          </a:p>
          <a:p>
            <a:r>
              <a:t>P251：xー</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12 / 单选题</a:t>
            </a:r>
          </a:p>
          <a:p>
            <a:r>
              <a:t>讲义印刷页：P252</a:t>
            </a:r>
          </a:p>
          <a:p>
            <a:r>
              <a:t>PDF 文件页：254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13 / 单选题</a:t>
            </a:r>
          </a:p>
          <a:p>
            <a:r>
              <a:t>讲义印刷页：P252</a:t>
            </a:r>
          </a:p>
          <a:p>
            <a:r>
              <a:t>PDF 文件页：254</a:t>
            </a:r>
          </a:p>
          <a:p>
            <a:r>
              <a:t>题目保留原题空白；未补充答案。文字为可编辑内容，图形保留原图线条。</a:t>
            </a:r>
          </a:p>
          <a:p>
            <a:r>
              <a:t>OCR 重点复核位置（请对照原讲义检查公式、上下标和字符）：</a:t>
            </a:r>
          </a:p>
          <a:p>
            <a:r>
              <a:t>P252：Z-X</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14 / 解答题</a:t>
            </a:r>
          </a:p>
          <a:p>
            <a:r>
              <a:t>讲义印刷页：P252</a:t>
            </a:r>
          </a:p>
          <a:p>
            <a:r>
              <a:t>PDF 文件页：254</a:t>
            </a:r>
          </a:p>
          <a:p>
            <a:r>
              <a:t>题目保留原题空白；未补充答案。文字为可编辑内容，图形保留原图线条。</a:t>
            </a:r>
          </a:p>
          <a:p>
            <a:r>
              <a:t>OCR 重点复核位置（请对照原讲义检查公式、上下标和字符）：</a:t>
            </a:r>
          </a:p>
          <a:p>
            <a:r>
              <a:t>P252：IIA</a:t>
            </a:r>
          </a:p>
          <a:p>
            <a:r>
              <a:t>P252：⑥</a:t>
            </a:r>
          </a:p>
          <a:p>
            <a:r>
              <a:t>P252：⑧</a:t>
            </a:r>
          </a:p>
          <a:p>
            <a:r>
              <a:t>P252：10</a:t>
            </a:r>
          </a:p>
          <a:p>
            <a:r>
              <a:t>P252：o</a:t>
            </a:r>
          </a:p>
          <a:p>
            <a:r>
              <a:t>P252：o</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原题定位：知识点3元素推断及元素周期律的综合应用 / 变式 15 / 推断题</a:t>
            </a:r>
          </a:p>
          <a:p>
            <a:r>
              <a:t>讲义印刷页：P253</a:t>
            </a:r>
          </a:p>
          <a:p>
            <a:r>
              <a:t>PDF 文件页：255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notesSlide" Target="../notesSlides/notesSlide6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notesSlide" Target="../notesSlides/notesSlide6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notesSlide" Target="../notesSlides/notesSlide6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notesSlide" Target="../notesSlides/notesSlide6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notesSlide" Target="../notesSlides/notesSlide6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notesSlide" Target="../notesSlides/notesSlide7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1.png"/><Relationship Id="rId4" Type="http://schemas.openxmlformats.org/officeDocument/2006/relationships/notesSlide" Target="../notesSlides/notesSlide7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2.png"/><Relationship Id="rId4" Type="http://schemas.openxmlformats.org/officeDocument/2006/relationships/notesSlide" Target="../notesSlides/notesSlide7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3.png"/><Relationship Id="rId4" Type="http://schemas.openxmlformats.org/officeDocument/2006/relationships/notesSlide" Target="../notesSlides/notesSlide8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4.png"/><Relationship Id="rId4" Type="http://schemas.openxmlformats.org/officeDocument/2006/relationships/notesSlide" Target="../notesSlides/notesSlide8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notesSlide" Target="../notesSlides/notesSlide8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notesSlide" Target="../notesSlides/notesSlide8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notesSlide" Target="../notesSlides/notesSlide9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0.png"/><Relationship Id="rId4" Type="http://schemas.openxmlformats.org/officeDocument/2006/relationships/notesSlide" Target="../notesSlides/notesSlide9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周期表与周期律"/>
          <p:cNvSpPr txBox="1"/>
          <p:nvPr/>
        </p:nvSpPr>
        <p:spPr>
          <a:xfrm>
            <a:off x="713232" y="2103120"/>
            <a:ext cx="10744200" cy="1234440"/>
          </a:xfrm>
          <a:prstGeom prst="rect">
            <a:avLst/>
          </a:prstGeom>
          <a:noFill/>
        </p:spPr>
        <p:txBody>
          <a:bodyPr wrap="square" lIns="0" rIns="0" tIns="0" bIns="0">
            <a:spAutoFit/>
          </a:bodyPr>
          <a:lstStyle/>
          <a:p>
            <a:pPr>
              <a:lnSpc>
                <a:spcPct val="112000"/>
              </a:lnSpc>
              <a:spcBef>
                <a:spcPts val="0"/>
              </a:spcBef>
              <a:spcAft>
                <a:spcPts val="0"/>
              </a:spcAft>
              <a:defRPr sz="4400" b="1">
                <a:solidFill>
                  <a:srgbClr val="F1922F"/>
                </a:solidFill>
                <a:latin typeface="微软雅黑"/>
              </a:defRPr>
            </a:pPr>
            <a:r>
              <a:rPr>
                <a:ea typeface="微软雅黑"/>
              </a:rPr>
              <a:t>周期表与周期律</a:t>
            </a:r>
          </a:p>
        </p:txBody>
      </p:sp>
      <p:sp>
        <p:nvSpPr>
          <p:cNvPr id="4" name="文字_第 11 章  ·  高一化学"/>
          <p:cNvSpPr txBox="1"/>
          <p:nvPr/>
        </p:nvSpPr>
        <p:spPr>
          <a:xfrm>
            <a:off x="777240" y="1517904"/>
            <a:ext cx="10058400" cy="457200"/>
          </a:xfrm>
          <a:prstGeom prst="rect">
            <a:avLst/>
          </a:prstGeom>
          <a:noFill/>
        </p:spPr>
        <p:txBody>
          <a:bodyPr wrap="square" lIns="0" rIns="0" tIns="0" bIns="0">
            <a:spAutoFit/>
          </a:bodyPr>
          <a:lstStyle/>
          <a:p>
            <a:pPr>
              <a:lnSpc>
                <a:spcPct val="112000"/>
              </a:lnSpc>
              <a:spcBef>
                <a:spcPts val="0"/>
              </a:spcBef>
              <a:spcAft>
                <a:spcPts val="0"/>
              </a:spcAft>
              <a:defRPr sz="2400" b="0">
                <a:solidFill>
                  <a:srgbClr val="777777"/>
                </a:solidFill>
                <a:latin typeface="微软雅黑"/>
              </a:defRPr>
            </a:pPr>
            <a:r>
              <a:rPr>
                <a:ea typeface="微软雅黑"/>
              </a:rPr>
              <a:t>第 11 章  ·  高一化学</a:t>
            </a:r>
          </a:p>
        </p:txBody>
      </p:sp>
      <p:sp>
        <p:nvSpPr>
          <p:cNvPr id="5" name="文字_知识讲解  ·  例题与变式  ·  综合练习"/>
          <p:cNvSpPr txBox="1"/>
          <p:nvPr/>
        </p:nvSpPr>
        <p:spPr>
          <a:xfrm>
            <a:off x="777240" y="3474720"/>
            <a:ext cx="10607040" cy="548640"/>
          </a:xfrm>
          <a:prstGeom prst="rect">
            <a:avLst/>
          </a:prstGeom>
          <a:noFill/>
        </p:spPr>
        <p:txBody>
          <a:bodyPr wrap="square" lIns="0" rIns="0" tIns="0" bIns="0">
            <a:spAutoFit/>
          </a:bodyPr>
          <a:lstStyle/>
          <a:p>
            <a:pPr>
              <a:lnSpc>
                <a:spcPct val="112000"/>
              </a:lnSpc>
              <a:spcBef>
                <a:spcPts val="0"/>
              </a:spcBef>
              <a:spcAft>
                <a:spcPts val="0"/>
              </a:spcAft>
              <a:defRPr sz="2600" b="0">
                <a:solidFill>
                  <a:srgbClr val="333333"/>
                </a:solidFill>
                <a:latin typeface="微软雅黑"/>
              </a:defRPr>
            </a:pPr>
            <a:r>
              <a:rPr>
                <a:ea typeface="微软雅黑"/>
              </a:rPr>
              <a:t>知识讲解  ·  例题与变式  ·  综合练习</a:t>
            </a:r>
          </a:p>
        </p:txBody>
      </p:sp>
      <p:sp>
        <p:nvSpPr>
          <p:cNvPr id="6" name="文字_讲义 P222–253"/>
          <p:cNvSpPr txBox="1"/>
          <p:nvPr/>
        </p:nvSpPr>
        <p:spPr>
          <a:xfrm>
            <a:off x="804672" y="4892040"/>
            <a:ext cx="10058400" cy="457200"/>
          </a:xfrm>
          <a:prstGeom prst="rect">
            <a:avLst/>
          </a:prstGeom>
          <a:noFill/>
        </p:spPr>
        <p:txBody>
          <a:bodyPr wrap="square" lIns="0" rIns="0" tIns="0" bIns="0">
            <a:spAutoFit/>
          </a:bodyPr>
          <a:lstStyle/>
          <a:p>
            <a:pPr>
              <a:lnSpc>
                <a:spcPct val="112000"/>
              </a:lnSpc>
              <a:spcBef>
                <a:spcPts val="0"/>
              </a:spcBef>
              <a:spcAft>
                <a:spcPts val="0"/>
              </a:spcAft>
              <a:defRPr sz="2000" b="0">
                <a:solidFill>
                  <a:srgbClr val="777777"/>
                </a:solidFill>
                <a:latin typeface="微软雅黑"/>
              </a:defRPr>
            </a:pPr>
            <a:r>
              <a:rPr>
                <a:ea typeface="微软雅黑"/>
              </a:rPr>
              <a:t>讲义 P222–253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1"/>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01</a:t>
            </a:r>
          </a:p>
        </p:txBody>
      </p:sp>
      <p:sp>
        <p:nvSpPr>
          <p:cNvPr id="4" name="文字_原子的构成与表示方法"/>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原子的构成与表示方法</a:t>
            </a:r>
          </a:p>
        </p:txBody>
      </p:sp>
      <p:sp>
        <p:nvSpPr>
          <p:cNvPr id="5" name="文字_知识梳理 · 讲义 P222"/>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原子的构成与表示方法"/>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原子的构成与表示方法</a:t>
            </a:r>
          </a:p>
        </p:txBody>
      </p:sp>
      <p:sp>
        <p:nvSpPr>
          <p:cNvPr id="5" name="文字_知识讲解 · P222"/>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P222</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原子由原子核（质子、中子）和核外电子构成。"/>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原子由原子核（质子、中子）和核外电子构成。</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质子数决定元素种类；中子数决定同位素（原子种类）"/>
          <p:cNvSpPr txBox="1"/>
          <p:nvPr/>
        </p:nvSpPr>
        <p:spPr>
          <a:xfrm>
            <a:off x="722376" y="2356104"/>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质子数决定元素种类；中子数决定同位素（原子种类）；最外层电子数决定化学</a:t>
            </a:r>
          </a:p>
          <a:p>
            <a:pPr>
              <a:lnSpc>
                <a:spcPct val="112000"/>
              </a:lnSpc>
              <a:spcBef>
                <a:spcPts val="0"/>
              </a:spcBef>
              <a:spcAft>
                <a:spcPts val="0"/>
              </a:spcAft>
              <a:defRPr sz="2400" b="0">
                <a:solidFill>
                  <a:srgbClr val="333333"/>
                </a:solidFill>
                <a:latin typeface="微软雅黑"/>
              </a:defRPr>
            </a:pPr>
            <a:r>
              <a:rPr>
                <a:ea typeface="微软雅黑"/>
              </a:rPr>
              <a:t>性质。</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质量数 A = 质子数 Z + 中子数 N；中子"/>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质量数 A = 质子数 Z + 中子数 N；中子数 = A − Z。</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原子符号 ᴬZX：左上角为质量数，左下角为质子数"/>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原子符号 ᴬZX：左上角为质量数，左下角为质子数。</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原子结构示意图表示核电荷数与各电子层排布，如 N"/>
          <p:cNvSpPr txBox="1"/>
          <p:nvPr/>
        </p:nvSpPr>
        <p:spPr>
          <a:xfrm>
            <a:off x="722376" y="447446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原子结构示意图表示核电荷数与各电子层排布，如 Na：(+11) 2 8 1。</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电中性原子中：质子数 = 核电荷数 = "/>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电中性原子中：质子数 = 核电荷数 = 核外电子数 = 原子序数。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2"/>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02</a:t>
            </a:r>
          </a:p>
        </p:txBody>
      </p:sp>
      <p:sp>
        <p:nvSpPr>
          <p:cNvPr id="4" name="文字_元素、核素、同位素的比较"/>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元素、核素、同位素的比较</a:t>
            </a:r>
          </a:p>
        </p:txBody>
      </p:sp>
      <p:sp>
        <p:nvSpPr>
          <p:cNvPr id="5" name="文字_知识梳理 · 讲义 P223"/>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元素、核素、同位素的比较"/>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元素、核素、同位素的比较</a:t>
            </a:r>
          </a:p>
        </p:txBody>
      </p:sp>
      <p:sp>
        <p:nvSpPr>
          <p:cNvPr id="5" name="文字_知识讲解 · P223"/>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P223</a:t>
            </a:r>
          </a:p>
        </p:txBody>
      </p:sp>
      <p:graphicFrame>
        <p:nvGraphicFramePr>
          <p:cNvPr id="6" name="Table 5"/>
          <p:cNvGraphicFramePr>
            <a:graphicFrameLocks noGrp="1"/>
          </p:cNvGraphicFramePr>
          <p:nvPr/>
        </p:nvGraphicFramePr>
        <p:xfrm>
          <a:off x="502920" y="1773936"/>
          <a:ext cx="11109960" cy="3749039"/>
        </p:xfrm>
        <a:graphic>
          <a:graphicData uri="http://schemas.openxmlformats.org/drawingml/2006/table">
            <a:tbl>
              <a:tblPr firstRow="1" bandRow="1">
                <a:tableStyleId>{5C22544A-7EE6-4342-B048-85BDC9FD1C3A}</a:tableStyleId>
              </a:tblPr>
              <a:tblGrid>
                <a:gridCol w="2777490"/>
                <a:gridCol w="2777490"/>
                <a:gridCol w="2777490"/>
                <a:gridCol w="2777490"/>
              </a:tblGrid>
              <a:tr h="485648">
                <a:tc>
                  <a:txBody>
                    <a:bodyPr/>
                    <a:lstStyle/>
                    <a:p>
                      <a:pPr>
                        <a:defRPr sz="2000" b="1">
                          <a:solidFill>
                            <a:srgbClr val="FFFFFF"/>
                          </a:solidFill>
                          <a:latin typeface="微软雅黑"/>
                        </a:defRPr>
                      </a:pPr>
                      <a:r>
                        <a:t>项目</a:t>
                      </a:r>
                    </a:p>
                  </a:txBody>
                  <a:tcPr marL="91440" marR="91440" marT="45720" marB="45720" anchor="ctr">
                    <a:solidFill>
                      <a:srgbClr val="F1922F"/>
                    </a:solidFill>
                  </a:tcPr>
                </a:tc>
                <a:tc>
                  <a:txBody>
                    <a:bodyPr/>
                    <a:lstStyle/>
                    <a:p>
                      <a:pPr>
                        <a:defRPr sz="2000" b="1">
                          <a:solidFill>
                            <a:srgbClr val="FFFFFF"/>
                          </a:solidFill>
                          <a:latin typeface="微软雅黑"/>
                        </a:defRPr>
                      </a:pPr>
                      <a:r>
                        <a:t>元素</a:t>
                      </a:r>
                    </a:p>
                  </a:txBody>
                  <a:tcPr marL="91440" marR="91440" marT="45720" marB="45720" anchor="ctr">
                    <a:solidFill>
                      <a:srgbClr val="F1922F"/>
                    </a:solidFill>
                  </a:tcPr>
                </a:tc>
                <a:tc>
                  <a:txBody>
                    <a:bodyPr/>
                    <a:lstStyle/>
                    <a:p>
                      <a:pPr>
                        <a:defRPr sz="2000" b="1">
                          <a:solidFill>
                            <a:srgbClr val="FFFFFF"/>
                          </a:solidFill>
                          <a:latin typeface="微软雅黑"/>
                        </a:defRPr>
                      </a:pPr>
                      <a:r>
                        <a:t>核素</a:t>
                      </a:r>
                    </a:p>
                  </a:txBody>
                  <a:tcPr marL="91440" marR="91440" marT="45720" marB="45720" anchor="ctr">
                    <a:solidFill>
                      <a:srgbClr val="F1922F"/>
                    </a:solidFill>
                  </a:tcPr>
                </a:tc>
                <a:tc>
                  <a:txBody>
                    <a:bodyPr/>
                    <a:lstStyle/>
                    <a:p>
                      <a:pPr>
                        <a:defRPr sz="2000" b="1">
                          <a:solidFill>
                            <a:srgbClr val="FFFFFF"/>
                          </a:solidFill>
                          <a:latin typeface="微软雅黑"/>
                        </a:defRPr>
                      </a:pPr>
                      <a:r>
                        <a:t>同位素</a:t>
                      </a:r>
                    </a:p>
                  </a:txBody>
                  <a:tcPr marL="91440" marR="91440" marT="45720" marB="45720" anchor="ctr">
                    <a:solidFill>
                      <a:srgbClr val="F1922F"/>
                    </a:solidFill>
                  </a:tcPr>
                </a:tc>
              </a:tr>
              <a:tr h="1146047">
                <a:tc>
                  <a:txBody>
                    <a:bodyPr/>
                    <a:lstStyle/>
                    <a:p>
                      <a:pPr>
                        <a:defRPr sz="2000" b="0">
                          <a:solidFill>
                            <a:srgbClr val="333333"/>
                          </a:solidFill>
                          <a:latin typeface="微软雅黑"/>
                        </a:defRPr>
                      </a:pPr>
                      <a:r>
                        <a:t>概念</a:t>
                      </a:r>
                    </a:p>
                  </a:txBody>
                  <a:tcPr marL="91440" marR="91440" marT="45720" marB="45720" anchor="ctr">
                    <a:solidFill>
                      <a:srgbClr val="FDF2E3"/>
                    </a:solidFill>
                  </a:tcPr>
                </a:tc>
                <a:tc>
                  <a:txBody>
                    <a:bodyPr/>
                    <a:lstStyle/>
                    <a:p>
                      <a:pPr>
                        <a:defRPr sz="2000" b="0">
                          <a:solidFill>
                            <a:srgbClr val="333333"/>
                          </a:solidFill>
                          <a:latin typeface="微软雅黑"/>
                        </a:defRPr>
                      </a:pPr>
                      <a:r>
                        <a:t>质子数相同的同一类原子的总称</a:t>
                      </a:r>
                    </a:p>
                  </a:txBody>
                  <a:tcPr marL="91440" marR="91440" marT="45720" marB="45720" anchor="ctr">
                    <a:solidFill>
                      <a:srgbClr val="FDF2E3"/>
                    </a:solidFill>
                  </a:tcPr>
                </a:tc>
                <a:tc>
                  <a:txBody>
                    <a:bodyPr/>
                    <a:lstStyle/>
                    <a:p>
                      <a:pPr>
                        <a:defRPr sz="2000" b="0">
                          <a:solidFill>
                            <a:srgbClr val="333333"/>
                          </a:solidFill>
                          <a:latin typeface="微软雅黑"/>
                        </a:defRPr>
                      </a:pPr>
                      <a:r>
                        <a:t>一定数目质子和中子的一种原子</a:t>
                      </a:r>
                    </a:p>
                  </a:txBody>
                  <a:tcPr marL="91440" marR="91440" marT="45720" marB="45720" anchor="ctr">
                    <a:solidFill>
                      <a:srgbClr val="FDF2E3"/>
                    </a:solidFill>
                  </a:tcPr>
                </a:tc>
                <a:tc>
                  <a:txBody>
                    <a:bodyPr/>
                    <a:lstStyle/>
                    <a:p>
                      <a:pPr>
                        <a:defRPr sz="2000" b="0">
                          <a:solidFill>
                            <a:srgbClr val="333333"/>
                          </a:solidFill>
                          <a:latin typeface="微软雅黑"/>
                        </a:defRPr>
                      </a:pPr>
                      <a:r>
                        <a:t>质子数相同、中子数不同的同种元素的不同原子</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对象</a:t>
                      </a:r>
                    </a:p>
                  </a:txBody>
                  <a:tcPr marL="91440" marR="91440" marT="45720" marB="45720" anchor="ctr">
                    <a:solidFill>
                      <a:srgbClr val="FFFFFF"/>
                    </a:solidFill>
                  </a:tcPr>
                </a:tc>
                <a:tc>
                  <a:txBody>
                    <a:bodyPr/>
                    <a:lstStyle/>
                    <a:p>
                      <a:pPr>
                        <a:defRPr sz="2000" b="0">
                          <a:solidFill>
                            <a:srgbClr val="333333"/>
                          </a:solidFill>
                          <a:latin typeface="微软雅黑"/>
                        </a:defRPr>
                      </a:pPr>
                      <a:r>
                        <a:t>宏观，同类原子</a:t>
                      </a:r>
                    </a:p>
                  </a:txBody>
                  <a:tcPr marL="91440" marR="91440" marT="45720" marB="45720" anchor="ctr">
                    <a:solidFill>
                      <a:srgbClr val="FFFFFF"/>
                    </a:solidFill>
                  </a:tcPr>
                </a:tc>
                <a:tc>
                  <a:txBody>
                    <a:bodyPr/>
                    <a:lstStyle/>
                    <a:p>
                      <a:pPr>
                        <a:defRPr sz="2000" b="0">
                          <a:solidFill>
                            <a:srgbClr val="333333"/>
                          </a:solidFill>
                          <a:latin typeface="微软雅黑"/>
                        </a:defRPr>
                      </a:pPr>
                      <a:r>
                        <a:t>微观，具体原子</a:t>
                      </a:r>
                    </a:p>
                  </a:txBody>
                  <a:tcPr marL="91440" marR="91440" marT="45720" marB="45720" anchor="ctr">
                    <a:solidFill>
                      <a:srgbClr val="FFFFFF"/>
                    </a:solidFill>
                  </a:tcPr>
                </a:tc>
                <a:tc>
                  <a:txBody>
                    <a:bodyPr/>
                    <a:lstStyle/>
                    <a:p>
                      <a:pPr>
                        <a:defRPr sz="2000" b="0">
                          <a:solidFill>
                            <a:srgbClr val="333333"/>
                          </a:solidFill>
                          <a:latin typeface="微软雅黑"/>
                        </a:defRPr>
                      </a:pPr>
                      <a:r>
                        <a:t>同种元素的不同核素</a:t>
                      </a:r>
                    </a:p>
                  </a:txBody>
                  <a:tcPr marL="91440" marR="91440" marT="45720" marB="45720" anchor="ctr">
                    <a:solidFill>
                      <a:srgbClr val="FFFFFF"/>
                    </a:solidFill>
                  </a:tcPr>
                </a:tc>
              </a:tr>
              <a:tr h="815848">
                <a:tc>
                  <a:txBody>
                    <a:bodyPr/>
                    <a:lstStyle/>
                    <a:p>
                      <a:pPr>
                        <a:defRPr sz="2000" b="0">
                          <a:solidFill>
                            <a:srgbClr val="333333"/>
                          </a:solidFill>
                          <a:latin typeface="微软雅黑"/>
                        </a:defRPr>
                      </a:pPr>
                      <a:r>
                        <a:t>决定因素</a:t>
                      </a:r>
                    </a:p>
                  </a:txBody>
                  <a:tcPr marL="91440" marR="91440" marT="45720" marB="45720" anchor="ctr">
                    <a:solidFill>
                      <a:srgbClr val="FDF2E3"/>
                    </a:solidFill>
                  </a:tcPr>
                </a:tc>
                <a:tc>
                  <a:txBody>
                    <a:bodyPr/>
                    <a:lstStyle/>
                    <a:p>
                      <a:pPr>
                        <a:defRPr sz="2000" b="0">
                          <a:solidFill>
                            <a:srgbClr val="333333"/>
                          </a:solidFill>
                          <a:latin typeface="微软雅黑"/>
                        </a:defRPr>
                      </a:pPr>
                      <a:r>
                        <a:t>质子数</a:t>
                      </a:r>
                    </a:p>
                  </a:txBody>
                  <a:tcPr marL="91440" marR="91440" marT="45720" marB="45720" anchor="ctr">
                    <a:solidFill>
                      <a:srgbClr val="FDF2E3"/>
                    </a:solidFill>
                  </a:tcPr>
                </a:tc>
                <a:tc>
                  <a:txBody>
                    <a:bodyPr/>
                    <a:lstStyle/>
                    <a:p>
                      <a:pPr>
                        <a:defRPr sz="2000" b="0">
                          <a:solidFill>
                            <a:srgbClr val="333333"/>
                          </a:solidFill>
                          <a:latin typeface="微软雅黑"/>
                        </a:defRPr>
                      </a:pPr>
                      <a:r>
                        <a:t>质子数和中子数</a:t>
                      </a:r>
                    </a:p>
                  </a:txBody>
                  <a:tcPr marL="91440" marR="91440" marT="45720" marB="45720" anchor="ctr">
                    <a:solidFill>
                      <a:srgbClr val="FDF2E3"/>
                    </a:solidFill>
                  </a:tcPr>
                </a:tc>
                <a:tc>
                  <a:txBody>
                    <a:bodyPr/>
                    <a:lstStyle/>
                    <a:p>
                      <a:pPr>
                        <a:defRPr sz="2000" b="0">
                          <a:solidFill>
                            <a:srgbClr val="333333"/>
                          </a:solidFill>
                          <a:latin typeface="微软雅黑"/>
                        </a:defRPr>
                      </a:pPr>
                      <a:r>
                        <a:t>质子数相同、中子数不同</a:t>
                      </a:r>
                    </a:p>
                  </a:txBody>
                  <a:tcPr marL="91440" marR="91440" marT="45720" marB="45720" anchor="ctr">
                    <a:solidFill>
                      <a:srgbClr val="FDF2E3"/>
                    </a:solidFill>
                  </a:tcPr>
                </a:tc>
              </a:tr>
              <a:tr h="815848">
                <a:tc>
                  <a:txBody>
                    <a:bodyPr/>
                    <a:lstStyle/>
                    <a:p>
                      <a:pPr>
                        <a:defRPr sz="2000" b="0">
                          <a:solidFill>
                            <a:srgbClr val="333333"/>
                          </a:solidFill>
                          <a:latin typeface="微软雅黑"/>
                        </a:defRPr>
                      </a:pPr>
                      <a:r>
                        <a:t>性质</a:t>
                      </a:r>
                    </a:p>
                  </a:txBody>
                  <a:tcPr marL="91440" marR="91440" marT="45720" marB="45720" anchor="ctr">
                    <a:solidFill>
                      <a:srgbClr val="FFFFFF"/>
                    </a:solidFill>
                  </a:tcPr>
                </a:tc>
                <a:tc>
                  <a:txBody>
                    <a:bodyPr/>
                    <a:lstStyle/>
                    <a:p>
                      <a:pPr>
                        <a:defRPr sz="2000" b="0">
                          <a:solidFill>
                            <a:srgbClr val="333333"/>
                          </a:solidFill>
                          <a:latin typeface="微软雅黑"/>
                        </a:defRPr>
                      </a:pPr>
                      <a:r>
                        <a:t>游离态与化合态</a:t>
                      </a:r>
                    </a:p>
                  </a:txBody>
                  <a:tcPr marL="91440" marR="91440" marT="45720" marB="45720" anchor="ctr">
                    <a:solidFill>
                      <a:srgbClr val="FFFFFF"/>
                    </a:solidFill>
                  </a:tcPr>
                </a:tc>
                <a:tc>
                  <a:txBody>
                    <a:bodyPr/>
                    <a:lstStyle/>
                    <a:p>
                      <a:pPr>
                        <a:defRPr sz="2000" b="0">
                          <a:solidFill>
                            <a:srgbClr val="333333"/>
                          </a:solidFill>
                          <a:latin typeface="微软雅黑"/>
                        </a:defRPr>
                      </a:pPr>
                      <a:r>
                        <a:t>有确定质量</a:t>
                      </a:r>
                    </a:p>
                  </a:txBody>
                  <a:tcPr marL="91440" marR="91440" marT="45720" marB="45720" anchor="ctr">
                    <a:solidFill>
                      <a:srgbClr val="FFFFFF"/>
                    </a:solidFill>
                  </a:tcPr>
                </a:tc>
                <a:tc>
                  <a:txBody>
                    <a:bodyPr/>
                    <a:lstStyle/>
                    <a:p>
                      <a:pPr>
                        <a:defRPr sz="2000" b="0">
                          <a:solidFill>
                            <a:srgbClr val="333333"/>
                          </a:solidFill>
                          <a:latin typeface="微软雅黑"/>
                        </a:defRPr>
                      </a:pPr>
                      <a:r>
                        <a:t>化学性质几乎相同，物理性质不同</a:t>
                      </a:r>
                    </a:p>
                  </a:txBody>
                  <a:tcPr marL="91440" marR="91440" marT="45720" marB="45720" anchor="ctr">
                    <a:solidFill>
                      <a:srgbClr val="FFFFFF"/>
                    </a:solidFill>
                  </a:tcPr>
                </a:tc>
              </a:tr>
            </a:tbl>
          </a:graphicData>
        </a:graphic>
      </p:graphicFrame>
      <p:sp>
        <p:nvSpPr>
          <p:cNvPr id="7" name="Rectangle 6"/>
          <p:cNvSpPr/>
          <p:nvPr/>
        </p:nvSpPr>
        <p:spPr>
          <a:xfrm>
            <a:off x="493776" y="5660136"/>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同位素构成同一元素的不同核素；天然同位素"/>
          <p:cNvSpPr txBox="1"/>
          <p:nvPr/>
        </p:nvSpPr>
        <p:spPr>
          <a:xfrm>
            <a:off x="630936" y="5719572"/>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同位素构成同一元素的不同核素；天然同位素的原子百分比一般不变。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重要核素及其应用"/>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重要核素及其应用</a:t>
            </a:r>
          </a:p>
        </p:txBody>
      </p:sp>
      <p:sp>
        <p:nvSpPr>
          <p:cNvPr id="5" name="文字_知识讲解 · P223"/>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P223</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氢：氕（¹H）、氘（²H，重氢）、氚（³H，制氢"/>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氢：氕（¹H）、氘（²H，重氢）、氚（³H，制氢弹）。</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碳：¹²C 是相对原子质量的标准；¹⁴C 有放射"/>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碳：¹²C 是相对原子质量的标准；¹⁴C 有放射性，用于考古测年。</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氧：¹⁶O、¹⁷O、¹⁸O，¹⁸O 作示踪原子。"/>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氧：¹⁶O、¹⁷O、¹⁸O，¹⁸O 作示踪原子。</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铀：²³⁵U 是核反应堆燃料和原子弹材料。"/>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铀：²³⁵U 是核反应堆燃料和原子弹材料。</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放射性同位素用于金属探伤、食物保鲜、肿瘤治疗、生"/>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放射性同位素用于金属探伤、食物保鲜、肿瘤治疗、生物育种。</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元素种类约一百余种，但原子（核素）种类远"/>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元素种类约一百余种，但原子（核素）种类远多于此，因为存在同位素。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例题1</a:t>
            </a:r>
          </a:p>
        </p:txBody>
      </p:sp>
      <p:sp>
        <p:nvSpPr>
          <p:cNvPr id="5" name="文字_P22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P224</a:t>
            </a:r>
          </a:p>
        </p:txBody>
      </p:sp>
      <p:sp>
        <p:nvSpPr>
          <p:cNvPr id="6" name="文字_我国第一艘国产航母“山东舰”使用了钛合金。钛的一"/>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我国第一艘国产航母“山东舰”使用了钛合金。钛的一种核素为50Ti，其中50表示</a:t>
            </a:r>
          </a:p>
        </p:txBody>
      </p:sp>
      <p:sp>
        <p:nvSpPr>
          <p:cNvPr id="7" name="文字_A. 核电荷数"/>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核电荷数</a:t>
            </a:r>
          </a:p>
        </p:txBody>
      </p:sp>
      <p:sp>
        <p:nvSpPr>
          <p:cNvPr id="8" name="文字_B. 中子数"/>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中子数</a:t>
            </a:r>
          </a:p>
        </p:txBody>
      </p:sp>
      <p:sp>
        <p:nvSpPr>
          <p:cNvPr id="9" name="文字_C. 质量数"/>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质量数</a:t>
            </a:r>
          </a:p>
        </p:txBody>
      </p:sp>
      <p:sp>
        <p:nvSpPr>
          <p:cNvPr id="10" name="文字_D. 质子数"/>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质子数</a:t>
            </a:r>
          </a:p>
        </p:txBody>
      </p:sp>
      <p:sp>
        <p:nvSpPr>
          <p:cNvPr id="11" name="文字_单选题  ·  11-00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11-001</a:t>
            </a:r>
          </a:p>
        </p:txBody>
      </p:sp>
      <p:sp>
        <p:nvSpPr>
          <p:cNvPr id="12" name="文字_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例题2</a:t>
            </a:r>
          </a:p>
        </p:txBody>
      </p:sp>
      <p:sp>
        <p:nvSpPr>
          <p:cNvPr id="5" name="文字_P22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P224</a:t>
            </a:r>
          </a:p>
        </p:txBody>
      </p:sp>
      <p:sp>
        <p:nvSpPr>
          <p:cNvPr id="6" name="文字_已知R²⁺离子核外有a个电子，b个中子。表示R原"/>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已知R²⁺离子核外有a个电子，b个中子。表示R原子组成正确的是(</a:t>
            </a:r>
          </a:p>
        </p:txBody>
      </p:sp>
      <p:sp>
        <p:nvSpPr>
          <p:cNvPr id="7" name="文字_A. kR"/>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kR</a:t>
            </a:r>
          </a:p>
        </p:txBody>
      </p:sp>
      <p:sp>
        <p:nvSpPr>
          <p:cNvPr id="8" name="文字_B.a+b−2Ra−2"/>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B.a+b−2Ra−2</a:t>
            </a:r>
          </a:p>
        </p:txBody>
      </p:sp>
      <p:sp>
        <p:nvSpPr>
          <p:cNvPr id="9" name="文字_C.a+b+2R"/>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C.a+b+2R</a:t>
            </a:r>
          </a:p>
        </p:txBody>
      </p:sp>
      <p:sp>
        <p:nvSpPr>
          <p:cNvPr id="10" name="文字_D.a−2"/>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D.a−2</a:t>
            </a:r>
          </a:p>
        </p:txBody>
      </p:sp>
      <p:sp>
        <p:nvSpPr>
          <p:cNvPr id="11" name="文字_a+2"/>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a+2</a:t>
            </a:r>
          </a:p>
        </p:txBody>
      </p:sp>
      <p:sp>
        <p:nvSpPr>
          <p:cNvPr id="12" name="文字_单选题  ·  11-00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11-002</a:t>
            </a:r>
          </a:p>
        </p:txBody>
      </p:sp>
      <p:sp>
        <p:nvSpPr>
          <p:cNvPr id="13" name="文字_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例题3</a:t>
            </a:r>
          </a:p>
        </p:txBody>
      </p:sp>
      <p:sp>
        <p:nvSpPr>
          <p:cNvPr id="5" name="文字_P22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P224</a:t>
            </a:r>
          </a:p>
        </p:txBody>
      </p:sp>
      <p:sp>
        <p:nvSpPr>
          <p:cNvPr id="6" name="文字_铜有两种天然同位素3Cu、5Cu，铜元素的近似相"/>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铜有两种天然同位素3Cu、5Cu，铜元素的近似相对原子质量为63.5，自然界中</a:t>
            </a:r>
          </a:p>
          <a:p>
            <a:pPr>
              <a:lnSpc>
                <a:spcPct val="112000"/>
              </a:lnSpc>
              <a:spcBef>
                <a:spcPts val="0"/>
              </a:spcBef>
              <a:spcAft>
                <a:spcPts val="0"/>
              </a:spcAft>
              <a:defRPr sz="2400" b="0">
                <a:solidFill>
                  <a:srgbClr val="333333"/>
                </a:solidFill>
                <a:latin typeface="微软雅黑"/>
              </a:defRPr>
            </a:pPr>
            <a:r>
              <a:rPr>
                <a:ea typeface="微软雅黑"/>
              </a:rPr>
              <a:t>63Cu和5Cu原子个数比是</a:t>
            </a:r>
          </a:p>
        </p:txBody>
      </p:sp>
      <p:sp>
        <p:nvSpPr>
          <p:cNvPr id="7" name="文字_A. 1: 4"/>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 4</a:t>
            </a:r>
          </a:p>
        </p:txBody>
      </p:sp>
      <p:sp>
        <p:nvSpPr>
          <p:cNvPr id="8" name="文字_B. 1: 3"/>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 3</a:t>
            </a:r>
          </a:p>
        </p:txBody>
      </p:sp>
      <p:sp>
        <p:nvSpPr>
          <p:cNvPr id="9" name="文字_C. 2: 1"/>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 1</a:t>
            </a:r>
          </a:p>
        </p:txBody>
      </p:sp>
      <p:sp>
        <p:nvSpPr>
          <p:cNvPr id="10" name="文字_D. 3: 1"/>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3: 1</a:t>
            </a:r>
          </a:p>
        </p:txBody>
      </p:sp>
      <p:sp>
        <p:nvSpPr>
          <p:cNvPr id="11" name="文字_单选题  ·  11-00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11-003</a:t>
            </a:r>
          </a:p>
        </p:txBody>
      </p:sp>
      <p:sp>
        <p:nvSpPr>
          <p:cNvPr id="12" name="文字_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例题4</a:t>
            </a:r>
          </a:p>
        </p:txBody>
      </p:sp>
      <p:sp>
        <p:nvSpPr>
          <p:cNvPr id="5" name="文字_P22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P224</a:t>
            </a:r>
          </a:p>
        </p:txBody>
      </p:sp>
      <p:sp>
        <p:nvSpPr>
          <p:cNvPr id="6" name="文字_元素周期表中如图所示的氢元素，下列叙述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元素周期表中如图所示的氢元素，下列叙述正确的是</a:t>
            </a:r>
          </a:p>
        </p:txBody>
      </p:sp>
      <p:pic>
        <p:nvPicPr>
          <p:cNvPr id="7" name="Picture 6" descr="image.png"/>
          <p:cNvPicPr>
            <a:picLocks noChangeAspect="1"/>
          </p:cNvPicPr>
          <p:nvPr/>
        </p:nvPicPr>
        <p:blipFill>
          <a:blip r:embed="rId3"/>
          <a:stretch>
            <a:fillRect/>
          </a:stretch>
        </p:blipFill>
        <p:spPr>
          <a:xfrm>
            <a:off x="502920" y="1517904"/>
            <a:ext cx="11064240" cy="1439499"/>
          </a:xfrm>
          <a:prstGeom prst="rect">
            <a:avLst/>
          </a:prstGeom>
        </p:spPr>
      </p:pic>
      <p:sp>
        <p:nvSpPr>
          <p:cNvPr id="8" name="原题文字_224_53"/>
          <p:cNvSpPr txBox="1"/>
          <p:nvPr/>
        </p:nvSpPr>
        <p:spPr>
          <a:xfrm>
            <a:off x="832167" y="1618699"/>
            <a:ext cx="560220"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1 H</a:t>
            </a:r>
          </a:p>
        </p:txBody>
      </p:sp>
      <p:sp>
        <p:nvSpPr>
          <p:cNvPr id="9" name="原题文字_224_54"/>
          <p:cNvSpPr txBox="1"/>
          <p:nvPr/>
        </p:nvSpPr>
        <p:spPr>
          <a:xfrm>
            <a:off x="778568" y="1894348"/>
            <a:ext cx="690387" cy="467837"/>
          </a:xfrm>
          <a:prstGeom prst="rect">
            <a:avLst/>
          </a:prstGeom>
          <a:noFill/>
        </p:spPr>
        <p:txBody>
          <a:bodyPr wrap="none" lIns="0" rIns="0" tIns="0" bIns="0">
            <a:spAutoFit/>
          </a:bodyPr>
          <a:lstStyle/>
          <a:p>
            <a:pPr>
              <a:lnSpc>
                <a:spcPct val="112000"/>
              </a:lnSpc>
              <a:spcBef>
                <a:spcPts val="0"/>
              </a:spcBef>
              <a:spcAft>
                <a:spcPts val="0"/>
              </a:spcAft>
              <a:defRPr sz="2061" b="0">
                <a:solidFill>
                  <a:srgbClr val="333333"/>
                </a:solidFill>
                <a:latin typeface="微软雅黑"/>
              </a:defRPr>
            </a:pPr>
            <a:r>
              <a:rPr>
                <a:ea typeface="微软雅黑"/>
              </a:rPr>
              <a:t>氢1s1</a:t>
            </a:r>
          </a:p>
        </p:txBody>
      </p:sp>
      <p:sp>
        <p:nvSpPr>
          <p:cNvPr id="10" name="原题文字_224_55"/>
          <p:cNvSpPr txBox="1"/>
          <p:nvPr/>
        </p:nvSpPr>
        <p:spPr>
          <a:xfrm>
            <a:off x="801539" y="2238909"/>
            <a:ext cx="659760"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1.008</a:t>
            </a:r>
          </a:p>
        </p:txBody>
      </p:sp>
      <p:sp>
        <p:nvSpPr>
          <p:cNvPr id="11" name="原题文字_224_56"/>
          <p:cNvSpPr txBox="1"/>
          <p:nvPr/>
        </p:nvSpPr>
        <p:spPr>
          <a:xfrm>
            <a:off x="587146" y="2644726"/>
            <a:ext cx="519265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A.氢有三种核素H、D、T，且H₂、D₂、T₂互为同位素</a:t>
            </a:r>
          </a:p>
        </p:txBody>
      </p:sp>
      <p:sp>
        <p:nvSpPr>
          <p:cNvPr id="12" name="文字_B. H₂与D₂互为同素异形体"/>
          <p:cNvSpPr txBox="1"/>
          <p:nvPr/>
        </p:nvSpPr>
        <p:spPr>
          <a:xfrm>
            <a:off x="502920" y="303055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H₂与D₂互为同素异形体</a:t>
            </a:r>
          </a:p>
        </p:txBody>
      </p:sp>
      <p:sp>
        <p:nvSpPr>
          <p:cNvPr id="13" name="文字_C. 1.008是氢原子的近似相对原子质量"/>
          <p:cNvSpPr txBox="1"/>
          <p:nvPr/>
        </p:nvSpPr>
        <p:spPr>
          <a:xfrm>
            <a:off x="502920" y="346946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1.008是氢原子的近似相对原子质量</a:t>
            </a:r>
          </a:p>
        </p:txBody>
      </p:sp>
      <p:sp>
        <p:nvSpPr>
          <p:cNvPr id="14" name="文字_D. H₂O与D₂O含有相同的电子数不同的中子数"/>
          <p:cNvSpPr txBox="1"/>
          <p:nvPr/>
        </p:nvSpPr>
        <p:spPr>
          <a:xfrm>
            <a:off x="502920" y="390837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H₂O与D₂O含有相同的电子数不同的中子数</a:t>
            </a:r>
          </a:p>
        </p:txBody>
      </p:sp>
      <p:sp>
        <p:nvSpPr>
          <p:cNvPr id="15" name="文字_单选题  ·  11-00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11-004</a:t>
            </a:r>
          </a:p>
        </p:txBody>
      </p:sp>
      <p:sp>
        <p:nvSpPr>
          <p:cNvPr id="16" name="文字_1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例题5</a:t>
            </a:r>
          </a:p>
        </p:txBody>
      </p:sp>
      <p:sp>
        <p:nvSpPr>
          <p:cNvPr id="5" name="文字_P22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P225</a:t>
            </a:r>
          </a:p>
        </p:txBody>
      </p:sp>
      <p:sp>
        <p:nvSpPr>
          <p:cNvPr id="6" name="文字_外层电子数是3，下列说法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外层电子数是3，下列说法不正确的是</a:t>
            </a:r>
          </a:p>
        </p:txBody>
      </p:sp>
      <p:sp>
        <p:nvSpPr>
          <p:cNvPr id="7" name="文字_A. In的原子核外有49个电子"/>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In的原子核外有49个电子</a:t>
            </a:r>
          </a:p>
        </p:txBody>
      </p:sp>
      <p:sp>
        <p:nvSpPr>
          <p:cNvPr id="8" name="文字_B.115In与113In互为同位素49"/>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B.115In与113In互为同位素49</a:t>
            </a:r>
          </a:p>
        </p:txBody>
      </p:sp>
      <p:pic>
        <p:nvPicPr>
          <p:cNvPr id="9" name="Picture 8" descr="image.png"/>
          <p:cNvPicPr>
            <a:picLocks noChangeAspect="1"/>
          </p:cNvPicPr>
          <p:nvPr/>
        </p:nvPicPr>
        <p:blipFill>
          <a:blip r:embed="rId3"/>
          <a:stretch>
            <a:fillRect/>
          </a:stretch>
        </p:blipFill>
        <p:spPr>
          <a:xfrm>
            <a:off x="502920" y="2395728"/>
            <a:ext cx="11064240" cy="1117909"/>
          </a:xfrm>
          <a:prstGeom prst="rect">
            <a:avLst/>
          </a:prstGeom>
        </p:spPr>
      </p:pic>
      <p:sp>
        <p:nvSpPr>
          <p:cNvPr id="10" name="原题文字_225_8"/>
          <p:cNvSpPr txBox="1"/>
          <p:nvPr/>
        </p:nvSpPr>
        <p:spPr>
          <a:xfrm>
            <a:off x="602459" y="2481210"/>
            <a:ext cx="2642900"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C. Al的原子结构示意图为：</a:t>
            </a:r>
          </a:p>
        </p:txBody>
      </p:sp>
      <p:sp>
        <p:nvSpPr>
          <p:cNvPr id="11" name="原题文字_225_9"/>
          <p:cNvSpPr txBox="1"/>
          <p:nvPr/>
        </p:nvSpPr>
        <p:spPr>
          <a:xfrm>
            <a:off x="3320664" y="2481210"/>
            <a:ext cx="498964" cy="338435"/>
          </a:xfrm>
          <a:prstGeom prst="rect">
            <a:avLst/>
          </a:prstGeom>
          <a:noFill/>
        </p:spPr>
        <p:txBody>
          <a:bodyPr wrap="none" lIns="0" rIns="0" tIns="0" bIns="0">
            <a:spAutoFit/>
          </a:bodyPr>
          <a:lstStyle/>
          <a:p>
            <a:pPr>
              <a:lnSpc>
                <a:spcPct val="112000"/>
              </a:lnSpc>
              <a:spcBef>
                <a:spcPts val="0"/>
              </a:spcBef>
              <a:spcAft>
                <a:spcPts val="0"/>
              </a:spcAft>
              <a:defRPr sz="1505" b="0">
                <a:solidFill>
                  <a:srgbClr val="333333"/>
                </a:solidFill>
                <a:latin typeface="微软雅黑"/>
              </a:defRPr>
            </a:pPr>
            <a:r>
              <a:rPr>
                <a:ea typeface="微软雅黑"/>
              </a:rPr>
              <a:t>(+13)</a:t>
            </a:r>
          </a:p>
        </p:txBody>
      </p:sp>
      <p:sp>
        <p:nvSpPr>
          <p:cNvPr id="12" name="原题文字_225_10"/>
          <p:cNvSpPr txBox="1"/>
          <p:nvPr/>
        </p:nvSpPr>
        <p:spPr>
          <a:xfrm>
            <a:off x="3803049" y="2504180"/>
            <a:ext cx="246286"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2</a:t>
            </a:r>
          </a:p>
        </p:txBody>
      </p:sp>
      <p:sp>
        <p:nvSpPr>
          <p:cNvPr id="13" name="原题文字_225_11"/>
          <p:cNvSpPr txBox="1"/>
          <p:nvPr/>
        </p:nvSpPr>
        <p:spPr>
          <a:xfrm>
            <a:off x="3948531" y="2481210"/>
            <a:ext cx="44536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83</a:t>
            </a:r>
          </a:p>
        </p:txBody>
      </p:sp>
      <p:sp>
        <p:nvSpPr>
          <p:cNvPr id="14" name="原题文字_225_12"/>
          <p:cNvSpPr txBox="1"/>
          <p:nvPr/>
        </p:nvSpPr>
        <p:spPr>
          <a:xfrm>
            <a:off x="862794" y="3124390"/>
            <a:ext cx="2995118" cy="527561"/>
          </a:xfrm>
          <a:prstGeom prst="rect">
            <a:avLst/>
          </a:prstGeom>
          <a:noFill/>
        </p:spPr>
        <p:txBody>
          <a:bodyPr wrap="none" lIns="0" rIns="0" tIns="0" bIns="0">
            <a:spAutoFit/>
          </a:bodyPr>
          <a:lstStyle/>
          <a:p>
            <a:pPr>
              <a:lnSpc>
                <a:spcPct val="112000"/>
              </a:lnSpc>
              <a:spcBef>
                <a:spcPts val="0"/>
              </a:spcBef>
              <a:spcAft>
                <a:spcPts val="0"/>
              </a:spcAft>
              <a:defRPr sz="1791" b="0">
                <a:solidFill>
                  <a:srgbClr val="333333"/>
                </a:solidFill>
                <a:latin typeface="微软雅黑"/>
              </a:defRPr>
            </a:pPr>
            <a:r>
              <a:rPr>
                <a:ea typeface="微软雅黑"/>
              </a:rPr>
              <a:t>15In与13In具有相同的中子数</a:t>
            </a:r>
          </a:p>
        </p:txBody>
      </p:sp>
      <p:sp>
        <p:nvSpPr>
          <p:cNvPr id="15" name="原题文字_225_13"/>
          <p:cNvSpPr txBox="1"/>
          <p:nvPr/>
        </p:nvSpPr>
        <p:spPr>
          <a:xfrm>
            <a:off x="571832" y="3216273"/>
            <a:ext cx="31519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D.</a:t>
            </a:r>
          </a:p>
        </p:txBody>
      </p:sp>
      <p:sp>
        <p:nvSpPr>
          <p:cNvPr id="16" name="原题文字_225_14"/>
          <p:cNvSpPr txBox="1"/>
          <p:nvPr/>
        </p:nvSpPr>
        <p:spPr>
          <a:xfrm>
            <a:off x="931707" y="3315813"/>
            <a:ext cx="238629" cy="199079"/>
          </a:xfrm>
          <a:prstGeom prst="rect">
            <a:avLst/>
          </a:prstGeom>
          <a:noFill/>
        </p:spPr>
        <p:txBody>
          <a:bodyPr wrap="none" lIns="0" rIns="0" tIns="0" bIns="0">
            <a:spAutoFit/>
          </a:bodyPr>
          <a:lstStyle/>
          <a:p>
            <a:pPr>
              <a:lnSpc>
                <a:spcPct val="112000"/>
              </a:lnSpc>
              <a:spcBef>
                <a:spcPts val="0"/>
              </a:spcBef>
              <a:spcAft>
                <a:spcPts val="0"/>
              </a:spcAft>
              <a:defRPr sz="964" b="0">
                <a:solidFill>
                  <a:srgbClr val="333333"/>
                </a:solidFill>
                <a:latin typeface="微软雅黑"/>
              </a:defRPr>
            </a:pPr>
            <a:r>
              <a:rPr>
                <a:ea typeface="微软雅黑"/>
              </a:rPr>
              <a:t>49</a:t>
            </a:r>
          </a:p>
        </p:txBody>
      </p:sp>
      <p:sp>
        <p:nvSpPr>
          <p:cNvPr id="17" name="文字_单选题  ·  11-00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11-005</a:t>
            </a:r>
          </a:p>
        </p:txBody>
      </p:sp>
      <p:sp>
        <p:nvSpPr>
          <p:cNvPr id="18" name="文字_1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例题6</a:t>
            </a:r>
          </a:p>
        </p:txBody>
      </p:sp>
      <p:sp>
        <p:nvSpPr>
          <p:cNvPr id="5" name="文字_P22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P225</a:t>
            </a:r>
          </a:p>
        </p:txBody>
      </p:sp>
      <p:pic>
        <p:nvPicPr>
          <p:cNvPr id="6" name="Picture 5" descr="image.png"/>
          <p:cNvPicPr>
            <a:picLocks noChangeAspect="1"/>
          </p:cNvPicPr>
          <p:nvPr/>
        </p:nvPicPr>
        <p:blipFill>
          <a:blip r:embed="rId3"/>
          <a:stretch>
            <a:fillRect/>
          </a:stretch>
        </p:blipFill>
        <p:spPr>
          <a:xfrm>
            <a:off x="502920" y="1078992"/>
            <a:ext cx="11064240" cy="1424185"/>
          </a:xfrm>
          <a:prstGeom prst="rect">
            <a:avLst/>
          </a:prstGeom>
        </p:spPr>
      </p:pic>
      <p:sp>
        <p:nvSpPr>
          <p:cNvPr id="7" name="原题文字_225_18"/>
          <p:cNvSpPr txBox="1"/>
          <p:nvPr/>
        </p:nvSpPr>
        <p:spPr>
          <a:xfrm>
            <a:off x="3052672" y="1057277"/>
            <a:ext cx="1264656" cy="487745"/>
          </a:xfrm>
          <a:prstGeom prst="rect">
            <a:avLst/>
          </a:prstGeom>
          <a:noFill/>
        </p:spPr>
        <p:txBody>
          <a:bodyPr wrap="none" lIns="0" rIns="0" tIns="0" bIns="0">
            <a:spAutoFit/>
          </a:bodyPr>
          <a:lstStyle/>
          <a:p>
            <a:pPr>
              <a:lnSpc>
                <a:spcPct val="112000"/>
              </a:lnSpc>
              <a:spcBef>
                <a:spcPts val="0"/>
              </a:spcBef>
              <a:spcAft>
                <a:spcPts val="0"/>
              </a:spcAft>
              <a:defRPr sz="1559" b="0">
                <a:solidFill>
                  <a:srgbClr val="333333"/>
                </a:solidFill>
                <a:latin typeface="微软雅黑"/>
              </a:defRPr>
            </a:pPr>
            <a:r>
              <a:rPr>
                <a:ea typeface="微软雅黑"/>
              </a:rPr>
              <a:t>235U + 1n →1</a:t>
            </a:r>
          </a:p>
        </p:txBody>
      </p:sp>
      <p:sp>
        <p:nvSpPr>
          <p:cNvPr id="8" name="原题文字_225_19"/>
          <p:cNvSpPr txBox="1"/>
          <p:nvPr/>
        </p:nvSpPr>
        <p:spPr>
          <a:xfrm>
            <a:off x="4185895" y="1103218"/>
            <a:ext cx="338169"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144</a:t>
            </a:r>
          </a:p>
        </p:txBody>
      </p:sp>
      <p:sp>
        <p:nvSpPr>
          <p:cNvPr id="9" name="原题文字_225_20"/>
          <p:cNvSpPr txBox="1"/>
          <p:nvPr/>
        </p:nvSpPr>
        <p:spPr>
          <a:xfrm>
            <a:off x="4446230" y="1095561"/>
            <a:ext cx="575534"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Ba+</a:t>
            </a:r>
          </a:p>
        </p:txBody>
      </p:sp>
      <p:sp>
        <p:nvSpPr>
          <p:cNvPr id="10" name="原题文字_225_21"/>
          <p:cNvSpPr txBox="1"/>
          <p:nvPr/>
        </p:nvSpPr>
        <p:spPr>
          <a:xfrm>
            <a:off x="4201209" y="1225729"/>
            <a:ext cx="246286" cy="199079"/>
          </a:xfrm>
          <a:prstGeom prst="rect">
            <a:avLst/>
          </a:prstGeom>
          <a:noFill/>
        </p:spPr>
        <p:txBody>
          <a:bodyPr wrap="none" lIns="0" rIns="0" tIns="0" bIns="0">
            <a:spAutoFit/>
          </a:bodyPr>
          <a:lstStyle/>
          <a:p>
            <a:pPr>
              <a:lnSpc>
                <a:spcPct val="112000"/>
              </a:lnSpc>
              <a:spcBef>
                <a:spcPts val="0"/>
              </a:spcBef>
              <a:spcAft>
                <a:spcPts val="0"/>
              </a:spcAft>
              <a:defRPr sz="964" b="0">
                <a:solidFill>
                  <a:srgbClr val="333333"/>
                </a:solidFill>
                <a:latin typeface="微软雅黑"/>
              </a:defRPr>
            </a:pPr>
            <a:r>
              <a:rPr>
                <a:ea typeface="微软雅黑"/>
              </a:rPr>
              <a:t>56</a:t>
            </a:r>
          </a:p>
        </p:txBody>
      </p:sp>
      <p:sp>
        <p:nvSpPr>
          <p:cNvPr id="11" name="原题文字_225_22"/>
          <p:cNvSpPr txBox="1"/>
          <p:nvPr/>
        </p:nvSpPr>
        <p:spPr>
          <a:xfrm>
            <a:off x="594802" y="1470750"/>
            <a:ext cx="177001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 M的质量数为3</a:t>
            </a:r>
          </a:p>
        </p:txBody>
      </p:sp>
      <p:sp>
        <p:nvSpPr>
          <p:cNvPr id="12" name="原题文字_225_23"/>
          <p:cNvSpPr txBox="1"/>
          <p:nvPr/>
        </p:nvSpPr>
        <p:spPr>
          <a:xfrm>
            <a:off x="832167" y="1777027"/>
            <a:ext cx="2305996" cy="567377"/>
          </a:xfrm>
          <a:prstGeom prst="rect">
            <a:avLst/>
          </a:prstGeom>
          <a:noFill/>
        </p:spPr>
        <p:txBody>
          <a:bodyPr wrap="none" lIns="0" rIns="0" tIns="0" bIns="0">
            <a:spAutoFit/>
          </a:bodyPr>
          <a:lstStyle/>
          <a:p>
            <a:pPr>
              <a:lnSpc>
                <a:spcPct val="112000"/>
              </a:lnSpc>
              <a:spcBef>
                <a:spcPts val="0"/>
              </a:spcBef>
              <a:spcAft>
                <a:spcPts val="0"/>
              </a:spcAft>
              <a:defRPr sz="1834" b="0">
                <a:solidFill>
                  <a:srgbClr val="333333"/>
                </a:solidFill>
                <a:latin typeface="微软雅黑"/>
              </a:defRPr>
            </a:pPr>
            <a:r>
              <a:rPr>
                <a:ea typeface="微软雅黑"/>
              </a:rPr>
              <a:t>235U与234U为同位素</a:t>
            </a:r>
          </a:p>
        </p:txBody>
      </p:sp>
      <p:sp>
        <p:nvSpPr>
          <p:cNvPr id="13" name="原题文字_225_24"/>
          <p:cNvSpPr txBox="1"/>
          <p:nvPr/>
        </p:nvSpPr>
        <p:spPr>
          <a:xfrm>
            <a:off x="556518" y="1853596"/>
            <a:ext cx="35348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a:t>
            </a:r>
          </a:p>
        </p:txBody>
      </p:sp>
      <p:sp>
        <p:nvSpPr>
          <p:cNvPr id="14" name="原题文字_225_25"/>
          <p:cNvSpPr txBox="1"/>
          <p:nvPr/>
        </p:nvSpPr>
        <p:spPr>
          <a:xfrm>
            <a:off x="893422" y="1976106"/>
            <a:ext cx="276914"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92</a:t>
            </a:r>
          </a:p>
        </p:txBody>
      </p:sp>
      <p:sp>
        <p:nvSpPr>
          <p:cNvPr id="15" name="原题文字_225_26"/>
          <p:cNvSpPr txBox="1"/>
          <p:nvPr/>
        </p:nvSpPr>
        <p:spPr>
          <a:xfrm>
            <a:off x="594802" y="2228785"/>
            <a:ext cx="2757754"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C. 该变化过程属于化学变化</a:t>
            </a:r>
          </a:p>
        </p:txBody>
      </p:sp>
      <p:sp>
        <p:nvSpPr>
          <p:cNvPr id="16" name="文字_D.Kr的中子数与质子数之差为53"/>
          <p:cNvSpPr txBox="1"/>
          <p:nvPr/>
        </p:nvSpPr>
        <p:spPr>
          <a:xfrm>
            <a:off x="502920" y="257632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D.Kr的中子数与质子数之差为53</a:t>
            </a:r>
          </a:p>
        </p:txBody>
      </p:sp>
      <p:sp>
        <p:nvSpPr>
          <p:cNvPr id="17" name="文字_单选题  ·  11-00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11-006</a:t>
            </a:r>
          </a:p>
        </p:txBody>
      </p:sp>
      <p:sp>
        <p:nvSpPr>
          <p:cNvPr id="18" name="文字_1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例题7</a:t>
            </a:r>
          </a:p>
        </p:txBody>
      </p:sp>
      <p:sp>
        <p:nvSpPr>
          <p:cNvPr id="5" name="文字_P22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P225</a:t>
            </a:r>
          </a:p>
        </p:txBody>
      </p:sp>
      <p:sp>
        <p:nvSpPr>
          <p:cNvPr id="6" name="文字_2022年诺贝尔化学奖授予了三位在“点击化学”及"/>
          <p:cNvSpPr txBox="1"/>
          <p:nvPr/>
        </p:nvSpPr>
        <p:spPr>
          <a:xfrm>
            <a:off x="502920" y="1078992"/>
            <a:ext cx="11064240" cy="1889759"/>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2022年诺贝尔化学奖授予了三位在“点击化学”及其应用方面做出了重大贡献的</a:t>
            </a:r>
          </a:p>
          <a:p>
            <a:pPr>
              <a:lnSpc>
                <a:spcPct val="112000"/>
              </a:lnSpc>
              <a:spcBef>
                <a:spcPts val="0"/>
              </a:spcBef>
              <a:spcAft>
                <a:spcPts val="0"/>
              </a:spcAft>
              <a:defRPr sz="2400" b="0">
                <a:solidFill>
                  <a:srgbClr val="333333"/>
                </a:solidFill>
                <a:latin typeface="微软雅黑"/>
              </a:defRPr>
            </a:pPr>
            <a:r>
              <a:rPr>
                <a:ea typeface="微软雅黑"/>
              </a:rPr>
              <a:t>三位化学家—卡罗琳·贝尔托西、莫滕桦尔达和巴里·夏普莱斯。卡罗琳·贝尔托西将</a:t>
            </a:r>
          </a:p>
          <a:p>
            <a:pPr>
              <a:lnSpc>
                <a:spcPct val="112000"/>
              </a:lnSpc>
              <a:spcBef>
                <a:spcPts val="0"/>
              </a:spcBef>
              <a:spcAft>
                <a:spcPts val="0"/>
              </a:spcAft>
              <a:defRPr sz="2400" b="0">
                <a:solidFill>
                  <a:srgbClr val="333333"/>
                </a:solidFill>
                <a:latin typeface="微软雅黑"/>
              </a:defRPr>
            </a:pPr>
            <a:r>
              <a:rPr>
                <a:ea typeface="微软雅黑"/>
              </a:rPr>
              <a:t>“点击化学”运用在生物学领域，并开创了“正交化学”，她的研究中需要对糖类</a:t>
            </a:r>
          </a:p>
          <a:p>
            <a:pPr>
              <a:lnSpc>
                <a:spcPct val="112000"/>
              </a:lnSpc>
              <a:spcBef>
                <a:spcPts val="0"/>
              </a:spcBef>
              <a:spcAft>
                <a:spcPts val="0"/>
              </a:spcAft>
              <a:defRPr sz="2400" b="0">
                <a:solidFill>
                  <a:srgbClr val="333333"/>
                </a:solidFill>
                <a:latin typeface="微软雅黑"/>
              </a:defRPr>
            </a:pPr>
            <a:r>
              <a:rPr>
                <a:ea typeface="微软雅黑"/>
              </a:rPr>
              <a:t>进行示踪和定位。在很多研究糖类的实验中，会选用具有放射性的14C进行示踪研</a:t>
            </a:r>
          </a:p>
          <a:p>
            <a:pPr>
              <a:lnSpc>
                <a:spcPct val="112000"/>
              </a:lnSpc>
              <a:spcBef>
                <a:spcPts val="0"/>
              </a:spcBef>
              <a:spcAft>
                <a:spcPts val="0"/>
              </a:spcAft>
              <a:defRPr sz="2400" b="0">
                <a:solidFill>
                  <a:srgbClr val="333333"/>
                </a:solidFill>
                <a:latin typeface="微软雅黑"/>
              </a:defRPr>
            </a:pPr>
            <a:r>
              <a:rPr>
                <a:ea typeface="微软雅黑"/>
              </a:rPr>
              <a:t>究。以下有关同位素的说法正确的是</a:t>
            </a:r>
          </a:p>
        </p:txBody>
      </p:sp>
      <p:sp>
        <p:nvSpPr>
          <p:cNvPr id="7" name="文字_A. 14N₂、15N₂互为同位素"/>
          <p:cNvSpPr txBox="1"/>
          <p:nvPr/>
        </p:nvSpPr>
        <p:spPr>
          <a:xfrm>
            <a:off x="502920" y="29687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14N₂、15N₂互为同位素</a:t>
            </a:r>
          </a:p>
        </p:txBody>
      </p:sp>
      <p:sp>
        <p:nvSpPr>
          <p:cNvPr id="8" name="文字_B. D、T发生核聚变成为其它元素，属于化学反应"/>
          <p:cNvSpPr txBox="1"/>
          <p:nvPr/>
        </p:nvSpPr>
        <p:spPr>
          <a:xfrm>
            <a:off x="502920" y="34076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D、T发生核聚变成为其它元素，属于化学反应</a:t>
            </a:r>
          </a:p>
        </p:txBody>
      </p:sp>
      <p:sp>
        <p:nvSpPr>
          <p:cNvPr id="9" name="文字_C. 16O、18O的质子数相同，电子数不同"/>
          <p:cNvSpPr txBox="1"/>
          <p:nvPr/>
        </p:nvSpPr>
        <p:spPr>
          <a:xfrm>
            <a:off x="502920" y="38465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16O、18O的质子数相同，电子数不同</a:t>
            </a:r>
          </a:p>
        </p:txBody>
      </p:sp>
      <p:sp>
        <p:nvSpPr>
          <p:cNvPr id="10" name="文字_D. 同一元素各核素的近似相对原子质量不同，但它"/>
          <p:cNvSpPr txBox="1"/>
          <p:nvPr/>
        </p:nvSpPr>
        <p:spPr>
          <a:xfrm>
            <a:off x="502920" y="42854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同一元素各核素的近似相对原子质量不同，但它们的化学性质几乎完全相同</a:t>
            </a:r>
          </a:p>
        </p:txBody>
      </p:sp>
      <p:sp>
        <p:nvSpPr>
          <p:cNvPr id="11" name="文字_单选题  ·  11-00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11-007</a:t>
            </a:r>
          </a:p>
        </p:txBody>
      </p:sp>
      <p:sp>
        <p:nvSpPr>
          <p:cNvPr id="12" name="文字_1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变式1</a:t>
            </a:r>
          </a:p>
        </p:txBody>
      </p:sp>
      <p:sp>
        <p:nvSpPr>
          <p:cNvPr id="5" name="文字_P22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P225</a:t>
            </a:r>
          </a:p>
        </p:txBody>
      </p:sp>
      <p:sp>
        <p:nvSpPr>
          <p:cNvPr id="6" name="文字_化学科学的发展离不开科学家的杰出贡献，下列说法与"/>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化学科学的发展离不开科学家的杰出贡献，下列说法与史实不符的是（）</a:t>
            </a:r>
          </a:p>
        </p:txBody>
      </p:sp>
      <p:sp>
        <p:nvSpPr>
          <p:cNvPr id="7" name="文字_A. 拉瓦锡提出了燃烧的氧化学说"/>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拉瓦锡提出了燃烧的氧化学说</a:t>
            </a:r>
          </a:p>
        </p:txBody>
      </p:sp>
      <p:sp>
        <p:nvSpPr>
          <p:cNvPr id="8" name="文字_B. 门捷列夫编制了第一张元素周期表"/>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门捷列夫编制了第一张元素周期表</a:t>
            </a:r>
          </a:p>
        </p:txBody>
      </p:sp>
      <p:sp>
        <p:nvSpPr>
          <p:cNvPr id="9" name="文字_C. 汤姆生第一次用实验方法测定出电子的质量不及"/>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汤姆生第一次用实验方法测定出电子的质量不及氢原子质量的千分之一</a:t>
            </a:r>
          </a:p>
        </p:txBody>
      </p:sp>
      <p:sp>
        <p:nvSpPr>
          <p:cNvPr id="10" name="文字_D. 卢瑟福通过α粒子的散射实验，证明了电子在核"/>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卢瑟福通过α粒子的散射实验，证明了电子在核外分层运动</a:t>
            </a:r>
          </a:p>
        </p:txBody>
      </p:sp>
      <p:sp>
        <p:nvSpPr>
          <p:cNvPr id="11" name="文字_单选题  ·  11-00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11-008</a:t>
            </a:r>
          </a:p>
        </p:txBody>
      </p:sp>
      <p:sp>
        <p:nvSpPr>
          <p:cNvPr id="12" name="文字_1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变式2</a:t>
            </a:r>
          </a:p>
        </p:txBody>
      </p:sp>
      <p:sp>
        <p:nvSpPr>
          <p:cNvPr id="5" name="文字_P2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P226</a:t>
            </a:r>
          </a:p>
        </p:txBody>
      </p:sp>
      <p:sp>
        <p:nvSpPr>
          <p:cNvPr id="6" name="文字_我国导航卫星的“心脏”使用的是铷原子钟。其中铷的"/>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我国导航卫星的“心脏”使用的是铷原子钟。其中铷的一种同位素原子符号为5Rb</a:t>
            </a:r>
          </a:p>
          <a:p>
            <a:pPr>
              <a:lnSpc>
                <a:spcPct val="112000"/>
              </a:lnSpc>
              <a:spcBef>
                <a:spcPts val="0"/>
              </a:spcBef>
              <a:spcAft>
                <a:spcPts val="0"/>
              </a:spcAft>
              <a:defRPr sz="2400" b="0">
                <a:solidFill>
                  <a:srgbClr val="333333"/>
                </a:solidFill>
                <a:latin typeface="微软雅黑"/>
              </a:defRPr>
            </a:pPr>
            <a:r>
              <a:rPr>
                <a:ea typeface="微软雅黑"/>
              </a:rPr>
              <a:t>，通过该符号无法推断出的信息是</a:t>
            </a:r>
          </a:p>
        </p:txBody>
      </p:sp>
      <p:sp>
        <p:nvSpPr>
          <p:cNvPr id="7" name="文字_A. Rb元素的相对原子质量"/>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Rb元素的相对原子质量</a:t>
            </a:r>
          </a:p>
        </p:txBody>
      </p:sp>
      <p:sp>
        <p:nvSpPr>
          <p:cNvPr id="8" name="文字_B. Rb元素在周期表中的位置"/>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Rb元素在周期表中的位置</a:t>
            </a:r>
          </a:p>
        </p:txBody>
      </p:sp>
      <p:sp>
        <p:nvSpPr>
          <p:cNvPr id="9" name="文字_C. Rb元素的原子序数"/>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Rb元素的原子序数</a:t>
            </a:r>
          </a:p>
        </p:txBody>
      </p:sp>
      <p:sp>
        <p:nvSpPr>
          <p:cNvPr id="10" name="文字_D. Rb元素的核外电子排布"/>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Rb元素的核外电子排布</a:t>
            </a:r>
          </a:p>
        </p:txBody>
      </p:sp>
      <p:sp>
        <p:nvSpPr>
          <p:cNvPr id="11" name="文字_单选题  ·  11-00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11-009</a:t>
            </a:r>
          </a:p>
        </p:txBody>
      </p:sp>
      <p:sp>
        <p:nvSpPr>
          <p:cNvPr id="12" name="文字_1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变式3</a:t>
            </a:r>
          </a:p>
        </p:txBody>
      </p:sp>
      <p:sp>
        <p:nvSpPr>
          <p:cNvPr id="5" name="文字_P2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P226</a:t>
            </a:r>
          </a:p>
        </p:txBody>
      </p:sp>
      <p:sp>
        <p:nvSpPr>
          <p:cNvPr id="6" name="文字_下列关于108Hg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下列关于108Hg的说法正确的是（）</a:t>
            </a:r>
          </a:p>
        </p:txBody>
      </p:sp>
      <p:sp>
        <p:nvSpPr>
          <p:cNvPr id="7" name="文字_A. 质子数为198"/>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质子数为198</a:t>
            </a:r>
          </a:p>
        </p:txBody>
      </p:sp>
      <p:sp>
        <p:nvSpPr>
          <p:cNvPr id="8" name="文字_B. 中子数为118"/>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中子数为118</a:t>
            </a:r>
          </a:p>
        </p:txBody>
      </p:sp>
      <p:sp>
        <p:nvSpPr>
          <p:cNvPr id="9" name="文字_C. 核外电子数为278"/>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核外电子数为278</a:t>
            </a:r>
          </a:p>
        </p:txBody>
      </p:sp>
      <p:sp>
        <p:nvSpPr>
          <p:cNvPr id="10" name="文字_D. 质量数为80"/>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质量数为80</a:t>
            </a:r>
          </a:p>
        </p:txBody>
      </p:sp>
      <p:sp>
        <p:nvSpPr>
          <p:cNvPr id="11" name="文字_单选题  ·  11-01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11-010</a:t>
            </a:r>
          </a:p>
        </p:txBody>
      </p:sp>
      <p:sp>
        <p:nvSpPr>
          <p:cNvPr id="12" name="文字_1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变式4</a:t>
            </a:r>
          </a:p>
        </p:txBody>
      </p:sp>
      <p:sp>
        <p:nvSpPr>
          <p:cNvPr id="5" name="文字_P2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P226</a:t>
            </a:r>
          </a:p>
        </p:txBody>
      </p:sp>
      <p:sp>
        <p:nvSpPr>
          <p:cNvPr id="6" name="文字_氯的几种同位素的质量数和相对丰度如下，氯元素的近"/>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氯的几种同位素的质量数和相对丰度如下，氯元素的近似相对原子质量为 ______ (</a:t>
            </a:r>
          </a:p>
          <a:p>
            <a:pPr>
              <a:lnSpc>
                <a:spcPct val="112000"/>
              </a:lnSpc>
              <a:spcBef>
                <a:spcPts val="0"/>
              </a:spcBef>
              <a:spcAft>
                <a:spcPts val="0"/>
              </a:spcAft>
              <a:defRPr sz="2400" b="0">
                <a:solidFill>
                  <a:srgbClr val="333333"/>
                </a:solidFill>
                <a:latin typeface="微软雅黑"/>
              </a:defRPr>
            </a:pPr>
            <a:r>
              <a:rPr>
                <a:ea typeface="微软雅黑"/>
              </a:rPr>
              <a:t>列式并计算保留三位小数)。</a:t>
            </a:r>
          </a:p>
        </p:txBody>
      </p:sp>
      <p:pic>
        <p:nvPicPr>
          <p:cNvPr id="7" name="Picture 6" descr="image.png"/>
          <p:cNvPicPr>
            <a:picLocks noChangeAspect="1"/>
          </p:cNvPicPr>
          <p:nvPr/>
        </p:nvPicPr>
        <p:blipFill>
          <a:blip r:embed="rId3"/>
          <a:stretch>
            <a:fillRect/>
          </a:stretch>
        </p:blipFill>
        <p:spPr>
          <a:xfrm>
            <a:off x="502920" y="1880616"/>
            <a:ext cx="11064240" cy="1439499"/>
          </a:xfrm>
          <a:prstGeom prst="rect">
            <a:avLst/>
          </a:prstGeom>
        </p:spPr>
      </p:pic>
      <p:sp>
        <p:nvSpPr>
          <p:cNvPr id="8" name="原题文字_226_21"/>
          <p:cNvSpPr txBox="1"/>
          <p:nvPr/>
        </p:nvSpPr>
        <p:spPr>
          <a:xfrm>
            <a:off x="602459" y="2012039"/>
            <a:ext cx="3140600" cy="447929"/>
          </a:xfrm>
          <a:prstGeom prst="rect">
            <a:avLst/>
          </a:prstGeom>
          <a:noFill/>
        </p:spPr>
        <p:txBody>
          <a:bodyPr wrap="none" lIns="0" rIns="0" tIns="0" bIns="0">
            <a:spAutoFit/>
          </a:bodyPr>
          <a:lstStyle/>
          <a:p>
            <a:pPr>
              <a:lnSpc>
                <a:spcPct val="112000"/>
              </a:lnSpc>
              <a:spcBef>
                <a:spcPts val="0"/>
              </a:spcBef>
              <a:spcAft>
                <a:spcPts val="0"/>
              </a:spcAft>
              <a:defRPr sz="1839" b="0">
                <a:solidFill>
                  <a:srgbClr val="333333"/>
                </a:solidFill>
                <a:latin typeface="微软雅黑"/>
              </a:defRPr>
            </a:pPr>
            <a:r>
              <a:rPr>
                <a:ea typeface="微软雅黑"/>
              </a:rPr>
              <a:t>核素符号相对原子质量丰度(%)</a:t>
            </a:r>
          </a:p>
        </p:txBody>
      </p:sp>
      <p:sp>
        <p:nvSpPr>
          <p:cNvPr id="9" name="原题文字_226_22"/>
          <p:cNvSpPr txBox="1"/>
          <p:nvPr/>
        </p:nvSpPr>
        <p:spPr>
          <a:xfrm>
            <a:off x="617773" y="2448483"/>
            <a:ext cx="307542"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35</a:t>
            </a:r>
          </a:p>
        </p:txBody>
      </p:sp>
      <p:sp>
        <p:nvSpPr>
          <p:cNvPr id="10" name="原题文字_226_23"/>
          <p:cNvSpPr txBox="1"/>
          <p:nvPr/>
        </p:nvSpPr>
        <p:spPr>
          <a:xfrm>
            <a:off x="778568" y="2463797"/>
            <a:ext cx="37645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Cl</a:t>
            </a:r>
          </a:p>
        </p:txBody>
      </p:sp>
      <p:sp>
        <p:nvSpPr>
          <p:cNvPr id="11" name="原题文字_226_24"/>
          <p:cNvSpPr txBox="1"/>
          <p:nvPr/>
        </p:nvSpPr>
        <p:spPr>
          <a:xfrm>
            <a:off x="1513632" y="2479111"/>
            <a:ext cx="74398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34.969</a:t>
            </a:r>
          </a:p>
        </p:txBody>
      </p:sp>
      <p:sp>
        <p:nvSpPr>
          <p:cNvPr id="12" name="原题文字_226_25"/>
          <p:cNvSpPr txBox="1"/>
          <p:nvPr/>
        </p:nvSpPr>
        <p:spPr>
          <a:xfrm>
            <a:off x="2853592" y="2471454"/>
            <a:ext cx="63678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75.77</a:t>
            </a:r>
          </a:p>
        </p:txBody>
      </p:sp>
      <p:sp>
        <p:nvSpPr>
          <p:cNvPr id="13" name="原题文字_226_26"/>
          <p:cNvSpPr txBox="1"/>
          <p:nvPr/>
        </p:nvSpPr>
        <p:spPr>
          <a:xfrm>
            <a:off x="656058" y="2593965"/>
            <a:ext cx="253943"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17</a:t>
            </a:r>
          </a:p>
        </p:txBody>
      </p:sp>
      <p:sp>
        <p:nvSpPr>
          <p:cNvPr id="14" name="原题文字_226_27"/>
          <p:cNvSpPr txBox="1"/>
          <p:nvPr/>
        </p:nvSpPr>
        <p:spPr>
          <a:xfrm>
            <a:off x="633087" y="2861957"/>
            <a:ext cx="269257"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37</a:t>
            </a:r>
          </a:p>
        </p:txBody>
      </p:sp>
      <p:sp>
        <p:nvSpPr>
          <p:cNvPr id="15" name="原题文字_226_28"/>
          <p:cNvSpPr txBox="1"/>
          <p:nvPr/>
        </p:nvSpPr>
        <p:spPr>
          <a:xfrm>
            <a:off x="786225" y="2869613"/>
            <a:ext cx="34582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Cl</a:t>
            </a:r>
          </a:p>
        </p:txBody>
      </p:sp>
      <p:sp>
        <p:nvSpPr>
          <p:cNvPr id="16" name="原题文字_226_29"/>
          <p:cNvSpPr txBox="1"/>
          <p:nvPr/>
        </p:nvSpPr>
        <p:spPr>
          <a:xfrm>
            <a:off x="1513632" y="2877270"/>
            <a:ext cx="74398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36.966</a:t>
            </a:r>
          </a:p>
        </p:txBody>
      </p:sp>
      <p:sp>
        <p:nvSpPr>
          <p:cNvPr id="17" name="原题文字_226_30"/>
          <p:cNvSpPr txBox="1"/>
          <p:nvPr/>
        </p:nvSpPr>
        <p:spPr>
          <a:xfrm>
            <a:off x="2845935" y="2877270"/>
            <a:ext cx="63678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24.23</a:t>
            </a:r>
          </a:p>
        </p:txBody>
      </p:sp>
      <p:sp>
        <p:nvSpPr>
          <p:cNvPr id="18" name="原题文字_226_31"/>
          <p:cNvSpPr txBox="1"/>
          <p:nvPr/>
        </p:nvSpPr>
        <p:spPr>
          <a:xfrm>
            <a:off x="656058" y="3030409"/>
            <a:ext cx="223316" cy="189125"/>
          </a:xfrm>
          <a:prstGeom prst="rect">
            <a:avLst/>
          </a:prstGeom>
          <a:noFill/>
        </p:spPr>
        <p:txBody>
          <a:bodyPr wrap="none" lIns="0" rIns="0" tIns="0" bIns="0">
            <a:spAutoFit/>
          </a:bodyPr>
          <a:lstStyle/>
          <a:p>
            <a:pPr>
              <a:lnSpc>
                <a:spcPct val="112000"/>
              </a:lnSpc>
              <a:spcBef>
                <a:spcPts val="0"/>
              </a:spcBef>
              <a:spcAft>
                <a:spcPts val="0"/>
              </a:spcAft>
              <a:defRPr sz="916" b="0">
                <a:solidFill>
                  <a:srgbClr val="333333"/>
                </a:solidFill>
                <a:latin typeface="微软雅黑"/>
              </a:defRPr>
            </a:pPr>
            <a:r>
              <a:rPr>
                <a:ea typeface="微软雅黑"/>
              </a:rPr>
              <a:t>17</a:t>
            </a:r>
          </a:p>
        </p:txBody>
      </p:sp>
      <p:sp>
        <p:nvSpPr>
          <p:cNvPr id="19" name="文字_解答题  ·  11-01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11-011</a:t>
            </a:r>
          </a:p>
        </p:txBody>
      </p:sp>
      <p:sp>
        <p:nvSpPr>
          <p:cNvPr id="20" name="文字_1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变式5</a:t>
            </a:r>
          </a:p>
        </p:txBody>
      </p:sp>
      <p:sp>
        <p:nvSpPr>
          <p:cNvPr id="5" name="文字_P2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P226</a:t>
            </a:r>
          </a:p>
        </p:txBody>
      </p:sp>
      <p:sp>
        <p:nvSpPr>
          <p:cNvPr id="6" name="文字_29Co的衰变方程式为Co=ÅNi+_₁e−+¯"/>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29Co的衰变方程式为Co=ÅNi+_₁e−+¯e，其中ve的电荷为零，静止质量可认为</a:t>
            </a:r>
          </a:p>
          <a:p>
            <a:pPr>
              <a:lnSpc>
                <a:spcPct val="112000"/>
              </a:lnSpc>
              <a:spcBef>
                <a:spcPts val="0"/>
              </a:spcBef>
              <a:spcAft>
                <a:spcPts val="0"/>
              </a:spcAft>
              <a:defRPr sz="2400" b="0">
                <a:solidFill>
                  <a:srgbClr val="333333"/>
                </a:solidFill>
                <a:latin typeface="微软雅黑"/>
              </a:defRPr>
            </a:pPr>
            <a:r>
              <a:rPr>
                <a:ea typeface="微软雅黑"/>
              </a:rPr>
              <a:t>是零。下列说法正确的是</a:t>
            </a:r>
          </a:p>
        </p:txBody>
      </p:sp>
      <p:sp>
        <p:nvSpPr>
          <p:cNvPr id="7" name="文字_A. 29Co原子的电子数比中子数多6个"/>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29Co原子的电子数比中子数多6个</a:t>
            </a:r>
          </a:p>
        </p:txBody>
      </p:sp>
      <p:sp>
        <p:nvSpPr>
          <p:cNvPr id="8" name="文字_B. 上述方程式中A为60、Z为28"/>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上述方程式中A为60、Z为28</a:t>
            </a:r>
          </a:p>
        </p:txBody>
      </p:sp>
      <p:sp>
        <p:nvSpPr>
          <p:cNvPr id="9" name="文字_C.20Co与59Co互为同素异形体"/>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C.20Co与59Co互为同素异形体</a:t>
            </a:r>
          </a:p>
        </p:txBody>
      </p:sp>
      <p:sp>
        <p:nvSpPr>
          <p:cNvPr id="10" name="文字_D. 上述衰变过程属于分解反应"/>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上述衰变过程属于分解反应</a:t>
            </a:r>
          </a:p>
        </p:txBody>
      </p:sp>
      <p:sp>
        <p:nvSpPr>
          <p:cNvPr id="11" name="文字_单选题  ·  11-01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11-012</a:t>
            </a:r>
          </a:p>
        </p:txBody>
      </p:sp>
      <p:sp>
        <p:nvSpPr>
          <p:cNvPr id="12" name="文字_1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结构与核素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原子结构与核素 · 变式6</a:t>
            </a:r>
          </a:p>
        </p:txBody>
      </p:sp>
      <p:sp>
        <p:nvSpPr>
          <p:cNvPr id="5" name="文字_P2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P226</a:t>
            </a:r>
          </a:p>
        </p:txBody>
      </p:sp>
      <p:sp>
        <p:nvSpPr>
          <p:cNvPr id="6" name="文字_科研人员发现：41Ca和14C均可作为示踪原子用"/>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科研人员发现：41Ca和14C均可作为示踪原子用于科学研究，且41Ca原子的半衰</a:t>
            </a:r>
          </a:p>
          <a:p>
            <a:pPr>
              <a:lnSpc>
                <a:spcPct val="112000"/>
              </a:lnSpc>
              <a:spcBef>
                <a:spcPts val="0"/>
              </a:spcBef>
              <a:spcAft>
                <a:spcPts val="0"/>
              </a:spcAft>
              <a:defRPr sz="2400" b="0">
                <a:solidFill>
                  <a:srgbClr val="333333"/>
                </a:solidFill>
                <a:latin typeface="微软雅黑"/>
              </a:defRPr>
            </a:pPr>
            <a:r>
              <a:rPr>
                <a:ea typeface="微软雅黑"/>
              </a:rPr>
              <a:t>期很长。已知半衰期是指放射性元素的原子核有半数发生衰变所需的时间，下列说</a:t>
            </a:r>
          </a:p>
          <a:p>
            <a:pPr>
              <a:lnSpc>
                <a:spcPct val="112000"/>
              </a:lnSpc>
              <a:spcBef>
                <a:spcPts val="0"/>
              </a:spcBef>
              <a:spcAft>
                <a:spcPts val="0"/>
              </a:spcAft>
              <a:defRPr sz="2400" b="0">
                <a:solidFill>
                  <a:srgbClr val="333333"/>
                </a:solidFill>
                <a:latin typeface="微软雅黑"/>
              </a:defRPr>
            </a:pPr>
            <a:r>
              <a:rPr>
                <a:ea typeface="微软雅黑"/>
              </a:rPr>
              <a:t>法错误的是</a:t>
            </a:r>
          </a:p>
        </p:txBody>
      </p:sp>
      <p:sp>
        <p:nvSpPr>
          <p:cNvPr id="7" name="文字_A. 40Ca和41Ca是两种不同的核素，互为同"/>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40Ca和41Ca是两种不同的核素，互为同位素</a:t>
            </a:r>
          </a:p>
        </p:txBody>
      </p:sp>
      <p:sp>
        <p:nvSpPr>
          <p:cNvPr id="8" name="文字_B. 41Ca和4⁰Ca电子数相同，中子数不同"/>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41Ca和4⁰Ca电子数相同，中子数不同</a:t>
            </a:r>
          </a:p>
        </p:txBody>
      </p:sp>
      <p:sp>
        <p:nvSpPr>
          <p:cNvPr id="9" name="文字_C. 12C和¹4C的物理性质不同，化学性质相似"/>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12C和¹4C的物理性质不同，化学性质相似</a:t>
            </a:r>
          </a:p>
        </p:txBody>
      </p:sp>
      <p:sp>
        <p:nvSpPr>
          <p:cNvPr id="10" name="文字_D. 41Ca原子的半衰期长，说明41Ca难以失"/>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41Ca原子的半衰期长，说明41Ca难以失去电子</a:t>
            </a:r>
          </a:p>
        </p:txBody>
      </p:sp>
      <p:sp>
        <p:nvSpPr>
          <p:cNvPr id="11" name="文字_单选题  ·  11-01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11-013</a:t>
            </a:r>
          </a:p>
        </p:txBody>
      </p:sp>
      <p:sp>
        <p:nvSpPr>
          <p:cNvPr id="12" name="文字_1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3"/>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03</a:t>
            </a:r>
          </a:p>
        </p:txBody>
      </p:sp>
      <p:sp>
        <p:nvSpPr>
          <p:cNvPr id="4" name="文字_核外电子排布规律"/>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核外电子排布规律</a:t>
            </a:r>
          </a:p>
        </p:txBody>
      </p:sp>
      <p:sp>
        <p:nvSpPr>
          <p:cNvPr id="5" name="文字_知识梳理 · 讲义 P227"/>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核外电子排布规律"/>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核外电子排布规律</a:t>
            </a:r>
          </a:p>
        </p:txBody>
      </p:sp>
      <p:sp>
        <p:nvSpPr>
          <p:cNvPr id="5" name="文字_知识讲解 · P227"/>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P227</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电子层 n = 1、2、3、4…对应 K、L、M"/>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电子层 n = 1、2、3、4…对应 K、L、M、N…，能量由低到高，离核由近到远</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电子总是先排能量最低的电子层，然后由里向外依次排"/>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电子总是先排能量最低的电子层，然后由里向外依次排布。</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各电子层最多容纳 2n² 个电子。"/>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各电子层最多容纳 2n² 个电子。</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最外层不超过 8 个（K 层为最外层时不超过 2"/>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最外层不超过 8 个（K 层为最外层时不超过 2 个）。</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次外层不超过 18 个，倒数第三层不超过 32 "/>
          <p:cNvSpPr txBox="1"/>
          <p:nvPr/>
        </p:nvSpPr>
        <p:spPr>
          <a:xfrm>
            <a:off x="722376" y="447446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次外层不超过 18 个，倒数第三层不超过 32 个。</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规律相互制约：M 层作最外层时最多 8 "/>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规律相互制约：M 层作最外层时最多 8 个，不是 18 个。</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4"/>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04</a:t>
            </a:r>
          </a:p>
        </p:txBody>
      </p:sp>
      <p:sp>
        <p:nvSpPr>
          <p:cNvPr id="4" name="文字_短周期元素的特殊结构与等电子微粒"/>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短周期元素的特殊结构与等电子微粒</a:t>
            </a:r>
          </a:p>
        </p:txBody>
      </p:sp>
      <p:sp>
        <p:nvSpPr>
          <p:cNvPr id="5" name="文字_知识梳理 · 讲义 P228"/>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短周期元素的特殊结构与等电子微粒"/>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短周期元素的特殊结构与等电子微粒</a:t>
            </a:r>
          </a:p>
        </p:txBody>
      </p:sp>
      <p:sp>
        <p:nvSpPr>
          <p:cNvPr id="5" name="文字_知识讲解 · P228"/>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P228</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无中子的原子：¹H；最外层 1 个电子：H、Li"/>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无中子的原子：¹H；最外层 1 个电子：H、Li、Na；最外层 2 个电子：He、Be</a:t>
            </a:r>
          </a:p>
          <a:p>
            <a:pPr>
              <a:lnSpc>
                <a:spcPct val="112000"/>
              </a:lnSpc>
              <a:spcBef>
                <a:spcPts val="0"/>
              </a:spcBef>
              <a:spcAft>
                <a:spcPts val="0"/>
              </a:spcAft>
              <a:defRPr sz="2400" b="0">
                <a:solidFill>
                  <a:srgbClr val="333333"/>
                </a:solidFill>
                <a:latin typeface="微软雅黑"/>
              </a:defRPr>
            </a:pPr>
            <a:r>
              <a:rPr>
                <a:ea typeface="微软雅黑"/>
              </a:rPr>
              <a:t>、Mg。</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最外层电子数是次外层 2 倍：C；3 倍：O。"/>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最外层电子数是次外层 2 倍：C；3 倍：O。</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电子层数 = 最外层电子数：H、Be、Al。"/>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电子层数 = 最外层电子数：H、Be、Al。</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地壳中含量最高：非金属 O、金属 Al。"/>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地壳中含量最高：非金属 O、金属 Al。</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2 电子微粒：He、H₂、H⁻、Li⁺；10 电"/>
          <p:cNvSpPr txBox="1"/>
          <p:nvPr/>
        </p:nvSpPr>
        <p:spPr>
          <a:xfrm>
            <a:off x="722376" y="4474464"/>
            <a:ext cx="10908792" cy="120700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电子微粒：He、H₂、H⁻、Li⁺；10 电子微粒：CH₄、NH₃、H₂O、HF、</a:t>
            </a:r>
          </a:p>
          <a:p>
            <a:pPr>
              <a:lnSpc>
                <a:spcPct val="112000"/>
              </a:lnSpc>
              <a:spcBef>
                <a:spcPts val="0"/>
              </a:spcBef>
              <a:spcAft>
                <a:spcPts val="0"/>
              </a:spcAft>
              <a:defRPr sz="2400" b="0">
                <a:solidFill>
                  <a:srgbClr val="333333"/>
                </a:solidFill>
                <a:latin typeface="微软雅黑"/>
              </a:defRPr>
            </a:pPr>
            <a:r>
              <a:rPr>
                <a:ea typeface="微软雅黑"/>
              </a:rPr>
              <a:t>Ne、Na⁺、Mg²⁺、Al³⁺、NH₄⁺、H₃O⁺、OH⁻、N³⁻、O²⁻、F⁻；18 电子</a:t>
            </a:r>
          </a:p>
          <a:p>
            <a:pPr>
              <a:lnSpc>
                <a:spcPct val="112000"/>
              </a:lnSpc>
              <a:spcBef>
                <a:spcPts val="0"/>
              </a:spcBef>
              <a:spcAft>
                <a:spcPts val="0"/>
              </a:spcAft>
              <a:defRPr sz="2400" b="0">
                <a:solidFill>
                  <a:srgbClr val="333333"/>
                </a:solidFill>
                <a:latin typeface="微软雅黑"/>
              </a:defRPr>
            </a:pPr>
            <a:r>
              <a:rPr>
                <a:ea typeface="微软雅黑"/>
              </a:rPr>
              <a:t>微粒：SiH₄、PH₃、H₂S、HCl、Ar、K⁺、Ca²⁺、S²⁻、HS⁻、Cl⁻、O₂²⁻。</a:t>
            </a:r>
          </a:p>
        </p:txBody>
      </p:sp>
      <p:sp>
        <p:nvSpPr>
          <p:cNvPr id="16" name="Rectangle 15"/>
          <p:cNvSpPr/>
          <p:nvPr/>
        </p:nvSpPr>
        <p:spPr>
          <a:xfrm>
            <a:off x="493776" y="574243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10 电子微粒组是推断题高频考点，务必熟"/>
          <p:cNvSpPr txBox="1"/>
          <p:nvPr/>
        </p:nvSpPr>
        <p:spPr>
          <a:xfrm>
            <a:off x="630936" y="580186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10 电子微粒组是推断题高频考点，务必熟记分子、阳离子、阴离子三类。</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元素周期表的结构与编排原则"/>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元素周期表的结构与编排原则</a:t>
            </a:r>
          </a:p>
        </p:txBody>
      </p:sp>
      <p:sp>
        <p:nvSpPr>
          <p:cNvPr id="5" name="文字_知识讲解 · P228"/>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P228</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1869 年门捷列夫首制：按相对原子质量由小到大"/>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1869 年门捷列夫首制：按相对原子质量由小到大排列，性质相似的元素放同一</a:t>
            </a:r>
          </a:p>
          <a:p>
            <a:pPr>
              <a:lnSpc>
                <a:spcPct val="112000"/>
              </a:lnSpc>
              <a:spcBef>
                <a:spcPts val="0"/>
              </a:spcBef>
              <a:spcAft>
                <a:spcPts val="0"/>
              </a:spcAft>
              <a:defRPr sz="2400" b="0">
                <a:solidFill>
                  <a:srgbClr val="333333"/>
                </a:solidFill>
                <a:latin typeface="微软雅黑"/>
              </a:defRPr>
            </a:pPr>
            <a:r>
              <a:rPr>
                <a:ea typeface="微软雅黑"/>
              </a:rPr>
              <a:t>纵行。</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现行周期表：7 个周期（3 短 3 长 1 不完"/>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现行周期表：7 个周期（3 短 3 长 1 不完全），16 个族（7 主 7 副 Ⅷ 0）。</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周期序数 = 电子层数；主族序数 = 最外层电子"/>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周期序数 = 电子层数；主族序数 = 最外层电子数。</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碱金属、卤族、稀有气体分别位于第 ⅠA、ⅦA、0"/>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碱金属、卤族、稀有气体分别位于第 ⅠA、ⅦA、0 族。</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熟记 1—20 号元素的位置与结构，是元"/>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熟记 1—20 号元素的位置与结构，是元素推断的基础。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例题1</a:t>
            </a:r>
          </a:p>
        </p:txBody>
      </p:sp>
      <p:sp>
        <p:nvSpPr>
          <p:cNvPr id="5" name="文字_P23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P230</a:t>
            </a:r>
          </a:p>
        </p:txBody>
      </p:sp>
      <p:sp>
        <p:nvSpPr>
          <p:cNvPr id="6" name="文字_关于元素周期表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关于元素周期表的说法正确的是（）</a:t>
            </a:r>
          </a:p>
        </p:txBody>
      </p:sp>
      <p:sp>
        <p:nvSpPr>
          <p:cNvPr id="7" name="文字_A. 元素周期表中有6个副族"/>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元素周期表中有6个副族</a:t>
            </a:r>
          </a:p>
        </p:txBody>
      </p:sp>
      <p:sp>
        <p:nvSpPr>
          <p:cNvPr id="8" name="文字_B. 元素周期表中的短周期是指第一、二周期"/>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元素周期表中的短周期是指第一、二周期</a:t>
            </a:r>
          </a:p>
        </p:txBody>
      </p:sp>
      <p:sp>
        <p:nvSpPr>
          <p:cNvPr id="9" name="文字_C. 最外层电子数为2的元素一定位于第IIA族"/>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最外层电子数为2的元素一定位于第IIA族</a:t>
            </a:r>
          </a:p>
        </p:txBody>
      </p:sp>
      <p:sp>
        <p:nvSpPr>
          <p:cNvPr id="10" name="文字_D. 同周期相邻主族的元素原子序数不一定相差1"/>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同周期相邻主族的元素原子序数不一定相差1</a:t>
            </a:r>
          </a:p>
        </p:txBody>
      </p:sp>
      <p:sp>
        <p:nvSpPr>
          <p:cNvPr id="11" name="文字_单选题  ·  11-01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11-014</a:t>
            </a:r>
          </a:p>
        </p:txBody>
      </p:sp>
      <p:sp>
        <p:nvSpPr>
          <p:cNvPr id="12" name="文字_2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例题2</a:t>
            </a:r>
          </a:p>
        </p:txBody>
      </p:sp>
      <p:sp>
        <p:nvSpPr>
          <p:cNvPr id="5" name="文字_P23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P230</a:t>
            </a:r>
          </a:p>
        </p:txBody>
      </p:sp>
      <p:sp>
        <p:nvSpPr>
          <p:cNvPr id="6" name="文字_我国科学家对嫦娥六号采回的月壤样品中的108颗玄"/>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我国科学家对嫦娥六号采回的月壤样品中的108颗玄武岩岩屑进行了精确定年。定</a:t>
            </a:r>
          </a:p>
          <a:p>
            <a:pPr>
              <a:lnSpc>
                <a:spcPct val="112000"/>
              </a:lnSpc>
              <a:spcBef>
                <a:spcPts val="0"/>
              </a:spcBef>
              <a:spcAft>
                <a:spcPts val="0"/>
              </a:spcAft>
              <a:defRPr sz="2400" b="0">
                <a:solidFill>
                  <a:srgbClr val="333333"/>
                </a:solidFill>
                <a:latin typeface="微软雅黑"/>
              </a:defRPr>
            </a:pPr>
            <a:r>
              <a:rPr>
                <a:ea typeface="微软雅黑"/>
              </a:rPr>
              <a:t>年方法：通过测定U－Pb衰变体</a:t>
            </a:r>
          </a:p>
        </p:txBody>
      </p:sp>
      <p:sp>
        <p:nvSpPr>
          <p:cNvPr id="7" name="文字_207Pb"/>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207Pb</a:t>
            </a:r>
          </a:p>
        </p:txBody>
      </p:sp>
      <p:sp>
        <p:nvSpPr>
          <p:cNvPr id="8" name="文字_系(238U衰变为206Pb, ______ 值"/>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系(238U衰变为206Pb, ______ 值来计算年龄，比值相同的年龄相近。下列说法错</a:t>
            </a:r>
          </a:p>
          <a:p>
            <a:pPr>
              <a:lnSpc>
                <a:spcPct val="112000"/>
              </a:lnSpc>
              <a:spcBef>
                <a:spcPts val="0"/>
              </a:spcBef>
              <a:spcAft>
                <a:spcPts val="0"/>
              </a:spcAft>
              <a:defRPr sz="2400" b="0">
                <a:solidFill>
                  <a:srgbClr val="333333"/>
                </a:solidFill>
                <a:latin typeface="微软雅黑"/>
              </a:defRPr>
            </a:pPr>
            <a:r>
              <a:rPr>
                <a:ea typeface="微软雅黑"/>
              </a:rPr>
              <a:t>误的是</a:t>
            </a:r>
          </a:p>
        </p:txBody>
      </p:sp>
      <p:sp>
        <p:nvSpPr>
          <p:cNvPr id="9" name="文字_206Pb"/>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206Pb</a:t>
            </a:r>
          </a:p>
        </p:txBody>
      </p:sp>
      <p:sp>
        <p:nvSpPr>
          <p:cNvPr id="10" name="文字_207Pb"/>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207Pb</a:t>
            </a:r>
          </a:p>
        </p:txBody>
      </p:sp>
      <p:sp>
        <p:nvSpPr>
          <p:cNvPr id="11" name="文字_A. 来自同时期的玄武岩岩屑中 值相近"/>
          <p:cNvSpPr txBox="1"/>
          <p:nvPr/>
        </p:nvSpPr>
        <p:spPr>
          <a:xfrm>
            <a:off x="502920" y="39989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来自同时期的玄武岩岩屑中 值相近</a:t>
            </a:r>
          </a:p>
        </p:txBody>
      </p:sp>
      <p:sp>
        <p:nvSpPr>
          <p:cNvPr id="12" name="文字_206Pb"/>
          <p:cNvSpPr txBox="1"/>
          <p:nvPr/>
        </p:nvSpPr>
        <p:spPr>
          <a:xfrm>
            <a:off x="502920" y="44378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206Pb</a:t>
            </a:r>
          </a:p>
        </p:txBody>
      </p:sp>
      <p:sp>
        <p:nvSpPr>
          <p:cNvPr id="13" name="文字_B.206Pb和207Pb是不同的核素"/>
          <p:cNvSpPr txBox="1"/>
          <p:nvPr/>
        </p:nvSpPr>
        <p:spPr>
          <a:xfrm>
            <a:off x="502920" y="48768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B.206Pb和207Pb是不同的核素</a:t>
            </a:r>
          </a:p>
        </p:txBody>
      </p:sp>
      <p:sp>
        <p:nvSpPr>
          <p:cNvPr id="14" name="文字_C.28U和235U的中子数分别为146和143"/>
          <p:cNvSpPr txBox="1"/>
          <p:nvPr/>
        </p:nvSpPr>
        <p:spPr>
          <a:xfrm>
            <a:off x="502920" y="53157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C.28U和235U的中子数分别为146和143，互为同位素</a:t>
            </a:r>
          </a:p>
        </p:txBody>
      </p:sp>
      <p:sp>
        <p:nvSpPr>
          <p:cNvPr id="15" name="文字_D. Pb位于元素周期表中第五周期第IVA族"/>
          <p:cNvSpPr txBox="1"/>
          <p:nvPr/>
        </p:nvSpPr>
        <p:spPr>
          <a:xfrm>
            <a:off x="502920" y="575462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Pb位于元素周期表中第五周期第IVA族</a:t>
            </a:r>
          </a:p>
        </p:txBody>
      </p:sp>
      <p:sp>
        <p:nvSpPr>
          <p:cNvPr id="16" name="文字_单选题  ·  11-01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11-015</a:t>
            </a:r>
          </a:p>
        </p:txBody>
      </p:sp>
      <p:sp>
        <p:nvSpPr>
          <p:cNvPr id="17" name="文字_2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例题3</a:t>
            </a:r>
          </a:p>
        </p:txBody>
      </p:sp>
      <p:sp>
        <p:nvSpPr>
          <p:cNvPr id="5" name="文字_P23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P230</a:t>
            </a:r>
          </a:p>
        </p:txBody>
      </p:sp>
      <p:sp>
        <p:nvSpPr>
          <p:cNvPr id="6" name="文字_元素周期表中，第三周期包含元素种类"/>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元素周期表中，第三周期包含元素种类</a:t>
            </a:r>
          </a:p>
        </p:txBody>
      </p:sp>
      <p:sp>
        <p:nvSpPr>
          <p:cNvPr id="7" name="文字_A. 2"/>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a:t>
            </a:r>
          </a:p>
        </p:txBody>
      </p:sp>
      <p:sp>
        <p:nvSpPr>
          <p:cNvPr id="8" name="文字_B. 8"/>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8</a:t>
            </a:r>
          </a:p>
        </p:txBody>
      </p:sp>
      <p:sp>
        <p:nvSpPr>
          <p:cNvPr id="9" name="文字_C. 18"/>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18</a:t>
            </a:r>
          </a:p>
        </p:txBody>
      </p:sp>
      <p:sp>
        <p:nvSpPr>
          <p:cNvPr id="10" name="文字_D. 32"/>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32</a:t>
            </a:r>
          </a:p>
        </p:txBody>
      </p:sp>
      <p:sp>
        <p:nvSpPr>
          <p:cNvPr id="11" name="文字_单选题  ·  11-01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11-016</a:t>
            </a:r>
          </a:p>
        </p:txBody>
      </p:sp>
      <p:sp>
        <p:nvSpPr>
          <p:cNvPr id="12" name="文字_2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例题4</a:t>
            </a:r>
          </a:p>
        </p:txBody>
      </p:sp>
      <p:sp>
        <p:nvSpPr>
          <p:cNvPr id="5" name="文字_P23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P230</a:t>
            </a:r>
          </a:p>
        </p:txBody>
      </p:sp>
      <p:sp>
        <p:nvSpPr>
          <p:cNvPr id="6" name="文字_1868年，俄国化学家门捷列夫制作出了第一张元素"/>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1868年，俄国化学家门捷列夫制作出了第一张元素周期表，揭示了化学元素间的</a:t>
            </a:r>
          </a:p>
          <a:p>
            <a:pPr>
              <a:lnSpc>
                <a:spcPct val="112000"/>
              </a:lnSpc>
              <a:spcBef>
                <a:spcPts val="0"/>
              </a:spcBef>
              <a:spcAft>
                <a:spcPts val="0"/>
              </a:spcAft>
              <a:defRPr sz="2400" b="0">
                <a:solidFill>
                  <a:srgbClr val="333333"/>
                </a:solidFill>
                <a:latin typeface="微软雅黑"/>
              </a:defRPr>
            </a:pPr>
            <a:r>
              <a:rPr>
                <a:ea typeface="微软雅黑"/>
              </a:rPr>
              <a:t>内在联系，成为化学史上的重要里程碑之一、下列有关元素周期表的说法不正确的</a:t>
            </a:r>
          </a:p>
          <a:p>
            <a:pPr>
              <a:lnSpc>
                <a:spcPct val="112000"/>
              </a:lnSpc>
              <a:spcBef>
                <a:spcPts val="0"/>
              </a:spcBef>
              <a:spcAft>
                <a:spcPts val="0"/>
              </a:spcAft>
              <a:defRPr sz="2400" b="0">
                <a:solidFill>
                  <a:srgbClr val="333333"/>
                </a:solidFill>
                <a:latin typeface="微软雅黑"/>
              </a:defRPr>
            </a:pPr>
            <a:r>
              <a:rPr>
                <a:ea typeface="微软雅黑"/>
              </a:rPr>
              <a:t>是</a:t>
            </a:r>
          </a:p>
        </p:txBody>
      </p:sp>
      <p:sp>
        <p:nvSpPr>
          <p:cNvPr id="7" name="文字_A. 迄今人类发现的元素中，金属元素和非金属元素"/>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迄今人类发现的元素中，金属元素和非金属元素种数相近</a:t>
            </a:r>
          </a:p>
        </p:txBody>
      </p:sp>
      <p:sp>
        <p:nvSpPr>
          <p:cNvPr id="8" name="文字_B. 元素周期表有7个横行，18个纵行"/>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元素周期表有7个横行，18个纵行</a:t>
            </a:r>
          </a:p>
        </p:txBody>
      </p:sp>
      <p:sp>
        <p:nvSpPr>
          <p:cNvPr id="9" name="文字_C. 元素周期表有七个周期，分为短周期和长周期"/>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元素周期表有七个周期，分为短周期和长周期</a:t>
            </a:r>
          </a:p>
        </p:txBody>
      </p:sp>
      <p:sp>
        <p:nvSpPr>
          <p:cNvPr id="10" name="文字_D. 人们在周期表中金属与非金属的分界处可以找到"/>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人们在周期表中金属与非金属的分界处可以找到半导体材料，如硅、锗等</a:t>
            </a:r>
          </a:p>
        </p:txBody>
      </p:sp>
      <p:sp>
        <p:nvSpPr>
          <p:cNvPr id="11" name="文字_单选题  ·  11-01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11-017</a:t>
            </a:r>
          </a:p>
        </p:txBody>
      </p:sp>
      <p:sp>
        <p:nvSpPr>
          <p:cNvPr id="12" name="文字_2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例题5</a:t>
            </a:r>
          </a:p>
        </p:txBody>
      </p:sp>
      <p:sp>
        <p:nvSpPr>
          <p:cNvPr id="5" name="文字_P23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P231</a:t>
            </a:r>
          </a:p>
        </p:txBody>
      </p:sp>
      <p:sp>
        <p:nvSpPr>
          <p:cNvPr id="6" name="文字_门捷列夫的元素周期表奠定了现代化学和物理学的理论"/>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门捷列夫的元素周期表奠定了现代化学和物理学的理论基础，下列关于元素周期表</a:t>
            </a:r>
          </a:p>
          <a:p>
            <a:pPr>
              <a:lnSpc>
                <a:spcPct val="112000"/>
              </a:lnSpc>
              <a:spcBef>
                <a:spcPts val="0"/>
              </a:spcBef>
              <a:spcAft>
                <a:spcPts val="0"/>
              </a:spcAft>
              <a:defRPr sz="2400" b="0">
                <a:solidFill>
                  <a:srgbClr val="333333"/>
                </a:solidFill>
                <a:latin typeface="微软雅黑"/>
              </a:defRPr>
            </a:pPr>
            <a:r>
              <a:rPr>
                <a:ea typeface="微软雅黑"/>
              </a:rPr>
              <a:t>的叙述中正确的是</a:t>
            </a:r>
          </a:p>
        </p:txBody>
      </p:sp>
      <p:sp>
        <p:nvSpPr>
          <p:cNvPr id="7" name="文字_A. 周期表中有8个主族，8个副族"/>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周期表中有8个主族，8个副族</a:t>
            </a:r>
          </a:p>
        </p:txBody>
      </p:sp>
      <p:sp>
        <p:nvSpPr>
          <p:cNvPr id="8" name="文字_B. 目前使用的元素周期表中，最长的周期含有32"/>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目前使用的元素周期表中，最长的周期含有32种元素。</a:t>
            </a:r>
          </a:p>
        </p:txBody>
      </p:sp>
      <p:sp>
        <p:nvSpPr>
          <p:cNvPr id="9" name="文字_C. 短周期元素是指1-20号元素"/>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短周期元素是指1-20号元素</a:t>
            </a:r>
          </a:p>
        </p:txBody>
      </p:sp>
      <p:sp>
        <p:nvSpPr>
          <p:cNvPr id="10" name="文字_D. 原子的最外层电子数都等于该元素所在的族序数"/>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原子的最外层电子数都等于该元素所在的族序数</a:t>
            </a:r>
          </a:p>
        </p:txBody>
      </p:sp>
      <p:sp>
        <p:nvSpPr>
          <p:cNvPr id="11" name="文字_单选题  ·  11-01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11-018</a:t>
            </a:r>
          </a:p>
        </p:txBody>
      </p:sp>
      <p:sp>
        <p:nvSpPr>
          <p:cNvPr id="12" name="文字_2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例题6</a:t>
            </a:r>
          </a:p>
        </p:txBody>
      </p:sp>
      <p:sp>
        <p:nvSpPr>
          <p:cNvPr id="5" name="文字_P23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P231</a:t>
            </a:r>
          </a:p>
        </p:txBody>
      </p:sp>
      <p:sp>
        <p:nvSpPr>
          <p:cNvPr id="6" name="文字_某元素原子的L电子层上有6个电子，该元素在周期表"/>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某元素原子的L电子层上有6个电子，该元素在周期表中的位置是</a:t>
            </a:r>
          </a:p>
        </p:txBody>
      </p:sp>
      <p:sp>
        <p:nvSpPr>
          <p:cNvPr id="7" name="文字_A. 第二周期VIA族"/>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第二周期VIA族</a:t>
            </a:r>
          </a:p>
        </p:txBody>
      </p:sp>
      <p:sp>
        <p:nvSpPr>
          <p:cNvPr id="8" name="文字_B. 第二周期IVA族"/>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第二周期IVA族</a:t>
            </a:r>
          </a:p>
        </p:txBody>
      </p:sp>
      <p:sp>
        <p:nvSpPr>
          <p:cNvPr id="9" name="文字_C. 第二周期VIIA族"/>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第二周期VIIA族</a:t>
            </a:r>
          </a:p>
        </p:txBody>
      </p:sp>
      <p:sp>
        <p:nvSpPr>
          <p:cNvPr id="10" name="文字_D. 第三周期VIA族"/>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第三周期VIA族</a:t>
            </a:r>
          </a:p>
        </p:txBody>
      </p:sp>
      <p:sp>
        <p:nvSpPr>
          <p:cNvPr id="11" name="文字_单选题  ·  11-01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11-019</a:t>
            </a:r>
          </a:p>
        </p:txBody>
      </p:sp>
      <p:sp>
        <p:nvSpPr>
          <p:cNvPr id="12" name="文字_3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例题7</a:t>
            </a:r>
          </a:p>
        </p:txBody>
      </p:sp>
      <p:sp>
        <p:nvSpPr>
          <p:cNvPr id="5" name="文字_P23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P231</a:t>
            </a:r>
          </a:p>
        </p:txBody>
      </p:sp>
      <p:sp>
        <p:nvSpPr>
          <p:cNvPr id="6" name="文字_原子序数为x的E元素在周期表中位于A、B、C、D"/>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原子序数为x的E元素在周期表中位于A、B、C、D四种元素中间(如图所示)，则A、</a:t>
            </a:r>
          </a:p>
          <a:p>
            <a:pPr>
              <a:lnSpc>
                <a:spcPct val="112000"/>
              </a:lnSpc>
              <a:spcBef>
                <a:spcPts val="0"/>
              </a:spcBef>
              <a:spcAft>
                <a:spcPts val="0"/>
              </a:spcAft>
              <a:defRPr sz="2400" b="0">
                <a:solidFill>
                  <a:srgbClr val="333333"/>
                </a:solidFill>
                <a:latin typeface="微软雅黑"/>
              </a:defRPr>
            </a:pPr>
            <a:r>
              <a:rPr>
                <a:ea typeface="微软雅黑"/>
              </a:rPr>
              <a:t>B、C、D四种元素(镧系、锕系、0族元素除外)的原子序数之和不可能是()</a:t>
            </a:r>
          </a:p>
        </p:txBody>
      </p:sp>
      <p:pic>
        <p:nvPicPr>
          <p:cNvPr id="7" name="Picture 6" descr="image.png"/>
          <p:cNvPicPr>
            <a:picLocks noChangeAspect="1"/>
          </p:cNvPicPr>
          <p:nvPr/>
        </p:nvPicPr>
        <p:blipFill>
          <a:blip r:embed="rId3"/>
          <a:stretch>
            <a:fillRect/>
          </a:stretch>
        </p:blipFill>
        <p:spPr>
          <a:xfrm>
            <a:off x="502920" y="1880616"/>
            <a:ext cx="11064240" cy="1454813"/>
          </a:xfrm>
          <a:prstGeom prst="rect">
            <a:avLst/>
          </a:prstGeom>
        </p:spPr>
      </p:pic>
      <p:sp>
        <p:nvSpPr>
          <p:cNvPr id="8" name="原题文字_231_21"/>
          <p:cNvSpPr txBox="1"/>
          <p:nvPr/>
        </p:nvSpPr>
        <p:spPr>
          <a:xfrm>
            <a:off x="6077153" y="2057981"/>
            <a:ext cx="28457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a:t>
            </a:r>
          </a:p>
        </p:txBody>
      </p:sp>
      <p:sp>
        <p:nvSpPr>
          <p:cNvPr id="9" name="原题文字_231_22"/>
          <p:cNvSpPr txBox="1"/>
          <p:nvPr/>
        </p:nvSpPr>
        <p:spPr>
          <a:xfrm>
            <a:off x="5640708" y="2463797"/>
            <a:ext cx="33051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A</a:t>
            </a:r>
          </a:p>
        </p:txBody>
      </p:sp>
      <p:sp>
        <p:nvSpPr>
          <p:cNvPr id="10" name="原题文字_231_23"/>
          <p:cNvSpPr txBox="1"/>
          <p:nvPr/>
        </p:nvSpPr>
        <p:spPr>
          <a:xfrm>
            <a:off x="6054182" y="2463797"/>
            <a:ext cx="29988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E</a:t>
            </a:r>
          </a:p>
        </p:txBody>
      </p:sp>
      <p:sp>
        <p:nvSpPr>
          <p:cNvPr id="11" name="原题文字_231_24"/>
          <p:cNvSpPr txBox="1"/>
          <p:nvPr/>
        </p:nvSpPr>
        <p:spPr>
          <a:xfrm>
            <a:off x="6459998" y="2448483"/>
            <a:ext cx="315199"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C</a:t>
            </a:r>
          </a:p>
        </p:txBody>
      </p:sp>
      <p:sp>
        <p:nvSpPr>
          <p:cNvPr id="12" name="原题文字_231_25"/>
          <p:cNvSpPr txBox="1"/>
          <p:nvPr/>
        </p:nvSpPr>
        <p:spPr>
          <a:xfrm>
            <a:off x="6077153" y="2900241"/>
            <a:ext cx="29988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D</a:t>
            </a:r>
          </a:p>
        </p:txBody>
      </p:sp>
      <p:sp>
        <p:nvSpPr>
          <p:cNvPr id="13" name="文字_A. 4x"/>
          <p:cNvSpPr txBox="1"/>
          <p:nvPr/>
        </p:nvSpPr>
        <p:spPr>
          <a:xfrm>
            <a:off x="502920" y="340858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4x</a:t>
            </a:r>
          </a:p>
        </p:txBody>
      </p:sp>
      <p:sp>
        <p:nvSpPr>
          <p:cNvPr id="14" name="文字_B. 4x+14"/>
          <p:cNvSpPr txBox="1"/>
          <p:nvPr/>
        </p:nvSpPr>
        <p:spPr>
          <a:xfrm>
            <a:off x="502920" y="384749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4x+14</a:t>
            </a:r>
          </a:p>
        </p:txBody>
      </p:sp>
      <p:sp>
        <p:nvSpPr>
          <p:cNvPr id="15" name="文字_C. 4x+10"/>
          <p:cNvSpPr txBox="1"/>
          <p:nvPr/>
        </p:nvSpPr>
        <p:spPr>
          <a:xfrm>
            <a:off x="502920" y="428640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4x+10</a:t>
            </a:r>
          </a:p>
        </p:txBody>
      </p:sp>
      <p:sp>
        <p:nvSpPr>
          <p:cNvPr id="16" name="文字_D. 4x+6"/>
          <p:cNvSpPr txBox="1"/>
          <p:nvPr/>
        </p:nvSpPr>
        <p:spPr>
          <a:xfrm>
            <a:off x="502920" y="472531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4x+6</a:t>
            </a:r>
          </a:p>
        </p:txBody>
      </p:sp>
      <p:sp>
        <p:nvSpPr>
          <p:cNvPr id="17" name="文字_单选题  ·  11-02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11-020</a:t>
            </a:r>
          </a:p>
        </p:txBody>
      </p:sp>
      <p:sp>
        <p:nvSpPr>
          <p:cNvPr id="18" name="文字_3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例题8</a:t>
            </a:r>
          </a:p>
        </p:txBody>
      </p:sp>
      <p:sp>
        <p:nvSpPr>
          <p:cNvPr id="5" name="文字_P23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P231</a:t>
            </a:r>
          </a:p>
        </p:txBody>
      </p:sp>
      <p:sp>
        <p:nvSpPr>
          <p:cNvPr id="6" name="文字_不符合原子核外电子排布基本规律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不符合原子核外电子排布基本规律的是</a:t>
            </a:r>
          </a:p>
        </p:txBody>
      </p:sp>
      <p:sp>
        <p:nvSpPr>
          <p:cNvPr id="7" name="文字_A. 核外电子总是优先排在能量最低的电子层上"/>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核外电子总是优先排在能量最低的电子层上</a:t>
            </a:r>
          </a:p>
        </p:txBody>
      </p:sp>
      <p:sp>
        <p:nvSpPr>
          <p:cNvPr id="8" name="文字_B. K层是能量最低的电子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K层是能量最低的电子层</a:t>
            </a:r>
          </a:p>
        </p:txBody>
      </p:sp>
      <p:sp>
        <p:nvSpPr>
          <p:cNvPr id="9" name="文字_C. N电子层为次外层时，最多可容纳的电子数为1"/>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N电子层为次外层时，最多可容纳的电子数为18</a:t>
            </a:r>
          </a:p>
        </p:txBody>
      </p:sp>
      <p:sp>
        <p:nvSpPr>
          <p:cNvPr id="10" name="文字_D. 各电子层（n）最多可容纳的电子数为n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各电子层（n）最多可容纳的电子数为n²</a:t>
            </a:r>
          </a:p>
        </p:txBody>
      </p:sp>
      <p:sp>
        <p:nvSpPr>
          <p:cNvPr id="11" name="文字_单选题  ·  11-02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11-021</a:t>
            </a:r>
          </a:p>
        </p:txBody>
      </p:sp>
      <p:sp>
        <p:nvSpPr>
          <p:cNvPr id="12" name="文字_3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例题9</a:t>
            </a:r>
          </a:p>
        </p:txBody>
      </p:sp>
      <p:sp>
        <p:nvSpPr>
          <p:cNvPr id="5" name="文字_P23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P232</a:t>
            </a:r>
          </a:p>
        </p:txBody>
      </p:sp>
      <p:sp>
        <p:nvSpPr>
          <p:cNvPr id="6" name="文字_下列关于元素周期表的说法错误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下列关于元素周期表的说法错误的是</a:t>
            </a:r>
          </a:p>
        </p:txBody>
      </p:sp>
      <p:sp>
        <p:nvSpPr>
          <p:cNvPr id="7" name="文字_A. 第四周期IIA族与ⅢIA族元素的原子序数相"/>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第四周期IIA族与ⅢIA族元素的原子序数相差11</a:t>
            </a:r>
          </a:p>
        </p:txBody>
      </p:sp>
      <p:sp>
        <p:nvSpPr>
          <p:cNvPr id="8" name="文字_B. 第三、第四周期同主族元素的原子序数可能相差"/>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第三、第四周期同主族元素的原子序数可能相差8或18</a:t>
            </a:r>
          </a:p>
        </p:txBody>
      </p:sp>
      <p:sp>
        <p:nvSpPr>
          <p:cNvPr id="9" name="文字_C. 所含元素种类最多的族为IIIB族"/>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所含元素种类最多的族为IIIB族</a:t>
            </a:r>
          </a:p>
        </p:txBody>
      </p:sp>
      <p:sp>
        <p:nvSpPr>
          <p:cNvPr id="10" name="文字_D. 过渡元素位于金属元素与非金属元素分界线附近"/>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过渡元素位于金属元素与非金属元素分界线附近</a:t>
            </a:r>
          </a:p>
        </p:txBody>
      </p:sp>
      <p:sp>
        <p:nvSpPr>
          <p:cNvPr id="11" name="文字_单选题  ·  11-02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11-022</a:t>
            </a:r>
          </a:p>
        </p:txBody>
      </p:sp>
      <p:sp>
        <p:nvSpPr>
          <p:cNvPr id="12" name="文字_3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例题10</a:t>
            </a:r>
          </a:p>
        </p:txBody>
      </p:sp>
      <p:sp>
        <p:nvSpPr>
          <p:cNvPr id="5" name="文字_P23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P232</a:t>
            </a:r>
          </a:p>
        </p:txBody>
      </p:sp>
      <p:pic>
        <p:nvPicPr>
          <p:cNvPr id="6" name="Picture 5" descr="image.png"/>
          <p:cNvPicPr>
            <a:picLocks noChangeAspect="1"/>
          </p:cNvPicPr>
          <p:nvPr/>
        </p:nvPicPr>
        <p:blipFill>
          <a:blip r:embed="rId3"/>
          <a:stretch>
            <a:fillRect/>
          </a:stretch>
        </p:blipFill>
        <p:spPr>
          <a:xfrm>
            <a:off x="502920" y="1078992"/>
            <a:ext cx="11064240" cy="2113308"/>
          </a:xfrm>
          <a:prstGeom prst="rect">
            <a:avLst/>
          </a:prstGeom>
        </p:spPr>
      </p:pic>
      <p:sp>
        <p:nvSpPr>
          <p:cNvPr id="7" name="原题文字_232_11"/>
          <p:cNvSpPr txBox="1"/>
          <p:nvPr/>
        </p:nvSpPr>
        <p:spPr>
          <a:xfrm>
            <a:off x="602459" y="1095561"/>
            <a:ext cx="701499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下表是元素周期表的一部分，根据表中给出的①—⑤元素，回答下列问题：</a:t>
            </a:r>
          </a:p>
        </p:txBody>
      </p:sp>
      <p:sp>
        <p:nvSpPr>
          <p:cNvPr id="8" name="原题文字_232_12"/>
          <p:cNvSpPr txBox="1"/>
          <p:nvPr/>
        </p:nvSpPr>
        <p:spPr>
          <a:xfrm>
            <a:off x="1138443" y="1501378"/>
            <a:ext cx="384111"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族</a:t>
            </a:r>
          </a:p>
        </p:txBody>
      </p:sp>
      <p:sp>
        <p:nvSpPr>
          <p:cNvPr id="9" name="原题文字_232_13"/>
          <p:cNvSpPr txBox="1"/>
          <p:nvPr/>
        </p:nvSpPr>
        <p:spPr>
          <a:xfrm>
            <a:off x="1743339" y="1715771"/>
            <a:ext cx="361140"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IA</a:t>
            </a:r>
          </a:p>
        </p:txBody>
      </p:sp>
      <p:sp>
        <p:nvSpPr>
          <p:cNvPr id="10" name="原题文字_232_14"/>
          <p:cNvSpPr txBox="1"/>
          <p:nvPr/>
        </p:nvSpPr>
        <p:spPr>
          <a:xfrm>
            <a:off x="2669826" y="1700458"/>
            <a:ext cx="44536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IIA</a:t>
            </a:r>
          </a:p>
        </p:txBody>
      </p:sp>
      <p:sp>
        <p:nvSpPr>
          <p:cNvPr id="11" name="原题文字_232_15"/>
          <p:cNvSpPr txBox="1"/>
          <p:nvPr/>
        </p:nvSpPr>
        <p:spPr>
          <a:xfrm>
            <a:off x="3611626" y="1715771"/>
            <a:ext cx="50662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IIIA</a:t>
            </a:r>
          </a:p>
        </p:txBody>
      </p:sp>
      <p:sp>
        <p:nvSpPr>
          <p:cNvPr id="12" name="原题文字_232_16"/>
          <p:cNvSpPr txBox="1"/>
          <p:nvPr/>
        </p:nvSpPr>
        <p:spPr>
          <a:xfrm>
            <a:off x="4530456" y="1715771"/>
            <a:ext cx="498964"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IVA</a:t>
            </a:r>
          </a:p>
        </p:txBody>
      </p:sp>
      <p:sp>
        <p:nvSpPr>
          <p:cNvPr id="13" name="原题文字_232_17"/>
          <p:cNvSpPr txBox="1"/>
          <p:nvPr/>
        </p:nvSpPr>
        <p:spPr>
          <a:xfrm>
            <a:off x="5464599" y="1700458"/>
            <a:ext cx="422395"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VA</a:t>
            </a:r>
          </a:p>
        </p:txBody>
      </p:sp>
      <p:sp>
        <p:nvSpPr>
          <p:cNvPr id="14" name="原题文字_232_18"/>
          <p:cNvSpPr txBox="1"/>
          <p:nvPr/>
        </p:nvSpPr>
        <p:spPr>
          <a:xfrm>
            <a:off x="6375772" y="1692801"/>
            <a:ext cx="537249"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VIA</a:t>
            </a:r>
          </a:p>
        </p:txBody>
      </p:sp>
      <p:sp>
        <p:nvSpPr>
          <p:cNvPr id="15" name="原题文字_232_19"/>
          <p:cNvSpPr txBox="1"/>
          <p:nvPr/>
        </p:nvSpPr>
        <p:spPr>
          <a:xfrm>
            <a:off x="7340543" y="1715771"/>
            <a:ext cx="57553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VIIA</a:t>
            </a:r>
          </a:p>
        </p:txBody>
      </p:sp>
      <p:sp>
        <p:nvSpPr>
          <p:cNvPr id="16" name="原题文字_232_20"/>
          <p:cNvSpPr txBox="1"/>
          <p:nvPr/>
        </p:nvSpPr>
        <p:spPr>
          <a:xfrm>
            <a:off x="8251716" y="1723428"/>
            <a:ext cx="23862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0</a:t>
            </a:r>
          </a:p>
        </p:txBody>
      </p:sp>
      <p:sp>
        <p:nvSpPr>
          <p:cNvPr id="17" name="原题文字_232_21"/>
          <p:cNvSpPr txBox="1"/>
          <p:nvPr/>
        </p:nvSpPr>
        <p:spPr>
          <a:xfrm>
            <a:off x="625430" y="1861253"/>
            <a:ext cx="567877"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周期</a:t>
            </a:r>
          </a:p>
        </p:txBody>
      </p:sp>
      <p:sp>
        <p:nvSpPr>
          <p:cNvPr id="18" name="原题文字_232_22"/>
          <p:cNvSpPr txBox="1"/>
          <p:nvPr/>
        </p:nvSpPr>
        <p:spPr>
          <a:xfrm>
            <a:off x="633087" y="2343638"/>
            <a:ext cx="200345"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2</a:t>
            </a:r>
          </a:p>
        </p:txBody>
      </p:sp>
      <p:sp>
        <p:nvSpPr>
          <p:cNvPr id="19" name="原题文字_232_23"/>
          <p:cNvSpPr txBox="1"/>
          <p:nvPr/>
        </p:nvSpPr>
        <p:spPr>
          <a:xfrm>
            <a:off x="6437027" y="2305354"/>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①</a:t>
            </a:r>
          </a:p>
        </p:txBody>
      </p:sp>
      <p:sp>
        <p:nvSpPr>
          <p:cNvPr id="20" name="原题文字_232_24"/>
          <p:cNvSpPr txBox="1"/>
          <p:nvPr/>
        </p:nvSpPr>
        <p:spPr>
          <a:xfrm>
            <a:off x="8244059" y="2313011"/>
            <a:ext cx="39942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Ne</a:t>
            </a:r>
          </a:p>
        </p:txBody>
      </p:sp>
      <p:sp>
        <p:nvSpPr>
          <p:cNvPr id="21" name="原题文字_232_25"/>
          <p:cNvSpPr txBox="1"/>
          <p:nvPr/>
        </p:nvSpPr>
        <p:spPr>
          <a:xfrm>
            <a:off x="617773" y="2718827"/>
            <a:ext cx="223316"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3</a:t>
            </a:r>
          </a:p>
        </p:txBody>
      </p:sp>
      <p:sp>
        <p:nvSpPr>
          <p:cNvPr id="22" name="原题文字_232_26"/>
          <p:cNvSpPr txBox="1"/>
          <p:nvPr/>
        </p:nvSpPr>
        <p:spPr>
          <a:xfrm>
            <a:off x="1789281" y="2703513"/>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②</a:t>
            </a:r>
          </a:p>
        </p:txBody>
      </p:sp>
      <p:sp>
        <p:nvSpPr>
          <p:cNvPr id="23" name="原题文字_232_27"/>
          <p:cNvSpPr txBox="1"/>
          <p:nvPr/>
        </p:nvSpPr>
        <p:spPr>
          <a:xfrm>
            <a:off x="2723424" y="2703513"/>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③</a:t>
            </a:r>
          </a:p>
        </p:txBody>
      </p:sp>
      <p:sp>
        <p:nvSpPr>
          <p:cNvPr id="24" name="原题文字_232_28"/>
          <p:cNvSpPr txBox="1"/>
          <p:nvPr/>
        </p:nvSpPr>
        <p:spPr>
          <a:xfrm>
            <a:off x="3649911" y="2711170"/>
            <a:ext cx="284571"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④</a:t>
            </a:r>
          </a:p>
        </p:txBody>
      </p:sp>
      <p:sp>
        <p:nvSpPr>
          <p:cNvPr id="25" name="原题文字_232_29"/>
          <p:cNvSpPr txBox="1"/>
          <p:nvPr/>
        </p:nvSpPr>
        <p:spPr>
          <a:xfrm>
            <a:off x="7394142" y="2718827"/>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⑤</a:t>
            </a:r>
          </a:p>
        </p:txBody>
      </p:sp>
      <p:sp>
        <p:nvSpPr>
          <p:cNvPr id="26" name="文字_(1) 写出③的元素符号 ______ o"/>
          <p:cNvSpPr txBox="1"/>
          <p:nvPr/>
        </p:nvSpPr>
        <p:spPr>
          <a:xfrm>
            <a:off x="502920" y="32654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写出③的元素符号 ______ o</a:t>
            </a:r>
          </a:p>
        </p:txBody>
      </p:sp>
      <p:sp>
        <p:nvSpPr>
          <p:cNvPr id="27" name="文字_(2) 画出④的原子结构示意图"/>
          <p:cNvSpPr txBox="1"/>
          <p:nvPr/>
        </p:nvSpPr>
        <p:spPr>
          <a:xfrm>
            <a:off x="502920" y="37043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画出④的原子结构示意图</a:t>
            </a:r>
          </a:p>
        </p:txBody>
      </p:sp>
      <p:sp>
        <p:nvSpPr>
          <p:cNvPr id="28" name="文字_(3)元素①与元素④形成化合物的化学式为"/>
          <p:cNvSpPr txBox="1"/>
          <p:nvPr/>
        </p:nvSpPr>
        <p:spPr>
          <a:xfrm>
            <a:off x="502920" y="41432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(3)元素①与元素④形成化合物的化学式为</a:t>
            </a:r>
          </a:p>
        </p:txBody>
      </p:sp>
      <p:sp>
        <p:nvSpPr>
          <p:cNvPr id="29" name="文字_推断题  ·  11-02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11-023</a:t>
            </a:r>
          </a:p>
        </p:txBody>
      </p:sp>
      <p:sp>
        <p:nvSpPr>
          <p:cNvPr id="30" name="文字_3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变式1</a:t>
            </a:r>
          </a:p>
        </p:txBody>
      </p:sp>
      <p:sp>
        <p:nvSpPr>
          <p:cNvPr id="5" name="文字_P23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P232</a:t>
            </a:r>
          </a:p>
        </p:txBody>
      </p:sp>
      <p:sp>
        <p:nvSpPr>
          <p:cNvPr id="6" name="文字_铁原子结构示意图及元素周期表中铁元素的部分信息如"/>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铁原子结构示意图及元素周期表中铁元素的部分信息如下图，下列有关说法正确的</a:t>
            </a:r>
          </a:p>
          <a:p>
            <a:pPr>
              <a:lnSpc>
                <a:spcPct val="112000"/>
              </a:lnSpc>
              <a:spcBef>
                <a:spcPts val="0"/>
              </a:spcBef>
              <a:spcAft>
                <a:spcPts val="0"/>
              </a:spcAft>
              <a:defRPr sz="2400" b="0">
                <a:solidFill>
                  <a:srgbClr val="333333"/>
                </a:solidFill>
                <a:latin typeface="微软雅黑"/>
              </a:defRPr>
            </a:pPr>
            <a:r>
              <a:rPr>
                <a:ea typeface="微软雅黑"/>
              </a:rPr>
              <a:t>是</a:t>
            </a:r>
          </a:p>
        </p:txBody>
      </p:sp>
      <p:pic>
        <p:nvPicPr>
          <p:cNvPr id="7" name="Picture 6" descr="image.png"/>
          <p:cNvPicPr>
            <a:picLocks noChangeAspect="1"/>
          </p:cNvPicPr>
          <p:nvPr/>
        </p:nvPicPr>
        <p:blipFill>
          <a:blip r:embed="rId3"/>
          <a:stretch>
            <a:fillRect/>
          </a:stretch>
        </p:blipFill>
        <p:spPr>
          <a:xfrm>
            <a:off x="502920" y="1880616"/>
            <a:ext cx="11064240" cy="1715148"/>
          </a:xfrm>
          <a:prstGeom prst="rect">
            <a:avLst/>
          </a:prstGeom>
        </p:spPr>
      </p:pic>
      <p:sp>
        <p:nvSpPr>
          <p:cNvPr id="8" name="原题文字_232_42"/>
          <p:cNvSpPr txBox="1"/>
          <p:nvPr/>
        </p:nvSpPr>
        <p:spPr>
          <a:xfrm>
            <a:off x="2424805" y="2218776"/>
            <a:ext cx="72101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26 Fe</a:t>
            </a:r>
          </a:p>
        </p:txBody>
      </p:sp>
      <p:sp>
        <p:nvSpPr>
          <p:cNvPr id="9" name="原题文字_232_43"/>
          <p:cNvSpPr txBox="1"/>
          <p:nvPr/>
        </p:nvSpPr>
        <p:spPr>
          <a:xfrm>
            <a:off x="640744" y="2479111"/>
            <a:ext cx="475994"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(+26)</a:t>
            </a:r>
          </a:p>
        </p:txBody>
      </p:sp>
      <p:sp>
        <p:nvSpPr>
          <p:cNvPr id="10" name="原题文字_232_44"/>
          <p:cNvSpPr txBox="1"/>
          <p:nvPr/>
        </p:nvSpPr>
        <p:spPr>
          <a:xfrm>
            <a:off x="1077188" y="2471454"/>
            <a:ext cx="874153"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2 814 2</a:t>
            </a:r>
          </a:p>
        </p:txBody>
      </p:sp>
      <p:sp>
        <p:nvSpPr>
          <p:cNvPr id="11" name="原题文字_232_45"/>
          <p:cNvSpPr txBox="1"/>
          <p:nvPr/>
        </p:nvSpPr>
        <p:spPr>
          <a:xfrm>
            <a:off x="2600914" y="2425512"/>
            <a:ext cx="391768"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铁</a:t>
            </a:r>
          </a:p>
        </p:txBody>
      </p:sp>
      <p:sp>
        <p:nvSpPr>
          <p:cNvPr id="12" name="原题文字_232_46"/>
          <p:cNvSpPr txBox="1"/>
          <p:nvPr/>
        </p:nvSpPr>
        <p:spPr>
          <a:xfrm>
            <a:off x="2478403" y="2708818"/>
            <a:ext cx="61381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55.85</a:t>
            </a:r>
          </a:p>
        </p:txBody>
      </p:sp>
      <p:sp>
        <p:nvSpPr>
          <p:cNvPr id="13" name="原题文字_232_47"/>
          <p:cNvSpPr txBox="1"/>
          <p:nvPr/>
        </p:nvSpPr>
        <p:spPr>
          <a:xfrm>
            <a:off x="587146" y="3290744"/>
            <a:ext cx="363829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铁元素位于元素周期表的第六周期</a:t>
            </a:r>
          </a:p>
        </p:txBody>
      </p:sp>
      <p:sp>
        <p:nvSpPr>
          <p:cNvPr id="14" name="文字_B. Fe³⁺的电子数为24"/>
          <p:cNvSpPr txBox="1"/>
          <p:nvPr/>
        </p:nvSpPr>
        <p:spPr>
          <a:xfrm>
            <a:off x="502920" y="36689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Fe³⁺的电子数为24</a:t>
            </a:r>
          </a:p>
        </p:txBody>
      </p:sp>
      <p:sp>
        <p:nvSpPr>
          <p:cNvPr id="15" name="文字_C. 1mol铁的质量为55.85g"/>
          <p:cNvSpPr txBox="1"/>
          <p:nvPr/>
        </p:nvSpPr>
        <p:spPr>
          <a:xfrm>
            <a:off x="502920" y="41078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1mol铁的质量为55.85g</a:t>
            </a:r>
          </a:p>
        </p:txBody>
      </p:sp>
      <p:sp>
        <p:nvSpPr>
          <p:cNvPr id="16" name="文字_D. 加热下，铁与硫反应生成Fe₂S₃"/>
          <p:cNvSpPr txBox="1"/>
          <p:nvPr/>
        </p:nvSpPr>
        <p:spPr>
          <a:xfrm>
            <a:off x="502920" y="45467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加热下，铁与硫反应生成Fe₂S₃</a:t>
            </a:r>
          </a:p>
        </p:txBody>
      </p:sp>
      <p:sp>
        <p:nvSpPr>
          <p:cNvPr id="17" name="文字_单选题  ·  11-02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11-024</a:t>
            </a:r>
          </a:p>
        </p:txBody>
      </p:sp>
      <p:sp>
        <p:nvSpPr>
          <p:cNvPr id="18" name="文字_3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变式2</a:t>
            </a:r>
          </a:p>
        </p:txBody>
      </p:sp>
      <p:sp>
        <p:nvSpPr>
          <p:cNvPr id="5" name="文字_P23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P232</a:t>
            </a:r>
          </a:p>
        </p:txBody>
      </p:sp>
      <p:sp>
        <p:nvSpPr>
          <p:cNvPr id="6" name="文字_下列叙述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下列叙述不正确的是</a:t>
            </a:r>
          </a:p>
        </p:txBody>
      </p:sp>
      <p:sp>
        <p:nvSpPr>
          <p:cNvPr id="7" name="文字_A. 同主族两相邻元素的原子序数之差可能为2、8"/>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同主族两相邻元素的原子序数之差可能为2、8、18、32</a:t>
            </a:r>
          </a:p>
        </p:txBody>
      </p:sp>
      <p:sp>
        <p:nvSpPr>
          <p:cNvPr id="8" name="文字_B. 每个主族均包含金属元素和非金属元素"/>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每个主族均包含金属元素和非金属元素</a:t>
            </a:r>
          </a:p>
        </p:txBody>
      </p:sp>
      <p:sp>
        <p:nvSpPr>
          <p:cNvPr id="9" name="文字_C.25U中的中子数为143492"/>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C.25U中的中子数为143492</a:t>
            </a:r>
          </a:p>
        </p:txBody>
      </p:sp>
      <p:sp>
        <p:nvSpPr>
          <p:cNvPr id="10" name="文字_D. 元素周期表中主族元素族序数后标A，副族元素"/>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元素周期表中主族元素族序数后标A，副族元素族序数后标B(除了第VIII族)</a:t>
            </a:r>
          </a:p>
        </p:txBody>
      </p:sp>
      <p:sp>
        <p:nvSpPr>
          <p:cNvPr id="11" name="文字_单选题  ·  11-02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11-025</a:t>
            </a:r>
          </a:p>
        </p:txBody>
      </p:sp>
      <p:sp>
        <p:nvSpPr>
          <p:cNvPr id="12" name="文字_3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变式3</a:t>
            </a:r>
          </a:p>
        </p:txBody>
      </p:sp>
      <p:sp>
        <p:nvSpPr>
          <p:cNvPr id="5" name="文字_P23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P233</a:t>
            </a:r>
          </a:p>
        </p:txBody>
      </p:sp>
      <p:sp>
        <p:nvSpPr>
          <p:cNvPr id="6" name="文字_下列关于元素周期表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下列关于元素周期表说法正确的是（）</a:t>
            </a:r>
          </a:p>
        </p:txBody>
      </p:sp>
      <p:sp>
        <p:nvSpPr>
          <p:cNvPr id="7" name="文字_①每一周期都从碱金属元素开始，最后以稀有气体元素"/>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①每一周期都从碱金属元素开始，最后以稀有气体元素结束</a:t>
            </a:r>
          </a:p>
        </p:txBody>
      </p:sp>
      <p:sp>
        <p:nvSpPr>
          <p:cNvPr id="8" name="文字_②最外层电子数为2的元素不一定是金属元素"/>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②最外层电子数为2的元素不一定是金属元素</a:t>
            </a:r>
          </a:p>
        </p:txBody>
      </p:sp>
      <p:sp>
        <p:nvSpPr>
          <p:cNvPr id="9" name="文字_③元素周期表有7个横行，即7个周期，16个纵列，"/>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③元素周期表有7个横行，即7个周期，16个纵列，即16个族</a:t>
            </a:r>
          </a:p>
        </p:txBody>
      </p:sp>
      <p:sp>
        <p:nvSpPr>
          <p:cNvPr id="10" name="文字_④元素周期表中第10列没有非金属元素"/>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④元素周期表中第10列没有非金属元素</a:t>
            </a:r>
          </a:p>
        </p:txBody>
      </p:sp>
      <p:sp>
        <p:nvSpPr>
          <p:cNvPr id="11" name="文字_⑤VII族是容纳元素最多的族"/>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⑤VII族是容纳元素最多的族</a:t>
            </a:r>
          </a:p>
        </p:txBody>
      </p:sp>
      <p:sp>
        <p:nvSpPr>
          <p:cNvPr id="12" name="文字_⑥同周期第ⅡIA族和第ⅢA族元素的原子序数之差为"/>
          <p:cNvSpPr txBox="1"/>
          <p:nvPr/>
        </p:nvSpPr>
        <p:spPr>
          <a:xfrm>
            <a:off x="502920" y="37124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⑥同周期第ⅡIA族和第ⅢA族元素的原子序数之差为1</a:t>
            </a:r>
          </a:p>
        </p:txBody>
      </p:sp>
      <p:sp>
        <p:nvSpPr>
          <p:cNvPr id="13" name="文字_A. ①②④"/>
          <p:cNvSpPr txBox="1"/>
          <p:nvPr/>
        </p:nvSpPr>
        <p:spPr>
          <a:xfrm>
            <a:off x="502920" y="41513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①②④</a:t>
            </a:r>
          </a:p>
        </p:txBody>
      </p:sp>
      <p:sp>
        <p:nvSpPr>
          <p:cNvPr id="14" name="文字_B. ②③⑤"/>
          <p:cNvSpPr txBox="1"/>
          <p:nvPr/>
        </p:nvSpPr>
        <p:spPr>
          <a:xfrm>
            <a:off x="502920" y="45902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②③⑤</a:t>
            </a:r>
          </a:p>
        </p:txBody>
      </p:sp>
      <p:sp>
        <p:nvSpPr>
          <p:cNvPr id="15" name="文字_C. ②⑥"/>
          <p:cNvSpPr txBox="1"/>
          <p:nvPr/>
        </p:nvSpPr>
        <p:spPr>
          <a:xfrm>
            <a:off x="502920" y="50292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②⑥</a:t>
            </a:r>
          </a:p>
        </p:txBody>
      </p:sp>
      <p:sp>
        <p:nvSpPr>
          <p:cNvPr id="16" name="文字_D. ②④"/>
          <p:cNvSpPr txBox="1"/>
          <p:nvPr/>
        </p:nvSpPr>
        <p:spPr>
          <a:xfrm>
            <a:off x="502920" y="54681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②④</a:t>
            </a:r>
          </a:p>
        </p:txBody>
      </p:sp>
      <p:sp>
        <p:nvSpPr>
          <p:cNvPr id="17" name="文字_单选题  ·  11-02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11-026</a:t>
            </a:r>
          </a:p>
        </p:txBody>
      </p:sp>
      <p:sp>
        <p:nvSpPr>
          <p:cNvPr id="18" name="文字_3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变式4</a:t>
            </a:r>
          </a:p>
        </p:txBody>
      </p:sp>
      <p:sp>
        <p:nvSpPr>
          <p:cNvPr id="5" name="文字_P23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P233</a:t>
            </a:r>
          </a:p>
        </p:txBody>
      </p:sp>
      <p:sp>
        <p:nvSpPr>
          <p:cNvPr id="6" name="文字_下列各图若为元素周期表的一部分（表中数字为原子序"/>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下列各图若为元素周期表的一部分（表中数字为原子序数)，其中正确的是（）</a:t>
            </a:r>
          </a:p>
        </p:txBody>
      </p:sp>
      <p:pic>
        <p:nvPicPr>
          <p:cNvPr id="7" name="Picture 6" descr="image.png"/>
          <p:cNvPicPr>
            <a:picLocks noChangeAspect="1"/>
          </p:cNvPicPr>
          <p:nvPr/>
        </p:nvPicPr>
        <p:blipFill>
          <a:blip r:embed="rId3"/>
          <a:stretch>
            <a:fillRect/>
          </a:stretch>
        </p:blipFill>
        <p:spPr>
          <a:xfrm>
            <a:off x="502920" y="1517904"/>
            <a:ext cx="11064240" cy="1500755"/>
          </a:xfrm>
          <a:prstGeom prst="rect">
            <a:avLst/>
          </a:prstGeom>
        </p:spPr>
      </p:pic>
      <p:sp>
        <p:nvSpPr>
          <p:cNvPr id="8" name="原题文字_233_18"/>
          <p:cNvSpPr txBox="1"/>
          <p:nvPr/>
        </p:nvSpPr>
        <p:spPr>
          <a:xfrm>
            <a:off x="1551917" y="1733553"/>
            <a:ext cx="22331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6</a:t>
            </a:r>
          </a:p>
        </p:txBody>
      </p:sp>
      <p:sp>
        <p:nvSpPr>
          <p:cNvPr id="9" name="原题文字_233_19"/>
          <p:cNvSpPr txBox="1"/>
          <p:nvPr/>
        </p:nvSpPr>
        <p:spPr>
          <a:xfrm>
            <a:off x="4185895" y="1718239"/>
            <a:ext cx="22331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3</a:t>
            </a:r>
          </a:p>
        </p:txBody>
      </p:sp>
      <p:sp>
        <p:nvSpPr>
          <p:cNvPr id="10" name="原题文字_233_20"/>
          <p:cNvSpPr txBox="1"/>
          <p:nvPr/>
        </p:nvSpPr>
        <p:spPr>
          <a:xfrm>
            <a:off x="6904099" y="1718239"/>
            <a:ext cx="230973"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2</a:t>
            </a:r>
          </a:p>
        </p:txBody>
      </p:sp>
      <p:sp>
        <p:nvSpPr>
          <p:cNvPr id="11" name="原题文字_233_21"/>
          <p:cNvSpPr txBox="1"/>
          <p:nvPr/>
        </p:nvSpPr>
        <p:spPr>
          <a:xfrm>
            <a:off x="9178202" y="1702926"/>
            <a:ext cx="230973"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2</a:t>
            </a:r>
          </a:p>
        </p:txBody>
      </p:sp>
      <p:sp>
        <p:nvSpPr>
          <p:cNvPr id="12" name="原题文字_233_22"/>
          <p:cNvSpPr txBox="1"/>
          <p:nvPr/>
        </p:nvSpPr>
        <p:spPr>
          <a:xfrm>
            <a:off x="9584019" y="1702926"/>
            <a:ext cx="23862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3</a:t>
            </a:r>
          </a:p>
        </p:txBody>
      </p:sp>
      <p:sp>
        <p:nvSpPr>
          <p:cNvPr id="13" name="原题文字_233_23"/>
          <p:cNvSpPr txBox="1"/>
          <p:nvPr/>
        </p:nvSpPr>
        <p:spPr>
          <a:xfrm>
            <a:off x="10028120" y="1710582"/>
            <a:ext cx="223316"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4</a:t>
            </a:r>
          </a:p>
        </p:txBody>
      </p:sp>
      <p:sp>
        <p:nvSpPr>
          <p:cNvPr id="14" name="原题文字_233_24"/>
          <p:cNvSpPr txBox="1"/>
          <p:nvPr/>
        </p:nvSpPr>
        <p:spPr>
          <a:xfrm>
            <a:off x="571832" y="2185311"/>
            <a:ext cx="31519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A.</a:t>
            </a:r>
          </a:p>
        </p:txBody>
      </p:sp>
      <p:sp>
        <p:nvSpPr>
          <p:cNvPr id="15" name="原题文字_233_25"/>
          <p:cNvSpPr txBox="1"/>
          <p:nvPr/>
        </p:nvSpPr>
        <p:spPr>
          <a:xfrm>
            <a:off x="1498318" y="2169997"/>
            <a:ext cx="33816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14</a:t>
            </a:r>
          </a:p>
        </p:txBody>
      </p:sp>
      <p:sp>
        <p:nvSpPr>
          <p:cNvPr id="16" name="原题文字_233_26"/>
          <p:cNvSpPr txBox="1"/>
          <p:nvPr/>
        </p:nvSpPr>
        <p:spPr>
          <a:xfrm>
            <a:off x="3221124" y="2108742"/>
            <a:ext cx="789927"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B. 10</a:t>
            </a:r>
          </a:p>
        </p:txBody>
      </p:sp>
      <p:sp>
        <p:nvSpPr>
          <p:cNvPr id="17" name="原题文字_233_27"/>
          <p:cNvSpPr txBox="1"/>
          <p:nvPr/>
        </p:nvSpPr>
        <p:spPr>
          <a:xfrm>
            <a:off x="4139953" y="2154683"/>
            <a:ext cx="307542"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11</a:t>
            </a:r>
          </a:p>
        </p:txBody>
      </p:sp>
      <p:sp>
        <p:nvSpPr>
          <p:cNvPr id="18" name="原题文字_233_28"/>
          <p:cNvSpPr txBox="1"/>
          <p:nvPr/>
        </p:nvSpPr>
        <p:spPr>
          <a:xfrm>
            <a:off x="4584054" y="2147027"/>
            <a:ext cx="345826"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12</a:t>
            </a:r>
          </a:p>
        </p:txBody>
      </p:sp>
      <p:sp>
        <p:nvSpPr>
          <p:cNvPr id="19" name="原题文字_233_29"/>
          <p:cNvSpPr txBox="1"/>
          <p:nvPr/>
        </p:nvSpPr>
        <p:spPr>
          <a:xfrm>
            <a:off x="5939328" y="2147027"/>
            <a:ext cx="353483"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a:t>
            </a:r>
          </a:p>
        </p:txBody>
      </p:sp>
      <p:sp>
        <p:nvSpPr>
          <p:cNvPr id="20" name="原题文字_233_30"/>
          <p:cNvSpPr txBox="1"/>
          <p:nvPr/>
        </p:nvSpPr>
        <p:spPr>
          <a:xfrm>
            <a:off x="6850501" y="2147027"/>
            <a:ext cx="33816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10</a:t>
            </a:r>
          </a:p>
        </p:txBody>
      </p:sp>
      <p:sp>
        <p:nvSpPr>
          <p:cNvPr id="21" name="原题文字_233_31"/>
          <p:cNvSpPr txBox="1"/>
          <p:nvPr/>
        </p:nvSpPr>
        <p:spPr>
          <a:xfrm>
            <a:off x="7309916" y="2162340"/>
            <a:ext cx="31519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11</a:t>
            </a:r>
          </a:p>
        </p:txBody>
      </p:sp>
      <p:sp>
        <p:nvSpPr>
          <p:cNvPr id="22" name="原题文字_233_32"/>
          <p:cNvSpPr txBox="1"/>
          <p:nvPr/>
        </p:nvSpPr>
        <p:spPr>
          <a:xfrm>
            <a:off x="8603934" y="2070457"/>
            <a:ext cx="376454"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D.</a:t>
            </a:r>
          </a:p>
        </p:txBody>
      </p:sp>
      <p:sp>
        <p:nvSpPr>
          <p:cNvPr id="23" name="原题文字_233_33"/>
          <p:cNvSpPr txBox="1"/>
          <p:nvPr/>
        </p:nvSpPr>
        <p:spPr>
          <a:xfrm>
            <a:off x="9553391" y="2101085"/>
            <a:ext cx="29988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11</a:t>
            </a:r>
          </a:p>
        </p:txBody>
      </p:sp>
      <p:sp>
        <p:nvSpPr>
          <p:cNvPr id="24" name="原题文字_233_34"/>
          <p:cNvSpPr txBox="1"/>
          <p:nvPr/>
        </p:nvSpPr>
        <p:spPr>
          <a:xfrm>
            <a:off x="9545734" y="2506901"/>
            <a:ext cx="32285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19</a:t>
            </a:r>
          </a:p>
        </p:txBody>
      </p:sp>
      <p:sp>
        <p:nvSpPr>
          <p:cNvPr id="25" name="原题文字_233_35"/>
          <p:cNvSpPr txBox="1"/>
          <p:nvPr/>
        </p:nvSpPr>
        <p:spPr>
          <a:xfrm>
            <a:off x="9966865" y="2506901"/>
            <a:ext cx="32285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20</a:t>
            </a:r>
          </a:p>
        </p:txBody>
      </p:sp>
      <p:sp>
        <p:nvSpPr>
          <p:cNvPr id="26" name="原题文字_233_36"/>
          <p:cNvSpPr txBox="1"/>
          <p:nvPr/>
        </p:nvSpPr>
        <p:spPr>
          <a:xfrm>
            <a:off x="1498318" y="2637069"/>
            <a:ext cx="34582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32</a:t>
            </a:r>
          </a:p>
        </p:txBody>
      </p:sp>
      <p:sp>
        <p:nvSpPr>
          <p:cNvPr id="27" name="原题文字_233_37"/>
          <p:cNvSpPr txBox="1"/>
          <p:nvPr/>
        </p:nvSpPr>
        <p:spPr>
          <a:xfrm>
            <a:off x="1973047" y="2637069"/>
            <a:ext cx="34582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33</a:t>
            </a:r>
          </a:p>
        </p:txBody>
      </p:sp>
      <p:sp>
        <p:nvSpPr>
          <p:cNvPr id="28" name="原题文字_233_38"/>
          <p:cNvSpPr txBox="1"/>
          <p:nvPr/>
        </p:nvSpPr>
        <p:spPr>
          <a:xfrm>
            <a:off x="4132296" y="2583471"/>
            <a:ext cx="33816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19</a:t>
            </a:r>
          </a:p>
        </p:txBody>
      </p:sp>
      <p:sp>
        <p:nvSpPr>
          <p:cNvPr id="29" name="原题文字_233_39"/>
          <p:cNvSpPr txBox="1"/>
          <p:nvPr/>
        </p:nvSpPr>
        <p:spPr>
          <a:xfrm>
            <a:off x="6429371" y="2598784"/>
            <a:ext cx="330512"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17</a:t>
            </a:r>
          </a:p>
        </p:txBody>
      </p:sp>
      <p:sp>
        <p:nvSpPr>
          <p:cNvPr id="30" name="原题文字_233_40"/>
          <p:cNvSpPr txBox="1"/>
          <p:nvPr/>
        </p:nvSpPr>
        <p:spPr>
          <a:xfrm>
            <a:off x="6850501" y="2598784"/>
            <a:ext cx="34582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18</a:t>
            </a:r>
          </a:p>
        </p:txBody>
      </p:sp>
      <p:sp>
        <p:nvSpPr>
          <p:cNvPr id="31" name="文字_单选题  ·  11-02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11-027</a:t>
            </a:r>
          </a:p>
        </p:txBody>
      </p:sp>
      <p:sp>
        <p:nvSpPr>
          <p:cNvPr id="32" name="文字_3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变式5</a:t>
            </a:r>
          </a:p>
        </p:txBody>
      </p:sp>
      <p:sp>
        <p:nvSpPr>
          <p:cNvPr id="5" name="文字_P23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P233</a:t>
            </a:r>
          </a:p>
        </p:txBody>
      </p:sp>
      <p:sp>
        <p:nvSpPr>
          <p:cNvPr id="6" name="文字_下列关于元素周期表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下列关于元素周期表说法正确的是（）</a:t>
            </a:r>
          </a:p>
        </p:txBody>
      </p:sp>
      <p:sp>
        <p:nvSpPr>
          <p:cNvPr id="7" name="文字_A. 元素周期表中所有的金属元素都在过渡金属区域"/>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元素周期表中所有的金属元素都在过渡金属区域</a:t>
            </a:r>
          </a:p>
        </p:txBody>
      </p:sp>
      <p:sp>
        <p:nvSpPr>
          <p:cNvPr id="8" name="文字_B. 可以在周期表中金属与非金属的分界处寻找半导"/>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可以在周期表中金属与非金属的分界处寻找半导体材料</a:t>
            </a:r>
          </a:p>
        </p:txBody>
      </p:sp>
      <p:sp>
        <p:nvSpPr>
          <p:cNvPr id="9" name="文字_C. 元素所在族序数等于元素原子最外层电子数"/>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元素所在族序数等于元素原子最外层电子数</a:t>
            </a:r>
          </a:p>
        </p:txBody>
      </p:sp>
      <p:sp>
        <p:nvSpPr>
          <p:cNvPr id="10" name="文字_D. 原子核外电子排布，先排满K层再排L层、先排"/>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原子核外电子排布，先排满K层再排L层、先排满M层再排N层</a:t>
            </a:r>
          </a:p>
        </p:txBody>
      </p:sp>
      <p:sp>
        <p:nvSpPr>
          <p:cNvPr id="11" name="文字_单选题  ·  11-02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11-028</a:t>
            </a:r>
          </a:p>
        </p:txBody>
      </p:sp>
      <p:sp>
        <p:nvSpPr>
          <p:cNvPr id="12" name="文字_3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变式6</a:t>
            </a:r>
          </a:p>
        </p:txBody>
      </p:sp>
      <p:sp>
        <p:nvSpPr>
          <p:cNvPr id="5" name="文字_P23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P233</a:t>
            </a:r>
          </a:p>
        </p:txBody>
      </p:sp>
      <p:sp>
        <p:nvSpPr>
          <p:cNvPr id="6" name="文字_下列关于元素周期表的叙述中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下列关于元素周期表的叙述中正确的是（）</a:t>
            </a:r>
          </a:p>
        </p:txBody>
      </p:sp>
      <p:sp>
        <p:nvSpPr>
          <p:cNvPr id="7" name="文字_A. 除0族元素外，短周期元素的最高化合价在数值"/>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除0族元素外，短周期元素的最高化合价在数值上都等于该元素所属的族序数</a:t>
            </a:r>
          </a:p>
        </p:txBody>
      </p:sp>
      <p:sp>
        <p:nvSpPr>
          <p:cNvPr id="8" name="文字_B. 除0族外，由长、短周期元素共同组成的元素族"/>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除0族外，由长、短周期元素共同组成的元素族称为主族</a:t>
            </a:r>
          </a:p>
        </p:txBody>
      </p:sp>
      <p:sp>
        <p:nvSpPr>
          <p:cNvPr id="9" name="文字_C. 主、副族元素的族序数从左到右都是由小到大排"/>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主、副族元素的族序数从左到右都是由小到大排列(如IB～VIIB)</a:t>
            </a:r>
          </a:p>
        </p:txBody>
      </p:sp>
      <p:sp>
        <p:nvSpPr>
          <p:cNvPr id="10" name="文字_D. 元素周期表共七个横行代表七个周期，18个纵"/>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元素周期表共七个横行代表七个周期，18个纵列代表18个族</a:t>
            </a:r>
          </a:p>
        </p:txBody>
      </p:sp>
      <p:sp>
        <p:nvSpPr>
          <p:cNvPr id="11" name="文字_单选题  ·  11-02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11-029</a:t>
            </a:r>
          </a:p>
        </p:txBody>
      </p:sp>
      <p:sp>
        <p:nvSpPr>
          <p:cNvPr id="12" name="文字_4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变式7</a:t>
            </a:r>
          </a:p>
        </p:txBody>
      </p:sp>
      <p:sp>
        <p:nvSpPr>
          <p:cNvPr id="5" name="文字_P23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P234</a:t>
            </a:r>
          </a:p>
        </p:txBody>
      </p:sp>
      <p:sp>
        <p:nvSpPr>
          <p:cNvPr id="6" name="文字_下列关于元素周期表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下列关于元素周期表的说法正确的是</a:t>
            </a:r>
          </a:p>
        </p:txBody>
      </p:sp>
      <p:sp>
        <p:nvSpPr>
          <p:cNvPr id="7" name="文字_A. 能生成碱的金属元素都在IA族"/>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能生成碱的金属元素都在IA族</a:t>
            </a:r>
          </a:p>
        </p:txBody>
      </p:sp>
      <p:sp>
        <p:nvSpPr>
          <p:cNvPr id="8" name="文字_B. 原子序数为14的元素位于元素周期表的第3周"/>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原子序数为14的元素位于元素周期表的第3周期IVA族</a:t>
            </a:r>
          </a:p>
        </p:txBody>
      </p:sp>
      <p:sp>
        <p:nvSpPr>
          <p:cNvPr id="9" name="文字_C. 稀有气体元素原子的最外层电子数均为8"/>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稀有气体元素原子的最外层电子数均为8</a:t>
            </a:r>
          </a:p>
        </p:txBody>
      </p:sp>
      <p:sp>
        <p:nvSpPr>
          <p:cNvPr id="10" name="文字_D. 第二周期IVA族元素的原子核电荷数和中子数"/>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第二周期IVA族元素的原子核电荷数和中子数一定为6</a:t>
            </a:r>
          </a:p>
        </p:txBody>
      </p:sp>
      <p:sp>
        <p:nvSpPr>
          <p:cNvPr id="11" name="文字_单选题  ·  11-03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11-030</a:t>
            </a:r>
          </a:p>
        </p:txBody>
      </p:sp>
      <p:sp>
        <p:nvSpPr>
          <p:cNvPr id="12" name="文字_4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原子核外电子排布知识、元素周期表的编排原则 · "/>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原子核外电子排布知识、元素周期表的编排原则 · 变式8</a:t>
            </a:r>
          </a:p>
        </p:txBody>
      </p:sp>
      <p:sp>
        <p:nvSpPr>
          <p:cNvPr id="5" name="文字_P23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P234</a:t>
            </a:r>
          </a:p>
        </p:txBody>
      </p:sp>
      <p:sp>
        <p:nvSpPr>
          <p:cNvPr id="6" name="文字_结合下图所示元素周期表，回答下列问题："/>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结合下图所示元素周期表，回答下列问题：</a:t>
            </a:r>
          </a:p>
        </p:txBody>
      </p:sp>
      <p:pic>
        <p:nvPicPr>
          <p:cNvPr id="7" name="Picture 6" descr="image.png"/>
          <p:cNvPicPr>
            <a:picLocks noChangeAspect="1"/>
          </p:cNvPicPr>
          <p:nvPr/>
        </p:nvPicPr>
        <p:blipFill>
          <a:blip r:embed="rId3"/>
          <a:stretch>
            <a:fillRect/>
          </a:stretch>
        </p:blipFill>
        <p:spPr>
          <a:xfrm>
            <a:off x="502920" y="1517904"/>
            <a:ext cx="11064240" cy="1852973"/>
          </a:xfrm>
          <a:prstGeom prst="rect">
            <a:avLst/>
          </a:prstGeom>
        </p:spPr>
      </p:pic>
      <p:sp>
        <p:nvSpPr>
          <p:cNvPr id="8" name="原题文字_234_12"/>
          <p:cNvSpPr txBox="1"/>
          <p:nvPr/>
        </p:nvSpPr>
        <p:spPr>
          <a:xfrm>
            <a:off x="786225" y="1626356"/>
            <a:ext cx="223316"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a</a:t>
            </a:r>
          </a:p>
        </p:txBody>
      </p:sp>
      <p:sp>
        <p:nvSpPr>
          <p:cNvPr id="9" name="原题文字_234_13"/>
          <p:cNvSpPr txBox="1"/>
          <p:nvPr/>
        </p:nvSpPr>
        <p:spPr>
          <a:xfrm>
            <a:off x="6804559" y="1840750"/>
            <a:ext cx="475994"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_b</a:t>
            </a:r>
          </a:p>
        </p:txBody>
      </p:sp>
      <p:sp>
        <p:nvSpPr>
          <p:cNvPr id="10" name="原题文字_234_14"/>
          <p:cNvSpPr txBox="1"/>
          <p:nvPr/>
        </p:nvSpPr>
        <p:spPr>
          <a:xfrm>
            <a:off x="617773" y="2039830"/>
            <a:ext cx="989007"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[cd]</a:t>
            </a:r>
          </a:p>
        </p:txBody>
      </p:sp>
      <p:sp>
        <p:nvSpPr>
          <p:cNvPr id="11" name="原题文字_234_15"/>
          <p:cNvSpPr txBox="1"/>
          <p:nvPr/>
        </p:nvSpPr>
        <p:spPr>
          <a:xfrm>
            <a:off x="5901044" y="2062800"/>
            <a:ext cx="45302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[e]</a:t>
            </a:r>
          </a:p>
        </p:txBody>
      </p:sp>
      <p:sp>
        <p:nvSpPr>
          <p:cNvPr id="12" name="原题文字_234_16"/>
          <p:cNvSpPr txBox="1"/>
          <p:nvPr/>
        </p:nvSpPr>
        <p:spPr>
          <a:xfrm>
            <a:off x="8106235" y="2078114"/>
            <a:ext cx="39942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_g</a:t>
            </a:r>
          </a:p>
        </p:txBody>
      </p:sp>
      <p:sp>
        <p:nvSpPr>
          <p:cNvPr id="13" name="文字_(1) 表中所列元素，属于短周期元素的有 ___"/>
          <p:cNvSpPr txBox="1"/>
          <p:nvPr/>
        </p:nvSpPr>
        <p:spPr>
          <a:xfrm>
            <a:off x="502920" y="3444029"/>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表中所列元素，属于短周期元素的有 ______ (填字母，下同)；属于主族元素的</a:t>
            </a:r>
          </a:p>
          <a:p>
            <a:pPr>
              <a:lnSpc>
                <a:spcPct val="112000"/>
              </a:lnSpc>
              <a:spcBef>
                <a:spcPts val="0"/>
              </a:spcBef>
              <a:spcAft>
                <a:spcPts val="0"/>
              </a:spcAft>
              <a:defRPr sz="2400" b="0">
                <a:solidFill>
                  <a:srgbClr val="333333"/>
                </a:solidFill>
                <a:latin typeface="微软雅黑"/>
              </a:defRPr>
            </a:pPr>
            <a:r>
              <a:rPr>
                <a:ea typeface="微软雅黑"/>
              </a:rPr>
              <a:t>有</a:t>
            </a:r>
          </a:p>
        </p:txBody>
      </p:sp>
      <p:sp>
        <p:nvSpPr>
          <p:cNvPr id="14" name="文字_(2) f元素位于第 ______ 周期第 __"/>
          <p:cNvSpPr txBox="1"/>
          <p:nvPr/>
        </p:nvSpPr>
        <p:spPr>
          <a:xfrm>
            <a:off x="502920" y="4245653"/>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f元素位于第 ______ 周期第 ______ 族。g元素位于第 ______ 周期第 ______ 族，i</a:t>
            </a:r>
          </a:p>
          <a:p>
            <a:pPr>
              <a:lnSpc>
                <a:spcPct val="112000"/>
              </a:lnSpc>
              <a:spcBef>
                <a:spcPts val="0"/>
              </a:spcBef>
              <a:spcAft>
                <a:spcPts val="0"/>
              </a:spcAft>
              <a:defRPr sz="2400" b="0">
                <a:solidFill>
                  <a:srgbClr val="333333"/>
                </a:solidFill>
                <a:latin typeface="微软雅黑"/>
              </a:defRPr>
            </a:pPr>
            <a:r>
              <a:rPr>
                <a:ea typeface="微软雅黑"/>
              </a:rPr>
              <a:t>元素位于第 ______ 周期第</a:t>
            </a:r>
          </a:p>
        </p:txBody>
      </p:sp>
      <p:sp>
        <p:nvSpPr>
          <p:cNvPr id="15" name="文字_族。"/>
          <p:cNvSpPr txBox="1"/>
          <p:nvPr/>
        </p:nvSpPr>
        <p:spPr>
          <a:xfrm>
            <a:off x="502920" y="504727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族。</a:t>
            </a:r>
          </a:p>
        </p:txBody>
      </p:sp>
      <p:sp>
        <p:nvSpPr>
          <p:cNvPr id="16" name="文字_(3)b的最高价含氧酸与c、e两种元素对应的碱能"/>
          <p:cNvSpPr txBox="1"/>
          <p:nvPr/>
        </p:nvSpPr>
        <p:spPr>
          <a:xfrm>
            <a:off x="502920" y="5486189"/>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(3)b的最高价含氧酸与c、e两种元素对应的碱能发生反应。请写出反应的离子方程</a:t>
            </a:r>
          </a:p>
          <a:p>
            <a:pPr>
              <a:lnSpc>
                <a:spcPct val="112000"/>
              </a:lnSpc>
              <a:spcBef>
                <a:spcPts val="0"/>
              </a:spcBef>
              <a:spcAft>
                <a:spcPts val="0"/>
              </a:spcAft>
              <a:defRPr sz="2400" b="0">
                <a:solidFill>
                  <a:srgbClr val="333333"/>
                </a:solidFill>
                <a:latin typeface="微软雅黑"/>
              </a:defRPr>
            </a:pPr>
            <a:r>
              <a:rPr>
                <a:ea typeface="微软雅黑"/>
              </a:rPr>
              <a:t>式：</a:t>
            </a:r>
          </a:p>
        </p:txBody>
      </p:sp>
      <p:sp>
        <p:nvSpPr>
          <p:cNvPr id="17" name="文字_填空题  ·  11-03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11-031</a:t>
            </a:r>
          </a:p>
        </p:txBody>
      </p:sp>
      <p:sp>
        <p:nvSpPr>
          <p:cNvPr id="18" name="文字_4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5"/>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05</a:t>
            </a:r>
          </a:p>
        </p:txBody>
      </p:sp>
      <p:sp>
        <p:nvSpPr>
          <p:cNvPr id="4" name="文字_原子半径与离子半径的比较"/>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原子半径与离子半径的比较</a:t>
            </a:r>
          </a:p>
        </p:txBody>
      </p:sp>
      <p:sp>
        <p:nvSpPr>
          <p:cNvPr id="5" name="文字_知识梳理 · 讲义 P235"/>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P235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原子半径与离子半径的比较"/>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原子半径与离子半径的比较</a:t>
            </a:r>
          </a:p>
        </p:txBody>
      </p:sp>
      <p:sp>
        <p:nvSpPr>
          <p:cNvPr id="5" name="文字_知识讲解 · P235"/>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P235</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同周期（稀有气体除外）：从左到右原子半径逐渐减小"/>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同周期（稀有气体除外）：从左到右原子半径逐渐减小。</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同主族：从上到下原子半径逐渐增大。"/>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同主族：从上到下原子半径逐渐增大。</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离子半径先看电子层数：层多半径大；层同看核电荷："/>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离子半径先看电子层数：层多半径大；层同看核电荷：序大半径小。</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同种元素：阴离子 &gt; 原子 &gt; 阳离子；如 Cl"/>
          <p:cNvSpPr txBox="1"/>
          <p:nvPr/>
        </p:nvSpPr>
        <p:spPr>
          <a:xfrm>
            <a:off x="722376" y="3520440"/>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同种元素：阴离子 &gt; 原子 &gt; 阳离子；如 Cl⁻ &gt; Cl &gt; Na &gt; Na⁺（层同再比序）</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电子层结构相同的离子：核电荷数越大半径越小，如 "/>
          <p:cNvSpPr txBox="1"/>
          <p:nvPr/>
        </p:nvSpPr>
        <p:spPr>
          <a:xfrm>
            <a:off x="722376" y="4474464"/>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电子层结构相同的离子：核电荷数越大半径越小，如 O²⁻ &gt; F⁻ &gt; Na⁺ &gt; </a:t>
            </a:r>
          </a:p>
          <a:p>
            <a:pPr>
              <a:lnSpc>
                <a:spcPct val="112000"/>
              </a:lnSpc>
              <a:spcBef>
                <a:spcPts val="0"/>
              </a:spcBef>
              <a:spcAft>
                <a:spcPts val="0"/>
              </a:spcAft>
              <a:defRPr sz="2400" b="0">
                <a:solidFill>
                  <a:srgbClr val="333333"/>
                </a:solidFill>
                <a:latin typeface="微软雅黑"/>
              </a:defRPr>
            </a:pPr>
            <a:r>
              <a:rPr>
                <a:ea typeface="微软雅黑"/>
              </a:rPr>
              <a:t>Mg²⁺ &gt; Al³⁺。</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半径比较题先分层、再比序，两条规则依次使"/>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半径比较题先分层、再比序，两条规则依次使用。</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化合价与金属性、非金属性的递变"/>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化合价与金属性、非金属性的递变</a:t>
            </a:r>
          </a:p>
        </p:txBody>
      </p:sp>
      <p:sp>
        <p:nvSpPr>
          <p:cNvPr id="5" name="文字_知识讲解 · P235"/>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P235</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主族最高正价 = 主族序数 = 最外层电子数（O"/>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主族最高正价 = 主族序数 = 最外层电子数（O、F 例外）。</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最低负价 = 最高正价 − 8；H 为 +1/−"/>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最低负价 = 最高正价 − 8；H 为 +1/−1，F 无正价。</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同周期从左到右：失电子能力减弱、得电子能力增强，"/>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同周期从左到右：失电子能力减弱、得电子能力增强，金属性减弱、非金属性增</a:t>
            </a:r>
          </a:p>
          <a:p>
            <a:pPr>
              <a:lnSpc>
                <a:spcPct val="112000"/>
              </a:lnSpc>
              <a:spcBef>
                <a:spcPts val="0"/>
              </a:spcBef>
              <a:spcAft>
                <a:spcPts val="0"/>
              </a:spcAft>
              <a:defRPr sz="2400" b="0">
                <a:solidFill>
                  <a:srgbClr val="333333"/>
                </a:solidFill>
                <a:latin typeface="微软雅黑"/>
              </a:defRPr>
            </a:pPr>
            <a:r>
              <a:rPr>
                <a:ea typeface="微软雅黑"/>
              </a:rPr>
              <a:t>强。</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同主族从上到下：失电子能力增强，金属性增强、非金"/>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同主族从上到下：失电子能力增强，金属性增强、非金属性减弱。</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金属性强弱看：与水/酸置换 H₂ 的难易、最高价"/>
          <p:cNvSpPr txBox="1"/>
          <p:nvPr/>
        </p:nvSpPr>
        <p:spPr>
          <a:xfrm>
            <a:off x="722376" y="447446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金属性强弱看：与水/酸置换 H₂ 的难易、最高价氧化物对应水化物的碱性。</a:t>
            </a:r>
          </a:p>
        </p:txBody>
      </p:sp>
      <p:sp>
        <p:nvSpPr>
          <p:cNvPr id="16" name="Rectangle 15"/>
          <p:cNvSpPr/>
          <p:nvPr/>
        </p:nvSpPr>
        <p:spPr>
          <a:xfrm>
            <a:off x="512064" y="513892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非金属性强弱看：与 H₂ 化合难易、氢化物稳定性"/>
          <p:cNvSpPr txBox="1"/>
          <p:nvPr/>
        </p:nvSpPr>
        <p:spPr>
          <a:xfrm>
            <a:off x="722376" y="505663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非金属性强弱看：与 H₂ 化合难易、氢化物稳定性、最高价含氧酸酸性、置换反</a:t>
            </a:r>
          </a:p>
          <a:p>
            <a:pPr>
              <a:lnSpc>
                <a:spcPct val="112000"/>
              </a:lnSpc>
              <a:spcBef>
                <a:spcPts val="0"/>
              </a:spcBef>
              <a:spcAft>
                <a:spcPts val="0"/>
              </a:spcAft>
              <a:defRPr sz="2400" b="0">
                <a:solidFill>
                  <a:srgbClr val="333333"/>
                </a:solidFill>
                <a:latin typeface="微软雅黑"/>
              </a:defRPr>
            </a:pPr>
            <a:r>
              <a:rPr>
                <a:ea typeface="微软雅黑"/>
              </a:rPr>
              <a:t>应。</a:t>
            </a:r>
          </a:p>
        </p:txBody>
      </p:sp>
      <p:sp>
        <p:nvSpPr>
          <p:cNvPr id="18" name="Rectangle 17"/>
          <p:cNvSpPr/>
          <p:nvPr/>
        </p:nvSpPr>
        <p:spPr>
          <a:xfrm>
            <a:off x="493776" y="574243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文字_提示  单质还原性强 ≠ 金属性强以外的场合要小"/>
          <p:cNvSpPr txBox="1"/>
          <p:nvPr/>
        </p:nvSpPr>
        <p:spPr>
          <a:xfrm>
            <a:off x="630936" y="580186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单质还原性强 ≠ 金属性强以外的场合要小心；判断依据必须对应规范实验事实。</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性质的周期性变化规律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元素性质的周期性变化规律 · 例题1</a:t>
            </a:r>
          </a:p>
        </p:txBody>
      </p:sp>
      <p:sp>
        <p:nvSpPr>
          <p:cNvPr id="5" name="文字_P23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P235</a:t>
            </a:r>
          </a:p>
        </p:txBody>
      </p:sp>
      <p:sp>
        <p:nvSpPr>
          <p:cNvPr id="6" name="文字_对于原子半径的理解，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对于原子半径的理解，不正确的是</a:t>
            </a:r>
          </a:p>
        </p:txBody>
      </p:sp>
      <p:sp>
        <p:nvSpPr>
          <p:cNvPr id="7" name="文字_A. 同周期元素(除了稀有气体元素外)，从左到右"/>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同周期元素(除了稀有气体元素外)，从左到右，原子半径依次减小</a:t>
            </a:r>
          </a:p>
        </p:txBody>
      </p:sp>
      <p:sp>
        <p:nvSpPr>
          <p:cNvPr id="8" name="文字_B. 对于第三周期元素，从钠到氯，原子半径依次减"/>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对于第三周期元素，从钠到氯，原子半径依次减小</a:t>
            </a:r>
          </a:p>
        </p:txBody>
      </p:sp>
      <p:sp>
        <p:nvSpPr>
          <p:cNvPr id="9" name="文字_C. 各元素的原子半径总比其离子半径大"/>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各元素的原子半径总比其离子半径大</a:t>
            </a:r>
          </a:p>
        </p:txBody>
      </p:sp>
      <p:sp>
        <p:nvSpPr>
          <p:cNvPr id="10" name="文字_D. 阴离子的半径大于其原子半径，阳离子的半径小"/>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阴离子的半径大于其原子半径，阳离子的半径小于其原子半径</a:t>
            </a:r>
          </a:p>
        </p:txBody>
      </p:sp>
      <p:sp>
        <p:nvSpPr>
          <p:cNvPr id="11" name="文字_单选题  ·  11-03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11-032</a:t>
            </a:r>
          </a:p>
        </p:txBody>
      </p:sp>
      <p:sp>
        <p:nvSpPr>
          <p:cNvPr id="12" name="文字_4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6"/>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06</a:t>
            </a:r>
          </a:p>
        </p:txBody>
      </p:sp>
      <p:sp>
        <p:nvSpPr>
          <p:cNvPr id="4" name="文字_碱金属元素的递变规律"/>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碱金属元素的递变规律</a:t>
            </a:r>
          </a:p>
        </p:txBody>
      </p:sp>
      <p:sp>
        <p:nvSpPr>
          <p:cNvPr id="5" name="文字_知识梳理 · 讲义 P236"/>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P236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碱金属元素的递变规律"/>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碱金属元素的递变规律</a:t>
            </a:r>
          </a:p>
        </p:txBody>
      </p:sp>
      <p:sp>
        <p:nvSpPr>
          <p:cNvPr id="5" name="文字_知识讲解 · P236"/>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P236</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相同点：最外层都是 1 个电子；递变性：Li→C"/>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相同点：最外层都是 1 个电子；递变性：Li→Cs 电子层数依次增多。</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从上到下：失电子能力增强，金属性增强，与水、氧气"/>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从上到下：失电子能力增强，金属性增强，与水、氧气反应越来越剧烈。</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最高价氧化物对应水化物碱性依次增强：LiOH &lt;"/>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最高价氧化物对应水化物碱性依次增强：LiOH &lt; NaOH &lt; KOH &lt; RbOH &lt; </a:t>
            </a:r>
          </a:p>
          <a:p>
            <a:pPr>
              <a:lnSpc>
                <a:spcPct val="112000"/>
              </a:lnSpc>
              <a:spcBef>
                <a:spcPts val="0"/>
              </a:spcBef>
              <a:spcAft>
                <a:spcPts val="0"/>
              </a:spcAft>
              <a:defRPr sz="2400" b="0">
                <a:solidFill>
                  <a:srgbClr val="333333"/>
                </a:solidFill>
                <a:latin typeface="微软雅黑"/>
              </a:defRPr>
            </a:pPr>
            <a:r>
              <a:rPr>
                <a:ea typeface="微软雅黑"/>
              </a:rPr>
              <a:t>CsOH。</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物理性质：均为银白色（Cs 略带金色）、质软、密"/>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物理性质：均为银白色（Cs 略带金色）、质软、密度小、熔点低、导电导热。</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密度总体增大（K 反常，K 比 Na 小）；熔沸"/>
          <p:cNvSpPr txBox="1"/>
          <p:nvPr/>
        </p:nvSpPr>
        <p:spPr>
          <a:xfrm>
            <a:off x="722376" y="447446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密度总体增大（K 反常，K 比 Na 小）；熔沸点逐渐降低。</a:t>
            </a:r>
          </a:p>
        </p:txBody>
      </p:sp>
      <p:sp>
        <p:nvSpPr>
          <p:cNvPr id="16" name="Rectangle 15"/>
          <p:cNvSpPr/>
          <p:nvPr/>
        </p:nvSpPr>
        <p:spPr>
          <a:xfrm>
            <a:off x="512064" y="513892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Li 密度最小；自然界中均以化合态存在。"/>
          <p:cNvSpPr txBox="1"/>
          <p:nvPr/>
        </p:nvSpPr>
        <p:spPr>
          <a:xfrm>
            <a:off x="722376" y="505663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Li 密度最小；自然界中均以化合态存在。</a:t>
            </a:r>
          </a:p>
        </p:txBody>
      </p:sp>
      <p:sp>
        <p:nvSpPr>
          <p:cNvPr id="18" name="Rectangle 17"/>
          <p:cNvSpPr/>
          <p:nvPr/>
        </p:nvSpPr>
        <p:spPr>
          <a:xfrm>
            <a:off x="493776" y="5684520"/>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文字_提示  Li、Na 燃烧产物不同：Li 生成 L"/>
          <p:cNvSpPr txBox="1"/>
          <p:nvPr/>
        </p:nvSpPr>
        <p:spPr>
          <a:xfrm>
            <a:off x="630936" y="5743956"/>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Li、Na 燃烧产物不同：Li 生成 Li₂O，Na 生成 Na₂O₂，K 更复杂。</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性质的周期性变化规律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元素性质的周期性变化规律 · 例题2</a:t>
            </a:r>
          </a:p>
        </p:txBody>
      </p:sp>
      <p:sp>
        <p:nvSpPr>
          <p:cNvPr id="5" name="文字_P23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P236</a:t>
            </a:r>
          </a:p>
        </p:txBody>
      </p:sp>
      <p:pic>
        <p:nvPicPr>
          <p:cNvPr id="6" name="Picture 5" descr="image.png"/>
          <p:cNvPicPr>
            <a:picLocks noChangeAspect="1"/>
          </p:cNvPicPr>
          <p:nvPr/>
        </p:nvPicPr>
        <p:blipFill>
          <a:blip r:embed="rId3"/>
          <a:stretch>
            <a:fillRect/>
          </a:stretch>
        </p:blipFill>
        <p:spPr>
          <a:xfrm>
            <a:off x="502920" y="1078992"/>
            <a:ext cx="11064240" cy="1584981"/>
          </a:xfrm>
          <a:prstGeom prst="rect">
            <a:avLst/>
          </a:prstGeom>
        </p:spPr>
      </p:pic>
      <p:sp>
        <p:nvSpPr>
          <p:cNvPr id="7" name="原题文字_236_3"/>
          <p:cNvSpPr txBox="1"/>
          <p:nvPr/>
        </p:nvSpPr>
        <p:spPr>
          <a:xfrm>
            <a:off x="594802" y="1087905"/>
            <a:ext cx="521562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几种常见元素的原子半径如表所示：下列说法正确的是</a:t>
            </a:r>
          </a:p>
        </p:txBody>
      </p:sp>
      <p:sp>
        <p:nvSpPr>
          <p:cNvPr id="8" name="原题文字_236_4"/>
          <p:cNvSpPr txBox="1"/>
          <p:nvPr/>
        </p:nvSpPr>
        <p:spPr>
          <a:xfrm>
            <a:off x="594802" y="1478407"/>
            <a:ext cx="606161"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元素</a:t>
            </a:r>
          </a:p>
        </p:txBody>
      </p:sp>
      <p:sp>
        <p:nvSpPr>
          <p:cNvPr id="9" name="原题文字_236_5"/>
          <p:cNvSpPr txBox="1"/>
          <p:nvPr/>
        </p:nvSpPr>
        <p:spPr>
          <a:xfrm>
            <a:off x="1858193" y="1524349"/>
            <a:ext cx="28457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a:t>
            </a:r>
          </a:p>
        </p:txBody>
      </p:sp>
      <p:sp>
        <p:nvSpPr>
          <p:cNvPr id="10" name="原题文字_236_6"/>
          <p:cNvSpPr txBox="1"/>
          <p:nvPr/>
        </p:nvSpPr>
        <p:spPr>
          <a:xfrm>
            <a:off x="2386520" y="1532006"/>
            <a:ext cx="284571"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0</a:t>
            </a:r>
          </a:p>
        </p:txBody>
      </p:sp>
      <p:sp>
        <p:nvSpPr>
          <p:cNvPr id="11" name="原题文字_236_7"/>
          <p:cNvSpPr txBox="1"/>
          <p:nvPr/>
        </p:nvSpPr>
        <p:spPr>
          <a:xfrm>
            <a:off x="2884220" y="1524349"/>
            <a:ext cx="45302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Na</a:t>
            </a:r>
          </a:p>
        </p:txBody>
      </p:sp>
      <p:sp>
        <p:nvSpPr>
          <p:cNvPr id="12" name="原题文字_236_8"/>
          <p:cNvSpPr txBox="1"/>
          <p:nvPr/>
        </p:nvSpPr>
        <p:spPr>
          <a:xfrm>
            <a:off x="3389576" y="1493721"/>
            <a:ext cx="521935"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Mg</a:t>
            </a:r>
          </a:p>
        </p:txBody>
      </p:sp>
      <p:sp>
        <p:nvSpPr>
          <p:cNvPr id="13" name="原题文字_236_9"/>
          <p:cNvSpPr txBox="1"/>
          <p:nvPr/>
        </p:nvSpPr>
        <p:spPr>
          <a:xfrm>
            <a:off x="3948531" y="1524349"/>
            <a:ext cx="35348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Si</a:t>
            </a:r>
          </a:p>
        </p:txBody>
      </p:sp>
      <p:sp>
        <p:nvSpPr>
          <p:cNvPr id="14" name="原题文字_236_10"/>
          <p:cNvSpPr txBox="1"/>
          <p:nvPr/>
        </p:nvSpPr>
        <p:spPr>
          <a:xfrm>
            <a:off x="640744" y="1930165"/>
            <a:ext cx="3929262" cy="358343"/>
          </a:xfrm>
          <a:prstGeom prst="rect">
            <a:avLst/>
          </a:prstGeom>
          <a:noFill/>
        </p:spPr>
        <p:txBody>
          <a:bodyPr wrap="none" lIns="0" rIns="0" tIns="0" bIns="0">
            <a:spAutoFit/>
          </a:bodyPr>
          <a:lstStyle/>
          <a:p>
            <a:pPr>
              <a:lnSpc>
                <a:spcPct val="112000"/>
              </a:lnSpc>
              <a:spcBef>
                <a:spcPts val="0"/>
              </a:spcBef>
              <a:spcAft>
                <a:spcPts val="0"/>
              </a:spcAft>
              <a:defRPr sz="1664" b="0">
                <a:solidFill>
                  <a:srgbClr val="333333"/>
                </a:solidFill>
                <a:latin typeface="微软雅黑"/>
              </a:defRPr>
            </a:pPr>
            <a:r>
              <a:rPr>
                <a:ea typeface="微软雅黑"/>
              </a:rPr>
              <a:t>原子半径/nm0.0770.0740.1860.1600.117</a:t>
            </a:r>
          </a:p>
        </p:txBody>
      </p:sp>
      <p:sp>
        <p:nvSpPr>
          <p:cNvPr id="15" name="原题文字_236_11"/>
          <p:cNvSpPr txBox="1"/>
          <p:nvPr/>
        </p:nvSpPr>
        <p:spPr>
          <a:xfrm>
            <a:off x="587146" y="2358952"/>
            <a:ext cx="427382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随着核电荷数的增加，原子半径逐渐减小</a:t>
            </a:r>
          </a:p>
        </p:txBody>
      </p:sp>
      <p:sp>
        <p:nvSpPr>
          <p:cNvPr id="16" name="文字_B. 元素F的原子半径在0.074nm与0.18"/>
          <p:cNvSpPr txBox="1"/>
          <p:nvPr/>
        </p:nvSpPr>
        <p:spPr>
          <a:xfrm>
            <a:off x="502920" y="273712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元素F的原子半径在0.074nm与0.186nm之间</a:t>
            </a:r>
          </a:p>
        </p:txBody>
      </p:sp>
      <p:sp>
        <p:nvSpPr>
          <p:cNvPr id="17" name="文字_C. 电子层数越多，原子半径一定越大"/>
          <p:cNvSpPr txBox="1"/>
          <p:nvPr/>
        </p:nvSpPr>
        <p:spPr>
          <a:xfrm>
            <a:off x="502920" y="317603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电子层数越多，原子半径一定越大</a:t>
            </a:r>
          </a:p>
        </p:txBody>
      </p:sp>
      <p:sp>
        <p:nvSpPr>
          <p:cNvPr id="18" name="文字_D. Mg²⁺的半径小于Mg的半径"/>
          <p:cNvSpPr txBox="1"/>
          <p:nvPr/>
        </p:nvSpPr>
        <p:spPr>
          <a:xfrm>
            <a:off x="502920" y="361494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Mg²⁺的半径小于Mg的半径</a:t>
            </a:r>
          </a:p>
        </p:txBody>
      </p:sp>
      <p:sp>
        <p:nvSpPr>
          <p:cNvPr id="19" name="文字_单选题  ·  11-03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11-033</a:t>
            </a:r>
          </a:p>
        </p:txBody>
      </p:sp>
      <p:sp>
        <p:nvSpPr>
          <p:cNvPr id="20" name="文字_4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性质的周期性变化规律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元素性质的周期性变化规律 · 例题3</a:t>
            </a:r>
          </a:p>
        </p:txBody>
      </p:sp>
      <p:sp>
        <p:nvSpPr>
          <p:cNvPr id="5" name="文字_P23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P236</a:t>
            </a:r>
          </a:p>
        </p:txBody>
      </p:sp>
      <p:sp>
        <p:nvSpPr>
          <p:cNvPr id="6" name="文字_下列粒子半径大小的比较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下列粒子半径大小的比较正确的是</a:t>
            </a:r>
          </a:p>
        </p:txBody>
      </p:sp>
      <p:sp>
        <p:nvSpPr>
          <p:cNvPr id="7" name="文字_A. r(Na+)&lt;r(Mg²⁺)&lt;r(A₁₃⁺"/>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r(Na+)&lt;r(Mg²⁺)&lt;r(A₁₃⁺)&lt;r(O²⁻)</a:t>
            </a:r>
          </a:p>
        </p:txBody>
      </p:sp>
      <p:sp>
        <p:nvSpPr>
          <p:cNvPr id="8" name="文字_B. r(S²⁻)&gt;r(Cl)&gt;r(Na+)&gt;r"/>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r(S²⁻)&gt;r(Cl)&gt;r(Na+)&gt;r(Al³⁺)</a:t>
            </a:r>
          </a:p>
        </p:txBody>
      </p:sp>
      <p:sp>
        <p:nvSpPr>
          <p:cNvPr id="9" name="文字_C. r(Na)&lt;r(Mg)&lt;r(Al)&lt;r(S"/>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r(Na)&lt;r(Mg)&lt;r(Al)&lt;r(S)</a:t>
            </a:r>
          </a:p>
        </p:txBody>
      </p:sp>
      <p:sp>
        <p:nvSpPr>
          <p:cNvPr id="10" name="文字_D. r(Cs)&lt;r(Rb)&lt;r(K)&lt;r(Na"/>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r(Cs)&lt;r(Rb)&lt;r(K)&lt;r(Na)</a:t>
            </a:r>
          </a:p>
        </p:txBody>
      </p:sp>
      <p:sp>
        <p:nvSpPr>
          <p:cNvPr id="11" name="文字_单选题  ·  11-03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11-034</a:t>
            </a:r>
          </a:p>
        </p:txBody>
      </p:sp>
      <p:sp>
        <p:nvSpPr>
          <p:cNvPr id="12" name="文字_5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碱金属元素性质的递变规律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碱金属元素性质的递变规律 · 例题1</a:t>
            </a:r>
          </a:p>
        </p:txBody>
      </p:sp>
      <p:sp>
        <p:nvSpPr>
          <p:cNvPr id="5" name="文字_P23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P237</a:t>
            </a:r>
          </a:p>
        </p:txBody>
      </p:sp>
      <p:sp>
        <p:nvSpPr>
          <p:cNvPr id="6" name="文字_下列对碱金属的叙述，其中完全不正确的组合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下列对碱金属的叙述，其中完全不正确的组合是</a:t>
            </a:r>
          </a:p>
        </p:txBody>
      </p:sp>
      <p:sp>
        <p:nvSpPr>
          <p:cNvPr id="7" name="文字_①K通常保存在煤油中，以隔绝与空气的接触"/>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①K通常保存在煤油中，以隔绝与空气的接触</a:t>
            </a:r>
          </a:p>
        </p:txBody>
      </p:sp>
      <p:sp>
        <p:nvSpPr>
          <p:cNvPr id="8" name="文字_②碱金属常温下呈固态，取用时可直接用手拿"/>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②碱金属常温下呈固态，取用时可直接用手拿</a:t>
            </a:r>
          </a:p>
        </p:txBody>
      </p:sp>
      <p:sp>
        <p:nvSpPr>
          <p:cNvPr id="9" name="文字_③碱金属中还原性最强的是钾"/>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③碱金属中还原性最强的是钾</a:t>
            </a:r>
          </a:p>
        </p:txBody>
      </p:sp>
      <p:sp>
        <p:nvSpPr>
          <p:cNvPr id="10" name="文字_④碱金属阳离子，氧化性最强的是Li+"/>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④碱金属阳离子，氧化性最强的是Li+</a:t>
            </a:r>
          </a:p>
        </p:txBody>
      </p:sp>
      <p:sp>
        <p:nvSpPr>
          <p:cNvPr id="11" name="文字_⑤碱金属的原子半径和离子半径都随核电荷数的增大而"/>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⑤碱金属的原子半径和离子半径都随核电荷数的增大而增大</a:t>
            </a:r>
          </a:p>
        </p:txBody>
      </p:sp>
      <p:sp>
        <p:nvSpPr>
          <p:cNvPr id="12" name="文字_⑥从Li到Cs，碱金属的密度越来越大，熔、沸点越"/>
          <p:cNvSpPr txBox="1"/>
          <p:nvPr/>
        </p:nvSpPr>
        <p:spPr>
          <a:xfrm>
            <a:off x="502920" y="37124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⑥从Li到Cs，碱金属的密度越来越大，熔、沸点越来越高</a:t>
            </a:r>
          </a:p>
        </p:txBody>
      </p:sp>
      <p:sp>
        <p:nvSpPr>
          <p:cNvPr id="13" name="文字_A. ②③⑥"/>
          <p:cNvSpPr txBox="1"/>
          <p:nvPr/>
        </p:nvSpPr>
        <p:spPr>
          <a:xfrm>
            <a:off x="502920" y="41513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②③⑥</a:t>
            </a:r>
          </a:p>
        </p:txBody>
      </p:sp>
      <p:sp>
        <p:nvSpPr>
          <p:cNvPr id="14" name="文字_B. ②③④"/>
          <p:cNvSpPr txBox="1"/>
          <p:nvPr/>
        </p:nvSpPr>
        <p:spPr>
          <a:xfrm>
            <a:off x="502920" y="45902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②③④</a:t>
            </a:r>
          </a:p>
        </p:txBody>
      </p:sp>
      <p:sp>
        <p:nvSpPr>
          <p:cNvPr id="15" name="文字_C. ④⑤⑥"/>
          <p:cNvSpPr txBox="1"/>
          <p:nvPr/>
        </p:nvSpPr>
        <p:spPr>
          <a:xfrm>
            <a:off x="502920" y="50292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④⑤⑥</a:t>
            </a:r>
          </a:p>
        </p:txBody>
      </p:sp>
      <p:sp>
        <p:nvSpPr>
          <p:cNvPr id="16" name="文字_D. ①③⑤"/>
          <p:cNvSpPr txBox="1"/>
          <p:nvPr/>
        </p:nvSpPr>
        <p:spPr>
          <a:xfrm>
            <a:off x="502920" y="54681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①③⑤</a:t>
            </a:r>
          </a:p>
        </p:txBody>
      </p:sp>
      <p:sp>
        <p:nvSpPr>
          <p:cNvPr id="17" name="文字_单选题  ·  11-03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11-035</a:t>
            </a:r>
          </a:p>
        </p:txBody>
      </p:sp>
      <p:sp>
        <p:nvSpPr>
          <p:cNvPr id="18" name="文字_5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碱金属元素性质的递变规律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碱金属元素性质的递变规律 · 例题2</a:t>
            </a:r>
          </a:p>
        </p:txBody>
      </p:sp>
      <p:sp>
        <p:nvSpPr>
          <p:cNvPr id="5" name="文字_P23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P237</a:t>
            </a:r>
          </a:p>
        </p:txBody>
      </p:sp>
      <p:sp>
        <p:nvSpPr>
          <p:cNvPr id="6" name="文字_下列有关铯及其化合物的说法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下列有关铯及其化合物的说法不正确的是</a:t>
            </a:r>
          </a:p>
        </p:txBody>
      </p:sp>
      <p:sp>
        <p:nvSpPr>
          <p:cNvPr id="7" name="文字_A. CsOH的碱性比KOH的强"/>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CsOH的碱性比KOH的强</a:t>
            </a:r>
          </a:p>
        </p:txBody>
      </p:sp>
      <p:sp>
        <p:nvSpPr>
          <p:cNvPr id="8" name="文字_B. 铯与水或稀盐酸反应剧烈，都生成H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铯与水或稀盐酸反应剧烈，都生成H₂</a:t>
            </a:r>
          </a:p>
        </p:txBody>
      </p:sp>
      <p:sp>
        <p:nvSpPr>
          <p:cNvPr id="9" name="文字_C. Cs的还原性比Na的强，故Na+的氧化性强"/>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Cs的还原性比Na的强，故Na+的氧化性强于Cs+</a:t>
            </a:r>
          </a:p>
        </p:txBody>
      </p:sp>
      <p:sp>
        <p:nvSpPr>
          <p:cNvPr id="10" name="文字_D. Li的金属性比Cs的强"/>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Li的金属性比Cs的强</a:t>
            </a:r>
          </a:p>
        </p:txBody>
      </p:sp>
      <p:sp>
        <p:nvSpPr>
          <p:cNvPr id="11" name="文字_单选题  ·  11-03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11-036</a:t>
            </a:r>
          </a:p>
        </p:txBody>
      </p:sp>
      <p:sp>
        <p:nvSpPr>
          <p:cNvPr id="12" name="文字_5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碱金属元素性质的递变规律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碱金属元素性质的递变规律 · 例题3</a:t>
            </a:r>
          </a:p>
        </p:txBody>
      </p:sp>
      <p:sp>
        <p:nvSpPr>
          <p:cNvPr id="5" name="文字_P23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P237</a:t>
            </a:r>
          </a:p>
        </p:txBody>
      </p:sp>
      <p:sp>
        <p:nvSpPr>
          <p:cNvPr id="6" name="文字_碱金属元素钫(Fr)具有放射性。下列对其性质的预"/>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碱金属元素钫(Fr)具有放射性。下列对其性质的预言中，不正确的是（）</a:t>
            </a:r>
          </a:p>
        </p:txBody>
      </p:sp>
      <p:sp>
        <p:nvSpPr>
          <p:cNvPr id="7" name="文字_A. 它的金属性比Na强，跟水反应更剧烈"/>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它的金属性比Na强，跟水反应更剧烈</a:t>
            </a:r>
          </a:p>
        </p:txBody>
      </p:sp>
      <p:sp>
        <p:nvSpPr>
          <p:cNvPr id="8" name="文字_B. 它的原子半径比Na大，离子半径也比Na+大"/>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它的原子半径比Na大，离子半径也比Na+大</a:t>
            </a:r>
          </a:p>
        </p:txBody>
      </p:sp>
      <p:sp>
        <p:nvSpPr>
          <p:cNvPr id="9" name="文字_C. 它与硫酸铜溶液发生置换反应得到金属铜"/>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它与硫酸铜溶液发生置换反应得到金属铜</a:t>
            </a:r>
          </a:p>
        </p:txBody>
      </p:sp>
      <p:sp>
        <p:nvSpPr>
          <p:cNvPr id="10" name="文字_D. 它的氢氧化物(FrOH)是一种强碱，使酚酞"/>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它的氢氧化物(FrOH)是一种强碱，使酚酞溶液变红</a:t>
            </a:r>
          </a:p>
        </p:txBody>
      </p:sp>
      <p:sp>
        <p:nvSpPr>
          <p:cNvPr id="11" name="文字_单选题  ·  11-03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11-037</a:t>
            </a:r>
          </a:p>
        </p:txBody>
      </p:sp>
      <p:sp>
        <p:nvSpPr>
          <p:cNvPr id="12" name="文字_5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7"/>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07</a:t>
            </a:r>
          </a:p>
        </p:txBody>
      </p:sp>
      <p:sp>
        <p:nvSpPr>
          <p:cNvPr id="4" name="文字_卤族元素的递变规律"/>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卤族元素的递变规律</a:t>
            </a:r>
          </a:p>
        </p:txBody>
      </p:sp>
      <p:sp>
        <p:nvSpPr>
          <p:cNvPr id="5" name="文字_知识梳理 · 讲义 P238"/>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P238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卤族元素的递变规律"/>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卤族元素的递变规律</a:t>
            </a:r>
          </a:p>
        </p:txBody>
      </p:sp>
      <p:sp>
        <p:nvSpPr>
          <p:cNvPr id="5" name="文字_知识讲解 · P238"/>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P238</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物理性质：F₂→I₂ 颜色逐渐加深（浅黄绿→黄绿"/>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物理性质：F₂→I₂ 颜色逐渐加深（浅黄绿→黄绿→深红棕→紫黑），状态从气</a:t>
            </a:r>
          </a:p>
          <a:p>
            <a:pPr>
              <a:lnSpc>
                <a:spcPct val="112000"/>
              </a:lnSpc>
              <a:spcBef>
                <a:spcPts val="0"/>
              </a:spcBef>
              <a:spcAft>
                <a:spcPts val="0"/>
              </a:spcAft>
              <a:defRPr sz="2400" b="0">
                <a:solidFill>
                  <a:srgbClr val="333333"/>
                </a:solidFill>
                <a:latin typeface="微软雅黑"/>
              </a:defRPr>
            </a:pPr>
            <a:r>
              <a:rPr>
                <a:ea typeface="微软雅黑"/>
              </a:rPr>
              <a:t>→液→固。</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熔沸点逐渐升高；在水（或有机溶剂）中溶解性递变。"/>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熔沸点逐渐升高；在水（或有机溶剂）中溶解性递变。</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化学性质相似：与金属、氢气、水反应，产物为卤化物"/>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化学性质相似：与金属、氢气、水反应，产物为卤化物、卤化氢、次卤酸。</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从上到下：非金属性减弱，单质氧化性减弱，与 H₂"/>
          <p:cNvSpPr txBox="1"/>
          <p:nvPr/>
        </p:nvSpPr>
        <p:spPr>
          <a:xfrm>
            <a:off x="722376" y="389229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从上到下：非金属性减弱，单质氧化性减弱，与 H₂ 化合越来越难，氢化物稳定</a:t>
            </a:r>
          </a:p>
          <a:p>
            <a:pPr>
              <a:lnSpc>
                <a:spcPct val="112000"/>
              </a:lnSpc>
              <a:spcBef>
                <a:spcPts val="0"/>
              </a:spcBef>
              <a:spcAft>
                <a:spcPts val="0"/>
              </a:spcAft>
              <a:defRPr sz="2400" b="0">
                <a:solidFill>
                  <a:srgbClr val="333333"/>
                </a:solidFill>
                <a:latin typeface="微软雅黑"/>
              </a:defRPr>
            </a:pPr>
            <a:r>
              <a:rPr>
                <a:ea typeface="微软雅黑"/>
              </a:rPr>
              <a:t>性减弱。</a:t>
            </a:r>
          </a:p>
        </p:txBody>
      </p:sp>
      <p:sp>
        <p:nvSpPr>
          <p:cNvPr id="14" name="Rectangle 13"/>
          <p:cNvSpPr/>
          <p:nvPr/>
        </p:nvSpPr>
        <p:spPr>
          <a:xfrm>
            <a:off x="512064" y="492861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置换方向：Cl₂ + 2NaBr = 2NaCl"/>
          <p:cNvSpPr txBox="1"/>
          <p:nvPr/>
        </p:nvSpPr>
        <p:spPr>
          <a:xfrm>
            <a:off x="722376" y="484632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置换方向：Cl₂ + 2NaBr = 2NaCl + Br₂；Cl₂ + 2KI = 2KCl + I₂。</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F₂ 与水剧烈反应置换出 O₂，不遵循一"/>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F₂ 与水剧烈反应置换出 O₂，不遵循一般置换规律；I₂ 遇淀粉变蓝用于检验。</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碱金属元素性质的递变规律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碱金属元素性质的递变规律 · 例题4</a:t>
            </a:r>
          </a:p>
        </p:txBody>
      </p:sp>
      <p:sp>
        <p:nvSpPr>
          <p:cNvPr id="5" name="文字_P23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P238</a:t>
            </a:r>
          </a:p>
        </p:txBody>
      </p:sp>
      <p:sp>
        <p:nvSpPr>
          <p:cNvPr id="6" name="文字_下列关于Li、Na、K、Rb、Cs的叙述均正确的"/>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下列关于Li、Na、K、Rb、Cs的叙述均正确的一组是</a:t>
            </a:r>
          </a:p>
        </p:txBody>
      </p:sp>
      <p:sp>
        <p:nvSpPr>
          <p:cNvPr id="7" name="文字_①金属性最强的是锂 ②形成的离子中，氧化性最强的"/>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①金属性最强的是锂 ②形成的离子中，氧化性最强的是锂离子</a:t>
            </a:r>
          </a:p>
        </p:txBody>
      </p:sp>
      <p:sp>
        <p:nvSpPr>
          <p:cNvPr id="8" name="文字_③在自然界中均以化合态形式存在④Li的密度最小"/>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③在自然界中均以化合态形式存在④Li的密度最小</a:t>
            </a:r>
          </a:p>
        </p:txBody>
      </p:sp>
      <p:sp>
        <p:nvSpPr>
          <p:cNvPr id="9" name="文字_⑤均可与水反应，产物均为MOH和H₂ ⑥它们在O"/>
          <p:cNvSpPr txBox="1"/>
          <p:nvPr/>
        </p:nvSpPr>
        <p:spPr>
          <a:xfrm>
            <a:off x="502920" y="23957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⑤均可与水反应，产物均为MOH和H₂ ⑥它们在O₂中燃烧的产物都有M₂O和 </a:t>
            </a:r>
          </a:p>
          <a:p>
            <a:pPr>
              <a:lnSpc>
                <a:spcPct val="112000"/>
              </a:lnSpc>
              <a:spcBef>
                <a:spcPts val="0"/>
              </a:spcBef>
              <a:spcAft>
                <a:spcPts val="0"/>
              </a:spcAft>
              <a:defRPr sz="2400" b="0">
                <a:solidFill>
                  <a:srgbClr val="333333"/>
                </a:solidFill>
                <a:latin typeface="微软雅黑"/>
              </a:defRPr>
            </a:pPr>
            <a:r>
              <a:rPr>
                <a:ea typeface="微软雅黑"/>
              </a:rPr>
              <a:t>M₂O₂两种形式</a:t>
            </a:r>
          </a:p>
        </p:txBody>
      </p:sp>
      <p:sp>
        <p:nvSpPr>
          <p:cNvPr id="10" name="文字_⑦粒子半径： Rb+&gt;K+&gt;Na+，Cs&gt;Cs+"/>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⑦粒子半径： Rb+&gt;K+&gt;Na+，Cs&gt;Cs+</a:t>
            </a:r>
          </a:p>
        </p:txBody>
      </p:sp>
      <p:sp>
        <p:nvSpPr>
          <p:cNvPr id="11" name="文字_A. ①②③④⑤"/>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①②③④⑤</a:t>
            </a:r>
          </a:p>
        </p:txBody>
      </p:sp>
      <p:sp>
        <p:nvSpPr>
          <p:cNvPr id="12" name="文字_B. ③④⑤⑥⑦"/>
          <p:cNvSpPr txBox="1"/>
          <p:nvPr/>
        </p:nvSpPr>
        <p:spPr>
          <a:xfrm>
            <a:off x="502920" y="40751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③④⑤⑥⑦</a:t>
            </a:r>
          </a:p>
        </p:txBody>
      </p:sp>
      <p:sp>
        <p:nvSpPr>
          <p:cNvPr id="13" name="文字_C. ①②④⑥⑦"/>
          <p:cNvSpPr txBox="1"/>
          <p:nvPr/>
        </p:nvSpPr>
        <p:spPr>
          <a:xfrm>
            <a:off x="502920" y="45140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①②④⑥⑦</a:t>
            </a:r>
          </a:p>
        </p:txBody>
      </p:sp>
      <p:sp>
        <p:nvSpPr>
          <p:cNvPr id="14" name="文字_D. ②③④⑤⑦"/>
          <p:cNvSpPr txBox="1"/>
          <p:nvPr/>
        </p:nvSpPr>
        <p:spPr>
          <a:xfrm>
            <a:off x="502920" y="49530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②③④⑤⑦</a:t>
            </a:r>
          </a:p>
        </p:txBody>
      </p:sp>
      <p:sp>
        <p:nvSpPr>
          <p:cNvPr id="15" name="文字_单选题  ·  11-03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11-038</a:t>
            </a:r>
          </a:p>
        </p:txBody>
      </p:sp>
      <p:sp>
        <p:nvSpPr>
          <p:cNvPr id="16" name="文字_5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卤族元素的性质的递变规律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卤族元素的性质的递变规律 · 例题1</a:t>
            </a:r>
          </a:p>
        </p:txBody>
      </p:sp>
      <p:sp>
        <p:nvSpPr>
          <p:cNvPr id="5" name="文字_P23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P239</a:t>
            </a:r>
          </a:p>
        </p:txBody>
      </p:sp>
      <p:sp>
        <p:nvSpPr>
          <p:cNvPr id="6" name="文字_下列事实能说明CI的非金属性强于P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下列事实能说明CI的非金属性强于P的是</a:t>
            </a:r>
          </a:p>
        </p:txBody>
      </p:sp>
      <p:sp>
        <p:nvSpPr>
          <p:cNvPr id="7" name="文字_A. C₁的相对原子质量大于P"/>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C₁的相对原子质量大于P</a:t>
            </a:r>
          </a:p>
        </p:txBody>
      </p:sp>
      <p:sp>
        <p:nvSpPr>
          <p:cNvPr id="8" name="文字_B. 与H₂反应的难易程度：Cl₂比P更容易"/>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与H₂反应的难易程度：Cl₂比P更容易</a:t>
            </a:r>
          </a:p>
        </p:txBody>
      </p:sp>
      <p:sp>
        <p:nvSpPr>
          <p:cNvPr id="9" name="文字_C. Cl₂的沸点低于P单质"/>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Cl₂的沸点低于P单质</a:t>
            </a:r>
          </a:p>
        </p:txBody>
      </p:sp>
      <p:sp>
        <p:nvSpPr>
          <p:cNvPr id="10" name="文字_D. HCl的酸性强于H₃PO₄"/>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HCl的酸性强于H₃PO₄</a:t>
            </a:r>
          </a:p>
        </p:txBody>
      </p:sp>
      <p:sp>
        <p:nvSpPr>
          <p:cNvPr id="11" name="文字_单选题  ·  11-03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11-039</a:t>
            </a:r>
          </a:p>
        </p:txBody>
      </p:sp>
      <p:sp>
        <p:nvSpPr>
          <p:cNvPr id="12" name="文字_5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卤族元素的性质的递变规律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卤族元素的性质的递变规律 · 例题2</a:t>
            </a:r>
          </a:p>
        </p:txBody>
      </p:sp>
      <p:sp>
        <p:nvSpPr>
          <p:cNvPr id="5" name="文字_P23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P239</a:t>
            </a:r>
          </a:p>
        </p:txBody>
      </p:sp>
      <p:sp>
        <p:nvSpPr>
          <p:cNvPr id="6" name="文字_下列叙述能说明氯元素非金属性比硫元素强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下列叙述能说明氯元素非金属性比硫元素强的是（</a:t>
            </a:r>
          </a:p>
        </p:txBody>
      </p:sp>
      <p:sp>
        <p:nvSpPr>
          <p:cNvPr id="7" name="文字_①HCl的溶解度比H₂₂S大②HCl的酸性比H₂"/>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①HCl的溶解度比H₂₂S大②HCl的酸性比H₂S强</a:t>
            </a:r>
          </a:p>
        </p:txBody>
      </p:sp>
      <p:sp>
        <p:nvSpPr>
          <p:cNvPr id="8" name="文字_③HCl的稳定性比H₂S强④还原性:Cl- &lt;S"/>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③HCl的稳定性比H₂S强④还原性:Cl- &lt;S²⁻</a:t>
            </a:r>
          </a:p>
        </p:txBody>
      </p:sp>
      <p:sp>
        <p:nvSpPr>
          <p:cNvPr id="9" name="文字_⑤HClO的酸性比H₂SO₄弱⑥Cl₂与铁反应生"/>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⑤HClO的酸性比H₂SO₄弱⑥Cl₂与铁反应生成FeCl₃，而S与铁反应生成FeS</a:t>
            </a:r>
          </a:p>
        </p:txBody>
      </p:sp>
      <p:sp>
        <p:nvSpPr>
          <p:cNvPr id="10" name="文字_⑦Cl₂能与H₂S反应生成S ⑧在周期表中Cl处"/>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⑦Cl₂能与H₂S反应生成S ⑧在周期表中Cl处于S同周期的右侧</a:t>
            </a:r>
          </a:p>
        </p:txBody>
      </p:sp>
      <p:sp>
        <p:nvSpPr>
          <p:cNvPr id="11" name="文字_A.③④⑤⑦⑧"/>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A.③④⑤⑦⑧</a:t>
            </a:r>
          </a:p>
        </p:txBody>
      </p:sp>
      <p:sp>
        <p:nvSpPr>
          <p:cNvPr id="12" name="文字_B. ②③⑥⑦⑧"/>
          <p:cNvSpPr txBox="1"/>
          <p:nvPr/>
        </p:nvSpPr>
        <p:spPr>
          <a:xfrm>
            <a:off x="502920" y="37124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②③⑥⑦⑧</a:t>
            </a:r>
          </a:p>
        </p:txBody>
      </p:sp>
      <p:sp>
        <p:nvSpPr>
          <p:cNvPr id="13" name="文字_C. ③④⑥⑦⑧"/>
          <p:cNvSpPr txBox="1"/>
          <p:nvPr/>
        </p:nvSpPr>
        <p:spPr>
          <a:xfrm>
            <a:off x="502920" y="41513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③④⑥⑦⑧</a:t>
            </a:r>
          </a:p>
        </p:txBody>
      </p:sp>
      <p:sp>
        <p:nvSpPr>
          <p:cNvPr id="14" name="文字_D. ①③④⑤⑥⑦⑧"/>
          <p:cNvSpPr txBox="1"/>
          <p:nvPr/>
        </p:nvSpPr>
        <p:spPr>
          <a:xfrm>
            <a:off x="502920" y="45902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①③④⑤⑥⑦⑧</a:t>
            </a:r>
          </a:p>
        </p:txBody>
      </p:sp>
      <p:sp>
        <p:nvSpPr>
          <p:cNvPr id="15" name="文字_单选题  ·  11-04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11-040</a:t>
            </a:r>
          </a:p>
        </p:txBody>
      </p:sp>
      <p:sp>
        <p:nvSpPr>
          <p:cNvPr id="16" name="文字_5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卤族元素的性质的递变规律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卤族元素的性质的递变规律 · 例题3</a:t>
            </a:r>
          </a:p>
        </p:txBody>
      </p:sp>
      <p:sp>
        <p:nvSpPr>
          <p:cNvPr id="5" name="文字_P23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P239</a:t>
            </a:r>
          </a:p>
        </p:txBody>
      </p:sp>
      <p:sp>
        <p:nvSpPr>
          <p:cNvPr id="6" name="文字_下列有关结构和性质的说法中，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下列有关结构和性质的说法中，正确的是</a:t>
            </a:r>
          </a:p>
        </p:txBody>
      </p:sp>
      <p:sp>
        <p:nvSpPr>
          <p:cNvPr id="7" name="文字_A. 酸性：HCl&gt;H₂S，所以非金属性：Cl&gt;"/>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酸性：HCl&gt;H₂S，所以非金属性：Cl&gt;S</a:t>
            </a:r>
          </a:p>
        </p:txBody>
      </p:sp>
      <p:sp>
        <p:nvSpPr>
          <p:cNvPr id="8" name="文字_B. 同周期(除0族)元素原子的最外层电子数越多"/>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同周期(除0族)元素原子的最外层电子数越多，越容易得电子，非金属性越强</a:t>
            </a:r>
          </a:p>
        </p:txBody>
      </p:sp>
      <p:sp>
        <p:nvSpPr>
          <p:cNvPr id="9" name="文字_C. HF、HCl、HBr、HI的热稳定性和还原"/>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HF、HCl、HBr、HI的热稳定性和还原性均依次减弱</a:t>
            </a:r>
          </a:p>
        </p:txBody>
      </p:sp>
      <p:sp>
        <p:nvSpPr>
          <p:cNvPr id="10" name="文字_D. 同周期元素的简单离子半径从左到右逐渐减小"/>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同周期元素的简单离子半径从左到右逐渐减小</a:t>
            </a:r>
          </a:p>
        </p:txBody>
      </p:sp>
      <p:sp>
        <p:nvSpPr>
          <p:cNvPr id="11" name="文字_单选题  ·  11-04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11-041</a:t>
            </a:r>
          </a:p>
        </p:txBody>
      </p:sp>
      <p:sp>
        <p:nvSpPr>
          <p:cNvPr id="12" name="文字_5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卤族元素的性质的递变规律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卤族元素的性质的递变规律 · 例题4</a:t>
            </a:r>
          </a:p>
        </p:txBody>
      </p:sp>
      <p:sp>
        <p:nvSpPr>
          <p:cNvPr id="5" name="文字_P23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P239</a:t>
            </a:r>
          </a:p>
        </p:txBody>
      </p:sp>
      <p:sp>
        <p:nvSpPr>
          <p:cNvPr id="6" name="文字_下列“类比”结果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下列“类比”结果正确的是</a:t>
            </a:r>
          </a:p>
        </p:txBody>
      </p:sp>
      <p:sp>
        <p:nvSpPr>
          <p:cNvPr id="7" name="文字_A. Cl₂与H₂O反应生成HClO，则F₂与H"/>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Cl₂与H₂O反应生成HClO，则F₂与H₂O反应生成HFO</a:t>
            </a:r>
          </a:p>
        </p:txBody>
      </p:sp>
      <p:sp>
        <p:nvSpPr>
          <p:cNvPr id="8" name="文字_B. Al能溶于NaOH溶液，则Fe也能溶于Na"/>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Al能溶于NaOH溶液，则Fe也能溶于NaOH溶液</a:t>
            </a:r>
          </a:p>
        </p:txBody>
      </p:sp>
      <p:sp>
        <p:nvSpPr>
          <p:cNvPr id="9" name="文字_C. 往碳酸钠固体中加入几滴水后温度升高，则往碳"/>
          <p:cNvSpPr txBox="1"/>
          <p:nvPr/>
        </p:nvSpPr>
        <p:spPr>
          <a:xfrm>
            <a:off x="502920" y="23957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往碳酸钠固体中加入几滴水后温度升高，则往碳酸氢钠固体中加入几滴水后温度</a:t>
            </a:r>
          </a:p>
          <a:p>
            <a:pPr>
              <a:lnSpc>
                <a:spcPct val="112000"/>
              </a:lnSpc>
              <a:spcBef>
                <a:spcPts val="0"/>
              </a:spcBef>
              <a:spcAft>
                <a:spcPts val="0"/>
              </a:spcAft>
              <a:defRPr sz="2400" b="0">
                <a:solidFill>
                  <a:srgbClr val="333333"/>
                </a:solidFill>
                <a:latin typeface="微软雅黑"/>
              </a:defRPr>
            </a:pPr>
            <a:r>
              <a:rPr>
                <a:ea typeface="微软雅黑"/>
              </a:rPr>
              <a:t>也升高</a:t>
            </a:r>
          </a:p>
        </p:txBody>
      </p:sp>
      <p:sp>
        <p:nvSpPr>
          <p:cNvPr id="10" name="文字_D. Na能与H₂O发生反应，K也能与H₂O发生"/>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Na能与H₂O发生反应，K也能与H₂O发生反应</a:t>
            </a:r>
          </a:p>
        </p:txBody>
      </p:sp>
      <p:sp>
        <p:nvSpPr>
          <p:cNvPr id="11" name="文字_单选题  ·  11-04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11-042</a:t>
            </a:r>
          </a:p>
        </p:txBody>
      </p:sp>
      <p:sp>
        <p:nvSpPr>
          <p:cNvPr id="12" name="文字_6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卤族元素的性质的递变规律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卤族元素的性质的递变规律 · 例题5</a:t>
            </a:r>
          </a:p>
        </p:txBody>
      </p:sp>
      <p:sp>
        <p:nvSpPr>
          <p:cNvPr id="5" name="文字_P24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P240</a:t>
            </a:r>
          </a:p>
        </p:txBody>
      </p:sp>
      <p:sp>
        <p:nvSpPr>
          <p:cNvPr id="6" name="文字_下列有关卤素性质的比较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下列有关卤素性质的比较正确的是（）</a:t>
            </a:r>
          </a:p>
        </p:txBody>
      </p:sp>
      <p:sp>
        <p:nvSpPr>
          <p:cNvPr id="7" name="文字_①随着原子序数增大，单质氧化性逐渐减弱，沸点逐渐"/>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①随着原子序数增大，单质氧化性逐渐减弱，沸点逐渐升高</a:t>
            </a:r>
          </a:p>
        </p:txBody>
      </p:sp>
      <p:sp>
        <p:nvSpPr>
          <p:cNvPr id="8" name="文字_②随着原子序数增大，元素的非金属性越强，气态氢化"/>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②随着原子序数增大，元素的非金属性越强，气态氢化物的热稳定性越弱</a:t>
            </a:r>
          </a:p>
        </p:txBody>
      </p:sp>
      <p:sp>
        <p:nvSpPr>
          <p:cNvPr id="9" name="文字_③单质与水反应的剧烈程度: F₂&gt;Cl₂&gt;Br₂"/>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③单质与水反应的剧烈程度: F₂&gt;Cl₂&gt;Br₂&gt;I₂</a:t>
            </a:r>
          </a:p>
        </p:txBody>
      </p:sp>
      <p:sp>
        <p:nvSpPr>
          <p:cNvPr id="10" name="文字_④随着原子序数增大，元素对应的气态氢化物水溶液的"/>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④随着原子序数增大，元素对应的气态氢化物水溶液的酸性越强</a:t>
            </a:r>
          </a:p>
        </p:txBody>
      </p:sp>
      <p:sp>
        <p:nvSpPr>
          <p:cNvPr id="11" name="文字_⑤还原性：F-&gt;Cl&gt;Br-&gt;I"/>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⑤还原性：F-&gt;Cl&gt;Br-&gt;I</a:t>
            </a:r>
          </a:p>
        </p:txBody>
      </p:sp>
      <p:sp>
        <p:nvSpPr>
          <p:cNvPr id="12" name="文字_⑥酸性：HClO₄&gt;HBrO₄₄"/>
          <p:cNvSpPr txBox="1"/>
          <p:nvPr/>
        </p:nvSpPr>
        <p:spPr>
          <a:xfrm>
            <a:off x="502920" y="37124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⑥酸性：HClO₄&gt;HBrO₄₄</a:t>
            </a:r>
          </a:p>
        </p:txBody>
      </p:sp>
      <p:sp>
        <p:nvSpPr>
          <p:cNvPr id="13" name="文字_A. ①②③"/>
          <p:cNvSpPr txBox="1"/>
          <p:nvPr/>
        </p:nvSpPr>
        <p:spPr>
          <a:xfrm>
            <a:off x="502920" y="41513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①②③</a:t>
            </a:r>
          </a:p>
        </p:txBody>
      </p:sp>
      <p:sp>
        <p:nvSpPr>
          <p:cNvPr id="14" name="文字_B. ②④"/>
          <p:cNvSpPr txBox="1"/>
          <p:nvPr/>
        </p:nvSpPr>
        <p:spPr>
          <a:xfrm>
            <a:off x="502920" y="45902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②④</a:t>
            </a:r>
          </a:p>
        </p:txBody>
      </p:sp>
      <p:sp>
        <p:nvSpPr>
          <p:cNvPr id="15" name="文字_C. ①③⑥"/>
          <p:cNvSpPr txBox="1"/>
          <p:nvPr/>
        </p:nvSpPr>
        <p:spPr>
          <a:xfrm>
            <a:off x="502920" y="50292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①③⑥</a:t>
            </a:r>
          </a:p>
        </p:txBody>
      </p:sp>
      <p:sp>
        <p:nvSpPr>
          <p:cNvPr id="16" name="文字_D. ⑤⑥"/>
          <p:cNvSpPr txBox="1"/>
          <p:nvPr/>
        </p:nvSpPr>
        <p:spPr>
          <a:xfrm>
            <a:off x="502920" y="54681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⑤⑥</a:t>
            </a:r>
          </a:p>
        </p:txBody>
      </p:sp>
      <p:sp>
        <p:nvSpPr>
          <p:cNvPr id="17" name="文字_单选题  ·  11-04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11-043</a:t>
            </a:r>
          </a:p>
        </p:txBody>
      </p:sp>
      <p:sp>
        <p:nvSpPr>
          <p:cNvPr id="18" name="文字_6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卤族元素的性质的递变规律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卤族元素的性质的递变规律 · 例题6</a:t>
            </a:r>
          </a:p>
        </p:txBody>
      </p:sp>
      <p:sp>
        <p:nvSpPr>
          <p:cNvPr id="5" name="文字_P24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P240</a:t>
            </a:r>
          </a:p>
        </p:txBody>
      </p:sp>
      <p:sp>
        <p:nvSpPr>
          <p:cNvPr id="6" name="文字_下列有关元素非金属性的比较，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下列有关元素非金属性的比较，正确的是</a:t>
            </a:r>
          </a:p>
        </p:txBody>
      </p:sp>
      <p:sp>
        <p:nvSpPr>
          <p:cNvPr id="7" name="文字_A. 进行H₂O和H₂S的热分解实验，确定硫和氧"/>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进行H₂O和H₂S的热分解实验，确定硫和氧两种元素的非金属性强弱</a:t>
            </a:r>
          </a:p>
        </p:txBody>
      </p:sp>
      <p:pic>
        <p:nvPicPr>
          <p:cNvPr id="8" name="Picture 7" descr="image.png"/>
          <p:cNvPicPr>
            <a:picLocks noChangeAspect="1"/>
          </p:cNvPicPr>
          <p:nvPr/>
        </p:nvPicPr>
        <p:blipFill>
          <a:blip r:embed="rId3"/>
          <a:stretch>
            <a:fillRect/>
          </a:stretch>
        </p:blipFill>
        <p:spPr>
          <a:xfrm>
            <a:off x="502920" y="1956816"/>
            <a:ext cx="11064240" cy="1156193"/>
          </a:xfrm>
          <a:prstGeom prst="rect">
            <a:avLst/>
          </a:prstGeom>
        </p:spPr>
      </p:pic>
      <p:sp>
        <p:nvSpPr>
          <p:cNvPr id="9" name="原题文字_240_19"/>
          <p:cNvSpPr txBox="1"/>
          <p:nvPr/>
        </p:nvSpPr>
        <p:spPr>
          <a:xfrm>
            <a:off x="571832" y="1988699"/>
            <a:ext cx="595834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HCl溶液的酸性比H₂S溶液的酸性强，则Cl的非金属性比S强</a:t>
            </a:r>
          </a:p>
        </p:txBody>
      </p:sp>
      <p:sp>
        <p:nvSpPr>
          <p:cNvPr id="10" name="原题文字_240_20"/>
          <p:cNvSpPr txBox="1"/>
          <p:nvPr/>
        </p:nvSpPr>
        <p:spPr>
          <a:xfrm>
            <a:off x="1682084" y="2294976"/>
            <a:ext cx="42239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高温</a:t>
            </a:r>
          </a:p>
        </p:txBody>
      </p:sp>
      <p:sp>
        <p:nvSpPr>
          <p:cNvPr id="11" name="原题文字_240_21"/>
          <p:cNvSpPr txBox="1"/>
          <p:nvPr/>
        </p:nvSpPr>
        <p:spPr>
          <a:xfrm>
            <a:off x="564175" y="2417486"/>
            <a:ext cx="5246251" cy="368297"/>
          </a:xfrm>
          <a:prstGeom prst="rect">
            <a:avLst/>
          </a:prstGeom>
          <a:noFill/>
        </p:spPr>
        <p:txBody>
          <a:bodyPr wrap="none" lIns="0" rIns="0" tIns="0" bIns="0">
            <a:spAutoFit/>
          </a:bodyPr>
          <a:lstStyle/>
          <a:p>
            <a:pPr>
              <a:lnSpc>
                <a:spcPct val="112000"/>
              </a:lnSpc>
              <a:spcBef>
                <a:spcPts val="0"/>
              </a:spcBef>
              <a:spcAft>
                <a:spcPts val="0"/>
              </a:spcAft>
              <a:defRPr sz="1661" b="0">
                <a:solidFill>
                  <a:srgbClr val="333333"/>
                </a:solidFill>
                <a:latin typeface="微软雅黑"/>
              </a:defRPr>
            </a:pPr>
            <a:r>
              <a:rPr>
                <a:ea typeface="微软雅黑"/>
              </a:rPr>
              <a:t>C. 2C + SiO₂→Si + 2CO，该反应说明碳非金属性强于硅</a:t>
            </a:r>
          </a:p>
        </p:txBody>
      </p:sp>
      <p:sp>
        <p:nvSpPr>
          <p:cNvPr id="12" name="原题文字_240_22"/>
          <p:cNvSpPr txBox="1"/>
          <p:nvPr/>
        </p:nvSpPr>
        <p:spPr>
          <a:xfrm>
            <a:off x="571832" y="2807989"/>
            <a:ext cx="634118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D. 测定NaCl和NaF溶液的pH，可确定F、Cl两元素非金属性的强弱</a:t>
            </a:r>
          </a:p>
        </p:txBody>
      </p:sp>
      <p:sp>
        <p:nvSpPr>
          <p:cNvPr id="13" name="文字_单选题  ·  11-04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11-044</a:t>
            </a:r>
          </a:p>
        </p:txBody>
      </p:sp>
      <p:sp>
        <p:nvSpPr>
          <p:cNvPr id="14" name="文字_6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卤族元素的性质的递变规律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卤族元素的性质的递变规律 · 例题7</a:t>
            </a:r>
          </a:p>
        </p:txBody>
      </p:sp>
      <p:sp>
        <p:nvSpPr>
          <p:cNvPr id="5" name="文字_P24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P240</a:t>
            </a:r>
          </a:p>
        </p:txBody>
      </p:sp>
      <p:sp>
        <p:nvSpPr>
          <p:cNvPr id="6" name="文字_类比学习是学习化学的一种重要方法，下列类比推论正"/>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类比学习是学习化学的一种重要方法，下列类比推论正确的是</a:t>
            </a:r>
          </a:p>
        </p:txBody>
      </p:sp>
      <p:sp>
        <p:nvSpPr>
          <p:cNvPr id="7" name="文字_A. NaOH是强碱，KOH也是强碱"/>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NaOH是强碱，KOH也是强碱</a:t>
            </a:r>
          </a:p>
        </p:txBody>
      </p:sp>
      <p:sp>
        <p:nvSpPr>
          <p:cNvPr id="8" name="文字_B. 由Cl₂与水反应生成HCl和HClO，推出"/>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由Cl₂与水反应生成HCl和HClO，推出F₂与水反应生成HF和HFO</a:t>
            </a:r>
          </a:p>
        </p:txBody>
      </p:sp>
      <p:sp>
        <p:nvSpPr>
          <p:cNvPr id="9" name="文字_C. 由卤素单质熔点从上到下逐渐升高，推出碱金属"/>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由卤素单质熔点从上到下逐渐升高，推出碱金属元素单质熔点从上到下逐渐升高</a:t>
            </a:r>
          </a:p>
        </p:txBody>
      </p:sp>
      <p:sp>
        <p:nvSpPr>
          <p:cNvPr id="10" name="文字_D. 由钠在空气中燃烧产物是Na₂O₂，推出锂在"/>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由钠在空气中燃烧产物是Na₂O₂，推出锂在空气中燃烧产物是Li₂O₂</a:t>
            </a:r>
          </a:p>
        </p:txBody>
      </p:sp>
      <p:sp>
        <p:nvSpPr>
          <p:cNvPr id="11" name="文字_单选题  ·  11-04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11-045</a:t>
            </a:r>
          </a:p>
        </p:txBody>
      </p:sp>
      <p:sp>
        <p:nvSpPr>
          <p:cNvPr id="12" name="文字_6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8"/>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08</a:t>
            </a:r>
          </a:p>
        </p:txBody>
      </p:sp>
      <p:sp>
        <p:nvSpPr>
          <p:cNvPr id="4" name="文字_位—构—性关系与元素推断"/>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位—构—性关系与元素推断</a:t>
            </a:r>
          </a:p>
        </p:txBody>
      </p:sp>
      <p:sp>
        <p:nvSpPr>
          <p:cNvPr id="5" name="文字_知识梳理 · 讲义 P241"/>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P241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位—构—性关系与元素推断"/>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位—构—性关系与元素推断</a:t>
            </a:r>
          </a:p>
        </p:txBody>
      </p:sp>
      <p:sp>
        <p:nvSpPr>
          <p:cNvPr id="5" name="文字_知识讲解 · P241"/>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P241</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结构决定位置：电子层数 = 周期数；最外层电子数"/>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结构决定位置：电子层数 = 周期数；最外层电子数 = 主族序数；质子数 = 原子</a:t>
            </a:r>
          </a:p>
          <a:p>
            <a:pPr>
              <a:lnSpc>
                <a:spcPct val="112000"/>
              </a:lnSpc>
              <a:spcBef>
                <a:spcPts val="0"/>
              </a:spcBef>
              <a:spcAft>
                <a:spcPts val="0"/>
              </a:spcAft>
              <a:defRPr sz="2400" b="0">
                <a:solidFill>
                  <a:srgbClr val="333333"/>
                </a:solidFill>
                <a:latin typeface="微软雅黑"/>
              </a:defRPr>
            </a:pPr>
            <a:r>
              <a:rPr>
                <a:ea typeface="微软雅黑"/>
              </a:rPr>
              <a:t>序数。</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位置反映性质：同周期左→右非金属性增强；同主族上"/>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位置反映性质：同周期左→右非金属性增强；同主族上→下金属性增强。</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性质互推：半径、化合价、金属性非金属性、氢化物稳"/>
          <p:cNvSpPr txBox="1"/>
          <p:nvPr/>
        </p:nvSpPr>
        <p:spPr>
          <a:xfrm>
            <a:off x="722376" y="3310128"/>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性质互推：半径、化合价、金属性非金属性、氢化物稳定性、最高价含氧酸酸碱</a:t>
            </a:r>
          </a:p>
          <a:p>
            <a:pPr>
              <a:lnSpc>
                <a:spcPct val="112000"/>
              </a:lnSpc>
              <a:spcBef>
                <a:spcPts val="0"/>
              </a:spcBef>
              <a:spcAft>
                <a:spcPts val="0"/>
              </a:spcAft>
              <a:defRPr sz="2400" b="0">
                <a:solidFill>
                  <a:srgbClr val="333333"/>
                </a:solidFill>
                <a:latin typeface="微软雅黑"/>
              </a:defRPr>
            </a:pPr>
            <a:r>
              <a:rPr>
                <a:ea typeface="微软雅黑"/>
              </a:rPr>
              <a:t>性。</a:t>
            </a:r>
          </a:p>
        </p:txBody>
      </p:sp>
      <p:sp>
        <p:nvSpPr>
          <p:cNvPr id="12" name="Rectangle 11"/>
          <p:cNvSpPr/>
          <p:nvPr/>
        </p:nvSpPr>
        <p:spPr>
          <a:xfrm>
            <a:off x="512064" y="434644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推断路径：核外电子排布 ↔ 位置 ↔ 单质及化合"/>
          <p:cNvSpPr txBox="1"/>
          <p:nvPr/>
        </p:nvSpPr>
        <p:spPr>
          <a:xfrm>
            <a:off x="722376" y="426415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推断路径：核外电子排布 ↔ 位置 ↔ 单质及化合物性质，三者互相推导。</a:t>
            </a:r>
          </a:p>
        </p:txBody>
      </p:sp>
      <p:sp>
        <p:nvSpPr>
          <p:cNvPr id="14" name="Rectangle 13"/>
          <p:cNvSpPr/>
          <p:nvPr/>
        </p:nvSpPr>
        <p:spPr>
          <a:xfrm>
            <a:off x="512064" y="492861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特例：¹H 无中子；第一周期从 H 开始；石墨导"/>
          <p:cNvSpPr txBox="1"/>
          <p:nvPr/>
        </p:nvSpPr>
        <p:spPr>
          <a:xfrm>
            <a:off x="722376" y="4846320"/>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特例：¹H 无中子；第一周期从 H 开始；石墨导电；NO、CO 不是酸性氧化物</a:t>
            </a:r>
          </a:p>
          <a:p>
            <a:pPr>
              <a:lnSpc>
                <a:spcPct val="112000"/>
              </a:lnSpc>
              <a:spcBef>
                <a:spcPts val="0"/>
              </a:spcBef>
              <a:spcAft>
                <a:spcPts val="0"/>
              </a:spcAft>
              <a:defRPr sz="2400" b="0">
                <a:solidFill>
                  <a:srgbClr val="333333"/>
                </a:solidFill>
                <a:latin typeface="微软雅黑"/>
              </a:defRPr>
            </a:pPr>
            <a:r>
              <a:rPr>
                <a:ea typeface="微软雅黑"/>
              </a:rPr>
              <a:t>；F 无正价；NaH 中 H 为 −1 价。</a:t>
            </a:r>
          </a:p>
        </p:txBody>
      </p:sp>
      <p:sp>
        <p:nvSpPr>
          <p:cNvPr id="16" name="Rectangle 15"/>
          <p:cNvSpPr/>
          <p:nvPr/>
        </p:nvSpPr>
        <p:spPr>
          <a:xfrm>
            <a:off x="493776" y="574243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推断题先定位（周期、族），再用递变规律验"/>
          <p:cNvSpPr txBox="1"/>
          <p:nvPr/>
        </p:nvSpPr>
        <p:spPr>
          <a:xfrm>
            <a:off x="630936" y="580186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推断题先定位（周期、族），再用递变规律验证，最后用特例排除。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a:t>
            </a:r>
          </a:p>
        </p:txBody>
      </p:sp>
      <p:sp>
        <p:nvSpPr>
          <p:cNvPr id="5" name="文字_P24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P242</a:t>
            </a:r>
          </a:p>
        </p:txBody>
      </p:sp>
      <p:sp>
        <p:nvSpPr>
          <p:cNvPr id="6" name="文字_下列性质的比较，不能用元素周期律解释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下列性质的比较，不能用元素周期律解释的是</a:t>
            </a:r>
          </a:p>
        </p:txBody>
      </p:sp>
      <p:sp>
        <p:nvSpPr>
          <p:cNvPr id="7" name="文字_A. 非金属性：O&gt;S"/>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非金属性：O&gt;S</a:t>
            </a:r>
          </a:p>
        </p:txBody>
      </p:sp>
      <p:sp>
        <p:nvSpPr>
          <p:cNvPr id="8" name="文字_B. 酸性：HCl&gt;H₂₂S"/>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酸性：HCl&gt;H₂₂S</a:t>
            </a:r>
          </a:p>
        </p:txBody>
      </p:sp>
      <p:sp>
        <p:nvSpPr>
          <p:cNvPr id="9" name="文字_C. 碱性： NaOH&gt;Mg(OH)₂"/>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碱性： NaOH&gt;Mg(OH)₂</a:t>
            </a:r>
          </a:p>
        </p:txBody>
      </p:sp>
      <p:sp>
        <p:nvSpPr>
          <p:cNvPr id="10" name="文字_D. 热稳定性：NH₃&gt;PH₃"/>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热稳定性：NH₃&gt;PH₃</a:t>
            </a:r>
          </a:p>
        </p:txBody>
      </p:sp>
      <p:sp>
        <p:nvSpPr>
          <p:cNvPr id="11" name="文字_单选题  ·  11-04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11-046</a:t>
            </a:r>
          </a:p>
        </p:txBody>
      </p:sp>
      <p:sp>
        <p:nvSpPr>
          <p:cNvPr id="12" name="文字_6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例题2</a:t>
            </a:r>
          </a:p>
        </p:txBody>
      </p:sp>
      <p:sp>
        <p:nvSpPr>
          <p:cNvPr id="5" name="文字_P24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P242</a:t>
            </a:r>
          </a:p>
        </p:txBody>
      </p:sp>
      <p:sp>
        <p:nvSpPr>
          <p:cNvPr id="6" name="文字_能用于比较硫、氯两种元素非金属性强弱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能用于比较硫、氯两种元素非金属性强弱的是</a:t>
            </a:r>
          </a:p>
        </p:txBody>
      </p:sp>
      <p:sp>
        <p:nvSpPr>
          <p:cNvPr id="7" name="文字_A. 熔点： S&gt;Cl₂"/>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熔点： S&gt;Cl₂</a:t>
            </a:r>
          </a:p>
        </p:txBody>
      </p:sp>
      <p:sp>
        <p:nvSpPr>
          <p:cNvPr id="8" name="文字_B. 酸性：HCIO&gt;H₂SO₃"/>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酸性：HCIO&gt;H₂SO₃</a:t>
            </a:r>
          </a:p>
        </p:txBody>
      </p:sp>
      <p:sp>
        <p:nvSpPr>
          <p:cNvPr id="9" name="文字_C. 相对原子质量：Cl&gt;S"/>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相对原子质量：Cl&gt;S</a:t>
            </a:r>
          </a:p>
        </p:txBody>
      </p:sp>
      <p:sp>
        <p:nvSpPr>
          <p:cNvPr id="10" name="文字_D. 气态氢化物稳定性：HCl&gt;H₂S"/>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气态氢化物稳定性：HCl&gt;H₂S</a:t>
            </a:r>
          </a:p>
        </p:txBody>
      </p:sp>
      <p:sp>
        <p:nvSpPr>
          <p:cNvPr id="11" name="文字_单选题  ·  11-04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11-047</a:t>
            </a:r>
          </a:p>
        </p:txBody>
      </p:sp>
      <p:sp>
        <p:nvSpPr>
          <p:cNvPr id="12" name="文字_6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例题3</a:t>
            </a:r>
          </a:p>
        </p:txBody>
      </p:sp>
      <p:sp>
        <p:nvSpPr>
          <p:cNvPr id="5" name="文字_P24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P243</a:t>
            </a:r>
          </a:p>
        </p:txBody>
      </p:sp>
      <p:sp>
        <p:nvSpPr>
          <p:cNvPr id="6" name="文字_下列有关性质的比较不能用元素周期律解释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下列有关性质的比较不能用元素周期律解释的是</a:t>
            </a:r>
          </a:p>
        </p:txBody>
      </p:sp>
      <p:sp>
        <p:nvSpPr>
          <p:cNvPr id="7" name="文字_A. 金属性： Na &gt; Mg"/>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金属性： Na &gt; Mg</a:t>
            </a:r>
          </a:p>
        </p:txBody>
      </p:sp>
      <p:sp>
        <p:nvSpPr>
          <p:cNvPr id="8" name="文字_B. 碱性: Mg(OH)2 &gt; Al(OH)3"/>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碱性: Mg(OH)2 &gt; Al(OH)3</a:t>
            </a:r>
          </a:p>
        </p:txBody>
      </p:sp>
      <p:sp>
        <p:nvSpPr>
          <p:cNvPr id="9" name="文字_C. 酸性：HClO₄&gt; HClO"/>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酸性：HClO₄&gt; HClO</a:t>
            </a:r>
          </a:p>
        </p:txBody>
      </p:sp>
      <p:sp>
        <p:nvSpPr>
          <p:cNvPr id="10" name="文字_D. 热稳定性： HCl &gt; HBr"/>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热稳定性： HCl &gt; HBr</a:t>
            </a:r>
          </a:p>
        </p:txBody>
      </p:sp>
      <p:sp>
        <p:nvSpPr>
          <p:cNvPr id="11" name="文字_单选题  ·  11-04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11-048</a:t>
            </a:r>
          </a:p>
        </p:txBody>
      </p:sp>
      <p:sp>
        <p:nvSpPr>
          <p:cNvPr id="12" name="文字_6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例题4</a:t>
            </a:r>
          </a:p>
        </p:txBody>
      </p:sp>
      <p:sp>
        <p:nvSpPr>
          <p:cNvPr id="5" name="文字_P24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P243</a:t>
            </a:r>
          </a:p>
        </p:txBody>
      </p:sp>
      <p:pic>
        <p:nvPicPr>
          <p:cNvPr id="6" name="Picture 5" descr="image.png"/>
          <p:cNvPicPr>
            <a:picLocks noChangeAspect="1"/>
          </p:cNvPicPr>
          <p:nvPr/>
        </p:nvPicPr>
        <p:blipFill>
          <a:blip r:embed="rId3"/>
          <a:stretch>
            <a:fillRect/>
          </a:stretch>
        </p:blipFill>
        <p:spPr>
          <a:xfrm>
            <a:off x="502920" y="1078992"/>
            <a:ext cx="11064240" cy="2771802"/>
          </a:xfrm>
          <a:prstGeom prst="rect">
            <a:avLst/>
          </a:prstGeom>
        </p:spPr>
      </p:pic>
      <p:sp>
        <p:nvSpPr>
          <p:cNvPr id="7" name="原题文字_243_11"/>
          <p:cNvSpPr txBox="1"/>
          <p:nvPr/>
        </p:nvSpPr>
        <p:spPr>
          <a:xfrm>
            <a:off x="594802" y="1087905"/>
            <a:ext cx="565206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根据元素周期律，由下列事实进行归纳推测，推测错误的是</a:t>
            </a:r>
          </a:p>
        </p:txBody>
      </p:sp>
      <p:sp>
        <p:nvSpPr>
          <p:cNvPr id="8" name="原题文字_243_12"/>
          <p:cNvSpPr txBox="1"/>
          <p:nvPr/>
        </p:nvSpPr>
        <p:spPr>
          <a:xfrm>
            <a:off x="602459" y="1470750"/>
            <a:ext cx="1103861"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选项事实</a:t>
            </a:r>
          </a:p>
        </p:txBody>
      </p:sp>
      <p:sp>
        <p:nvSpPr>
          <p:cNvPr id="9" name="原题文字_243_13"/>
          <p:cNvSpPr txBox="1"/>
          <p:nvPr/>
        </p:nvSpPr>
        <p:spPr>
          <a:xfrm>
            <a:off x="5020498" y="1478407"/>
            <a:ext cx="59850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推测</a:t>
            </a:r>
          </a:p>
        </p:txBody>
      </p:sp>
      <p:sp>
        <p:nvSpPr>
          <p:cNvPr id="10" name="原题文字_243_14"/>
          <p:cNvSpPr txBox="1"/>
          <p:nvPr/>
        </p:nvSpPr>
        <p:spPr>
          <a:xfrm>
            <a:off x="625430" y="1953136"/>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A</a:t>
            </a:r>
          </a:p>
        </p:txBody>
      </p:sp>
      <p:sp>
        <p:nvSpPr>
          <p:cNvPr id="11" name="原题文字_243_15"/>
          <p:cNvSpPr txBox="1"/>
          <p:nvPr/>
        </p:nvSpPr>
        <p:spPr>
          <a:xfrm>
            <a:off x="1130786" y="1922508"/>
            <a:ext cx="201503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K比Na与水反应剧烈</a:t>
            </a:r>
          </a:p>
        </p:txBody>
      </p:sp>
      <p:sp>
        <p:nvSpPr>
          <p:cNvPr id="12" name="原题文字_243_16"/>
          <p:cNvSpPr txBox="1"/>
          <p:nvPr/>
        </p:nvSpPr>
        <p:spPr>
          <a:xfrm>
            <a:off x="5066440" y="1937822"/>
            <a:ext cx="1792983"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Cs与水反应更剧烈</a:t>
            </a:r>
          </a:p>
        </p:txBody>
      </p:sp>
      <p:sp>
        <p:nvSpPr>
          <p:cNvPr id="13" name="原题文字_243_17"/>
          <p:cNvSpPr txBox="1"/>
          <p:nvPr/>
        </p:nvSpPr>
        <p:spPr>
          <a:xfrm>
            <a:off x="617773" y="2366609"/>
            <a:ext cx="26925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B</a:t>
            </a:r>
          </a:p>
        </p:txBody>
      </p:sp>
      <p:sp>
        <p:nvSpPr>
          <p:cNvPr id="14" name="原题文字_243_18"/>
          <p:cNvSpPr txBox="1"/>
          <p:nvPr/>
        </p:nvSpPr>
        <p:spPr>
          <a:xfrm>
            <a:off x="1130786" y="2351295"/>
            <a:ext cx="336265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MgSO₄能溶于水，CaSO₄微溶于水</a:t>
            </a:r>
          </a:p>
        </p:txBody>
      </p:sp>
      <p:sp>
        <p:nvSpPr>
          <p:cNvPr id="15" name="原题文字_243_19"/>
          <p:cNvSpPr txBox="1"/>
          <p:nvPr/>
        </p:nvSpPr>
        <p:spPr>
          <a:xfrm>
            <a:off x="5043469" y="2335981"/>
            <a:ext cx="244382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SrSO₄、BaSO₄难溶于水</a:t>
            </a:r>
          </a:p>
        </p:txBody>
      </p:sp>
      <p:sp>
        <p:nvSpPr>
          <p:cNvPr id="16" name="原题文字_243_20"/>
          <p:cNvSpPr txBox="1"/>
          <p:nvPr/>
        </p:nvSpPr>
        <p:spPr>
          <a:xfrm>
            <a:off x="625430" y="2772425"/>
            <a:ext cx="27691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C</a:t>
            </a:r>
          </a:p>
        </p:txBody>
      </p:sp>
      <p:sp>
        <p:nvSpPr>
          <p:cNvPr id="17" name="原题文字_243_21"/>
          <p:cNvSpPr txBox="1"/>
          <p:nvPr/>
        </p:nvSpPr>
        <p:spPr>
          <a:xfrm>
            <a:off x="1130786" y="2757112"/>
            <a:ext cx="381440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HCl在1500℃时分解，HI在230℃时分解</a:t>
            </a:r>
          </a:p>
        </p:txBody>
      </p:sp>
      <p:sp>
        <p:nvSpPr>
          <p:cNvPr id="18" name="原题文字_243_22"/>
          <p:cNvSpPr txBox="1"/>
          <p:nvPr/>
        </p:nvSpPr>
        <p:spPr>
          <a:xfrm>
            <a:off x="5051126" y="2764769"/>
            <a:ext cx="281135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HBr的分解温度介于二者之间</a:t>
            </a:r>
          </a:p>
        </p:txBody>
      </p:sp>
      <p:sp>
        <p:nvSpPr>
          <p:cNvPr id="19" name="原题文字_243_23"/>
          <p:cNvSpPr txBox="1"/>
          <p:nvPr/>
        </p:nvSpPr>
        <p:spPr>
          <a:xfrm>
            <a:off x="617773" y="3178242"/>
            <a:ext cx="284571"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D</a:t>
            </a:r>
          </a:p>
        </p:txBody>
      </p:sp>
      <p:sp>
        <p:nvSpPr>
          <p:cNvPr id="20" name="原题文字_243_24"/>
          <p:cNvSpPr txBox="1"/>
          <p:nvPr/>
        </p:nvSpPr>
        <p:spPr>
          <a:xfrm>
            <a:off x="1130786" y="3155271"/>
            <a:ext cx="2038004"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Si、Ge是半导体材料</a:t>
            </a:r>
          </a:p>
        </p:txBody>
      </p:sp>
      <p:sp>
        <p:nvSpPr>
          <p:cNvPr id="21" name="原题文字_243_25"/>
          <p:cNvSpPr txBox="1"/>
          <p:nvPr/>
        </p:nvSpPr>
        <p:spPr>
          <a:xfrm>
            <a:off x="5051126" y="3147614"/>
            <a:ext cx="225239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Sn和Pb也是半导体材料</a:t>
            </a:r>
          </a:p>
        </p:txBody>
      </p:sp>
      <p:sp>
        <p:nvSpPr>
          <p:cNvPr id="22" name="原题文字_243_26"/>
          <p:cNvSpPr txBox="1"/>
          <p:nvPr/>
        </p:nvSpPr>
        <p:spPr>
          <a:xfrm>
            <a:off x="556518" y="3584058"/>
            <a:ext cx="621475"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A. A</a:t>
            </a:r>
          </a:p>
        </p:txBody>
      </p:sp>
      <p:sp>
        <p:nvSpPr>
          <p:cNvPr id="23" name="原题文字_243_27"/>
          <p:cNvSpPr txBox="1"/>
          <p:nvPr/>
        </p:nvSpPr>
        <p:spPr>
          <a:xfrm>
            <a:off x="3236438" y="3599372"/>
            <a:ext cx="62147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B</a:t>
            </a:r>
          </a:p>
        </p:txBody>
      </p:sp>
      <p:sp>
        <p:nvSpPr>
          <p:cNvPr id="24" name="原题文字_243_28"/>
          <p:cNvSpPr txBox="1"/>
          <p:nvPr/>
        </p:nvSpPr>
        <p:spPr>
          <a:xfrm>
            <a:off x="5924014" y="3576401"/>
            <a:ext cx="63678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C. C</a:t>
            </a:r>
          </a:p>
        </p:txBody>
      </p:sp>
      <p:sp>
        <p:nvSpPr>
          <p:cNvPr id="25" name="原题文字_243_29"/>
          <p:cNvSpPr txBox="1"/>
          <p:nvPr/>
        </p:nvSpPr>
        <p:spPr>
          <a:xfrm>
            <a:off x="8611591" y="3584058"/>
            <a:ext cx="644446"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D. D</a:t>
            </a:r>
          </a:p>
        </p:txBody>
      </p:sp>
      <p:sp>
        <p:nvSpPr>
          <p:cNvPr id="26" name="文字_单选题  ·  11-04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11-049</a:t>
            </a:r>
          </a:p>
        </p:txBody>
      </p:sp>
      <p:sp>
        <p:nvSpPr>
          <p:cNvPr id="27" name="文字_6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例题5</a:t>
            </a:r>
          </a:p>
        </p:txBody>
      </p:sp>
      <p:sp>
        <p:nvSpPr>
          <p:cNvPr id="5" name="文字_P24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P243</a:t>
            </a:r>
          </a:p>
        </p:txBody>
      </p:sp>
      <p:sp>
        <p:nvSpPr>
          <p:cNvPr id="6" name="文字_在元素周期表中，E、G、H、J均为前四周期的主族"/>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在元素周期表中，E、G、H、J均为前四周期的主族元素，其位置如图所示，E、H</a:t>
            </a:r>
          </a:p>
          <a:p>
            <a:pPr>
              <a:lnSpc>
                <a:spcPct val="112000"/>
              </a:lnSpc>
              <a:spcBef>
                <a:spcPts val="0"/>
              </a:spcBef>
              <a:spcAft>
                <a:spcPts val="0"/>
              </a:spcAft>
              <a:defRPr sz="2400" b="0">
                <a:solidFill>
                  <a:srgbClr val="333333"/>
                </a:solidFill>
                <a:latin typeface="微软雅黑"/>
              </a:defRPr>
            </a:pPr>
            <a:r>
              <a:rPr>
                <a:ea typeface="微软雅黑"/>
              </a:rPr>
              <a:t>、J的核外电子总数之和为55，下列说法正确的是</a:t>
            </a:r>
          </a:p>
        </p:txBody>
      </p:sp>
      <p:pic>
        <p:nvPicPr>
          <p:cNvPr id="7" name="Picture 6" descr="image.png"/>
          <p:cNvPicPr>
            <a:picLocks noChangeAspect="1"/>
          </p:cNvPicPr>
          <p:nvPr/>
        </p:nvPicPr>
        <p:blipFill>
          <a:blip r:embed="rId3"/>
          <a:stretch>
            <a:fillRect/>
          </a:stretch>
        </p:blipFill>
        <p:spPr>
          <a:xfrm>
            <a:off x="502920" y="1880616"/>
            <a:ext cx="11064240" cy="2036738"/>
          </a:xfrm>
          <a:prstGeom prst="rect">
            <a:avLst/>
          </a:prstGeom>
        </p:spPr>
      </p:pic>
      <p:sp>
        <p:nvSpPr>
          <p:cNvPr id="8" name="原题文字_243_35"/>
          <p:cNvSpPr txBox="1"/>
          <p:nvPr/>
        </p:nvSpPr>
        <p:spPr>
          <a:xfrm>
            <a:off x="1973047" y="2065638"/>
            <a:ext cx="338169"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E</a:t>
            </a:r>
          </a:p>
        </p:txBody>
      </p:sp>
      <p:sp>
        <p:nvSpPr>
          <p:cNvPr id="9" name="原题文字_243_36"/>
          <p:cNvSpPr txBox="1"/>
          <p:nvPr/>
        </p:nvSpPr>
        <p:spPr>
          <a:xfrm>
            <a:off x="1375808" y="2624592"/>
            <a:ext cx="376454"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H</a:t>
            </a:r>
          </a:p>
        </p:txBody>
      </p:sp>
      <p:sp>
        <p:nvSpPr>
          <p:cNvPr id="10" name="原题文字_243_37"/>
          <p:cNvSpPr txBox="1"/>
          <p:nvPr/>
        </p:nvSpPr>
        <p:spPr>
          <a:xfrm>
            <a:off x="1965390" y="2632249"/>
            <a:ext cx="330512"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G</a:t>
            </a:r>
          </a:p>
        </p:txBody>
      </p:sp>
      <p:sp>
        <p:nvSpPr>
          <p:cNvPr id="11" name="原题文字_243_38"/>
          <p:cNvSpPr txBox="1"/>
          <p:nvPr/>
        </p:nvSpPr>
        <p:spPr>
          <a:xfrm>
            <a:off x="816853" y="3129949"/>
            <a:ext cx="276914"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J</a:t>
            </a:r>
          </a:p>
        </p:txBody>
      </p:sp>
      <p:sp>
        <p:nvSpPr>
          <p:cNvPr id="12" name="原题文字_243_39"/>
          <p:cNvSpPr txBox="1"/>
          <p:nvPr/>
        </p:nvSpPr>
        <p:spPr>
          <a:xfrm>
            <a:off x="594802" y="3612334"/>
            <a:ext cx="335499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H的氧化物对应水化物都是强酸</a:t>
            </a:r>
          </a:p>
        </p:txBody>
      </p:sp>
      <p:sp>
        <p:nvSpPr>
          <p:cNvPr id="13" name="文字_B. E、G气态氢化物的沸点前者更高，所以非金属"/>
          <p:cNvSpPr txBox="1"/>
          <p:nvPr/>
        </p:nvSpPr>
        <p:spPr>
          <a:xfrm>
            <a:off x="502920" y="399050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E、G气态氢化物的沸点前者更高，所以非金属性：E&gt;G</a:t>
            </a:r>
          </a:p>
        </p:txBody>
      </p:sp>
      <p:sp>
        <p:nvSpPr>
          <p:cNvPr id="14" name="文字_C. E、H最高价氧化物对应水化物的酸性，前者更"/>
          <p:cNvSpPr txBox="1"/>
          <p:nvPr/>
        </p:nvSpPr>
        <p:spPr>
          <a:xfrm>
            <a:off x="502920" y="442941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E、H最高价氧化物对应水化物的酸性，前者更强</a:t>
            </a:r>
          </a:p>
        </p:txBody>
      </p:sp>
      <p:sp>
        <p:nvSpPr>
          <p:cNvPr id="15" name="文字_D. 气态氢化物的稳定性：JH₄ &lt; NH₃"/>
          <p:cNvSpPr txBox="1"/>
          <p:nvPr/>
        </p:nvSpPr>
        <p:spPr>
          <a:xfrm>
            <a:off x="502920" y="486833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气态氢化物的稳定性：JH₄ &lt; NH₃</a:t>
            </a:r>
          </a:p>
        </p:txBody>
      </p:sp>
      <p:sp>
        <p:nvSpPr>
          <p:cNvPr id="16" name="文字_单选题  ·  11-05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11-050</a:t>
            </a:r>
          </a:p>
        </p:txBody>
      </p:sp>
      <p:sp>
        <p:nvSpPr>
          <p:cNvPr id="17" name="文字_7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例题6</a:t>
            </a:r>
          </a:p>
        </p:txBody>
      </p:sp>
      <p:sp>
        <p:nvSpPr>
          <p:cNvPr id="5" name="文字_P24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P243</a:t>
            </a:r>
          </a:p>
        </p:txBody>
      </p:sp>
      <p:sp>
        <p:nvSpPr>
          <p:cNvPr id="6" name="文字_四种短周期元素X、Y、Z和M在周期表中的位置如图"/>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四种短周期元素X、Y、Z和M在周期表中的位置如图所示。其中M原子的核外电子</a:t>
            </a:r>
          </a:p>
          <a:p>
            <a:pPr>
              <a:lnSpc>
                <a:spcPct val="112000"/>
              </a:lnSpc>
              <a:spcBef>
                <a:spcPts val="0"/>
              </a:spcBef>
              <a:spcAft>
                <a:spcPts val="0"/>
              </a:spcAft>
              <a:defRPr sz="2400" b="0">
                <a:solidFill>
                  <a:srgbClr val="333333"/>
                </a:solidFill>
                <a:latin typeface="微软雅黑"/>
              </a:defRPr>
            </a:pPr>
            <a:r>
              <a:rPr>
                <a:ea typeface="微软雅黑"/>
              </a:rPr>
              <a:t>数是X原子最外层电子数的4倍。</a:t>
            </a:r>
          </a:p>
        </p:txBody>
      </p:sp>
      <p:sp>
        <p:nvSpPr>
          <p:cNvPr id="7" name="文字_下列说法正确的是"/>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pic>
        <p:nvPicPr>
          <p:cNvPr id="8" name="Picture 7" descr="image.png"/>
          <p:cNvPicPr>
            <a:picLocks noChangeAspect="1"/>
          </p:cNvPicPr>
          <p:nvPr/>
        </p:nvPicPr>
        <p:blipFill>
          <a:blip r:embed="rId3"/>
          <a:stretch>
            <a:fillRect/>
          </a:stretch>
        </p:blipFill>
        <p:spPr>
          <a:xfrm>
            <a:off x="502920" y="2319528"/>
            <a:ext cx="11064240" cy="1263390"/>
          </a:xfrm>
          <a:prstGeom prst="rect">
            <a:avLst/>
          </a:prstGeom>
        </p:spPr>
      </p:pic>
      <p:sp>
        <p:nvSpPr>
          <p:cNvPr id="9" name="原题文字_243_48"/>
          <p:cNvSpPr txBox="1"/>
          <p:nvPr/>
        </p:nvSpPr>
        <p:spPr>
          <a:xfrm>
            <a:off x="694342" y="2443294"/>
            <a:ext cx="361140"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X</a:t>
            </a:r>
          </a:p>
        </p:txBody>
      </p:sp>
      <p:sp>
        <p:nvSpPr>
          <p:cNvPr id="10" name="原题文字_243_49"/>
          <p:cNvSpPr txBox="1"/>
          <p:nvPr/>
        </p:nvSpPr>
        <p:spPr>
          <a:xfrm>
            <a:off x="1551917" y="2443294"/>
            <a:ext cx="322855"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Y</a:t>
            </a:r>
          </a:p>
        </p:txBody>
      </p:sp>
      <p:sp>
        <p:nvSpPr>
          <p:cNvPr id="11" name="原题文字_243_50"/>
          <p:cNvSpPr txBox="1"/>
          <p:nvPr/>
        </p:nvSpPr>
        <p:spPr>
          <a:xfrm>
            <a:off x="701999" y="2872081"/>
            <a:ext cx="330512"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Z</a:t>
            </a:r>
          </a:p>
        </p:txBody>
      </p:sp>
      <p:sp>
        <p:nvSpPr>
          <p:cNvPr id="12" name="原题文字_243_51"/>
          <p:cNvSpPr txBox="1"/>
          <p:nvPr/>
        </p:nvSpPr>
        <p:spPr>
          <a:xfrm>
            <a:off x="1513632" y="2879738"/>
            <a:ext cx="391768"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M</a:t>
            </a:r>
          </a:p>
        </p:txBody>
      </p:sp>
      <p:sp>
        <p:nvSpPr>
          <p:cNvPr id="13" name="原题文字_243_52"/>
          <p:cNvSpPr txBox="1"/>
          <p:nvPr/>
        </p:nvSpPr>
        <p:spPr>
          <a:xfrm>
            <a:off x="594802" y="3300869"/>
            <a:ext cx="210691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 最高正价：Y &gt; X</a:t>
            </a:r>
          </a:p>
        </p:txBody>
      </p:sp>
      <p:sp>
        <p:nvSpPr>
          <p:cNvPr id="14" name="文字_B. Y与M能形成原子个数比为3：1的化合物"/>
          <p:cNvSpPr txBox="1"/>
          <p:nvPr/>
        </p:nvSpPr>
        <p:spPr>
          <a:xfrm>
            <a:off x="502920" y="365607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Y与M能形成原子个数比为3：1的化合物</a:t>
            </a:r>
          </a:p>
        </p:txBody>
      </p:sp>
      <p:sp>
        <p:nvSpPr>
          <p:cNvPr id="15" name="文字_C. X、M的最高价氧化物对应水化物的酸性：前者"/>
          <p:cNvSpPr txBox="1"/>
          <p:nvPr/>
        </p:nvSpPr>
        <p:spPr>
          <a:xfrm>
            <a:off x="502920" y="409498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X、M的最高价氧化物对应水化物的酸性：前者&gt;后者</a:t>
            </a:r>
          </a:p>
        </p:txBody>
      </p:sp>
      <p:sp>
        <p:nvSpPr>
          <p:cNvPr id="16" name="文字_D. X的单质可将Z的最高价氧化物还原为Z的单质"/>
          <p:cNvSpPr txBox="1"/>
          <p:nvPr/>
        </p:nvSpPr>
        <p:spPr>
          <a:xfrm>
            <a:off x="502920" y="453389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X的单质可将Z的最高价氧化物还原为Z的单质，可证明非金属性X&gt;Z</a:t>
            </a:r>
          </a:p>
        </p:txBody>
      </p:sp>
      <p:sp>
        <p:nvSpPr>
          <p:cNvPr id="17" name="文字_单选题  ·  11-05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11-051</a:t>
            </a:r>
          </a:p>
        </p:txBody>
      </p:sp>
      <p:sp>
        <p:nvSpPr>
          <p:cNvPr id="18" name="文字_7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例题7</a:t>
            </a:r>
          </a:p>
        </p:txBody>
      </p:sp>
      <p:sp>
        <p:nvSpPr>
          <p:cNvPr id="5" name="文字_P24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P244</a:t>
            </a:r>
          </a:p>
        </p:txBody>
      </p:sp>
      <p:pic>
        <p:nvPicPr>
          <p:cNvPr id="6" name="Picture 5" descr="image.png"/>
          <p:cNvPicPr>
            <a:picLocks noChangeAspect="1"/>
          </p:cNvPicPr>
          <p:nvPr/>
        </p:nvPicPr>
        <p:blipFill>
          <a:blip r:embed="rId3"/>
          <a:stretch>
            <a:fillRect/>
          </a:stretch>
        </p:blipFill>
        <p:spPr>
          <a:xfrm>
            <a:off x="502920" y="1078992"/>
            <a:ext cx="11064240" cy="2052052"/>
          </a:xfrm>
          <a:prstGeom prst="rect">
            <a:avLst/>
          </a:prstGeom>
        </p:spPr>
      </p:pic>
      <p:sp>
        <p:nvSpPr>
          <p:cNvPr id="7" name="原题文字_244_3"/>
          <p:cNvSpPr txBox="1"/>
          <p:nvPr/>
        </p:nvSpPr>
        <p:spPr>
          <a:xfrm>
            <a:off x="602459" y="1087905"/>
            <a:ext cx="466432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几种短周期元素的原子半径及主要化合价见下表：</a:t>
            </a:r>
          </a:p>
        </p:txBody>
      </p:sp>
      <p:sp>
        <p:nvSpPr>
          <p:cNvPr id="8" name="原题文字_244_4"/>
          <p:cNvSpPr txBox="1"/>
          <p:nvPr/>
        </p:nvSpPr>
        <p:spPr>
          <a:xfrm>
            <a:off x="617773" y="1493721"/>
            <a:ext cx="1004321"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元素符号</a:t>
            </a:r>
          </a:p>
        </p:txBody>
      </p:sp>
      <p:sp>
        <p:nvSpPr>
          <p:cNvPr id="9" name="原题文字_244_5"/>
          <p:cNvSpPr txBox="1"/>
          <p:nvPr/>
        </p:nvSpPr>
        <p:spPr>
          <a:xfrm>
            <a:off x="1919448" y="1524349"/>
            <a:ext cx="33051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X</a:t>
            </a:r>
          </a:p>
        </p:txBody>
      </p:sp>
      <p:sp>
        <p:nvSpPr>
          <p:cNvPr id="10" name="原题文字_244_6"/>
          <p:cNvSpPr txBox="1"/>
          <p:nvPr/>
        </p:nvSpPr>
        <p:spPr>
          <a:xfrm>
            <a:off x="2478403" y="1532006"/>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Y</a:t>
            </a:r>
          </a:p>
        </p:txBody>
      </p:sp>
      <p:sp>
        <p:nvSpPr>
          <p:cNvPr id="11" name="原题文字_244_7"/>
          <p:cNvSpPr txBox="1"/>
          <p:nvPr/>
        </p:nvSpPr>
        <p:spPr>
          <a:xfrm>
            <a:off x="2983759" y="1532006"/>
            <a:ext cx="29222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Z</a:t>
            </a:r>
          </a:p>
        </p:txBody>
      </p:sp>
      <p:sp>
        <p:nvSpPr>
          <p:cNvPr id="12" name="原题文字_244_8"/>
          <p:cNvSpPr txBox="1"/>
          <p:nvPr/>
        </p:nvSpPr>
        <p:spPr>
          <a:xfrm>
            <a:off x="4094012" y="1532006"/>
            <a:ext cx="29222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R</a:t>
            </a:r>
          </a:p>
        </p:txBody>
      </p:sp>
      <p:sp>
        <p:nvSpPr>
          <p:cNvPr id="13" name="原题文字_244_9"/>
          <p:cNvSpPr txBox="1"/>
          <p:nvPr/>
        </p:nvSpPr>
        <p:spPr>
          <a:xfrm>
            <a:off x="4637653" y="1524349"/>
            <a:ext cx="26925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T</a:t>
            </a:r>
          </a:p>
        </p:txBody>
      </p:sp>
      <p:sp>
        <p:nvSpPr>
          <p:cNvPr id="14" name="原题文字_244_10"/>
          <p:cNvSpPr txBox="1"/>
          <p:nvPr/>
        </p:nvSpPr>
        <p:spPr>
          <a:xfrm>
            <a:off x="656058" y="1937822"/>
            <a:ext cx="294917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原子半径(nm)0.1600.0890.102</a:t>
            </a:r>
          </a:p>
        </p:txBody>
      </p:sp>
      <p:sp>
        <p:nvSpPr>
          <p:cNvPr id="15" name="原题文字_244_11"/>
          <p:cNvSpPr txBox="1"/>
          <p:nvPr/>
        </p:nvSpPr>
        <p:spPr>
          <a:xfrm>
            <a:off x="4086355" y="1930165"/>
            <a:ext cx="1172773" cy="378251"/>
          </a:xfrm>
          <a:prstGeom prst="rect">
            <a:avLst/>
          </a:prstGeom>
          <a:noFill/>
        </p:spPr>
        <p:txBody>
          <a:bodyPr wrap="none" lIns="0" rIns="0" tIns="0" bIns="0">
            <a:spAutoFit/>
          </a:bodyPr>
          <a:lstStyle/>
          <a:p>
            <a:pPr>
              <a:lnSpc>
                <a:spcPct val="112000"/>
              </a:lnSpc>
              <a:spcBef>
                <a:spcPts val="0"/>
              </a:spcBef>
              <a:spcAft>
                <a:spcPts val="0"/>
              </a:spcAft>
              <a:defRPr sz="1805" b="0">
                <a:solidFill>
                  <a:srgbClr val="333333"/>
                </a:solidFill>
                <a:latin typeface="微软雅黑"/>
              </a:defRPr>
            </a:pPr>
            <a:r>
              <a:rPr>
                <a:ea typeface="微软雅黑"/>
              </a:rPr>
              <a:t>0.1430.074</a:t>
            </a:r>
          </a:p>
        </p:txBody>
      </p:sp>
      <p:sp>
        <p:nvSpPr>
          <p:cNvPr id="16" name="原题文字_244_12"/>
          <p:cNvSpPr txBox="1"/>
          <p:nvPr/>
        </p:nvSpPr>
        <p:spPr>
          <a:xfrm>
            <a:off x="656058" y="2335981"/>
            <a:ext cx="118043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主要化合价</a:t>
            </a:r>
          </a:p>
        </p:txBody>
      </p:sp>
      <p:sp>
        <p:nvSpPr>
          <p:cNvPr id="17" name="原题文字_244_13"/>
          <p:cNvSpPr txBox="1"/>
          <p:nvPr/>
        </p:nvSpPr>
        <p:spPr>
          <a:xfrm>
            <a:off x="1919448" y="2343638"/>
            <a:ext cx="40708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+2</a:t>
            </a:r>
          </a:p>
        </p:txBody>
      </p:sp>
      <p:sp>
        <p:nvSpPr>
          <p:cNvPr id="18" name="原题文字_244_14"/>
          <p:cNvSpPr txBox="1"/>
          <p:nvPr/>
        </p:nvSpPr>
        <p:spPr>
          <a:xfrm>
            <a:off x="2463089" y="2343638"/>
            <a:ext cx="391768"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+2</a:t>
            </a:r>
          </a:p>
        </p:txBody>
      </p:sp>
      <p:sp>
        <p:nvSpPr>
          <p:cNvPr id="19" name="原题文字_244_15"/>
          <p:cNvSpPr txBox="1"/>
          <p:nvPr/>
        </p:nvSpPr>
        <p:spPr>
          <a:xfrm>
            <a:off x="2983759" y="2343638"/>
            <a:ext cx="1486706" cy="378251"/>
          </a:xfrm>
          <a:prstGeom prst="rect">
            <a:avLst/>
          </a:prstGeom>
          <a:noFill/>
        </p:spPr>
        <p:txBody>
          <a:bodyPr wrap="none" lIns="0" rIns="0" tIns="0" bIns="0">
            <a:spAutoFit/>
          </a:bodyPr>
          <a:lstStyle/>
          <a:p>
            <a:pPr>
              <a:lnSpc>
                <a:spcPct val="112000"/>
              </a:lnSpc>
              <a:spcBef>
                <a:spcPts val="0"/>
              </a:spcBef>
              <a:spcAft>
                <a:spcPts val="0"/>
              </a:spcAft>
              <a:defRPr sz="1685" b="0">
                <a:solidFill>
                  <a:srgbClr val="333333"/>
                </a:solidFill>
                <a:latin typeface="微软雅黑"/>
              </a:defRPr>
            </a:pPr>
            <a:r>
              <a:rPr>
                <a:ea typeface="微软雅黑"/>
              </a:rPr>
              <a:t>-2、+4、+6+3</a:t>
            </a:r>
          </a:p>
        </p:txBody>
      </p:sp>
      <p:sp>
        <p:nvSpPr>
          <p:cNvPr id="20" name="原题文字_244_16"/>
          <p:cNvSpPr txBox="1"/>
          <p:nvPr/>
        </p:nvSpPr>
        <p:spPr>
          <a:xfrm>
            <a:off x="4637653" y="2343638"/>
            <a:ext cx="322855"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-2</a:t>
            </a:r>
          </a:p>
        </p:txBody>
      </p:sp>
      <p:sp>
        <p:nvSpPr>
          <p:cNvPr id="21" name="原题文字_244_17"/>
          <p:cNvSpPr txBox="1"/>
          <p:nvPr/>
        </p:nvSpPr>
        <p:spPr>
          <a:xfrm>
            <a:off x="594802" y="2780082"/>
            <a:ext cx="373018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根据表中信息，判断以下说法正确的是</a:t>
            </a:r>
          </a:p>
        </p:txBody>
      </p:sp>
      <p:sp>
        <p:nvSpPr>
          <p:cNvPr id="22" name="文字_A. 单质与稀硫酸反应的剧烈程度：R&gt;Y&gt;X"/>
          <p:cNvSpPr txBox="1"/>
          <p:nvPr/>
        </p:nvSpPr>
        <p:spPr>
          <a:xfrm>
            <a:off x="502920" y="320419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单质与稀硫酸反应的剧烈程度：R&gt;Y&gt;X</a:t>
            </a:r>
          </a:p>
        </p:txBody>
      </p:sp>
      <p:sp>
        <p:nvSpPr>
          <p:cNvPr id="23" name="文字_B. 离子半径: X²⁺&gt;R³⁺&gt;T²⁻"/>
          <p:cNvSpPr txBox="1"/>
          <p:nvPr/>
        </p:nvSpPr>
        <p:spPr>
          <a:xfrm>
            <a:off x="502920" y="364310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离子半径: X²⁺&gt;R³⁺&gt;T²⁻</a:t>
            </a:r>
          </a:p>
        </p:txBody>
      </p:sp>
      <p:sp>
        <p:nvSpPr>
          <p:cNvPr id="24" name="文字_C. 最高价氧化物水化物的碱性：R&gt;X"/>
          <p:cNvSpPr txBox="1"/>
          <p:nvPr/>
        </p:nvSpPr>
        <p:spPr>
          <a:xfrm>
            <a:off x="502920" y="408202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最高价氧化物水化物的碱性：R&gt;X</a:t>
            </a:r>
          </a:p>
        </p:txBody>
      </p:sp>
      <p:sp>
        <p:nvSpPr>
          <p:cNvPr id="25" name="文字_D. 相同条件下，简单气态氢化物的稳定性：T&gt;Z"/>
          <p:cNvSpPr txBox="1"/>
          <p:nvPr/>
        </p:nvSpPr>
        <p:spPr>
          <a:xfrm>
            <a:off x="502920" y="452093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相同条件下，简单气态氢化物的稳定性：T&gt;Z</a:t>
            </a:r>
          </a:p>
        </p:txBody>
      </p:sp>
      <p:sp>
        <p:nvSpPr>
          <p:cNvPr id="26" name="文字_单选题  ·  11-05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11-052</a:t>
            </a:r>
          </a:p>
        </p:txBody>
      </p:sp>
      <p:sp>
        <p:nvSpPr>
          <p:cNvPr id="27" name="文字_7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例题8</a:t>
            </a:r>
          </a:p>
        </p:txBody>
      </p:sp>
      <p:sp>
        <p:nvSpPr>
          <p:cNvPr id="5" name="文字_P24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P244</a:t>
            </a:r>
          </a:p>
        </p:txBody>
      </p:sp>
      <p:sp>
        <p:nvSpPr>
          <p:cNvPr id="6" name="文字_X、Y、Z均为短周期元素，X、Y处于同一周期，X"/>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X、Y、Z均为短周期元素，X、Y处于同一周期，X、Z的最低价离子分别为X²⁻和Z</a:t>
            </a:r>
          </a:p>
          <a:p>
            <a:pPr>
              <a:lnSpc>
                <a:spcPct val="112000"/>
              </a:lnSpc>
              <a:spcBef>
                <a:spcPts val="0"/>
              </a:spcBef>
              <a:spcAft>
                <a:spcPts val="0"/>
              </a:spcAft>
              <a:defRPr sz="2400" b="0">
                <a:solidFill>
                  <a:srgbClr val="333333"/>
                </a:solidFill>
                <a:latin typeface="微软雅黑"/>
              </a:defRPr>
            </a:pPr>
            <a:r>
              <a:rPr>
                <a:ea typeface="微软雅黑"/>
              </a:rPr>
              <a:t>，Y+和Z-具有相同的电子层结构。下列说法正确的是</a:t>
            </a:r>
          </a:p>
        </p:txBody>
      </p:sp>
      <p:sp>
        <p:nvSpPr>
          <p:cNvPr id="7" name="文字_A. 原子序数: X&gt; Y&gt; Z"/>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原子序数: X&gt; Y&gt; Z</a:t>
            </a:r>
          </a:p>
        </p:txBody>
      </p:sp>
      <p:sp>
        <p:nvSpPr>
          <p:cNvPr id="8" name="文字_B. 最高正化合价： X &lt; Y &lt; Z"/>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最高正化合价： X &lt; Y &lt; Z</a:t>
            </a:r>
          </a:p>
        </p:txBody>
      </p:sp>
      <p:sp>
        <p:nvSpPr>
          <p:cNvPr id="9" name="文字_C. 离子半径: X²⁻&gt; Y+&gt; Z-"/>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离子半径: X²⁻&gt; Y+&gt; Z-</a:t>
            </a:r>
          </a:p>
        </p:txBody>
      </p:sp>
      <p:sp>
        <p:nvSpPr>
          <p:cNvPr id="10" name="文字_D. 原子最外层电子数： X&gt; Y&gt; Z"/>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原子最外层电子数： X&gt; Y&gt; Z</a:t>
            </a:r>
          </a:p>
        </p:txBody>
      </p:sp>
      <p:sp>
        <p:nvSpPr>
          <p:cNvPr id="11" name="文字_单选题  ·  11-05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11-053</a:t>
            </a:r>
          </a:p>
        </p:txBody>
      </p:sp>
      <p:sp>
        <p:nvSpPr>
          <p:cNvPr id="12" name="文字_7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例题9</a:t>
            </a:r>
          </a:p>
        </p:txBody>
      </p:sp>
      <p:sp>
        <p:nvSpPr>
          <p:cNvPr id="5" name="文字_P24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P244</a:t>
            </a:r>
          </a:p>
        </p:txBody>
      </p:sp>
      <p:sp>
        <p:nvSpPr>
          <p:cNvPr id="6" name="文字_短周期主族元素X、Y、Z、W、Q的原子序数依次增"/>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短周期主族元素X、Y、Z、W、Q的原子序数依次增大，X与Z形成的气态二元化合</a:t>
            </a:r>
          </a:p>
          <a:p>
            <a:pPr>
              <a:lnSpc>
                <a:spcPct val="112000"/>
              </a:lnSpc>
              <a:spcBef>
                <a:spcPts val="0"/>
              </a:spcBef>
              <a:spcAft>
                <a:spcPts val="0"/>
              </a:spcAft>
              <a:defRPr sz="2400" b="0">
                <a:solidFill>
                  <a:srgbClr val="333333"/>
                </a:solidFill>
                <a:latin typeface="微软雅黑"/>
              </a:defRPr>
            </a:pPr>
            <a:r>
              <a:rPr>
                <a:ea typeface="微软雅黑"/>
              </a:rPr>
              <a:t>物是生产可乐的原料，使可乐具有气泡感，W与z属于同一主族。下列叙述正确的</a:t>
            </a:r>
          </a:p>
          <a:p>
            <a:pPr>
              <a:lnSpc>
                <a:spcPct val="112000"/>
              </a:lnSpc>
              <a:spcBef>
                <a:spcPts val="0"/>
              </a:spcBef>
              <a:spcAft>
                <a:spcPts val="0"/>
              </a:spcAft>
              <a:defRPr sz="2400" b="0">
                <a:solidFill>
                  <a:srgbClr val="333333"/>
                </a:solidFill>
                <a:latin typeface="微软雅黑"/>
              </a:defRPr>
            </a:pPr>
            <a:r>
              <a:rPr>
                <a:ea typeface="微软雅黑"/>
              </a:rPr>
              <a:t>是</a:t>
            </a:r>
          </a:p>
        </p:txBody>
      </p:sp>
      <p:sp>
        <p:nvSpPr>
          <p:cNvPr id="7" name="文字_A. 单质的氧化性：Y &gt; Z"/>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单质的氧化性：Y &gt; Z</a:t>
            </a:r>
          </a:p>
        </p:txBody>
      </p:sp>
      <p:sp>
        <p:nvSpPr>
          <p:cNvPr id="8" name="文字_B. 简单离子半径: W &gt; Y &gt; Z"/>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简单离子半径: W &gt; Y &gt; Z</a:t>
            </a:r>
          </a:p>
        </p:txBody>
      </p:sp>
      <p:sp>
        <p:nvSpPr>
          <p:cNvPr id="9" name="文字_C. 最高价氧化物的水化物的酸性：W &gt; Q"/>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最高价氧化物的水化物的酸性：W &gt; Q</a:t>
            </a:r>
          </a:p>
        </p:txBody>
      </p:sp>
      <p:sp>
        <p:nvSpPr>
          <p:cNvPr id="10" name="文字_D. 氢化物稳定性： Z &gt; Y &gt; X"/>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氢化物稳定性： Z &gt; Y &gt; X</a:t>
            </a:r>
          </a:p>
        </p:txBody>
      </p:sp>
      <p:sp>
        <p:nvSpPr>
          <p:cNvPr id="11" name="文字_单选题  ·  11-05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11-054</a:t>
            </a:r>
          </a:p>
        </p:txBody>
      </p:sp>
      <p:sp>
        <p:nvSpPr>
          <p:cNvPr id="12" name="文字_7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例题10</a:t>
            </a:r>
          </a:p>
        </p:txBody>
      </p:sp>
      <p:sp>
        <p:nvSpPr>
          <p:cNvPr id="5" name="文字_P24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P244</a:t>
            </a:r>
          </a:p>
        </p:txBody>
      </p:sp>
      <p:sp>
        <p:nvSpPr>
          <p:cNvPr id="6" name="文字_W、X、Y、Z是原子序数依次增大的四种短周期主族"/>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W、X、Y、Z是原子序数依次增大的四种短周期主族元素，W是短周期中原子半径</a:t>
            </a:r>
          </a:p>
          <a:p>
            <a:pPr>
              <a:lnSpc>
                <a:spcPct val="112000"/>
              </a:lnSpc>
              <a:spcBef>
                <a:spcPts val="0"/>
              </a:spcBef>
              <a:spcAft>
                <a:spcPts val="0"/>
              </a:spcAft>
              <a:defRPr sz="2400" b="0">
                <a:solidFill>
                  <a:srgbClr val="333333"/>
                </a:solidFill>
                <a:latin typeface="微软雅黑"/>
              </a:defRPr>
            </a:pPr>
            <a:r>
              <a:rPr>
                <a:ea typeface="微软雅黑"/>
              </a:rPr>
              <a:t>最小的元素，X是短周期中金属性最强的元素，Y的最外层电子数是最内层电子数的</a:t>
            </a:r>
          </a:p>
          <a:p>
            <a:pPr>
              <a:lnSpc>
                <a:spcPct val="112000"/>
              </a:lnSpc>
              <a:spcBef>
                <a:spcPts val="0"/>
              </a:spcBef>
              <a:spcAft>
                <a:spcPts val="0"/>
              </a:spcAft>
              <a:defRPr sz="2400" b="0">
                <a:solidFill>
                  <a:srgbClr val="333333"/>
                </a:solidFill>
                <a:latin typeface="微软雅黑"/>
              </a:defRPr>
            </a:pPr>
            <a:r>
              <a:rPr>
                <a:ea typeface="微软雅黑"/>
              </a:rPr>
              <a:t>3倍。下列说法不正确的是</a:t>
            </a:r>
          </a:p>
        </p:txBody>
      </p:sp>
      <p:sp>
        <p:nvSpPr>
          <p:cNvPr id="7" name="文字_A. X可以分别和W、Y、Z形成离子化合物"/>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X可以分别和W、Y、Z形成离子化合物</a:t>
            </a:r>
          </a:p>
        </p:txBody>
      </p:sp>
      <p:sp>
        <p:nvSpPr>
          <p:cNvPr id="8" name="文字_B. X、Y、Z的简单离子半径大小：X&gt; Y&gt; "/>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X、Y、Z的简单离子半径大小：X&gt; Y&gt; Z</a:t>
            </a:r>
          </a:p>
        </p:txBody>
      </p:sp>
      <p:sp>
        <p:nvSpPr>
          <p:cNvPr id="9" name="文字_C. Y的单质可以和X最高价氧化物对应的水化物发"/>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Y的单质可以和X最高价氧化物对应的水化物发生反应</a:t>
            </a:r>
          </a:p>
        </p:txBody>
      </p:sp>
      <p:sp>
        <p:nvSpPr>
          <p:cNvPr id="10" name="文字_D. Z的单质能从Y的氢化物中置换出Y，说明元素"/>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Z的单质能从Y的氢化物中置换出Y，说明元素的非金属性：Z&gt;Y</a:t>
            </a:r>
          </a:p>
        </p:txBody>
      </p:sp>
      <p:sp>
        <p:nvSpPr>
          <p:cNvPr id="11" name="文字_单选题  ·  11-05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11-055</a:t>
            </a:r>
          </a:p>
        </p:txBody>
      </p:sp>
      <p:sp>
        <p:nvSpPr>
          <p:cNvPr id="12" name="文字_7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例题11</a:t>
            </a:r>
          </a:p>
        </p:txBody>
      </p:sp>
      <p:sp>
        <p:nvSpPr>
          <p:cNvPr id="5" name="文字_P24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P245</a:t>
            </a:r>
          </a:p>
        </p:txBody>
      </p:sp>
      <p:sp>
        <p:nvSpPr>
          <p:cNvPr id="6" name="文字_Y、Z、W、Q为短周期主族元素，原子序数依次增大"/>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Y、Z、W、Q为短周期主族元素，原子序数依次增大。Y原子最外层电子数是内层</a:t>
            </a:r>
          </a:p>
          <a:p>
            <a:pPr>
              <a:lnSpc>
                <a:spcPct val="112000"/>
              </a:lnSpc>
              <a:spcBef>
                <a:spcPts val="0"/>
              </a:spcBef>
              <a:spcAft>
                <a:spcPts val="0"/>
              </a:spcAft>
              <a:defRPr sz="2400" b="0">
                <a:solidFill>
                  <a:srgbClr val="333333"/>
                </a:solidFill>
                <a:latin typeface="微软雅黑"/>
              </a:defRPr>
            </a:pPr>
            <a:r>
              <a:rPr>
                <a:ea typeface="微软雅黑"/>
              </a:rPr>
              <a:t>电子数的两倍；Z和Q同族，Z的原子序数是Q的一半；W元素的焰色呈黄色。下列</a:t>
            </a:r>
          </a:p>
          <a:p>
            <a:pPr>
              <a:lnSpc>
                <a:spcPct val="112000"/>
              </a:lnSpc>
              <a:spcBef>
                <a:spcPts val="0"/>
              </a:spcBef>
              <a:spcAft>
                <a:spcPts val="0"/>
              </a:spcAft>
              <a:defRPr sz="2400" b="0">
                <a:solidFill>
                  <a:srgbClr val="333333"/>
                </a:solidFill>
                <a:latin typeface="微软雅黑"/>
              </a:defRPr>
            </a:pPr>
            <a:r>
              <a:rPr>
                <a:ea typeface="微软雅黑"/>
              </a:rPr>
              <a:t>说法错误的是</a:t>
            </a:r>
          </a:p>
        </p:txBody>
      </p:sp>
      <p:sp>
        <p:nvSpPr>
          <p:cNvPr id="7" name="文字_A. 简单离子半径： Q &gt; Z &gt; W"/>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简单离子半径： Q &gt; Z &gt; W</a:t>
            </a:r>
          </a:p>
        </p:txBody>
      </p:sp>
      <p:sp>
        <p:nvSpPr>
          <p:cNvPr id="8" name="文字_B. W和Z形成的常见化合物中阴阳离子个数比为1"/>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W和Z形成的常见化合物中阴阳离子个数比为1:2</a:t>
            </a:r>
          </a:p>
        </p:txBody>
      </p:sp>
      <p:sp>
        <p:nvSpPr>
          <p:cNvPr id="9" name="文字_C. 氢化物的沸点：Y &lt; Z"/>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氢化物的沸点：Y &lt; Z</a:t>
            </a:r>
          </a:p>
        </p:txBody>
      </p:sp>
      <p:sp>
        <p:nvSpPr>
          <p:cNvPr id="10" name="文字_D. Y、Q形成的化合物所含化学键为共价键"/>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Y、Q形成的化合物所含化学键为共价键</a:t>
            </a:r>
          </a:p>
        </p:txBody>
      </p:sp>
      <p:sp>
        <p:nvSpPr>
          <p:cNvPr id="11" name="文字_单选题  ·  11-05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11-056</a:t>
            </a:r>
          </a:p>
        </p:txBody>
      </p:sp>
      <p:sp>
        <p:nvSpPr>
          <p:cNvPr id="12" name="文字_7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例题12</a:t>
            </a:r>
          </a:p>
        </p:txBody>
      </p:sp>
      <p:sp>
        <p:nvSpPr>
          <p:cNvPr id="5" name="文字_P24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P245</a:t>
            </a:r>
          </a:p>
        </p:txBody>
      </p:sp>
      <p:sp>
        <p:nvSpPr>
          <p:cNvPr id="6" name="文字_短周期主族元素X、Y、Z、W的原子序数依次增大，"/>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短周期主族元素X、Y、Z、W的原子序数依次增大，X和Z位于同一主族，Z与冷水</a:t>
            </a:r>
          </a:p>
          <a:p>
            <a:pPr>
              <a:lnSpc>
                <a:spcPct val="112000"/>
              </a:lnSpc>
              <a:spcBef>
                <a:spcPts val="0"/>
              </a:spcBef>
              <a:spcAft>
                <a:spcPts val="0"/>
              </a:spcAft>
              <a:defRPr sz="2400" b="0">
                <a:solidFill>
                  <a:srgbClr val="333333"/>
                </a:solidFill>
                <a:latin typeface="微软雅黑"/>
              </a:defRPr>
            </a:pPr>
            <a:r>
              <a:rPr>
                <a:ea typeface="微软雅黑"/>
              </a:rPr>
              <a:t>反应生成X的单质，X、Y、z的原子序数之和为20，W的最外层电子数比次外层少2</a:t>
            </a:r>
          </a:p>
          <a:p>
            <a:pPr>
              <a:lnSpc>
                <a:spcPct val="112000"/>
              </a:lnSpc>
              <a:spcBef>
                <a:spcPts val="0"/>
              </a:spcBef>
              <a:spcAft>
                <a:spcPts val="0"/>
              </a:spcAft>
              <a:defRPr sz="2400" b="0">
                <a:solidFill>
                  <a:srgbClr val="333333"/>
                </a:solidFill>
                <a:latin typeface="微软雅黑"/>
              </a:defRPr>
            </a:pPr>
            <a:r>
              <a:rPr>
                <a:ea typeface="微软雅黑"/>
              </a:rPr>
              <a:t>个。下列说法正确的是</a:t>
            </a:r>
          </a:p>
        </p:txBody>
      </p:sp>
      <p:sp>
        <p:nvSpPr>
          <p:cNvPr id="7" name="文字_A. Y和X形成的化合物液态时只有水"/>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Y和X形成的化合物液态时只有水</a:t>
            </a:r>
          </a:p>
        </p:txBody>
      </p:sp>
      <p:sp>
        <p:nvSpPr>
          <p:cNvPr id="8" name="文字_B. 简单气态氢化物的稳定性：W&gt;Y"/>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简单气态氢化物的稳定性：W&gt;Y</a:t>
            </a:r>
          </a:p>
        </p:txBody>
      </p:sp>
      <p:sp>
        <p:nvSpPr>
          <p:cNvPr id="9" name="文字_C. 简单离子半径大小：Y&gt;Z"/>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简单离子半径大小：Y&gt;Z</a:t>
            </a:r>
          </a:p>
        </p:txBody>
      </p:sp>
      <p:sp>
        <p:nvSpPr>
          <p:cNvPr id="10" name="文字_D. X和W形成的化合物中，各原子均为8电子稳定"/>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X和W形成的化合物中，各原子均为8电子稳定结构</a:t>
            </a:r>
          </a:p>
        </p:txBody>
      </p:sp>
      <p:sp>
        <p:nvSpPr>
          <p:cNvPr id="11" name="文字_单选题  ·  11-05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11-057</a:t>
            </a:r>
          </a:p>
        </p:txBody>
      </p:sp>
      <p:sp>
        <p:nvSpPr>
          <p:cNvPr id="12" name="文字_7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例题13</a:t>
            </a:r>
          </a:p>
        </p:txBody>
      </p:sp>
      <p:sp>
        <p:nvSpPr>
          <p:cNvPr id="5" name="文字_P24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P245</a:t>
            </a:r>
          </a:p>
        </p:txBody>
      </p:sp>
      <p:sp>
        <p:nvSpPr>
          <p:cNvPr id="6" name="文字_W、X、Y、Z是原子序数依次增大的短周期元素。m"/>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W、X、Y、Z是原子序数依次增大的短周期元素。m、n、p是由这些元素组成的二</a:t>
            </a:r>
          </a:p>
          <a:p>
            <a:pPr>
              <a:lnSpc>
                <a:spcPct val="112000"/>
              </a:lnSpc>
              <a:spcBef>
                <a:spcPts val="0"/>
              </a:spcBef>
              <a:spcAft>
                <a:spcPts val="0"/>
              </a:spcAft>
              <a:defRPr sz="2400" b="0">
                <a:solidFill>
                  <a:srgbClr val="333333"/>
                </a:solidFill>
                <a:latin typeface="微软雅黑"/>
              </a:defRPr>
            </a:pPr>
            <a:r>
              <a:rPr>
                <a:ea typeface="微软雅黑"/>
              </a:rPr>
              <a:t>元化合物，r是元素Y的常见单质，能使带火星的木条复燃，q为一元强碱，q、s的</a:t>
            </a:r>
          </a:p>
          <a:p>
            <a:pPr>
              <a:lnSpc>
                <a:spcPct val="112000"/>
              </a:lnSpc>
              <a:spcBef>
                <a:spcPts val="0"/>
              </a:spcBef>
              <a:spcAft>
                <a:spcPts val="0"/>
              </a:spcAft>
              <a:defRPr sz="2400" b="0">
                <a:solidFill>
                  <a:srgbClr val="333333"/>
                </a:solidFill>
                <a:latin typeface="微软雅黑"/>
              </a:defRPr>
            </a:pPr>
            <a:r>
              <a:rPr>
                <a:ea typeface="微软雅黑"/>
              </a:rPr>
              <a:t>焰色均呈黄色。上述物质的转化关系如图所示。下列说法正确的是</a:t>
            </a:r>
          </a:p>
        </p:txBody>
      </p:sp>
      <p:pic>
        <p:nvPicPr>
          <p:cNvPr id="7" name="Picture 6" descr="image.png"/>
          <p:cNvPicPr>
            <a:picLocks noChangeAspect="1"/>
          </p:cNvPicPr>
          <p:nvPr/>
        </p:nvPicPr>
        <p:blipFill>
          <a:blip r:embed="rId3"/>
          <a:stretch>
            <a:fillRect/>
          </a:stretch>
        </p:blipFill>
        <p:spPr>
          <a:xfrm>
            <a:off x="502920" y="2243328"/>
            <a:ext cx="11064240" cy="2205191"/>
          </a:xfrm>
          <a:prstGeom prst="rect">
            <a:avLst/>
          </a:prstGeom>
        </p:spPr>
      </p:pic>
      <p:sp>
        <p:nvSpPr>
          <p:cNvPr id="8" name="原题文字_245_24"/>
          <p:cNvSpPr txBox="1"/>
          <p:nvPr/>
        </p:nvSpPr>
        <p:spPr>
          <a:xfrm>
            <a:off x="732627" y="2405379"/>
            <a:ext cx="32285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m</a:t>
            </a:r>
          </a:p>
        </p:txBody>
      </p:sp>
      <p:sp>
        <p:nvSpPr>
          <p:cNvPr id="9" name="原题文字_245_25"/>
          <p:cNvSpPr txBox="1"/>
          <p:nvPr/>
        </p:nvSpPr>
        <p:spPr>
          <a:xfrm>
            <a:off x="2539658" y="2413036"/>
            <a:ext cx="269257"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q</a:t>
            </a:r>
          </a:p>
        </p:txBody>
      </p:sp>
      <p:sp>
        <p:nvSpPr>
          <p:cNvPr id="10" name="原题文字_245_26"/>
          <p:cNvSpPr txBox="1"/>
          <p:nvPr/>
        </p:nvSpPr>
        <p:spPr>
          <a:xfrm>
            <a:off x="763255" y="3086844"/>
            <a:ext cx="284571"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n</a:t>
            </a:r>
          </a:p>
        </p:txBody>
      </p:sp>
      <p:sp>
        <p:nvSpPr>
          <p:cNvPr id="11" name="原题文字_245_27"/>
          <p:cNvSpPr txBox="1"/>
          <p:nvPr/>
        </p:nvSpPr>
        <p:spPr>
          <a:xfrm>
            <a:off x="2554972" y="3094501"/>
            <a:ext cx="208002" cy="209033"/>
          </a:xfrm>
          <a:prstGeom prst="rect">
            <a:avLst/>
          </a:prstGeom>
          <a:noFill/>
        </p:spPr>
        <p:txBody>
          <a:bodyPr wrap="none" lIns="0" rIns="0" tIns="0" bIns="0">
            <a:spAutoFit/>
          </a:bodyPr>
          <a:lstStyle/>
          <a:p>
            <a:pPr>
              <a:lnSpc>
                <a:spcPct val="112000"/>
              </a:lnSpc>
              <a:spcBef>
                <a:spcPts val="0"/>
              </a:spcBef>
              <a:spcAft>
                <a:spcPts val="0"/>
              </a:spcAft>
              <a:defRPr sz="1012" b="0">
                <a:solidFill>
                  <a:srgbClr val="333333"/>
                </a:solidFill>
                <a:latin typeface="微软雅黑"/>
              </a:defRPr>
            </a:pPr>
            <a:r>
              <a:rPr>
                <a:ea typeface="微软雅黑"/>
              </a:rPr>
              <a:t>r</a:t>
            </a:r>
          </a:p>
        </p:txBody>
      </p:sp>
      <p:sp>
        <p:nvSpPr>
          <p:cNvPr id="12" name="原题文字_245_28"/>
          <p:cNvSpPr txBox="1"/>
          <p:nvPr/>
        </p:nvSpPr>
        <p:spPr>
          <a:xfrm>
            <a:off x="778568" y="3714711"/>
            <a:ext cx="299885"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p</a:t>
            </a:r>
          </a:p>
        </p:txBody>
      </p:sp>
      <p:sp>
        <p:nvSpPr>
          <p:cNvPr id="13" name="原题文字_245_29"/>
          <p:cNvSpPr txBox="1"/>
          <p:nvPr/>
        </p:nvSpPr>
        <p:spPr>
          <a:xfrm>
            <a:off x="2547315" y="3783623"/>
            <a:ext cx="215659"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S</a:t>
            </a:r>
          </a:p>
        </p:txBody>
      </p:sp>
      <p:sp>
        <p:nvSpPr>
          <p:cNvPr id="14" name="原题文字_245_30"/>
          <p:cNvSpPr txBox="1"/>
          <p:nvPr/>
        </p:nvSpPr>
        <p:spPr>
          <a:xfrm>
            <a:off x="594802" y="4151155"/>
            <a:ext cx="3018089"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原子半径: W &lt; X &lt; Y &lt; Z</a:t>
            </a:r>
          </a:p>
        </p:txBody>
      </p:sp>
      <p:sp>
        <p:nvSpPr>
          <p:cNvPr id="15" name="文字_B. Y的简单氢化物的稳定性比X的弱"/>
          <p:cNvSpPr txBox="1"/>
          <p:nvPr/>
        </p:nvSpPr>
        <p:spPr>
          <a:xfrm>
            <a:off x="502920" y="452167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Y的简单氢化物的稳定性比X的弱</a:t>
            </a:r>
          </a:p>
        </p:txBody>
      </p:sp>
      <p:sp>
        <p:nvSpPr>
          <p:cNvPr id="16" name="文字_C. 元素非金属性：X &lt; Y"/>
          <p:cNvSpPr txBox="1"/>
          <p:nvPr/>
        </p:nvSpPr>
        <p:spPr>
          <a:xfrm>
            <a:off x="502920" y="496058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元素非金属性：X &lt; Y</a:t>
            </a:r>
          </a:p>
        </p:txBody>
      </p:sp>
      <p:sp>
        <p:nvSpPr>
          <p:cNvPr id="17" name="文字_D. 由W、X、Y、Z四种元素只能组成一种化合物"/>
          <p:cNvSpPr txBox="1"/>
          <p:nvPr/>
        </p:nvSpPr>
        <p:spPr>
          <a:xfrm>
            <a:off x="502920" y="539949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由W、X、Y、Z四种元素只能组成一种化合物</a:t>
            </a:r>
          </a:p>
        </p:txBody>
      </p:sp>
      <p:sp>
        <p:nvSpPr>
          <p:cNvPr id="18" name="文字_单选题  ·  11-05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11-058</a:t>
            </a:r>
          </a:p>
        </p:txBody>
      </p:sp>
      <p:sp>
        <p:nvSpPr>
          <p:cNvPr id="19" name="文字_7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例题14</a:t>
            </a:r>
          </a:p>
        </p:txBody>
      </p:sp>
      <p:sp>
        <p:nvSpPr>
          <p:cNvPr id="5" name="文字_P24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P245</a:t>
            </a:r>
          </a:p>
        </p:txBody>
      </p:sp>
      <p:sp>
        <p:nvSpPr>
          <p:cNvPr id="6" name="文字_A、B、C、D、E为五种短周期元素，原子序数依次"/>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A、B、C、D、E为五种短周期元素，原子序数依次递增，A₂和B₂、A₂和C₂均可</a:t>
            </a:r>
          </a:p>
          <a:p>
            <a:pPr>
              <a:lnSpc>
                <a:spcPct val="112000"/>
              </a:lnSpc>
              <a:spcBef>
                <a:spcPts val="0"/>
              </a:spcBef>
              <a:spcAft>
                <a:spcPts val="0"/>
              </a:spcAft>
              <a:defRPr sz="2400" b="0">
                <a:solidFill>
                  <a:srgbClr val="333333"/>
                </a:solidFill>
                <a:latin typeface="微软雅黑"/>
              </a:defRPr>
            </a:pPr>
            <a:r>
              <a:rPr>
                <a:ea typeface="微软雅黑"/>
              </a:rPr>
              <a:t>发生化合反应，且B、C为同周期相邻元素；B₂气体在标准状况下的密度为1.25g/L</a:t>
            </a:r>
          </a:p>
          <a:p>
            <a:pPr>
              <a:lnSpc>
                <a:spcPct val="112000"/>
              </a:lnSpc>
              <a:spcBef>
                <a:spcPts val="0"/>
              </a:spcBef>
              <a:spcAft>
                <a:spcPts val="0"/>
              </a:spcAft>
              <a:defRPr sz="2400" b="0">
                <a:solidFill>
                  <a:srgbClr val="333333"/>
                </a:solidFill>
                <a:latin typeface="微软雅黑"/>
              </a:defRPr>
            </a:pPr>
            <a:r>
              <a:rPr>
                <a:ea typeface="微软雅黑"/>
              </a:rPr>
              <a:t>；D的最外层电子数是3；E原子半径在同周期里是最小的。下列说法正确的是</a:t>
            </a:r>
          </a:p>
        </p:txBody>
      </p:sp>
      <p:sp>
        <p:nvSpPr>
          <p:cNvPr id="7" name="文字_A. 简单离子半径：E&gt;D&gt;C&gt;B"/>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简单离子半径：E&gt;D&gt;C&gt;B</a:t>
            </a:r>
          </a:p>
        </p:txBody>
      </p:sp>
      <p:sp>
        <p:nvSpPr>
          <p:cNvPr id="8" name="文字_B. A和C只能形成一种化合物"/>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A和C只能形成一种化合物</a:t>
            </a:r>
          </a:p>
        </p:txBody>
      </p:sp>
      <p:sp>
        <p:nvSpPr>
          <p:cNvPr id="9" name="文字_C. D的最高价氧化物的水化物不能与E的最高价氧"/>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D的最高价氧化物的水化物不能与E的最高价氧化物的水化物反应</a:t>
            </a:r>
          </a:p>
        </p:txBody>
      </p:sp>
      <p:sp>
        <p:nvSpPr>
          <p:cNvPr id="10" name="文字_D. 由A、B、C形成的化合物，可能是离子化合物"/>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由A、B、C形成的化合物，可能是离子化合物</a:t>
            </a:r>
          </a:p>
        </p:txBody>
      </p:sp>
      <p:sp>
        <p:nvSpPr>
          <p:cNvPr id="11" name="文字_单选题  ·  11-05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11-059</a:t>
            </a:r>
          </a:p>
        </p:txBody>
      </p:sp>
      <p:sp>
        <p:nvSpPr>
          <p:cNvPr id="12" name="文字_7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例题15</a:t>
            </a:r>
          </a:p>
        </p:txBody>
      </p:sp>
      <p:sp>
        <p:nvSpPr>
          <p:cNvPr id="5" name="文字_P24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P246</a:t>
            </a:r>
          </a:p>
        </p:txBody>
      </p:sp>
      <p:sp>
        <p:nvSpPr>
          <p:cNvPr id="6" name="文字_化合物Q是合成抗HIV药物的关键中间体，其结构如"/>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化合物Q是合成抗HIV药物的关键中间体，其结构如图所示。已知X、Y、Z、M、N</a:t>
            </a:r>
          </a:p>
          <a:p>
            <a:pPr>
              <a:lnSpc>
                <a:spcPct val="112000"/>
              </a:lnSpc>
              <a:spcBef>
                <a:spcPts val="0"/>
              </a:spcBef>
              <a:spcAft>
                <a:spcPts val="0"/>
              </a:spcAft>
              <a:defRPr sz="2400" b="0">
                <a:solidFill>
                  <a:srgbClr val="333333"/>
                </a:solidFill>
                <a:latin typeface="微软雅黑"/>
              </a:defRPr>
            </a:pPr>
            <a:r>
              <a:rPr>
                <a:ea typeface="微软雅黑"/>
              </a:rPr>
              <a:t>为原子序数依次增大的前20号主族元素，X、Y、N的最外层电子数之和等于z的最</a:t>
            </a:r>
          </a:p>
          <a:p>
            <a:pPr>
              <a:lnSpc>
                <a:spcPct val="112000"/>
              </a:lnSpc>
              <a:spcBef>
                <a:spcPts val="0"/>
              </a:spcBef>
              <a:spcAft>
                <a:spcPts val="0"/>
              </a:spcAft>
              <a:defRPr sz="2400" b="0">
                <a:solidFill>
                  <a:srgbClr val="333333"/>
                </a:solidFill>
                <a:latin typeface="微软雅黑"/>
              </a:defRPr>
            </a:pPr>
            <a:r>
              <a:rPr>
                <a:ea typeface="微软雅黑"/>
              </a:rPr>
              <a:t>外层电子数，Y元素组成的化合物种类最多，Z、M组成的化合</a:t>
            </a:r>
          </a:p>
        </p:txBody>
      </p:sp>
      <p:pic>
        <p:nvPicPr>
          <p:cNvPr id="7" name="Picture 6" descr="image.png"/>
          <p:cNvPicPr>
            <a:picLocks noChangeAspect="1"/>
          </p:cNvPicPr>
          <p:nvPr/>
        </p:nvPicPr>
        <p:blipFill>
          <a:blip r:embed="rId3"/>
          <a:stretch>
            <a:fillRect/>
          </a:stretch>
        </p:blipFill>
        <p:spPr>
          <a:xfrm>
            <a:off x="502920" y="2243328"/>
            <a:ext cx="11064240" cy="1799374"/>
          </a:xfrm>
          <a:prstGeom prst="rect">
            <a:avLst/>
          </a:prstGeom>
        </p:spPr>
      </p:pic>
      <p:sp>
        <p:nvSpPr>
          <p:cNvPr id="8" name="原题文字_246_5"/>
          <p:cNvSpPr txBox="1"/>
          <p:nvPr/>
        </p:nvSpPr>
        <p:spPr>
          <a:xfrm>
            <a:off x="587146" y="2275211"/>
            <a:ext cx="3737839"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物具有漂白性。下列有关叙述错误的是</a:t>
            </a:r>
          </a:p>
        </p:txBody>
      </p:sp>
      <p:sp>
        <p:nvSpPr>
          <p:cNvPr id="9" name="原题文字_246_6"/>
          <p:cNvSpPr txBox="1"/>
          <p:nvPr/>
        </p:nvSpPr>
        <p:spPr>
          <a:xfrm>
            <a:off x="1582544" y="2604459"/>
            <a:ext cx="322855"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X</a:t>
            </a:r>
          </a:p>
        </p:txBody>
      </p:sp>
      <p:sp>
        <p:nvSpPr>
          <p:cNvPr id="10" name="原题文字_246_7"/>
          <p:cNvSpPr txBox="1"/>
          <p:nvPr/>
        </p:nvSpPr>
        <p:spPr>
          <a:xfrm>
            <a:off x="2026645" y="2581488"/>
            <a:ext cx="315199"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Z</a:t>
            </a:r>
          </a:p>
        </p:txBody>
      </p:sp>
      <p:sp>
        <p:nvSpPr>
          <p:cNvPr id="11" name="原题文字_246_8"/>
          <p:cNvSpPr txBox="1"/>
          <p:nvPr/>
        </p:nvSpPr>
        <p:spPr>
          <a:xfrm>
            <a:off x="2080244" y="2795881"/>
            <a:ext cx="238629"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ⅡI</a:t>
            </a:r>
          </a:p>
        </p:txBody>
      </p:sp>
      <p:sp>
        <p:nvSpPr>
          <p:cNvPr id="12" name="原题文字_246_9"/>
          <p:cNvSpPr txBox="1"/>
          <p:nvPr/>
        </p:nvSpPr>
        <p:spPr>
          <a:xfrm>
            <a:off x="571832" y="2949020"/>
            <a:ext cx="33816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N</a:t>
            </a:r>
          </a:p>
        </p:txBody>
      </p:sp>
      <p:sp>
        <p:nvSpPr>
          <p:cNvPr id="13" name="原题文字_246_10"/>
          <p:cNvSpPr txBox="1"/>
          <p:nvPr/>
        </p:nvSpPr>
        <p:spPr>
          <a:xfrm>
            <a:off x="1084845" y="2994961"/>
            <a:ext cx="175469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X—Y—Y—M</a:t>
            </a:r>
          </a:p>
        </p:txBody>
      </p:sp>
      <p:sp>
        <p:nvSpPr>
          <p:cNvPr id="14" name="原题文字_246_11"/>
          <p:cNvSpPr txBox="1"/>
          <p:nvPr/>
        </p:nvSpPr>
        <p:spPr>
          <a:xfrm>
            <a:off x="1590201" y="3232325"/>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1</a:t>
            </a:r>
          </a:p>
        </p:txBody>
      </p:sp>
      <p:sp>
        <p:nvSpPr>
          <p:cNvPr id="15" name="原题文字_246_12"/>
          <p:cNvSpPr txBox="1"/>
          <p:nvPr/>
        </p:nvSpPr>
        <p:spPr>
          <a:xfrm>
            <a:off x="1567230" y="3469690"/>
            <a:ext cx="33051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X</a:t>
            </a:r>
          </a:p>
        </p:txBody>
      </p:sp>
      <p:sp>
        <p:nvSpPr>
          <p:cNvPr id="16" name="原题文字_246_13"/>
          <p:cNvSpPr txBox="1"/>
          <p:nvPr/>
        </p:nvSpPr>
        <p:spPr>
          <a:xfrm>
            <a:off x="594802" y="3760652"/>
            <a:ext cx="2497419"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 简单离子半径：N&gt; Z</a:t>
            </a:r>
          </a:p>
        </p:txBody>
      </p:sp>
      <p:sp>
        <p:nvSpPr>
          <p:cNvPr id="17" name="文字_B. 简单氢化物的稳定性：Z &gt; M"/>
          <p:cNvSpPr txBox="1"/>
          <p:nvPr/>
        </p:nvSpPr>
        <p:spPr>
          <a:xfrm>
            <a:off x="502920" y="411585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简单氢化物的稳定性：Z &gt; M</a:t>
            </a:r>
          </a:p>
        </p:txBody>
      </p:sp>
      <p:sp>
        <p:nvSpPr>
          <p:cNvPr id="18" name="文字_C. 简单氢化物的还原性：Z &gt; Y"/>
          <p:cNvSpPr txBox="1"/>
          <p:nvPr/>
        </p:nvSpPr>
        <p:spPr>
          <a:xfrm>
            <a:off x="502920" y="455476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简单氢化物的还原性：Z &gt; Y</a:t>
            </a:r>
          </a:p>
        </p:txBody>
      </p:sp>
      <p:sp>
        <p:nvSpPr>
          <p:cNvPr id="19" name="文字_D. 最高价氧化物对应水化物的酸性：M&gt;Y"/>
          <p:cNvSpPr txBox="1"/>
          <p:nvPr/>
        </p:nvSpPr>
        <p:spPr>
          <a:xfrm>
            <a:off x="502920" y="499367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最高价氧化物对应水化物的酸性：M&gt;Y</a:t>
            </a:r>
          </a:p>
        </p:txBody>
      </p:sp>
      <p:sp>
        <p:nvSpPr>
          <p:cNvPr id="20" name="文字_单选题  ·  11-06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11-060</a:t>
            </a:r>
          </a:p>
        </p:txBody>
      </p:sp>
      <p:sp>
        <p:nvSpPr>
          <p:cNvPr id="21" name="文字_8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例题16</a:t>
            </a:r>
          </a:p>
        </p:txBody>
      </p:sp>
      <p:sp>
        <p:nvSpPr>
          <p:cNvPr id="5" name="文字_P24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P246</a:t>
            </a:r>
          </a:p>
        </p:txBody>
      </p:sp>
      <p:sp>
        <p:nvSpPr>
          <p:cNvPr id="6" name="文字_某种化学品的结构如图所示，已知W、X、Y、Z、M"/>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某种化学品的结构如图所示，已知W、X、Y、Z、M均为短周期主族元素，其中W</a:t>
            </a:r>
          </a:p>
          <a:p>
            <a:pPr>
              <a:lnSpc>
                <a:spcPct val="112000"/>
              </a:lnSpc>
              <a:spcBef>
                <a:spcPts val="0"/>
              </a:spcBef>
              <a:spcAft>
                <a:spcPts val="0"/>
              </a:spcAft>
              <a:defRPr sz="2400" b="0">
                <a:solidFill>
                  <a:srgbClr val="333333"/>
                </a:solidFill>
                <a:latin typeface="微软雅黑"/>
              </a:defRPr>
            </a:pPr>
            <a:r>
              <a:rPr>
                <a:ea typeface="微软雅黑"/>
              </a:rPr>
              <a:t>、X、Y在同一周期，Z、M同处另一周期，M的简单阳离子半径是同周期中最小的</a:t>
            </a:r>
          </a:p>
          <a:p>
            <a:pPr>
              <a:lnSpc>
                <a:spcPct val="112000"/>
              </a:lnSpc>
              <a:spcBef>
                <a:spcPts val="0"/>
              </a:spcBef>
              <a:spcAft>
                <a:spcPts val="0"/>
              </a:spcAft>
              <a:defRPr sz="2400" b="0">
                <a:solidFill>
                  <a:srgbClr val="333333"/>
                </a:solidFill>
                <a:latin typeface="微软雅黑"/>
              </a:defRPr>
            </a:pPr>
            <a:r>
              <a:rPr>
                <a:ea typeface="微软雅黑"/>
              </a:rPr>
              <a:t>，则下列说法中正确的是</a:t>
            </a:r>
          </a:p>
        </p:txBody>
      </p:sp>
      <p:pic>
        <p:nvPicPr>
          <p:cNvPr id="7" name="Picture 6" descr="image.png"/>
          <p:cNvPicPr>
            <a:picLocks noChangeAspect="1"/>
          </p:cNvPicPr>
          <p:nvPr/>
        </p:nvPicPr>
        <p:blipFill>
          <a:blip r:embed="rId3"/>
          <a:stretch>
            <a:fillRect/>
          </a:stretch>
        </p:blipFill>
        <p:spPr>
          <a:xfrm>
            <a:off x="502920" y="2243328"/>
            <a:ext cx="11064240" cy="2764145"/>
          </a:xfrm>
          <a:prstGeom prst="rect">
            <a:avLst/>
          </a:prstGeom>
        </p:spPr>
      </p:pic>
      <p:sp>
        <p:nvSpPr>
          <p:cNvPr id="8" name="原题文字_246_22"/>
          <p:cNvSpPr txBox="1"/>
          <p:nvPr/>
        </p:nvSpPr>
        <p:spPr>
          <a:xfrm>
            <a:off x="1720369" y="2336467"/>
            <a:ext cx="32285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W</a:t>
            </a:r>
          </a:p>
        </p:txBody>
      </p:sp>
      <p:sp>
        <p:nvSpPr>
          <p:cNvPr id="9" name="原题文字_246_23"/>
          <p:cNvSpPr txBox="1"/>
          <p:nvPr/>
        </p:nvSpPr>
        <p:spPr>
          <a:xfrm>
            <a:off x="633087" y="2971990"/>
            <a:ext cx="361140"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X</a:t>
            </a:r>
          </a:p>
        </p:txBody>
      </p:sp>
      <p:sp>
        <p:nvSpPr>
          <p:cNvPr id="10" name="原题文字_246_24"/>
          <p:cNvSpPr txBox="1"/>
          <p:nvPr/>
        </p:nvSpPr>
        <p:spPr>
          <a:xfrm>
            <a:off x="1728026" y="2941363"/>
            <a:ext cx="26925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Z</a:t>
            </a:r>
          </a:p>
        </p:txBody>
      </p:sp>
      <p:sp>
        <p:nvSpPr>
          <p:cNvPr id="11" name="原题文字_246_25"/>
          <p:cNvSpPr txBox="1"/>
          <p:nvPr/>
        </p:nvSpPr>
        <p:spPr>
          <a:xfrm>
            <a:off x="2646855" y="3048560"/>
            <a:ext cx="652103" cy="547469"/>
          </a:xfrm>
          <a:prstGeom prst="rect">
            <a:avLst/>
          </a:prstGeom>
          <a:noFill/>
        </p:spPr>
        <p:txBody>
          <a:bodyPr wrap="none" lIns="0" rIns="0" tIns="0" bIns="0">
            <a:spAutoFit/>
          </a:bodyPr>
          <a:lstStyle/>
          <a:p>
            <a:pPr>
              <a:lnSpc>
                <a:spcPct val="112000"/>
              </a:lnSpc>
              <a:spcBef>
                <a:spcPts val="0"/>
              </a:spcBef>
              <a:spcAft>
                <a:spcPts val="0"/>
              </a:spcAft>
              <a:defRPr sz="2441" b="0">
                <a:solidFill>
                  <a:srgbClr val="333333"/>
                </a:solidFill>
                <a:latin typeface="微软雅黑"/>
              </a:defRPr>
            </a:pPr>
            <a:r>
              <a:rPr>
                <a:ea typeface="微软雅黑"/>
              </a:rPr>
              <a:t>M³⁺</a:t>
            </a:r>
          </a:p>
        </p:txBody>
      </p:sp>
      <p:sp>
        <p:nvSpPr>
          <p:cNvPr id="12" name="原题文字_246_26"/>
          <p:cNvSpPr txBox="1"/>
          <p:nvPr/>
        </p:nvSpPr>
        <p:spPr>
          <a:xfrm>
            <a:off x="2172127" y="3285924"/>
            <a:ext cx="376454"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W</a:t>
            </a:r>
          </a:p>
        </p:txBody>
      </p:sp>
      <p:sp>
        <p:nvSpPr>
          <p:cNvPr id="13" name="原题文字_246_27"/>
          <p:cNvSpPr txBox="1"/>
          <p:nvPr/>
        </p:nvSpPr>
        <p:spPr>
          <a:xfrm>
            <a:off x="640744" y="3385464"/>
            <a:ext cx="361140"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X</a:t>
            </a:r>
          </a:p>
        </p:txBody>
      </p:sp>
      <p:sp>
        <p:nvSpPr>
          <p:cNvPr id="14" name="原题文字_246_28"/>
          <p:cNvSpPr txBox="1"/>
          <p:nvPr/>
        </p:nvSpPr>
        <p:spPr>
          <a:xfrm>
            <a:off x="1689741" y="3530945"/>
            <a:ext cx="384111"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W</a:t>
            </a:r>
          </a:p>
        </p:txBody>
      </p:sp>
      <p:sp>
        <p:nvSpPr>
          <p:cNvPr id="15" name="原题文字_246_29"/>
          <p:cNvSpPr txBox="1"/>
          <p:nvPr/>
        </p:nvSpPr>
        <p:spPr>
          <a:xfrm>
            <a:off x="1199699" y="3791280"/>
            <a:ext cx="353483"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X</a:t>
            </a:r>
          </a:p>
        </p:txBody>
      </p:sp>
      <p:sp>
        <p:nvSpPr>
          <p:cNvPr id="16" name="原题文字_246_30"/>
          <p:cNvSpPr txBox="1"/>
          <p:nvPr/>
        </p:nvSpPr>
        <p:spPr>
          <a:xfrm>
            <a:off x="2470746" y="4028644"/>
            <a:ext cx="33051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3</a:t>
            </a:r>
          </a:p>
        </p:txBody>
      </p:sp>
      <p:sp>
        <p:nvSpPr>
          <p:cNvPr id="17" name="原题文字_246_31"/>
          <p:cNvSpPr txBox="1"/>
          <p:nvPr/>
        </p:nvSpPr>
        <p:spPr>
          <a:xfrm>
            <a:off x="587146" y="4311950"/>
            <a:ext cx="388332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A. 简单气态氢化物稳定性：X &lt; W &lt; Z</a:t>
            </a:r>
          </a:p>
        </p:txBody>
      </p:sp>
      <p:sp>
        <p:nvSpPr>
          <p:cNvPr id="18" name="原题文字_246_32"/>
          <p:cNvSpPr txBox="1"/>
          <p:nvPr/>
        </p:nvSpPr>
        <p:spPr>
          <a:xfrm>
            <a:off x="571832" y="4710110"/>
            <a:ext cx="4189597"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该物质中，每个原子都达到8e-稳定结构</a:t>
            </a:r>
          </a:p>
        </p:txBody>
      </p:sp>
      <p:sp>
        <p:nvSpPr>
          <p:cNvPr id="19" name="文字_C. 简单离子半径: Z &gt; W &gt; X &gt; M"/>
          <p:cNvSpPr txBox="1"/>
          <p:nvPr/>
        </p:nvSpPr>
        <p:spPr>
          <a:xfrm>
            <a:off x="502920" y="508062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简单离子半径: Z &gt; W &gt; X &gt; M</a:t>
            </a:r>
          </a:p>
        </p:txBody>
      </p:sp>
      <p:sp>
        <p:nvSpPr>
          <p:cNvPr id="20" name="文字_D. 元素Z所形成的含氧酸都是强电解质"/>
          <p:cNvSpPr txBox="1"/>
          <p:nvPr/>
        </p:nvSpPr>
        <p:spPr>
          <a:xfrm>
            <a:off x="502920" y="551953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元素Z所形成的含氧酸都是强电解质</a:t>
            </a:r>
          </a:p>
        </p:txBody>
      </p:sp>
      <p:sp>
        <p:nvSpPr>
          <p:cNvPr id="21" name="文字_单选题  ·  11-06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11-061</a:t>
            </a:r>
          </a:p>
        </p:txBody>
      </p:sp>
      <p:sp>
        <p:nvSpPr>
          <p:cNvPr id="22" name="文字_8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例题17</a:t>
            </a:r>
          </a:p>
        </p:txBody>
      </p:sp>
      <p:sp>
        <p:nvSpPr>
          <p:cNvPr id="5" name="文字_P24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P246</a:t>
            </a:r>
          </a:p>
        </p:txBody>
      </p:sp>
      <p:sp>
        <p:nvSpPr>
          <p:cNvPr id="6" name="文字_X、Y、Z为原子序数依次增大且小于10的元素，由"/>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X、Y、Z为原子序数依次增大且小于10的元素，由这三种元素组成的化合物M，M</a:t>
            </a:r>
          </a:p>
          <a:p>
            <a:pPr>
              <a:lnSpc>
                <a:spcPct val="112000"/>
              </a:lnSpc>
              <a:spcBef>
                <a:spcPts val="0"/>
              </a:spcBef>
              <a:spcAft>
                <a:spcPts val="0"/>
              </a:spcAft>
              <a:defRPr sz="2400" b="0">
                <a:solidFill>
                  <a:srgbClr val="333333"/>
                </a:solidFill>
                <a:latin typeface="微软雅黑"/>
              </a:defRPr>
            </a:pPr>
            <a:r>
              <a:rPr>
                <a:ea typeface="微软雅黑"/>
              </a:rPr>
              <a:t>是一种高效消毒剂，M的结构如图所示，下列说法不正确的是</a:t>
            </a:r>
          </a:p>
        </p:txBody>
      </p:sp>
      <p:sp>
        <p:nvSpPr>
          <p:cNvPr id="7" name="文字_X Z"/>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X Z</a:t>
            </a:r>
          </a:p>
        </p:txBody>
      </p:sp>
      <p:sp>
        <p:nvSpPr>
          <p:cNvPr id="8" name="文字_1 1"/>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1 1</a:t>
            </a:r>
          </a:p>
        </p:txBody>
      </p:sp>
      <p:sp>
        <p:nvSpPr>
          <p:cNvPr id="9" name="文字_X-Y-Y-Z-Z-X"/>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X-Y-Y-Z-Z-X</a:t>
            </a:r>
          </a:p>
        </p:txBody>
      </p:sp>
      <p:sp>
        <p:nvSpPr>
          <p:cNvPr id="10" name="文字_1"/>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a:t>
            </a:r>
          </a:p>
        </p:txBody>
      </p:sp>
      <p:sp>
        <p:nvSpPr>
          <p:cNvPr id="11" name="文字_X"/>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X</a:t>
            </a:r>
          </a:p>
        </p:txBody>
      </p:sp>
      <p:sp>
        <p:nvSpPr>
          <p:cNvPr id="12" name="文字_A. 原子半径: r (X) &lt; r (Y) &lt;"/>
          <p:cNvSpPr txBox="1"/>
          <p:nvPr/>
        </p:nvSpPr>
        <p:spPr>
          <a:xfrm>
            <a:off x="502920" y="40751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原子半径: r (X) &lt; r (Y) &lt; r (Z)</a:t>
            </a:r>
          </a:p>
        </p:txBody>
      </p:sp>
      <p:sp>
        <p:nvSpPr>
          <p:cNvPr id="13" name="文字_B. 非金属性：Z&gt;Y&gt;X"/>
          <p:cNvSpPr txBox="1"/>
          <p:nvPr/>
        </p:nvSpPr>
        <p:spPr>
          <a:xfrm>
            <a:off x="502920" y="45140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非金属性：Z&gt;Y&gt;X</a:t>
            </a:r>
          </a:p>
        </p:txBody>
      </p:sp>
      <p:sp>
        <p:nvSpPr>
          <p:cNvPr id="14" name="文字_C. 简单氢化物的稳定性：Z&gt;Y"/>
          <p:cNvSpPr txBox="1"/>
          <p:nvPr/>
        </p:nvSpPr>
        <p:spPr>
          <a:xfrm>
            <a:off x="502920" y="49530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简单氢化物的稳定性：Z&gt;Y</a:t>
            </a:r>
          </a:p>
        </p:txBody>
      </p:sp>
      <p:sp>
        <p:nvSpPr>
          <p:cNvPr id="15" name="文字_D. 化合物X₂Z₂也有消毒杀菌的作用"/>
          <p:cNvSpPr txBox="1"/>
          <p:nvPr/>
        </p:nvSpPr>
        <p:spPr>
          <a:xfrm>
            <a:off x="502920" y="53919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化合物X₂Z₂也有消毒杀菌的作用</a:t>
            </a:r>
          </a:p>
        </p:txBody>
      </p:sp>
      <p:sp>
        <p:nvSpPr>
          <p:cNvPr id="16" name="文字_单选题  ·  11-06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11-062</a:t>
            </a:r>
          </a:p>
        </p:txBody>
      </p:sp>
      <p:sp>
        <p:nvSpPr>
          <p:cNvPr id="17" name="文字_8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例题18</a:t>
            </a:r>
          </a:p>
        </p:txBody>
      </p:sp>
      <p:sp>
        <p:nvSpPr>
          <p:cNvPr id="5" name="文字_P24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P247</a:t>
            </a:r>
          </a:p>
        </p:txBody>
      </p:sp>
      <p:sp>
        <p:nvSpPr>
          <p:cNvPr id="6" name="文字_短周期主族元素W、X、Y、Z的原子序数依次增大，"/>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短周期主族元素W、X、Y、Z的原子序数依次增大，X、Z同主族，这四种元素与C</a:t>
            </a:r>
          </a:p>
          <a:p>
            <a:pPr>
              <a:lnSpc>
                <a:spcPct val="112000"/>
              </a:lnSpc>
              <a:spcBef>
                <a:spcPts val="0"/>
              </a:spcBef>
              <a:spcAft>
                <a:spcPts val="0"/>
              </a:spcAft>
              <a:defRPr sz="2400" b="0">
                <a:solidFill>
                  <a:srgbClr val="333333"/>
                </a:solidFill>
                <a:latin typeface="微软雅黑"/>
              </a:defRPr>
            </a:pPr>
            <a:r>
              <a:rPr>
                <a:ea typeface="微软雅黑"/>
              </a:rPr>
              <a:t>、Li形成的某种离子液体的结构</a:t>
            </a:r>
          </a:p>
        </p:txBody>
      </p:sp>
      <p:sp>
        <p:nvSpPr>
          <p:cNvPr id="7" name="文字_X="/>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X=</a:t>
            </a:r>
          </a:p>
        </p:txBody>
      </p:sp>
      <p:sp>
        <p:nvSpPr>
          <p:cNvPr id="8" name="文字_X"/>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X</a:t>
            </a:r>
          </a:p>
        </p:txBody>
      </p:sp>
      <p:sp>
        <p:nvSpPr>
          <p:cNvPr id="9" name="文字_A. 最简单氢化物的热稳定性：W&gt;Y"/>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最简单氢化物的热稳定性：W&gt;Y</a:t>
            </a:r>
          </a:p>
        </p:txBody>
      </p:sp>
      <p:sp>
        <p:nvSpPr>
          <p:cNvPr id="10" name="文字_B. X分别与W、Y、Z形成化合物时，X的化合价"/>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X分别与W、Y、Z形成化合物时，X的化合价相同</a:t>
            </a:r>
          </a:p>
        </p:txBody>
      </p:sp>
      <p:sp>
        <p:nvSpPr>
          <p:cNvPr id="11" name="文字_C. Y单质与水发生置换反应生成X的单质"/>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Y单质与水发生置换反应生成X的单质</a:t>
            </a:r>
          </a:p>
        </p:txBody>
      </p:sp>
      <p:sp>
        <p:nvSpPr>
          <p:cNvPr id="12" name="文字_D. 该离子液体中各原子最外层电子均满足8电子稳"/>
          <p:cNvSpPr txBox="1"/>
          <p:nvPr/>
        </p:nvSpPr>
        <p:spPr>
          <a:xfrm>
            <a:off x="502920" y="407517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该离子液体中各原子最外层电子均满足8电子稳定结构(离子可以看成是带电的原</a:t>
            </a:r>
          </a:p>
          <a:p>
            <a:pPr>
              <a:lnSpc>
                <a:spcPct val="112000"/>
              </a:lnSpc>
              <a:spcBef>
                <a:spcPts val="0"/>
              </a:spcBef>
              <a:spcAft>
                <a:spcPts val="0"/>
              </a:spcAft>
              <a:defRPr sz="2400" b="0">
                <a:solidFill>
                  <a:srgbClr val="333333"/>
                </a:solidFill>
                <a:latin typeface="微软雅黑"/>
              </a:defRPr>
            </a:pPr>
            <a:r>
              <a:rPr>
                <a:ea typeface="微软雅黑"/>
              </a:rPr>
              <a:t>子)</a:t>
            </a:r>
          </a:p>
        </p:txBody>
      </p:sp>
      <p:sp>
        <p:nvSpPr>
          <p:cNvPr id="13" name="文字_单选题  ·  11-06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11-063</a:t>
            </a:r>
          </a:p>
        </p:txBody>
      </p:sp>
      <p:sp>
        <p:nvSpPr>
          <p:cNvPr id="14" name="文字_8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1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例题19</a:t>
            </a:r>
          </a:p>
        </p:txBody>
      </p:sp>
      <p:sp>
        <p:nvSpPr>
          <p:cNvPr id="5" name="文字_P24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P247</a:t>
            </a:r>
          </a:p>
        </p:txBody>
      </p:sp>
      <p:pic>
        <p:nvPicPr>
          <p:cNvPr id="6" name="Picture 5" descr="image.png"/>
          <p:cNvPicPr>
            <a:picLocks noChangeAspect="1"/>
          </p:cNvPicPr>
          <p:nvPr/>
        </p:nvPicPr>
        <p:blipFill>
          <a:blip r:embed="rId3"/>
          <a:stretch>
            <a:fillRect/>
          </a:stretch>
        </p:blipFill>
        <p:spPr>
          <a:xfrm>
            <a:off x="502920" y="1078992"/>
            <a:ext cx="9492155" cy="2049517"/>
          </a:xfrm>
          <a:prstGeom prst="rect">
            <a:avLst/>
          </a:prstGeom>
        </p:spPr>
      </p:pic>
      <p:sp>
        <p:nvSpPr>
          <p:cNvPr id="7" name="原题文字_247_13"/>
          <p:cNvSpPr txBox="1"/>
          <p:nvPr/>
        </p:nvSpPr>
        <p:spPr>
          <a:xfrm>
            <a:off x="588316" y="1092298"/>
            <a:ext cx="5112967" cy="281808"/>
          </a:xfrm>
          <a:prstGeom prst="rect">
            <a:avLst/>
          </a:prstGeom>
          <a:noFill/>
        </p:spPr>
        <p:txBody>
          <a:bodyPr wrap="none" lIns="0" rIns="0" tIns="0" bIns="0">
            <a:spAutoFit/>
          </a:bodyPr>
          <a:lstStyle/>
          <a:p>
            <a:pPr>
              <a:lnSpc>
                <a:spcPct val="112000"/>
              </a:lnSpc>
              <a:spcBef>
                <a:spcPts val="0"/>
              </a:spcBef>
              <a:spcAft>
                <a:spcPts val="0"/>
              </a:spcAft>
              <a:defRPr sz="1365" b="0">
                <a:solidFill>
                  <a:srgbClr val="333333"/>
                </a:solidFill>
                <a:latin typeface="微软雅黑"/>
              </a:defRPr>
            </a:pPr>
            <a:r>
              <a:rPr>
                <a:ea typeface="微软雅黑"/>
              </a:rPr>
              <a:t>下表是元素周期表的一部分。表中所列字母分别代表一种元素。</a:t>
            </a:r>
          </a:p>
        </p:txBody>
      </p:sp>
      <p:sp>
        <p:nvSpPr>
          <p:cNvPr id="8" name="原题文字_247_14"/>
          <p:cNvSpPr txBox="1"/>
          <p:nvPr/>
        </p:nvSpPr>
        <p:spPr>
          <a:xfrm>
            <a:off x="699988" y="1506142"/>
            <a:ext cx="205950" cy="230570"/>
          </a:xfrm>
          <a:prstGeom prst="rect">
            <a:avLst/>
          </a:prstGeom>
          <a:noFill/>
        </p:spPr>
        <p:txBody>
          <a:bodyPr wrap="none" lIns="0" rIns="0" tIns="0" bIns="0">
            <a:spAutoFit/>
          </a:bodyPr>
          <a:lstStyle/>
          <a:p>
            <a:pPr>
              <a:lnSpc>
                <a:spcPct val="112000"/>
              </a:lnSpc>
              <a:spcBef>
                <a:spcPts val="0"/>
              </a:spcBef>
              <a:spcAft>
                <a:spcPts val="0"/>
              </a:spcAft>
              <a:defRPr sz="1117" b="0">
                <a:solidFill>
                  <a:srgbClr val="333333"/>
                </a:solidFill>
                <a:latin typeface="微软雅黑"/>
              </a:defRPr>
            </a:pPr>
            <a:r>
              <a:rPr>
                <a:ea typeface="微软雅黑"/>
              </a:rPr>
              <a:t>a</a:t>
            </a:r>
          </a:p>
        </p:txBody>
      </p:sp>
      <p:sp>
        <p:nvSpPr>
          <p:cNvPr id="9" name="原题文字_247_15"/>
          <p:cNvSpPr txBox="1"/>
          <p:nvPr/>
        </p:nvSpPr>
        <p:spPr>
          <a:xfrm>
            <a:off x="7137575" y="1460160"/>
            <a:ext cx="232226" cy="290348"/>
          </a:xfrm>
          <a:prstGeom prst="rect">
            <a:avLst/>
          </a:prstGeom>
          <a:noFill/>
        </p:spPr>
        <p:txBody>
          <a:bodyPr wrap="none" lIns="0" rIns="0" tIns="0" bIns="0">
            <a:spAutoFit/>
          </a:bodyPr>
          <a:lstStyle/>
          <a:p>
            <a:pPr>
              <a:lnSpc>
                <a:spcPct val="112000"/>
              </a:lnSpc>
              <a:spcBef>
                <a:spcPts val="0"/>
              </a:spcBef>
              <a:spcAft>
                <a:spcPts val="0"/>
              </a:spcAft>
              <a:defRPr sz="1406" b="0">
                <a:solidFill>
                  <a:srgbClr val="333333"/>
                </a:solidFill>
                <a:latin typeface="微软雅黑"/>
              </a:defRPr>
            </a:pPr>
            <a:r>
              <a:rPr>
                <a:ea typeface="微软雅黑"/>
              </a:rPr>
              <a:t>b</a:t>
            </a:r>
          </a:p>
        </p:txBody>
      </p:sp>
      <p:sp>
        <p:nvSpPr>
          <p:cNvPr id="10" name="原题文字_247_16"/>
          <p:cNvSpPr txBox="1"/>
          <p:nvPr/>
        </p:nvSpPr>
        <p:spPr>
          <a:xfrm>
            <a:off x="4509988" y="1867436"/>
            <a:ext cx="173105" cy="204951"/>
          </a:xfrm>
          <a:prstGeom prst="rect">
            <a:avLst/>
          </a:prstGeom>
          <a:noFill/>
        </p:spPr>
        <p:txBody>
          <a:bodyPr wrap="none" lIns="0" rIns="0" tIns="0" bIns="0">
            <a:spAutoFit/>
          </a:bodyPr>
          <a:lstStyle/>
          <a:p>
            <a:pPr>
              <a:lnSpc>
                <a:spcPct val="112000"/>
              </a:lnSpc>
              <a:spcBef>
                <a:spcPts val="0"/>
              </a:spcBef>
              <a:spcAft>
                <a:spcPts val="0"/>
              </a:spcAft>
              <a:defRPr sz="993" b="0">
                <a:solidFill>
                  <a:srgbClr val="333333"/>
                </a:solidFill>
                <a:latin typeface="微软雅黑"/>
              </a:defRPr>
            </a:pPr>
            <a:r>
              <a:rPr>
                <a:ea typeface="微软雅黑"/>
              </a:rPr>
              <a:t>c</a:t>
            </a:r>
          </a:p>
        </p:txBody>
      </p:sp>
      <p:sp>
        <p:nvSpPr>
          <p:cNvPr id="11" name="原题文字_247_17"/>
          <p:cNvSpPr txBox="1"/>
          <p:nvPr/>
        </p:nvSpPr>
        <p:spPr>
          <a:xfrm>
            <a:off x="5074920" y="1834591"/>
            <a:ext cx="212519" cy="256189"/>
          </a:xfrm>
          <a:prstGeom prst="rect">
            <a:avLst/>
          </a:prstGeom>
          <a:noFill/>
        </p:spPr>
        <p:txBody>
          <a:bodyPr wrap="none" lIns="0" rIns="0" tIns="0" bIns="0">
            <a:spAutoFit/>
          </a:bodyPr>
          <a:lstStyle/>
          <a:p>
            <a:pPr>
              <a:lnSpc>
                <a:spcPct val="112000"/>
              </a:lnSpc>
              <a:spcBef>
                <a:spcPts val="0"/>
              </a:spcBef>
              <a:spcAft>
                <a:spcPts val="0"/>
              </a:spcAft>
              <a:defRPr sz="1241" b="0">
                <a:solidFill>
                  <a:srgbClr val="333333"/>
                </a:solidFill>
                <a:latin typeface="微软雅黑"/>
              </a:defRPr>
            </a:pPr>
            <a:r>
              <a:rPr>
                <a:ea typeface="微软雅黑"/>
              </a:rPr>
              <a:t>d</a:t>
            </a:r>
          </a:p>
        </p:txBody>
      </p:sp>
      <p:sp>
        <p:nvSpPr>
          <p:cNvPr id="12" name="原题文字_247_18"/>
          <p:cNvSpPr txBox="1"/>
          <p:nvPr/>
        </p:nvSpPr>
        <p:spPr>
          <a:xfrm>
            <a:off x="5725247" y="1867436"/>
            <a:ext cx="166536" cy="204951"/>
          </a:xfrm>
          <a:prstGeom prst="rect">
            <a:avLst/>
          </a:prstGeom>
          <a:noFill/>
        </p:spPr>
        <p:txBody>
          <a:bodyPr wrap="none" lIns="0" rIns="0" tIns="0" bIns="0">
            <a:spAutoFit/>
          </a:bodyPr>
          <a:lstStyle/>
          <a:p>
            <a:pPr>
              <a:lnSpc>
                <a:spcPct val="112000"/>
              </a:lnSpc>
              <a:spcBef>
                <a:spcPts val="0"/>
              </a:spcBef>
              <a:spcAft>
                <a:spcPts val="0"/>
              </a:spcAft>
              <a:defRPr sz="993" b="0">
                <a:solidFill>
                  <a:srgbClr val="333333"/>
                </a:solidFill>
                <a:latin typeface="微软雅黑"/>
              </a:defRPr>
            </a:pPr>
            <a:r>
              <a:rPr>
                <a:ea typeface="微软雅黑"/>
              </a:rPr>
              <a:t>e</a:t>
            </a:r>
          </a:p>
        </p:txBody>
      </p:sp>
      <p:sp>
        <p:nvSpPr>
          <p:cNvPr id="13" name="原题文字_247_19"/>
          <p:cNvSpPr txBox="1"/>
          <p:nvPr/>
        </p:nvSpPr>
        <p:spPr>
          <a:xfrm>
            <a:off x="6277040" y="1828022"/>
            <a:ext cx="205950" cy="247650"/>
          </a:xfrm>
          <a:prstGeom prst="rect">
            <a:avLst/>
          </a:prstGeom>
          <a:noFill/>
        </p:spPr>
        <p:txBody>
          <a:bodyPr wrap="non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f</a:t>
            </a:r>
          </a:p>
        </p:txBody>
      </p:sp>
      <p:sp>
        <p:nvSpPr>
          <p:cNvPr id="14" name="原题文字_247_20"/>
          <p:cNvSpPr txBox="1"/>
          <p:nvPr/>
        </p:nvSpPr>
        <p:spPr>
          <a:xfrm>
            <a:off x="621161" y="2235298"/>
            <a:ext cx="186243" cy="222031"/>
          </a:xfrm>
          <a:prstGeom prst="rect">
            <a:avLst/>
          </a:prstGeom>
          <a:noFill/>
        </p:spPr>
        <p:txBody>
          <a:bodyPr wrap="none" lIns="0" rIns="0" tIns="0" bIns="0">
            <a:spAutoFit/>
          </a:bodyPr>
          <a:lstStyle/>
          <a:p>
            <a:pPr>
              <a:lnSpc>
                <a:spcPct val="112000"/>
              </a:lnSpc>
              <a:spcBef>
                <a:spcPts val="0"/>
              </a:spcBef>
              <a:spcAft>
                <a:spcPts val="0"/>
              </a:spcAft>
              <a:defRPr sz="1075" b="0">
                <a:solidFill>
                  <a:srgbClr val="333333"/>
                </a:solidFill>
                <a:latin typeface="微软雅黑"/>
              </a:defRPr>
            </a:pPr>
            <a:r>
              <a:rPr>
                <a:ea typeface="微软雅黑"/>
              </a:rPr>
              <a:t>g</a:t>
            </a:r>
          </a:p>
        </p:txBody>
      </p:sp>
      <p:sp>
        <p:nvSpPr>
          <p:cNvPr id="15" name="原题文字_247_21"/>
          <p:cNvSpPr txBox="1"/>
          <p:nvPr/>
        </p:nvSpPr>
        <p:spPr>
          <a:xfrm>
            <a:off x="1652488" y="2182746"/>
            <a:ext cx="245363" cy="281808"/>
          </a:xfrm>
          <a:prstGeom prst="rect">
            <a:avLst/>
          </a:prstGeom>
          <a:noFill/>
        </p:spPr>
        <p:txBody>
          <a:bodyPr wrap="none" lIns="0" rIns="0" tIns="0" bIns="0">
            <a:spAutoFit/>
          </a:bodyPr>
          <a:lstStyle/>
          <a:p>
            <a:pPr>
              <a:lnSpc>
                <a:spcPct val="112000"/>
              </a:lnSpc>
              <a:spcBef>
                <a:spcPts val="0"/>
              </a:spcBef>
              <a:spcAft>
                <a:spcPts val="0"/>
              </a:spcAft>
              <a:defRPr sz="1365" b="0">
                <a:solidFill>
                  <a:srgbClr val="333333"/>
                </a:solidFill>
                <a:latin typeface="微软雅黑"/>
              </a:defRPr>
            </a:pPr>
            <a:r>
              <a:rPr>
                <a:ea typeface="微软雅黑"/>
              </a:rPr>
              <a:t>h</a:t>
            </a:r>
          </a:p>
        </p:txBody>
      </p:sp>
      <p:sp>
        <p:nvSpPr>
          <p:cNvPr id="16" name="原题文字_247_22"/>
          <p:cNvSpPr txBox="1"/>
          <p:nvPr/>
        </p:nvSpPr>
        <p:spPr>
          <a:xfrm>
            <a:off x="5061782" y="2189315"/>
            <a:ext cx="219088" cy="256189"/>
          </a:xfrm>
          <a:prstGeom prst="rect">
            <a:avLst/>
          </a:prstGeom>
          <a:noFill/>
        </p:spPr>
        <p:txBody>
          <a:bodyPr wrap="none" lIns="0" rIns="0" tIns="0" bIns="0">
            <a:spAutoFit/>
          </a:bodyPr>
          <a:lstStyle/>
          <a:p>
            <a:pPr>
              <a:lnSpc>
                <a:spcPct val="112000"/>
              </a:lnSpc>
              <a:spcBef>
                <a:spcPts val="0"/>
              </a:spcBef>
              <a:spcAft>
                <a:spcPts val="0"/>
              </a:spcAft>
              <a:defRPr sz="1241" b="0">
                <a:solidFill>
                  <a:srgbClr val="333333"/>
                </a:solidFill>
                <a:latin typeface="微软雅黑"/>
              </a:defRPr>
            </a:pPr>
            <a:r>
              <a:rPr>
                <a:ea typeface="微软雅黑"/>
              </a:rPr>
              <a:t>k</a:t>
            </a:r>
          </a:p>
        </p:txBody>
      </p:sp>
      <p:sp>
        <p:nvSpPr>
          <p:cNvPr id="17" name="原题文字_247_23"/>
          <p:cNvSpPr txBox="1"/>
          <p:nvPr/>
        </p:nvSpPr>
        <p:spPr>
          <a:xfrm>
            <a:off x="6283609" y="2222160"/>
            <a:ext cx="251932" cy="213491"/>
          </a:xfrm>
          <a:prstGeom prst="rect">
            <a:avLst/>
          </a:prstGeom>
          <a:noFill/>
        </p:spPr>
        <p:txBody>
          <a:bodyPr wrap="none" lIns="0" rIns="0" tIns="0" bIns="0">
            <a:spAutoFit/>
          </a:bodyPr>
          <a:lstStyle/>
          <a:p>
            <a:pPr>
              <a:lnSpc>
                <a:spcPct val="112000"/>
              </a:lnSpc>
              <a:spcBef>
                <a:spcPts val="0"/>
              </a:spcBef>
              <a:spcAft>
                <a:spcPts val="0"/>
              </a:spcAft>
              <a:defRPr sz="1034" b="0">
                <a:solidFill>
                  <a:srgbClr val="333333"/>
                </a:solidFill>
                <a:latin typeface="微软雅黑"/>
              </a:defRPr>
            </a:pPr>
            <a:r>
              <a:rPr>
                <a:ea typeface="微软雅黑"/>
              </a:rPr>
              <a:t>m</a:t>
            </a:r>
          </a:p>
        </p:txBody>
      </p:sp>
      <p:sp>
        <p:nvSpPr>
          <p:cNvPr id="18" name="原题文字_247_24"/>
          <p:cNvSpPr txBox="1"/>
          <p:nvPr/>
        </p:nvSpPr>
        <p:spPr>
          <a:xfrm>
            <a:off x="6277040" y="2563746"/>
            <a:ext cx="212519" cy="230570"/>
          </a:xfrm>
          <a:prstGeom prst="rect">
            <a:avLst/>
          </a:prstGeom>
          <a:noFill/>
        </p:spPr>
        <p:txBody>
          <a:bodyPr wrap="none" lIns="0" rIns="0" tIns="0" bIns="0">
            <a:spAutoFit/>
          </a:bodyPr>
          <a:lstStyle/>
          <a:p>
            <a:pPr>
              <a:lnSpc>
                <a:spcPct val="112000"/>
              </a:lnSpc>
              <a:spcBef>
                <a:spcPts val="0"/>
              </a:spcBef>
              <a:spcAft>
                <a:spcPts val="0"/>
              </a:spcAft>
              <a:defRPr sz="1117" b="0">
                <a:solidFill>
                  <a:srgbClr val="333333"/>
                </a:solidFill>
                <a:latin typeface="微软雅黑"/>
              </a:defRPr>
            </a:pPr>
            <a:r>
              <a:rPr>
                <a:ea typeface="微软雅黑"/>
              </a:rPr>
              <a:t>n</a:t>
            </a:r>
          </a:p>
        </p:txBody>
      </p:sp>
      <p:sp>
        <p:nvSpPr>
          <p:cNvPr id="19" name="原题文字_247_25"/>
          <p:cNvSpPr txBox="1"/>
          <p:nvPr/>
        </p:nvSpPr>
        <p:spPr>
          <a:xfrm>
            <a:off x="588316" y="2885625"/>
            <a:ext cx="1243846" cy="264729"/>
          </a:xfrm>
          <a:prstGeom prst="rect">
            <a:avLst/>
          </a:prstGeom>
          <a:noFill/>
        </p:spPr>
        <p:txBody>
          <a:bodyPr wrap="none" lIns="0" rIns="0" tIns="0" bIns="0">
            <a:spAutoFit/>
          </a:bodyPr>
          <a:lstStyle/>
          <a:p>
            <a:pPr>
              <a:lnSpc>
                <a:spcPct val="112000"/>
              </a:lnSpc>
              <a:spcBef>
                <a:spcPts val="0"/>
              </a:spcBef>
              <a:spcAft>
                <a:spcPts val="0"/>
              </a:spcAft>
              <a:defRPr sz="1282" b="0">
                <a:solidFill>
                  <a:srgbClr val="333333"/>
                </a:solidFill>
                <a:latin typeface="微软雅黑"/>
              </a:defRPr>
            </a:pPr>
            <a:r>
              <a:rPr>
                <a:ea typeface="微软雅黑"/>
              </a:rPr>
              <a:t>回答下列问题：</a:t>
            </a:r>
          </a:p>
        </p:txBody>
      </p:sp>
      <p:sp>
        <p:nvSpPr>
          <p:cNvPr id="20" name="文字_(1) 化学性质最稳定的元素是 ______ 。"/>
          <p:cNvSpPr txBox="1"/>
          <p:nvPr/>
        </p:nvSpPr>
        <p:spPr>
          <a:xfrm>
            <a:off x="502920" y="320166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(1) 化学性质最稳定的元素是 ______ 。(填元素符号)</a:t>
            </a:r>
          </a:p>
        </p:txBody>
      </p:sp>
      <p:sp>
        <p:nvSpPr>
          <p:cNvPr id="21" name="文字_(2) c、d、e、f形成的简单氢化物的稳定性由"/>
          <p:cNvSpPr txBox="1"/>
          <p:nvPr/>
        </p:nvSpPr>
        <p:spPr>
          <a:xfrm>
            <a:off x="502920" y="347598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(2) c、d、e、f形成的简单氢化物的稳定性由强到弱的顺序为 ______ 。(填化学式)</a:t>
            </a:r>
          </a:p>
        </p:txBody>
      </p:sp>
      <p:sp>
        <p:nvSpPr>
          <p:cNvPr id="22" name="文字_(3) n与g形成的化合物为 ______ (填"/>
          <p:cNvSpPr txBox="1"/>
          <p:nvPr/>
        </p:nvSpPr>
        <p:spPr>
          <a:xfrm>
            <a:off x="502920" y="375030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(3) n与g形成的化合物为 ______ (填写化学式，下同)，将该化合物进行焰色反应，火焰呈 ______ 色。</a:t>
            </a:r>
          </a:p>
        </p:txBody>
      </p:sp>
      <p:sp>
        <p:nvSpPr>
          <p:cNvPr id="23" name="文字_(4) k、1形成的最高价氧化物的水化物，酸性由"/>
          <p:cNvSpPr txBox="1"/>
          <p:nvPr/>
        </p:nvSpPr>
        <p:spPr>
          <a:xfrm>
            <a:off x="502920" y="402462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(4) k、1形成的最高价氧化物的水化物，酸性由强到弱的顺序为 ______ O</a:t>
            </a:r>
          </a:p>
        </p:txBody>
      </p:sp>
      <p:sp>
        <p:nvSpPr>
          <p:cNvPr id="24" name="文字_(5)g的最高价氧化物对应的水化物与i的最高价氧"/>
          <p:cNvSpPr txBox="1"/>
          <p:nvPr/>
        </p:nvSpPr>
        <p:spPr>
          <a:xfrm>
            <a:off x="502920" y="429894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(5)g的最高价氧化物对应的水化物与i的最高价氧化物对应的水化物反应的离子方程式为</a:t>
            </a:r>
          </a:p>
        </p:txBody>
      </p:sp>
      <p:sp>
        <p:nvSpPr>
          <p:cNvPr id="25" name="文字_(6)某同学欲探究元素性质递变规律与原子结构的关"/>
          <p:cNvSpPr txBox="1"/>
          <p:nvPr/>
        </p:nvSpPr>
        <p:spPr>
          <a:xfrm>
            <a:off x="502920" y="457326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(6)某同学欲探究元素性质递变规律与原子结构的关系，进行如下实验：</a:t>
            </a:r>
          </a:p>
        </p:txBody>
      </p:sp>
      <p:sp>
        <p:nvSpPr>
          <p:cNvPr id="26" name="文字_(实验操作)取已除去氧化膜且面积相等的镁条和铝条"/>
          <p:cNvSpPr txBox="1"/>
          <p:nvPr/>
        </p:nvSpPr>
        <p:spPr>
          <a:xfrm>
            <a:off x="502920" y="484758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(实验操作)取已除去氧化膜且面积相等的镁条和铝条，分别投入2mL₁mol/L盐酸中：</a:t>
            </a:r>
          </a:p>
        </p:txBody>
      </p:sp>
      <p:sp>
        <p:nvSpPr>
          <p:cNvPr id="27" name="文字_(实验现象)镁与酸反应比铝更剧烈;"/>
          <p:cNvSpPr txBox="1"/>
          <p:nvPr/>
        </p:nvSpPr>
        <p:spPr>
          <a:xfrm>
            <a:off x="502920" y="512190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(实验现象)镁与酸反应比铝更剧烈;</a:t>
            </a:r>
          </a:p>
        </p:txBody>
      </p:sp>
      <p:sp>
        <p:nvSpPr>
          <p:cNvPr id="28" name="文字_(实验结论)①金属性：Mg ______ Al("/>
          <p:cNvSpPr txBox="1"/>
          <p:nvPr/>
        </p:nvSpPr>
        <p:spPr>
          <a:xfrm>
            <a:off x="502920" y="539622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(实验结论)①金属性：Mg ______ Al(选填“&gt;”或“&lt;”);</a:t>
            </a:r>
          </a:p>
        </p:txBody>
      </p:sp>
      <p:sp>
        <p:nvSpPr>
          <p:cNvPr id="29" name="文字_(查阅资料)原子半径(nm)Mg-0.160、A"/>
          <p:cNvSpPr txBox="1"/>
          <p:nvPr/>
        </p:nvSpPr>
        <p:spPr>
          <a:xfrm>
            <a:off x="502920" y="567054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(查阅资料)原子半径(nm)Mg-0.160、Al-0.143;</a:t>
            </a:r>
          </a:p>
        </p:txBody>
      </p:sp>
      <p:sp>
        <p:nvSpPr>
          <p:cNvPr id="30" name="文字_(思考)②利用元素周期律对上述实验结论进行解释"/>
          <p:cNvSpPr txBox="1"/>
          <p:nvPr/>
        </p:nvSpPr>
        <p:spPr>
          <a:xfrm>
            <a:off x="502920" y="5944861"/>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(思考)②利用元素周期律对上述实验结论进行解释</a:t>
            </a:r>
          </a:p>
        </p:txBody>
      </p:sp>
      <p:sp>
        <p:nvSpPr>
          <p:cNvPr id="31" name="文字_推断题  ·  11-06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11-064</a:t>
            </a:r>
          </a:p>
        </p:txBody>
      </p:sp>
      <p:sp>
        <p:nvSpPr>
          <p:cNvPr id="32" name="文字_8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例题2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例题20</a:t>
            </a:r>
          </a:p>
        </p:txBody>
      </p:sp>
      <p:sp>
        <p:nvSpPr>
          <p:cNvPr id="5" name="文字_P24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P248</a:t>
            </a:r>
          </a:p>
        </p:txBody>
      </p:sp>
      <p:sp>
        <p:nvSpPr>
          <p:cNvPr id="6" name="文字_A、D、E、W是中学常见的四种元素，原子序数依次"/>
          <p:cNvSpPr txBox="1"/>
          <p:nvPr/>
        </p:nvSpPr>
        <p:spPr>
          <a:xfrm>
            <a:off x="502920" y="1078992"/>
            <a:ext cx="11064240" cy="97027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A、D、E、W是中学常见的四种元素，原子序数依次增大，A的原子最外层电子数是次外层的2倍，</a:t>
            </a:r>
          </a:p>
          <a:p>
            <a:pPr>
              <a:lnSpc>
                <a:spcPct val="112000"/>
              </a:lnSpc>
              <a:spcBef>
                <a:spcPts val="0"/>
              </a:spcBef>
              <a:spcAft>
                <a:spcPts val="0"/>
              </a:spcAft>
              <a:defRPr sz="2000" b="0">
                <a:solidFill>
                  <a:srgbClr val="333333"/>
                </a:solidFill>
                <a:latin typeface="微软雅黑"/>
              </a:defRPr>
            </a:pPr>
            <a:r>
              <a:rPr>
                <a:ea typeface="微软雅黑"/>
              </a:rPr>
              <a:t>D的氧化物属于两性氧化物，D、E位于同周期，A、D、E的原子最外层电子数之和为14，W是人体</a:t>
            </a:r>
          </a:p>
          <a:p>
            <a:pPr>
              <a:lnSpc>
                <a:spcPct val="112000"/>
              </a:lnSpc>
              <a:spcBef>
                <a:spcPts val="0"/>
              </a:spcBef>
              <a:spcAft>
                <a:spcPts val="0"/>
              </a:spcAft>
              <a:defRPr sz="2000" b="0">
                <a:solidFill>
                  <a:srgbClr val="333333"/>
                </a:solidFill>
                <a:latin typeface="微软雅黑"/>
              </a:defRPr>
            </a:pPr>
            <a:r>
              <a:rPr>
                <a:ea typeface="微软雅黑"/>
              </a:rPr>
              <a:t>必需的微量元素，缺乏W会导致贫血症状。</a:t>
            </a:r>
          </a:p>
        </p:txBody>
      </p:sp>
      <p:sp>
        <p:nvSpPr>
          <p:cNvPr id="7" name="文字_(1) A在元素周期表中的位置是 ______ "/>
          <p:cNvSpPr txBox="1"/>
          <p:nvPr/>
        </p:nvSpPr>
        <p:spPr>
          <a:xfrm>
            <a:off x="502920" y="2049271"/>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(1) A在元素周期表中的位置是 ______ o</a:t>
            </a:r>
          </a:p>
        </p:txBody>
      </p:sp>
      <p:sp>
        <p:nvSpPr>
          <p:cNvPr id="8" name="文字_(2)上述元素最高价氧化物对应的水化物酸性最强的"/>
          <p:cNvSpPr txBox="1"/>
          <p:nvPr/>
        </p:nvSpPr>
        <p:spPr>
          <a:xfrm>
            <a:off x="502920" y="2415031"/>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(2)上述元素最高价氧化物对应的水化物酸性最强的是 ______ (填化学式)。</a:t>
            </a:r>
          </a:p>
        </p:txBody>
      </p:sp>
      <p:sp>
        <p:nvSpPr>
          <p:cNvPr id="9" name="文字_(3)上述A、D、E三种元素原子半径由大到小的顺"/>
          <p:cNvSpPr txBox="1"/>
          <p:nvPr/>
        </p:nvSpPr>
        <p:spPr>
          <a:xfrm>
            <a:off x="502920" y="2780791"/>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(3)上述A、D、E三种元素原子半径由大到小的顺序为 ______ (填元素符号)。</a:t>
            </a:r>
          </a:p>
        </p:txBody>
      </p:sp>
      <p:sp>
        <p:nvSpPr>
          <p:cNvPr id="10" name="文字_(4)下列事实能用元素周期律解释的是 _____"/>
          <p:cNvSpPr txBox="1"/>
          <p:nvPr/>
        </p:nvSpPr>
        <p:spPr>
          <a:xfrm>
            <a:off x="502920" y="3146551"/>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(4)下列事实能用元素周期律解释的是 ______ (填字母序号)。</a:t>
            </a:r>
          </a:p>
        </p:txBody>
      </p:sp>
      <p:sp>
        <p:nvSpPr>
          <p:cNvPr id="11" name="文字_a. D的最高价氧化物对应水化物的碱性弱于Mg("/>
          <p:cNvSpPr txBox="1"/>
          <p:nvPr/>
        </p:nvSpPr>
        <p:spPr>
          <a:xfrm>
            <a:off x="502920" y="3512311"/>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a. D的最高价氧化物对应水化物的碱性弱于Mg(OH)₂</a:t>
            </a:r>
          </a:p>
        </p:txBody>
      </p:sp>
      <p:sp>
        <p:nvSpPr>
          <p:cNvPr id="12" name="文字_b. E的气态氢化物的稳定性小于HF"/>
          <p:cNvSpPr txBox="1"/>
          <p:nvPr/>
        </p:nvSpPr>
        <p:spPr>
          <a:xfrm>
            <a:off x="502920" y="3878071"/>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b. E的气态氢化物的稳定性小于HF</a:t>
            </a:r>
          </a:p>
        </p:txBody>
      </p:sp>
      <p:sp>
        <p:nvSpPr>
          <p:cNvPr id="13" name="文字_c. WE₃的溶液可用于刻蚀铜制的印刷电路板"/>
          <p:cNvSpPr txBox="1"/>
          <p:nvPr/>
        </p:nvSpPr>
        <p:spPr>
          <a:xfrm>
            <a:off x="502920" y="4243832"/>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c. WE₃的溶液可用于刻蚀铜制的印刷电路板</a:t>
            </a:r>
          </a:p>
        </p:txBody>
      </p:sp>
      <p:sp>
        <p:nvSpPr>
          <p:cNvPr id="14" name="文字_(5)工业上用电解法制备D的单质，反应的化学方程"/>
          <p:cNvSpPr txBox="1"/>
          <p:nvPr/>
        </p:nvSpPr>
        <p:spPr>
          <a:xfrm>
            <a:off x="502920" y="4609592"/>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(5)工业上用电解法制备D的单质，反应的化学方程式为</a:t>
            </a:r>
          </a:p>
        </p:txBody>
      </p:sp>
      <p:sp>
        <p:nvSpPr>
          <p:cNvPr id="15" name="文字_(6)家用“管道通”的有效成分是烧碱和D的单质，"/>
          <p:cNvSpPr txBox="1"/>
          <p:nvPr/>
        </p:nvSpPr>
        <p:spPr>
          <a:xfrm>
            <a:off x="502920" y="4975352"/>
            <a:ext cx="11064240" cy="668020"/>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(6)家用“管道通”的有效成分是烧碱和D的单质，使用时需加入一定量的水，此时发生反应的化学</a:t>
            </a:r>
          </a:p>
          <a:p>
            <a:pPr>
              <a:lnSpc>
                <a:spcPct val="112000"/>
              </a:lnSpc>
              <a:spcBef>
                <a:spcPts val="0"/>
              </a:spcBef>
              <a:spcAft>
                <a:spcPts val="0"/>
              </a:spcAft>
              <a:defRPr sz="2000" b="0">
                <a:solidFill>
                  <a:srgbClr val="333333"/>
                </a:solidFill>
                <a:latin typeface="微软雅黑"/>
              </a:defRPr>
            </a:pPr>
            <a:r>
              <a:rPr>
                <a:ea typeface="微软雅黑"/>
              </a:rPr>
              <a:t>方程式为o</a:t>
            </a:r>
          </a:p>
        </p:txBody>
      </p:sp>
      <p:sp>
        <p:nvSpPr>
          <p:cNvPr id="16" name="文字_(7) W的单质可用于处理酸性废水中的NO₃，使"/>
          <p:cNvSpPr txBox="1"/>
          <p:nvPr/>
        </p:nvSpPr>
        <p:spPr>
          <a:xfrm>
            <a:off x="502920" y="5643372"/>
            <a:ext cx="11064240" cy="668020"/>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(7) W的单质可用于处理酸性废水中的NO₃，使其转换为NH，同时生成有磁性的W的氧化物X，再</a:t>
            </a:r>
          </a:p>
          <a:p>
            <a:pPr>
              <a:lnSpc>
                <a:spcPct val="112000"/>
              </a:lnSpc>
              <a:spcBef>
                <a:spcPts val="0"/>
              </a:spcBef>
              <a:spcAft>
                <a:spcPts val="0"/>
              </a:spcAft>
              <a:defRPr sz="2000" b="0">
                <a:solidFill>
                  <a:srgbClr val="333333"/>
                </a:solidFill>
                <a:latin typeface="微软雅黑"/>
              </a:defRPr>
            </a:pPr>
            <a:r>
              <a:rPr>
                <a:ea typeface="微软雅黑"/>
              </a:rPr>
              <a:t>进行后续处理。上述反应的离子方程式为</a:t>
            </a:r>
          </a:p>
        </p:txBody>
      </p:sp>
      <p:sp>
        <p:nvSpPr>
          <p:cNvPr id="17" name="文字_填空题  ·  11-06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11-065</a:t>
            </a:r>
          </a:p>
        </p:txBody>
      </p:sp>
      <p:sp>
        <p:nvSpPr>
          <p:cNvPr id="18" name="文字_8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变式1</a:t>
            </a:r>
          </a:p>
        </p:txBody>
      </p:sp>
      <p:sp>
        <p:nvSpPr>
          <p:cNvPr id="5" name="文字_P24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P248</a:t>
            </a:r>
          </a:p>
        </p:txBody>
      </p:sp>
      <p:sp>
        <p:nvSpPr>
          <p:cNvPr id="6" name="文字_下列叙述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下列叙述正确的是</a:t>
            </a:r>
          </a:p>
        </p:txBody>
      </p:sp>
      <p:sp>
        <p:nvSpPr>
          <p:cNvPr id="7" name="文字_A. 最高正价：P &gt; S &gt; Cl"/>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最高正价：P &gt; S &gt; Cl</a:t>
            </a:r>
          </a:p>
        </p:txBody>
      </p:sp>
      <p:sp>
        <p:nvSpPr>
          <p:cNvPr id="8" name="文字_B. 非金属性：F &gt; N &gt; O"/>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非金属性：F &gt; N &gt; O</a:t>
            </a:r>
          </a:p>
        </p:txBody>
      </p:sp>
      <p:sp>
        <p:nvSpPr>
          <p:cNvPr id="9" name="文字_C. 原子半径: N &gt; P &gt; As"/>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原子半径: N &gt; P &gt; As</a:t>
            </a:r>
          </a:p>
        </p:txBody>
      </p:sp>
      <p:sp>
        <p:nvSpPr>
          <p:cNvPr id="10" name="文字_D. 氧化性: F₂ &gt; Cl₂ &gt; S"/>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氧化性: F₂ &gt; Cl₂ &gt; S</a:t>
            </a:r>
          </a:p>
        </p:txBody>
      </p:sp>
      <p:sp>
        <p:nvSpPr>
          <p:cNvPr id="11" name="文字_单选题  ·  11-06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11-066</a:t>
            </a:r>
          </a:p>
        </p:txBody>
      </p:sp>
      <p:sp>
        <p:nvSpPr>
          <p:cNvPr id="12" name="文字_8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变式2</a:t>
            </a:r>
          </a:p>
        </p:txBody>
      </p:sp>
      <p:sp>
        <p:nvSpPr>
          <p:cNvPr id="5" name="文字_P24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P248</a:t>
            </a:r>
          </a:p>
        </p:txBody>
      </p:sp>
      <p:sp>
        <p:nvSpPr>
          <p:cNvPr id="6" name="文字_化合物Z[R(X₂W₄)Y₃]是常用的有机反应的"/>
          <p:cNvSpPr txBox="1"/>
          <p:nvPr/>
        </p:nvSpPr>
        <p:spPr>
          <a:xfrm>
            <a:off x="502920" y="1078992"/>
            <a:ext cx="11064240" cy="1889759"/>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化合物Z[R(X₂W₄)Y₃]是常用的有机反应的催化剂。W、X、Y、Z、R的原子序数</a:t>
            </a:r>
          </a:p>
          <a:p>
            <a:pPr>
              <a:lnSpc>
                <a:spcPct val="112000"/>
              </a:lnSpc>
              <a:spcBef>
                <a:spcPts val="0"/>
              </a:spcBef>
              <a:spcAft>
                <a:spcPts val="0"/>
              </a:spcAft>
              <a:defRPr sz="2400" b="0">
                <a:solidFill>
                  <a:srgbClr val="333333"/>
                </a:solidFill>
                <a:latin typeface="微软雅黑"/>
              </a:defRPr>
            </a:pPr>
            <a:r>
              <a:rPr>
                <a:ea typeface="微软雅黑"/>
              </a:rPr>
              <a:t>依次增加，W、X、Y、Z为前四个不同周期的主族元素。基态X原子最外层电子数</a:t>
            </a:r>
          </a:p>
          <a:p>
            <a:pPr>
              <a:lnSpc>
                <a:spcPct val="112000"/>
              </a:lnSpc>
              <a:spcBef>
                <a:spcPts val="0"/>
              </a:spcBef>
              <a:spcAft>
                <a:spcPts val="0"/>
              </a:spcAft>
              <a:defRPr sz="2400" b="0">
                <a:solidFill>
                  <a:srgbClr val="333333"/>
                </a:solidFill>
                <a:latin typeface="微软雅黑"/>
              </a:defRPr>
            </a:pPr>
            <a:r>
              <a:rPr>
                <a:ea typeface="微软雅黑"/>
              </a:rPr>
              <a:t>是次外层的2倍，Y是所在周期中最高价氧化物对应水化物酸性最强的，Z的价电子</a:t>
            </a:r>
          </a:p>
          <a:p>
            <a:pPr>
              <a:lnSpc>
                <a:spcPct val="112000"/>
              </a:lnSpc>
              <a:spcBef>
                <a:spcPts val="0"/>
              </a:spcBef>
              <a:spcAft>
                <a:spcPts val="0"/>
              </a:spcAft>
              <a:defRPr sz="2400" b="0">
                <a:solidFill>
                  <a:srgbClr val="333333"/>
                </a:solidFill>
                <a:latin typeface="微软雅黑"/>
              </a:defRPr>
            </a:pPr>
            <a:r>
              <a:rPr>
                <a:ea typeface="微软雅黑"/>
              </a:rPr>
              <a:t>仅占据所在能层1个原子轨道，Z与Y组成1:1的离子化合物。R的价电子排布式为</a:t>
            </a:r>
          </a:p>
          <a:p>
            <a:pPr>
              <a:lnSpc>
                <a:spcPct val="112000"/>
              </a:lnSpc>
              <a:spcBef>
                <a:spcPts val="0"/>
              </a:spcBef>
              <a:spcAft>
                <a:spcPts val="0"/>
              </a:spcAft>
              <a:defRPr sz="2400" b="0">
                <a:solidFill>
                  <a:srgbClr val="333333"/>
                </a:solidFill>
                <a:latin typeface="微软雅黑"/>
              </a:defRPr>
            </a:pPr>
            <a:r>
              <a:rPr>
                <a:ea typeface="微软雅黑"/>
              </a:rPr>
              <a:t>5d96s1，与铁同族。下列说法错误的是</a:t>
            </a:r>
          </a:p>
        </p:txBody>
      </p:sp>
      <p:sp>
        <p:nvSpPr>
          <p:cNvPr id="7" name="文字_A. R位于第6周期第VIII族"/>
          <p:cNvSpPr txBox="1"/>
          <p:nvPr/>
        </p:nvSpPr>
        <p:spPr>
          <a:xfrm>
            <a:off x="502920" y="29687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R位于第6周期第VIII族</a:t>
            </a:r>
          </a:p>
        </p:txBody>
      </p:sp>
      <p:sp>
        <p:nvSpPr>
          <p:cNvPr id="8" name="文字_B. 原子半径: Z &gt; Y &gt; W"/>
          <p:cNvSpPr txBox="1"/>
          <p:nvPr/>
        </p:nvSpPr>
        <p:spPr>
          <a:xfrm>
            <a:off x="502920" y="34076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原子半径: Z &gt; Y &gt; W</a:t>
            </a:r>
          </a:p>
        </p:txBody>
      </p:sp>
      <p:sp>
        <p:nvSpPr>
          <p:cNvPr id="9" name="文字_C. Y的氢化物既有氧化性又有还原性"/>
          <p:cNvSpPr txBox="1"/>
          <p:nvPr/>
        </p:nvSpPr>
        <p:spPr>
          <a:xfrm>
            <a:off x="502920" y="38465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Y的氢化物既有氧化性又有还原性</a:t>
            </a:r>
          </a:p>
        </p:txBody>
      </p:sp>
      <p:sp>
        <p:nvSpPr>
          <p:cNvPr id="10" name="文字_D. z所在周期基态原子的未成对电子数为1的共有"/>
          <p:cNvSpPr txBox="1"/>
          <p:nvPr/>
        </p:nvSpPr>
        <p:spPr>
          <a:xfrm>
            <a:off x="502920" y="42854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z所在周期基态原子的未成对电子数为1的共有4个</a:t>
            </a:r>
          </a:p>
        </p:txBody>
      </p:sp>
      <p:sp>
        <p:nvSpPr>
          <p:cNvPr id="11" name="文字_单选题  ·  11-06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11-067</a:t>
            </a:r>
          </a:p>
        </p:txBody>
      </p:sp>
      <p:sp>
        <p:nvSpPr>
          <p:cNvPr id="12" name="文字_8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变式3</a:t>
            </a:r>
          </a:p>
        </p:txBody>
      </p:sp>
      <p:sp>
        <p:nvSpPr>
          <p:cNvPr id="5" name="文字_P24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P249</a:t>
            </a:r>
          </a:p>
        </p:txBody>
      </p:sp>
      <p:sp>
        <p:nvSpPr>
          <p:cNvPr id="6" name="文字_甲、乙、丙、丁是原子序数依次增大的短周期主族元素"/>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甲、乙、丙、丁是原子序数依次增大的短周期主族元素，甲形成的单质是相同条件</a:t>
            </a:r>
          </a:p>
          <a:p>
            <a:pPr>
              <a:lnSpc>
                <a:spcPct val="112000"/>
              </a:lnSpc>
              <a:spcBef>
                <a:spcPts val="0"/>
              </a:spcBef>
              <a:spcAft>
                <a:spcPts val="0"/>
              </a:spcAft>
              <a:defRPr sz="2400" b="0">
                <a:solidFill>
                  <a:srgbClr val="333333"/>
                </a:solidFill>
                <a:latin typeface="微软雅黑"/>
              </a:defRPr>
            </a:pPr>
            <a:r>
              <a:rPr>
                <a:ea typeface="微软雅黑"/>
              </a:rPr>
              <a:t>下密度最小的气体，乙与丁同主族，乙原子最外层电子数是内层的3倍，丙是地壳</a:t>
            </a:r>
          </a:p>
          <a:p>
            <a:pPr>
              <a:lnSpc>
                <a:spcPct val="112000"/>
              </a:lnSpc>
              <a:spcBef>
                <a:spcPts val="0"/>
              </a:spcBef>
              <a:spcAft>
                <a:spcPts val="0"/>
              </a:spcAft>
              <a:defRPr sz="2400" b="0">
                <a:solidFill>
                  <a:srgbClr val="333333"/>
                </a:solidFill>
                <a:latin typeface="微软雅黑"/>
              </a:defRPr>
            </a:pPr>
            <a:r>
              <a:rPr>
                <a:ea typeface="微软雅黑"/>
              </a:rPr>
              <a:t>中含量最多的金属元素。下列说法不正确的是</a:t>
            </a:r>
          </a:p>
        </p:txBody>
      </p:sp>
      <p:sp>
        <p:nvSpPr>
          <p:cNvPr id="7" name="文字_A. 丙的最高价氧化物对应的水化物为两性氢氧化物"/>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丙的最高价氧化物对应的水化物为两性氢氧化物</a:t>
            </a:r>
          </a:p>
        </p:txBody>
      </p:sp>
      <p:sp>
        <p:nvSpPr>
          <p:cNvPr id="8" name="文字_B. 原子半径大小关系：丙&gt;丁&gt;乙&gt;甲"/>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原子半径大小关系：丙&gt;丁&gt;乙&gt;甲</a:t>
            </a:r>
          </a:p>
        </p:txBody>
      </p:sp>
      <p:sp>
        <p:nvSpPr>
          <p:cNvPr id="9" name="文字_C. 甲、乙之间可形成多种化合物"/>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甲、乙之间可形成多种化合物</a:t>
            </a:r>
          </a:p>
        </p:txBody>
      </p:sp>
      <p:sp>
        <p:nvSpPr>
          <p:cNvPr id="10" name="文字_D. 乙、丁形成的简单氢化物热稳定性：乙&lt;丁"/>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乙、丁形成的简单氢化物热稳定性：乙&lt;丁</a:t>
            </a:r>
          </a:p>
        </p:txBody>
      </p:sp>
      <p:sp>
        <p:nvSpPr>
          <p:cNvPr id="11" name="文字_单选题  ·  11-06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11-068</a:t>
            </a:r>
          </a:p>
        </p:txBody>
      </p:sp>
      <p:sp>
        <p:nvSpPr>
          <p:cNvPr id="12" name="文字_8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变式4</a:t>
            </a:r>
          </a:p>
        </p:txBody>
      </p:sp>
      <p:sp>
        <p:nvSpPr>
          <p:cNvPr id="5" name="文字_P24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P249</a:t>
            </a:r>
          </a:p>
        </p:txBody>
      </p:sp>
      <p:sp>
        <p:nvSpPr>
          <p:cNvPr id="6" name="文字_短周期元素X、Y、Z、W在元素周期表中的相对位置"/>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短周期元素X、Y、Z、W在元素周期表中的相对位置如图所示。已知Y与W的原子</a:t>
            </a:r>
          </a:p>
          <a:p>
            <a:pPr>
              <a:lnSpc>
                <a:spcPct val="112000"/>
              </a:lnSpc>
              <a:spcBef>
                <a:spcPts val="0"/>
              </a:spcBef>
              <a:spcAft>
                <a:spcPts val="0"/>
              </a:spcAft>
              <a:defRPr sz="2400" b="0">
                <a:solidFill>
                  <a:srgbClr val="333333"/>
                </a:solidFill>
                <a:latin typeface="微软雅黑"/>
              </a:defRPr>
            </a:pPr>
            <a:r>
              <a:rPr>
                <a:ea typeface="微软雅黑"/>
              </a:rPr>
              <a:t>序数之和是z的3倍，下列说法正</a:t>
            </a:r>
          </a:p>
        </p:txBody>
      </p:sp>
      <p:pic>
        <p:nvPicPr>
          <p:cNvPr id="7" name="Picture 6" descr="image.png"/>
          <p:cNvPicPr>
            <a:picLocks noChangeAspect="1"/>
          </p:cNvPicPr>
          <p:nvPr/>
        </p:nvPicPr>
        <p:blipFill>
          <a:blip r:embed="rId3"/>
          <a:stretch>
            <a:fillRect/>
          </a:stretch>
        </p:blipFill>
        <p:spPr>
          <a:xfrm>
            <a:off x="502920" y="1880616"/>
            <a:ext cx="11064240" cy="1615608"/>
          </a:xfrm>
          <a:prstGeom prst="rect">
            <a:avLst/>
          </a:prstGeom>
        </p:spPr>
      </p:pic>
      <p:sp>
        <p:nvSpPr>
          <p:cNvPr id="8" name="原题文字_249_13"/>
          <p:cNvSpPr txBox="1"/>
          <p:nvPr/>
        </p:nvSpPr>
        <p:spPr>
          <a:xfrm>
            <a:off x="548861" y="1912499"/>
            <a:ext cx="79758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确的是</a:t>
            </a:r>
          </a:p>
        </p:txBody>
      </p:sp>
      <p:sp>
        <p:nvSpPr>
          <p:cNvPr id="9" name="原题文字_249_14"/>
          <p:cNvSpPr txBox="1"/>
          <p:nvPr/>
        </p:nvSpPr>
        <p:spPr>
          <a:xfrm>
            <a:off x="847481" y="2371914"/>
            <a:ext cx="45302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YZ</a:t>
            </a:r>
          </a:p>
        </p:txBody>
      </p:sp>
      <p:sp>
        <p:nvSpPr>
          <p:cNvPr id="10" name="原题文字_249_15"/>
          <p:cNvSpPr txBox="1"/>
          <p:nvPr/>
        </p:nvSpPr>
        <p:spPr>
          <a:xfrm>
            <a:off x="640744" y="2808358"/>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X</a:t>
            </a:r>
          </a:p>
        </p:txBody>
      </p:sp>
      <p:sp>
        <p:nvSpPr>
          <p:cNvPr id="11" name="原题文字_249_16"/>
          <p:cNvSpPr txBox="1"/>
          <p:nvPr/>
        </p:nvSpPr>
        <p:spPr>
          <a:xfrm>
            <a:off x="1237983" y="2816015"/>
            <a:ext cx="253943"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W</a:t>
            </a:r>
          </a:p>
        </p:txBody>
      </p:sp>
      <p:sp>
        <p:nvSpPr>
          <p:cNvPr id="12" name="原题文字_249_17"/>
          <p:cNvSpPr txBox="1"/>
          <p:nvPr/>
        </p:nvSpPr>
        <p:spPr>
          <a:xfrm>
            <a:off x="594802" y="3198861"/>
            <a:ext cx="343156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与氢气化合由易到难：X&gt;Y&gt;Z</a:t>
            </a:r>
          </a:p>
        </p:txBody>
      </p:sp>
      <p:sp>
        <p:nvSpPr>
          <p:cNvPr id="13" name="文字_B. X的单质不与任何酸碱反应"/>
          <p:cNvSpPr txBox="1"/>
          <p:nvPr/>
        </p:nvSpPr>
        <p:spPr>
          <a:xfrm>
            <a:off x="502920" y="35693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X的单质不与任何酸碱反应</a:t>
            </a:r>
          </a:p>
        </p:txBody>
      </p:sp>
      <p:sp>
        <p:nvSpPr>
          <p:cNvPr id="14" name="文字_C. Y、Z、W的单质均可与Mg发生化合反应"/>
          <p:cNvSpPr txBox="1"/>
          <p:nvPr/>
        </p:nvSpPr>
        <p:spPr>
          <a:xfrm>
            <a:off x="502920" y="40082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Y、Z、W的单质均可与Mg发生化合反应</a:t>
            </a:r>
          </a:p>
        </p:txBody>
      </p:sp>
      <p:sp>
        <p:nvSpPr>
          <p:cNvPr id="15" name="文字_D. 最高价氧化物对应水化物的酸性：Y&gt;W"/>
          <p:cNvSpPr txBox="1"/>
          <p:nvPr/>
        </p:nvSpPr>
        <p:spPr>
          <a:xfrm>
            <a:off x="502920" y="44472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最高价氧化物对应水化物的酸性：Y&gt;W</a:t>
            </a:r>
          </a:p>
        </p:txBody>
      </p:sp>
      <p:sp>
        <p:nvSpPr>
          <p:cNvPr id="16" name="文字_单选题  ·  11-06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11-069</a:t>
            </a:r>
          </a:p>
        </p:txBody>
      </p:sp>
      <p:sp>
        <p:nvSpPr>
          <p:cNvPr id="17" name="文字_8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变式5</a:t>
            </a:r>
          </a:p>
        </p:txBody>
      </p:sp>
      <p:sp>
        <p:nvSpPr>
          <p:cNvPr id="5" name="文字_P24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P249</a:t>
            </a:r>
          </a:p>
        </p:txBody>
      </p:sp>
      <p:sp>
        <p:nvSpPr>
          <p:cNvPr id="6" name="文字_五种短周期主族元素在元素周期表中的相对位置如图所"/>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五种短周期主族元素在元素周期表中的相对位置如图所示，Q单质可用于自来水的</a:t>
            </a:r>
          </a:p>
          <a:p>
            <a:pPr>
              <a:lnSpc>
                <a:spcPct val="112000"/>
              </a:lnSpc>
              <a:spcBef>
                <a:spcPts val="0"/>
              </a:spcBef>
              <a:spcAft>
                <a:spcPts val="0"/>
              </a:spcAft>
              <a:defRPr sz="2400" b="0">
                <a:solidFill>
                  <a:srgbClr val="333333"/>
                </a:solidFill>
                <a:latin typeface="微软雅黑"/>
              </a:defRPr>
            </a:pPr>
            <a:r>
              <a:rPr>
                <a:ea typeface="微软雅黑"/>
              </a:rPr>
              <a:t>杀菌、消毒，下列说法错误的是</a:t>
            </a:r>
          </a:p>
        </p:txBody>
      </p:sp>
      <p:pic>
        <p:nvPicPr>
          <p:cNvPr id="7" name="Picture 6" descr="image.png"/>
          <p:cNvPicPr>
            <a:picLocks noChangeAspect="1"/>
          </p:cNvPicPr>
          <p:nvPr/>
        </p:nvPicPr>
        <p:blipFill>
          <a:blip r:embed="rId3"/>
          <a:stretch>
            <a:fillRect/>
          </a:stretch>
        </p:blipFill>
        <p:spPr>
          <a:xfrm>
            <a:off x="502920" y="1880616"/>
            <a:ext cx="11064240" cy="1416528"/>
          </a:xfrm>
          <a:prstGeom prst="rect">
            <a:avLst/>
          </a:prstGeom>
        </p:spPr>
      </p:pic>
      <p:sp>
        <p:nvSpPr>
          <p:cNvPr id="8" name="原题文字_249_25"/>
          <p:cNvSpPr txBox="1"/>
          <p:nvPr/>
        </p:nvSpPr>
        <p:spPr>
          <a:xfrm>
            <a:off x="2286980" y="2073294"/>
            <a:ext cx="34582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W</a:t>
            </a:r>
          </a:p>
        </p:txBody>
      </p:sp>
      <p:sp>
        <p:nvSpPr>
          <p:cNvPr id="9" name="原题文字_249_26"/>
          <p:cNvSpPr txBox="1"/>
          <p:nvPr/>
        </p:nvSpPr>
        <p:spPr>
          <a:xfrm>
            <a:off x="786225" y="2548023"/>
            <a:ext cx="32285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X</a:t>
            </a:r>
          </a:p>
        </p:txBody>
      </p:sp>
      <p:sp>
        <p:nvSpPr>
          <p:cNvPr id="10" name="原题文字_249_27"/>
          <p:cNvSpPr txBox="1"/>
          <p:nvPr/>
        </p:nvSpPr>
        <p:spPr>
          <a:xfrm>
            <a:off x="1306895" y="2532709"/>
            <a:ext cx="30754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Y</a:t>
            </a:r>
          </a:p>
        </p:txBody>
      </p:sp>
      <p:sp>
        <p:nvSpPr>
          <p:cNvPr id="11" name="原题文字_249_28"/>
          <p:cNvSpPr txBox="1"/>
          <p:nvPr/>
        </p:nvSpPr>
        <p:spPr>
          <a:xfrm>
            <a:off x="1835222" y="2555680"/>
            <a:ext cx="29222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Z</a:t>
            </a:r>
          </a:p>
        </p:txBody>
      </p:sp>
      <p:sp>
        <p:nvSpPr>
          <p:cNvPr id="12" name="原题文字_249_29"/>
          <p:cNvSpPr txBox="1"/>
          <p:nvPr/>
        </p:nvSpPr>
        <p:spPr>
          <a:xfrm>
            <a:off x="2822964" y="2525052"/>
            <a:ext cx="299885"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Q</a:t>
            </a:r>
          </a:p>
        </p:txBody>
      </p:sp>
      <p:sp>
        <p:nvSpPr>
          <p:cNvPr id="13" name="原题文字_249_30"/>
          <p:cNvSpPr txBox="1"/>
          <p:nvPr/>
        </p:nvSpPr>
        <p:spPr>
          <a:xfrm>
            <a:off x="571832" y="2976810"/>
            <a:ext cx="406708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A. 最高价氧化物对应水化物的酸性：Q&gt;Z</a:t>
            </a:r>
          </a:p>
        </p:txBody>
      </p:sp>
      <p:sp>
        <p:nvSpPr>
          <p:cNvPr id="14" name="文字_B. 非金属性： W&gt;Y&gt;Z"/>
          <p:cNvSpPr txBox="1"/>
          <p:nvPr/>
        </p:nvSpPr>
        <p:spPr>
          <a:xfrm>
            <a:off x="502920" y="337029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非金属性： W&gt;Y&gt;Z</a:t>
            </a:r>
          </a:p>
        </p:txBody>
      </p:sp>
      <p:sp>
        <p:nvSpPr>
          <p:cNvPr id="15" name="文字_C. 简单离子半径： Q&gt;W&gt;X"/>
          <p:cNvSpPr txBox="1"/>
          <p:nvPr/>
        </p:nvSpPr>
        <p:spPr>
          <a:xfrm>
            <a:off x="502920" y="380920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简单离子半径： Q&gt;W&gt;X</a:t>
            </a:r>
          </a:p>
        </p:txBody>
      </p:sp>
      <p:sp>
        <p:nvSpPr>
          <p:cNvPr id="16" name="文字_D. X、Y的氧化物都可与强碱溶液反应"/>
          <p:cNvSpPr txBox="1"/>
          <p:nvPr/>
        </p:nvSpPr>
        <p:spPr>
          <a:xfrm>
            <a:off x="502920" y="424812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X、Y的氧化物都可与强碱溶液反应</a:t>
            </a:r>
          </a:p>
        </p:txBody>
      </p:sp>
      <p:sp>
        <p:nvSpPr>
          <p:cNvPr id="17" name="文字_单选题  ·  11-07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11-070</a:t>
            </a:r>
          </a:p>
        </p:txBody>
      </p:sp>
      <p:sp>
        <p:nvSpPr>
          <p:cNvPr id="18" name="文字_9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变式6</a:t>
            </a:r>
          </a:p>
        </p:txBody>
      </p:sp>
      <p:sp>
        <p:nvSpPr>
          <p:cNvPr id="5" name="文字_P25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P250</a:t>
            </a:r>
          </a:p>
        </p:txBody>
      </p:sp>
      <p:sp>
        <p:nvSpPr>
          <p:cNvPr id="6" name="文字_Q、W、X、Y、z是元素周期表中原子序数依次递增"/>
          <p:cNvSpPr txBox="1"/>
          <p:nvPr/>
        </p:nvSpPr>
        <p:spPr>
          <a:xfrm>
            <a:off x="502920" y="1078992"/>
            <a:ext cx="11064240" cy="1018794"/>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Q、W、X、Y、z是元素周期表中原子序数依次递增的短周期主族元素，部分元素的原子半径</a:t>
            </a:r>
          </a:p>
          <a:p>
            <a:pPr>
              <a:lnSpc>
                <a:spcPct val="112000"/>
              </a:lnSpc>
              <a:spcBef>
                <a:spcPts val="0"/>
              </a:spcBef>
              <a:spcAft>
                <a:spcPts val="0"/>
              </a:spcAft>
              <a:defRPr sz="2100" b="0">
                <a:solidFill>
                  <a:srgbClr val="333333"/>
                </a:solidFill>
                <a:latin typeface="微软雅黑"/>
              </a:defRPr>
            </a:pPr>
            <a:r>
              <a:rPr>
                <a:ea typeface="微软雅黑"/>
              </a:rPr>
              <a:t>和最高正价或最低负价的关系如图所示，Q、W、X、Y形成的物质M的化学式为</a:t>
            </a:r>
          </a:p>
          <a:p>
            <a:pPr>
              <a:lnSpc>
                <a:spcPct val="112000"/>
              </a:lnSpc>
              <a:spcBef>
                <a:spcPts val="0"/>
              </a:spcBef>
              <a:spcAft>
                <a:spcPts val="0"/>
              </a:spcAft>
              <a:defRPr sz="2100" b="0">
                <a:solidFill>
                  <a:srgbClr val="333333"/>
                </a:solidFill>
                <a:latin typeface="微软雅黑"/>
              </a:defRPr>
            </a:pPr>
            <a:r>
              <a:rPr>
                <a:ea typeface="微软雅黑"/>
              </a:rPr>
              <a:t>(WQ₄)₂Y₂X₈。下面说法错误的是</a:t>
            </a:r>
          </a:p>
        </p:txBody>
      </p:sp>
      <p:sp>
        <p:nvSpPr>
          <p:cNvPr id="7" name="文字_化合价"/>
          <p:cNvSpPr txBox="1"/>
          <p:nvPr/>
        </p:nvSpPr>
        <p:spPr>
          <a:xfrm>
            <a:off x="502920" y="2097786"/>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化合价</a:t>
            </a:r>
          </a:p>
        </p:txBody>
      </p:sp>
      <p:pic>
        <p:nvPicPr>
          <p:cNvPr id="8" name="Picture 7" descr="image.png"/>
          <p:cNvPicPr>
            <a:picLocks noChangeAspect="1"/>
          </p:cNvPicPr>
          <p:nvPr/>
        </p:nvPicPr>
        <p:blipFill>
          <a:blip r:embed="rId3"/>
          <a:stretch>
            <a:fillRect/>
          </a:stretch>
        </p:blipFill>
        <p:spPr>
          <a:xfrm>
            <a:off x="502920" y="2481833"/>
            <a:ext cx="11064240" cy="2258789"/>
          </a:xfrm>
          <a:prstGeom prst="rect">
            <a:avLst/>
          </a:prstGeom>
        </p:spPr>
      </p:pic>
      <p:sp>
        <p:nvSpPr>
          <p:cNvPr id="9" name="原题文字_250_6"/>
          <p:cNvSpPr txBox="1"/>
          <p:nvPr/>
        </p:nvSpPr>
        <p:spPr>
          <a:xfrm>
            <a:off x="594802" y="2513717"/>
            <a:ext cx="269257"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+7</a:t>
            </a:r>
          </a:p>
        </p:txBody>
      </p:sp>
      <p:sp>
        <p:nvSpPr>
          <p:cNvPr id="10" name="原题文字_250_7"/>
          <p:cNvSpPr txBox="1"/>
          <p:nvPr/>
        </p:nvSpPr>
        <p:spPr>
          <a:xfrm>
            <a:off x="2777023" y="2574973"/>
            <a:ext cx="223316" cy="209033"/>
          </a:xfrm>
          <a:prstGeom prst="rect">
            <a:avLst/>
          </a:prstGeom>
          <a:noFill/>
        </p:spPr>
        <p:txBody>
          <a:bodyPr wrap="none" lIns="0" rIns="0" tIns="0" bIns="0">
            <a:spAutoFit/>
          </a:bodyPr>
          <a:lstStyle/>
          <a:p>
            <a:pPr>
              <a:lnSpc>
                <a:spcPct val="112000"/>
              </a:lnSpc>
              <a:spcBef>
                <a:spcPts val="0"/>
              </a:spcBef>
              <a:spcAft>
                <a:spcPts val="0"/>
              </a:spcAft>
              <a:defRPr sz="1012" b="0">
                <a:solidFill>
                  <a:srgbClr val="333333"/>
                </a:solidFill>
                <a:latin typeface="微软雅黑"/>
              </a:defRPr>
            </a:pPr>
            <a:r>
              <a:rPr>
                <a:ea typeface="微软雅黑"/>
              </a:rPr>
              <a:t>Y</a:t>
            </a:r>
          </a:p>
        </p:txBody>
      </p:sp>
      <p:sp>
        <p:nvSpPr>
          <p:cNvPr id="11" name="原题文字_250_8"/>
          <p:cNvSpPr txBox="1"/>
          <p:nvPr/>
        </p:nvSpPr>
        <p:spPr>
          <a:xfrm>
            <a:off x="594802" y="2705140"/>
            <a:ext cx="276914"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+6</a:t>
            </a:r>
          </a:p>
        </p:txBody>
      </p:sp>
      <p:sp>
        <p:nvSpPr>
          <p:cNvPr id="12" name="原题文字_250_9"/>
          <p:cNvSpPr txBox="1"/>
          <p:nvPr/>
        </p:nvSpPr>
        <p:spPr>
          <a:xfrm>
            <a:off x="594802" y="2911877"/>
            <a:ext cx="269257"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+5</a:t>
            </a:r>
          </a:p>
        </p:txBody>
      </p:sp>
      <p:sp>
        <p:nvSpPr>
          <p:cNvPr id="13" name="原题文字_250_10"/>
          <p:cNvSpPr txBox="1"/>
          <p:nvPr/>
        </p:nvSpPr>
        <p:spPr>
          <a:xfrm>
            <a:off x="2064930" y="2842965"/>
            <a:ext cx="246286" cy="189125"/>
          </a:xfrm>
          <a:prstGeom prst="rect">
            <a:avLst/>
          </a:prstGeom>
          <a:noFill/>
        </p:spPr>
        <p:txBody>
          <a:bodyPr wrap="none" lIns="0" rIns="0" tIns="0" bIns="0">
            <a:spAutoFit/>
          </a:bodyPr>
          <a:lstStyle/>
          <a:p>
            <a:pPr>
              <a:lnSpc>
                <a:spcPct val="112000"/>
              </a:lnSpc>
              <a:spcBef>
                <a:spcPts val="0"/>
              </a:spcBef>
              <a:spcAft>
                <a:spcPts val="0"/>
              </a:spcAft>
              <a:defRPr sz="916" b="0">
                <a:solidFill>
                  <a:srgbClr val="333333"/>
                </a:solidFill>
                <a:latin typeface="微软雅黑"/>
              </a:defRPr>
            </a:pPr>
            <a:r>
              <a:rPr>
                <a:ea typeface="微软雅黑"/>
              </a:rPr>
              <a:t>W</a:t>
            </a:r>
          </a:p>
        </p:txBody>
      </p:sp>
      <p:sp>
        <p:nvSpPr>
          <p:cNvPr id="14" name="原题文字_250_11"/>
          <p:cNvSpPr txBox="1"/>
          <p:nvPr/>
        </p:nvSpPr>
        <p:spPr>
          <a:xfrm>
            <a:off x="610116" y="3126270"/>
            <a:ext cx="261600" cy="199079"/>
          </a:xfrm>
          <a:prstGeom prst="rect">
            <a:avLst/>
          </a:prstGeom>
          <a:noFill/>
        </p:spPr>
        <p:txBody>
          <a:bodyPr wrap="none" lIns="0" rIns="0" tIns="0" bIns="0">
            <a:spAutoFit/>
          </a:bodyPr>
          <a:lstStyle/>
          <a:p>
            <a:pPr>
              <a:lnSpc>
                <a:spcPct val="112000"/>
              </a:lnSpc>
              <a:spcBef>
                <a:spcPts val="0"/>
              </a:spcBef>
              <a:spcAft>
                <a:spcPts val="0"/>
              </a:spcAft>
              <a:defRPr sz="964" b="0">
                <a:solidFill>
                  <a:srgbClr val="333333"/>
                </a:solidFill>
                <a:latin typeface="微软雅黑"/>
              </a:defRPr>
            </a:pPr>
            <a:r>
              <a:rPr>
                <a:ea typeface="微软雅黑"/>
              </a:rPr>
              <a:t>+4</a:t>
            </a:r>
          </a:p>
        </p:txBody>
      </p:sp>
      <p:sp>
        <p:nvSpPr>
          <p:cNvPr id="15" name="原题文字_250_12"/>
          <p:cNvSpPr txBox="1"/>
          <p:nvPr/>
        </p:nvSpPr>
        <p:spPr>
          <a:xfrm>
            <a:off x="594802" y="3310036"/>
            <a:ext cx="269257"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+3</a:t>
            </a:r>
          </a:p>
        </p:txBody>
      </p:sp>
      <p:sp>
        <p:nvSpPr>
          <p:cNvPr id="16" name="原题文字_250_13"/>
          <p:cNvSpPr txBox="1"/>
          <p:nvPr/>
        </p:nvSpPr>
        <p:spPr>
          <a:xfrm>
            <a:off x="594802" y="3516773"/>
            <a:ext cx="269257"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+2</a:t>
            </a:r>
          </a:p>
        </p:txBody>
      </p:sp>
      <p:sp>
        <p:nvSpPr>
          <p:cNvPr id="17" name="原题文字_250_14"/>
          <p:cNvSpPr txBox="1"/>
          <p:nvPr/>
        </p:nvSpPr>
        <p:spPr>
          <a:xfrm>
            <a:off x="594802" y="3708196"/>
            <a:ext cx="253943"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+1</a:t>
            </a:r>
          </a:p>
        </p:txBody>
      </p:sp>
      <p:sp>
        <p:nvSpPr>
          <p:cNvPr id="18" name="原题文字_250_15"/>
          <p:cNvSpPr txBox="1"/>
          <p:nvPr/>
        </p:nvSpPr>
        <p:spPr>
          <a:xfrm>
            <a:off x="1115473" y="3669911"/>
            <a:ext cx="185031" cy="169217"/>
          </a:xfrm>
          <a:prstGeom prst="rect">
            <a:avLst/>
          </a:prstGeom>
          <a:noFill/>
        </p:spPr>
        <p:txBody>
          <a:bodyPr wrap="none" lIns="0" rIns="0" tIns="0" bIns="0">
            <a:spAutoFit/>
          </a:bodyPr>
          <a:lstStyle/>
          <a:p>
            <a:pPr>
              <a:lnSpc>
                <a:spcPct val="112000"/>
              </a:lnSpc>
              <a:spcBef>
                <a:spcPts val="0"/>
              </a:spcBef>
              <a:spcAft>
                <a:spcPts val="0"/>
              </a:spcAft>
              <a:defRPr sz="819" b="0">
                <a:solidFill>
                  <a:srgbClr val="333333"/>
                </a:solidFill>
                <a:latin typeface="微软雅黑"/>
              </a:defRPr>
            </a:pPr>
            <a:r>
              <a:rPr>
                <a:ea typeface="微软雅黑"/>
              </a:rPr>
              <a:t>Q</a:t>
            </a:r>
          </a:p>
        </p:txBody>
      </p:sp>
      <p:sp>
        <p:nvSpPr>
          <p:cNvPr id="19" name="原题文字_250_16"/>
          <p:cNvSpPr txBox="1"/>
          <p:nvPr/>
        </p:nvSpPr>
        <p:spPr>
          <a:xfrm>
            <a:off x="1636143" y="3807736"/>
            <a:ext cx="238629"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X</a:t>
            </a:r>
          </a:p>
        </p:txBody>
      </p:sp>
      <p:sp>
        <p:nvSpPr>
          <p:cNvPr id="20" name="原题文字_250_17"/>
          <p:cNvSpPr txBox="1"/>
          <p:nvPr/>
        </p:nvSpPr>
        <p:spPr>
          <a:xfrm>
            <a:off x="679029" y="3930246"/>
            <a:ext cx="162060" cy="159263"/>
          </a:xfrm>
          <a:prstGeom prst="rect">
            <a:avLst/>
          </a:prstGeom>
          <a:noFill/>
        </p:spPr>
        <p:txBody>
          <a:bodyPr wrap="none" lIns="0" rIns="0" tIns="0" bIns="0">
            <a:spAutoFit/>
          </a:bodyPr>
          <a:lstStyle/>
          <a:p>
            <a:pPr>
              <a:lnSpc>
                <a:spcPct val="112000"/>
              </a:lnSpc>
              <a:spcBef>
                <a:spcPts val="0"/>
              </a:spcBef>
              <a:spcAft>
                <a:spcPts val="0"/>
              </a:spcAft>
              <a:defRPr sz="771" b="0">
                <a:solidFill>
                  <a:srgbClr val="333333"/>
                </a:solidFill>
                <a:latin typeface="微软雅黑"/>
              </a:defRPr>
            </a:pPr>
            <a:r>
              <a:rPr>
                <a:ea typeface="微软雅黑"/>
              </a:rPr>
              <a:t>0</a:t>
            </a:r>
          </a:p>
        </p:txBody>
      </p:sp>
      <p:sp>
        <p:nvSpPr>
          <p:cNvPr id="21" name="原题文字_250_18"/>
          <p:cNvSpPr txBox="1"/>
          <p:nvPr/>
        </p:nvSpPr>
        <p:spPr>
          <a:xfrm>
            <a:off x="633087" y="4114012"/>
            <a:ext cx="215659" cy="209033"/>
          </a:xfrm>
          <a:prstGeom prst="rect">
            <a:avLst/>
          </a:prstGeom>
          <a:noFill/>
        </p:spPr>
        <p:txBody>
          <a:bodyPr wrap="none" lIns="0" rIns="0" tIns="0" bIns="0">
            <a:spAutoFit/>
          </a:bodyPr>
          <a:lstStyle/>
          <a:p>
            <a:pPr>
              <a:lnSpc>
                <a:spcPct val="112000"/>
              </a:lnSpc>
              <a:spcBef>
                <a:spcPts val="0"/>
              </a:spcBef>
              <a:spcAft>
                <a:spcPts val="0"/>
              </a:spcAft>
              <a:defRPr sz="1012" b="0">
                <a:solidFill>
                  <a:srgbClr val="333333"/>
                </a:solidFill>
                <a:latin typeface="微软雅黑"/>
              </a:defRPr>
            </a:pPr>
            <a:r>
              <a:rPr>
                <a:ea typeface="微软雅黑"/>
              </a:rPr>
              <a:t>-1</a:t>
            </a:r>
          </a:p>
        </p:txBody>
      </p:sp>
      <p:sp>
        <p:nvSpPr>
          <p:cNvPr id="22" name="原题文字_250_19"/>
          <p:cNvSpPr txBox="1"/>
          <p:nvPr/>
        </p:nvSpPr>
        <p:spPr>
          <a:xfrm>
            <a:off x="3144555" y="4083385"/>
            <a:ext cx="659760" cy="278711"/>
          </a:xfrm>
          <a:prstGeom prst="rect">
            <a:avLst/>
          </a:prstGeom>
          <a:noFill/>
        </p:spPr>
        <p:txBody>
          <a:bodyPr wrap="none" lIns="0" rIns="0" tIns="0" bIns="0">
            <a:spAutoFit/>
          </a:bodyPr>
          <a:lstStyle/>
          <a:p>
            <a:pPr>
              <a:lnSpc>
                <a:spcPct val="112000"/>
              </a:lnSpc>
              <a:spcBef>
                <a:spcPts val="0"/>
              </a:spcBef>
              <a:spcAft>
                <a:spcPts val="0"/>
              </a:spcAft>
              <a:defRPr sz="1281" b="0">
                <a:solidFill>
                  <a:srgbClr val="333333"/>
                </a:solidFill>
                <a:latin typeface="微软雅黑"/>
              </a:defRPr>
            </a:pPr>
            <a:r>
              <a:rPr>
                <a:ea typeface="微软雅黑"/>
              </a:rPr>
              <a:t>原子半径</a:t>
            </a:r>
          </a:p>
        </p:txBody>
      </p:sp>
      <p:sp>
        <p:nvSpPr>
          <p:cNvPr id="23" name="原题文字_250_20"/>
          <p:cNvSpPr txBox="1"/>
          <p:nvPr/>
        </p:nvSpPr>
        <p:spPr>
          <a:xfrm>
            <a:off x="640744" y="4313092"/>
            <a:ext cx="208002" cy="199079"/>
          </a:xfrm>
          <a:prstGeom prst="rect">
            <a:avLst/>
          </a:prstGeom>
          <a:noFill/>
        </p:spPr>
        <p:txBody>
          <a:bodyPr wrap="none" lIns="0" rIns="0" tIns="0" bIns="0">
            <a:spAutoFit/>
          </a:bodyPr>
          <a:lstStyle/>
          <a:p>
            <a:pPr>
              <a:lnSpc>
                <a:spcPct val="112000"/>
              </a:lnSpc>
              <a:spcBef>
                <a:spcPts val="0"/>
              </a:spcBef>
              <a:spcAft>
                <a:spcPts val="0"/>
              </a:spcAft>
              <a:defRPr sz="964" b="0">
                <a:solidFill>
                  <a:srgbClr val="333333"/>
                </a:solidFill>
                <a:latin typeface="微软雅黑"/>
              </a:defRPr>
            </a:pPr>
            <a:r>
              <a:rPr>
                <a:ea typeface="微软雅黑"/>
              </a:rPr>
              <a:t>-2</a:t>
            </a:r>
          </a:p>
        </p:txBody>
      </p:sp>
      <p:sp>
        <p:nvSpPr>
          <p:cNvPr id="24" name="原题文字_250_21"/>
          <p:cNvSpPr txBox="1"/>
          <p:nvPr/>
        </p:nvSpPr>
        <p:spPr>
          <a:xfrm>
            <a:off x="633087" y="4496858"/>
            <a:ext cx="269257"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-3</a:t>
            </a:r>
          </a:p>
        </p:txBody>
      </p:sp>
      <p:sp>
        <p:nvSpPr>
          <p:cNvPr id="25" name="文字_A. 简单氢化物的沸点：X &gt; W"/>
          <p:cNvSpPr txBox="1"/>
          <p:nvPr/>
        </p:nvSpPr>
        <p:spPr>
          <a:xfrm>
            <a:off x="502920" y="4813775"/>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A. 简单氢化物的沸点：X &gt; W</a:t>
            </a:r>
          </a:p>
        </p:txBody>
      </p:sp>
      <p:sp>
        <p:nvSpPr>
          <p:cNvPr id="26" name="文字_B. Q，W，Y，z分别与X形成的化合物均不止一"/>
          <p:cNvSpPr txBox="1"/>
          <p:nvPr/>
        </p:nvSpPr>
        <p:spPr>
          <a:xfrm>
            <a:off x="502920" y="5197823"/>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B. Q，W，Y，z分别与X形成的化合物均不止一种</a:t>
            </a:r>
          </a:p>
        </p:txBody>
      </p:sp>
      <p:sp>
        <p:nvSpPr>
          <p:cNvPr id="27" name="文字_C. M中X元素的化合价均为-2"/>
          <p:cNvSpPr txBox="1"/>
          <p:nvPr/>
        </p:nvSpPr>
        <p:spPr>
          <a:xfrm>
            <a:off x="502920" y="5581871"/>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C. M中X元素的化合价均为-2</a:t>
            </a:r>
          </a:p>
        </p:txBody>
      </p:sp>
      <p:sp>
        <p:nvSpPr>
          <p:cNvPr id="28" name="文字_D. M具有强氧化性，可作漂白剂"/>
          <p:cNvSpPr txBox="1"/>
          <p:nvPr/>
        </p:nvSpPr>
        <p:spPr>
          <a:xfrm>
            <a:off x="502920" y="5965919"/>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D. M具有强氧化性，可作漂白剂</a:t>
            </a:r>
          </a:p>
        </p:txBody>
      </p:sp>
      <p:sp>
        <p:nvSpPr>
          <p:cNvPr id="29" name="文字_单选题  ·  11-07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11-071</a:t>
            </a:r>
          </a:p>
        </p:txBody>
      </p:sp>
      <p:sp>
        <p:nvSpPr>
          <p:cNvPr id="30" name="文字_9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变式7</a:t>
            </a:r>
          </a:p>
        </p:txBody>
      </p:sp>
      <p:sp>
        <p:nvSpPr>
          <p:cNvPr id="5" name="文字_P25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P250</a:t>
            </a:r>
          </a:p>
        </p:txBody>
      </p:sp>
      <p:sp>
        <p:nvSpPr>
          <p:cNvPr id="6" name="文字_X、Y、Z、W是原子半径依次增大的短周期主族元素"/>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X、Y、Z、W是原子半径依次增大的短周期主族元素，其中X为半径最小的短周期</a:t>
            </a:r>
          </a:p>
          <a:p>
            <a:pPr>
              <a:lnSpc>
                <a:spcPct val="112000"/>
              </a:lnSpc>
              <a:spcBef>
                <a:spcPts val="0"/>
              </a:spcBef>
              <a:spcAft>
                <a:spcPts val="0"/>
              </a:spcAft>
              <a:defRPr sz="2400" b="0">
                <a:solidFill>
                  <a:srgbClr val="333333"/>
                </a:solidFill>
                <a:latin typeface="微软雅黑"/>
              </a:defRPr>
            </a:pPr>
            <a:r>
              <a:rPr>
                <a:ea typeface="微软雅黑"/>
              </a:rPr>
              <a:t>元素，四种元素原子序数之和为22，且一定条件下X可与Y、Z、W均可形成两种或</a:t>
            </a:r>
          </a:p>
          <a:p>
            <a:pPr>
              <a:lnSpc>
                <a:spcPct val="112000"/>
              </a:lnSpc>
              <a:spcBef>
                <a:spcPts val="0"/>
              </a:spcBef>
              <a:spcAft>
                <a:spcPts val="0"/>
              </a:spcAft>
              <a:defRPr sz="2400" b="0">
                <a:solidFill>
                  <a:srgbClr val="333333"/>
                </a:solidFill>
                <a:latin typeface="微软雅黑"/>
              </a:defRPr>
            </a:pPr>
            <a:r>
              <a:rPr>
                <a:ea typeface="微软雅黑"/>
              </a:rPr>
              <a:t>以上的化合物，且其中均有一种为10电子分子。下列说法错误的是</a:t>
            </a:r>
          </a:p>
        </p:txBody>
      </p:sp>
      <p:sp>
        <p:nvSpPr>
          <p:cNvPr id="7" name="文字_A. Y、Z的某种化合物为红棕色"/>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Y、Z的某种化合物为红棕色</a:t>
            </a:r>
          </a:p>
        </p:txBody>
      </p:sp>
      <p:sp>
        <p:nvSpPr>
          <p:cNvPr id="8" name="文字_B. X、Z的简单化合物为碱性气体"/>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X、Z的简单化合物为碱性气体</a:t>
            </a:r>
          </a:p>
        </p:txBody>
      </p:sp>
      <p:sp>
        <p:nvSpPr>
          <p:cNvPr id="9" name="文字_C. Z的某种单质是最稳定的气体"/>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Z的某种单质是最稳定的气体</a:t>
            </a:r>
          </a:p>
        </p:txBody>
      </p:sp>
      <p:sp>
        <p:nvSpPr>
          <p:cNvPr id="10" name="文字_D. W的某种单质硬度非常大"/>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W的某种单质硬度非常大</a:t>
            </a:r>
          </a:p>
        </p:txBody>
      </p:sp>
      <p:sp>
        <p:nvSpPr>
          <p:cNvPr id="11" name="文字_单选题  ·  11-07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11-072</a:t>
            </a:r>
          </a:p>
        </p:txBody>
      </p:sp>
      <p:sp>
        <p:nvSpPr>
          <p:cNvPr id="12" name="文字_9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变式8</a:t>
            </a:r>
          </a:p>
        </p:txBody>
      </p:sp>
      <p:sp>
        <p:nvSpPr>
          <p:cNvPr id="5" name="文字_P25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P250</a:t>
            </a:r>
          </a:p>
        </p:txBody>
      </p:sp>
      <p:sp>
        <p:nvSpPr>
          <p:cNvPr id="6" name="文字_短周期主族元素W、X、Y、Z的原子序数依次增大，"/>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短周期主族元素W、X、Y、Z的原子序数依次增大，W、X最外层电子数之和等于z</a:t>
            </a:r>
          </a:p>
          <a:p>
            <a:pPr>
              <a:lnSpc>
                <a:spcPct val="112000"/>
              </a:lnSpc>
              <a:spcBef>
                <a:spcPts val="0"/>
              </a:spcBef>
              <a:spcAft>
                <a:spcPts val="0"/>
              </a:spcAft>
              <a:defRPr sz="2400" b="0">
                <a:solidFill>
                  <a:srgbClr val="333333"/>
                </a:solidFill>
                <a:latin typeface="微软雅黑"/>
              </a:defRPr>
            </a:pPr>
            <a:r>
              <a:rPr>
                <a:ea typeface="微软雅黑"/>
              </a:rPr>
              <a:t>最外层电子数，Y核内质子数是W的2倍。z的单质同冷的烧碱溶液反应，可得到含</a:t>
            </a:r>
          </a:p>
          <a:p>
            <a:pPr>
              <a:lnSpc>
                <a:spcPct val="112000"/>
              </a:lnSpc>
              <a:spcBef>
                <a:spcPts val="0"/>
              </a:spcBef>
              <a:spcAft>
                <a:spcPts val="0"/>
              </a:spcAft>
              <a:defRPr sz="2400" b="0">
                <a:solidFill>
                  <a:srgbClr val="333333"/>
                </a:solidFill>
                <a:latin typeface="微软雅黑"/>
              </a:defRPr>
            </a:pPr>
            <a:r>
              <a:rPr>
                <a:ea typeface="微软雅黑"/>
              </a:rPr>
              <a:t>盐XZW的溶液。下列说法正确的是</a:t>
            </a:r>
          </a:p>
        </p:txBody>
      </p:sp>
      <p:sp>
        <p:nvSpPr>
          <p:cNvPr id="7" name="文字_A. 原子半径: Z &gt; Y &gt; X &gt; W"/>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原子半径: Z &gt; Y &gt; X &gt; W</a:t>
            </a:r>
          </a:p>
        </p:txBody>
      </p:sp>
      <p:sp>
        <p:nvSpPr>
          <p:cNvPr id="8" name="文字_B. 元素Z的含氧酸均为强酸"/>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元素Z的含氧酸均为强酸</a:t>
            </a:r>
          </a:p>
        </p:txBody>
      </p:sp>
      <p:sp>
        <p:nvSpPr>
          <p:cNvPr id="9" name="文字_C. W在周期表中第三周期第VIA族"/>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W在周期表中第三周期第VIA族</a:t>
            </a:r>
          </a:p>
        </p:txBody>
      </p:sp>
      <p:sp>
        <p:nvSpPr>
          <p:cNvPr id="10" name="文字_D. Y和z的简单离子具有相同的电子层结构"/>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Y和z的简单离子具有相同的电子层结构</a:t>
            </a:r>
          </a:p>
        </p:txBody>
      </p:sp>
      <p:sp>
        <p:nvSpPr>
          <p:cNvPr id="11" name="文字_单选题  ·  11-07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11-073</a:t>
            </a:r>
          </a:p>
        </p:txBody>
      </p:sp>
      <p:sp>
        <p:nvSpPr>
          <p:cNvPr id="12" name="文字_9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变式9</a:t>
            </a:r>
          </a:p>
        </p:txBody>
      </p:sp>
      <p:sp>
        <p:nvSpPr>
          <p:cNvPr id="5" name="文字_P25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P251</a:t>
            </a:r>
          </a:p>
        </p:txBody>
      </p:sp>
      <p:pic>
        <p:nvPicPr>
          <p:cNvPr id="6" name="Picture 5" descr="image.png"/>
          <p:cNvPicPr>
            <a:picLocks noChangeAspect="1"/>
          </p:cNvPicPr>
          <p:nvPr/>
        </p:nvPicPr>
        <p:blipFill>
          <a:blip r:embed="rId3"/>
          <a:stretch>
            <a:fillRect/>
          </a:stretch>
        </p:blipFill>
        <p:spPr>
          <a:xfrm>
            <a:off x="502920" y="1078992"/>
            <a:ext cx="11064240" cy="2794773"/>
          </a:xfrm>
          <a:prstGeom prst="rect">
            <a:avLst/>
          </a:prstGeom>
        </p:spPr>
      </p:pic>
      <p:sp>
        <p:nvSpPr>
          <p:cNvPr id="7" name="原题文字_251_3"/>
          <p:cNvSpPr txBox="1"/>
          <p:nvPr/>
        </p:nvSpPr>
        <p:spPr>
          <a:xfrm>
            <a:off x="587146" y="1087905"/>
            <a:ext cx="745909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现有四种短周期主族元素X、Y、Z和W，原子序数依次增大，相关信息如下表：</a:t>
            </a:r>
          </a:p>
        </p:txBody>
      </p:sp>
      <p:sp>
        <p:nvSpPr>
          <p:cNvPr id="8" name="原题文字_251_4"/>
          <p:cNvSpPr txBox="1"/>
          <p:nvPr/>
        </p:nvSpPr>
        <p:spPr>
          <a:xfrm>
            <a:off x="594802" y="1470750"/>
            <a:ext cx="1502020" cy="457883"/>
          </a:xfrm>
          <a:prstGeom prst="rect">
            <a:avLst/>
          </a:prstGeom>
          <a:noFill/>
        </p:spPr>
        <p:txBody>
          <a:bodyPr wrap="none" lIns="0" rIns="0" tIns="0" bIns="0">
            <a:spAutoFit/>
          </a:bodyPr>
          <a:lstStyle/>
          <a:p>
            <a:pPr>
              <a:lnSpc>
                <a:spcPct val="112000"/>
              </a:lnSpc>
              <a:spcBef>
                <a:spcPts val="0"/>
              </a:spcBef>
              <a:spcAft>
                <a:spcPts val="0"/>
              </a:spcAft>
              <a:defRPr sz="1975" b="0">
                <a:solidFill>
                  <a:srgbClr val="333333"/>
                </a:solidFill>
                <a:latin typeface="微软雅黑"/>
              </a:defRPr>
            </a:pPr>
            <a:r>
              <a:rPr>
                <a:ea typeface="微软雅黑"/>
              </a:rPr>
              <a:t>元素相关信息</a:t>
            </a:r>
          </a:p>
        </p:txBody>
      </p:sp>
      <p:sp>
        <p:nvSpPr>
          <p:cNvPr id="9" name="原题文字_251_5"/>
          <p:cNvSpPr txBox="1"/>
          <p:nvPr/>
        </p:nvSpPr>
        <p:spPr>
          <a:xfrm>
            <a:off x="625430" y="1953136"/>
            <a:ext cx="29222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X</a:t>
            </a:r>
          </a:p>
        </p:txBody>
      </p:sp>
      <p:sp>
        <p:nvSpPr>
          <p:cNvPr id="10" name="原题文字_251_6"/>
          <p:cNvSpPr txBox="1"/>
          <p:nvPr/>
        </p:nvSpPr>
        <p:spPr>
          <a:xfrm>
            <a:off x="1115473" y="1930165"/>
            <a:ext cx="353110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简单气态氢化物易液化，可作制冷剂</a:t>
            </a:r>
          </a:p>
        </p:txBody>
      </p:sp>
      <p:sp>
        <p:nvSpPr>
          <p:cNvPr id="11" name="原题文字_251_7"/>
          <p:cNvSpPr txBox="1"/>
          <p:nvPr/>
        </p:nvSpPr>
        <p:spPr>
          <a:xfrm>
            <a:off x="640744" y="2374266"/>
            <a:ext cx="246286"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Y</a:t>
            </a:r>
          </a:p>
        </p:txBody>
      </p:sp>
      <p:sp>
        <p:nvSpPr>
          <p:cNvPr id="12" name="原题文字_251_8"/>
          <p:cNvSpPr txBox="1"/>
          <p:nvPr/>
        </p:nvSpPr>
        <p:spPr>
          <a:xfrm>
            <a:off x="1138443" y="2351295"/>
            <a:ext cx="2635243"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同周期元素中原子半径最小</a:t>
            </a:r>
          </a:p>
        </p:txBody>
      </p:sp>
      <p:sp>
        <p:nvSpPr>
          <p:cNvPr id="13" name="原题文字_251_9"/>
          <p:cNvSpPr txBox="1"/>
          <p:nvPr/>
        </p:nvSpPr>
        <p:spPr>
          <a:xfrm>
            <a:off x="633087" y="2787739"/>
            <a:ext cx="246286"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Z</a:t>
            </a:r>
          </a:p>
        </p:txBody>
      </p:sp>
      <p:sp>
        <p:nvSpPr>
          <p:cNvPr id="14" name="原题文字_251_10"/>
          <p:cNvSpPr txBox="1"/>
          <p:nvPr/>
        </p:nvSpPr>
        <p:spPr>
          <a:xfrm>
            <a:off x="1123129" y="2772425"/>
            <a:ext cx="265055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地壳中含量最多的金属元素</a:t>
            </a:r>
          </a:p>
        </p:txBody>
      </p:sp>
      <p:sp>
        <p:nvSpPr>
          <p:cNvPr id="15" name="原题文字_251_11"/>
          <p:cNvSpPr txBox="1"/>
          <p:nvPr/>
        </p:nvSpPr>
        <p:spPr>
          <a:xfrm>
            <a:off x="633087" y="3185899"/>
            <a:ext cx="31519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W</a:t>
            </a:r>
          </a:p>
        </p:txBody>
      </p:sp>
      <p:sp>
        <p:nvSpPr>
          <p:cNvPr id="16" name="原题文字_251_12"/>
          <p:cNvSpPr txBox="1"/>
          <p:nvPr/>
        </p:nvSpPr>
        <p:spPr>
          <a:xfrm>
            <a:off x="1123129" y="3170585"/>
            <a:ext cx="2864951"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最外层电子数比次外层少一个</a:t>
            </a:r>
          </a:p>
        </p:txBody>
      </p:sp>
      <p:sp>
        <p:nvSpPr>
          <p:cNvPr id="17" name="原题文字_251_13"/>
          <p:cNvSpPr txBox="1"/>
          <p:nvPr/>
        </p:nvSpPr>
        <p:spPr>
          <a:xfrm>
            <a:off x="617773" y="3591715"/>
            <a:ext cx="177001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下列说法正确的是</a:t>
            </a:r>
          </a:p>
        </p:txBody>
      </p:sp>
      <p:sp>
        <p:nvSpPr>
          <p:cNvPr id="18" name="文字_A. 非金属性：X &gt; Y"/>
          <p:cNvSpPr txBox="1"/>
          <p:nvPr/>
        </p:nvSpPr>
        <p:spPr>
          <a:xfrm>
            <a:off x="502920" y="394691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非金属性：X &gt; Y</a:t>
            </a:r>
          </a:p>
        </p:txBody>
      </p:sp>
      <p:sp>
        <p:nvSpPr>
          <p:cNvPr id="19" name="文字_B. 原子半径: Z &gt; W &gt; X &gt; Y"/>
          <p:cNvSpPr txBox="1"/>
          <p:nvPr/>
        </p:nvSpPr>
        <p:spPr>
          <a:xfrm>
            <a:off x="502920" y="438582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原子半径: Z &gt; W &gt; X &gt; Y</a:t>
            </a:r>
          </a:p>
        </p:txBody>
      </p:sp>
      <p:sp>
        <p:nvSpPr>
          <p:cNvPr id="20" name="文字_C. ZW₃是离子化合物"/>
          <p:cNvSpPr txBox="1"/>
          <p:nvPr/>
        </p:nvSpPr>
        <p:spPr>
          <a:xfrm>
            <a:off x="502920" y="482474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ZW₃是离子化合物</a:t>
            </a:r>
          </a:p>
        </p:txBody>
      </p:sp>
      <p:sp>
        <p:nvSpPr>
          <p:cNvPr id="21" name="文字_D. 最高价氧化物对应水化物的酸性：Y &gt; X"/>
          <p:cNvSpPr txBox="1"/>
          <p:nvPr/>
        </p:nvSpPr>
        <p:spPr>
          <a:xfrm>
            <a:off x="502920" y="526365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最高价氧化物对应水化物的酸性：Y &gt; X</a:t>
            </a:r>
          </a:p>
        </p:txBody>
      </p:sp>
      <p:sp>
        <p:nvSpPr>
          <p:cNvPr id="22" name="文字_单选题  ·  11-07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11-074</a:t>
            </a:r>
          </a:p>
        </p:txBody>
      </p:sp>
      <p:sp>
        <p:nvSpPr>
          <p:cNvPr id="23" name="文字_9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变式10</a:t>
            </a:r>
          </a:p>
        </p:txBody>
      </p:sp>
      <p:sp>
        <p:nvSpPr>
          <p:cNvPr id="5" name="文字_P25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P251</a:t>
            </a:r>
          </a:p>
        </p:txBody>
      </p:sp>
      <p:sp>
        <p:nvSpPr>
          <p:cNvPr id="6" name="文字_短周期主族元素W、X、Y、Z的原子序数依次增大，"/>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短周期主族元素W、X、Y、Z的原子序数依次增大，W的最外层电子数是次外层电</a:t>
            </a:r>
          </a:p>
          <a:p>
            <a:pPr>
              <a:lnSpc>
                <a:spcPct val="112000"/>
              </a:lnSpc>
              <a:spcBef>
                <a:spcPts val="0"/>
              </a:spcBef>
              <a:spcAft>
                <a:spcPts val="0"/>
              </a:spcAft>
              <a:defRPr sz="2400" b="0">
                <a:solidFill>
                  <a:srgbClr val="333333"/>
                </a:solidFill>
                <a:latin typeface="微软雅黑"/>
              </a:defRPr>
            </a:pPr>
            <a:r>
              <a:rPr>
                <a:ea typeface="微软雅黑"/>
              </a:rPr>
              <a:t>子数的2倍，X为地壳中含量最多的金属元素，Y与W同主族，z的单质常温下呈气</a:t>
            </a:r>
          </a:p>
          <a:p>
            <a:pPr>
              <a:lnSpc>
                <a:spcPct val="112000"/>
              </a:lnSpc>
              <a:spcBef>
                <a:spcPts val="0"/>
              </a:spcBef>
              <a:spcAft>
                <a:spcPts val="0"/>
              </a:spcAft>
              <a:defRPr sz="2400" b="0">
                <a:solidFill>
                  <a:srgbClr val="333333"/>
                </a:solidFill>
                <a:latin typeface="微软雅黑"/>
              </a:defRPr>
            </a:pPr>
            <a:r>
              <a:rPr>
                <a:ea typeface="微软雅黑"/>
              </a:rPr>
              <a:t>态。下列说法正确的是</a:t>
            </a:r>
          </a:p>
        </p:txBody>
      </p:sp>
      <p:sp>
        <p:nvSpPr>
          <p:cNvPr id="7" name="文字_A. 原子半径: Z&gt;Y&gt;X&gt;W"/>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原子半径: Z&gt;Y&gt;X&gt;W</a:t>
            </a:r>
          </a:p>
        </p:txBody>
      </p:sp>
      <p:sp>
        <p:nvSpPr>
          <p:cNvPr id="8" name="文字_B. 最高价含氧酸的酸性强弱：Z&gt;W&gt;Y"/>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最高价含氧酸的酸性强弱：Z&gt;W&gt;Y</a:t>
            </a:r>
          </a:p>
        </p:txBody>
      </p:sp>
      <p:sp>
        <p:nvSpPr>
          <p:cNvPr id="9" name="文字_C. 最简单氢化物的稳定性强弱：W &lt; Y"/>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最简单氢化物的稳定性强弱：W &lt; Y</a:t>
            </a:r>
          </a:p>
        </p:txBody>
      </p:sp>
      <p:sp>
        <p:nvSpPr>
          <p:cNvPr id="10" name="文字_D. Z与X形成的简单二元化合物属于离子化合物"/>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Z与X形成的简单二元化合物属于离子化合物</a:t>
            </a:r>
          </a:p>
        </p:txBody>
      </p:sp>
      <p:sp>
        <p:nvSpPr>
          <p:cNvPr id="11" name="文字_单选题  ·  11-07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11-075</a:t>
            </a:r>
          </a:p>
        </p:txBody>
      </p:sp>
      <p:sp>
        <p:nvSpPr>
          <p:cNvPr id="12" name="文字_9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1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变式11</a:t>
            </a:r>
          </a:p>
        </p:txBody>
      </p:sp>
      <p:sp>
        <p:nvSpPr>
          <p:cNvPr id="5" name="文字_P25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P251</a:t>
            </a:r>
          </a:p>
        </p:txBody>
      </p:sp>
      <p:sp>
        <p:nvSpPr>
          <p:cNvPr id="6" name="文字_一种可为运动员补充能量的物质，其分子结构式如图。"/>
          <p:cNvSpPr txBox="1"/>
          <p:nvPr/>
        </p:nvSpPr>
        <p:spPr>
          <a:xfrm>
            <a:off x="502920" y="1078992"/>
            <a:ext cx="11064240" cy="1091565"/>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一种可为运动员补充能量的物质，其分子结构式如图。已知R、W、Z、X、Y为原子序数</a:t>
            </a:r>
          </a:p>
          <a:p>
            <a:pPr>
              <a:lnSpc>
                <a:spcPct val="112000"/>
              </a:lnSpc>
              <a:spcBef>
                <a:spcPts val="0"/>
              </a:spcBef>
              <a:spcAft>
                <a:spcPts val="0"/>
              </a:spcAft>
              <a:defRPr sz="2250" b="0">
                <a:solidFill>
                  <a:srgbClr val="333333"/>
                </a:solidFill>
                <a:latin typeface="微软雅黑"/>
              </a:defRPr>
            </a:pPr>
            <a:r>
              <a:rPr>
                <a:ea typeface="微软雅黑"/>
              </a:rPr>
              <a:t>依次增大的短周期主族元素，W原子最外层电子数是其内层电子数的2倍，Z和Y同族。</a:t>
            </a:r>
          </a:p>
          <a:p>
            <a:pPr>
              <a:lnSpc>
                <a:spcPct val="112000"/>
              </a:lnSpc>
              <a:spcBef>
                <a:spcPts val="0"/>
              </a:spcBef>
              <a:spcAft>
                <a:spcPts val="0"/>
              </a:spcAft>
              <a:defRPr sz="2250" b="0">
                <a:solidFill>
                  <a:srgbClr val="333333"/>
                </a:solidFill>
                <a:latin typeface="微软雅黑"/>
              </a:defRPr>
            </a:pPr>
            <a:r>
              <a:rPr>
                <a:ea typeface="微软雅黑"/>
              </a:rPr>
              <a:t>下列说法正确的是</a:t>
            </a:r>
          </a:p>
        </p:txBody>
      </p:sp>
      <p:sp>
        <p:nvSpPr>
          <p:cNvPr id="7" name="文字_R ______ R"/>
          <p:cNvSpPr txBox="1"/>
          <p:nvPr/>
        </p:nvSpPr>
        <p:spPr>
          <a:xfrm>
            <a:off x="502920" y="2170557"/>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R ______ R</a:t>
            </a:r>
          </a:p>
        </p:txBody>
      </p:sp>
      <p:sp>
        <p:nvSpPr>
          <p:cNvPr id="8" name="文字_R R"/>
          <p:cNvSpPr txBox="1"/>
          <p:nvPr/>
        </p:nvSpPr>
        <p:spPr>
          <a:xfrm>
            <a:off x="502920" y="2582037"/>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R R</a:t>
            </a:r>
          </a:p>
        </p:txBody>
      </p:sp>
      <p:pic>
        <p:nvPicPr>
          <p:cNvPr id="9" name="Picture 8" descr="image.png"/>
          <p:cNvPicPr>
            <a:picLocks noChangeAspect="1"/>
          </p:cNvPicPr>
          <p:nvPr/>
        </p:nvPicPr>
        <p:blipFill>
          <a:blip r:embed="rId3"/>
          <a:stretch>
            <a:fillRect/>
          </a:stretch>
        </p:blipFill>
        <p:spPr>
          <a:xfrm>
            <a:off x="502920" y="2993517"/>
            <a:ext cx="11064240" cy="1577324"/>
          </a:xfrm>
          <a:prstGeom prst="rect">
            <a:avLst/>
          </a:prstGeom>
        </p:spPr>
      </p:pic>
      <p:sp>
        <p:nvSpPr>
          <p:cNvPr id="10" name="原题文字_251_36"/>
          <p:cNvSpPr txBox="1"/>
          <p:nvPr/>
        </p:nvSpPr>
        <p:spPr>
          <a:xfrm>
            <a:off x="969991" y="3025400"/>
            <a:ext cx="299885" cy="597239"/>
          </a:xfrm>
          <a:prstGeom prst="rect">
            <a:avLst/>
          </a:prstGeom>
          <a:noFill/>
        </p:spPr>
        <p:txBody>
          <a:bodyPr wrap="none" lIns="0" rIns="0" tIns="0" bIns="0">
            <a:spAutoFit/>
          </a:bodyPr>
          <a:lstStyle/>
          <a:p>
            <a:pPr>
              <a:lnSpc>
                <a:spcPct val="112000"/>
              </a:lnSpc>
              <a:spcBef>
                <a:spcPts val="0"/>
              </a:spcBef>
              <a:spcAft>
                <a:spcPts val="0"/>
              </a:spcAft>
              <a:defRPr sz="1910" b="0">
                <a:solidFill>
                  <a:srgbClr val="333333"/>
                </a:solidFill>
                <a:latin typeface="微软雅黑"/>
              </a:defRPr>
            </a:pPr>
            <a:r>
              <a:rPr>
                <a:ea typeface="微软雅黑"/>
              </a:rPr>
              <a:t>xー</a:t>
            </a:r>
          </a:p>
        </p:txBody>
      </p:sp>
      <p:sp>
        <p:nvSpPr>
          <p:cNvPr id="11" name="原题文字_251_37"/>
          <p:cNvSpPr txBox="1"/>
          <p:nvPr/>
        </p:nvSpPr>
        <p:spPr>
          <a:xfrm>
            <a:off x="1812252" y="3033057"/>
            <a:ext cx="23097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R</a:t>
            </a:r>
          </a:p>
        </p:txBody>
      </p:sp>
      <p:sp>
        <p:nvSpPr>
          <p:cNvPr id="12" name="原题文字_251_38"/>
          <p:cNvSpPr txBox="1"/>
          <p:nvPr/>
        </p:nvSpPr>
        <p:spPr>
          <a:xfrm>
            <a:off x="2233382" y="3048371"/>
            <a:ext cx="246286"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R</a:t>
            </a:r>
          </a:p>
        </p:txBody>
      </p:sp>
      <p:sp>
        <p:nvSpPr>
          <p:cNvPr id="13" name="原题文字_251_39"/>
          <p:cNvSpPr txBox="1"/>
          <p:nvPr/>
        </p:nvSpPr>
        <p:spPr>
          <a:xfrm>
            <a:off x="2646855" y="3056028"/>
            <a:ext cx="246286"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W</a:t>
            </a:r>
          </a:p>
        </p:txBody>
      </p:sp>
      <p:sp>
        <p:nvSpPr>
          <p:cNvPr id="14" name="原题文字_251_40"/>
          <p:cNvSpPr txBox="1"/>
          <p:nvPr/>
        </p:nvSpPr>
        <p:spPr>
          <a:xfrm>
            <a:off x="3427860" y="3071342"/>
            <a:ext cx="246286"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R</a:t>
            </a:r>
          </a:p>
        </p:txBody>
      </p:sp>
      <p:sp>
        <p:nvSpPr>
          <p:cNvPr id="15" name="原题文字_251_41"/>
          <p:cNvSpPr txBox="1"/>
          <p:nvPr/>
        </p:nvSpPr>
        <p:spPr>
          <a:xfrm>
            <a:off x="3435517" y="3232137"/>
            <a:ext cx="230973"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1</a:t>
            </a:r>
          </a:p>
        </p:txBody>
      </p:sp>
      <p:sp>
        <p:nvSpPr>
          <p:cNvPr id="16" name="原题文字_251_42"/>
          <p:cNvSpPr txBox="1"/>
          <p:nvPr/>
        </p:nvSpPr>
        <p:spPr>
          <a:xfrm>
            <a:off x="610116" y="3446531"/>
            <a:ext cx="3454533"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X=Y—x—W—W—z-W—z—R</a:t>
            </a:r>
          </a:p>
        </p:txBody>
      </p:sp>
      <p:sp>
        <p:nvSpPr>
          <p:cNvPr id="17" name="原题文字_251_43"/>
          <p:cNvSpPr txBox="1"/>
          <p:nvPr/>
        </p:nvSpPr>
        <p:spPr>
          <a:xfrm>
            <a:off x="3006730" y="3599669"/>
            <a:ext cx="284571" cy="1084984"/>
          </a:xfrm>
          <a:prstGeom prst="rect">
            <a:avLst/>
          </a:prstGeom>
          <a:noFill/>
        </p:spPr>
        <p:txBody>
          <a:bodyPr wrap="none" lIns="0" rIns="0" tIns="0" bIns="0">
            <a:spAutoFit/>
          </a:bodyPr>
          <a:lstStyle/>
          <a:p>
            <a:pPr>
              <a:lnSpc>
                <a:spcPct val="112000"/>
              </a:lnSpc>
              <a:spcBef>
                <a:spcPts val="0"/>
              </a:spcBef>
              <a:spcAft>
                <a:spcPts val="0"/>
              </a:spcAft>
              <a:defRPr sz="3469" b="0">
                <a:solidFill>
                  <a:srgbClr val="333333"/>
                </a:solidFill>
                <a:latin typeface="微软雅黑"/>
              </a:defRPr>
            </a:pPr>
            <a:r>
              <a:rPr>
                <a:ea typeface="微软雅黑"/>
              </a:rPr>
              <a:t>IZーR</a:t>
            </a:r>
          </a:p>
        </p:txBody>
      </p:sp>
      <p:sp>
        <p:nvSpPr>
          <p:cNvPr id="18" name="原题文字_251_44"/>
          <p:cNvSpPr txBox="1"/>
          <p:nvPr/>
        </p:nvSpPr>
        <p:spPr>
          <a:xfrm>
            <a:off x="969991" y="3844690"/>
            <a:ext cx="299885" cy="637055"/>
          </a:xfrm>
          <a:prstGeom prst="rect">
            <a:avLst/>
          </a:prstGeom>
          <a:noFill/>
        </p:spPr>
        <p:txBody>
          <a:bodyPr wrap="none" lIns="0" rIns="0" tIns="0" bIns="0">
            <a:spAutoFit/>
          </a:bodyPr>
          <a:lstStyle/>
          <a:p>
            <a:pPr>
              <a:lnSpc>
                <a:spcPct val="112000"/>
              </a:lnSpc>
              <a:spcBef>
                <a:spcPts val="0"/>
              </a:spcBef>
              <a:spcAft>
                <a:spcPts val="0"/>
              </a:spcAft>
              <a:defRPr sz="2037" b="0">
                <a:solidFill>
                  <a:srgbClr val="333333"/>
                </a:solidFill>
                <a:latin typeface="微软雅黑"/>
              </a:defRPr>
            </a:pPr>
            <a:r>
              <a:rPr>
                <a:ea typeface="微软雅黑"/>
              </a:rPr>
              <a:t>xー</a:t>
            </a:r>
          </a:p>
        </p:txBody>
      </p:sp>
      <p:sp>
        <p:nvSpPr>
          <p:cNvPr id="19" name="原题文字_251_45"/>
          <p:cNvSpPr txBox="1"/>
          <p:nvPr/>
        </p:nvSpPr>
        <p:spPr>
          <a:xfrm>
            <a:off x="1789281" y="3905945"/>
            <a:ext cx="29222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R</a:t>
            </a:r>
          </a:p>
        </p:txBody>
      </p:sp>
      <p:sp>
        <p:nvSpPr>
          <p:cNvPr id="20" name="原题文字_251_46"/>
          <p:cNvSpPr txBox="1"/>
          <p:nvPr/>
        </p:nvSpPr>
        <p:spPr>
          <a:xfrm>
            <a:off x="2202754" y="3913602"/>
            <a:ext cx="29988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R</a:t>
            </a:r>
          </a:p>
        </p:txBody>
      </p:sp>
      <p:sp>
        <p:nvSpPr>
          <p:cNvPr id="21" name="原题文字_251_47"/>
          <p:cNvSpPr txBox="1"/>
          <p:nvPr/>
        </p:nvSpPr>
        <p:spPr>
          <a:xfrm>
            <a:off x="992962" y="4304105"/>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R</a:t>
            </a:r>
          </a:p>
        </p:txBody>
      </p:sp>
      <p:sp>
        <p:nvSpPr>
          <p:cNvPr id="22" name="文字_A. 原子半径： Y &lt; Z"/>
          <p:cNvSpPr txBox="1"/>
          <p:nvPr/>
        </p:nvSpPr>
        <p:spPr>
          <a:xfrm>
            <a:off x="502920" y="4643993"/>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A. 原子半径： Y &lt; Z</a:t>
            </a:r>
          </a:p>
        </p:txBody>
      </p:sp>
      <p:sp>
        <p:nvSpPr>
          <p:cNvPr id="23" name="文字_B. 最高价氧化物对应水化物的酸性：Z &lt; W"/>
          <p:cNvSpPr txBox="1"/>
          <p:nvPr/>
        </p:nvSpPr>
        <p:spPr>
          <a:xfrm>
            <a:off x="502920" y="5055473"/>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B. 最高价氧化物对应水化物的酸性：Z &lt; W</a:t>
            </a:r>
          </a:p>
        </p:txBody>
      </p:sp>
      <p:sp>
        <p:nvSpPr>
          <p:cNvPr id="24" name="文字_C. W、Z、X均能与R形成10e−微粒"/>
          <p:cNvSpPr txBox="1"/>
          <p:nvPr/>
        </p:nvSpPr>
        <p:spPr>
          <a:xfrm>
            <a:off x="502920" y="5466953"/>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C. W、Z、X均能与R形成10e−微粒</a:t>
            </a:r>
          </a:p>
        </p:txBody>
      </p:sp>
      <p:sp>
        <p:nvSpPr>
          <p:cNvPr id="25" name="文字_D. Z的简单气态氢化物的空间构型为正四面体形"/>
          <p:cNvSpPr txBox="1"/>
          <p:nvPr/>
        </p:nvSpPr>
        <p:spPr>
          <a:xfrm>
            <a:off x="502920" y="5878433"/>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D. Z的简单气态氢化物的空间构型为正四面体形</a:t>
            </a:r>
          </a:p>
        </p:txBody>
      </p:sp>
      <p:sp>
        <p:nvSpPr>
          <p:cNvPr id="26" name="文字_单选题  ·  11-07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11-076</a:t>
            </a:r>
          </a:p>
        </p:txBody>
      </p:sp>
      <p:sp>
        <p:nvSpPr>
          <p:cNvPr id="27" name="文字_9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1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变式12</a:t>
            </a:r>
          </a:p>
        </p:txBody>
      </p:sp>
      <p:sp>
        <p:nvSpPr>
          <p:cNvPr id="5" name="文字_P25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P252</a:t>
            </a:r>
          </a:p>
        </p:txBody>
      </p:sp>
      <p:sp>
        <p:nvSpPr>
          <p:cNvPr id="6" name="文字_W、X、Y、Z为原子序数依次增大的短周期主族元素"/>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W、X、Y、Z为原子序数依次增大的短周期主族元素，它们形成的某种化合物的结</a:t>
            </a:r>
          </a:p>
          <a:p>
            <a:pPr>
              <a:lnSpc>
                <a:spcPct val="112000"/>
              </a:lnSpc>
              <a:spcBef>
                <a:spcPts val="0"/>
              </a:spcBef>
              <a:spcAft>
                <a:spcPts val="0"/>
              </a:spcAft>
              <a:defRPr sz="2400" b="0">
                <a:solidFill>
                  <a:srgbClr val="333333"/>
                </a:solidFill>
                <a:latin typeface="微软雅黑"/>
              </a:defRPr>
            </a:pPr>
            <a:r>
              <a:rPr>
                <a:ea typeface="微软雅黑"/>
              </a:rPr>
              <a:t>构如图所示，其中X、Z同主族、W、X、Y为同周期。有关四种元素下列说法错误</a:t>
            </a:r>
          </a:p>
          <a:p>
            <a:pPr>
              <a:lnSpc>
                <a:spcPct val="112000"/>
              </a:lnSpc>
              <a:spcBef>
                <a:spcPts val="0"/>
              </a:spcBef>
              <a:spcAft>
                <a:spcPts val="0"/>
              </a:spcAft>
              <a:defRPr sz="2400" b="0">
                <a:solidFill>
                  <a:srgbClr val="333333"/>
                </a:solidFill>
                <a:latin typeface="微软雅黑"/>
              </a:defRPr>
            </a:pPr>
            <a:r>
              <a:rPr>
                <a:ea typeface="微软雅黑"/>
              </a:rPr>
              <a:t>的是</a:t>
            </a:r>
          </a:p>
        </p:txBody>
      </p:sp>
      <p:sp>
        <p:nvSpPr>
          <p:cNvPr id="7" name="文字_X X"/>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X X</a:t>
            </a:r>
          </a:p>
        </p:txBody>
      </p:sp>
      <p:sp>
        <p:nvSpPr>
          <p:cNvPr id="8" name="文字_Z"/>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Z</a:t>
            </a:r>
          </a:p>
        </p:txBody>
      </p:sp>
      <p:sp>
        <p:nvSpPr>
          <p:cNvPr id="9" name="文字_Y ______ W=W+=W-"/>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Y ______ W=W+=W-</a:t>
            </a:r>
          </a:p>
        </p:txBody>
      </p:sp>
      <p:sp>
        <p:nvSpPr>
          <p:cNvPr id="10" name="文字_A. 最简单氢化物的沸点：Y&gt;X"/>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最简单氢化物的沸点：Y&gt;X</a:t>
            </a:r>
          </a:p>
        </p:txBody>
      </p:sp>
      <p:sp>
        <p:nvSpPr>
          <p:cNvPr id="11" name="文字_B. 非金属性最强的元素是：Y"/>
          <p:cNvSpPr txBox="1"/>
          <p:nvPr/>
        </p:nvSpPr>
        <p:spPr>
          <a:xfrm>
            <a:off x="502920" y="39989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非金属性最强的元素是：Y</a:t>
            </a:r>
          </a:p>
        </p:txBody>
      </p:sp>
      <p:sp>
        <p:nvSpPr>
          <p:cNvPr id="12" name="文字_C. 简单离子半径： Z&gt;W&gt;X"/>
          <p:cNvSpPr txBox="1"/>
          <p:nvPr/>
        </p:nvSpPr>
        <p:spPr>
          <a:xfrm>
            <a:off x="502920" y="44378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简单离子半径： Z&gt;W&gt;X</a:t>
            </a:r>
          </a:p>
        </p:txBody>
      </p:sp>
      <p:sp>
        <p:nvSpPr>
          <p:cNvPr id="13" name="文字_D. W的最高价氧化物对应水化物与其简单氢化物发"/>
          <p:cNvSpPr txBox="1"/>
          <p:nvPr/>
        </p:nvSpPr>
        <p:spPr>
          <a:xfrm>
            <a:off x="502920" y="48768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W的最高价氧化物对应水化物与其简单氢化物发生反应能形成盐</a:t>
            </a:r>
          </a:p>
        </p:txBody>
      </p:sp>
      <p:sp>
        <p:nvSpPr>
          <p:cNvPr id="14" name="文字_单选题  ·  11-07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11-077</a:t>
            </a:r>
          </a:p>
        </p:txBody>
      </p:sp>
      <p:sp>
        <p:nvSpPr>
          <p:cNvPr id="15" name="文字_9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1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变式13</a:t>
            </a:r>
          </a:p>
        </p:txBody>
      </p:sp>
      <p:sp>
        <p:nvSpPr>
          <p:cNvPr id="5" name="文字_P25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P252</a:t>
            </a:r>
          </a:p>
        </p:txBody>
      </p:sp>
      <p:sp>
        <p:nvSpPr>
          <p:cNvPr id="6" name="文字_一种新型消毒剂由W、X、Y、Z四种元素组成，其结"/>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一种新型消毒剂由W、X、Y、Z四种元素组成，其结构如图所示，其中W形成的单</a:t>
            </a:r>
          </a:p>
          <a:p>
            <a:pPr>
              <a:lnSpc>
                <a:spcPct val="112000"/>
              </a:lnSpc>
              <a:spcBef>
                <a:spcPts val="0"/>
              </a:spcBef>
              <a:spcAft>
                <a:spcPts val="0"/>
              </a:spcAft>
              <a:defRPr sz="2400" b="0">
                <a:solidFill>
                  <a:srgbClr val="333333"/>
                </a:solidFill>
                <a:latin typeface="微软雅黑"/>
              </a:defRPr>
            </a:pPr>
            <a:r>
              <a:rPr>
                <a:ea typeface="微软雅黑"/>
              </a:rPr>
              <a:t>质是自然界中最硬的物质；X的最高价氧化物对应的水化物与其简单氢化物可以发</a:t>
            </a:r>
          </a:p>
          <a:p>
            <a:pPr>
              <a:lnSpc>
                <a:spcPct val="112000"/>
              </a:lnSpc>
              <a:spcBef>
                <a:spcPts val="0"/>
              </a:spcBef>
              <a:spcAft>
                <a:spcPts val="0"/>
              </a:spcAft>
              <a:defRPr sz="2400" b="0">
                <a:solidFill>
                  <a:srgbClr val="333333"/>
                </a:solidFill>
                <a:latin typeface="微软雅黑"/>
              </a:defRPr>
            </a:pPr>
            <a:r>
              <a:rPr>
                <a:ea typeface="微软雅黑"/>
              </a:rPr>
              <a:t>生反应生成一种常见的盐；Z的最高价氧化物对应的水化物是酸性最强的含氧酸；Y</a:t>
            </a:r>
          </a:p>
          <a:p>
            <a:pPr>
              <a:lnSpc>
                <a:spcPct val="112000"/>
              </a:lnSpc>
              <a:spcBef>
                <a:spcPts val="0"/>
              </a:spcBef>
              <a:spcAft>
                <a:spcPts val="0"/>
              </a:spcAft>
              <a:defRPr sz="2400" b="0">
                <a:solidFill>
                  <a:srgbClr val="333333"/>
                </a:solidFill>
                <a:latin typeface="微软雅黑"/>
              </a:defRPr>
            </a:pPr>
            <a:r>
              <a:rPr>
                <a:ea typeface="微软雅黑"/>
              </a:rPr>
              <a:t>分别与W、X、z可以形成多种二元化合物。下列叙述错误的是</a:t>
            </a:r>
          </a:p>
        </p:txBody>
      </p:sp>
      <p:sp>
        <p:nvSpPr>
          <p:cNvPr id="7" name="文字_A. 简单氢化物的稳定性：X&gt;Y"/>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简单氢化物的稳定性：X&gt;Y</a:t>
            </a:r>
          </a:p>
        </p:txBody>
      </p:sp>
      <p:sp>
        <p:nvSpPr>
          <p:cNvPr id="8" name="文字_Z"/>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Z</a:t>
            </a:r>
          </a:p>
        </p:txBody>
      </p:sp>
      <p:sp>
        <p:nvSpPr>
          <p:cNvPr id="9" name="文字_B. 原子半径: W&gt;X&gt;Y"/>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原子半径: W&gt;X&gt;Y</a:t>
            </a:r>
          </a:p>
        </p:txBody>
      </p:sp>
      <p:sp>
        <p:nvSpPr>
          <p:cNvPr id="10" name="文字_W-X"/>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W-X</a:t>
            </a:r>
          </a:p>
        </p:txBody>
      </p:sp>
      <p:pic>
        <p:nvPicPr>
          <p:cNvPr id="11" name="Picture 10" descr="image.png"/>
          <p:cNvPicPr>
            <a:picLocks noChangeAspect="1"/>
          </p:cNvPicPr>
          <p:nvPr/>
        </p:nvPicPr>
        <p:blipFill>
          <a:blip r:embed="rId3"/>
          <a:stretch>
            <a:fillRect/>
          </a:stretch>
        </p:blipFill>
        <p:spPr>
          <a:xfrm>
            <a:off x="502920" y="4361688"/>
            <a:ext cx="11064240" cy="1125566"/>
          </a:xfrm>
          <a:prstGeom prst="rect">
            <a:avLst/>
          </a:prstGeom>
        </p:spPr>
      </p:pic>
      <p:sp>
        <p:nvSpPr>
          <p:cNvPr id="12" name="原题文字_252_24"/>
          <p:cNvSpPr txBox="1"/>
          <p:nvPr/>
        </p:nvSpPr>
        <p:spPr>
          <a:xfrm>
            <a:off x="587146" y="4271061"/>
            <a:ext cx="453415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 该消毒剂中X原子最外层满足8电子稳定结构</a:t>
            </a:r>
          </a:p>
        </p:txBody>
      </p:sp>
      <p:sp>
        <p:nvSpPr>
          <p:cNvPr id="13" name="原题文字_252_25"/>
          <p:cNvSpPr txBox="1"/>
          <p:nvPr/>
        </p:nvSpPr>
        <p:spPr>
          <a:xfrm>
            <a:off x="9055692" y="4393571"/>
            <a:ext cx="79758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Z-X</a:t>
            </a:r>
          </a:p>
        </p:txBody>
      </p:sp>
      <p:sp>
        <p:nvSpPr>
          <p:cNvPr id="14" name="原题文字_252_26"/>
          <p:cNvSpPr txBox="1"/>
          <p:nvPr/>
        </p:nvSpPr>
        <p:spPr>
          <a:xfrm>
            <a:off x="10418622" y="4408885"/>
            <a:ext cx="782270"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W=Y</a:t>
            </a:r>
          </a:p>
        </p:txBody>
      </p:sp>
      <p:sp>
        <p:nvSpPr>
          <p:cNvPr id="15" name="原题文字_252_27"/>
          <p:cNvSpPr txBox="1"/>
          <p:nvPr/>
        </p:nvSpPr>
        <p:spPr>
          <a:xfrm>
            <a:off x="564175" y="4638592"/>
            <a:ext cx="2949177"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D. ZY₂可用于自来水的消毒剂</a:t>
            </a:r>
          </a:p>
        </p:txBody>
      </p:sp>
      <p:sp>
        <p:nvSpPr>
          <p:cNvPr id="16" name="原题文字_252_28"/>
          <p:cNvSpPr txBox="1"/>
          <p:nvPr/>
        </p:nvSpPr>
        <p:spPr>
          <a:xfrm>
            <a:off x="10449250" y="5197547"/>
            <a:ext cx="30754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Z</a:t>
            </a:r>
          </a:p>
        </p:txBody>
      </p:sp>
      <p:sp>
        <p:nvSpPr>
          <p:cNvPr id="17" name="文字_单选题  ·  11-07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11-078</a:t>
            </a:r>
          </a:p>
        </p:txBody>
      </p:sp>
      <p:sp>
        <p:nvSpPr>
          <p:cNvPr id="18" name="文字_9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1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变式14</a:t>
            </a:r>
          </a:p>
        </p:txBody>
      </p:sp>
      <p:sp>
        <p:nvSpPr>
          <p:cNvPr id="5" name="文字_P25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P252</a:t>
            </a:r>
          </a:p>
        </p:txBody>
      </p:sp>
      <p:sp>
        <p:nvSpPr>
          <p:cNvPr id="6" name="文字_如表为元素周期表中的一部分，表中列出10种元素在"/>
          <p:cNvSpPr txBox="1"/>
          <p:nvPr/>
        </p:nvSpPr>
        <p:spPr>
          <a:xfrm>
            <a:off x="502920" y="1078992"/>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如表为元素周期表中的一部分，表中列出10种元素在周期表中的位置，按要求回答下列各题。</a:t>
            </a:r>
          </a:p>
        </p:txBody>
      </p:sp>
      <p:pic>
        <p:nvPicPr>
          <p:cNvPr id="7" name="Picture 6" descr="image.png"/>
          <p:cNvPicPr>
            <a:picLocks noChangeAspect="1"/>
          </p:cNvPicPr>
          <p:nvPr/>
        </p:nvPicPr>
        <p:blipFill>
          <a:blip r:embed="rId3"/>
          <a:stretch>
            <a:fillRect/>
          </a:stretch>
        </p:blipFill>
        <p:spPr>
          <a:xfrm>
            <a:off x="502920" y="1435607"/>
            <a:ext cx="11064240" cy="2044395"/>
          </a:xfrm>
          <a:prstGeom prst="rect">
            <a:avLst/>
          </a:prstGeom>
        </p:spPr>
      </p:pic>
      <p:sp>
        <p:nvSpPr>
          <p:cNvPr id="8" name="原题文字_252_33"/>
          <p:cNvSpPr txBox="1"/>
          <p:nvPr/>
        </p:nvSpPr>
        <p:spPr>
          <a:xfrm>
            <a:off x="610116" y="1590002"/>
            <a:ext cx="31519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周</a:t>
            </a:r>
          </a:p>
        </p:txBody>
      </p:sp>
      <p:sp>
        <p:nvSpPr>
          <p:cNvPr id="9" name="原题文字_252_34"/>
          <p:cNvSpPr txBox="1"/>
          <p:nvPr/>
        </p:nvSpPr>
        <p:spPr>
          <a:xfrm>
            <a:off x="954677" y="1559374"/>
            <a:ext cx="407082"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族</a:t>
            </a:r>
          </a:p>
        </p:txBody>
      </p:sp>
      <p:sp>
        <p:nvSpPr>
          <p:cNvPr id="10" name="原题文字_252_35"/>
          <p:cNvSpPr txBox="1"/>
          <p:nvPr/>
        </p:nvSpPr>
        <p:spPr>
          <a:xfrm>
            <a:off x="594802" y="1903935"/>
            <a:ext cx="322855"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期</a:t>
            </a:r>
          </a:p>
        </p:txBody>
      </p:sp>
      <p:sp>
        <p:nvSpPr>
          <p:cNvPr id="11" name="原题文字_252_36"/>
          <p:cNvSpPr txBox="1"/>
          <p:nvPr/>
        </p:nvSpPr>
        <p:spPr>
          <a:xfrm>
            <a:off x="985305" y="1957534"/>
            <a:ext cx="36879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IA</a:t>
            </a:r>
          </a:p>
        </p:txBody>
      </p:sp>
      <p:sp>
        <p:nvSpPr>
          <p:cNvPr id="12" name="原题文字_252_37"/>
          <p:cNvSpPr txBox="1"/>
          <p:nvPr/>
        </p:nvSpPr>
        <p:spPr>
          <a:xfrm>
            <a:off x="2271667" y="1934563"/>
            <a:ext cx="460680"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IIA</a:t>
            </a:r>
          </a:p>
        </p:txBody>
      </p:sp>
      <p:sp>
        <p:nvSpPr>
          <p:cNvPr id="13" name="原题文字_252_38"/>
          <p:cNvSpPr txBox="1"/>
          <p:nvPr/>
        </p:nvSpPr>
        <p:spPr>
          <a:xfrm>
            <a:off x="3588656" y="1957534"/>
            <a:ext cx="49130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IIIA</a:t>
            </a:r>
          </a:p>
        </p:txBody>
      </p:sp>
      <p:sp>
        <p:nvSpPr>
          <p:cNvPr id="14" name="原题文字_252_39"/>
          <p:cNvSpPr txBox="1"/>
          <p:nvPr/>
        </p:nvSpPr>
        <p:spPr>
          <a:xfrm>
            <a:off x="4897988" y="1957534"/>
            <a:ext cx="498964"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IVA</a:t>
            </a:r>
          </a:p>
        </p:txBody>
      </p:sp>
      <p:sp>
        <p:nvSpPr>
          <p:cNvPr id="15" name="原题文字_252_40"/>
          <p:cNvSpPr txBox="1"/>
          <p:nvPr/>
        </p:nvSpPr>
        <p:spPr>
          <a:xfrm>
            <a:off x="6184349" y="1949877"/>
            <a:ext cx="445366"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VA</a:t>
            </a:r>
          </a:p>
        </p:txBody>
      </p:sp>
      <p:sp>
        <p:nvSpPr>
          <p:cNvPr id="16" name="原题文字_252_41"/>
          <p:cNvSpPr txBox="1"/>
          <p:nvPr/>
        </p:nvSpPr>
        <p:spPr>
          <a:xfrm>
            <a:off x="7486025" y="1957534"/>
            <a:ext cx="49896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VIA</a:t>
            </a:r>
          </a:p>
        </p:txBody>
      </p:sp>
      <p:sp>
        <p:nvSpPr>
          <p:cNvPr id="17" name="原题文字_252_42"/>
          <p:cNvSpPr txBox="1"/>
          <p:nvPr/>
        </p:nvSpPr>
        <p:spPr>
          <a:xfrm>
            <a:off x="8787700" y="1957534"/>
            <a:ext cx="55256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VIIA</a:t>
            </a:r>
          </a:p>
        </p:txBody>
      </p:sp>
      <p:sp>
        <p:nvSpPr>
          <p:cNvPr id="18" name="原题文字_252_43"/>
          <p:cNvSpPr txBox="1"/>
          <p:nvPr/>
        </p:nvSpPr>
        <p:spPr>
          <a:xfrm>
            <a:off x="10089375" y="1972848"/>
            <a:ext cx="230973"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0</a:t>
            </a:r>
          </a:p>
        </p:txBody>
      </p:sp>
      <p:sp>
        <p:nvSpPr>
          <p:cNvPr id="19" name="原题文字_252_44"/>
          <p:cNvSpPr txBox="1"/>
          <p:nvPr/>
        </p:nvSpPr>
        <p:spPr>
          <a:xfrm>
            <a:off x="594802" y="2355693"/>
            <a:ext cx="22331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2</a:t>
            </a:r>
          </a:p>
        </p:txBody>
      </p:sp>
      <p:sp>
        <p:nvSpPr>
          <p:cNvPr id="20" name="原题文字_252_45"/>
          <p:cNvSpPr txBox="1"/>
          <p:nvPr/>
        </p:nvSpPr>
        <p:spPr>
          <a:xfrm>
            <a:off x="4936272" y="2371007"/>
            <a:ext cx="246286"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④</a:t>
            </a:r>
          </a:p>
        </p:txBody>
      </p:sp>
      <p:sp>
        <p:nvSpPr>
          <p:cNvPr id="21" name="原题文字_252_46"/>
          <p:cNvSpPr txBox="1"/>
          <p:nvPr/>
        </p:nvSpPr>
        <p:spPr>
          <a:xfrm>
            <a:off x="6207320" y="2355693"/>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⑥</a:t>
            </a:r>
          </a:p>
        </p:txBody>
      </p:sp>
      <p:sp>
        <p:nvSpPr>
          <p:cNvPr id="22" name="原题文字_252_47"/>
          <p:cNvSpPr txBox="1"/>
          <p:nvPr/>
        </p:nvSpPr>
        <p:spPr>
          <a:xfrm>
            <a:off x="7508995" y="2355693"/>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⑦</a:t>
            </a:r>
          </a:p>
        </p:txBody>
      </p:sp>
      <p:sp>
        <p:nvSpPr>
          <p:cNvPr id="23" name="原题文字_252_48"/>
          <p:cNvSpPr txBox="1"/>
          <p:nvPr/>
        </p:nvSpPr>
        <p:spPr>
          <a:xfrm>
            <a:off x="610116" y="2753853"/>
            <a:ext cx="192688"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3</a:t>
            </a:r>
          </a:p>
        </p:txBody>
      </p:sp>
      <p:sp>
        <p:nvSpPr>
          <p:cNvPr id="24" name="原题文字_252_49"/>
          <p:cNvSpPr txBox="1"/>
          <p:nvPr/>
        </p:nvSpPr>
        <p:spPr>
          <a:xfrm>
            <a:off x="1023590" y="2738539"/>
            <a:ext cx="27691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①</a:t>
            </a:r>
          </a:p>
        </p:txBody>
      </p:sp>
      <p:sp>
        <p:nvSpPr>
          <p:cNvPr id="25" name="原题文字_252_50"/>
          <p:cNvSpPr txBox="1"/>
          <p:nvPr/>
        </p:nvSpPr>
        <p:spPr>
          <a:xfrm>
            <a:off x="2325265" y="2738539"/>
            <a:ext cx="27691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②</a:t>
            </a:r>
          </a:p>
        </p:txBody>
      </p:sp>
      <p:sp>
        <p:nvSpPr>
          <p:cNvPr id="26" name="原题文字_252_51"/>
          <p:cNvSpPr txBox="1"/>
          <p:nvPr/>
        </p:nvSpPr>
        <p:spPr>
          <a:xfrm>
            <a:off x="3626940" y="2738539"/>
            <a:ext cx="26925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③</a:t>
            </a:r>
          </a:p>
        </p:txBody>
      </p:sp>
      <p:sp>
        <p:nvSpPr>
          <p:cNvPr id="27" name="原题文字_252_52"/>
          <p:cNvSpPr txBox="1"/>
          <p:nvPr/>
        </p:nvSpPr>
        <p:spPr>
          <a:xfrm>
            <a:off x="4920959" y="2730882"/>
            <a:ext cx="269257"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⑤</a:t>
            </a:r>
          </a:p>
        </p:txBody>
      </p:sp>
      <p:sp>
        <p:nvSpPr>
          <p:cNvPr id="28" name="原题文字_252_53"/>
          <p:cNvSpPr txBox="1"/>
          <p:nvPr/>
        </p:nvSpPr>
        <p:spPr>
          <a:xfrm>
            <a:off x="7501338" y="2738539"/>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⑧</a:t>
            </a:r>
          </a:p>
        </p:txBody>
      </p:sp>
      <p:sp>
        <p:nvSpPr>
          <p:cNvPr id="29" name="原题文字_252_54"/>
          <p:cNvSpPr txBox="1"/>
          <p:nvPr/>
        </p:nvSpPr>
        <p:spPr>
          <a:xfrm>
            <a:off x="8810671" y="2730882"/>
            <a:ext cx="27691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⑨</a:t>
            </a:r>
          </a:p>
        </p:txBody>
      </p:sp>
      <p:sp>
        <p:nvSpPr>
          <p:cNvPr id="30" name="原题文字_252_55"/>
          <p:cNvSpPr txBox="1"/>
          <p:nvPr/>
        </p:nvSpPr>
        <p:spPr>
          <a:xfrm>
            <a:off x="10104689" y="2746196"/>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10</a:t>
            </a:r>
          </a:p>
        </p:txBody>
      </p:sp>
      <p:sp>
        <p:nvSpPr>
          <p:cNvPr id="31" name="原题文字_252_56"/>
          <p:cNvSpPr txBox="1"/>
          <p:nvPr/>
        </p:nvSpPr>
        <p:spPr>
          <a:xfrm>
            <a:off x="1138443" y="3106071"/>
            <a:ext cx="4358049"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(1）这10种元素中，化学性质最稳定的元素是</a:t>
            </a:r>
          </a:p>
        </p:txBody>
      </p:sp>
      <p:sp>
        <p:nvSpPr>
          <p:cNvPr id="32" name="原题文字_252_57"/>
          <p:cNvSpPr txBox="1"/>
          <p:nvPr/>
        </p:nvSpPr>
        <p:spPr>
          <a:xfrm>
            <a:off x="6383429" y="3090757"/>
            <a:ext cx="143310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(写元素符号)。</a:t>
            </a:r>
          </a:p>
        </p:txBody>
      </p:sp>
      <p:sp>
        <p:nvSpPr>
          <p:cNvPr id="33" name="文字_(2) 地壳中含量最丰富的元素是 ______ "/>
          <p:cNvSpPr txBox="1"/>
          <p:nvPr/>
        </p:nvSpPr>
        <p:spPr>
          <a:xfrm>
            <a:off x="502920" y="3553155"/>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(2) 地壳中含量最丰富的元素是 ______ (写元素名称)。</a:t>
            </a:r>
          </a:p>
        </p:txBody>
      </p:sp>
      <p:sp>
        <p:nvSpPr>
          <p:cNvPr id="34" name="文字_(3）元素①②③最高价氧化物对应的水化物，碱性最"/>
          <p:cNvSpPr txBox="1"/>
          <p:nvPr/>
        </p:nvSpPr>
        <p:spPr>
          <a:xfrm>
            <a:off x="502920" y="3909771"/>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(3）元素①②③最高价氧化物对应的水化物，碱性最强的物质名称是</a:t>
            </a:r>
          </a:p>
        </p:txBody>
      </p:sp>
      <p:sp>
        <p:nvSpPr>
          <p:cNvPr id="35" name="文字_(4)元素⑥的氢化物的化学式是 ______ ("/>
          <p:cNvSpPr txBox="1"/>
          <p:nvPr/>
        </p:nvSpPr>
        <p:spPr>
          <a:xfrm>
            <a:off x="502920" y="4266387"/>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(4)元素⑥的氢化物的化学式是 ______ (写一种)。</a:t>
            </a:r>
          </a:p>
        </p:txBody>
      </p:sp>
      <p:sp>
        <p:nvSpPr>
          <p:cNvPr id="36" name="文字_(5)④的两种氧化物，含氧质量分数较小的一种氧化"/>
          <p:cNvSpPr txBox="1"/>
          <p:nvPr/>
        </p:nvSpPr>
        <p:spPr>
          <a:xfrm>
            <a:off x="502920" y="4623003"/>
            <a:ext cx="11064240" cy="651319"/>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(5)④的两种氧化物，含氧质量分数较小的一种氧化物的主要用途有 ______ ，含氧质量分数较大的一种</a:t>
            </a:r>
          </a:p>
          <a:p>
            <a:pPr>
              <a:lnSpc>
                <a:spcPct val="112000"/>
              </a:lnSpc>
              <a:spcBef>
                <a:spcPts val="0"/>
              </a:spcBef>
              <a:spcAft>
                <a:spcPts val="0"/>
              </a:spcAft>
              <a:defRPr sz="1950" b="0">
                <a:solidFill>
                  <a:srgbClr val="333333"/>
                </a:solidFill>
                <a:latin typeface="微软雅黑"/>
              </a:defRPr>
            </a:pPr>
            <a:r>
              <a:rPr>
                <a:ea typeface="微软雅黑"/>
              </a:rPr>
              <a:t>氧化物对环境的主要危害是 ______ o</a:t>
            </a:r>
          </a:p>
        </p:txBody>
      </p:sp>
      <p:sp>
        <p:nvSpPr>
          <p:cNvPr id="37" name="文字_(6) 元素⑧常见的两种氧化物的化学式分别为"/>
          <p:cNvSpPr txBox="1"/>
          <p:nvPr/>
        </p:nvSpPr>
        <p:spPr>
          <a:xfrm>
            <a:off x="502920" y="5274323"/>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(6) 元素⑧常见的两种氧化物的化学式分别为</a:t>
            </a:r>
          </a:p>
        </p:txBody>
      </p:sp>
      <p:sp>
        <p:nvSpPr>
          <p:cNvPr id="38" name="文字_(7) 元素⑨的最高价氧化物对应的水化物的化学式"/>
          <p:cNvSpPr txBox="1"/>
          <p:nvPr/>
        </p:nvSpPr>
        <p:spPr>
          <a:xfrm>
            <a:off x="502920" y="5630939"/>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(7) 元素⑨的最高价氧化物对应的水化物的化学式是 ______ o</a:t>
            </a:r>
          </a:p>
        </p:txBody>
      </p:sp>
      <p:sp>
        <p:nvSpPr>
          <p:cNvPr id="39" name="文字_(8) 元素⑤的氧化物与NaOH溶液反应的离子方"/>
          <p:cNvSpPr txBox="1"/>
          <p:nvPr/>
        </p:nvSpPr>
        <p:spPr>
          <a:xfrm>
            <a:off x="502920" y="5987555"/>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(8) 元素⑤的氧化物与NaOH溶液反应的离子方程式为</a:t>
            </a:r>
          </a:p>
        </p:txBody>
      </p:sp>
      <p:sp>
        <p:nvSpPr>
          <p:cNvPr id="40" name="文字_解答题  ·  11-07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11-079</a:t>
            </a:r>
          </a:p>
        </p:txBody>
      </p:sp>
      <p:sp>
        <p:nvSpPr>
          <p:cNvPr id="41" name="文字_9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元素推断及元素周期律的综合应用 · 变式1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元素推断及元素周期律的综合应用 · 变式15</a:t>
            </a:r>
          </a:p>
        </p:txBody>
      </p:sp>
      <p:sp>
        <p:nvSpPr>
          <p:cNvPr id="5" name="文字_P25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P253</a:t>
            </a:r>
          </a:p>
        </p:txBody>
      </p:sp>
      <p:pic>
        <p:nvPicPr>
          <p:cNvPr id="6" name="Picture 5" descr="image.png"/>
          <p:cNvPicPr>
            <a:picLocks noChangeAspect="1"/>
          </p:cNvPicPr>
          <p:nvPr/>
        </p:nvPicPr>
        <p:blipFill>
          <a:blip r:embed="rId3"/>
          <a:stretch>
            <a:fillRect/>
          </a:stretch>
        </p:blipFill>
        <p:spPr>
          <a:xfrm>
            <a:off x="502920" y="1078992"/>
            <a:ext cx="11064240" cy="2159249"/>
          </a:xfrm>
          <a:prstGeom prst="rect">
            <a:avLst/>
          </a:prstGeom>
        </p:spPr>
      </p:pic>
      <p:sp>
        <p:nvSpPr>
          <p:cNvPr id="7" name="原题文字_253_3"/>
          <p:cNvSpPr txBox="1"/>
          <p:nvPr/>
        </p:nvSpPr>
        <p:spPr>
          <a:xfrm>
            <a:off x="556518" y="1080248"/>
            <a:ext cx="6065541" cy="368297"/>
          </a:xfrm>
          <a:prstGeom prst="rect">
            <a:avLst/>
          </a:prstGeom>
          <a:noFill/>
        </p:spPr>
        <p:txBody>
          <a:bodyPr wrap="none" lIns="0" rIns="0" tIns="0" bIns="0">
            <a:spAutoFit/>
          </a:bodyPr>
          <a:lstStyle/>
          <a:p>
            <a:pPr>
              <a:lnSpc>
                <a:spcPct val="112000"/>
              </a:lnSpc>
              <a:spcBef>
                <a:spcPts val="0"/>
              </a:spcBef>
              <a:spcAft>
                <a:spcPts val="0"/>
              </a:spcAft>
              <a:defRPr sz="1715" b="0">
                <a:solidFill>
                  <a:srgbClr val="333333"/>
                </a:solidFill>
                <a:latin typeface="微软雅黑"/>
              </a:defRPr>
            </a:pPr>
            <a:r>
              <a:rPr>
                <a:ea typeface="微软雅黑"/>
              </a:rPr>
              <a:t>X、Y、Z、M、R、Q是短周期主族元素，部分信息如下表所示：</a:t>
            </a:r>
          </a:p>
        </p:txBody>
      </p:sp>
      <p:sp>
        <p:nvSpPr>
          <p:cNvPr id="8" name="原题文字_253_4"/>
          <p:cNvSpPr txBox="1"/>
          <p:nvPr/>
        </p:nvSpPr>
        <p:spPr>
          <a:xfrm>
            <a:off x="1842879" y="1524349"/>
            <a:ext cx="31519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X</a:t>
            </a:r>
          </a:p>
        </p:txBody>
      </p:sp>
      <p:sp>
        <p:nvSpPr>
          <p:cNvPr id="9" name="原题文字_253_5"/>
          <p:cNvSpPr txBox="1"/>
          <p:nvPr/>
        </p:nvSpPr>
        <p:spPr>
          <a:xfrm>
            <a:off x="3649911" y="1547319"/>
            <a:ext cx="238629"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Y</a:t>
            </a:r>
          </a:p>
        </p:txBody>
      </p:sp>
      <p:sp>
        <p:nvSpPr>
          <p:cNvPr id="10" name="原题文字_253_6"/>
          <p:cNvSpPr txBox="1"/>
          <p:nvPr/>
        </p:nvSpPr>
        <p:spPr>
          <a:xfrm>
            <a:off x="5165980" y="1532006"/>
            <a:ext cx="269257"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Z</a:t>
            </a:r>
          </a:p>
        </p:txBody>
      </p:sp>
      <p:sp>
        <p:nvSpPr>
          <p:cNvPr id="11" name="原题文字_253_7"/>
          <p:cNvSpPr txBox="1"/>
          <p:nvPr/>
        </p:nvSpPr>
        <p:spPr>
          <a:xfrm>
            <a:off x="6705019" y="1524349"/>
            <a:ext cx="34582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M</a:t>
            </a:r>
          </a:p>
        </p:txBody>
      </p:sp>
      <p:sp>
        <p:nvSpPr>
          <p:cNvPr id="12" name="原题文字_253_8"/>
          <p:cNvSpPr txBox="1"/>
          <p:nvPr/>
        </p:nvSpPr>
        <p:spPr>
          <a:xfrm>
            <a:off x="7225690" y="1532006"/>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R</a:t>
            </a:r>
          </a:p>
        </p:txBody>
      </p:sp>
      <p:sp>
        <p:nvSpPr>
          <p:cNvPr id="13" name="原题文字_253_9"/>
          <p:cNvSpPr txBox="1"/>
          <p:nvPr/>
        </p:nvSpPr>
        <p:spPr>
          <a:xfrm>
            <a:off x="7884184" y="1509035"/>
            <a:ext cx="338169"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Q</a:t>
            </a:r>
          </a:p>
        </p:txBody>
      </p:sp>
      <p:sp>
        <p:nvSpPr>
          <p:cNvPr id="14" name="原题文字_253_10"/>
          <p:cNvSpPr txBox="1"/>
          <p:nvPr/>
        </p:nvSpPr>
        <p:spPr>
          <a:xfrm>
            <a:off x="656058" y="1930165"/>
            <a:ext cx="1279970" cy="358343"/>
          </a:xfrm>
          <a:prstGeom prst="rect">
            <a:avLst/>
          </a:prstGeom>
          <a:noFill/>
        </p:spPr>
        <p:txBody>
          <a:bodyPr wrap="none" lIns="0" rIns="0" tIns="0" bIns="0">
            <a:spAutoFit/>
          </a:bodyPr>
          <a:lstStyle/>
          <a:p>
            <a:pPr>
              <a:lnSpc>
                <a:spcPct val="112000"/>
              </a:lnSpc>
              <a:spcBef>
                <a:spcPts val="0"/>
              </a:spcBef>
              <a:spcAft>
                <a:spcPts val="0"/>
              </a:spcAft>
              <a:defRPr sz="1703" b="0">
                <a:solidFill>
                  <a:srgbClr val="333333"/>
                </a:solidFill>
                <a:latin typeface="微软雅黑"/>
              </a:defRPr>
            </a:pPr>
            <a:r>
              <a:rPr>
                <a:ea typeface="微软雅黑"/>
              </a:rPr>
              <a:t>原子半径/nm</a:t>
            </a:r>
          </a:p>
        </p:txBody>
      </p:sp>
      <p:sp>
        <p:nvSpPr>
          <p:cNvPr id="15" name="原题文字_253_11"/>
          <p:cNvSpPr txBox="1"/>
          <p:nvPr/>
        </p:nvSpPr>
        <p:spPr>
          <a:xfrm>
            <a:off x="5165980" y="1945479"/>
            <a:ext cx="62147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0.186</a:t>
            </a:r>
          </a:p>
        </p:txBody>
      </p:sp>
      <p:sp>
        <p:nvSpPr>
          <p:cNvPr id="16" name="原题文字_253_12"/>
          <p:cNvSpPr txBox="1"/>
          <p:nvPr/>
        </p:nvSpPr>
        <p:spPr>
          <a:xfrm>
            <a:off x="6720333" y="1937822"/>
            <a:ext cx="113448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0.0740.099</a:t>
            </a:r>
          </a:p>
        </p:txBody>
      </p:sp>
      <p:sp>
        <p:nvSpPr>
          <p:cNvPr id="17" name="原题文字_253_13"/>
          <p:cNvSpPr txBox="1"/>
          <p:nvPr/>
        </p:nvSpPr>
        <p:spPr>
          <a:xfrm>
            <a:off x="7907155" y="1945479"/>
            <a:ext cx="61381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0.143</a:t>
            </a:r>
          </a:p>
        </p:txBody>
      </p:sp>
      <p:sp>
        <p:nvSpPr>
          <p:cNvPr id="18" name="原题文字_253_14"/>
          <p:cNvSpPr txBox="1"/>
          <p:nvPr/>
        </p:nvSpPr>
        <p:spPr>
          <a:xfrm>
            <a:off x="656058" y="2328325"/>
            <a:ext cx="116511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主要化合价</a:t>
            </a:r>
          </a:p>
        </p:txBody>
      </p:sp>
      <p:sp>
        <p:nvSpPr>
          <p:cNvPr id="19" name="原题文字_253_15"/>
          <p:cNvSpPr txBox="1"/>
          <p:nvPr/>
        </p:nvSpPr>
        <p:spPr>
          <a:xfrm>
            <a:off x="6727990" y="2343638"/>
            <a:ext cx="30754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-2</a:t>
            </a:r>
          </a:p>
        </p:txBody>
      </p:sp>
      <p:sp>
        <p:nvSpPr>
          <p:cNvPr id="20" name="原题文字_253_16"/>
          <p:cNvSpPr txBox="1"/>
          <p:nvPr/>
        </p:nvSpPr>
        <p:spPr>
          <a:xfrm>
            <a:off x="7241003" y="2343638"/>
            <a:ext cx="1027292"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-1, +7+3</a:t>
            </a:r>
          </a:p>
        </p:txBody>
      </p:sp>
      <p:sp>
        <p:nvSpPr>
          <p:cNvPr id="21" name="原题文字_253_17"/>
          <p:cNvSpPr txBox="1"/>
          <p:nvPr/>
        </p:nvSpPr>
        <p:spPr>
          <a:xfrm>
            <a:off x="610116" y="2726484"/>
            <a:ext cx="590847"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其他</a:t>
            </a:r>
          </a:p>
        </p:txBody>
      </p:sp>
      <p:sp>
        <p:nvSpPr>
          <p:cNvPr id="22" name="原题文字_253_18"/>
          <p:cNvSpPr txBox="1"/>
          <p:nvPr/>
        </p:nvSpPr>
        <p:spPr>
          <a:xfrm>
            <a:off x="1873507" y="2757112"/>
            <a:ext cx="490934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阳离子核外无电子地壳中含量第二焰色反应呈黄色</a:t>
            </a:r>
          </a:p>
        </p:txBody>
      </p:sp>
      <p:sp>
        <p:nvSpPr>
          <p:cNvPr id="23" name="文字_(1) R在元素周期表中的位置 ______ 上"/>
          <p:cNvSpPr txBox="1"/>
          <p:nvPr/>
        </p:nvSpPr>
        <p:spPr>
          <a:xfrm>
            <a:off x="502920" y="3311393"/>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(1) R在元素周期表中的位置 ______ 上述所列元素的氧化物显两性的是 ______ (填化学式)。</a:t>
            </a:r>
          </a:p>
        </p:txBody>
      </p:sp>
      <p:sp>
        <p:nvSpPr>
          <p:cNvPr id="24" name="文字_(2) 写出z的单质与水反应的离子方程式"/>
          <p:cNvSpPr txBox="1"/>
          <p:nvPr/>
        </p:nvSpPr>
        <p:spPr>
          <a:xfrm>
            <a:off x="502920" y="3649721"/>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(2) 写出z的单质与水反应的离子方程式</a:t>
            </a:r>
          </a:p>
        </p:txBody>
      </p:sp>
      <p:sp>
        <p:nvSpPr>
          <p:cNvPr id="25" name="文字_(3) Z和M分别形成的简单离子半径更大的是 _"/>
          <p:cNvSpPr txBox="1"/>
          <p:nvPr/>
        </p:nvSpPr>
        <p:spPr>
          <a:xfrm>
            <a:off x="502920" y="3988049"/>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(3) Z和M分别形成的简单离子半径更大的是 ______ (用离子符号表示)。</a:t>
            </a:r>
          </a:p>
        </p:txBody>
      </p:sp>
      <p:sp>
        <p:nvSpPr>
          <p:cNvPr id="26" name="文字_(4)Y与R相比，非金属性较强的是 ______"/>
          <p:cNvSpPr txBox="1"/>
          <p:nvPr/>
        </p:nvSpPr>
        <p:spPr>
          <a:xfrm>
            <a:off x="502920" y="4326377"/>
            <a:ext cx="11064240" cy="61791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(4)Y与R相比，非金属性较强的是 ______ (用元素符号表示)，下列事实能证明这一结论的是 ______ (选填字</a:t>
            </a:r>
          </a:p>
          <a:p>
            <a:pPr>
              <a:lnSpc>
                <a:spcPct val="112000"/>
              </a:lnSpc>
              <a:spcBef>
                <a:spcPts val="0"/>
              </a:spcBef>
              <a:spcAft>
                <a:spcPts val="0"/>
              </a:spcAft>
              <a:defRPr sz="1850" b="0">
                <a:solidFill>
                  <a:srgbClr val="333333"/>
                </a:solidFill>
                <a:latin typeface="微软雅黑"/>
              </a:defRPr>
            </a:pPr>
            <a:r>
              <a:rPr>
                <a:ea typeface="微软雅黑"/>
              </a:rPr>
              <a:t>母序号)。</a:t>
            </a:r>
          </a:p>
        </p:txBody>
      </p:sp>
      <p:sp>
        <p:nvSpPr>
          <p:cNvPr id="27" name="文字_A. 常温下Y的单质呈固态，R的单质呈气态"/>
          <p:cNvSpPr txBox="1"/>
          <p:nvPr/>
        </p:nvSpPr>
        <p:spPr>
          <a:xfrm>
            <a:off x="502920" y="4944296"/>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A. 常温下Y的单质呈固态，R的单质呈气态</a:t>
            </a:r>
          </a:p>
        </p:txBody>
      </p:sp>
      <p:sp>
        <p:nvSpPr>
          <p:cNvPr id="28" name="文字_B. 稳定性XR &gt; YX₄"/>
          <p:cNvSpPr txBox="1"/>
          <p:nvPr/>
        </p:nvSpPr>
        <p:spPr>
          <a:xfrm>
            <a:off x="502920" y="5282624"/>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B. 稳定性XR &gt; YX₄</a:t>
            </a:r>
          </a:p>
        </p:txBody>
      </p:sp>
      <p:sp>
        <p:nvSpPr>
          <p:cNvPr id="29" name="文字_C. Y与R形成的化合物中Y呈正价"/>
          <p:cNvSpPr txBox="1"/>
          <p:nvPr/>
        </p:nvSpPr>
        <p:spPr>
          <a:xfrm>
            <a:off x="502920" y="5620952"/>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C. Y与R形成的化合物中Y呈正价</a:t>
            </a:r>
          </a:p>
        </p:txBody>
      </p:sp>
      <p:sp>
        <p:nvSpPr>
          <p:cNvPr id="30" name="文字_D. XR的酸性强于X₂YM₃"/>
          <p:cNvSpPr txBox="1"/>
          <p:nvPr/>
        </p:nvSpPr>
        <p:spPr>
          <a:xfrm>
            <a:off x="502920" y="5959280"/>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D. XR的酸性强于X₂YM₃</a:t>
            </a:r>
          </a:p>
        </p:txBody>
      </p:sp>
      <p:sp>
        <p:nvSpPr>
          <p:cNvPr id="31" name="文字_推断题  ·  11-08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11-080</a:t>
            </a:r>
          </a:p>
        </p:txBody>
      </p:sp>
      <p:sp>
        <p:nvSpPr>
          <p:cNvPr id="32" name="文字_10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第11章 周期表与周期律</dc:title>
  <dc:subject>高一化学课堂课件：知识讲解与原题</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zh-CN</dc:language>
</cp:coreProperties>
</file>